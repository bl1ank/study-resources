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7" r:id="rId2"/>
    <p:sldId id="414" r:id="rId3"/>
    <p:sldId id="415" r:id="rId4"/>
    <p:sldId id="416" r:id="rId5"/>
    <p:sldId id="396" r:id="rId6"/>
    <p:sldId id="435" r:id="rId7"/>
    <p:sldId id="417" r:id="rId8"/>
    <p:sldId id="418" r:id="rId9"/>
    <p:sldId id="419" r:id="rId10"/>
    <p:sldId id="420" r:id="rId11"/>
    <p:sldId id="421" r:id="rId12"/>
    <p:sldId id="422" r:id="rId13"/>
    <p:sldId id="423" r:id="rId14"/>
    <p:sldId id="424" r:id="rId15"/>
    <p:sldId id="425" r:id="rId16"/>
    <p:sldId id="426" r:id="rId17"/>
    <p:sldId id="427" r:id="rId18"/>
    <p:sldId id="428" r:id="rId19"/>
    <p:sldId id="429" r:id="rId20"/>
    <p:sldId id="430" r:id="rId21"/>
    <p:sldId id="436" r:id="rId22"/>
    <p:sldId id="437" r:id="rId23"/>
    <p:sldId id="431" r:id="rId24"/>
    <p:sldId id="432" r:id="rId25"/>
    <p:sldId id="433" r:id="rId26"/>
    <p:sldId id="438" r:id="rId27"/>
    <p:sldId id="439" r:id="rId28"/>
    <p:sldId id="440" r:id="rId29"/>
    <p:sldId id="441" r:id="rId30"/>
    <p:sldId id="442" r:id="rId31"/>
    <p:sldId id="443" r:id="rId32"/>
    <p:sldId id="444" r:id="rId33"/>
    <p:sldId id="445" r:id="rId34"/>
    <p:sldId id="446" r:id="rId35"/>
    <p:sldId id="393" r:id="rId36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296" autoAdjust="0"/>
    <p:restoredTop sz="95362" autoAdjust="0"/>
  </p:normalViewPr>
  <p:slideViewPr>
    <p:cSldViewPr snapToGrid="0">
      <p:cViewPr varScale="1">
        <p:scale>
          <a:sx n="90" d="100"/>
          <a:sy n="90" d="100"/>
        </p:scale>
        <p:origin x="-93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1AD2-7476-45B4-814A-98B053717553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ED196-E9E0-4BA2-97A0-E51B0C3A5A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ED196-E9E0-4BA2-97A0-E51B0C3A5A37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1EADA-3D95-48D2-89A7-07C72EA9446A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C89D3-DE2B-4AA4-9868-4C7F014F7BA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47623-ACCE-456A-8C66-43C9A387D908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4F4AB-130B-495A-9AF9-6A07DC9008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2126F-8713-47A1-A13C-7B2F4F7A15DF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5AF231-9D62-40D2-A1D5-0CF9E7FE9E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B2824-4A57-4DBC-B978-C06B332D1916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09AD2-B321-4804-8A0D-47B8447B85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16BF5-EB64-4B0B-9CAE-AD65C8D7E231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DF820-5E9F-44C2-B5DB-D5F67050761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D9AE7-FE82-44FE-A373-FF6A95FFC760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59BB9-DD9C-4273-9461-0DC941E05E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0197D-47BA-44E5-B844-814C5892609A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19AA4-51DB-47C7-8B7D-995F981660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5B22D-E6AC-4BF4-AD0D-FBB5464C39ED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2168E-CF0A-45EE-9C08-AD977B2F81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91A09-51D1-412B-A45E-EDBA5CF1DEA4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363D9-74C4-4539-B22F-C1B8A9AC22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22FA8-E42C-49BC-8AD4-3B7704EA5E87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9C6C4-6EB4-4256-9C82-5DC44E41057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D6AC6-C2AA-4616-BB04-0E06F71995C8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0F57A-E9CA-492A-952A-099AE0B37D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4D572CB-A546-489E-9812-17AAFBEE1A45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274A94E-6597-4439-BF7C-72D6837151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9169" y="685347"/>
            <a:ext cx="6433230" cy="936625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 anchor="t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zh-CN" sz="6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汉仪大隶书简" pitchFamily="49" charset="-122"/>
                <a:cs typeface="Times New Roman" panose="02020603050405020304" pitchFamily="18" charset="0"/>
              </a:rPr>
              <a:t>13.1  </a:t>
            </a:r>
            <a:r>
              <a:rPr lang="zh-CN" altLang="en-US" sz="6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汉仪大隶书简" pitchFamily="49" charset="-122"/>
                <a:cs typeface="Times New Roman" panose="02020603050405020304" pitchFamily="18" charset="0"/>
              </a:rPr>
              <a:t>集成触发器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7656" y="1804602"/>
            <a:ext cx="4310743" cy="539750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buNone/>
              <a:defRPr/>
            </a:pP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、基本</a:t>
            </a: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RS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触发器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989728" y="2494938"/>
            <a:ext cx="6250757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、同步</a:t>
            </a: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RS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触发器和</a:t>
            </a: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锁存器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957070" y="3169853"/>
            <a:ext cx="5695586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、正边沿触发的</a:t>
            </a: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触发器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957071" y="3855652"/>
            <a:ext cx="5695586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</a:t>
            </a:r>
            <a:r>
              <a:rPr lang="zh-CN" alt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、负边沿触发的</a:t>
            </a:r>
            <a:r>
              <a:rPr lang="en-US" altLang="zh-CN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JK</a:t>
            </a:r>
            <a:r>
              <a:rPr lang="zh-CN" alt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触发器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8"/>
          <p:cNvSpPr>
            <a:spLocks noChangeArrowheads="1"/>
          </p:cNvSpPr>
          <p:nvPr/>
        </p:nvSpPr>
        <p:spPr bwMode="auto">
          <a:xfrm>
            <a:off x="551316" y="1378178"/>
            <a:ext cx="7416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集成触发器是组成时序逻辑电路的基本部件。</a:t>
            </a:r>
          </a:p>
        </p:txBody>
      </p:sp>
      <p:sp>
        <p:nvSpPr>
          <p:cNvPr id="102" name="Rectangle 21"/>
          <p:cNvSpPr>
            <a:spLocks noChangeArrowheads="1"/>
          </p:cNvSpPr>
          <p:nvPr/>
        </p:nvSpPr>
        <p:spPr bwMode="auto">
          <a:xfrm>
            <a:off x="929141" y="3024188"/>
            <a:ext cx="7200900" cy="1235211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它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在某一时刻的输出状态不仅与该时刻的输入信号有关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,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还与电路原来的输出状态有关。</a:t>
            </a:r>
          </a:p>
        </p:txBody>
      </p:sp>
      <p:sp>
        <p:nvSpPr>
          <p:cNvPr id="103" name="Rectangle 23"/>
          <p:cNvSpPr>
            <a:spLocks noChangeArrowheads="1"/>
          </p:cNvSpPr>
          <p:nvPr/>
        </p:nvSpPr>
        <p:spPr bwMode="auto">
          <a:xfrm>
            <a:off x="913946" y="446315"/>
            <a:ext cx="1002495" cy="586957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zh-CN" altLang="en-US" sz="3200" b="1" i="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概述</a:t>
            </a:r>
          </a:p>
        </p:txBody>
      </p:sp>
      <p:grpSp>
        <p:nvGrpSpPr>
          <p:cNvPr id="104" name="Group 28"/>
          <p:cNvGrpSpPr>
            <a:grpSpLocks/>
          </p:cNvGrpSpPr>
          <p:nvPr/>
        </p:nvGrpSpPr>
        <p:grpSpPr bwMode="auto">
          <a:xfrm>
            <a:off x="882423" y="2295528"/>
            <a:ext cx="4125912" cy="525463"/>
            <a:chOff x="807" y="1797"/>
            <a:chExt cx="2599" cy="331"/>
          </a:xfrm>
        </p:grpSpPr>
        <p:sp>
          <p:nvSpPr>
            <p:cNvPr id="105" name="AutoShape 25"/>
            <p:cNvSpPr>
              <a:spLocks noChangeArrowheads="1"/>
            </p:cNvSpPr>
            <p:nvPr/>
          </p:nvSpPr>
          <p:spPr bwMode="auto">
            <a:xfrm>
              <a:off x="807" y="1871"/>
              <a:ext cx="182" cy="182"/>
            </a:xfrm>
            <a:prstGeom prst="flowChartConnector">
              <a:avLst/>
            </a:prstGeom>
            <a:solidFill>
              <a:srgbClr val="00B0F0"/>
            </a:solidFill>
            <a:ln w="12700">
              <a:noFill/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Rectangle 27"/>
            <p:cNvSpPr>
              <a:spLocks noChangeArrowheads="1"/>
            </p:cNvSpPr>
            <p:nvPr/>
          </p:nvSpPr>
          <p:spPr bwMode="auto">
            <a:xfrm>
              <a:off x="1020" y="1797"/>
              <a:ext cx="2386" cy="3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90000" tIns="46800" rIns="90000" bIns="46800">
              <a:spAutoFit/>
            </a:bodyPr>
            <a:lstStyle/>
            <a:p>
              <a:pPr>
                <a:defRPr/>
              </a:pPr>
              <a:r>
                <a:rPr lang="zh-CN" altLang="en-US" sz="2800" b="1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时序逻辑电路的特点：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566287" y="1088116"/>
            <a:ext cx="8033430" cy="1711238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）具有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两个稳定状态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在触发信号作用下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,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可以从一种稳定状态转换到另一种稳定状态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endParaRPr lang="zh-CN" altLang="en-US" sz="2800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" name="Rectangle 21"/>
          <p:cNvSpPr>
            <a:spLocks noChangeArrowheads="1"/>
          </p:cNvSpPr>
          <p:nvPr/>
        </p:nvSpPr>
        <p:spPr bwMode="auto">
          <a:xfrm>
            <a:off x="536804" y="2961595"/>
            <a:ext cx="8062912" cy="1713419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2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）具有记忆功能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触发器的状态不仅和当时的输入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有关，而且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和以前的输出状态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有关。</a:t>
            </a:r>
            <a:endParaRPr lang="zh-CN" altLang="en-US" sz="2800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847045" y="451530"/>
            <a:ext cx="3082924" cy="525463"/>
            <a:chOff x="1292" y="446"/>
            <a:chExt cx="1942" cy="331"/>
          </a:xfrm>
        </p:grpSpPr>
        <p:sp>
          <p:nvSpPr>
            <p:cNvPr id="6" name="Rectangle 19"/>
            <p:cNvSpPr>
              <a:spLocks noChangeArrowheads="1"/>
            </p:cNvSpPr>
            <p:nvPr/>
          </p:nvSpPr>
          <p:spPr bwMode="auto">
            <a:xfrm>
              <a:off x="1529" y="446"/>
              <a:ext cx="1705" cy="331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90000" tIns="46800" rIns="90000" bIns="46800">
              <a:spAutoFit/>
            </a:bodyPr>
            <a:lstStyle/>
            <a:p>
              <a:pPr>
                <a:defRPr/>
              </a:pPr>
              <a:r>
                <a:rPr lang="zh-CN" altLang="en-US" sz="2800" b="1" i="0" dirty="0">
                  <a:solidFill>
                    <a:srgbClr val="00B0F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触发器的特点：</a:t>
              </a:r>
            </a:p>
          </p:txBody>
        </p:sp>
        <p:sp>
          <p:nvSpPr>
            <p:cNvPr id="7" name="Oval 22"/>
            <p:cNvSpPr>
              <a:spLocks noChangeArrowheads="1"/>
            </p:cNvSpPr>
            <p:nvPr/>
          </p:nvSpPr>
          <p:spPr bwMode="auto">
            <a:xfrm>
              <a:off x="1292" y="527"/>
              <a:ext cx="181" cy="182"/>
            </a:xfrm>
            <a:prstGeom prst="ellipse">
              <a:avLst/>
            </a:prstGeom>
            <a:solidFill>
              <a:srgbClr val="00B0F0"/>
            </a:solidFill>
            <a:ln w="12700">
              <a:noFill/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207081" y="1003299"/>
            <a:ext cx="3475262" cy="3059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32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分为</a:t>
            </a:r>
            <a:r>
              <a:rPr lang="en-US" altLang="zh-CN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: </a:t>
            </a:r>
            <a:endParaRPr lang="en-US" altLang="zh-CN" sz="3200" b="1" i="0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i="0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 RS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endParaRPr lang="en-US" altLang="zh-CN" sz="2800" i="0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i="0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 D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endParaRPr lang="en-US" altLang="zh-CN" sz="2800" i="0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 </a:t>
            </a:r>
            <a:r>
              <a:rPr lang="en-US" altLang="zh-CN" sz="2800" b="1" i="0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endParaRPr lang="en-US" altLang="zh-CN" sz="2800" i="0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i="0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 T 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3"/>
          <p:cNvSpPr txBox="1">
            <a:spLocks noChangeArrowheads="1"/>
          </p:cNvSpPr>
          <p:nvPr/>
        </p:nvSpPr>
        <p:spPr>
          <a:xfrm>
            <a:off x="304800" y="302374"/>
            <a:ext cx="4310743" cy="53975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、基本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RS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触发器</a:t>
            </a:r>
          </a:p>
        </p:txBody>
      </p:sp>
      <p:grpSp>
        <p:nvGrpSpPr>
          <p:cNvPr id="68" name="Group 136"/>
          <p:cNvGrpSpPr>
            <a:grpSpLocks/>
          </p:cNvGrpSpPr>
          <p:nvPr/>
        </p:nvGrpSpPr>
        <p:grpSpPr bwMode="auto">
          <a:xfrm>
            <a:off x="3837281" y="2558395"/>
            <a:ext cx="4191756" cy="525463"/>
            <a:chOff x="1925" y="1077"/>
            <a:chExt cx="2638" cy="331"/>
          </a:xfrm>
        </p:grpSpPr>
        <p:sp>
          <p:nvSpPr>
            <p:cNvPr id="137" name="Line 87"/>
            <p:cNvSpPr>
              <a:spLocks noChangeShapeType="1"/>
            </p:cNvSpPr>
            <p:nvPr/>
          </p:nvSpPr>
          <p:spPr bwMode="auto">
            <a:xfrm>
              <a:off x="4016" y="1117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8" name="Rectangle 135"/>
            <p:cNvSpPr>
              <a:spLocks noChangeArrowheads="1"/>
            </p:cNvSpPr>
            <p:nvPr/>
          </p:nvSpPr>
          <p:spPr bwMode="auto">
            <a:xfrm>
              <a:off x="1925" y="1077"/>
              <a:ext cx="2638" cy="3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两个输出</a:t>
              </a:r>
              <a:r>
                <a:rPr lang="zh-CN" altLang="en-US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分别记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zh-CN" altLang="en-US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、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zh-CN" altLang="en-US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;</a:t>
              </a:r>
              <a:endPara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39" name="Text Box 6"/>
          <p:cNvSpPr txBox="1">
            <a:spLocks noChangeArrowheads="1"/>
          </p:cNvSpPr>
          <p:nvPr/>
        </p:nvSpPr>
        <p:spPr bwMode="auto">
          <a:xfrm>
            <a:off x="4215872" y="779563"/>
            <a:ext cx="182614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b="1" i="0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电路组成</a:t>
            </a:r>
          </a:p>
        </p:txBody>
      </p:sp>
      <p:sp>
        <p:nvSpPr>
          <p:cNvPr id="140" name="Text Box 70"/>
          <p:cNvSpPr txBox="1">
            <a:spLocks noChangeArrowheads="1"/>
          </p:cNvSpPr>
          <p:nvPr/>
        </p:nvSpPr>
        <p:spPr bwMode="auto">
          <a:xfrm>
            <a:off x="3138136" y="1753229"/>
            <a:ext cx="404576" cy="46384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</a:p>
        </p:txBody>
      </p:sp>
      <p:grpSp>
        <p:nvGrpSpPr>
          <p:cNvPr id="141" name="Group 74"/>
          <p:cNvGrpSpPr>
            <a:grpSpLocks/>
          </p:cNvGrpSpPr>
          <p:nvPr/>
        </p:nvGrpSpPr>
        <p:grpSpPr bwMode="auto">
          <a:xfrm>
            <a:off x="3104799" y="3121654"/>
            <a:ext cx="404812" cy="463550"/>
            <a:chOff x="3993" y="2931"/>
            <a:chExt cx="255" cy="292"/>
          </a:xfrm>
        </p:grpSpPr>
        <p:sp>
          <p:nvSpPr>
            <p:cNvPr id="142" name="Text Box 71"/>
            <p:cNvSpPr txBox="1">
              <a:spLocks noChangeArrowheads="1"/>
            </p:cNvSpPr>
            <p:nvPr/>
          </p:nvSpPr>
          <p:spPr bwMode="auto">
            <a:xfrm>
              <a:off x="3993" y="2931"/>
              <a:ext cx="255" cy="2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sp>
          <p:nvSpPr>
            <p:cNvPr id="143" name="Line 73"/>
            <p:cNvSpPr>
              <a:spLocks noChangeShapeType="1"/>
            </p:cNvSpPr>
            <p:nvPr/>
          </p:nvSpPr>
          <p:spPr bwMode="auto">
            <a:xfrm>
              <a:off x="4059" y="2976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44" name="Group 138"/>
          <p:cNvGrpSpPr>
            <a:grpSpLocks/>
          </p:cNvGrpSpPr>
          <p:nvPr/>
        </p:nvGrpSpPr>
        <p:grpSpPr bwMode="auto">
          <a:xfrm>
            <a:off x="694976" y="1610354"/>
            <a:ext cx="392114" cy="2046288"/>
            <a:chOff x="388" y="799"/>
            <a:chExt cx="247" cy="1289"/>
          </a:xfrm>
        </p:grpSpPr>
        <p:grpSp>
          <p:nvGrpSpPr>
            <p:cNvPr id="145" name="Group 79"/>
            <p:cNvGrpSpPr>
              <a:grpSpLocks/>
            </p:cNvGrpSpPr>
            <p:nvPr/>
          </p:nvGrpSpPr>
          <p:grpSpPr bwMode="auto">
            <a:xfrm>
              <a:off x="388" y="799"/>
              <a:ext cx="211" cy="292"/>
              <a:chOff x="841" y="1162"/>
              <a:chExt cx="211" cy="292"/>
            </a:xfrm>
          </p:grpSpPr>
          <p:sp>
            <p:nvSpPr>
              <p:cNvPr id="149" name="Text Box 75"/>
              <p:cNvSpPr txBox="1">
                <a:spLocks noChangeArrowheads="1"/>
              </p:cNvSpPr>
              <p:nvPr/>
            </p:nvSpPr>
            <p:spPr bwMode="auto">
              <a:xfrm>
                <a:off x="841" y="1162"/>
                <a:ext cx="211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</a:p>
            </p:txBody>
          </p:sp>
          <p:sp>
            <p:nvSpPr>
              <p:cNvPr id="150" name="Line 77"/>
              <p:cNvSpPr>
                <a:spLocks noChangeShapeType="1"/>
              </p:cNvSpPr>
              <p:nvPr/>
            </p:nvSpPr>
            <p:spPr bwMode="auto">
              <a:xfrm>
                <a:off x="887" y="1207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46" name="Group 80"/>
            <p:cNvGrpSpPr>
              <a:grpSpLocks/>
            </p:cNvGrpSpPr>
            <p:nvPr/>
          </p:nvGrpSpPr>
          <p:grpSpPr bwMode="auto">
            <a:xfrm>
              <a:off x="402" y="1796"/>
              <a:ext cx="233" cy="292"/>
              <a:chOff x="855" y="2159"/>
              <a:chExt cx="233" cy="292"/>
            </a:xfrm>
          </p:grpSpPr>
          <p:sp>
            <p:nvSpPr>
              <p:cNvPr id="147" name="Text Box 76"/>
              <p:cNvSpPr txBox="1">
                <a:spLocks noChangeArrowheads="1"/>
              </p:cNvSpPr>
              <p:nvPr/>
            </p:nvSpPr>
            <p:spPr bwMode="auto">
              <a:xfrm>
                <a:off x="855" y="2159"/>
                <a:ext cx="233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</a:p>
            </p:txBody>
          </p:sp>
          <p:sp>
            <p:nvSpPr>
              <p:cNvPr id="148" name="Line 78"/>
              <p:cNvSpPr>
                <a:spLocks noChangeShapeType="1"/>
              </p:cNvSpPr>
              <p:nvPr/>
            </p:nvSpPr>
            <p:spPr bwMode="auto">
              <a:xfrm>
                <a:off x="901" y="2204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151" name="Group 137"/>
          <p:cNvGrpSpPr>
            <a:grpSpLocks/>
          </p:cNvGrpSpPr>
          <p:nvPr/>
        </p:nvGrpSpPr>
        <p:grpSpPr bwMode="auto">
          <a:xfrm>
            <a:off x="3856567" y="3132931"/>
            <a:ext cx="4237038" cy="525463"/>
            <a:chOff x="2597" y="1594"/>
            <a:chExt cx="2669" cy="331"/>
          </a:xfrm>
        </p:grpSpPr>
        <p:sp>
          <p:nvSpPr>
            <p:cNvPr id="152" name="Text Box 81"/>
            <p:cNvSpPr txBox="1">
              <a:spLocks noChangeArrowheads="1"/>
            </p:cNvSpPr>
            <p:nvPr/>
          </p:nvSpPr>
          <p:spPr bwMode="auto">
            <a:xfrm>
              <a:off x="2597" y="1594"/>
              <a:ext cx="2669" cy="3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两个输入分别记</a:t>
              </a:r>
              <a:r>
                <a:rPr lang="zh-CN" altLang="en-US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为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zh-CN" altLang="en-US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、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r>
                <a:rPr lang="zh-CN" altLang="en-US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。</a:t>
              </a:r>
              <a:endPara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53" name="Group 97"/>
            <p:cNvGrpSpPr>
              <a:grpSpLocks/>
            </p:cNvGrpSpPr>
            <p:nvPr/>
          </p:nvGrpSpPr>
          <p:grpSpPr bwMode="auto">
            <a:xfrm>
              <a:off x="4473" y="1646"/>
              <a:ext cx="482" cy="1"/>
              <a:chOff x="4291" y="2462"/>
              <a:chExt cx="482" cy="1"/>
            </a:xfrm>
          </p:grpSpPr>
          <p:sp>
            <p:nvSpPr>
              <p:cNvPr id="159" name="Line 91"/>
              <p:cNvSpPr>
                <a:spLocks noChangeShapeType="1"/>
              </p:cNvSpPr>
              <p:nvPr/>
            </p:nvSpPr>
            <p:spPr bwMode="auto">
              <a:xfrm>
                <a:off x="4637" y="2463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7" name="Line 94"/>
              <p:cNvSpPr>
                <a:spLocks noChangeShapeType="1"/>
              </p:cNvSpPr>
              <p:nvPr/>
            </p:nvSpPr>
            <p:spPr bwMode="auto">
              <a:xfrm>
                <a:off x="4291" y="2462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160" name="Group 107"/>
          <p:cNvGrpSpPr>
            <a:grpSpLocks/>
          </p:cNvGrpSpPr>
          <p:nvPr/>
        </p:nvGrpSpPr>
        <p:grpSpPr bwMode="auto">
          <a:xfrm>
            <a:off x="3942648" y="3899706"/>
            <a:ext cx="3852864" cy="525463"/>
            <a:chOff x="3470" y="1888"/>
            <a:chExt cx="2427" cy="331"/>
          </a:xfrm>
        </p:grpSpPr>
        <p:grpSp>
          <p:nvGrpSpPr>
            <p:cNvPr id="161" name="Group 105"/>
            <p:cNvGrpSpPr>
              <a:grpSpLocks/>
            </p:cNvGrpSpPr>
            <p:nvPr/>
          </p:nvGrpSpPr>
          <p:grpSpPr bwMode="auto">
            <a:xfrm>
              <a:off x="3509" y="1942"/>
              <a:ext cx="532" cy="8"/>
              <a:chOff x="3509" y="1897"/>
              <a:chExt cx="532" cy="8"/>
            </a:xfrm>
          </p:grpSpPr>
          <p:sp>
            <p:nvSpPr>
              <p:cNvPr id="168" name="Line 101"/>
              <p:cNvSpPr>
                <a:spLocks noChangeShapeType="1"/>
              </p:cNvSpPr>
              <p:nvPr/>
            </p:nvSpPr>
            <p:spPr bwMode="auto">
              <a:xfrm>
                <a:off x="3509" y="1897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6" name="Line 104"/>
              <p:cNvSpPr>
                <a:spLocks noChangeShapeType="1"/>
              </p:cNvSpPr>
              <p:nvPr/>
            </p:nvSpPr>
            <p:spPr bwMode="auto">
              <a:xfrm>
                <a:off x="3905" y="1905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62" name="Text Box 106"/>
            <p:cNvSpPr txBox="1">
              <a:spLocks noChangeArrowheads="1"/>
            </p:cNvSpPr>
            <p:nvPr/>
          </p:nvSpPr>
          <p:spPr bwMode="auto">
            <a:xfrm>
              <a:off x="3470" y="1888"/>
              <a:ext cx="2427" cy="3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zh-CN" altLang="en-US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、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r>
                <a:rPr lang="zh-CN" altLang="en-US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均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是低电平有效。</a:t>
              </a:r>
            </a:p>
          </p:txBody>
        </p:sp>
      </p:grpSp>
      <p:sp>
        <p:nvSpPr>
          <p:cNvPr id="192" name="Rectangle 131"/>
          <p:cNvSpPr>
            <a:spLocks noChangeArrowheads="1"/>
          </p:cNvSpPr>
          <p:nvPr/>
        </p:nvSpPr>
        <p:spPr bwMode="auto">
          <a:xfrm>
            <a:off x="3873500" y="1462313"/>
            <a:ext cx="3054339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两个与非门组成，</a:t>
            </a:r>
          </a:p>
        </p:txBody>
      </p:sp>
      <p:sp>
        <p:nvSpPr>
          <p:cNvPr id="193" name="Rectangle 133"/>
          <p:cNvSpPr>
            <a:spLocks noChangeArrowheads="1"/>
          </p:cNvSpPr>
          <p:nvPr/>
        </p:nvSpPr>
        <p:spPr bwMode="auto">
          <a:xfrm>
            <a:off x="3859640" y="2004179"/>
            <a:ext cx="3413412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输出输入交叉连接。</a:t>
            </a:r>
          </a:p>
        </p:txBody>
      </p:sp>
      <p:grpSp>
        <p:nvGrpSpPr>
          <p:cNvPr id="194" name="Group 146"/>
          <p:cNvGrpSpPr>
            <a:grpSpLocks/>
          </p:cNvGrpSpPr>
          <p:nvPr/>
        </p:nvGrpSpPr>
        <p:grpSpPr bwMode="auto">
          <a:xfrm>
            <a:off x="7675563" y="3621534"/>
            <a:ext cx="688975" cy="954085"/>
            <a:chOff x="4759" y="1816"/>
            <a:chExt cx="434" cy="601"/>
          </a:xfrm>
        </p:grpSpPr>
        <p:grpSp>
          <p:nvGrpSpPr>
            <p:cNvPr id="195" name="Group 147"/>
            <p:cNvGrpSpPr>
              <a:grpSpLocks/>
            </p:cNvGrpSpPr>
            <p:nvPr/>
          </p:nvGrpSpPr>
          <p:grpSpPr bwMode="auto">
            <a:xfrm>
              <a:off x="4785" y="2069"/>
              <a:ext cx="408" cy="136"/>
              <a:chOff x="4785" y="2069"/>
              <a:chExt cx="408" cy="136"/>
            </a:xfrm>
          </p:grpSpPr>
          <p:sp>
            <p:nvSpPr>
              <p:cNvPr id="198" name="Line 148"/>
              <p:cNvSpPr>
                <a:spLocks noChangeShapeType="1"/>
              </p:cNvSpPr>
              <p:nvPr/>
            </p:nvSpPr>
            <p:spPr bwMode="auto">
              <a:xfrm>
                <a:off x="4785" y="2069"/>
                <a:ext cx="1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99" name="Line 149"/>
              <p:cNvSpPr>
                <a:spLocks noChangeShapeType="1"/>
              </p:cNvSpPr>
              <p:nvPr/>
            </p:nvSpPr>
            <p:spPr bwMode="auto">
              <a:xfrm>
                <a:off x="4921" y="2069"/>
                <a:ext cx="0" cy="1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00" name="Line 150"/>
              <p:cNvSpPr>
                <a:spLocks noChangeShapeType="1"/>
              </p:cNvSpPr>
              <p:nvPr/>
            </p:nvSpPr>
            <p:spPr bwMode="auto">
              <a:xfrm>
                <a:off x="4921" y="2205"/>
                <a:ext cx="1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01" name="Line 151"/>
              <p:cNvSpPr>
                <a:spLocks noChangeShapeType="1"/>
              </p:cNvSpPr>
              <p:nvPr/>
            </p:nvSpPr>
            <p:spPr bwMode="auto">
              <a:xfrm>
                <a:off x="5057" y="2069"/>
                <a:ext cx="0" cy="1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02" name="Line 152"/>
              <p:cNvSpPr>
                <a:spLocks noChangeShapeType="1"/>
              </p:cNvSpPr>
              <p:nvPr/>
            </p:nvSpPr>
            <p:spPr bwMode="auto">
              <a:xfrm>
                <a:off x="5057" y="2069"/>
                <a:ext cx="1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96" name="Text Box 153"/>
            <p:cNvSpPr txBox="1">
              <a:spLocks noChangeArrowheads="1"/>
            </p:cNvSpPr>
            <p:nvPr/>
          </p:nvSpPr>
          <p:spPr bwMode="auto">
            <a:xfrm>
              <a:off x="4759" y="1816"/>
              <a:ext cx="195" cy="25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97" name="Text Box 154"/>
            <p:cNvSpPr txBox="1">
              <a:spLocks noChangeArrowheads="1"/>
            </p:cNvSpPr>
            <p:nvPr/>
          </p:nvSpPr>
          <p:spPr bwMode="auto">
            <a:xfrm>
              <a:off x="4914" y="2164"/>
              <a:ext cx="195" cy="25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236" name="组合 235"/>
          <p:cNvGrpSpPr/>
          <p:nvPr/>
        </p:nvGrpSpPr>
        <p:grpSpPr>
          <a:xfrm>
            <a:off x="1183923" y="1679751"/>
            <a:ext cx="1919288" cy="1894945"/>
            <a:chOff x="2391833" y="1058863"/>
            <a:chExt cx="1919288" cy="1894945"/>
          </a:xfrm>
        </p:grpSpPr>
        <p:grpSp>
          <p:nvGrpSpPr>
            <p:cNvPr id="237" name="组合 51"/>
            <p:cNvGrpSpPr/>
            <p:nvPr/>
          </p:nvGrpSpPr>
          <p:grpSpPr>
            <a:xfrm>
              <a:off x="2410883" y="2246236"/>
              <a:ext cx="1900238" cy="707572"/>
              <a:chOff x="2410883" y="1975303"/>
              <a:chExt cx="1900238" cy="707572"/>
            </a:xfrm>
          </p:grpSpPr>
          <p:sp>
            <p:nvSpPr>
              <p:cNvPr id="246" name="Rectangle 171"/>
              <p:cNvSpPr>
                <a:spLocks noChangeArrowheads="1"/>
              </p:cNvSpPr>
              <p:nvPr/>
            </p:nvSpPr>
            <p:spPr bwMode="auto">
              <a:xfrm>
                <a:off x="3077281" y="2273753"/>
                <a:ext cx="425450" cy="371475"/>
              </a:xfrm>
              <a:prstGeom prst="rect">
                <a:avLst/>
              </a:prstGeom>
              <a:noFill/>
              <a:ln w="1587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G</a:t>
                </a:r>
                <a:r>
                  <a:rPr lang="en-US" altLang="zh-CN" i="0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2</a:t>
                </a:r>
                <a:endParaRPr lang="en-US" altLang="zh-CN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47" name="Rectangle 169"/>
              <p:cNvSpPr>
                <a:spLocks noChangeArrowheads="1"/>
              </p:cNvSpPr>
              <p:nvPr/>
            </p:nvSpPr>
            <p:spPr bwMode="auto">
              <a:xfrm>
                <a:off x="3115380" y="1975303"/>
                <a:ext cx="412750" cy="371475"/>
              </a:xfrm>
              <a:prstGeom prst="rect">
                <a:avLst/>
              </a:prstGeom>
              <a:noFill/>
              <a:ln w="1587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zh-CN" altLang="en-US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＆</a:t>
                </a:r>
              </a:p>
            </p:txBody>
          </p:sp>
          <p:sp>
            <p:nvSpPr>
              <p:cNvPr id="248" name="矩形 247"/>
              <p:cNvSpPr/>
              <p:nvPr/>
            </p:nvSpPr>
            <p:spPr>
              <a:xfrm>
                <a:off x="3082396" y="1978025"/>
                <a:ext cx="476250" cy="70485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椭圆 248"/>
              <p:cNvSpPr/>
              <p:nvPr/>
            </p:nvSpPr>
            <p:spPr>
              <a:xfrm>
                <a:off x="3563409" y="2292350"/>
                <a:ext cx="72000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0" name="直接连接符 249"/>
              <p:cNvCxnSpPr/>
              <p:nvPr/>
            </p:nvCxnSpPr>
            <p:spPr>
              <a:xfrm>
                <a:off x="2410883" y="2540001"/>
                <a:ext cx="681038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/>
              <p:cNvCxnSpPr/>
              <p:nvPr/>
            </p:nvCxnSpPr>
            <p:spPr>
              <a:xfrm>
                <a:off x="3630083" y="2330451"/>
                <a:ext cx="681038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/>
              <p:cNvCxnSpPr/>
              <p:nvPr/>
            </p:nvCxnSpPr>
            <p:spPr>
              <a:xfrm>
                <a:off x="2758546" y="2178051"/>
                <a:ext cx="32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8" name="组合 52"/>
            <p:cNvGrpSpPr/>
            <p:nvPr/>
          </p:nvGrpSpPr>
          <p:grpSpPr>
            <a:xfrm>
              <a:off x="2391833" y="1058863"/>
              <a:ext cx="1900238" cy="704850"/>
              <a:chOff x="2391833" y="1058863"/>
              <a:chExt cx="1900238" cy="704850"/>
            </a:xfrm>
          </p:grpSpPr>
          <p:sp>
            <p:nvSpPr>
              <p:cNvPr id="239" name="Rectangle 171"/>
              <p:cNvSpPr>
                <a:spLocks noChangeArrowheads="1"/>
              </p:cNvSpPr>
              <p:nvPr/>
            </p:nvSpPr>
            <p:spPr bwMode="auto">
              <a:xfrm>
                <a:off x="3062993" y="1349828"/>
                <a:ext cx="425450" cy="371475"/>
              </a:xfrm>
              <a:prstGeom prst="rect">
                <a:avLst/>
              </a:prstGeom>
              <a:noFill/>
              <a:ln w="1587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G</a:t>
                </a:r>
                <a:r>
                  <a:rPr lang="en-US" altLang="zh-CN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240" name="Rectangle 169"/>
              <p:cNvSpPr>
                <a:spLocks noChangeArrowheads="1"/>
              </p:cNvSpPr>
              <p:nvPr/>
            </p:nvSpPr>
            <p:spPr bwMode="auto">
              <a:xfrm>
                <a:off x="3105855" y="1065666"/>
                <a:ext cx="412750" cy="371475"/>
              </a:xfrm>
              <a:prstGeom prst="rect">
                <a:avLst/>
              </a:prstGeom>
              <a:noFill/>
              <a:ln w="1587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zh-CN" altLang="en-US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＆</a:t>
                </a:r>
              </a:p>
            </p:txBody>
          </p:sp>
          <p:sp>
            <p:nvSpPr>
              <p:cNvPr id="241" name="矩形 240"/>
              <p:cNvSpPr/>
              <p:nvPr/>
            </p:nvSpPr>
            <p:spPr>
              <a:xfrm>
                <a:off x="3068108" y="1058863"/>
                <a:ext cx="476250" cy="70485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椭圆 241"/>
              <p:cNvSpPr/>
              <p:nvPr/>
            </p:nvSpPr>
            <p:spPr>
              <a:xfrm>
                <a:off x="3544359" y="1373187"/>
                <a:ext cx="72000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43" name="直接连接符 242"/>
              <p:cNvCxnSpPr/>
              <p:nvPr/>
            </p:nvCxnSpPr>
            <p:spPr>
              <a:xfrm>
                <a:off x="2391833" y="1239838"/>
                <a:ext cx="681038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接连接符 243"/>
              <p:cNvCxnSpPr/>
              <p:nvPr/>
            </p:nvCxnSpPr>
            <p:spPr>
              <a:xfrm>
                <a:off x="3611033" y="1411288"/>
                <a:ext cx="681038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/>
              <p:cNvCxnSpPr/>
              <p:nvPr/>
            </p:nvCxnSpPr>
            <p:spPr>
              <a:xfrm>
                <a:off x="2744258" y="1597026"/>
                <a:ext cx="32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3" name="组合 252"/>
          <p:cNvGrpSpPr/>
          <p:nvPr/>
        </p:nvGrpSpPr>
        <p:grpSpPr>
          <a:xfrm>
            <a:off x="1511919" y="2213414"/>
            <a:ext cx="1129682" cy="1000713"/>
            <a:chOff x="2719829" y="1592526"/>
            <a:chExt cx="1129682" cy="1000713"/>
          </a:xfrm>
        </p:grpSpPr>
        <p:cxnSp>
          <p:nvCxnSpPr>
            <p:cNvPr id="254" name="直接连接符 253"/>
            <p:cNvCxnSpPr/>
            <p:nvPr/>
          </p:nvCxnSpPr>
          <p:spPr>
            <a:xfrm rot="5400000">
              <a:off x="2590800" y="1721555"/>
              <a:ext cx="259645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>
              <a:off x="2731912" y="1840088"/>
              <a:ext cx="1117599" cy="248356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 rot="5400000">
              <a:off x="3586223" y="2340445"/>
              <a:ext cx="5040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7" name="组合 256"/>
          <p:cNvGrpSpPr/>
          <p:nvPr/>
        </p:nvGrpSpPr>
        <p:grpSpPr>
          <a:xfrm flipV="1">
            <a:off x="1557075" y="2043289"/>
            <a:ext cx="1129682" cy="1039370"/>
            <a:chOff x="2719829" y="1592526"/>
            <a:chExt cx="1129682" cy="1000713"/>
          </a:xfrm>
        </p:grpSpPr>
        <p:cxnSp>
          <p:nvCxnSpPr>
            <p:cNvPr id="258" name="直接连接符 257"/>
            <p:cNvCxnSpPr/>
            <p:nvPr/>
          </p:nvCxnSpPr>
          <p:spPr>
            <a:xfrm rot="5400000">
              <a:off x="2590800" y="1721555"/>
              <a:ext cx="259645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/>
          </p:nvCxnSpPr>
          <p:spPr>
            <a:xfrm>
              <a:off x="2731912" y="1840088"/>
              <a:ext cx="1117599" cy="248356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/>
          </p:nvCxnSpPr>
          <p:spPr>
            <a:xfrm rot="5400000">
              <a:off x="3586223" y="2340445"/>
              <a:ext cx="5040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/>
      <p:bldP spid="140" grpId="0"/>
      <p:bldP spid="192" grpId="0"/>
      <p:bldP spid="19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3"/>
          <p:cNvSpPr txBox="1">
            <a:spLocks noChangeArrowheads="1"/>
          </p:cNvSpPr>
          <p:nvPr/>
        </p:nvSpPr>
        <p:spPr>
          <a:xfrm>
            <a:off x="304800" y="302374"/>
            <a:ext cx="4310743" cy="53975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、基本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RS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触发器</a:t>
            </a:r>
          </a:p>
        </p:txBody>
      </p:sp>
      <p:sp>
        <p:nvSpPr>
          <p:cNvPr id="138" name="Text Box 5"/>
          <p:cNvSpPr txBox="1">
            <a:spLocks noChangeArrowheads="1"/>
          </p:cNvSpPr>
          <p:nvPr/>
        </p:nvSpPr>
        <p:spPr bwMode="auto">
          <a:xfrm>
            <a:off x="4410958" y="715358"/>
            <a:ext cx="140282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3200" b="1" i="0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b="1" i="0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特点：</a:t>
            </a:r>
          </a:p>
        </p:txBody>
      </p:sp>
      <p:sp>
        <p:nvSpPr>
          <p:cNvPr id="140" name="Text Box 70"/>
          <p:cNvSpPr txBox="1">
            <a:spLocks noChangeArrowheads="1"/>
          </p:cNvSpPr>
          <p:nvPr/>
        </p:nvSpPr>
        <p:spPr bwMode="auto">
          <a:xfrm>
            <a:off x="3059113" y="1233941"/>
            <a:ext cx="404576" cy="46384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</a:p>
        </p:txBody>
      </p:sp>
      <p:grpSp>
        <p:nvGrpSpPr>
          <p:cNvPr id="3" name="Group 74"/>
          <p:cNvGrpSpPr>
            <a:grpSpLocks/>
          </p:cNvGrpSpPr>
          <p:nvPr/>
        </p:nvGrpSpPr>
        <p:grpSpPr bwMode="auto">
          <a:xfrm>
            <a:off x="3059113" y="2602366"/>
            <a:ext cx="404812" cy="463550"/>
            <a:chOff x="4014" y="2931"/>
            <a:chExt cx="255" cy="292"/>
          </a:xfrm>
        </p:grpSpPr>
        <p:sp>
          <p:nvSpPr>
            <p:cNvPr id="142" name="Text Box 71"/>
            <p:cNvSpPr txBox="1">
              <a:spLocks noChangeArrowheads="1"/>
            </p:cNvSpPr>
            <p:nvPr/>
          </p:nvSpPr>
          <p:spPr bwMode="auto">
            <a:xfrm>
              <a:off x="4014" y="2931"/>
              <a:ext cx="255" cy="2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sp>
          <p:nvSpPr>
            <p:cNvPr id="143" name="Line 73"/>
            <p:cNvSpPr>
              <a:spLocks noChangeShapeType="1"/>
            </p:cNvSpPr>
            <p:nvPr/>
          </p:nvSpPr>
          <p:spPr bwMode="auto">
            <a:xfrm>
              <a:off x="4059" y="2976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4" name="Group 138"/>
          <p:cNvGrpSpPr>
            <a:grpSpLocks/>
          </p:cNvGrpSpPr>
          <p:nvPr/>
        </p:nvGrpSpPr>
        <p:grpSpPr bwMode="auto">
          <a:xfrm>
            <a:off x="746353" y="1101952"/>
            <a:ext cx="369888" cy="2001838"/>
            <a:chOff x="333" y="799"/>
            <a:chExt cx="233" cy="1261"/>
          </a:xfrm>
        </p:grpSpPr>
        <p:grpSp>
          <p:nvGrpSpPr>
            <p:cNvPr id="5" name="Group 79"/>
            <p:cNvGrpSpPr>
              <a:grpSpLocks/>
            </p:cNvGrpSpPr>
            <p:nvPr/>
          </p:nvGrpSpPr>
          <p:grpSpPr bwMode="auto">
            <a:xfrm>
              <a:off x="340" y="799"/>
              <a:ext cx="211" cy="292"/>
              <a:chOff x="793" y="1162"/>
              <a:chExt cx="211" cy="292"/>
            </a:xfrm>
          </p:grpSpPr>
          <p:sp>
            <p:nvSpPr>
              <p:cNvPr id="149" name="Text Box 75"/>
              <p:cNvSpPr txBox="1">
                <a:spLocks noChangeArrowheads="1"/>
              </p:cNvSpPr>
              <p:nvPr/>
            </p:nvSpPr>
            <p:spPr bwMode="auto">
              <a:xfrm>
                <a:off x="793" y="1162"/>
                <a:ext cx="211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</a:p>
            </p:txBody>
          </p:sp>
          <p:sp>
            <p:nvSpPr>
              <p:cNvPr id="150" name="Line 77"/>
              <p:cNvSpPr>
                <a:spLocks noChangeShapeType="1"/>
              </p:cNvSpPr>
              <p:nvPr/>
            </p:nvSpPr>
            <p:spPr bwMode="auto">
              <a:xfrm>
                <a:off x="839" y="1207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6" name="Group 80"/>
            <p:cNvGrpSpPr>
              <a:grpSpLocks/>
            </p:cNvGrpSpPr>
            <p:nvPr/>
          </p:nvGrpSpPr>
          <p:grpSpPr bwMode="auto">
            <a:xfrm>
              <a:off x="333" y="1768"/>
              <a:ext cx="233" cy="292"/>
              <a:chOff x="786" y="2131"/>
              <a:chExt cx="233" cy="292"/>
            </a:xfrm>
          </p:grpSpPr>
          <p:sp>
            <p:nvSpPr>
              <p:cNvPr id="147" name="Text Box 76"/>
              <p:cNvSpPr txBox="1">
                <a:spLocks noChangeArrowheads="1"/>
              </p:cNvSpPr>
              <p:nvPr/>
            </p:nvSpPr>
            <p:spPr bwMode="auto">
              <a:xfrm>
                <a:off x="786" y="2131"/>
                <a:ext cx="233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</a:p>
            </p:txBody>
          </p:sp>
          <p:sp>
            <p:nvSpPr>
              <p:cNvPr id="148" name="Line 78"/>
              <p:cNvSpPr>
                <a:spLocks noChangeShapeType="1"/>
              </p:cNvSpPr>
              <p:nvPr/>
            </p:nvSpPr>
            <p:spPr bwMode="auto">
              <a:xfrm>
                <a:off x="860" y="2170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11" name="Group 115"/>
          <p:cNvGrpSpPr>
            <a:grpSpLocks/>
          </p:cNvGrpSpPr>
          <p:nvPr/>
        </p:nvGrpSpPr>
        <p:grpSpPr bwMode="auto">
          <a:xfrm>
            <a:off x="3570994" y="1445953"/>
            <a:ext cx="5289550" cy="525461"/>
            <a:chOff x="1190" y="2477"/>
            <a:chExt cx="3332" cy="331"/>
          </a:xfrm>
        </p:grpSpPr>
        <p:sp>
          <p:nvSpPr>
            <p:cNvPr id="171" name="Text Box 109"/>
            <p:cNvSpPr txBox="1">
              <a:spLocks noChangeArrowheads="1"/>
            </p:cNvSpPr>
            <p:nvPr/>
          </p:nvSpPr>
          <p:spPr bwMode="auto">
            <a:xfrm>
              <a:off x="1190" y="2477"/>
              <a:ext cx="3332" cy="3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）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两个输出</a:t>
              </a:r>
              <a:r>
                <a:rPr lang="zh-CN" altLang="en-US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端</a:t>
              </a:r>
              <a:r>
                <a:rPr lang="en-US" altLang="zh-CN" sz="2800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zh-CN" altLang="en-US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、</a:t>
              </a:r>
              <a:r>
                <a:rPr lang="en-US" altLang="zh-CN" sz="2800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zh-CN" altLang="en-US" sz="28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的状态相反</a:t>
              </a:r>
              <a:r>
                <a:rPr lang="en-US" altLang="zh-CN" sz="28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;</a:t>
              </a:r>
              <a:endPara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6" name="Line 113"/>
            <p:cNvSpPr>
              <a:spLocks noChangeShapeType="1"/>
            </p:cNvSpPr>
            <p:nvPr/>
          </p:nvSpPr>
          <p:spPr bwMode="auto">
            <a:xfrm>
              <a:off x="3145" y="2530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2" name="Group 139"/>
          <p:cNvGrpSpPr>
            <a:grpSpLocks/>
          </p:cNvGrpSpPr>
          <p:nvPr/>
        </p:nvGrpSpPr>
        <p:grpSpPr bwMode="auto">
          <a:xfrm>
            <a:off x="3495499" y="2124527"/>
            <a:ext cx="5005390" cy="1517650"/>
            <a:chOff x="1190" y="2749"/>
            <a:chExt cx="3153" cy="956"/>
          </a:xfrm>
        </p:grpSpPr>
        <p:sp>
          <p:nvSpPr>
            <p:cNvPr id="178" name="Text Box 116"/>
            <p:cNvSpPr txBox="1">
              <a:spLocks noChangeArrowheads="1"/>
            </p:cNvSpPr>
            <p:nvPr/>
          </p:nvSpPr>
          <p:spPr bwMode="auto">
            <a:xfrm>
              <a:off x="1190" y="2749"/>
              <a:ext cx="3147" cy="6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）具有两个稳定状态</a:t>
              </a:r>
              <a:r>
                <a:rPr lang="zh-CN" altLang="en-US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：</a:t>
              </a:r>
              <a:endParaRPr lang="en-US" altLang="zh-CN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r>
                <a:rPr lang="zh-CN" altLang="en-US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    一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个称之</a:t>
              </a: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r>
                <a:rPr lang="zh-CN" altLang="en-US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态</a:t>
              </a:r>
              <a:r>
                <a:rPr lang="en-US" altLang="zh-CN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(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=0 </a:t>
              </a:r>
              <a:r>
                <a:rPr lang="zh-CN" altLang="en-US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，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=1)</a:t>
              </a:r>
              <a:endPara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0" name="Line 120"/>
            <p:cNvSpPr>
              <a:spLocks noChangeShapeType="1"/>
            </p:cNvSpPr>
            <p:nvPr/>
          </p:nvSpPr>
          <p:spPr bwMode="auto">
            <a:xfrm>
              <a:off x="3718" y="3058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3" name="Group 128"/>
            <p:cNvGrpSpPr>
              <a:grpSpLocks/>
            </p:cNvGrpSpPr>
            <p:nvPr/>
          </p:nvGrpSpPr>
          <p:grpSpPr bwMode="auto">
            <a:xfrm>
              <a:off x="1605" y="3374"/>
              <a:ext cx="2738" cy="331"/>
              <a:chOff x="1605" y="3374"/>
              <a:chExt cx="2738" cy="331"/>
            </a:xfrm>
          </p:grpSpPr>
          <p:sp>
            <p:nvSpPr>
              <p:cNvPr id="181" name="Text Box 122"/>
              <p:cNvSpPr txBox="1">
                <a:spLocks noChangeArrowheads="1"/>
              </p:cNvSpPr>
              <p:nvPr/>
            </p:nvSpPr>
            <p:spPr bwMode="auto">
              <a:xfrm>
                <a:off x="1605" y="3374"/>
                <a:ext cx="2738" cy="3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square" lIns="90000" tIns="46800" rIns="90000" bIns="46800">
                <a:spAutoFit/>
              </a:bodyPr>
              <a:lstStyle/>
              <a:p>
                <a:r>
                  <a:rPr lang="zh-CN" altLang="en-US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一个称之</a:t>
                </a:r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r>
                  <a:rPr lang="zh-CN" altLang="en-US" sz="2800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态</a:t>
                </a:r>
                <a:r>
                  <a:rPr lang="en-US" altLang="zh-CN" sz="28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(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sz="28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=1 </a:t>
                </a:r>
                <a:r>
                  <a:rPr lang="zh-CN" altLang="en-US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，</a:t>
                </a:r>
                <a:r>
                  <a:rPr lang="en-US" altLang="zh-CN" sz="28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=0)</a:t>
                </a:r>
                <a:endPara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86" name="Line 127"/>
              <p:cNvSpPr>
                <a:spLocks noChangeShapeType="1"/>
              </p:cNvSpPr>
              <p:nvPr/>
            </p:nvSpPr>
            <p:spPr bwMode="auto">
              <a:xfrm>
                <a:off x="3731" y="3421"/>
                <a:ext cx="1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191" name="Text Box 129"/>
          <p:cNvSpPr txBox="1">
            <a:spLocks noChangeArrowheads="1"/>
          </p:cNvSpPr>
          <p:nvPr/>
        </p:nvSpPr>
        <p:spPr bwMode="auto">
          <a:xfrm>
            <a:off x="3538335" y="3737277"/>
            <a:ext cx="5347229" cy="9562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若外加适当的信号，能实现两种稳态的相互转换。</a:t>
            </a:r>
          </a:p>
        </p:txBody>
      </p:sp>
      <p:grpSp>
        <p:nvGrpSpPr>
          <p:cNvPr id="16" name="组合 235"/>
          <p:cNvGrpSpPr/>
          <p:nvPr/>
        </p:nvGrpSpPr>
        <p:grpSpPr>
          <a:xfrm>
            <a:off x="1104900" y="1160463"/>
            <a:ext cx="1919288" cy="1894945"/>
            <a:chOff x="2391833" y="1058863"/>
            <a:chExt cx="1919288" cy="1894945"/>
          </a:xfrm>
        </p:grpSpPr>
        <p:grpSp>
          <p:nvGrpSpPr>
            <p:cNvPr id="17" name="组合 51"/>
            <p:cNvGrpSpPr/>
            <p:nvPr/>
          </p:nvGrpSpPr>
          <p:grpSpPr>
            <a:xfrm>
              <a:off x="2410883" y="2246236"/>
              <a:ext cx="1900238" cy="707572"/>
              <a:chOff x="2410883" y="1975303"/>
              <a:chExt cx="1900238" cy="707572"/>
            </a:xfrm>
          </p:grpSpPr>
          <p:sp>
            <p:nvSpPr>
              <p:cNvPr id="246" name="Rectangle 171"/>
              <p:cNvSpPr>
                <a:spLocks noChangeArrowheads="1"/>
              </p:cNvSpPr>
              <p:nvPr/>
            </p:nvSpPr>
            <p:spPr bwMode="auto">
              <a:xfrm>
                <a:off x="3077281" y="2273753"/>
                <a:ext cx="425450" cy="371475"/>
              </a:xfrm>
              <a:prstGeom prst="rect">
                <a:avLst/>
              </a:prstGeom>
              <a:noFill/>
              <a:ln w="1587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G</a:t>
                </a:r>
                <a:r>
                  <a:rPr lang="en-US" altLang="zh-CN" i="0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2</a:t>
                </a:r>
                <a:endParaRPr lang="en-US" altLang="zh-CN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47" name="Rectangle 169"/>
              <p:cNvSpPr>
                <a:spLocks noChangeArrowheads="1"/>
              </p:cNvSpPr>
              <p:nvPr/>
            </p:nvSpPr>
            <p:spPr bwMode="auto">
              <a:xfrm>
                <a:off x="3115380" y="1975303"/>
                <a:ext cx="412750" cy="371475"/>
              </a:xfrm>
              <a:prstGeom prst="rect">
                <a:avLst/>
              </a:prstGeom>
              <a:noFill/>
              <a:ln w="1587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zh-CN" altLang="en-US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＆</a:t>
                </a:r>
              </a:p>
            </p:txBody>
          </p:sp>
          <p:sp>
            <p:nvSpPr>
              <p:cNvPr id="248" name="矩形 247"/>
              <p:cNvSpPr/>
              <p:nvPr/>
            </p:nvSpPr>
            <p:spPr>
              <a:xfrm>
                <a:off x="3082396" y="1978025"/>
                <a:ext cx="476250" cy="70485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椭圆 248"/>
              <p:cNvSpPr/>
              <p:nvPr/>
            </p:nvSpPr>
            <p:spPr>
              <a:xfrm>
                <a:off x="3563409" y="2292350"/>
                <a:ext cx="72000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0" name="直接连接符 249"/>
              <p:cNvCxnSpPr/>
              <p:nvPr/>
            </p:nvCxnSpPr>
            <p:spPr>
              <a:xfrm>
                <a:off x="2410883" y="2540001"/>
                <a:ext cx="681038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/>
              <p:cNvCxnSpPr/>
              <p:nvPr/>
            </p:nvCxnSpPr>
            <p:spPr>
              <a:xfrm>
                <a:off x="3630083" y="2330451"/>
                <a:ext cx="681038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/>
              <p:cNvCxnSpPr/>
              <p:nvPr/>
            </p:nvCxnSpPr>
            <p:spPr>
              <a:xfrm>
                <a:off x="2758546" y="2178051"/>
                <a:ext cx="32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组合 52"/>
            <p:cNvGrpSpPr/>
            <p:nvPr/>
          </p:nvGrpSpPr>
          <p:grpSpPr>
            <a:xfrm>
              <a:off x="2391833" y="1058863"/>
              <a:ext cx="1900238" cy="704850"/>
              <a:chOff x="2391833" y="1058863"/>
              <a:chExt cx="1900238" cy="704850"/>
            </a:xfrm>
          </p:grpSpPr>
          <p:sp>
            <p:nvSpPr>
              <p:cNvPr id="239" name="Rectangle 171"/>
              <p:cNvSpPr>
                <a:spLocks noChangeArrowheads="1"/>
              </p:cNvSpPr>
              <p:nvPr/>
            </p:nvSpPr>
            <p:spPr bwMode="auto">
              <a:xfrm>
                <a:off x="3062993" y="1349828"/>
                <a:ext cx="425450" cy="371475"/>
              </a:xfrm>
              <a:prstGeom prst="rect">
                <a:avLst/>
              </a:prstGeom>
              <a:noFill/>
              <a:ln w="1587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G</a:t>
                </a:r>
                <a:r>
                  <a:rPr lang="en-US" altLang="zh-CN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240" name="Rectangle 169"/>
              <p:cNvSpPr>
                <a:spLocks noChangeArrowheads="1"/>
              </p:cNvSpPr>
              <p:nvPr/>
            </p:nvSpPr>
            <p:spPr bwMode="auto">
              <a:xfrm>
                <a:off x="3105855" y="1065666"/>
                <a:ext cx="412750" cy="371475"/>
              </a:xfrm>
              <a:prstGeom prst="rect">
                <a:avLst/>
              </a:prstGeom>
              <a:noFill/>
              <a:ln w="1587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zh-CN" altLang="en-US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＆</a:t>
                </a:r>
              </a:p>
            </p:txBody>
          </p:sp>
          <p:sp>
            <p:nvSpPr>
              <p:cNvPr id="241" name="矩形 240"/>
              <p:cNvSpPr/>
              <p:nvPr/>
            </p:nvSpPr>
            <p:spPr>
              <a:xfrm>
                <a:off x="3068108" y="1058863"/>
                <a:ext cx="476250" cy="70485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椭圆 241"/>
              <p:cNvSpPr/>
              <p:nvPr/>
            </p:nvSpPr>
            <p:spPr>
              <a:xfrm>
                <a:off x="3544359" y="1373187"/>
                <a:ext cx="72000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43" name="直接连接符 242"/>
              <p:cNvCxnSpPr/>
              <p:nvPr/>
            </p:nvCxnSpPr>
            <p:spPr>
              <a:xfrm>
                <a:off x="2391833" y="1239838"/>
                <a:ext cx="681038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接连接符 243"/>
              <p:cNvCxnSpPr/>
              <p:nvPr/>
            </p:nvCxnSpPr>
            <p:spPr>
              <a:xfrm>
                <a:off x="3611033" y="1411288"/>
                <a:ext cx="681038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/>
              <p:cNvCxnSpPr/>
              <p:nvPr/>
            </p:nvCxnSpPr>
            <p:spPr>
              <a:xfrm>
                <a:off x="2744258" y="1597026"/>
                <a:ext cx="32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组合 252"/>
          <p:cNvGrpSpPr/>
          <p:nvPr/>
        </p:nvGrpSpPr>
        <p:grpSpPr>
          <a:xfrm>
            <a:off x="1432896" y="1694126"/>
            <a:ext cx="1129682" cy="1000713"/>
            <a:chOff x="2719829" y="1592526"/>
            <a:chExt cx="1129682" cy="1000713"/>
          </a:xfrm>
        </p:grpSpPr>
        <p:cxnSp>
          <p:nvCxnSpPr>
            <p:cNvPr id="254" name="直接连接符 253"/>
            <p:cNvCxnSpPr/>
            <p:nvPr/>
          </p:nvCxnSpPr>
          <p:spPr>
            <a:xfrm rot="5400000">
              <a:off x="2590800" y="1721555"/>
              <a:ext cx="259645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>
              <a:off x="2731912" y="1840088"/>
              <a:ext cx="1117599" cy="248356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 rot="5400000">
              <a:off x="3586223" y="2340445"/>
              <a:ext cx="5040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256"/>
          <p:cNvGrpSpPr/>
          <p:nvPr/>
        </p:nvGrpSpPr>
        <p:grpSpPr>
          <a:xfrm flipV="1">
            <a:off x="1478052" y="1524001"/>
            <a:ext cx="1129682" cy="1039370"/>
            <a:chOff x="2719829" y="1592526"/>
            <a:chExt cx="1129682" cy="1000713"/>
          </a:xfrm>
        </p:grpSpPr>
        <p:cxnSp>
          <p:nvCxnSpPr>
            <p:cNvPr id="258" name="直接连接符 257"/>
            <p:cNvCxnSpPr/>
            <p:nvPr/>
          </p:nvCxnSpPr>
          <p:spPr>
            <a:xfrm rot="5400000">
              <a:off x="2590800" y="1721555"/>
              <a:ext cx="259645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/>
          </p:nvCxnSpPr>
          <p:spPr>
            <a:xfrm>
              <a:off x="2731912" y="1840088"/>
              <a:ext cx="1117599" cy="248356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/>
          </p:nvCxnSpPr>
          <p:spPr>
            <a:xfrm rot="5400000">
              <a:off x="3586223" y="2340445"/>
              <a:ext cx="5040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  <p:bldP spid="1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33"/>
          <p:cNvGrpSpPr>
            <a:grpSpLocks/>
          </p:cNvGrpSpPr>
          <p:nvPr/>
        </p:nvGrpSpPr>
        <p:grpSpPr bwMode="auto">
          <a:xfrm>
            <a:off x="4140200" y="1560515"/>
            <a:ext cx="4495800" cy="523875"/>
            <a:chOff x="2640" y="816"/>
            <a:chExt cx="2832" cy="330"/>
          </a:xfrm>
        </p:grpSpPr>
        <p:sp>
          <p:nvSpPr>
            <p:cNvPr id="68" name="Text Box 34"/>
            <p:cNvSpPr txBox="1">
              <a:spLocks noChangeArrowheads="1"/>
            </p:cNvSpPr>
            <p:nvPr/>
          </p:nvSpPr>
          <p:spPr bwMode="auto">
            <a:xfrm>
              <a:off x="2640" y="816"/>
              <a:ext cx="283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（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）当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  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 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0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</a:t>
              </a:r>
            </a:p>
          </p:txBody>
        </p:sp>
        <p:sp>
          <p:nvSpPr>
            <p:cNvPr id="69" name="Line 35"/>
            <p:cNvSpPr>
              <a:spLocks noChangeShapeType="1"/>
            </p:cNvSpPr>
            <p:nvPr/>
          </p:nvSpPr>
          <p:spPr bwMode="auto">
            <a:xfrm>
              <a:off x="3536" y="8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Line 36"/>
            <p:cNvSpPr>
              <a:spLocks noChangeShapeType="1"/>
            </p:cNvSpPr>
            <p:nvPr/>
          </p:nvSpPr>
          <p:spPr bwMode="auto">
            <a:xfrm>
              <a:off x="4347" y="8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1" name="Group 37"/>
          <p:cNvGrpSpPr>
            <a:grpSpLocks/>
          </p:cNvGrpSpPr>
          <p:nvPr/>
        </p:nvGrpSpPr>
        <p:grpSpPr bwMode="auto">
          <a:xfrm>
            <a:off x="4859338" y="2281240"/>
            <a:ext cx="3810000" cy="523875"/>
            <a:chOff x="3088" y="1428"/>
            <a:chExt cx="2400" cy="330"/>
          </a:xfrm>
        </p:grpSpPr>
        <p:sp>
          <p:nvSpPr>
            <p:cNvPr id="72" name="Text Box 38"/>
            <p:cNvSpPr txBox="1">
              <a:spLocks noChangeArrowheads="1"/>
            </p:cNvSpPr>
            <p:nvPr/>
          </p:nvSpPr>
          <p:spPr bwMode="auto">
            <a:xfrm>
              <a:off x="3088" y="1428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如果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   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0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</a:t>
              </a:r>
            </a:p>
          </p:txBody>
        </p:sp>
        <p:sp>
          <p:nvSpPr>
            <p:cNvPr id="73" name="Line 39"/>
            <p:cNvSpPr>
              <a:spLocks noChangeShapeType="1"/>
            </p:cNvSpPr>
            <p:nvPr/>
          </p:nvSpPr>
          <p:spPr bwMode="auto">
            <a:xfrm>
              <a:off x="4491" y="147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4" name="Group 40"/>
          <p:cNvGrpSpPr>
            <a:grpSpLocks/>
          </p:cNvGrpSpPr>
          <p:nvPr/>
        </p:nvGrpSpPr>
        <p:grpSpPr bwMode="auto">
          <a:xfrm>
            <a:off x="4859338" y="2904216"/>
            <a:ext cx="3810000" cy="523875"/>
            <a:chOff x="3072" y="1440"/>
            <a:chExt cx="2400" cy="330"/>
          </a:xfrm>
        </p:grpSpPr>
        <p:sp>
          <p:nvSpPr>
            <p:cNvPr id="75" name="Text Box 41"/>
            <p:cNvSpPr txBox="1">
              <a:spLocks noChangeArrowheads="1"/>
            </p:cNvSpPr>
            <p:nvPr/>
          </p:nvSpPr>
          <p:spPr bwMode="auto">
            <a:xfrm>
              <a:off x="3072" y="1440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则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0  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</a:t>
              </a:r>
            </a:p>
          </p:txBody>
        </p:sp>
        <p:sp>
          <p:nvSpPr>
            <p:cNvPr id="76" name="Line 42"/>
            <p:cNvSpPr>
              <a:spLocks noChangeShapeType="1"/>
            </p:cNvSpPr>
            <p:nvPr/>
          </p:nvSpPr>
          <p:spPr bwMode="auto">
            <a:xfrm>
              <a:off x="4368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41435" y="3524024"/>
            <a:ext cx="36909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从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态翻转至 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态</a:t>
            </a:r>
          </a:p>
        </p:txBody>
      </p:sp>
      <p:grpSp>
        <p:nvGrpSpPr>
          <p:cNvPr id="78" name="Group 47"/>
          <p:cNvGrpSpPr>
            <a:grpSpLocks/>
          </p:cNvGrpSpPr>
          <p:nvPr/>
        </p:nvGrpSpPr>
        <p:grpSpPr bwMode="auto">
          <a:xfrm>
            <a:off x="425450" y="3048000"/>
            <a:ext cx="457200" cy="152400"/>
            <a:chOff x="3216" y="3216"/>
            <a:chExt cx="480" cy="144"/>
          </a:xfrm>
        </p:grpSpPr>
        <p:sp>
          <p:nvSpPr>
            <p:cNvPr id="79" name="Line 48"/>
            <p:cNvSpPr>
              <a:spLocks noChangeShapeType="1"/>
            </p:cNvSpPr>
            <p:nvPr/>
          </p:nvSpPr>
          <p:spPr bwMode="auto">
            <a:xfrm>
              <a:off x="3216" y="3216"/>
              <a:ext cx="14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0" name="Line 49"/>
            <p:cNvSpPr>
              <a:spLocks noChangeShapeType="1"/>
            </p:cNvSpPr>
            <p:nvPr/>
          </p:nvSpPr>
          <p:spPr bwMode="auto">
            <a:xfrm>
              <a:off x="3360" y="3216"/>
              <a:ext cx="0" cy="14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Line 50"/>
            <p:cNvSpPr>
              <a:spLocks noChangeShapeType="1"/>
            </p:cNvSpPr>
            <p:nvPr/>
          </p:nvSpPr>
          <p:spPr bwMode="auto">
            <a:xfrm>
              <a:off x="3360" y="3360"/>
              <a:ext cx="192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2" name="Line 51"/>
            <p:cNvSpPr>
              <a:spLocks noChangeShapeType="1"/>
            </p:cNvSpPr>
            <p:nvPr/>
          </p:nvSpPr>
          <p:spPr bwMode="auto">
            <a:xfrm flipV="1">
              <a:off x="3552" y="3216"/>
              <a:ext cx="0" cy="14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3" name="Line 52"/>
            <p:cNvSpPr>
              <a:spLocks noChangeShapeType="1"/>
            </p:cNvSpPr>
            <p:nvPr/>
          </p:nvSpPr>
          <p:spPr bwMode="auto">
            <a:xfrm>
              <a:off x="3552" y="3216"/>
              <a:ext cx="14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84" name="Group 63"/>
          <p:cNvGrpSpPr>
            <a:grpSpLocks/>
          </p:cNvGrpSpPr>
          <p:nvPr/>
        </p:nvGrpSpPr>
        <p:grpSpPr bwMode="auto">
          <a:xfrm>
            <a:off x="1187451" y="1908175"/>
            <a:ext cx="428626" cy="1209675"/>
            <a:chOff x="768" y="1154"/>
            <a:chExt cx="270" cy="762"/>
          </a:xfrm>
        </p:grpSpPr>
        <p:sp>
          <p:nvSpPr>
            <p:cNvPr id="85" name="Rectangle 64"/>
            <p:cNvSpPr>
              <a:spLocks noChangeArrowheads="1"/>
            </p:cNvSpPr>
            <p:nvPr/>
          </p:nvSpPr>
          <p:spPr bwMode="auto">
            <a:xfrm>
              <a:off x="768" y="1154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86" name="Rectangle 65"/>
            <p:cNvSpPr>
              <a:spLocks noChangeArrowheads="1"/>
            </p:cNvSpPr>
            <p:nvPr/>
          </p:nvSpPr>
          <p:spPr bwMode="auto">
            <a:xfrm>
              <a:off x="809" y="1586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sp>
        <p:nvSpPr>
          <p:cNvPr id="87" name="Rectangle 67"/>
          <p:cNvSpPr>
            <a:spLocks noChangeArrowheads="1"/>
          </p:cNvSpPr>
          <p:nvPr/>
        </p:nvSpPr>
        <p:spPr bwMode="auto">
          <a:xfrm>
            <a:off x="2679247" y="1510393"/>
            <a:ext cx="364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88" name="Rectangle 68"/>
          <p:cNvSpPr>
            <a:spLocks noChangeArrowheads="1"/>
          </p:cNvSpPr>
          <p:nvPr/>
        </p:nvSpPr>
        <p:spPr bwMode="auto">
          <a:xfrm>
            <a:off x="2729593" y="2718707"/>
            <a:ext cx="364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89" name="Text Box 90"/>
          <p:cNvSpPr txBox="1">
            <a:spLocks noChangeArrowheads="1"/>
          </p:cNvSpPr>
          <p:nvPr/>
        </p:nvSpPr>
        <p:spPr bwMode="auto">
          <a:xfrm>
            <a:off x="304800" y="2593975"/>
            <a:ext cx="364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92" name="Rectangle 112"/>
          <p:cNvSpPr>
            <a:spLocks noChangeArrowheads="1"/>
          </p:cNvSpPr>
          <p:nvPr/>
        </p:nvSpPr>
        <p:spPr bwMode="auto">
          <a:xfrm>
            <a:off x="1629456" y="480785"/>
            <a:ext cx="4378419" cy="58695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200" b="1" i="0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基本</a:t>
            </a:r>
            <a:r>
              <a:rPr lang="en-US" altLang="zh-CN" sz="3200" b="1" i="0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RS</a:t>
            </a:r>
            <a:r>
              <a:rPr lang="zh-CN" altLang="en-US" sz="3200" b="1" i="0" dirty="0" smtClean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r>
              <a:rPr lang="zh-CN" altLang="en-US" sz="3200" b="1" dirty="0" smtClean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工作原理</a:t>
            </a:r>
            <a:endParaRPr lang="zh-CN" altLang="en-US" sz="3200" b="1" i="0" dirty="0">
              <a:solidFill>
                <a:srgbClr val="00B0F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3" name="Line 113"/>
          <p:cNvSpPr>
            <a:spLocks noChangeShapeType="1"/>
          </p:cNvSpPr>
          <p:nvPr/>
        </p:nvSpPr>
        <p:spPr bwMode="auto">
          <a:xfrm>
            <a:off x="5076825" y="2065338"/>
            <a:ext cx="3024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4" name="Text Box 114"/>
          <p:cNvSpPr txBox="1">
            <a:spLocks noChangeArrowheads="1"/>
          </p:cNvSpPr>
          <p:nvPr/>
        </p:nvSpPr>
        <p:spPr bwMode="auto">
          <a:xfrm>
            <a:off x="1025525" y="1363663"/>
            <a:ext cx="361294" cy="5254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95" name="Text Box 117"/>
          <p:cNvSpPr txBox="1">
            <a:spLocks noChangeArrowheads="1"/>
          </p:cNvSpPr>
          <p:nvPr/>
        </p:nvSpPr>
        <p:spPr bwMode="auto">
          <a:xfrm>
            <a:off x="2679247" y="1511981"/>
            <a:ext cx="431800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96" name="Text Box 118"/>
          <p:cNvSpPr txBox="1">
            <a:spLocks noChangeArrowheads="1"/>
          </p:cNvSpPr>
          <p:nvPr/>
        </p:nvSpPr>
        <p:spPr bwMode="auto">
          <a:xfrm>
            <a:off x="2774043" y="2732995"/>
            <a:ext cx="358775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grpSp>
        <p:nvGrpSpPr>
          <p:cNvPr id="97" name="Group 121"/>
          <p:cNvGrpSpPr>
            <a:grpSpLocks/>
          </p:cNvGrpSpPr>
          <p:nvPr/>
        </p:nvGrpSpPr>
        <p:grpSpPr bwMode="auto">
          <a:xfrm>
            <a:off x="1198565" y="1938340"/>
            <a:ext cx="474663" cy="1201739"/>
            <a:chOff x="800" y="1212"/>
            <a:chExt cx="299" cy="757"/>
          </a:xfrm>
        </p:grpSpPr>
        <p:sp>
          <p:nvSpPr>
            <p:cNvPr id="98" name="Text Box 119"/>
            <p:cNvSpPr txBox="1">
              <a:spLocks noChangeArrowheads="1"/>
            </p:cNvSpPr>
            <p:nvPr/>
          </p:nvSpPr>
          <p:spPr bwMode="auto">
            <a:xfrm>
              <a:off x="827" y="1212"/>
              <a:ext cx="272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99" name="Text Box 120"/>
            <p:cNvSpPr txBox="1">
              <a:spLocks noChangeArrowheads="1"/>
            </p:cNvSpPr>
            <p:nvPr/>
          </p:nvSpPr>
          <p:spPr bwMode="auto">
            <a:xfrm>
              <a:off x="800" y="1638"/>
              <a:ext cx="227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714148" y="1591583"/>
            <a:ext cx="2847748" cy="2012951"/>
            <a:chOff x="616177" y="1090840"/>
            <a:chExt cx="2847748" cy="2012951"/>
          </a:xfrm>
        </p:grpSpPr>
        <p:sp>
          <p:nvSpPr>
            <p:cNvPr id="100" name="Text Box 70"/>
            <p:cNvSpPr txBox="1">
              <a:spLocks noChangeArrowheads="1"/>
            </p:cNvSpPr>
            <p:nvPr/>
          </p:nvSpPr>
          <p:spPr bwMode="auto">
            <a:xfrm>
              <a:off x="3059113" y="1233941"/>
              <a:ext cx="404576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101" name="Group 74"/>
            <p:cNvGrpSpPr>
              <a:grpSpLocks/>
            </p:cNvGrpSpPr>
            <p:nvPr/>
          </p:nvGrpSpPr>
          <p:grpSpPr bwMode="auto">
            <a:xfrm>
              <a:off x="3059113" y="2602366"/>
              <a:ext cx="404812" cy="463550"/>
              <a:chOff x="4014" y="2931"/>
              <a:chExt cx="255" cy="292"/>
            </a:xfrm>
          </p:grpSpPr>
          <p:sp>
            <p:nvSpPr>
              <p:cNvPr id="102" name="Text Box 71"/>
              <p:cNvSpPr txBox="1">
                <a:spLocks noChangeArrowheads="1"/>
              </p:cNvSpPr>
              <p:nvPr/>
            </p:nvSpPr>
            <p:spPr bwMode="auto">
              <a:xfrm>
                <a:off x="4014" y="2931"/>
                <a:ext cx="255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103" name="Line 73"/>
              <p:cNvSpPr>
                <a:spLocks noChangeShapeType="1"/>
              </p:cNvSpPr>
              <p:nvPr/>
            </p:nvSpPr>
            <p:spPr bwMode="auto">
              <a:xfrm>
                <a:off x="4059" y="2976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04" name="Group 138"/>
            <p:cNvGrpSpPr>
              <a:grpSpLocks/>
            </p:cNvGrpSpPr>
            <p:nvPr/>
          </p:nvGrpSpPr>
          <p:grpSpPr bwMode="auto">
            <a:xfrm>
              <a:off x="616177" y="1090840"/>
              <a:ext cx="519113" cy="2012951"/>
              <a:chOff x="251" y="792"/>
              <a:chExt cx="327" cy="1268"/>
            </a:xfrm>
          </p:grpSpPr>
          <p:grpSp>
            <p:nvGrpSpPr>
              <p:cNvPr id="105" name="Group 79"/>
              <p:cNvGrpSpPr>
                <a:grpSpLocks/>
              </p:cNvGrpSpPr>
              <p:nvPr/>
            </p:nvGrpSpPr>
            <p:grpSpPr bwMode="auto">
              <a:xfrm>
                <a:off x="271" y="792"/>
                <a:ext cx="305" cy="292"/>
                <a:chOff x="724" y="1155"/>
                <a:chExt cx="305" cy="292"/>
              </a:xfrm>
            </p:grpSpPr>
            <p:sp>
              <p:nvSpPr>
                <p:cNvPr id="109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724" y="1155"/>
                  <a:ext cx="305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S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10" name="Line 77"/>
                <p:cNvSpPr>
                  <a:spLocks noChangeShapeType="1"/>
                </p:cNvSpPr>
                <p:nvPr/>
              </p:nvSpPr>
              <p:spPr bwMode="auto">
                <a:xfrm>
                  <a:off x="784" y="1221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06" name="Group 80"/>
              <p:cNvGrpSpPr>
                <a:grpSpLocks/>
              </p:cNvGrpSpPr>
              <p:nvPr/>
            </p:nvGrpSpPr>
            <p:grpSpPr bwMode="auto">
              <a:xfrm>
                <a:off x="251" y="1768"/>
                <a:ext cx="327" cy="292"/>
                <a:chOff x="704" y="2131"/>
                <a:chExt cx="327" cy="292"/>
              </a:xfrm>
            </p:grpSpPr>
            <p:sp>
              <p:nvSpPr>
                <p:cNvPr id="107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704" y="2131"/>
                  <a:ext cx="327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8" name="Line 78"/>
                <p:cNvSpPr>
                  <a:spLocks noChangeShapeType="1"/>
                </p:cNvSpPr>
                <p:nvPr/>
              </p:nvSpPr>
              <p:spPr bwMode="auto">
                <a:xfrm>
                  <a:off x="778" y="2170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111" name="组合 235"/>
            <p:cNvGrpSpPr/>
            <p:nvPr/>
          </p:nvGrpSpPr>
          <p:grpSpPr>
            <a:xfrm>
              <a:off x="1104900" y="1160463"/>
              <a:ext cx="1919288" cy="1894945"/>
              <a:chOff x="2391833" y="1058863"/>
              <a:chExt cx="1919288" cy="1894945"/>
            </a:xfrm>
          </p:grpSpPr>
          <p:grpSp>
            <p:nvGrpSpPr>
              <p:cNvPr id="112" name="组合 51"/>
              <p:cNvGrpSpPr/>
              <p:nvPr/>
            </p:nvGrpSpPr>
            <p:grpSpPr>
              <a:xfrm>
                <a:off x="2410883" y="2246236"/>
                <a:ext cx="1900238" cy="707572"/>
                <a:chOff x="2410883" y="1975303"/>
                <a:chExt cx="1900238" cy="707572"/>
              </a:xfrm>
            </p:grpSpPr>
            <p:sp>
              <p:nvSpPr>
                <p:cNvPr id="121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77281" y="2273753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2</a:t>
                  </a:r>
                  <a:endParaRPr lang="en-US" altLang="zh-CN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22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15380" y="1975303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123" name="矩形 122"/>
                <p:cNvSpPr/>
                <p:nvPr/>
              </p:nvSpPr>
              <p:spPr>
                <a:xfrm>
                  <a:off x="3082396" y="1978025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4" name="椭圆 123"/>
                <p:cNvSpPr/>
                <p:nvPr/>
              </p:nvSpPr>
              <p:spPr>
                <a:xfrm>
                  <a:off x="3563409" y="2292350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5" name="直接连接符 124"/>
                <p:cNvCxnSpPr/>
                <p:nvPr/>
              </p:nvCxnSpPr>
              <p:spPr>
                <a:xfrm>
                  <a:off x="2410883" y="254000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/>
                <p:cNvCxnSpPr/>
                <p:nvPr/>
              </p:nvCxnSpPr>
              <p:spPr>
                <a:xfrm>
                  <a:off x="3630083" y="233045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/>
                <p:cNvCxnSpPr/>
                <p:nvPr/>
              </p:nvCxnSpPr>
              <p:spPr>
                <a:xfrm>
                  <a:off x="2758546" y="2178051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3" name="组合 52"/>
              <p:cNvGrpSpPr/>
              <p:nvPr/>
            </p:nvGrpSpPr>
            <p:grpSpPr>
              <a:xfrm>
                <a:off x="2391833" y="1058863"/>
                <a:ext cx="1900238" cy="704850"/>
                <a:chOff x="2391833" y="1058863"/>
                <a:chExt cx="1900238" cy="704850"/>
              </a:xfrm>
            </p:grpSpPr>
            <p:sp>
              <p:nvSpPr>
                <p:cNvPr id="114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62993" y="1349828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15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05855" y="1065666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116" name="矩形 115"/>
                <p:cNvSpPr/>
                <p:nvPr/>
              </p:nvSpPr>
              <p:spPr>
                <a:xfrm>
                  <a:off x="3068108" y="1058863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7" name="椭圆 116"/>
                <p:cNvSpPr/>
                <p:nvPr/>
              </p:nvSpPr>
              <p:spPr>
                <a:xfrm>
                  <a:off x="3544359" y="1373187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18" name="直接连接符 117"/>
                <p:cNvCxnSpPr/>
                <p:nvPr/>
              </p:nvCxnSpPr>
              <p:spPr>
                <a:xfrm>
                  <a:off x="2391833" y="123983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连接符 118"/>
                <p:cNvCxnSpPr/>
                <p:nvPr/>
              </p:nvCxnSpPr>
              <p:spPr>
                <a:xfrm>
                  <a:off x="3611033" y="141128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连接符 119"/>
                <p:cNvCxnSpPr/>
                <p:nvPr/>
              </p:nvCxnSpPr>
              <p:spPr>
                <a:xfrm>
                  <a:off x="2744258" y="1597026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8" name="组合 252"/>
            <p:cNvGrpSpPr/>
            <p:nvPr/>
          </p:nvGrpSpPr>
          <p:grpSpPr>
            <a:xfrm>
              <a:off x="1432896" y="1694126"/>
              <a:ext cx="1129682" cy="1000713"/>
              <a:chOff x="2719829" y="1592526"/>
              <a:chExt cx="1129682" cy="1000713"/>
            </a:xfrm>
          </p:grpSpPr>
          <p:cxnSp>
            <p:nvCxnSpPr>
              <p:cNvPr id="129" name="直接连接符 128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2" name="组合 256"/>
            <p:cNvGrpSpPr/>
            <p:nvPr/>
          </p:nvGrpSpPr>
          <p:grpSpPr>
            <a:xfrm flipV="1">
              <a:off x="1478052" y="1524001"/>
              <a:ext cx="1129682" cy="1039370"/>
              <a:chOff x="2719829" y="1592526"/>
              <a:chExt cx="1129682" cy="1000713"/>
            </a:xfrm>
          </p:grpSpPr>
          <p:cxnSp>
            <p:nvCxnSpPr>
              <p:cNvPr id="133" name="直接连接符 132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0" name="Text Box 122"/>
          <p:cNvSpPr txBox="1">
            <a:spLocks noChangeArrowheads="1"/>
          </p:cNvSpPr>
          <p:nvPr/>
        </p:nvSpPr>
        <p:spPr bwMode="auto">
          <a:xfrm>
            <a:off x="500970" y="2636767"/>
            <a:ext cx="288925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utoUpdateAnimBg="0"/>
      <p:bldP spid="87" grpId="0"/>
      <p:bldP spid="87" grpId="1"/>
      <p:bldP spid="88" grpId="0"/>
      <p:bldP spid="88" grpId="1"/>
      <p:bldP spid="89" grpId="0"/>
      <p:bldP spid="93" grpId="0" animBg="1"/>
      <p:bldP spid="95" grpId="0"/>
      <p:bldP spid="96" grpId="0"/>
      <p:bldP spid="9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4397828" y="1230084"/>
            <a:ext cx="3810000" cy="523875"/>
            <a:chOff x="3088" y="1428"/>
            <a:chExt cx="2400" cy="330"/>
          </a:xfrm>
        </p:grpSpPr>
        <p:sp>
          <p:nvSpPr>
            <p:cNvPr id="3" name="Text Box 45"/>
            <p:cNvSpPr txBox="1">
              <a:spLocks noChangeArrowheads="1"/>
            </p:cNvSpPr>
            <p:nvPr/>
          </p:nvSpPr>
          <p:spPr bwMode="auto">
            <a:xfrm>
              <a:off x="3088" y="1428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如果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0   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</a:t>
              </a:r>
            </a:p>
          </p:txBody>
        </p:sp>
        <p:sp>
          <p:nvSpPr>
            <p:cNvPr id="4" name="Line 46"/>
            <p:cNvSpPr>
              <a:spLocks noChangeShapeType="1"/>
            </p:cNvSpPr>
            <p:nvPr/>
          </p:nvSpPr>
          <p:spPr bwMode="auto">
            <a:xfrm>
              <a:off x="4464" y="145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5" name="Group 53"/>
          <p:cNvGrpSpPr>
            <a:grpSpLocks/>
          </p:cNvGrpSpPr>
          <p:nvPr/>
        </p:nvGrpSpPr>
        <p:grpSpPr bwMode="auto">
          <a:xfrm>
            <a:off x="458107" y="3138715"/>
            <a:ext cx="457200" cy="152400"/>
            <a:chOff x="3216" y="3216"/>
            <a:chExt cx="480" cy="144"/>
          </a:xfrm>
        </p:grpSpPr>
        <p:sp>
          <p:nvSpPr>
            <p:cNvPr id="6" name="Line 54"/>
            <p:cNvSpPr>
              <a:spLocks noChangeShapeType="1"/>
            </p:cNvSpPr>
            <p:nvPr/>
          </p:nvSpPr>
          <p:spPr bwMode="auto">
            <a:xfrm>
              <a:off x="3216" y="3216"/>
              <a:ext cx="14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" name="Line 55"/>
            <p:cNvSpPr>
              <a:spLocks noChangeShapeType="1"/>
            </p:cNvSpPr>
            <p:nvPr/>
          </p:nvSpPr>
          <p:spPr bwMode="auto">
            <a:xfrm>
              <a:off x="3360" y="3216"/>
              <a:ext cx="0" cy="14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" name="Line 56"/>
            <p:cNvSpPr>
              <a:spLocks noChangeShapeType="1"/>
            </p:cNvSpPr>
            <p:nvPr/>
          </p:nvSpPr>
          <p:spPr bwMode="auto">
            <a:xfrm>
              <a:off x="3360" y="3360"/>
              <a:ext cx="192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" name="Line 57"/>
            <p:cNvSpPr>
              <a:spLocks noChangeShapeType="1"/>
            </p:cNvSpPr>
            <p:nvPr/>
          </p:nvSpPr>
          <p:spPr bwMode="auto">
            <a:xfrm flipV="1">
              <a:off x="3552" y="3216"/>
              <a:ext cx="0" cy="14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" name="Line 58"/>
            <p:cNvSpPr>
              <a:spLocks noChangeShapeType="1"/>
            </p:cNvSpPr>
            <p:nvPr/>
          </p:nvSpPr>
          <p:spPr bwMode="auto">
            <a:xfrm>
              <a:off x="3552" y="3216"/>
              <a:ext cx="14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1" name="Group 59"/>
          <p:cNvGrpSpPr>
            <a:grpSpLocks/>
          </p:cNvGrpSpPr>
          <p:nvPr/>
        </p:nvGrpSpPr>
        <p:grpSpPr bwMode="auto">
          <a:xfrm>
            <a:off x="4386943" y="1853978"/>
            <a:ext cx="3810000" cy="523875"/>
            <a:chOff x="3072" y="2709"/>
            <a:chExt cx="2400" cy="330"/>
          </a:xfrm>
        </p:grpSpPr>
        <p:sp>
          <p:nvSpPr>
            <p:cNvPr id="12" name="Text Box 60"/>
            <p:cNvSpPr txBox="1">
              <a:spLocks noChangeArrowheads="1"/>
            </p:cNvSpPr>
            <p:nvPr/>
          </p:nvSpPr>
          <p:spPr bwMode="auto">
            <a:xfrm>
              <a:off x="3072" y="2709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则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0  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 </a:t>
              </a:r>
              <a:endPara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" name="Line 61"/>
            <p:cNvSpPr>
              <a:spLocks noChangeShapeType="1"/>
            </p:cNvSpPr>
            <p:nvPr/>
          </p:nvSpPr>
          <p:spPr bwMode="auto">
            <a:xfrm>
              <a:off x="4409" y="275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4" name="Text Box 62"/>
          <p:cNvSpPr txBox="1">
            <a:spLocks noChangeArrowheads="1"/>
          </p:cNvSpPr>
          <p:nvPr/>
        </p:nvSpPr>
        <p:spPr bwMode="auto">
          <a:xfrm>
            <a:off x="4442506" y="2438174"/>
            <a:ext cx="30813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维持 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态不变</a:t>
            </a:r>
          </a:p>
        </p:txBody>
      </p:sp>
      <p:grpSp>
        <p:nvGrpSpPr>
          <p:cNvPr id="15" name="Group 69"/>
          <p:cNvGrpSpPr>
            <a:grpSpLocks/>
          </p:cNvGrpSpPr>
          <p:nvPr/>
        </p:nvGrpSpPr>
        <p:grpSpPr bwMode="auto">
          <a:xfrm>
            <a:off x="1164545" y="1535340"/>
            <a:ext cx="1908176" cy="1681163"/>
            <a:chOff x="741" y="878"/>
            <a:chExt cx="1202" cy="1059"/>
          </a:xfrm>
        </p:grpSpPr>
        <p:sp>
          <p:nvSpPr>
            <p:cNvPr id="16" name="Rectangle 70"/>
            <p:cNvSpPr>
              <a:spLocks noChangeArrowheads="1"/>
            </p:cNvSpPr>
            <p:nvPr/>
          </p:nvSpPr>
          <p:spPr bwMode="auto">
            <a:xfrm>
              <a:off x="1714" y="878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7" name="Rectangle 71"/>
            <p:cNvSpPr>
              <a:spLocks noChangeArrowheads="1"/>
            </p:cNvSpPr>
            <p:nvPr/>
          </p:nvSpPr>
          <p:spPr bwMode="auto">
            <a:xfrm>
              <a:off x="741" y="1607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8" name="Group 72"/>
          <p:cNvGrpSpPr>
            <a:grpSpLocks/>
          </p:cNvGrpSpPr>
          <p:nvPr/>
        </p:nvGrpSpPr>
        <p:grpSpPr bwMode="auto">
          <a:xfrm>
            <a:off x="1164545" y="2071917"/>
            <a:ext cx="1897063" cy="1154114"/>
            <a:chOff x="741" y="1216"/>
            <a:chExt cx="1195" cy="727"/>
          </a:xfrm>
        </p:grpSpPr>
        <p:sp>
          <p:nvSpPr>
            <p:cNvPr id="19" name="Rectangle 73"/>
            <p:cNvSpPr>
              <a:spLocks noChangeArrowheads="1"/>
            </p:cNvSpPr>
            <p:nvPr/>
          </p:nvSpPr>
          <p:spPr bwMode="auto">
            <a:xfrm>
              <a:off x="1707" y="1613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0" name="Rectangle 74"/>
            <p:cNvSpPr>
              <a:spLocks noChangeArrowheads="1"/>
            </p:cNvSpPr>
            <p:nvPr/>
          </p:nvSpPr>
          <p:spPr bwMode="auto">
            <a:xfrm>
              <a:off x="741" y="1216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sp>
        <p:nvSpPr>
          <p:cNvPr id="21" name="Text Box 91"/>
          <p:cNvSpPr txBox="1">
            <a:spLocks noChangeArrowheads="1"/>
          </p:cNvSpPr>
          <p:nvPr/>
        </p:nvSpPr>
        <p:spPr bwMode="auto">
          <a:xfrm>
            <a:off x="337457" y="2659290"/>
            <a:ext cx="364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grpSp>
        <p:nvGrpSpPr>
          <p:cNvPr id="22" name="Group 103"/>
          <p:cNvGrpSpPr>
            <a:grpSpLocks/>
          </p:cNvGrpSpPr>
          <p:nvPr/>
        </p:nvGrpSpPr>
        <p:grpSpPr bwMode="auto">
          <a:xfrm>
            <a:off x="4543199" y="3187020"/>
            <a:ext cx="4154487" cy="720725"/>
            <a:chOff x="2971" y="3475"/>
            <a:chExt cx="2617" cy="454"/>
          </a:xfrm>
        </p:grpSpPr>
        <p:grpSp>
          <p:nvGrpSpPr>
            <p:cNvPr id="23" name="Group 104"/>
            <p:cNvGrpSpPr>
              <a:grpSpLocks/>
            </p:cNvGrpSpPr>
            <p:nvPr/>
          </p:nvGrpSpPr>
          <p:grpSpPr bwMode="auto">
            <a:xfrm>
              <a:off x="3061" y="3521"/>
              <a:ext cx="2527" cy="327"/>
              <a:chOff x="3041" y="3472"/>
              <a:chExt cx="2527" cy="327"/>
            </a:xfrm>
          </p:grpSpPr>
          <p:sp>
            <p:nvSpPr>
              <p:cNvPr id="25" name="Text Box 105"/>
              <p:cNvSpPr txBox="1">
                <a:spLocks noChangeArrowheads="1"/>
              </p:cNvSpPr>
              <p:nvPr/>
            </p:nvSpPr>
            <p:spPr bwMode="auto">
              <a:xfrm>
                <a:off x="3041" y="3472"/>
                <a:ext cx="2527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zh-CN" altLang="en-US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：置</a:t>
                </a:r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  <a:r>
                  <a:rPr lang="zh-CN" altLang="en-US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端，复位端</a:t>
                </a:r>
              </a:p>
            </p:txBody>
          </p:sp>
          <p:sp>
            <p:nvSpPr>
              <p:cNvPr id="26" name="Line 106"/>
              <p:cNvSpPr>
                <a:spLocks noChangeShapeType="1"/>
              </p:cNvSpPr>
              <p:nvPr/>
            </p:nvSpPr>
            <p:spPr bwMode="auto">
              <a:xfrm>
                <a:off x="3072" y="3504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24" name="Rectangle 107"/>
            <p:cNvSpPr>
              <a:spLocks noChangeArrowheads="1"/>
            </p:cNvSpPr>
            <p:nvPr/>
          </p:nvSpPr>
          <p:spPr bwMode="auto">
            <a:xfrm>
              <a:off x="2971" y="3475"/>
              <a:ext cx="2494" cy="454"/>
            </a:xfrm>
            <a:prstGeom prst="rect">
              <a:avLst/>
            </a:prstGeom>
            <a:noFill/>
            <a:ln w="2540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27" name="Rectangle 115"/>
          <p:cNvSpPr>
            <a:spLocks noChangeArrowheads="1"/>
          </p:cNvSpPr>
          <p:nvPr/>
        </p:nvSpPr>
        <p:spPr bwMode="auto">
          <a:xfrm>
            <a:off x="1102178" y="1321935"/>
            <a:ext cx="361294" cy="5254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28" name="Text Box 122"/>
          <p:cNvSpPr txBox="1">
            <a:spLocks noChangeArrowheads="1"/>
          </p:cNvSpPr>
          <p:nvPr/>
        </p:nvSpPr>
        <p:spPr bwMode="auto">
          <a:xfrm>
            <a:off x="500970" y="2700565"/>
            <a:ext cx="288925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grpSp>
        <p:nvGrpSpPr>
          <p:cNvPr id="103" name="组合 102"/>
          <p:cNvGrpSpPr/>
          <p:nvPr/>
        </p:nvGrpSpPr>
        <p:grpSpPr>
          <a:xfrm>
            <a:off x="714148" y="1591583"/>
            <a:ext cx="2847748" cy="2012951"/>
            <a:chOff x="616177" y="1090840"/>
            <a:chExt cx="2847748" cy="2012951"/>
          </a:xfrm>
        </p:grpSpPr>
        <p:sp>
          <p:nvSpPr>
            <p:cNvPr id="104" name="Text Box 70"/>
            <p:cNvSpPr txBox="1">
              <a:spLocks noChangeArrowheads="1"/>
            </p:cNvSpPr>
            <p:nvPr/>
          </p:nvSpPr>
          <p:spPr bwMode="auto">
            <a:xfrm>
              <a:off x="3059113" y="1233941"/>
              <a:ext cx="404576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105" name="Group 74"/>
            <p:cNvGrpSpPr>
              <a:grpSpLocks/>
            </p:cNvGrpSpPr>
            <p:nvPr/>
          </p:nvGrpSpPr>
          <p:grpSpPr bwMode="auto">
            <a:xfrm>
              <a:off x="3059113" y="2602366"/>
              <a:ext cx="404812" cy="463550"/>
              <a:chOff x="4014" y="2931"/>
              <a:chExt cx="255" cy="292"/>
            </a:xfrm>
          </p:grpSpPr>
          <p:sp>
            <p:nvSpPr>
              <p:cNvPr id="138" name="Text Box 71"/>
              <p:cNvSpPr txBox="1">
                <a:spLocks noChangeArrowheads="1"/>
              </p:cNvSpPr>
              <p:nvPr/>
            </p:nvSpPr>
            <p:spPr bwMode="auto">
              <a:xfrm>
                <a:off x="4014" y="2931"/>
                <a:ext cx="255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139" name="Line 73"/>
              <p:cNvSpPr>
                <a:spLocks noChangeShapeType="1"/>
              </p:cNvSpPr>
              <p:nvPr/>
            </p:nvSpPr>
            <p:spPr bwMode="auto">
              <a:xfrm>
                <a:off x="4059" y="2976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06" name="Group 138"/>
            <p:cNvGrpSpPr>
              <a:grpSpLocks/>
            </p:cNvGrpSpPr>
            <p:nvPr/>
          </p:nvGrpSpPr>
          <p:grpSpPr bwMode="auto">
            <a:xfrm>
              <a:off x="616177" y="1090839"/>
              <a:ext cx="519113" cy="2012950"/>
              <a:chOff x="251" y="792"/>
              <a:chExt cx="327" cy="1268"/>
            </a:xfrm>
          </p:grpSpPr>
          <p:grpSp>
            <p:nvGrpSpPr>
              <p:cNvPr id="132" name="Group 79"/>
              <p:cNvGrpSpPr>
                <a:grpSpLocks/>
              </p:cNvGrpSpPr>
              <p:nvPr/>
            </p:nvGrpSpPr>
            <p:grpSpPr bwMode="auto">
              <a:xfrm>
                <a:off x="271" y="792"/>
                <a:ext cx="305" cy="292"/>
                <a:chOff x="724" y="1155"/>
                <a:chExt cx="305" cy="292"/>
              </a:xfrm>
            </p:grpSpPr>
            <p:sp>
              <p:nvSpPr>
                <p:cNvPr id="136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724" y="1155"/>
                  <a:ext cx="305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S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7" name="Line 77"/>
                <p:cNvSpPr>
                  <a:spLocks noChangeShapeType="1"/>
                </p:cNvSpPr>
                <p:nvPr/>
              </p:nvSpPr>
              <p:spPr bwMode="auto">
                <a:xfrm>
                  <a:off x="784" y="1221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33" name="Group 80"/>
              <p:cNvGrpSpPr>
                <a:grpSpLocks/>
              </p:cNvGrpSpPr>
              <p:nvPr/>
            </p:nvGrpSpPr>
            <p:grpSpPr bwMode="auto">
              <a:xfrm>
                <a:off x="251" y="1768"/>
                <a:ext cx="327" cy="292"/>
                <a:chOff x="704" y="2131"/>
                <a:chExt cx="327" cy="292"/>
              </a:xfrm>
            </p:grpSpPr>
            <p:sp>
              <p:nvSpPr>
                <p:cNvPr id="134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704" y="2131"/>
                  <a:ext cx="327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5" name="Line 78"/>
                <p:cNvSpPr>
                  <a:spLocks noChangeShapeType="1"/>
                </p:cNvSpPr>
                <p:nvPr/>
              </p:nvSpPr>
              <p:spPr bwMode="auto">
                <a:xfrm>
                  <a:off x="778" y="2170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107" name="组合 235"/>
            <p:cNvGrpSpPr/>
            <p:nvPr/>
          </p:nvGrpSpPr>
          <p:grpSpPr>
            <a:xfrm>
              <a:off x="1104900" y="1160463"/>
              <a:ext cx="1919288" cy="1894945"/>
              <a:chOff x="2391833" y="1058863"/>
              <a:chExt cx="1919288" cy="1894945"/>
            </a:xfrm>
          </p:grpSpPr>
          <p:grpSp>
            <p:nvGrpSpPr>
              <p:cNvPr id="116" name="组合 51"/>
              <p:cNvGrpSpPr/>
              <p:nvPr/>
            </p:nvGrpSpPr>
            <p:grpSpPr>
              <a:xfrm>
                <a:off x="2410883" y="2246236"/>
                <a:ext cx="1900238" cy="707572"/>
                <a:chOff x="2410883" y="1975303"/>
                <a:chExt cx="1900238" cy="707572"/>
              </a:xfrm>
            </p:grpSpPr>
            <p:sp>
              <p:nvSpPr>
                <p:cNvPr id="125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77281" y="2273753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2</a:t>
                  </a:r>
                  <a:endParaRPr lang="en-US" altLang="zh-CN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26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15380" y="1975303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127" name="矩形 126"/>
                <p:cNvSpPr/>
                <p:nvPr/>
              </p:nvSpPr>
              <p:spPr>
                <a:xfrm>
                  <a:off x="3082396" y="1978025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8" name="椭圆 127"/>
                <p:cNvSpPr/>
                <p:nvPr/>
              </p:nvSpPr>
              <p:spPr>
                <a:xfrm>
                  <a:off x="3563409" y="2292350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9" name="直接连接符 128"/>
                <p:cNvCxnSpPr/>
                <p:nvPr/>
              </p:nvCxnSpPr>
              <p:spPr>
                <a:xfrm>
                  <a:off x="2410883" y="254000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/>
                <p:cNvCxnSpPr/>
                <p:nvPr/>
              </p:nvCxnSpPr>
              <p:spPr>
                <a:xfrm>
                  <a:off x="3630083" y="233045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连接符 130"/>
                <p:cNvCxnSpPr/>
                <p:nvPr/>
              </p:nvCxnSpPr>
              <p:spPr>
                <a:xfrm>
                  <a:off x="2758546" y="2178051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7" name="组合 52"/>
              <p:cNvGrpSpPr/>
              <p:nvPr/>
            </p:nvGrpSpPr>
            <p:grpSpPr>
              <a:xfrm>
                <a:off x="2391833" y="1058863"/>
                <a:ext cx="1900238" cy="704850"/>
                <a:chOff x="2391833" y="1058863"/>
                <a:chExt cx="1900238" cy="704850"/>
              </a:xfrm>
            </p:grpSpPr>
            <p:sp>
              <p:nvSpPr>
                <p:cNvPr id="118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62993" y="1349828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19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05855" y="1065666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120" name="矩形 119"/>
                <p:cNvSpPr/>
                <p:nvPr/>
              </p:nvSpPr>
              <p:spPr>
                <a:xfrm>
                  <a:off x="3068108" y="1058863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1" name="椭圆 120"/>
                <p:cNvSpPr/>
                <p:nvPr/>
              </p:nvSpPr>
              <p:spPr>
                <a:xfrm>
                  <a:off x="3544359" y="1373187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2" name="直接连接符 121"/>
                <p:cNvCxnSpPr/>
                <p:nvPr/>
              </p:nvCxnSpPr>
              <p:spPr>
                <a:xfrm>
                  <a:off x="2391833" y="123983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/>
                <p:cNvCxnSpPr/>
                <p:nvPr/>
              </p:nvCxnSpPr>
              <p:spPr>
                <a:xfrm>
                  <a:off x="3611033" y="141128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/>
                <p:cNvCxnSpPr/>
                <p:nvPr/>
              </p:nvCxnSpPr>
              <p:spPr>
                <a:xfrm>
                  <a:off x="2744258" y="1597026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8" name="组合 252"/>
            <p:cNvGrpSpPr/>
            <p:nvPr/>
          </p:nvGrpSpPr>
          <p:grpSpPr>
            <a:xfrm>
              <a:off x="1432896" y="1694126"/>
              <a:ext cx="1129682" cy="1000713"/>
              <a:chOff x="2719829" y="1592526"/>
              <a:chExt cx="1129682" cy="1000713"/>
            </a:xfrm>
          </p:grpSpPr>
          <p:cxnSp>
            <p:nvCxnSpPr>
              <p:cNvPr id="113" name="直接连接符 112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9" name="组合 256"/>
            <p:cNvGrpSpPr/>
            <p:nvPr/>
          </p:nvGrpSpPr>
          <p:grpSpPr>
            <a:xfrm flipV="1">
              <a:off x="1478052" y="1524001"/>
              <a:ext cx="1129682" cy="1039370"/>
              <a:chOff x="2719829" y="1592526"/>
              <a:chExt cx="1129682" cy="1000713"/>
            </a:xfrm>
          </p:grpSpPr>
          <p:cxnSp>
            <p:nvCxnSpPr>
              <p:cNvPr id="110" name="直接连接符 109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21" grpId="0"/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4140200" y="620715"/>
            <a:ext cx="4495800" cy="523875"/>
            <a:chOff x="2640" y="816"/>
            <a:chExt cx="2832" cy="330"/>
          </a:xfrm>
        </p:grpSpPr>
        <p:sp>
          <p:nvSpPr>
            <p:cNvPr id="3" name="Text Box 34"/>
            <p:cNvSpPr txBox="1">
              <a:spLocks noChangeArrowheads="1"/>
            </p:cNvSpPr>
            <p:nvPr/>
          </p:nvSpPr>
          <p:spPr bwMode="auto">
            <a:xfrm>
              <a:off x="2640" y="816"/>
              <a:ext cx="283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（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）当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0  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</a:t>
              </a:r>
            </a:p>
          </p:txBody>
        </p:sp>
        <p:sp>
          <p:nvSpPr>
            <p:cNvPr id="4" name="Line 35"/>
            <p:cNvSpPr>
              <a:spLocks noChangeShapeType="1"/>
            </p:cNvSpPr>
            <p:nvPr/>
          </p:nvSpPr>
          <p:spPr bwMode="auto">
            <a:xfrm>
              <a:off x="3536" y="8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" name="Line 36"/>
            <p:cNvSpPr>
              <a:spLocks noChangeShapeType="1"/>
            </p:cNvSpPr>
            <p:nvPr/>
          </p:nvSpPr>
          <p:spPr bwMode="auto">
            <a:xfrm>
              <a:off x="4347" y="8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4932363" y="1358898"/>
            <a:ext cx="3810000" cy="523875"/>
            <a:chOff x="3088" y="1428"/>
            <a:chExt cx="2400" cy="330"/>
          </a:xfrm>
        </p:grpSpPr>
        <p:sp>
          <p:nvSpPr>
            <p:cNvPr id="7" name="Text Box 38"/>
            <p:cNvSpPr txBox="1">
              <a:spLocks noChangeArrowheads="1"/>
            </p:cNvSpPr>
            <p:nvPr/>
          </p:nvSpPr>
          <p:spPr bwMode="auto">
            <a:xfrm>
              <a:off x="3088" y="1428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如果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   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0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</a:t>
              </a:r>
            </a:p>
          </p:txBody>
        </p:sp>
        <p:sp>
          <p:nvSpPr>
            <p:cNvPr id="8" name="Line 39"/>
            <p:cNvSpPr>
              <a:spLocks noChangeShapeType="1"/>
            </p:cNvSpPr>
            <p:nvPr/>
          </p:nvSpPr>
          <p:spPr bwMode="auto">
            <a:xfrm>
              <a:off x="4505" y="1469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9" name="Group 47"/>
          <p:cNvGrpSpPr>
            <a:grpSpLocks/>
          </p:cNvGrpSpPr>
          <p:nvPr/>
        </p:nvGrpSpPr>
        <p:grpSpPr bwMode="auto">
          <a:xfrm>
            <a:off x="4921477" y="1986185"/>
            <a:ext cx="3810000" cy="523875"/>
            <a:chOff x="3072" y="2709"/>
            <a:chExt cx="2400" cy="330"/>
          </a:xfrm>
        </p:grpSpPr>
        <p:sp>
          <p:nvSpPr>
            <p:cNvPr id="10" name="Text Box 48"/>
            <p:cNvSpPr txBox="1">
              <a:spLocks noChangeArrowheads="1"/>
            </p:cNvSpPr>
            <p:nvPr/>
          </p:nvSpPr>
          <p:spPr bwMode="auto">
            <a:xfrm>
              <a:off x="3072" y="2709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则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n+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=1  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0</a:t>
              </a:r>
            </a:p>
          </p:txBody>
        </p:sp>
        <p:sp>
          <p:nvSpPr>
            <p:cNvPr id="11" name="Line 49"/>
            <p:cNvSpPr>
              <a:spLocks noChangeShapeType="1"/>
            </p:cNvSpPr>
            <p:nvPr/>
          </p:nvSpPr>
          <p:spPr bwMode="auto">
            <a:xfrm>
              <a:off x="4430" y="2757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2" name="Text Box 50"/>
          <p:cNvSpPr txBox="1">
            <a:spLocks noChangeArrowheads="1"/>
          </p:cNvSpPr>
          <p:nvPr/>
        </p:nvSpPr>
        <p:spPr bwMode="auto">
          <a:xfrm>
            <a:off x="4932363" y="2643415"/>
            <a:ext cx="30813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维持态“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1”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不变</a:t>
            </a:r>
          </a:p>
        </p:txBody>
      </p: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219200" y="1952172"/>
            <a:ext cx="403225" cy="1266825"/>
            <a:chOff x="864" y="688"/>
            <a:chExt cx="254" cy="798"/>
          </a:xfrm>
        </p:grpSpPr>
        <p:sp>
          <p:nvSpPr>
            <p:cNvPr id="14" name="Rectangle 53"/>
            <p:cNvSpPr>
              <a:spLocks noChangeArrowheads="1"/>
            </p:cNvSpPr>
            <p:nvPr/>
          </p:nvSpPr>
          <p:spPr bwMode="auto">
            <a:xfrm>
              <a:off x="878" y="1159"/>
              <a:ext cx="2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5" name="Rectangle 54"/>
            <p:cNvSpPr>
              <a:spLocks noChangeArrowheads="1"/>
            </p:cNvSpPr>
            <p:nvPr/>
          </p:nvSpPr>
          <p:spPr bwMode="auto">
            <a:xfrm>
              <a:off x="864" y="688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6" name="Group 55"/>
          <p:cNvGrpSpPr>
            <a:grpSpLocks/>
          </p:cNvGrpSpPr>
          <p:nvPr/>
        </p:nvGrpSpPr>
        <p:grpSpPr bwMode="auto">
          <a:xfrm>
            <a:off x="2775863" y="1549401"/>
            <a:ext cx="363538" cy="1743076"/>
            <a:chOff x="2352" y="592"/>
            <a:chExt cx="229" cy="1098"/>
          </a:xfrm>
        </p:grpSpPr>
        <p:sp>
          <p:nvSpPr>
            <p:cNvPr id="17" name="Rectangle 56"/>
            <p:cNvSpPr>
              <a:spLocks noChangeArrowheads="1"/>
            </p:cNvSpPr>
            <p:nvPr/>
          </p:nvSpPr>
          <p:spPr bwMode="auto">
            <a:xfrm>
              <a:off x="2352" y="592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8" name="Rectangle 57"/>
            <p:cNvSpPr>
              <a:spLocks noChangeArrowheads="1"/>
            </p:cNvSpPr>
            <p:nvPr/>
          </p:nvSpPr>
          <p:spPr bwMode="auto">
            <a:xfrm>
              <a:off x="2352" y="1360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9" name="Group 68"/>
          <p:cNvGrpSpPr>
            <a:grpSpLocks/>
          </p:cNvGrpSpPr>
          <p:nvPr/>
        </p:nvGrpSpPr>
        <p:grpSpPr bwMode="auto">
          <a:xfrm>
            <a:off x="453571" y="2017941"/>
            <a:ext cx="504825" cy="1841501"/>
            <a:chOff x="405" y="1134"/>
            <a:chExt cx="318" cy="1160"/>
          </a:xfrm>
        </p:grpSpPr>
        <p:sp>
          <p:nvSpPr>
            <p:cNvPr id="20" name="Rectangle 69"/>
            <p:cNvSpPr>
              <a:spLocks noChangeArrowheads="1"/>
            </p:cNvSpPr>
            <p:nvPr/>
          </p:nvSpPr>
          <p:spPr bwMode="auto">
            <a:xfrm>
              <a:off x="494" y="1964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grpSp>
          <p:nvGrpSpPr>
            <p:cNvPr id="24" name="Group 73"/>
            <p:cNvGrpSpPr>
              <a:grpSpLocks/>
            </p:cNvGrpSpPr>
            <p:nvPr/>
          </p:nvGrpSpPr>
          <p:grpSpPr bwMode="auto">
            <a:xfrm>
              <a:off x="405" y="1134"/>
              <a:ext cx="285" cy="144"/>
              <a:chOff x="3271" y="2270"/>
              <a:chExt cx="478" cy="144"/>
            </a:xfrm>
          </p:grpSpPr>
          <p:sp>
            <p:nvSpPr>
              <p:cNvPr id="31" name="Line 74"/>
              <p:cNvSpPr>
                <a:spLocks noChangeShapeType="1"/>
              </p:cNvSpPr>
              <p:nvPr/>
            </p:nvSpPr>
            <p:spPr bwMode="auto">
              <a:xfrm>
                <a:off x="3271" y="2270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2" name="Line 75"/>
              <p:cNvSpPr>
                <a:spLocks noChangeShapeType="1"/>
              </p:cNvSpPr>
              <p:nvPr/>
            </p:nvSpPr>
            <p:spPr bwMode="auto">
              <a:xfrm>
                <a:off x="3416" y="2270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3" name="Line 76"/>
              <p:cNvSpPr>
                <a:spLocks noChangeShapeType="1"/>
              </p:cNvSpPr>
              <p:nvPr/>
            </p:nvSpPr>
            <p:spPr bwMode="auto">
              <a:xfrm>
                <a:off x="3416" y="2414"/>
                <a:ext cx="193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4" name="Line 77"/>
              <p:cNvSpPr>
                <a:spLocks noChangeShapeType="1"/>
              </p:cNvSpPr>
              <p:nvPr/>
            </p:nvSpPr>
            <p:spPr bwMode="auto">
              <a:xfrm flipV="1">
                <a:off x="3609" y="2270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5" name="Line 78"/>
              <p:cNvSpPr>
                <a:spLocks noChangeShapeType="1"/>
              </p:cNvSpPr>
              <p:nvPr/>
            </p:nvSpPr>
            <p:spPr bwMode="auto">
              <a:xfrm>
                <a:off x="3605" y="2270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36" name="Text Box 85"/>
          <p:cNvSpPr txBox="1">
            <a:spLocks noChangeArrowheads="1"/>
          </p:cNvSpPr>
          <p:nvPr/>
        </p:nvSpPr>
        <p:spPr bwMode="auto">
          <a:xfrm>
            <a:off x="304801" y="1578429"/>
            <a:ext cx="364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37" name="Line 105"/>
          <p:cNvSpPr>
            <a:spLocks noChangeShapeType="1"/>
          </p:cNvSpPr>
          <p:nvPr/>
        </p:nvSpPr>
        <p:spPr bwMode="auto">
          <a:xfrm>
            <a:off x="5076825" y="1125538"/>
            <a:ext cx="30956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8" name="Text Box 106"/>
          <p:cNvSpPr txBox="1">
            <a:spLocks noChangeArrowheads="1"/>
          </p:cNvSpPr>
          <p:nvPr/>
        </p:nvSpPr>
        <p:spPr bwMode="auto">
          <a:xfrm>
            <a:off x="531814" y="1611767"/>
            <a:ext cx="361294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grpSp>
        <p:nvGrpSpPr>
          <p:cNvPr id="113" name="组合 112"/>
          <p:cNvGrpSpPr/>
          <p:nvPr/>
        </p:nvGrpSpPr>
        <p:grpSpPr>
          <a:xfrm>
            <a:off x="714148" y="1591583"/>
            <a:ext cx="2847748" cy="2012951"/>
            <a:chOff x="616177" y="1090840"/>
            <a:chExt cx="2847748" cy="2012951"/>
          </a:xfrm>
        </p:grpSpPr>
        <p:sp>
          <p:nvSpPr>
            <p:cNvPr id="114" name="Text Box 70"/>
            <p:cNvSpPr txBox="1">
              <a:spLocks noChangeArrowheads="1"/>
            </p:cNvSpPr>
            <p:nvPr/>
          </p:nvSpPr>
          <p:spPr bwMode="auto">
            <a:xfrm>
              <a:off x="3059113" y="1233941"/>
              <a:ext cx="404576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115" name="Group 74"/>
            <p:cNvGrpSpPr>
              <a:grpSpLocks/>
            </p:cNvGrpSpPr>
            <p:nvPr/>
          </p:nvGrpSpPr>
          <p:grpSpPr bwMode="auto">
            <a:xfrm>
              <a:off x="3059113" y="2602366"/>
              <a:ext cx="404812" cy="463550"/>
              <a:chOff x="4014" y="2931"/>
              <a:chExt cx="255" cy="292"/>
            </a:xfrm>
          </p:grpSpPr>
          <p:sp>
            <p:nvSpPr>
              <p:cNvPr id="148" name="Text Box 71"/>
              <p:cNvSpPr txBox="1">
                <a:spLocks noChangeArrowheads="1"/>
              </p:cNvSpPr>
              <p:nvPr/>
            </p:nvSpPr>
            <p:spPr bwMode="auto">
              <a:xfrm>
                <a:off x="4014" y="2931"/>
                <a:ext cx="255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149" name="Line 73"/>
              <p:cNvSpPr>
                <a:spLocks noChangeShapeType="1"/>
              </p:cNvSpPr>
              <p:nvPr/>
            </p:nvSpPr>
            <p:spPr bwMode="auto">
              <a:xfrm>
                <a:off x="4059" y="2976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16" name="Group 138"/>
            <p:cNvGrpSpPr>
              <a:grpSpLocks/>
            </p:cNvGrpSpPr>
            <p:nvPr/>
          </p:nvGrpSpPr>
          <p:grpSpPr bwMode="auto">
            <a:xfrm>
              <a:off x="616177" y="1090839"/>
              <a:ext cx="519113" cy="2012950"/>
              <a:chOff x="251" y="792"/>
              <a:chExt cx="327" cy="1268"/>
            </a:xfrm>
          </p:grpSpPr>
          <p:grpSp>
            <p:nvGrpSpPr>
              <p:cNvPr id="142" name="Group 79"/>
              <p:cNvGrpSpPr>
                <a:grpSpLocks/>
              </p:cNvGrpSpPr>
              <p:nvPr/>
            </p:nvGrpSpPr>
            <p:grpSpPr bwMode="auto">
              <a:xfrm>
                <a:off x="271" y="792"/>
                <a:ext cx="305" cy="292"/>
                <a:chOff x="724" y="1155"/>
                <a:chExt cx="305" cy="292"/>
              </a:xfrm>
            </p:grpSpPr>
            <p:sp>
              <p:nvSpPr>
                <p:cNvPr id="146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724" y="1155"/>
                  <a:ext cx="305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S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7" name="Line 77"/>
                <p:cNvSpPr>
                  <a:spLocks noChangeShapeType="1"/>
                </p:cNvSpPr>
                <p:nvPr/>
              </p:nvSpPr>
              <p:spPr bwMode="auto">
                <a:xfrm>
                  <a:off x="784" y="1221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43" name="Group 80"/>
              <p:cNvGrpSpPr>
                <a:grpSpLocks/>
              </p:cNvGrpSpPr>
              <p:nvPr/>
            </p:nvGrpSpPr>
            <p:grpSpPr bwMode="auto">
              <a:xfrm>
                <a:off x="251" y="1768"/>
                <a:ext cx="327" cy="292"/>
                <a:chOff x="704" y="2131"/>
                <a:chExt cx="327" cy="292"/>
              </a:xfrm>
            </p:grpSpPr>
            <p:sp>
              <p:nvSpPr>
                <p:cNvPr id="144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704" y="2131"/>
                  <a:ext cx="327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5" name="Line 78"/>
                <p:cNvSpPr>
                  <a:spLocks noChangeShapeType="1"/>
                </p:cNvSpPr>
                <p:nvPr/>
              </p:nvSpPr>
              <p:spPr bwMode="auto">
                <a:xfrm>
                  <a:off x="778" y="2170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117" name="组合 235"/>
            <p:cNvGrpSpPr/>
            <p:nvPr/>
          </p:nvGrpSpPr>
          <p:grpSpPr>
            <a:xfrm>
              <a:off x="1104900" y="1160463"/>
              <a:ext cx="1919288" cy="1894945"/>
              <a:chOff x="2391833" y="1058863"/>
              <a:chExt cx="1919288" cy="1894945"/>
            </a:xfrm>
          </p:grpSpPr>
          <p:grpSp>
            <p:nvGrpSpPr>
              <p:cNvPr id="126" name="组合 51"/>
              <p:cNvGrpSpPr/>
              <p:nvPr/>
            </p:nvGrpSpPr>
            <p:grpSpPr>
              <a:xfrm>
                <a:off x="2410883" y="2246236"/>
                <a:ext cx="1900238" cy="707572"/>
                <a:chOff x="2410883" y="1975303"/>
                <a:chExt cx="1900238" cy="707572"/>
              </a:xfrm>
            </p:grpSpPr>
            <p:sp>
              <p:nvSpPr>
                <p:cNvPr id="135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77281" y="2273753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2</a:t>
                  </a:r>
                  <a:endParaRPr lang="en-US" altLang="zh-CN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6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15380" y="1975303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137" name="矩形 136"/>
                <p:cNvSpPr/>
                <p:nvPr/>
              </p:nvSpPr>
              <p:spPr>
                <a:xfrm>
                  <a:off x="3082396" y="1978025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8" name="椭圆 137"/>
                <p:cNvSpPr/>
                <p:nvPr/>
              </p:nvSpPr>
              <p:spPr>
                <a:xfrm>
                  <a:off x="3563409" y="2292350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39" name="直接连接符 138"/>
                <p:cNvCxnSpPr/>
                <p:nvPr/>
              </p:nvCxnSpPr>
              <p:spPr>
                <a:xfrm>
                  <a:off x="2410883" y="254000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连接符 139"/>
                <p:cNvCxnSpPr/>
                <p:nvPr/>
              </p:nvCxnSpPr>
              <p:spPr>
                <a:xfrm>
                  <a:off x="3630083" y="233045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连接符 140"/>
                <p:cNvCxnSpPr/>
                <p:nvPr/>
              </p:nvCxnSpPr>
              <p:spPr>
                <a:xfrm>
                  <a:off x="2758546" y="2178051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7" name="组合 52"/>
              <p:cNvGrpSpPr/>
              <p:nvPr/>
            </p:nvGrpSpPr>
            <p:grpSpPr>
              <a:xfrm>
                <a:off x="2391833" y="1058863"/>
                <a:ext cx="1900238" cy="704850"/>
                <a:chOff x="2391833" y="1058863"/>
                <a:chExt cx="1900238" cy="704850"/>
              </a:xfrm>
            </p:grpSpPr>
            <p:sp>
              <p:nvSpPr>
                <p:cNvPr id="128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62993" y="1349828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29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05855" y="1065666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130" name="矩形 129"/>
                <p:cNvSpPr/>
                <p:nvPr/>
              </p:nvSpPr>
              <p:spPr>
                <a:xfrm>
                  <a:off x="3068108" y="1058863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1" name="椭圆 130"/>
                <p:cNvSpPr/>
                <p:nvPr/>
              </p:nvSpPr>
              <p:spPr>
                <a:xfrm>
                  <a:off x="3544359" y="1373187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32" name="直接连接符 131"/>
                <p:cNvCxnSpPr/>
                <p:nvPr/>
              </p:nvCxnSpPr>
              <p:spPr>
                <a:xfrm>
                  <a:off x="2391833" y="123983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连接符 132"/>
                <p:cNvCxnSpPr/>
                <p:nvPr/>
              </p:nvCxnSpPr>
              <p:spPr>
                <a:xfrm>
                  <a:off x="3611033" y="141128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直接连接符 133"/>
                <p:cNvCxnSpPr/>
                <p:nvPr/>
              </p:nvCxnSpPr>
              <p:spPr>
                <a:xfrm>
                  <a:off x="2744258" y="1597026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8" name="组合 252"/>
            <p:cNvGrpSpPr/>
            <p:nvPr/>
          </p:nvGrpSpPr>
          <p:grpSpPr>
            <a:xfrm>
              <a:off x="1432896" y="1694126"/>
              <a:ext cx="1129682" cy="1000713"/>
              <a:chOff x="2719829" y="1592526"/>
              <a:chExt cx="1129682" cy="1000713"/>
            </a:xfrm>
          </p:grpSpPr>
          <p:cxnSp>
            <p:nvCxnSpPr>
              <p:cNvPr id="123" name="直接连接符 122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9" name="组合 256"/>
            <p:cNvGrpSpPr/>
            <p:nvPr/>
          </p:nvGrpSpPr>
          <p:grpSpPr>
            <a:xfrm flipV="1">
              <a:off x="1478052" y="1524001"/>
              <a:ext cx="1129682" cy="1039370"/>
              <a:chOff x="2719829" y="1592526"/>
              <a:chExt cx="1129682" cy="1000713"/>
            </a:xfrm>
          </p:grpSpPr>
          <p:cxnSp>
            <p:nvCxnSpPr>
              <p:cNvPr id="120" name="直接连接符 119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36" grpId="0"/>
      <p:bldP spid="36" grpId="1"/>
      <p:bldP spid="37" grpId="0" animBg="1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4854884" y="1647150"/>
            <a:ext cx="3810000" cy="523875"/>
            <a:chOff x="2976" y="2736"/>
            <a:chExt cx="2400" cy="330"/>
          </a:xfrm>
        </p:grpSpPr>
        <p:sp>
          <p:nvSpPr>
            <p:cNvPr id="3" name="Text Box 41"/>
            <p:cNvSpPr txBox="1">
              <a:spLocks noChangeArrowheads="1"/>
            </p:cNvSpPr>
            <p:nvPr/>
          </p:nvSpPr>
          <p:spPr bwMode="auto">
            <a:xfrm>
              <a:off x="2976" y="2736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则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  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0</a:t>
              </a:r>
            </a:p>
          </p:txBody>
        </p:sp>
        <p:sp>
          <p:nvSpPr>
            <p:cNvPr id="4" name="Line 42"/>
            <p:cNvSpPr>
              <a:spLocks noChangeShapeType="1"/>
            </p:cNvSpPr>
            <p:nvPr/>
          </p:nvSpPr>
          <p:spPr bwMode="auto">
            <a:xfrm>
              <a:off x="4299" y="2784"/>
              <a:ext cx="1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5" name="Text Box 43"/>
          <p:cNvSpPr txBox="1">
            <a:spLocks noChangeArrowheads="1"/>
          </p:cNvSpPr>
          <p:nvPr/>
        </p:nvSpPr>
        <p:spPr bwMode="auto">
          <a:xfrm>
            <a:off x="4919662" y="2307771"/>
            <a:ext cx="42243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从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态翻转至 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态</a:t>
            </a:r>
          </a:p>
        </p:txBody>
      </p:sp>
      <p:grpSp>
        <p:nvGrpSpPr>
          <p:cNvPr id="6" name="Group 44"/>
          <p:cNvGrpSpPr>
            <a:grpSpLocks/>
          </p:cNvGrpSpPr>
          <p:nvPr/>
        </p:nvGrpSpPr>
        <p:grpSpPr bwMode="auto">
          <a:xfrm>
            <a:off x="4876655" y="914399"/>
            <a:ext cx="3810000" cy="523875"/>
            <a:chOff x="3088" y="1428"/>
            <a:chExt cx="2400" cy="330"/>
          </a:xfrm>
        </p:grpSpPr>
        <p:sp>
          <p:nvSpPr>
            <p:cNvPr id="7" name="Text Box 45"/>
            <p:cNvSpPr txBox="1">
              <a:spLocks noChangeArrowheads="1"/>
            </p:cNvSpPr>
            <p:nvPr/>
          </p:nvSpPr>
          <p:spPr bwMode="auto">
            <a:xfrm>
              <a:off x="3088" y="1428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如果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0   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1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</a:t>
              </a:r>
            </a:p>
          </p:txBody>
        </p:sp>
        <p:sp>
          <p:nvSpPr>
            <p:cNvPr id="8" name="Line 46"/>
            <p:cNvSpPr>
              <a:spLocks noChangeShapeType="1"/>
            </p:cNvSpPr>
            <p:nvPr/>
          </p:nvSpPr>
          <p:spPr bwMode="auto">
            <a:xfrm>
              <a:off x="4416" y="147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0" name="Group 58"/>
          <p:cNvGrpSpPr>
            <a:grpSpLocks/>
          </p:cNvGrpSpPr>
          <p:nvPr/>
        </p:nvGrpSpPr>
        <p:grpSpPr bwMode="auto">
          <a:xfrm>
            <a:off x="2754853" y="1484086"/>
            <a:ext cx="363538" cy="1789113"/>
            <a:chOff x="2380" y="2272"/>
            <a:chExt cx="229" cy="1127"/>
          </a:xfrm>
        </p:grpSpPr>
        <p:sp>
          <p:nvSpPr>
            <p:cNvPr id="11" name="Rectangle 59"/>
            <p:cNvSpPr>
              <a:spLocks noChangeArrowheads="1"/>
            </p:cNvSpPr>
            <p:nvPr/>
          </p:nvSpPr>
          <p:spPr bwMode="auto">
            <a:xfrm>
              <a:off x="2400" y="3072"/>
              <a:ext cx="1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2" name="Rectangle 60"/>
            <p:cNvSpPr>
              <a:spLocks noChangeArrowheads="1"/>
            </p:cNvSpPr>
            <p:nvPr/>
          </p:nvSpPr>
          <p:spPr bwMode="auto">
            <a:xfrm>
              <a:off x="2380" y="2272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3" name="Group 61"/>
          <p:cNvGrpSpPr>
            <a:grpSpLocks/>
          </p:cNvGrpSpPr>
          <p:nvPr/>
        </p:nvGrpSpPr>
        <p:grpSpPr bwMode="auto">
          <a:xfrm>
            <a:off x="1121310" y="2028600"/>
            <a:ext cx="396875" cy="1160463"/>
            <a:chOff x="871" y="2615"/>
            <a:chExt cx="250" cy="731"/>
          </a:xfrm>
        </p:grpSpPr>
        <p:sp>
          <p:nvSpPr>
            <p:cNvPr id="14" name="Rectangle 62"/>
            <p:cNvSpPr>
              <a:spLocks noChangeArrowheads="1"/>
            </p:cNvSpPr>
            <p:nvPr/>
          </p:nvSpPr>
          <p:spPr bwMode="auto">
            <a:xfrm flipV="1">
              <a:off x="871" y="3019"/>
              <a:ext cx="2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5" name="Rectangle 63"/>
            <p:cNvSpPr>
              <a:spLocks noChangeArrowheads="1"/>
            </p:cNvSpPr>
            <p:nvPr/>
          </p:nvSpPr>
          <p:spPr bwMode="auto">
            <a:xfrm>
              <a:off x="892" y="2615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sp>
        <p:nvSpPr>
          <p:cNvPr id="16" name="Text Box 86"/>
          <p:cNvSpPr txBox="1">
            <a:spLocks noChangeArrowheads="1"/>
          </p:cNvSpPr>
          <p:nvPr/>
        </p:nvSpPr>
        <p:spPr bwMode="auto">
          <a:xfrm>
            <a:off x="315540" y="1647372"/>
            <a:ext cx="364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grpSp>
        <p:nvGrpSpPr>
          <p:cNvPr id="17" name="Group 98"/>
          <p:cNvGrpSpPr>
            <a:grpSpLocks/>
          </p:cNvGrpSpPr>
          <p:nvPr/>
        </p:nvGrpSpPr>
        <p:grpSpPr bwMode="auto">
          <a:xfrm>
            <a:off x="4755098" y="3103563"/>
            <a:ext cx="4105275" cy="720725"/>
            <a:chOff x="3016" y="3203"/>
            <a:chExt cx="2586" cy="454"/>
          </a:xfrm>
        </p:grpSpPr>
        <p:grpSp>
          <p:nvGrpSpPr>
            <p:cNvPr id="18" name="Group 99"/>
            <p:cNvGrpSpPr>
              <a:grpSpLocks/>
            </p:cNvGrpSpPr>
            <p:nvPr/>
          </p:nvGrpSpPr>
          <p:grpSpPr bwMode="auto">
            <a:xfrm>
              <a:off x="3061" y="3249"/>
              <a:ext cx="2527" cy="327"/>
              <a:chOff x="3041" y="3472"/>
              <a:chExt cx="2527" cy="327"/>
            </a:xfrm>
          </p:grpSpPr>
          <p:sp>
            <p:nvSpPr>
              <p:cNvPr id="20" name="Text Box 100"/>
              <p:cNvSpPr txBox="1">
                <a:spLocks noChangeArrowheads="1"/>
              </p:cNvSpPr>
              <p:nvPr/>
            </p:nvSpPr>
            <p:spPr bwMode="auto">
              <a:xfrm>
                <a:off x="3041" y="3472"/>
                <a:ext cx="2527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r>
                  <a:rPr lang="en-US" altLang="zh-CN" sz="2800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r>
                  <a:rPr lang="zh-CN" altLang="en-US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：置</a:t>
                </a:r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r>
                  <a:rPr lang="zh-CN" altLang="en-US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端，或置位端</a:t>
                </a:r>
              </a:p>
            </p:txBody>
          </p:sp>
          <p:sp>
            <p:nvSpPr>
              <p:cNvPr id="21" name="Line 101"/>
              <p:cNvSpPr>
                <a:spLocks noChangeShapeType="1"/>
              </p:cNvSpPr>
              <p:nvPr/>
            </p:nvSpPr>
            <p:spPr bwMode="auto">
              <a:xfrm>
                <a:off x="3072" y="3504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9" name="Rectangle 102"/>
            <p:cNvSpPr>
              <a:spLocks noChangeArrowheads="1"/>
            </p:cNvSpPr>
            <p:nvPr/>
          </p:nvSpPr>
          <p:spPr bwMode="auto">
            <a:xfrm>
              <a:off x="3016" y="3203"/>
              <a:ext cx="2586" cy="454"/>
            </a:xfrm>
            <a:prstGeom prst="rect">
              <a:avLst/>
            </a:prstGeom>
            <a:noFill/>
            <a:ln w="2540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22" name="Text Box 107"/>
          <p:cNvSpPr txBox="1">
            <a:spLocks noChangeArrowheads="1"/>
          </p:cNvSpPr>
          <p:nvPr/>
        </p:nvSpPr>
        <p:spPr bwMode="auto">
          <a:xfrm>
            <a:off x="506040" y="1672772"/>
            <a:ext cx="468313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3" name="Text Box 108"/>
          <p:cNvSpPr txBox="1">
            <a:spLocks noChangeArrowheads="1"/>
          </p:cNvSpPr>
          <p:nvPr/>
        </p:nvSpPr>
        <p:spPr bwMode="auto">
          <a:xfrm>
            <a:off x="2756435" y="2746149"/>
            <a:ext cx="360362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4" name="Text Box 109"/>
          <p:cNvSpPr txBox="1">
            <a:spLocks noChangeArrowheads="1"/>
          </p:cNvSpPr>
          <p:nvPr/>
        </p:nvSpPr>
        <p:spPr bwMode="auto">
          <a:xfrm>
            <a:off x="2756435" y="1450749"/>
            <a:ext cx="431800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25" name="Text Box 110"/>
          <p:cNvSpPr txBox="1">
            <a:spLocks noChangeArrowheads="1"/>
          </p:cNvSpPr>
          <p:nvPr/>
        </p:nvSpPr>
        <p:spPr bwMode="auto">
          <a:xfrm>
            <a:off x="1152832" y="2601459"/>
            <a:ext cx="431800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26" name="Text Box 111"/>
          <p:cNvSpPr txBox="1">
            <a:spLocks noChangeArrowheads="1"/>
          </p:cNvSpPr>
          <p:nvPr/>
        </p:nvSpPr>
        <p:spPr bwMode="auto">
          <a:xfrm>
            <a:off x="1141947" y="2014992"/>
            <a:ext cx="395288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grpSp>
        <p:nvGrpSpPr>
          <p:cNvPr id="64" name="Group 68"/>
          <p:cNvGrpSpPr>
            <a:grpSpLocks/>
          </p:cNvGrpSpPr>
          <p:nvPr/>
        </p:nvGrpSpPr>
        <p:grpSpPr bwMode="auto">
          <a:xfrm>
            <a:off x="444840" y="2093686"/>
            <a:ext cx="500063" cy="1700213"/>
            <a:chOff x="377" y="2080"/>
            <a:chExt cx="315" cy="1071"/>
          </a:xfrm>
        </p:grpSpPr>
        <p:sp>
          <p:nvSpPr>
            <p:cNvPr id="66" name="Rectangle 70"/>
            <p:cNvSpPr>
              <a:spLocks noChangeArrowheads="1"/>
            </p:cNvSpPr>
            <p:nvPr/>
          </p:nvSpPr>
          <p:spPr bwMode="auto">
            <a:xfrm>
              <a:off x="439" y="2821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68" name="Rectangle 72"/>
            <p:cNvSpPr>
              <a:spLocks noChangeArrowheads="1"/>
            </p:cNvSpPr>
            <p:nvPr/>
          </p:nvSpPr>
          <p:spPr bwMode="auto">
            <a:xfrm>
              <a:off x="576" y="2435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altLang="zh-CN" sz="2400" i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9" name="Group 73"/>
            <p:cNvGrpSpPr>
              <a:grpSpLocks/>
            </p:cNvGrpSpPr>
            <p:nvPr/>
          </p:nvGrpSpPr>
          <p:grpSpPr bwMode="auto">
            <a:xfrm>
              <a:off x="377" y="2080"/>
              <a:ext cx="287" cy="144"/>
              <a:chOff x="3216" y="3216"/>
              <a:chExt cx="480" cy="144"/>
            </a:xfrm>
          </p:grpSpPr>
          <p:sp>
            <p:nvSpPr>
              <p:cNvPr id="76" name="Line 74"/>
              <p:cNvSpPr>
                <a:spLocks noChangeShapeType="1"/>
              </p:cNvSpPr>
              <p:nvPr/>
            </p:nvSpPr>
            <p:spPr bwMode="auto">
              <a:xfrm>
                <a:off x="3216" y="3216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7" name="Line 75"/>
              <p:cNvSpPr>
                <a:spLocks noChangeShapeType="1"/>
              </p:cNvSpPr>
              <p:nvPr/>
            </p:nvSpPr>
            <p:spPr bwMode="auto">
              <a:xfrm>
                <a:off x="3360" y="3216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8" name="Line 76"/>
              <p:cNvSpPr>
                <a:spLocks noChangeShapeType="1"/>
              </p:cNvSpPr>
              <p:nvPr/>
            </p:nvSpPr>
            <p:spPr bwMode="auto">
              <a:xfrm>
                <a:off x="3360" y="336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9" name="Line 77"/>
              <p:cNvSpPr>
                <a:spLocks noChangeShapeType="1"/>
              </p:cNvSpPr>
              <p:nvPr/>
            </p:nvSpPr>
            <p:spPr bwMode="auto">
              <a:xfrm flipV="1">
                <a:off x="3552" y="3216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0" name="Line 78"/>
              <p:cNvSpPr>
                <a:spLocks noChangeShapeType="1"/>
              </p:cNvSpPr>
              <p:nvPr/>
            </p:nvSpPr>
            <p:spPr bwMode="auto">
              <a:xfrm>
                <a:off x="3552" y="3216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714148" y="1591583"/>
            <a:ext cx="2847748" cy="2012951"/>
            <a:chOff x="616177" y="1090840"/>
            <a:chExt cx="2847748" cy="2012951"/>
          </a:xfrm>
        </p:grpSpPr>
        <p:sp>
          <p:nvSpPr>
            <p:cNvPr id="82" name="Text Box 70"/>
            <p:cNvSpPr txBox="1">
              <a:spLocks noChangeArrowheads="1"/>
            </p:cNvSpPr>
            <p:nvPr/>
          </p:nvSpPr>
          <p:spPr bwMode="auto">
            <a:xfrm>
              <a:off x="3059113" y="1233941"/>
              <a:ext cx="404576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83" name="Group 74"/>
            <p:cNvGrpSpPr>
              <a:grpSpLocks/>
            </p:cNvGrpSpPr>
            <p:nvPr/>
          </p:nvGrpSpPr>
          <p:grpSpPr bwMode="auto">
            <a:xfrm>
              <a:off x="3059113" y="2602366"/>
              <a:ext cx="404812" cy="463550"/>
              <a:chOff x="4014" y="2931"/>
              <a:chExt cx="255" cy="292"/>
            </a:xfrm>
          </p:grpSpPr>
          <p:sp>
            <p:nvSpPr>
              <p:cNvPr id="116" name="Text Box 71"/>
              <p:cNvSpPr txBox="1">
                <a:spLocks noChangeArrowheads="1"/>
              </p:cNvSpPr>
              <p:nvPr/>
            </p:nvSpPr>
            <p:spPr bwMode="auto">
              <a:xfrm>
                <a:off x="4014" y="2931"/>
                <a:ext cx="255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117" name="Line 73"/>
              <p:cNvSpPr>
                <a:spLocks noChangeShapeType="1"/>
              </p:cNvSpPr>
              <p:nvPr/>
            </p:nvSpPr>
            <p:spPr bwMode="auto">
              <a:xfrm>
                <a:off x="4059" y="2976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84" name="Group 138"/>
            <p:cNvGrpSpPr>
              <a:grpSpLocks/>
            </p:cNvGrpSpPr>
            <p:nvPr/>
          </p:nvGrpSpPr>
          <p:grpSpPr bwMode="auto">
            <a:xfrm>
              <a:off x="616177" y="1090839"/>
              <a:ext cx="519113" cy="2012950"/>
              <a:chOff x="251" y="792"/>
              <a:chExt cx="327" cy="1268"/>
            </a:xfrm>
          </p:grpSpPr>
          <p:grpSp>
            <p:nvGrpSpPr>
              <p:cNvPr id="110" name="Group 79"/>
              <p:cNvGrpSpPr>
                <a:grpSpLocks/>
              </p:cNvGrpSpPr>
              <p:nvPr/>
            </p:nvGrpSpPr>
            <p:grpSpPr bwMode="auto">
              <a:xfrm>
                <a:off x="271" y="792"/>
                <a:ext cx="305" cy="292"/>
                <a:chOff x="724" y="1155"/>
                <a:chExt cx="305" cy="292"/>
              </a:xfrm>
            </p:grpSpPr>
            <p:sp>
              <p:nvSpPr>
                <p:cNvPr id="114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724" y="1155"/>
                  <a:ext cx="305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S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15" name="Line 77"/>
                <p:cNvSpPr>
                  <a:spLocks noChangeShapeType="1"/>
                </p:cNvSpPr>
                <p:nvPr/>
              </p:nvSpPr>
              <p:spPr bwMode="auto">
                <a:xfrm>
                  <a:off x="784" y="1221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11" name="Group 80"/>
              <p:cNvGrpSpPr>
                <a:grpSpLocks/>
              </p:cNvGrpSpPr>
              <p:nvPr/>
            </p:nvGrpSpPr>
            <p:grpSpPr bwMode="auto">
              <a:xfrm>
                <a:off x="251" y="1768"/>
                <a:ext cx="327" cy="292"/>
                <a:chOff x="704" y="2131"/>
                <a:chExt cx="327" cy="292"/>
              </a:xfrm>
            </p:grpSpPr>
            <p:sp>
              <p:nvSpPr>
                <p:cNvPr id="112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704" y="2131"/>
                  <a:ext cx="327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13" name="Line 78"/>
                <p:cNvSpPr>
                  <a:spLocks noChangeShapeType="1"/>
                </p:cNvSpPr>
                <p:nvPr/>
              </p:nvSpPr>
              <p:spPr bwMode="auto">
                <a:xfrm>
                  <a:off x="778" y="2170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85" name="组合 235"/>
            <p:cNvGrpSpPr/>
            <p:nvPr/>
          </p:nvGrpSpPr>
          <p:grpSpPr>
            <a:xfrm>
              <a:off x="1104900" y="1160463"/>
              <a:ext cx="1919288" cy="1894945"/>
              <a:chOff x="2391833" y="1058863"/>
              <a:chExt cx="1919288" cy="1894945"/>
            </a:xfrm>
          </p:grpSpPr>
          <p:grpSp>
            <p:nvGrpSpPr>
              <p:cNvPr id="94" name="组合 51"/>
              <p:cNvGrpSpPr/>
              <p:nvPr/>
            </p:nvGrpSpPr>
            <p:grpSpPr>
              <a:xfrm>
                <a:off x="2410883" y="2246236"/>
                <a:ext cx="1900238" cy="707572"/>
                <a:chOff x="2410883" y="1975303"/>
                <a:chExt cx="1900238" cy="707572"/>
              </a:xfrm>
            </p:grpSpPr>
            <p:sp>
              <p:nvSpPr>
                <p:cNvPr id="103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77281" y="2273753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2</a:t>
                  </a:r>
                  <a:endParaRPr lang="en-US" altLang="zh-CN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4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15380" y="1975303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105" name="矩形 104"/>
                <p:cNvSpPr/>
                <p:nvPr/>
              </p:nvSpPr>
              <p:spPr>
                <a:xfrm>
                  <a:off x="3082396" y="1978025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6" name="椭圆 105"/>
                <p:cNvSpPr/>
                <p:nvPr/>
              </p:nvSpPr>
              <p:spPr>
                <a:xfrm>
                  <a:off x="3563409" y="2292350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07" name="直接连接符 106"/>
                <p:cNvCxnSpPr/>
                <p:nvPr/>
              </p:nvCxnSpPr>
              <p:spPr>
                <a:xfrm>
                  <a:off x="2410883" y="254000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连接符 107"/>
                <p:cNvCxnSpPr/>
                <p:nvPr/>
              </p:nvCxnSpPr>
              <p:spPr>
                <a:xfrm>
                  <a:off x="3630083" y="233045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/>
                <p:cNvCxnSpPr/>
                <p:nvPr/>
              </p:nvCxnSpPr>
              <p:spPr>
                <a:xfrm>
                  <a:off x="2758546" y="2178051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5" name="组合 52"/>
              <p:cNvGrpSpPr/>
              <p:nvPr/>
            </p:nvGrpSpPr>
            <p:grpSpPr>
              <a:xfrm>
                <a:off x="2391833" y="1058863"/>
                <a:ext cx="1900238" cy="704850"/>
                <a:chOff x="2391833" y="1058863"/>
                <a:chExt cx="1900238" cy="704850"/>
              </a:xfrm>
            </p:grpSpPr>
            <p:sp>
              <p:nvSpPr>
                <p:cNvPr id="96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62993" y="1349828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97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05855" y="1065666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068108" y="1058863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9" name="椭圆 98"/>
                <p:cNvSpPr/>
                <p:nvPr/>
              </p:nvSpPr>
              <p:spPr>
                <a:xfrm>
                  <a:off x="3544359" y="1373187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00" name="直接连接符 99"/>
                <p:cNvCxnSpPr/>
                <p:nvPr/>
              </p:nvCxnSpPr>
              <p:spPr>
                <a:xfrm>
                  <a:off x="2391833" y="123983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连接符 100"/>
                <p:cNvCxnSpPr/>
                <p:nvPr/>
              </p:nvCxnSpPr>
              <p:spPr>
                <a:xfrm>
                  <a:off x="3611033" y="141128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接连接符 101"/>
                <p:cNvCxnSpPr/>
                <p:nvPr/>
              </p:nvCxnSpPr>
              <p:spPr>
                <a:xfrm>
                  <a:off x="2744258" y="1597026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6" name="组合 252"/>
            <p:cNvGrpSpPr/>
            <p:nvPr/>
          </p:nvGrpSpPr>
          <p:grpSpPr>
            <a:xfrm>
              <a:off x="1432896" y="1694126"/>
              <a:ext cx="1129682" cy="1000713"/>
              <a:chOff x="2719829" y="1592526"/>
              <a:chExt cx="1129682" cy="1000713"/>
            </a:xfrm>
          </p:grpSpPr>
          <p:cxnSp>
            <p:nvCxnSpPr>
              <p:cNvPr id="91" name="直接连接符 90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组合 256"/>
            <p:cNvGrpSpPr/>
            <p:nvPr/>
          </p:nvGrpSpPr>
          <p:grpSpPr>
            <a:xfrm flipV="1">
              <a:off x="1478052" y="1524001"/>
              <a:ext cx="1129682" cy="1039370"/>
              <a:chOff x="2719829" y="1592526"/>
              <a:chExt cx="1129682" cy="1000713"/>
            </a:xfrm>
          </p:grpSpPr>
          <p:cxnSp>
            <p:nvCxnSpPr>
              <p:cNvPr id="88" name="直接连接符 87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6" grpId="0"/>
      <p:bldP spid="16" grpId="1"/>
      <p:bldP spid="23" grpId="0"/>
      <p:bldP spid="24" grpId="0"/>
      <p:bldP spid="25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3824515" y="860201"/>
            <a:ext cx="4495800" cy="523875"/>
            <a:chOff x="2640" y="816"/>
            <a:chExt cx="2832" cy="330"/>
          </a:xfrm>
        </p:grpSpPr>
        <p:sp>
          <p:nvSpPr>
            <p:cNvPr id="3" name="Text Box 34"/>
            <p:cNvSpPr txBox="1">
              <a:spLocks noChangeArrowheads="1"/>
            </p:cNvSpPr>
            <p:nvPr/>
          </p:nvSpPr>
          <p:spPr bwMode="auto">
            <a:xfrm>
              <a:off x="2640" y="816"/>
              <a:ext cx="283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（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）当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0  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</a:t>
              </a:r>
            </a:p>
          </p:txBody>
        </p:sp>
        <p:sp>
          <p:nvSpPr>
            <p:cNvPr id="4" name="Line 35"/>
            <p:cNvSpPr>
              <a:spLocks noChangeShapeType="1"/>
            </p:cNvSpPr>
            <p:nvPr/>
          </p:nvSpPr>
          <p:spPr bwMode="auto">
            <a:xfrm>
              <a:off x="3536" y="8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" name="Line 36"/>
            <p:cNvSpPr>
              <a:spLocks noChangeShapeType="1"/>
            </p:cNvSpPr>
            <p:nvPr/>
          </p:nvSpPr>
          <p:spPr bwMode="auto">
            <a:xfrm>
              <a:off x="4341" y="871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4616678" y="1598384"/>
            <a:ext cx="3810000" cy="523875"/>
            <a:chOff x="3088" y="1428"/>
            <a:chExt cx="2400" cy="330"/>
          </a:xfrm>
        </p:grpSpPr>
        <p:sp>
          <p:nvSpPr>
            <p:cNvPr id="7" name="Text Box 38"/>
            <p:cNvSpPr txBox="1">
              <a:spLocks noChangeArrowheads="1"/>
            </p:cNvSpPr>
            <p:nvPr/>
          </p:nvSpPr>
          <p:spPr bwMode="auto">
            <a:xfrm>
              <a:off x="3088" y="1428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如果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   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0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</a:t>
              </a:r>
            </a:p>
          </p:txBody>
        </p:sp>
        <p:sp>
          <p:nvSpPr>
            <p:cNvPr id="8" name="Line 39"/>
            <p:cNvSpPr>
              <a:spLocks noChangeShapeType="1"/>
            </p:cNvSpPr>
            <p:nvPr/>
          </p:nvSpPr>
          <p:spPr bwMode="auto">
            <a:xfrm>
              <a:off x="4485" y="147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9" name="Group 47"/>
          <p:cNvGrpSpPr>
            <a:grpSpLocks/>
          </p:cNvGrpSpPr>
          <p:nvPr/>
        </p:nvGrpSpPr>
        <p:grpSpPr bwMode="auto">
          <a:xfrm>
            <a:off x="4616678" y="2301872"/>
            <a:ext cx="3810000" cy="523875"/>
            <a:chOff x="3072" y="2709"/>
            <a:chExt cx="2400" cy="330"/>
          </a:xfrm>
        </p:grpSpPr>
        <p:sp>
          <p:nvSpPr>
            <p:cNvPr id="10" name="Text Box 48"/>
            <p:cNvSpPr txBox="1">
              <a:spLocks noChangeArrowheads="1"/>
            </p:cNvSpPr>
            <p:nvPr/>
          </p:nvSpPr>
          <p:spPr bwMode="auto">
            <a:xfrm>
              <a:off x="3072" y="2709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则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n+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=1  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0</a:t>
              </a:r>
            </a:p>
          </p:txBody>
        </p:sp>
        <p:sp>
          <p:nvSpPr>
            <p:cNvPr id="11" name="Line 49"/>
            <p:cNvSpPr>
              <a:spLocks noChangeShapeType="1"/>
            </p:cNvSpPr>
            <p:nvPr/>
          </p:nvSpPr>
          <p:spPr bwMode="auto">
            <a:xfrm>
              <a:off x="4409" y="275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2" name="Text Box 50"/>
          <p:cNvSpPr txBox="1">
            <a:spLocks noChangeArrowheads="1"/>
          </p:cNvSpPr>
          <p:nvPr/>
        </p:nvSpPr>
        <p:spPr bwMode="auto">
          <a:xfrm>
            <a:off x="4616678" y="3155043"/>
            <a:ext cx="30813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维持态“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1”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不变</a:t>
            </a:r>
          </a:p>
        </p:txBody>
      </p:sp>
      <p:grpSp>
        <p:nvGrpSpPr>
          <p:cNvPr id="16" name="Group 55"/>
          <p:cNvGrpSpPr>
            <a:grpSpLocks/>
          </p:cNvGrpSpPr>
          <p:nvPr/>
        </p:nvGrpSpPr>
        <p:grpSpPr bwMode="auto">
          <a:xfrm>
            <a:off x="2675473" y="1515533"/>
            <a:ext cx="363538" cy="1743076"/>
            <a:chOff x="2352" y="592"/>
            <a:chExt cx="229" cy="1098"/>
          </a:xfrm>
        </p:grpSpPr>
        <p:sp>
          <p:nvSpPr>
            <p:cNvPr id="17" name="Rectangle 56"/>
            <p:cNvSpPr>
              <a:spLocks noChangeArrowheads="1"/>
            </p:cNvSpPr>
            <p:nvPr/>
          </p:nvSpPr>
          <p:spPr bwMode="auto">
            <a:xfrm>
              <a:off x="2352" y="592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8" name="Rectangle 57"/>
            <p:cNvSpPr>
              <a:spLocks noChangeArrowheads="1"/>
            </p:cNvSpPr>
            <p:nvPr/>
          </p:nvSpPr>
          <p:spPr bwMode="auto">
            <a:xfrm>
              <a:off x="2352" y="1360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36" name="Text Box 85"/>
          <p:cNvSpPr txBox="1">
            <a:spLocks noChangeArrowheads="1"/>
          </p:cNvSpPr>
          <p:nvPr/>
        </p:nvSpPr>
        <p:spPr bwMode="auto">
          <a:xfrm>
            <a:off x="174172" y="1319591"/>
            <a:ext cx="364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37" name="Line 105"/>
          <p:cNvSpPr>
            <a:spLocks noChangeShapeType="1"/>
          </p:cNvSpPr>
          <p:nvPr/>
        </p:nvSpPr>
        <p:spPr bwMode="auto">
          <a:xfrm>
            <a:off x="4761140" y="1365024"/>
            <a:ext cx="30956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8" name="Text Box 106"/>
          <p:cNvSpPr txBox="1">
            <a:spLocks noChangeArrowheads="1"/>
          </p:cNvSpPr>
          <p:nvPr/>
        </p:nvSpPr>
        <p:spPr bwMode="auto">
          <a:xfrm>
            <a:off x="346755" y="1320272"/>
            <a:ext cx="361294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grpSp>
        <p:nvGrpSpPr>
          <p:cNvPr id="39" name="Group 68"/>
          <p:cNvGrpSpPr>
            <a:grpSpLocks/>
          </p:cNvGrpSpPr>
          <p:nvPr/>
        </p:nvGrpSpPr>
        <p:grpSpPr bwMode="auto">
          <a:xfrm>
            <a:off x="274901" y="1763889"/>
            <a:ext cx="500063" cy="1700213"/>
            <a:chOff x="377" y="2080"/>
            <a:chExt cx="315" cy="1071"/>
          </a:xfrm>
        </p:grpSpPr>
        <p:sp>
          <p:nvSpPr>
            <p:cNvPr id="40" name="Rectangle 70"/>
            <p:cNvSpPr>
              <a:spLocks noChangeArrowheads="1"/>
            </p:cNvSpPr>
            <p:nvPr/>
          </p:nvSpPr>
          <p:spPr bwMode="auto">
            <a:xfrm>
              <a:off x="439" y="2821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1" name="Rectangle 72"/>
            <p:cNvSpPr>
              <a:spLocks noChangeArrowheads="1"/>
            </p:cNvSpPr>
            <p:nvPr/>
          </p:nvSpPr>
          <p:spPr bwMode="auto">
            <a:xfrm>
              <a:off x="576" y="2435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altLang="zh-CN" sz="2400" i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2" name="Group 73"/>
            <p:cNvGrpSpPr>
              <a:grpSpLocks/>
            </p:cNvGrpSpPr>
            <p:nvPr/>
          </p:nvGrpSpPr>
          <p:grpSpPr bwMode="auto">
            <a:xfrm>
              <a:off x="377" y="2080"/>
              <a:ext cx="287" cy="144"/>
              <a:chOff x="3216" y="3216"/>
              <a:chExt cx="480" cy="144"/>
            </a:xfrm>
          </p:grpSpPr>
          <p:sp>
            <p:nvSpPr>
              <p:cNvPr id="43" name="Line 74"/>
              <p:cNvSpPr>
                <a:spLocks noChangeShapeType="1"/>
              </p:cNvSpPr>
              <p:nvPr/>
            </p:nvSpPr>
            <p:spPr bwMode="auto">
              <a:xfrm>
                <a:off x="3216" y="3216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Line 75"/>
              <p:cNvSpPr>
                <a:spLocks noChangeShapeType="1"/>
              </p:cNvSpPr>
              <p:nvPr/>
            </p:nvSpPr>
            <p:spPr bwMode="auto">
              <a:xfrm>
                <a:off x="3360" y="3216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Line 76"/>
              <p:cNvSpPr>
                <a:spLocks noChangeShapeType="1"/>
              </p:cNvSpPr>
              <p:nvPr/>
            </p:nvSpPr>
            <p:spPr bwMode="auto">
              <a:xfrm>
                <a:off x="3360" y="336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Line 77"/>
              <p:cNvSpPr>
                <a:spLocks noChangeShapeType="1"/>
              </p:cNvSpPr>
              <p:nvPr/>
            </p:nvSpPr>
            <p:spPr bwMode="auto">
              <a:xfrm flipV="1">
                <a:off x="3552" y="3216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Line 78"/>
              <p:cNvSpPr>
                <a:spLocks noChangeShapeType="1"/>
              </p:cNvSpPr>
              <p:nvPr/>
            </p:nvSpPr>
            <p:spPr bwMode="auto">
              <a:xfrm>
                <a:off x="3552" y="3216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714148" y="1591583"/>
            <a:ext cx="2847748" cy="2012951"/>
            <a:chOff x="616177" y="1090840"/>
            <a:chExt cx="2847748" cy="2012951"/>
          </a:xfrm>
        </p:grpSpPr>
        <p:sp>
          <p:nvSpPr>
            <p:cNvPr id="50" name="Text Box 70"/>
            <p:cNvSpPr txBox="1">
              <a:spLocks noChangeArrowheads="1"/>
            </p:cNvSpPr>
            <p:nvPr/>
          </p:nvSpPr>
          <p:spPr bwMode="auto">
            <a:xfrm>
              <a:off x="3059113" y="1233941"/>
              <a:ext cx="404576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51" name="Group 74"/>
            <p:cNvGrpSpPr>
              <a:grpSpLocks/>
            </p:cNvGrpSpPr>
            <p:nvPr/>
          </p:nvGrpSpPr>
          <p:grpSpPr bwMode="auto">
            <a:xfrm>
              <a:off x="3059113" y="2602366"/>
              <a:ext cx="404812" cy="463550"/>
              <a:chOff x="4014" y="2931"/>
              <a:chExt cx="255" cy="292"/>
            </a:xfrm>
          </p:grpSpPr>
          <p:sp>
            <p:nvSpPr>
              <p:cNvPr id="84" name="Text Box 71"/>
              <p:cNvSpPr txBox="1">
                <a:spLocks noChangeArrowheads="1"/>
              </p:cNvSpPr>
              <p:nvPr/>
            </p:nvSpPr>
            <p:spPr bwMode="auto">
              <a:xfrm>
                <a:off x="4014" y="2931"/>
                <a:ext cx="255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85" name="Line 73"/>
              <p:cNvSpPr>
                <a:spLocks noChangeShapeType="1"/>
              </p:cNvSpPr>
              <p:nvPr/>
            </p:nvSpPr>
            <p:spPr bwMode="auto">
              <a:xfrm>
                <a:off x="4059" y="2976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52" name="Group 138"/>
            <p:cNvGrpSpPr>
              <a:grpSpLocks/>
            </p:cNvGrpSpPr>
            <p:nvPr/>
          </p:nvGrpSpPr>
          <p:grpSpPr bwMode="auto">
            <a:xfrm>
              <a:off x="616177" y="1090839"/>
              <a:ext cx="519113" cy="2012950"/>
              <a:chOff x="251" y="792"/>
              <a:chExt cx="327" cy="1268"/>
            </a:xfrm>
          </p:grpSpPr>
          <p:grpSp>
            <p:nvGrpSpPr>
              <p:cNvPr id="78" name="Group 79"/>
              <p:cNvGrpSpPr>
                <a:grpSpLocks/>
              </p:cNvGrpSpPr>
              <p:nvPr/>
            </p:nvGrpSpPr>
            <p:grpSpPr bwMode="auto">
              <a:xfrm>
                <a:off x="271" y="792"/>
                <a:ext cx="305" cy="292"/>
                <a:chOff x="724" y="1155"/>
                <a:chExt cx="305" cy="292"/>
              </a:xfrm>
            </p:grpSpPr>
            <p:sp>
              <p:nvSpPr>
                <p:cNvPr id="82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724" y="1155"/>
                  <a:ext cx="305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S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3" name="Line 77"/>
                <p:cNvSpPr>
                  <a:spLocks noChangeShapeType="1"/>
                </p:cNvSpPr>
                <p:nvPr/>
              </p:nvSpPr>
              <p:spPr bwMode="auto">
                <a:xfrm>
                  <a:off x="784" y="1221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79" name="Group 80"/>
              <p:cNvGrpSpPr>
                <a:grpSpLocks/>
              </p:cNvGrpSpPr>
              <p:nvPr/>
            </p:nvGrpSpPr>
            <p:grpSpPr bwMode="auto">
              <a:xfrm>
                <a:off x="251" y="1768"/>
                <a:ext cx="327" cy="292"/>
                <a:chOff x="704" y="2131"/>
                <a:chExt cx="327" cy="292"/>
              </a:xfrm>
            </p:grpSpPr>
            <p:sp>
              <p:nvSpPr>
                <p:cNvPr id="80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704" y="2131"/>
                  <a:ext cx="327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1" name="Line 78"/>
                <p:cNvSpPr>
                  <a:spLocks noChangeShapeType="1"/>
                </p:cNvSpPr>
                <p:nvPr/>
              </p:nvSpPr>
              <p:spPr bwMode="auto">
                <a:xfrm>
                  <a:off x="778" y="2170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53" name="组合 235"/>
            <p:cNvGrpSpPr/>
            <p:nvPr/>
          </p:nvGrpSpPr>
          <p:grpSpPr>
            <a:xfrm>
              <a:off x="1104900" y="1160463"/>
              <a:ext cx="1919288" cy="1894945"/>
              <a:chOff x="2391833" y="1058863"/>
              <a:chExt cx="1919288" cy="1894945"/>
            </a:xfrm>
          </p:grpSpPr>
          <p:grpSp>
            <p:nvGrpSpPr>
              <p:cNvPr id="62" name="组合 51"/>
              <p:cNvGrpSpPr/>
              <p:nvPr/>
            </p:nvGrpSpPr>
            <p:grpSpPr>
              <a:xfrm>
                <a:off x="2410883" y="2246236"/>
                <a:ext cx="1900238" cy="707572"/>
                <a:chOff x="2410883" y="1975303"/>
                <a:chExt cx="1900238" cy="707572"/>
              </a:xfrm>
            </p:grpSpPr>
            <p:sp>
              <p:nvSpPr>
                <p:cNvPr id="71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77281" y="2273753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2</a:t>
                  </a:r>
                  <a:endParaRPr lang="en-US" altLang="zh-CN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72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15380" y="1975303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>
                  <a:off x="3082396" y="1978025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3563409" y="2292350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5" name="直接连接符 74"/>
                <p:cNvCxnSpPr/>
                <p:nvPr/>
              </p:nvCxnSpPr>
              <p:spPr>
                <a:xfrm>
                  <a:off x="2410883" y="254000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3630083" y="233045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/>
              </p:nvCxnSpPr>
              <p:spPr>
                <a:xfrm>
                  <a:off x="2758546" y="2178051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" name="组合 52"/>
              <p:cNvGrpSpPr/>
              <p:nvPr/>
            </p:nvGrpSpPr>
            <p:grpSpPr>
              <a:xfrm>
                <a:off x="2391833" y="1058863"/>
                <a:ext cx="1900238" cy="704850"/>
                <a:chOff x="2391833" y="1058863"/>
                <a:chExt cx="1900238" cy="704850"/>
              </a:xfrm>
            </p:grpSpPr>
            <p:sp>
              <p:nvSpPr>
                <p:cNvPr id="64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62993" y="1349828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65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05855" y="1065666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66" name="矩形 65"/>
                <p:cNvSpPr/>
                <p:nvPr/>
              </p:nvSpPr>
              <p:spPr>
                <a:xfrm>
                  <a:off x="3068108" y="1058863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3544359" y="1373187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8" name="直接连接符 67"/>
                <p:cNvCxnSpPr/>
                <p:nvPr/>
              </p:nvCxnSpPr>
              <p:spPr>
                <a:xfrm>
                  <a:off x="2391833" y="123983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/>
                <p:cNvCxnSpPr/>
                <p:nvPr/>
              </p:nvCxnSpPr>
              <p:spPr>
                <a:xfrm>
                  <a:off x="3611033" y="141128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/>
                <p:nvPr/>
              </p:nvCxnSpPr>
              <p:spPr>
                <a:xfrm>
                  <a:off x="2744258" y="1597026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4" name="组合 252"/>
            <p:cNvGrpSpPr/>
            <p:nvPr/>
          </p:nvGrpSpPr>
          <p:grpSpPr>
            <a:xfrm>
              <a:off x="1432896" y="1694126"/>
              <a:ext cx="1129682" cy="1000713"/>
              <a:chOff x="2719829" y="1592526"/>
              <a:chExt cx="1129682" cy="1000713"/>
            </a:xfrm>
          </p:grpSpPr>
          <p:cxnSp>
            <p:nvCxnSpPr>
              <p:cNvPr id="59" name="直接连接符 58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组合 256"/>
            <p:cNvGrpSpPr/>
            <p:nvPr/>
          </p:nvGrpSpPr>
          <p:grpSpPr>
            <a:xfrm flipV="1">
              <a:off x="1478052" y="1524001"/>
              <a:ext cx="1129682" cy="1039370"/>
              <a:chOff x="2719829" y="1592526"/>
              <a:chExt cx="1129682" cy="1000713"/>
            </a:xfrm>
          </p:grpSpPr>
          <p:cxnSp>
            <p:nvCxnSpPr>
              <p:cNvPr id="56" name="直接连接符 55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36" grpId="0"/>
      <p:bldP spid="36" grpId="1"/>
      <p:bldP spid="37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4680857" y="1799549"/>
            <a:ext cx="3810000" cy="523875"/>
            <a:chOff x="2976" y="2736"/>
            <a:chExt cx="2400" cy="330"/>
          </a:xfrm>
        </p:grpSpPr>
        <p:sp>
          <p:nvSpPr>
            <p:cNvPr id="3" name="Text Box 41"/>
            <p:cNvSpPr txBox="1">
              <a:spLocks noChangeArrowheads="1"/>
            </p:cNvSpPr>
            <p:nvPr/>
          </p:nvSpPr>
          <p:spPr bwMode="auto">
            <a:xfrm>
              <a:off x="2976" y="2736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则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  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0</a:t>
              </a:r>
            </a:p>
          </p:txBody>
        </p:sp>
        <p:sp>
          <p:nvSpPr>
            <p:cNvPr id="4" name="Line 42"/>
            <p:cNvSpPr>
              <a:spLocks noChangeShapeType="1"/>
            </p:cNvSpPr>
            <p:nvPr/>
          </p:nvSpPr>
          <p:spPr bwMode="auto">
            <a:xfrm>
              <a:off x="4224" y="2784"/>
              <a:ext cx="1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5" name="Text Box 43"/>
          <p:cNvSpPr txBox="1">
            <a:spLocks noChangeArrowheads="1"/>
          </p:cNvSpPr>
          <p:nvPr/>
        </p:nvSpPr>
        <p:spPr bwMode="auto">
          <a:xfrm>
            <a:off x="4691742" y="2481943"/>
            <a:ext cx="338545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 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从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态翻转至 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态</a:t>
            </a:r>
          </a:p>
        </p:txBody>
      </p:sp>
      <p:grpSp>
        <p:nvGrpSpPr>
          <p:cNvPr id="6" name="Group 44"/>
          <p:cNvGrpSpPr>
            <a:grpSpLocks/>
          </p:cNvGrpSpPr>
          <p:nvPr/>
        </p:nvGrpSpPr>
        <p:grpSpPr bwMode="auto">
          <a:xfrm>
            <a:off x="4659085" y="1088569"/>
            <a:ext cx="3810000" cy="523875"/>
            <a:chOff x="3088" y="1428"/>
            <a:chExt cx="2400" cy="330"/>
          </a:xfrm>
        </p:grpSpPr>
        <p:sp>
          <p:nvSpPr>
            <p:cNvPr id="7" name="Text Box 45"/>
            <p:cNvSpPr txBox="1">
              <a:spLocks noChangeArrowheads="1"/>
            </p:cNvSpPr>
            <p:nvPr/>
          </p:nvSpPr>
          <p:spPr bwMode="auto">
            <a:xfrm>
              <a:off x="3088" y="1428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如果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0   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1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</a:t>
              </a:r>
            </a:p>
          </p:txBody>
        </p:sp>
        <p:sp>
          <p:nvSpPr>
            <p:cNvPr id="8" name="Line 46"/>
            <p:cNvSpPr>
              <a:spLocks noChangeShapeType="1"/>
            </p:cNvSpPr>
            <p:nvPr/>
          </p:nvSpPr>
          <p:spPr bwMode="auto">
            <a:xfrm>
              <a:off x="4416" y="147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9" name="Group 58"/>
          <p:cNvGrpSpPr>
            <a:grpSpLocks/>
          </p:cNvGrpSpPr>
          <p:nvPr/>
        </p:nvGrpSpPr>
        <p:grpSpPr bwMode="auto">
          <a:xfrm>
            <a:off x="2776770" y="1494971"/>
            <a:ext cx="363538" cy="1789113"/>
            <a:chOff x="2380" y="2272"/>
            <a:chExt cx="229" cy="1127"/>
          </a:xfrm>
        </p:grpSpPr>
        <p:sp>
          <p:nvSpPr>
            <p:cNvPr id="10" name="Rectangle 59"/>
            <p:cNvSpPr>
              <a:spLocks noChangeArrowheads="1"/>
            </p:cNvSpPr>
            <p:nvPr/>
          </p:nvSpPr>
          <p:spPr bwMode="auto">
            <a:xfrm>
              <a:off x="2400" y="3072"/>
              <a:ext cx="1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1" name="Rectangle 60"/>
            <p:cNvSpPr>
              <a:spLocks noChangeArrowheads="1"/>
            </p:cNvSpPr>
            <p:nvPr/>
          </p:nvSpPr>
          <p:spPr bwMode="auto">
            <a:xfrm>
              <a:off x="2380" y="2272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2" name="Group 61"/>
          <p:cNvGrpSpPr>
            <a:grpSpLocks/>
          </p:cNvGrpSpPr>
          <p:nvPr/>
        </p:nvGrpSpPr>
        <p:grpSpPr bwMode="auto">
          <a:xfrm>
            <a:off x="1121908" y="2028373"/>
            <a:ext cx="381000" cy="1204913"/>
            <a:chOff x="885" y="2416"/>
            <a:chExt cx="240" cy="759"/>
          </a:xfrm>
        </p:grpSpPr>
        <p:sp>
          <p:nvSpPr>
            <p:cNvPr id="13" name="Rectangle 62"/>
            <p:cNvSpPr>
              <a:spLocks noChangeArrowheads="1"/>
            </p:cNvSpPr>
            <p:nvPr/>
          </p:nvSpPr>
          <p:spPr bwMode="auto">
            <a:xfrm flipV="1">
              <a:off x="885" y="2848"/>
              <a:ext cx="2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4" name="Rectangle 63"/>
            <p:cNvSpPr>
              <a:spLocks noChangeArrowheads="1"/>
            </p:cNvSpPr>
            <p:nvPr/>
          </p:nvSpPr>
          <p:spPr bwMode="auto">
            <a:xfrm>
              <a:off x="892" y="2416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sp>
        <p:nvSpPr>
          <p:cNvPr id="15" name="Text Box 86"/>
          <p:cNvSpPr txBox="1">
            <a:spLocks noChangeArrowheads="1"/>
          </p:cNvSpPr>
          <p:nvPr/>
        </p:nvSpPr>
        <p:spPr bwMode="auto">
          <a:xfrm>
            <a:off x="163286" y="1473200"/>
            <a:ext cx="364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grpSp>
        <p:nvGrpSpPr>
          <p:cNvPr id="16" name="Group 98"/>
          <p:cNvGrpSpPr>
            <a:grpSpLocks/>
          </p:cNvGrpSpPr>
          <p:nvPr/>
        </p:nvGrpSpPr>
        <p:grpSpPr bwMode="auto">
          <a:xfrm>
            <a:off x="4581072" y="3321277"/>
            <a:ext cx="4105275" cy="720725"/>
            <a:chOff x="3016" y="3203"/>
            <a:chExt cx="2586" cy="454"/>
          </a:xfrm>
        </p:grpSpPr>
        <p:grpSp>
          <p:nvGrpSpPr>
            <p:cNvPr id="17" name="Group 99"/>
            <p:cNvGrpSpPr>
              <a:grpSpLocks/>
            </p:cNvGrpSpPr>
            <p:nvPr/>
          </p:nvGrpSpPr>
          <p:grpSpPr bwMode="auto">
            <a:xfrm>
              <a:off x="3061" y="3249"/>
              <a:ext cx="2527" cy="327"/>
              <a:chOff x="3041" y="3472"/>
              <a:chExt cx="2527" cy="327"/>
            </a:xfrm>
          </p:grpSpPr>
          <p:sp>
            <p:nvSpPr>
              <p:cNvPr id="19" name="Text Box 100"/>
              <p:cNvSpPr txBox="1">
                <a:spLocks noChangeArrowheads="1"/>
              </p:cNvSpPr>
              <p:nvPr/>
            </p:nvSpPr>
            <p:spPr bwMode="auto">
              <a:xfrm>
                <a:off x="3041" y="3472"/>
                <a:ext cx="2527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r>
                  <a:rPr lang="en-US" altLang="zh-CN" sz="2800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r>
                  <a:rPr lang="zh-CN" altLang="en-US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：置</a:t>
                </a:r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r>
                  <a:rPr lang="zh-CN" altLang="en-US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端，或置位端</a:t>
                </a:r>
              </a:p>
            </p:txBody>
          </p:sp>
          <p:sp>
            <p:nvSpPr>
              <p:cNvPr id="20" name="Line 101"/>
              <p:cNvSpPr>
                <a:spLocks noChangeShapeType="1"/>
              </p:cNvSpPr>
              <p:nvPr/>
            </p:nvSpPr>
            <p:spPr bwMode="auto">
              <a:xfrm>
                <a:off x="3072" y="3504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8" name="Rectangle 102"/>
            <p:cNvSpPr>
              <a:spLocks noChangeArrowheads="1"/>
            </p:cNvSpPr>
            <p:nvPr/>
          </p:nvSpPr>
          <p:spPr bwMode="auto">
            <a:xfrm>
              <a:off x="3016" y="3203"/>
              <a:ext cx="2586" cy="454"/>
            </a:xfrm>
            <a:prstGeom prst="rect">
              <a:avLst/>
            </a:prstGeom>
            <a:noFill/>
            <a:ln w="2540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21" name="Text Box 107"/>
          <p:cNvSpPr txBox="1">
            <a:spLocks noChangeArrowheads="1"/>
          </p:cNvSpPr>
          <p:nvPr/>
        </p:nvSpPr>
        <p:spPr bwMode="auto">
          <a:xfrm>
            <a:off x="353786" y="1498600"/>
            <a:ext cx="468313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2" name="Text Box 108"/>
          <p:cNvSpPr txBox="1">
            <a:spLocks noChangeArrowheads="1"/>
          </p:cNvSpPr>
          <p:nvPr/>
        </p:nvSpPr>
        <p:spPr bwMode="auto">
          <a:xfrm>
            <a:off x="2778352" y="2757034"/>
            <a:ext cx="360362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3" name="Text Box 109"/>
          <p:cNvSpPr txBox="1">
            <a:spLocks noChangeArrowheads="1"/>
          </p:cNvSpPr>
          <p:nvPr/>
        </p:nvSpPr>
        <p:spPr bwMode="auto">
          <a:xfrm>
            <a:off x="2778352" y="1461634"/>
            <a:ext cx="431800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24" name="Text Box 110"/>
          <p:cNvSpPr txBox="1">
            <a:spLocks noChangeArrowheads="1"/>
          </p:cNvSpPr>
          <p:nvPr/>
        </p:nvSpPr>
        <p:spPr bwMode="auto">
          <a:xfrm>
            <a:off x="1131205" y="2688545"/>
            <a:ext cx="431800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25" name="Text Box 111"/>
          <p:cNvSpPr txBox="1">
            <a:spLocks noChangeArrowheads="1"/>
          </p:cNvSpPr>
          <p:nvPr/>
        </p:nvSpPr>
        <p:spPr bwMode="auto">
          <a:xfrm>
            <a:off x="1120320" y="1982334"/>
            <a:ext cx="395288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714148" y="1591583"/>
            <a:ext cx="2847748" cy="2012951"/>
            <a:chOff x="616177" y="1090840"/>
            <a:chExt cx="2847748" cy="2012951"/>
          </a:xfrm>
        </p:grpSpPr>
        <p:sp>
          <p:nvSpPr>
            <p:cNvPr id="27" name="Text Box 70"/>
            <p:cNvSpPr txBox="1">
              <a:spLocks noChangeArrowheads="1"/>
            </p:cNvSpPr>
            <p:nvPr/>
          </p:nvSpPr>
          <p:spPr bwMode="auto">
            <a:xfrm>
              <a:off x="3059113" y="1233941"/>
              <a:ext cx="404576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28" name="Group 74"/>
            <p:cNvGrpSpPr>
              <a:grpSpLocks/>
            </p:cNvGrpSpPr>
            <p:nvPr/>
          </p:nvGrpSpPr>
          <p:grpSpPr bwMode="auto">
            <a:xfrm>
              <a:off x="3059113" y="2602366"/>
              <a:ext cx="404812" cy="463550"/>
              <a:chOff x="4014" y="2931"/>
              <a:chExt cx="255" cy="292"/>
            </a:xfrm>
          </p:grpSpPr>
          <p:sp>
            <p:nvSpPr>
              <p:cNvPr id="61" name="Text Box 71"/>
              <p:cNvSpPr txBox="1">
                <a:spLocks noChangeArrowheads="1"/>
              </p:cNvSpPr>
              <p:nvPr/>
            </p:nvSpPr>
            <p:spPr bwMode="auto">
              <a:xfrm>
                <a:off x="4014" y="2931"/>
                <a:ext cx="255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62" name="Line 73"/>
              <p:cNvSpPr>
                <a:spLocks noChangeShapeType="1"/>
              </p:cNvSpPr>
              <p:nvPr/>
            </p:nvSpPr>
            <p:spPr bwMode="auto">
              <a:xfrm>
                <a:off x="4059" y="2976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29" name="Group 138"/>
            <p:cNvGrpSpPr>
              <a:grpSpLocks/>
            </p:cNvGrpSpPr>
            <p:nvPr/>
          </p:nvGrpSpPr>
          <p:grpSpPr bwMode="auto">
            <a:xfrm>
              <a:off x="616177" y="1090839"/>
              <a:ext cx="519113" cy="2012950"/>
              <a:chOff x="251" y="792"/>
              <a:chExt cx="327" cy="1268"/>
            </a:xfrm>
          </p:grpSpPr>
          <p:grpSp>
            <p:nvGrpSpPr>
              <p:cNvPr id="55" name="Group 79"/>
              <p:cNvGrpSpPr>
                <a:grpSpLocks/>
              </p:cNvGrpSpPr>
              <p:nvPr/>
            </p:nvGrpSpPr>
            <p:grpSpPr bwMode="auto">
              <a:xfrm>
                <a:off x="271" y="792"/>
                <a:ext cx="305" cy="292"/>
                <a:chOff x="724" y="1155"/>
                <a:chExt cx="305" cy="292"/>
              </a:xfrm>
            </p:grpSpPr>
            <p:sp>
              <p:nvSpPr>
                <p:cNvPr id="59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724" y="1155"/>
                  <a:ext cx="305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S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60" name="Line 77"/>
                <p:cNvSpPr>
                  <a:spLocks noChangeShapeType="1"/>
                </p:cNvSpPr>
                <p:nvPr/>
              </p:nvSpPr>
              <p:spPr bwMode="auto">
                <a:xfrm>
                  <a:off x="784" y="1221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56" name="Group 80"/>
              <p:cNvGrpSpPr>
                <a:grpSpLocks/>
              </p:cNvGrpSpPr>
              <p:nvPr/>
            </p:nvGrpSpPr>
            <p:grpSpPr bwMode="auto">
              <a:xfrm>
                <a:off x="251" y="1768"/>
                <a:ext cx="327" cy="292"/>
                <a:chOff x="704" y="2131"/>
                <a:chExt cx="327" cy="292"/>
              </a:xfrm>
            </p:grpSpPr>
            <p:sp>
              <p:nvSpPr>
                <p:cNvPr id="57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704" y="2131"/>
                  <a:ext cx="327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8" name="Line 78"/>
                <p:cNvSpPr>
                  <a:spLocks noChangeShapeType="1"/>
                </p:cNvSpPr>
                <p:nvPr/>
              </p:nvSpPr>
              <p:spPr bwMode="auto">
                <a:xfrm>
                  <a:off x="778" y="2170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30" name="组合 235"/>
            <p:cNvGrpSpPr/>
            <p:nvPr/>
          </p:nvGrpSpPr>
          <p:grpSpPr>
            <a:xfrm>
              <a:off x="1104900" y="1160463"/>
              <a:ext cx="1919288" cy="1894945"/>
              <a:chOff x="2391833" y="1058863"/>
              <a:chExt cx="1919288" cy="1894945"/>
            </a:xfrm>
          </p:grpSpPr>
          <p:grpSp>
            <p:nvGrpSpPr>
              <p:cNvPr id="39" name="组合 51"/>
              <p:cNvGrpSpPr/>
              <p:nvPr/>
            </p:nvGrpSpPr>
            <p:grpSpPr>
              <a:xfrm>
                <a:off x="2410883" y="2246236"/>
                <a:ext cx="1900238" cy="707572"/>
                <a:chOff x="2410883" y="1975303"/>
                <a:chExt cx="1900238" cy="707572"/>
              </a:xfrm>
            </p:grpSpPr>
            <p:sp>
              <p:nvSpPr>
                <p:cNvPr id="48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77281" y="2273753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2</a:t>
                  </a:r>
                  <a:endParaRPr lang="en-US" altLang="zh-CN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49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15380" y="1975303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3082396" y="1978025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3563409" y="2292350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2" name="直接连接符 51"/>
                <p:cNvCxnSpPr/>
                <p:nvPr/>
              </p:nvCxnSpPr>
              <p:spPr>
                <a:xfrm>
                  <a:off x="2410883" y="254000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/>
                <p:cNvCxnSpPr/>
                <p:nvPr/>
              </p:nvCxnSpPr>
              <p:spPr>
                <a:xfrm>
                  <a:off x="3630083" y="233045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/>
                <p:nvPr/>
              </p:nvCxnSpPr>
              <p:spPr>
                <a:xfrm>
                  <a:off x="2758546" y="2178051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" name="组合 52"/>
              <p:cNvGrpSpPr/>
              <p:nvPr/>
            </p:nvGrpSpPr>
            <p:grpSpPr>
              <a:xfrm>
                <a:off x="2391833" y="1058863"/>
                <a:ext cx="1900238" cy="704850"/>
                <a:chOff x="2391833" y="1058863"/>
                <a:chExt cx="1900238" cy="704850"/>
              </a:xfrm>
            </p:grpSpPr>
            <p:sp>
              <p:nvSpPr>
                <p:cNvPr id="41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62993" y="1349828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42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05855" y="1065666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43" name="矩形 42"/>
                <p:cNvSpPr/>
                <p:nvPr/>
              </p:nvSpPr>
              <p:spPr>
                <a:xfrm>
                  <a:off x="3068108" y="1058863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椭圆 43"/>
                <p:cNvSpPr/>
                <p:nvPr/>
              </p:nvSpPr>
              <p:spPr>
                <a:xfrm>
                  <a:off x="3544359" y="1373187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5" name="直接连接符 44"/>
                <p:cNvCxnSpPr/>
                <p:nvPr/>
              </p:nvCxnSpPr>
              <p:spPr>
                <a:xfrm>
                  <a:off x="2391833" y="123983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/>
                <p:cNvCxnSpPr/>
                <p:nvPr/>
              </p:nvCxnSpPr>
              <p:spPr>
                <a:xfrm>
                  <a:off x="3611033" y="141128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/>
                <p:cNvCxnSpPr/>
                <p:nvPr/>
              </p:nvCxnSpPr>
              <p:spPr>
                <a:xfrm>
                  <a:off x="2744258" y="1597026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" name="组合 252"/>
            <p:cNvGrpSpPr/>
            <p:nvPr/>
          </p:nvGrpSpPr>
          <p:grpSpPr>
            <a:xfrm>
              <a:off x="1432896" y="1694126"/>
              <a:ext cx="1129682" cy="1000713"/>
              <a:chOff x="2719829" y="1592526"/>
              <a:chExt cx="1129682" cy="1000713"/>
            </a:xfrm>
          </p:grpSpPr>
          <p:cxnSp>
            <p:nvCxnSpPr>
              <p:cNvPr id="36" name="直接连接符 35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256"/>
            <p:cNvGrpSpPr/>
            <p:nvPr/>
          </p:nvGrpSpPr>
          <p:grpSpPr>
            <a:xfrm flipV="1">
              <a:off x="1478052" y="1524001"/>
              <a:ext cx="1129682" cy="1039370"/>
              <a:chOff x="2719829" y="1592526"/>
              <a:chExt cx="1129682" cy="1000713"/>
            </a:xfrm>
          </p:grpSpPr>
          <p:cxnSp>
            <p:nvCxnSpPr>
              <p:cNvPr id="33" name="直接连接符 32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3" name="Group 68"/>
          <p:cNvGrpSpPr>
            <a:grpSpLocks/>
          </p:cNvGrpSpPr>
          <p:nvPr/>
        </p:nvGrpSpPr>
        <p:grpSpPr bwMode="auto">
          <a:xfrm>
            <a:off x="296673" y="1927174"/>
            <a:ext cx="500063" cy="1700213"/>
            <a:chOff x="377" y="2080"/>
            <a:chExt cx="315" cy="1071"/>
          </a:xfrm>
        </p:grpSpPr>
        <p:sp>
          <p:nvSpPr>
            <p:cNvPr id="64" name="Rectangle 70"/>
            <p:cNvSpPr>
              <a:spLocks noChangeArrowheads="1"/>
            </p:cNvSpPr>
            <p:nvPr/>
          </p:nvSpPr>
          <p:spPr bwMode="auto">
            <a:xfrm>
              <a:off x="439" y="2821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65" name="Rectangle 72"/>
            <p:cNvSpPr>
              <a:spLocks noChangeArrowheads="1"/>
            </p:cNvSpPr>
            <p:nvPr/>
          </p:nvSpPr>
          <p:spPr bwMode="auto">
            <a:xfrm>
              <a:off x="576" y="2435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altLang="zh-CN" sz="2400" i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6" name="Group 73"/>
            <p:cNvGrpSpPr>
              <a:grpSpLocks/>
            </p:cNvGrpSpPr>
            <p:nvPr/>
          </p:nvGrpSpPr>
          <p:grpSpPr bwMode="auto">
            <a:xfrm>
              <a:off x="377" y="2080"/>
              <a:ext cx="287" cy="144"/>
              <a:chOff x="3216" y="3216"/>
              <a:chExt cx="480" cy="144"/>
            </a:xfrm>
          </p:grpSpPr>
          <p:sp>
            <p:nvSpPr>
              <p:cNvPr id="67" name="Line 74"/>
              <p:cNvSpPr>
                <a:spLocks noChangeShapeType="1"/>
              </p:cNvSpPr>
              <p:nvPr/>
            </p:nvSpPr>
            <p:spPr bwMode="auto">
              <a:xfrm>
                <a:off x="3216" y="3216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Line 75"/>
              <p:cNvSpPr>
                <a:spLocks noChangeShapeType="1"/>
              </p:cNvSpPr>
              <p:nvPr/>
            </p:nvSpPr>
            <p:spPr bwMode="auto">
              <a:xfrm>
                <a:off x="3360" y="3216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Line 76"/>
              <p:cNvSpPr>
                <a:spLocks noChangeShapeType="1"/>
              </p:cNvSpPr>
              <p:nvPr/>
            </p:nvSpPr>
            <p:spPr bwMode="auto">
              <a:xfrm>
                <a:off x="3360" y="336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Line 77"/>
              <p:cNvSpPr>
                <a:spLocks noChangeShapeType="1"/>
              </p:cNvSpPr>
              <p:nvPr/>
            </p:nvSpPr>
            <p:spPr bwMode="auto">
              <a:xfrm flipV="1">
                <a:off x="3552" y="3216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Line 78"/>
              <p:cNvSpPr>
                <a:spLocks noChangeShapeType="1"/>
              </p:cNvSpPr>
              <p:nvPr/>
            </p:nvSpPr>
            <p:spPr bwMode="auto">
              <a:xfrm>
                <a:off x="3552" y="3216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5" grpId="0"/>
      <p:bldP spid="15" grpId="1"/>
      <p:bldP spid="22" grpId="0"/>
      <p:bldP spid="23" grpId="0"/>
      <p:bldP spid="24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3873500" y="994906"/>
            <a:ext cx="4495800" cy="523875"/>
            <a:chOff x="2640" y="816"/>
            <a:chExt cx="2832" cy="330"/>
          </a:xfrm>
        </p:grpSpPr>
        <p:sp>
          <p:nvSpPr>
            <p:cNvPr id="3" name="Text Box 34"/>
            <p:cNvSpPr txBox="1">
              <a:spLocks noChangeArrowheads="1"/>
            </p:cNvSpPr>
            <p:nvPr/>
          </p:nvSpPr>
          <p:spPr bwMode="auto">
            <a:xfrm>
              <a:off x="2640" y="816"/>
              <a:ext cx="283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（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）当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  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</a:t>
              </a:r>
            </a:p>
          </p:txBody>
        </p:sp>
        <p:sp>
          <p:nvSpPr>
            <p:cNvPr id="4" name="Line 35"/>
            <p:cNvSpPr>
              <a:spLocks noChangeShapeType="1"/>
            </p:cNvSpPr>
            <p:nvPr/>
          </p:nvSpPr>
          <p:spPr bwMode="auto">
            <a:xfrm>
              <a:off x="3536" y="8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" name="Line 36"/>
            <p:cNvSpPr>
              <a:spLocks noChangeShapeType="1"/>
            </p:cNvSpPr>
            <p:nvPr/>
          </p:nvSpPr>
          <p:spPr bwMode="auto">
            <a:xfrm>
              <a:off x="4334" y="87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4800600" y="1717223"/>
            <a:ext cx="3810000" cy="523875"/>
            <a:chOff x="3088" y="1428"/>
            <a:chExt cx="2400" cy="330"/>
          </a:xfrm>
        </p:grpSpPr>
        <p:sp>
          <p:nvSpPr>
            <p:cNvPr id="7" name="Text Box 38"/>
            <p:cNvSpPr txBox="1">
              <a:spLocks noChangeArrowheads="1"/>
            </p:cNvSpPr>
            <p:nvPr/>
          </p:nvSpPr>
          <p:spPr bwMode="auto">
            <a:xfrm>
              <a:off x="3088" y="1428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如果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   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0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</a:t>
              </a:r>
            </a:p>
          </p:txBody>
        </p:sp>
        <p:sp>
          <p:nvSpPr>
            <p:cNvPr id="8" name="Line 39"/>
            <p:cNvSpPr>
              <a:spLocks noChangeShapeType="1"/>
            </p:cNvSpPr>
            <p:nvPr/>
          </p:nvSpPr>
          <p:spPr bwMode="auto">
            <a:xfrm>
              <a:off x="4471" y="1469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4800600" y="2400976"/>
            <a:ext cx="3810000" cy="523875"/>
            <a:chOff x="3072" y="2709"/>
            <a:chExt cx="2400" cy="330"/>
          </a:xfrm>
        </p:grpSpPr>
        <p:sp>
          <p:nvSpPr>
            <p:cNvPr id="10" name="Text Box 47"/>
            <p:cNvSpPr txBox="1">
              <a:spLocks noChangeArrowheads="1"/>
            </p:cNvSpPr>
            <p:nvPr/>
          </p:nvSpPr>
          <p:spPr bwMode="auto">
            <a:xfrm>
              <a:off x="3072" y="2709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则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 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1  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0</a:t>
              </a:r>
            </a:p>
          </p:txBody>
        </p:sp>
        <p:sp>
          <p:nvSpPr>
            <p:cNvPr id="11" name="Line 48"/>
            <p:cNvSpPr>
              <a:spLocks noChangeShapeType="1"/>
            </p:cNvSpPr>
            <p:nvPr/>
          </p:nvSpPr>
          <p:spPr bwMode="auto">
            <a:xfrm>
              <a:off x="4395" y="2757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2" name="Text Box 49"/>
          <p:cNvSpPr txBox="1">
            <a:spLocks noChangeArrowheads="1"/>
          </p:cNvSpPr>
          <p:nvPr/>
        </p:nvSpPr>
        <p:spPr bwMode="auto">
          <a:xfrm>
            <a:off x="4808992" y="3056618"/>
            <a:ext cx="30813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维持 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态不变</a:t>
            </a:r>
          </a:p>
        </p:txBody>
      </p:sp>
      <p:grpSp>
        <p:nvGrpSpPr>
          <p:cNvPr id="13" name="Group 55"/>
          <p:cNvGrpSpPr>
            <a:grpSpLocks/>
          </p:cNvGrpSpPr>
          <p:nvPr/>
        </p:nvGrpSpPr>
        <p:grpSpPr bwMode="auto">
          <a:xfrm>
            <a:off x="422504" y="1648507"/>
            <a:ext cx="376239" cy="1819276"/>
            <a:chOff x="521" y="782"/>
            <a:chExt cx="237" cy="1146"/>
          </a:xfrm>
        </p:grpSpPr>
        <p:sp>
          <p:nvSpPr>
            <p:cNvPr id="14" name="Rectangle 56"/>
            <p:cNvSpPr>
              <a:spLocks noChangeArrowheads="1"/>
            </p:cNvSpPr>
            <p:nvPr/>
          </p:nvSpPr>
          <p:spPr bwMode="auto">
            <a:xfrm>
              <a:off x="529" y="782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5" name="Rectangle 57"/>
            <p:cNvSpPr>
              <a:spLocks noChangeArrowheads="1"/>
            </p:cNvSpPr>
            <p:nvPr/>
          </p:nvSpPr>
          <p:spPr bwMode="auto">
            <a:xfrm>
              <a:off x="521" y="1598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8" name="Group 60"/>
          <p:cNvGrpSpPr>
            <a:grpSpLocks/>
          </p:cNvGrpSpPr>
          <p:nvPr/>
        </p:nvGrpSpPr>
        <p:grpSpPr bwMode="auto">
          <a:xfrm>
            <a:off x="1152071" y="1506764"/>
            <a:ext cx="1997075" cy="1698625"/>
            <a:chOff x="1248" y="583"/>
            <a:chExt cx="1258" cy="1070"/>
          </a:xfrm>
        </p:grpSpPr>
        <p:sp>
          <p:nvSpPr>
            <p:cNvPr id="19" name="Rectangle 61"/>
            <p:cNvSpPr>
              <a:spLocks noChangeArrowheads="1"/>
            </p:cNvSpPr>
            <p:nvPr/>
          </p:nvSpPr>
          <p:spPr bwMode="auto">
            <a:xfrm>
              <a:off x="2277" y="583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0" name="Rectangle 62"/>
            <p:cNvSpPr>
              <a:spLocks noChangeArrowheads="1"/>
            </p:cNvSpPr>
            <p:nvPr/>
          </p:nvSpPr>
          <p:spPr bwMode="auto">
            <a:xfrm>
              <a:off x="1248" y="1323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21" name="Group 63"/>
          <p:cNvGrpSpPr>
            <a:grpSpLocks/>
          </p:cNvGrpSpPr>
          <p:nvPr/>
        </p:nvGrpSpPr>
        <p:grpSpPr bwMode="auto">
          <a:xfrm>
            <a:off x="1120321" y="2040164"/>
            <a:ext cx="2039938" cy="1122363"/>
            <a:chOff x="1228" y="919"/>
            <a:chExt cx="1285" cy="707"/>
          </a:xfrm>
        </p:grpSpPr>
        <p:sp>
          <p:nvSpPr>
            <p:cNvPr id="22" name="Rectangle 64"/>
            <p:cNvSpPr>
              <a:spLocks noChangeArrowheads="1"/>
            </p:cNvSpPr>
            <p:nvPr/>
          </p:nvSpPr>
          <p:spPr bwMode="auto">
            <a:xfrm>
              <a:off x="2284" y="1296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3" name="Rectangle 65"/>
            <p:cNvSpPr>
              <a:spLocks noChangeArrowheads="1"/>
            </p:cNvSpPr>
            <p:nvPr/>
          </p:nvSpPr>
          <p:spPr bwMode="auto">
            <a:xfrm>
              <a:off x="1228" y="919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24" name="Group 66"/>
          <p:cNvGrpSpPr>
            <a:grpSpLocks/>
          </p:cNvGrpSpPr>
          <p:nvPr/>
        </p:nvGrpSpPr>
        <p:grpSpPr bwMode="auto">
          <a:xfrm>
            <a:off x="1131435" y="1528992"/>
            <a:ext cx="1985965" cy="1666877"/>
            <a:chOff x="1235" y="693"/>
            <a:chExt cx="1251" cy="1050"/>
          </a:xfrm>
        </p:grpSpPr>
        <p:grpSp>
          <p:nvGrpSpPr>
            <p:cNvPr id="25" name="Group 67"/>
            <p:cNvGrpSpPr>
              <a:grpSpLocks/>
            </p:cNvGrpSpPr>
            <p:nvPr/>
          </p:nvGrpSpPr>
          <p:grpSpPr bwMode="auto">
            <a:xfrm>
              <a:off x="2257" y="693"/>
              <a:ext cx="229" cy="330"/>
              <a:chOff x="2161" y="693"/>
              <a:chExt cx="229" cy="330"/>
            </a:xfrm>
          </p:grpSpPr>
          <p:sp useBgFill="1">
            <p:nvSpPr>
              <p:cNvPr id="29" name="Rectangle 68"/>
              <p:cNvSpPr>
                <a:spLocks noChangeArrowheads="1"/>
              </p:cNvSpPr>
              <p:nvPr/>
            </p:nvSpPr>
            <p:spPr bwMode="auto">
              <a:xfrm>
                <a:off x="2210" y="703"/>
                <a:ext cx="150" cy="240"/>
              </a:xfrm>
              <a:prstGeom prst="rect">
                <a:avLst/>
              </a:prstGeom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0" name="Rectangle 69"/>
              <p:cNvSpPr>
                <a:spLocks noChangeArrowheads="1"/>
              </p:cNvSpPr>
              <p:nvPr/>
            </p:nvSpPr>
            <p:spPr bwMode="auto">
              <a:xfrm>
                <a:off x="2161" y="693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26" name="Group 70"/>
            <p:cNvGrpSpPr>
              <a:grpSpLocks/>
            </p:cNvGrpSpPr>
            <p:nvPr/>
          </p:nvGrpSpPr>
          <p:grpSpPr bwMode="auto">
            <a:xfrm>
              <a:off x="1235" y="1413"/>
              <a:ext cx="229" cy="330"/>
              <a:chOff x="1235" y="1291"/>
              <a:chExt cx="229" cy="330"/>
            </a:xfrm>
          </p:grpSpPr>
          <p:sp useBgFill="1">
            <p:nvSpPr>
              <p:cNvPr id="27" name="Rectangle 71"/>
              <p:cNvSpPr>
                <a:spLocks noChangeArrowheads="1"/>
              </p:cNvSpPr>
              <p:nvPr/>
            </p:nvSpPr>
            <p:spPr bwMode="auto">
              <a:xfrm>
                <a:off x="1255" y="1377"/>
                <a:ext cx="179" cy="221"/>
              </a:xfrm>
              <a:prstGeom prst="rect">
                <a:avLst/>
              </a:prstGeom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8" name="Rectangle 72"/>
              <p:cNvSpPr>
                <a:spLocks noChangeArrowheads="1"/>
              </p:cNvSpPr>
              <p:nvPr/>
            </p:nvSpPr>
            <p:spPr bwMode="auto">
              <a:xfrm>
                <a:off x="1235" y="1291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</p:grpSp>
      <p:grpSp>
        <p:nvGrpSpPr>
          <p:cNvPr id="31" name="Group 73"/>
          <p:cNvGrpSpPr>
            <a:grpSpLocks/>
          </p:cNvGrpSpPr>
          <p:nvPr/>
        </p:nvGrpSpPr>
        <p:grpSpPr bwMode="auto">
          <a:xfrm>
            <a:off x="1113972" y="2041754"/>
            <a:ext cx="2111377" cy="1062039"/>
            <a:chOff x="1252" y="920"/>
            <a:chExt cx="1330" cy="669"/>
          </a:xfrm>
        </p:grpSpPr>
        <p:grpSp>
          <p:nvGrpSpPr>
            <p:cNvPr id="32" name="Group 74"/>
            <p:cNvGrpSpPr>
              <a:grpSpLocks/>
            </p:cNvGrpSpPr>
            <p:nvPr/>
          </p:nvGrpSpPr>
          <p:grpSpPr bwMode="auto">
            <a:xfrm>
              <a:off x="2339" y="1259"/>
              <a:ext cx="243" cy="330"/>
              <a:chOff x="2187" y="1259"/>
              <a:chExt cx="243" cy="330"/>
            </a:xfrm>
          </p:grpSpPr>
          <p:sp useBgFill="1">
            <p:nvSpPr>
              <p:cNvPr id="36" name="Rectangle 75"/>
              <p:cNvSpPr>
                <a:spLocks noChangeArrowheads="1"/>
              </p:cNvSpPr>
              <p:nvPr/>
            </p:nvSpPr>
            <p:spPr bwMode="auto">
              <a:xfrm>
                <a:off x="2187" y="1334"/>
                <a:ext cx="172" cy="247"/>
              </a:xfrm>
              <a:prstGeom prst="rect">
                <a:avLst/>
              </a:prstGeom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7" name="Rectangle 76"/>
              <p:cNvSpPr>
                <a:spLocks noChangeArrowheads="1"/>
              </p:cNvSpPr>
              <p:nvPr/>
            </p:nvSpPr>
            <p:spPr bwMode="auto">
              <a:xfrm>
                <a:off x="2201" y="1259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33" name="Group 77"/>
            <p:cNvGrpSpPr>
              <a:grpSpLocks/>
            </p:cNvGrpSpPr>
            <p:nvPr/>
          </p:nvGrpSpPr>
          <p:grpSpPr bwMode="auto">
            <a:xfrm>
              <a:off x="1252" y="920"/>
              <a:ext cx="229" cy="330"/>
              <a:chOff x="1224" y="968"/>
              <a:chExt cx="229" cy="330"/>
            </a:xfrm>
          </p:grpSpPr>
          <p:sp useBgFill="1">
            <p:nvSpPr>
              <p:cNvPr id="34" name="Rectangle 78"/>
              <p:cNvSpPr>
                <a:spLocks noChangeArrowheads="1"/>
              </p:cNvSpPr>
              <p:nvPr/>
            </p:nvSpPr>
            <p:spPr bwMode="auto">
              <a:xfrm>
                <a:off x="1262" y="1015"/>
                <a:ext cx="159" cy="237"/>
              </a:xfrm>
              <a:prstGeom prst="rect">
                <a:avLst/>
              </a:prstGeom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5" name="Rectangle 79"/>
              <p:cNvSpPr>
                <a:spLocks noChangeArrowheads="1"/>
              </p:cNvSpPr>
              <p:nvPr/>
            </p:nvSpPr>
            <p:spPr bwMode="auto">
              <a:xfrm>
                <a:off x="1224" y="968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</p:grpSp>
      <p:sp>
        <p:nvSpPr>
          <p:cNvPr id="38" name="Line 107"/>
          <p:cNvSpPr>
            <a:spLocks noChangeShapeType="1"/>
          </p:cNvSpPr>
          <p:nvPr/>
        </p:nvSpPr>
        <p:spPr bwMode="auto">
          <a:xfrm>
            <a:off x="4830763" y="1501321"/>
            <a:ext cx="2952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714148" y="1591583"/>
            <a:ext cx="2847748" cy="2012951"/>
            <a:chOff x="616177" y="1090840"/>
            <a:chExt cx="2847748" cy="2012951"/>
          </a:xfrm>
        </p:grpSpPr>
        <p:sp>
          <p:nvSpPr>
            <p:cNvPr id="40" name="Text Box 70"/>
            <p:cNvSpPr txBox="1">
              <a:spLocks noChangeArrowheads="1"/>
            </p:cNvSpPr>
            <p:nvPr/>
          </p:nvSpPr>
          <p:spPr bwMode="auto">
            <a:xfrm>
              <a:off x="3059113" y="1233941"/>
              <a:ext cx="404576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41" name="Group 74"/>
            <p:cNvGrpSpPr>
              <a:grpSpLocks/>
            </p:cNvGrpSpPr>
            <p:nvPr/>
          </p:nvGrpSpPr>
          <p:grpSpPr bwMode="auto">
            <a:xfrm>
              <a:off x="3059113" y="2602366"/>
              <a:ext cx="404812" cy="463550"/>
              <a:chOff x="4014" y="2931"/>
              <a:chExt cx="255" cy="292"/>
            </a:xfrm>
          </p:grpSpPr>
          <p:sp>
            <p:nvSpPr>
              <p:cNvPr id="74" name="Text Box 71"/>
              <p:cNvSpPr txBox="1">
                <a:spLocks noChangeArrowheads="1"/>
              </p:cNvSpPr>
              <p:nvPr/>
            </p:nvSpPr>
            <p:spPr bwMode="auto">
              <a:xfrm>
                <a:off x="4014" y="2931"/>
                <a:ext cx="255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75" name="Line 73"/>
              <p:cNvSpPr>
                <a:spLocks noChangeShapeType="1"/>
              </p:cNvSpPr>
              <p:nvPr/>
            </p:nvSpPr>
            <p:spPr bwMode="auto">
              <a:xfrm>
                <a:off x="4059" y="2976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42" name="Group 138"/>
            <p:cNvGrpSpPr>
              <a:grpSpLocks/>
            </p:cNvGrpSpPr>
            <p:nvPr/>
          </p:nvGrpSpPr>
          <p:grpSpPr bwMode="auto">
            <a:xfrm>
              <a:off x="616177" y="1090839"/>
              <a:ext cx="519113" cy="2012950"/>
              <a:chOff x="251" y="792"/>
              <a:chExt cx="327" cy="1268"/>
            </a:xfrm>
          </p:grpSpPr>
          <p:grpSp>
            <p:nvGrpSpPr>
              <p:cNvPr id="68" name="Group 79"/>
              <p:cNvGrpSpPr>
                <a:grpSpLocks/>
              </p:cNvGrpSpPr>
              <p:nvPr/>
            </p:nvGrpSpPr>
            <p:grpSpPr bwMode="auto">
              <a:xfrm>
                <a:off x="271" y="792"/>
                <a:ext cx="305" cy="292"/>
                <a:chOff x="724" y="1155"/>
                <a:chExt cx="305" cy="292"/>
              </a:xfrm>
            </p:grpSpPr>
            <p:sp>
              <p:nvSpPr>
                <p:cNvPr id="72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724" y="1155"/>
                  <a:ext cx="305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S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73" name="Line 77"/>
                <p:cNvSpPr>
                  <a:spLocks noChangeShapeType="1"/>
                </p:cNvSpPr>
                <p:nvPr/>
              </p:nvSpPr>
              <p:spPr bwMode="auto">
                <a:xfrm>
                  <a:off x="784" y="1221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69" name="Group 80"/>
              <p:cNvGrpSpPr>
                <a:grpSpLocks/>
              </p:cNvGrpSpPr>
              <p:nvPr/>
            </p:nvGrpSpPr>
            <p:grpSpPr bwMode="auto">
              <a:xfrm>
                <a:off x="251" y="1768"/>
                <a:ext cx="327" cy="292"/>
                <a:chOff x="704" y="2131"/>
                <a:chExt cx="327" cy="292"/>
              </a:xfrm>
            </p:grpSpPr>
            <p:sp>
              <p:nvSpPr>
                <p:cNvPr id="70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704" y="2131"/>
                  <a:ext cx="327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71" name="Line 78"/>
                <p:cNvSpPr>
                  <a:spLocks noChangeShapeType="1"/>
                </p:cNvSpPr>
                <p:nvPr/>
              </p:nvSpPr>
              <p:spPr bwMode="auto">
                <a:xfrm>
                  <a:off x="778" y="2170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3" name="组合 235"/>
            <p:cNvGrpSpPr/>
            <p:nvPr/>
          </p:nvGrpSpPr>
          <p:grpSpPr>
            <a:xfrm>
              <a:off x="1104900" y="1160463"/>
              <a:ext cx="1919288" cy="1894945"/>
              <a:chOff x="2391833" y="1058863"/>
              <a:chExt cx="1919288" cy="1894945"/>
            </a:xfrm>
          </p:grpSpPr>
          <p:grpSp>
            <p:nvGrpSpPr>
              <p:cNvPr id="52" name="组合 51"/>
              <p:cNvGrpSpPr/>
              <p:nvPr/>
            </p:nvGrpSpPr>
            <p:grpSpPr>
              <a:xfrm>
                <a:off x="2410883" y="2246236"/>
                <a:ext cx="1900238" cy="707572"/>
                <a:chOff x="2410883" y="1975303"/>
                <a:chExt cx="1900238" cy="707572"/>
              </a:xfrm>
            </p:grpSpPr>
            <p:sp>
              <p:nvSpPr>
                <p:cNvPr id="61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77281" y="2273753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2</a:t>
                  </a:r>
                  <a:endParaRPr lang="en-US" altLang="zh-CN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62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15380" y="1975303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63" name="矩形 62"/>
                <p:cNvSpPr/>
                <p:nvPr/>
              </p:nvSpPr>
              <p:spPr>
                <a:xfrm>
                  <a:off x="3082396" y="1978025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3563409" y="2292350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5" name="直接连接符 64"/>
                <p:cNvCxnSpPr/>
                <p:nvPr/>
              </p:nvCxnSpPr>
              <p:spPr>
                <a:xfrm>
                  <a:off x="2410883" y="254000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/>
                <p:cNvCxnSpPr/>
                <p:nvPr/>
              </p:nvCxnSpPr>
              <p:spPr>
                <a:xfrm>
                  <a:off x="3630083" y="233045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/>
                <p:cNvCxnSpPr/>
                <p:nvPr/>
              </p:nvCxnSpPr>
              <p:spPr>
                <a:xfrm>
                  <a:off x="2758546" y="2178051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组合 52"/>
              <p:cNvGrpSpPr/>
              <p:nvPr/>
            </p:nvGrpSpPr>
            <p:grpSpPr>
              <a:xfrm>
                <a:off x="2391833" y="1058863"/>
                <a:ext cx="1900238" cy="704850"/>
                <a:chOff x="2391833" y="1058863"/>
                <a:chExt cx="1900238" cy="704850"/>
              </a:xfrm>
            </p:grpSpPr>
            <p:sp>
              <p:nvSpPr>
                <p:cNvPr id="54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62993" y="1349828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55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05855" y="1065666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56" name="矩形 55"/>
                <p:cNvSpPr/>
                <p:nvPr/>
              </p:nvSpPr>
              <p:spPr>
                <a:xfrm>
                  <a:off x="3068108" y="1058863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>
                  <a:off x="3544359" y="1373187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8" name="直接连接符 57"/>
                <p:cNvCxnSpPr/>
                <p:nvPr/>
              </p:nvCxnSpPr>
              <p:spPr>
                <a:xfrm>
                  <a:off x="2391833" y="123983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/>
                <p:cNvCxnSpPr/>
                <p:nvPr/>
              </p:nvCxnSpPr>
              <p:spPr>
                <a:xfrm>
                  <a:off x="3611033" y="141128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/>
                <p:cNvCxnSpPr/>
                <p:nvPr/>
              </p:nvCxnSpPr>
              <p:spPr>
                <a:xfrm>
                  <a:off x="2744258" y="1597026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4" name="组合 252"/>
            <p:cNvGrpSpPr/>
            <p:nvPr/>
          </p:nvGrpSpPr>
          <p:grpSpPr>
            <a:xfrm>
              <a:off x="1432896" y="1694126"/>
              <a:ext cx="1129682" cy="1000713"/>
              <a:chOff x="2719829" y="1592526"/>
              <a:chExt cx="1129682" cy="1000713"/>
            </a:xfrm>
          </p:grpSpPr>
          <p:cxnSp>
            <p:nvCxnSpPr>
              <p:cNvPr id="49" name="直接连接符 48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组合 256"/>
            <p:cNvGrpSpPr/>
            <p:nvPr/>
          </p:nvGrpSpPr>
          <p:grpSpPr>
            <a:xfrm flipV="1">
              <a:off x="1478052" y="1524001"/>
              <a:ext cx="1129682" cy="1039370"/>
              <a:chOff x="2719829" y="1592526"/>
              <a:chExt cx="1129682" cy="1000713"/>
            </a:xfrm>
          </p:grpSpPr>
          <p:cxnSp>
            <p:nvCxnSpPr>
              <p:cNvPr id="46" name="直接连接符 45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4452257" y="1623106"/>
            <a:ext cx="3810000" cy="519112"/>
            <a:chOff x="2976" y="2736"/>
            <a:chExt cx="2400" cy="327"/>
          </a:xfrm>
        </p:grpSpPr>
        <p:sp>
          <p:nvSpPr>
            <p:cNvPr id="3" name="Text Box 41"/>
            <p:cNvSpPr txBox="1">
              <a:spLocks noChangeArrowheads="1"/>
            </p:cNvSpPr>
            <p:nvPr/>
          </p:nvSpPr>
          <p:spPr bwMode="auto">
            <a:xfrm>
              <a:off x="2976" y="2736"/>
              <a:ext cx="240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则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0 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</a:t>
              </a:r>
            </a:p>
          </p:txBody>
        </p:sp>
        <p:sp>
          <p:nvSpPr>
            <p:cNvPr id="4" name="Line 42"/>
            <p:cNvSpPr>
              <a:spLocks noChangeShapeType="1"/>
            </p:cNvSpPr>
            <p:nvPr/>
          </p:nvSpPr>
          <p:spPr bwMode="auto">
            <a:xfrm>
              <a:off x="4251" y="2770"/>
              <a:ext cx="1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4452257" y="965883"/>
            <a:ext cx="3810000" cy="523875"/>
            <a:chOff x="3088" y="1428"/>
            <a:chExt cx="2400" cy="330"/>
          </a:xfrm>
        </p:grpSpPr>
        <p:sp>
          <p:nvSpPr>
            <p:cNvPr id="6" name="Text Box 44"/>
            <p:cNvSpPr txBox="1">
              <a:spLocks noChangeArrowheads="1"/>
            </p:cNvSpPr>
            <p:nvPr/>
          </p:nvSpPr>
          <p:spPr bwMode="auto">
            <a:xfrm>
              <a:off x="3088" y="1428"/>
              <a:ext cx="24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如果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0   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1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</a:t>
              </a:r>
            </a:p>
          </p:txBody>
        </p:sp>
        <p:sp>
          <p:nvSpPr>
            <p:cNvPr id="7" name="Line 45"/>
            <p:cNvSpPr>
              <a:spLocks noChangeShapeType="1"/>
            </p:cNvSpPr>
            <p:nvPr/>
          </p:nvSpPr>
          <p:spPr bwMode="auto">
            <a:xfrm>
              <a:off x="4464" y="1469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8" name="Text Box 50"/>
          <p:cNvSpPr txBox="1">
            <a:spLocks noChangeArrowheads="1"/>
          </p:cNvSpPr>
          <p:nvPr/>
        </p:nvSpPr>
        <p:spPr bwMode="auto">
          <a:xfrm>
            <a:off x="4482420" y="2273300"/>
            <a:ext cx="30813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维持 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态不变</a:t>
            </a:r>
          </a:p>
        </p:txBody>
      </p:sp>
      <p:grpSp>
        <p:nvGrpSpPr>
          <p:cNvPr id="9" name="Group 51"/>
          <p:cNvGrpSpPr>
            <a:grpSpLocks/>
          </p:cNvGrpSpPr>
          <p:nvPr/>
        </p:nvGrpSpPr>
        <p:grpSpPr bwMode="auto">
          <a:xfrm>
            <a:off x="4223657" y="2966811"/>
            <a:ext cx="4038600" cy="1082675"/>
            <a:chOff x="3216" y="3158"/>
            <a:chExt cx="2544" cy="682"/>
          </a:xfrm>
        </p:grpSpPr>
        <p:sp>
          <p:nvSpPr>
            <p:cNvPr id="10" name="Text Box 52"/>
            <p:cNvSpPr txBox="1">
              <a:spLocks noChangeArrowheads="1"/>
            </p:cNvSpPr>
            <p:nvPr/>
          </p:nvSpPr>
          <p:spPr bwMode="auto">
            <a:xfrm>
              <a:off x="3216" y="3158"/>
              <a:ext cx="2544" cy="6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当</a:t>
              </a: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i="0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保持高电平不变时，输出端原态不变。</a:t>
              </a:r>
            </a:p>
          </p:txBody>
        </p:sp>
        <p:sp>
          <p:nvSpPr>
            <p:cNvPr id="11" name="Line 53"/>
            <p:cNvSpPr>
              <a:spLocks noChangeShapeType="1"/>
            </p:cNvSpPr>
            <p:nvPr/>
          </p:nvSpPr>
          <p:spPr bwMode="auto">
            <a:xfrm>
              <a:off x="3504" y="3206"/>
              <a:ext cx="9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" name="Line 54"/>
            <p:cNvSpPr>
              <a:spLocks noChangeShapeType="1"/>
            </p:cNvSpPr>
            <p:nvPr/>
          </p:nvSpPr>
          <p:spPr bwMode="auto">
            <a:xfrm flipV="1">
              <a:off x="3838" y="3208"/>
              <a:ext cx="139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3" name="Group 80"/>
          <p:cNvGrpSpPr>
            <a:grpSpLocks/>
          </p:cNvGrpSpPr>
          <p:nvPr/>
        </p:nvGrpSpPr>
        <p:grpSpPr bwMode="auto">
          <a:xfrm>
            <a:off x="1206501" y="1522186"/>
            <a:ext cx="1931988" cy="1700213"/>
            <a:chOff x="1296" y="528"/>
            <a:chExt cx="1217" cy="1071"/>
          </a:xfrm>
        </p:grpSpPr>
        <p:sp>
          <p:nvSpPr>
            <p:cNvPr id="14" name="Rectangle 81"/>
            <p:cNvSpPr>
              <a:spLocks noChangeArrowheads="1"/>
            </p:cNvSpPr>
            <p:nvPr/>
          </p:nvSpPr>
          <p:spPr bwMode="auto">
            <a:xfrm>
              <a:off x="2284" y="528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5" name="Rectangle 82"/>
            <p:cNvSpPr>
              <a:spLocks noChangeArrowheads="1"/>
            </p:cNvSpPr>
            <p:nvPr/>
          </p:nvSpPr>
          <p:spPr bwMode="auto">
            <a:xfrm>
              <a:off x="1296" y="1269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6" name="Group 83"/>
          <p:cNvGrpSpPr>
            <a:grpSpLocks/>
          </p:cNvGrpSpPr>
          <p:nvPr/>
        </p:nvGrpSpPr>
        <p:grpSpPr bwMode="auto">
          <a:xfrm>
            <a:off x="1173163" y="2055587"/>
            <a:ext cx="1997075" cy="1133476"/>
            <a:chOff x="1255" y="912"/>
            <a:chExt cx="1258" cy="714"/>
          </a:xfrm>
        </p:grpSpPr>
        <p:sp>
          <p:nvSpPr>
            <p:cNvPr id="17" name="Rectangle 84"/>
            <p:cNvSpPr>
              <a:spLocks noChangeArrowheads="1"/>
            </p:cNvSpPr>
            <p:nvPr/>
          </p:nvSpPr>
          <p:spPr bwMode="auto">
            <a:xfrm>
              <a:off x="2284" y="1296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8" name="Rectangle 85"/>
            <p:cNvSpPr>
              <a:spLocks noChangeArrowheads="1"/>
            </p:cNvSpPr>
            <p:nvPr/>
          </p:nvSpPr>
          <p:spPr bwMode="auto">
            <a:xfrm>
              <a:off x="1255" y="912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9" name="Group 86"/>
          <p:cNvGrpSpPr>
            <a:grpSpLocks/>
          </p:cNvGrpSpPr>
          <p:nvPr/>
        </p:nvGrpSpPr>
        <p:grpSpPr bwMode="auto">
          <a:xfrm>
            <a:off x="1173164" y="1555527"/>
            <a:ext cx="1931989" cy="1646239"/>
            <a:chOff x="1275" y="2229"/>
            <a:chExt cx="1217" cy="1037"/>
          </a:xfrm>
        </p:grpSpPr>
        <p:grpSp>
          <p:nvGrpSpPr>
            <p:cNvPr id="20" name="Group 87"/>
            <p:cNvGrpSpPr>
              <a:grpSpLocks/>
            </p:cNvGrpSpPr>
            <p:nvPr/>
          </p:nvGrpSpPr>
          <p:grpSpPr bwMode="auto">
            <a:xfrm>
              <a:off x="2263" y="2229"/>
              <a:ext cx="229" cy="330"/>
              <a:chOff x="2167" y="645"/>
              <a:chExt cx="229" cy="330"/>
            </a:xfrm>
          </p:grpSpPr>
          <p:sp useBgFill="1">
            <p:nvSpPr>
              <p:cNvPr id="24" name="Rectangle 88"/>
              <p:cNvSpPr>
                <a:spLocks noChangeArrowheads="1"/>
              </p:cNvSpPr>
              <p:nvPr/>
            </p:nvSpPr>
            <p:spPr bwMode="auto">
              <a:xfrm>
                <a:off x="2224" y="662"/>
                <a:ext cx="157" cy="231"/>
              </a:xfrm>
              <a:prstGeom prst="rect">
                <a:avLst/>
              </a:prstGeom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" name="Rectangle 89"/>
              <p:cNvSpPr>
                <a:spLocks noChangeArrowheads="1"/>
              </p:cNvSpPr>
              <p:nvPr/>
            </p:nvSpPr>
            <p:spPr bwMode="auto">
              <a:xfrm>
                <a:off x="2167" y="645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21" name="Group 90"/>
            <p:cNvGrpSpPr>
              <a:grpSpLocks/>
            </p:cNvGrpSpPr>
            <p:nvPr/>
          </p:nvGrpSpPr>
          <p:grpSpPr bwMode="auto">
            <a:xfrm>
              <a:off x="1275" y="2936"/>
              <a:ext cx="229" cy="330"/>
              <a:chOff x="1275" y="1278"/>
              <a:chExt cx="229" cy="330"/>
            </a:xfrm>
          </p:grpSpPr>
          <p:sp useBgFill="1">
            <p:nvSpPr>
              <p:cNvPr id="22" name="Rectangle 91"/>
              <p:cNvSpPr>
                <a:spLocks noChangeArrowheads="1"/>
              </p:cNvSpPr>
              <p:nvPr/>
            </p:nvSpPr>
            <p:spPr bwMode="auto">
              <a:xfrm>
                <a:off x="1344" y="1310"/>
                <a:ext cx="145" cy="229"/>
              </a:xfrm>
              <a:prstGeom prst="rect">
                <a:avLst/>
              </a:prstGeom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3" name="Rectangle 92"/>
              <p:cNvSpPr>
                <a:spLocks noChangeArrowheads="1"/>
              </p:cNvSpPr>
              <p:nvPr/>
            </p:nvSpPr>
            <p:spPr bwMode="auto">
              <a:xfrm>
                <a:off x="1275" y="1278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</p:grpSp>
      <p:grpSp>
        <p:nvGrpSpPr>
          <p:cNvPr id="26" name="Group 93"/>
          <p:cNvGrpSpPr>
            <a:grpSpLocks/>
          </p:cNvGrpSpPr>
          <p:nvPr/>
        </p:nvGrpSpPr>
        <p:grpSpPr bwMode="auto">
          <a:xfrm>
            <a:off x="1141414" y="2077811"/>
            <a:ext cx="2008189" cy="1166813"/>
            <a:chOff x="1255" y="926"/>
            <a:chExt cx="1265" cy="735"/>
          </a:xfrm>
        </p:grpSpPr>
        <p:grpSp>
          <p:nvGrpSpPr>
            <p:cNvPr id="27" name="Group 94"/>
            <p:cNvGrpSpPr>
              <a:grpSpLocks/>
            </p:cNvGrpSpPr>
            <p:nvPr/>
          </p:nvGrpSpPr>
          <p:grpSpPr bwMode="auto">
            <a:xfrm>
              <a:off x="2291" y="1331"/>
              <a:ext cx="229" cy="330"/>
              <a:chOff x="2139" y="1331"/>
              <a:chExt cx="229" cy="330"/>
            </a:xfrm>
          </p:grpSpPr>
          <p:sp useBgFill="1">
            <p:nvSpPr>
              <p:cNvPr id="31" name="Rectangle 95"/>
              <p:cNvSpPr>
                <a:spLocks noChangeArrowheads="1"/>
              </p:cNvSpPr>
              <p:nvPr/>
            </p:nvSpPr>
            <p:spPr bwMode="auto">
              <a:xfrm>
                <a:off x="2187" y="1334"/>
                <a:ext cx="151" cy="237"/>
              </a:xfrm>
              <a:prstGeom prst="rect">
                <a:avLst/>
              </a:prstGeom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2" name="Rectangle 96"/>
              <p:cNvSpPr>
                <a:spLocks noChangeArrowheads="1"/>
              </p:cNvSpPr>
              <p:nvPr/>
            </p:nvSpPr>
            <p:spPr bwMode="auto">
              <a:xfrm>
                <a:off x="2139" y="1331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28" name="Group 97"/>
            <p:cNvGrpSpPr>
              <a:grpSpLocks/>
            </p:cNvGrpSpPr>
            <p:nvPr/>
          </p:nvGrpSpPr>
          <p:grpSpPr bwMode="auto">
            <a:xfrm>
              <a:off x="1255" y="926"/>
              <a:ext cx="229" cy="330"/>
              <a:chOff x="1227" y="974"/>
              <a:chExt cx="229" cy="330"/>
            </a:xfrm>
          </p:grpSpPr>
          <p:sp useBgFill="1">
            <p:nvSpPr>
              <p:cNvPr id="29" name="Rectangle 98"/>
              <p:cNvSpPr>
                <a:spLocks noChangeArrowheads="1"/>
              </p:cNvSpPr>
              <p:nvPr/>
            </p:nvSpPr>
            <p:spPr bwMode="auto">
              <a:xfrm>
                <a:off x="1282" y="1029"/>
                <a:ext cx="158" cy="221"/>
              </a:xfrm>
              <a:prstGeom prst="rect">
                <a:avLst/>
              </a:prstGeom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0" name="Rectangle 99"/>
              <p:cNvSpPr>
                <a:spLocks noChangeArrowheads="1"/>
              </p:cNvSpPr>
              <p:nvPr/>
            </p:nvSpPr>
            <p:spPr bwMode="auto">
              <a:xfrm>
                <a:off x="1227" y="974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714148" y="1591583"/>
            <a:ext cx="2847748" cy="2012951"/>
            <a:chOff x="616177" y="1090840"/>
            <a:chExt cx="2847748" cy="2012951"/>
          </a:xfrm>
        </p:grpSpPr>
        <p:sp>
          <p:nvSpPr>
            <p:cNvPr id="34" name="Text Box 70"/>
            <p:cNvSpPr txBox="1">
              <a:spLocks noChangeArrowheads="1"/>
            </p:cNvSpPr>
            <p:nvPr/>
          </p:nvSpPr>
          <p:spPr bwMode="auto">
            <a:xfrm>
              <a:off x="3059113" y="1233941"/>
              <a:ext cx="404576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35" name="Group 74"/>
            <p:cNvGrpSpPr>
              <a:grpSpLocks/>
            </p:cNvGrpSpPr>
            <p:nvPr/>
          </p:nvGrpSpPr>
          <p:grpSpPr bwMode="auto">
            <a:xfrm>
              <a:off x="3059113" y="2602366"/>
              <a:ext cx="404812" cy="463550"/>
              <a:chOff x="4014" y="2931"/>
              <a:chExt cx="255" cy="292"/>
            </a:xfrm>
          </p:grpSpPr>
          <p:sp>
            <p:nvSpPr>
              <p:cNvPr id="68" name="Text Box 71"/>
              <p:cNvSpPr txBox="1">
                <a:spLocks noChangeArrowheads="1"/>
              </p:cNvSpPr>
              <p:nvPr/>
            </p:nvSpPr>
            <p:spPr bwMode="auto">
              <a:xfrm>
                <a:off x="4014" y="2931"/>
                <a:ext cx="255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69" name="Line 73"/>
              <p:cNvSpPr>
                <a:spLocks noChangeShapeType="1"/>
              </p:cNvSpPr>
              <p:nvPr/>
            </p:nvSpPr>
            <p:spPr bwMode="auto">
              <a:xfrm>
                <a:off x="4059" y="2976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36" name="Group 138"/>
            <p:cNvGrpSpPr>
              <a:grpSpLocks/>
            </p:cNvGrpSpPr>
            <p:nvPr/>
          </p:nvGrpSpPr>
          <p:grpSpPr bwMode="auto">
            <a:xfrm>
              <a:off x="616177" y="1090839"/>
              <a:ext cx="519113" cy="2012950"/>
              <a:chOff x="251" y="792"/>
              <a:chExt cx="327" cy="1268"/>
            </a:xfrm>
          </p:grpSpPr>
          <p:grpSp>
            <p:nvGrpSpPr>
              <p:cNvPr id="62" name="Group 79"/>
              <p:cNvGrpSpPr>
                <a:grpSpLocks/>
              </p:cNvGrpSpPr>
              <p:nvPr/>
            </p:nvGrpSpPr>
            <p:grpSpPr bwMode="auto">
              <a:xfrm>
                <a:off x="271" y="792"/>
                <a:ext cx="305" cy="292"/>
                <a:chOff x="724" y="1155"/>
                <a:chExt cx="305" cy="292"/>
              </a:xfrm>
            </p:grpSpPr>
            <p:sp>
              <p:nvSpPr>
                <p:cNvPr id="66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724" y="1155"/>
                  <a:ext cx="305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S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67" name="Line 77"/>
                <p:cNvSpPr>
                  <a:spLocks noChangeShapeType="1"/>
                </p:cNvSpPr>
                <p:nvPr/>
              </p:nvSpPr>
              <p:spPr bwMode="auto">
                <a:xfrm>
                  <a:off x="784" y="1221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63" name="Group 80"/>
              <p:cNvGrpSpPr>
                <a:grpSpLocks/>
              </p:cNvGrpSpPr>
              <p:nvPr/>
            </p:nvGrpSpPr>
            <p:grpSpPr bwMode="auto">
              <a:xfrm>
                <a:off x="251" y="1768"/>
                <a:ext cx="327" cy="292"/>
                <a:chOff x="704" y="2131"/>
                <a:chExt cx="327" cy="292"/>
              </a:xfrm>
            </p:grpSpPr>
            <p:sp>
              <p:nvSpPr>
                <p:cNvPr id="64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704" y="2131"/>
                  <a:ext cx="327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65" name="Line 78"/>
                <p:cNvSpPr>
                  <a:spLocks noChangeShapeType="1"/>
                </p:cNvSpPr>
                <p:nvPr/>
              </p:nvSpPr>
              <p:spPr bwMode="auto">
                <a:xfrm>
                  <a:off x="778" y="2170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37" name="组合 235"/>
            <p:cNvGrpSpPr/>
            <p:nvPr/>
          </p:nvGrpSpPr>
          <p:grpSpPr>
            <a:xfrm>
              <a:off x="1104900" y="1160463"/>
              <a:ext cx="1919288" cy="1894945"/>
              <a:chOff x="2391833" y="1058863"/>
              <a:chExt cx="1919288" cy="1894945"/>
            </a:xfrm>
          </p:grpSpPr>
          <p:grpSp>
            <p:nvGrpSpPr>
              <p:cNvPr id="46" name="组合 51"/>
              <p:cNvGrpSpPr/>
              <p:nvPr/>
            </p:nvGrpSpPr>
            <p:grpSpPr>
              <a:xfrm>
                <a:off x="2410883" y="2246236"/>
                <a:ext cx="1900238" cy="707572"/>
                <a:chOff x="2410883" y="1975303"/>
                <a:chExt cx="1900238" cy="707572"/>
              </a:xfrm>
            </p:grpSpPr>
            <p:sp>
              <p:nvSpPr>
                <p:cNvPr id="55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77281" y="2273753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2</a:t>
                  </a:r>
                  <a:endParaRPr lang="en-US" altLang="zh-CN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6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15380" y="1975303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57" name="矩形 56"/>
                <p:cNvSpPr/>
                <p:nvPr/>
              </p:nvSpPr>
              <p:spPr>
                <a:xfrm>
                  <a:off x="3082396" y="1978025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>
                  <a:off x="3563409" y="2292350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9" name="直接连接符 58"/>
                <p:cNvCxnSpPr/>
                <p:nvPr/>
              </p:nvCxnSpPr>
              <p:spPr>
                <a:xfrm>
                  <a:off x="2410883" y="254000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/>
                <p:cNvCxnSpPr/>
                <p:nvPr/>
              </p:nvCxnSpPr>
              <p:spPr>
                <a:xfrm>
                  <a:off x="3630083" y="233045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/>
                <p:cNvCxnSpPr/>
                <p:nvPr/>
              </p:nvCxnSpPr>
              <p:spPr>
                <a:xfrm>
                  <a:off x="2758546" y="2178051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" name="组合 52"/>
              <p:cNvGrpSpPr/>
              <p:nvPr/>
            </p:nvGrpSpPr>
            <p:grpSpPr>
              <a:xfrm>
                <a:off x="2391833" y="1058863"/>
                <a:ext cx="1900238" cy="704850"/>
                <a:chOff x="2391833" y="1058863"/>
                <a:chExt cx="1900238" cy="704850"/>
              </a:xfrm>
            </p:grpSpPr>
            <p:sp>
              <p:nvSpPr>
                <p:cNvPr id="48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62993" y="1349828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49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05855" y="1065666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3068108" y="1058863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3544359" y="1373187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2" name="直接连接符 51"/>
                <p:cNvCxnSpPr/>
                <p:nvPr/>
              </p:nvCxnSpPr>
              <p:spPr>
                <a:xfrm>
                  <a:off x="2391833" y="123983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/>
                <p:cNvCxnSpPr/>
                <p:nvPr/>
              </p:nvCxnSpPr>
              <p:spPr>
                <a:xfrm>
                  <a:off x="3611033" y="141128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/>
                <p:nvPr/>
              </p:nvCxnSpPr>
              <p:spPr>
                <a:xfrm>
                  <a:off x="2744258" y="1597026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8" name="组合 252"/>
            <p:cNvGrpSpPr/>
            <p:nvPr/>
          </p:nvGrpSpPr>
          <p:grpSpPr>
            <a:xfrm>
              <a:off x="1432896" y="1694126"/>
              <a:ext cx="1129682" cy="1000713"/>
              <a:chOff x="2719829" y="1592526"/>
              <a:chExt cx="1129682" cy="1000713"/>
            </a:xfrm>
          </p:grpSpPr>
          <p:cxnSp>
            <p:nvCxnSpPr>
              <p:cNvPr id="43" name="直接连接符 42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组合 256"/>
            <p:cNvGrpSpPr/>
            <p:nvPr/>
          </p:nvGrpSpPr>
          <p:grpSpPr>
            <a:xfrm flipV="1">
              <a:off x="1478052" y="1524001"/>
              <a:ext cx="1129682" cy="1039370"/>
              <a:chOff x="2719829" y="1592526"/>
              <a:chExt cx="1129682" cy="1000713"/>
            </a:xfrm>
          </p:grpSpPr>
          <p:cxnSp>
            <p:nvCxnSpPr>
              <p:cNvPr id="40" name="直接连接符 39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0" name="Group 55"/>
          <p:cNvGrpSpPr>
            <a:grpSpLocks/>
          </p:cNvGrpSpPr>
          <p:nvPr/>
        </p:nvGrpSpPr>
        <p:grpSpPr bwMode="auto">
          <a:xfrm>
            <a:off x="422504" y="1648507"/>
            <a:ext cx="376239" cy="1819276"/>
            <a:chOff x="521" y="782"/>
            <a:chExt cx="237" cy="1146"/>
          </a:xfrm>
        </p:grpSpPr>
        <p:sp>
          <p:nvSpPr>
            <p:cNvPr id="71" name="Rectangle 56"/>
            <p:cNvSpPr>
              <a:spLocks noChangeArrowheads="1"/>
            </p:cNvSpPr>
            <p:nvPr/>
          </p:nvSpPr>
          <p:spPr bwMode="auto">
            <a:xfrm>
              <a:off x="529" y="782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72" name="Rectangle 57"/>
            <p:cNvSpPr>
              <a:spLocks noChangeArrowheads="1"/>
            </p:cNvSpPr>
            <p:nvPr/>
          </p:nvSpPr>
          <p:spPr bwMode="auto">
            <a:xfrm>
              <a:off x="521" y="1598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8"/>
          <p:cNvGrpSpPr>
            <a:grpSpLocks/>
          </p:cNvGrpSpPr>
          <p:nvPr/>
        </p:nvGrpSpPr>
        <p:grpSpPr bwMode="auto">
          <a:xfrm>
            <a:off x="2706021" y="1481593"/>
            <a:ext cx="406402" cy="1731963"/>
            <a:chOff x="2400" y="1091"/>
            <a:chExt cx="256" cy="1091"/>
          </a:xfrm>
        </p:grpSpPr>
        <p:sp>
          <p:nvSpPr>
            <p:cNvPr id="17" name="Rectangle 19"/>
            <p:cNvSpPr>
              <a:spLocks noChangeArrowheads="1"/>
            </p:cNvSpPr>
            <p:nvPr/>
          </p:nvSpPr>
          <p:spPr bwMode="auto">
            <a:xfrm>
              <a:off x="2400" y="1091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8" name="Rectangle 20"/>
            <p:cNvSpPr>
              <a:spLocks noChangeArrowheads="1"/>
            </p:cNvSpPr>
            <p:nvPr/>
          </p:nvSpPr>
          <p:spPr bwMode="auto">
            <a:xfrm>
              <a:off x="2427" y="1852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9" name="Group 21"/>
          <p:cNvGrpSpPr>
            <a:grpSpLocks/>
          </p:cNvGrpSpPr>
          <p:nvPr/>
        </p:nvGrpSpPr>
        <p:grpSpPr bwMode="auto">
          <a:xfrm>
            <a:off x="293915" y="1360488"/>
            <a:ext cx="455613" cy="2155825"/>
            <a:chOff x="377" y="1826"/>
            <a:chExt cx="287" cy="1358"/>
          </a:xfrm>
        </p:grpSpPr>
        <p:grpSp>
          <p:nvGrpSpPr>
            <p:cNvPr id="20" name="Group 22"/>
            <p:cNvGrpSpPr>
              <a:grpSpLocks/>
            </p:cNvGrpSpPr>
            <p:nvPr/>
          </p:nvGrpSpPr>
          <p:grpSpPr bwMode="auto">
            <a:xfrm>
              <a:off x="377" y="2128"/>
              <a:ext cx="287" cy="144"/>
              <a:chOff x="3216" y="3216"/>
              <a:chExt cx="480" cy="144"/>
            </a:xfrm>
          </p:grpSpPr>
          <p:sp>
            <p:nvSpPr>
              <p:cNvPr id="30" name="Line 23"/>
              <p:cNvSpPr>
                <a:spLocks noChangeShapeType="1"/>
              </p:cNvSpPr>
              <p:nvPr/>
            </p:nvSpPr>
            <p:spPr bwMode="auto">
              <a:xfrm>
                <a:off x="3216" y="3216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" name="Line 24"/>
              <p:cNvSpPr>
                <a:spLocks noChangeShapeType="1"/>
              </p:cNvSpPr>
              <p:nvPr/>
            </p:nvSpPr>
            <p:spPr bwMode="auto">
              <a:xfrm>
                <a:off x="3360" y="3216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2" name="Line 25"/>
              <p:cNvSpPr>
                <a:spLocks noChangeShapeType="1"/>
              </p:cNvSpPr>
              <p:nvPr/>
            </p:nvSpPr>
            <p:spPr bwMode="auto">
              <a:xfrm>
                <a:off x="3360" y="336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3" name="Line 26"/>
              <p:cNvSpPr>
                <a:spLocks noChangeShapeType="1"/>
              </p:cNvSpPr>
              <p:nvPr/>
            </p:nvSpPr>
            <p:spPr bwMode="auto">
              <a:xfrm flipV="1">
                <a:off x="3552" y="3216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4" name="Line 27"/>
              <p:cNvSpPr>
                <a:spLocks noChangeShapeType="1"/>
              </p:cNvSpPr>
              <p:nvPr/>
            </p:nvSpPr>
            <p:spPr bwMode="auto">
              <a:xfrm>
                <a:off x="3552" y="3216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21" name="Group 28"/>
            <p:cNvGrpSpPr>
              <a:grpSpLocks/>
            </p:cNvGrpSpPr>
            <p:nvPr/>
          </p:nvGrpSpPr>
          <p:grpSpPr bwMode="auto">
            <a:xfrm>
              <a:off x="377" y="3040"/>
              <a:ext cx="287" cy="144"/>
              <a:chOff x="3216" y="3216"/>
              <a:chExt cx="480" cy="144"/>
            </a:xfrm>
          </p:grpSpPr>
          <p:sp>
            <p:nvSpPr>
              <p:cNvPr id="25" name="Line 29"/>
              <p:cNvSpPr>
                <a:spLocks noChangeShapeType="1"/>
              </p:cNvSpPr>
              <p:nvPr/>
            </p:nvSpPr>
            <p:spPr bwMode="auto">
              <a:xfrm>
                <a:off x="3216" y="3216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6" name="Line 30"/>
              <p:cNvSpPr>
                <a:spLocks noChangeShapeType="1"/>
              </p:cNvSpPr>
              <p:nvPr/>
            </p:nvSpPr>
            <p:spPr bwMode="auto">
              <a:xfrm>
                <a:off x="3360" y="3216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7" name="Line 31"/>
              <p:cNvSpPr>
                <a:spLocks noChangeShapeType="1"/>
              </p:cNvSpPr>
              <p:nvPr/>
            </p:nvSpPr>
            <p:spPr bwMode="auto">
              <a:xfrm>
                <a:off x="3360" y="336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8" name="Line 32"/>
              <p:cNvSpPr>
                <a:spLocks noChangeShapeType="1"/>
              </p:cNvSpPr>
              <p:nvPr/>
            </p:nvSpPr>
            <p:spPr bwMode="auto">
              <a:xfrm flipV="1">
                <a:off x="3552" y="3216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9" name="Line 33"/>
              <p:cNvSpPr>
                <a:spLocks noChangeShapeType="1"/>
              </p:cNvSpPr>
              <p:nvPr/>
            </p:nvSpPr>
            <p:spPr bwMode="auto">
              <a:xfrm>
                <a:off x="3552" y="3216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22" name="Group 34"/>
            <p:cNvGrpSpPr>
              <a:grpSpLocks/>
            </p:cNvGrpSpPr>
            <p:nvPr/>
          </p:nvGrpSpPr>
          <p:grpSpPr bwMode="auto">
            <a:xfrm>
              <a:off x="411" y="1826"/>
              <a:ext cx="231" cy="1271"/>
              <a:chOff x="411" y="1826"/>
              <a:chExt cx="231" cy="1271"/>
            </a:xfrm>
          </p:grpSpPr>
          <p:sp>
            <p:nvSpPr>
              <p:cNvPr id="23" name="Rectangle 35"/>
              <p:cNvSpPr>
                <a:spLocks noChangeArrowheads="1"/>
              </p:cNvSpPr>
              <p:nvPr/>
            </p:nvSpPr>
            <p:spPr bwMode="auto">
              <a:xfrm>
                <a:off x="411" y="1826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24" name="Rectangle 36"/>
              <p:cNvSpPr>
                <a:spLocks noChangeArrowheads="1"/>
              </p:cNvSpPr>
              <p:nvPr/>
            </p:nvSpPr>
            <p:spPr bwMode="auto">
              <a:xfrm>
                <a:off x="414" y="2767"/>
                <a:ext cx="22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</p:grpSp>
      <p:grpSp>
        <p:nvGrpSpPr>
          <p:cNvPr id="35" name="Group 37"/>
          <p:cNvGrpSpPr>
            <a:grpSpLocks/>
          </p:cNvGrpSpPr>
          <p:nvPr/>
        </p:nvGrpSpPr>
        <p:grpSpPr bwMode="auto">
          <a:xfrm>
            <a:off x="4615543" y="1404258"/>
            <a:ext cx="2873375" cy="520700"/>
            <a:chOff x="3216" y="912"/>
            <a:chExt cx="1810" cy="328"/>
          </a:xfrm>
        </p:grpSpPr>
        <p:sp>
          <p:nvSpPr>
            <p:cNvPr id="36" name="Text Box 38"/>
            <p:cNvSpPr txBox="1">
              <a:spLocks noChangeArrowheads="1"/>
            </p:cNvSpPr>
            <p:nvPr/>
          </p:nvSpPr>
          <p:spPr bwMode="auto">
            <a:xfrm>
              <a:off x="3216" y="912"/>
              <a:ext cx="1810" cy="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则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  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</a:t>
              </a:r>
            </a:p>
          </p:txBody>
        </p:sp>
        <p:sp>
          <p:nvSpPr>
            <p:cNvPr id="37" name="Line 39"/>
            <p:cNvSpPr>
              <a:spLocks noChangeShapeType="1"/>
            </p:cNvSpPr>
            <p:nvPr/>
          </p:nvSpPr>
          <p:spPr bwMode="auto">
            <a:xfrm>
              <a:off x="4272" y="96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38" name="Group 65"/>
          <p:cNvGrpSpPr>
            <a:grpSpLocks/>
          </p:cNvGrpSpPr>
          <p:nvPr/>
        </p:nvGrpSpPr>
        <p:grpSpPr bwMode="auto">
          <a:xfrm>
            <a:off x="3849460" y="2301195"/>
            <a:ext cx="5029200" cy="2293937"/>
            <a:chOff x="2426" y="2341"/>
            <a:chExt cx="3168" cy="1445"/>
          </a:xfrm>
        </p:grpSpPr>
        <p:sp>
          <p:nvSpPr>
            <p:cNvPr id="39" name="Text Box 41"/>
            <p:cNvSpPr txBox="1">
              <a:spLocks noChangeArrowheads="1"/>
            </p:cNvSpPr>
            <p:nvPr/>
          </p:nvSpPr>
          <p:spPr bwMode="auto">
            <a:xfrm>
              <a:off x="2426" y="2341"/>
              <a:ext cx="3168" cy="14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此种情况 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1.</a:t>
              </a: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与</a:t>
              </a: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 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不符合逻辑相反</a:t>
              </a:r>
              <a:r>
                <a:rPr lang="zh-CN" altLang="en-US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要求</a:t>
              </a: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;</a:t>
              </a:r>
              <a:endPara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2.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负脉冲除去时，</a:t>
              </a: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态不确定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.</a:t>
              </a:r>
            </a:p>
            <a:p>
              <a:pPr>
                <a:lnSpc>
                  <a:spcPct val="65000"/>
                </a:lnSpc>
                <a:spcBef>
                  <a:spcPct val="50000"/>
                </a:spcBef>
              </a:pPr>
              <a:endPara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>
              <a:off x="3091" y="27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42" name="Group 44"/>
          <p:cNvGrpSpPr>
            <a:grpSpLocks/>
          </p:cNvGrpSpPr>
          <p:nvPr/>
        </p:nvGrpSpPr>
        <p:grpSpPr bwMode="auto">
          <a:xfrm>
            <a:off x="1643742" y="3897086"/>
            <a:ext cx="1747157" cy="762000"/>
            <a:chOff x="300" y="2880"/>
            <a:chExt cx="2036" cy="816"/>
          </a:xfrm>
        </p:grpSpPr>
        <p:grpSp>
          <p:nvGrpSpPr>
            <p:cNvPr id="43" name="Group 45"/>
            <p:cNvGrpSpPr>
              <a:grpSpLocks/>
            </p:cNvGrpSpPr>
            <p:nvPr/>
          </p:nvGrpSpPr>
          <p:grpSpPr bwMode="auto">
            <a:xfrm>
              <a:off x="300" y="2880"/>
              <a:ext cx="1920" cy="816"/>
              <a:chOff x="624" y="2688"/>
              <a:chExt cx="1920" cy="816"/>
            </a:xfrm>
          </p:grpSpPr>
          <p:sp>
            <p:nvSpPr>
              <p:cNvPr id="49" name="AutoShape 46"/>
              <p:cNvSpPr>
                <a:spLocks noChangeArrowheads="1"/>
              </p:cNvSpPr>
              <p:nvPr/>
            </p:nvSpPr>
            <p:spPr bwMode="auto">
              <a:xfrm flipV="1">
                <a:off x="624" y="2688"/>
                <a:ext cx="1920" cy="816"/>
              </a:xfrm>
              <a:prstGeom prst="cloudCallout">
                <a:avLst>
                  <a:gd name="adj1" fmla="val 10778"/>
                  <a:gd name="adj2" fmla="val -1718"/>
                </a:avLst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FFFFCC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 anchor="ctr"/>
              <a:lstStyle/>
              <a:p>
                <a:pPr algn="ctr"/>
                <a:endParaRPr lang="en-US" altLang="zh-CN" sz="2800" i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0" name="Text Box 47"/>
              <p:cNvSpPr txBox="1">
                <a:spLocks noChangeArrowheads="1"/>
              </p:cNvSpPr>
              <p:nvPr/>
            </p:nvSpPr>
            <p:spPr bwMode="auto">
              <a:xfrm>
                <a:off x="1104" y="2793"/>
                <a:ext cx="1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i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禁止</a:t>
                </a:r>
              </a:p>
            </p:txBody>
          </p:sp>
        </p:grpSp>
        <p:grpSp>
          <p:nvGrpSpPr>
            <p:cNvPr id="44" name="Group 48"/>
            <p:cNvGrpSpPr>
              <a:grpSpLocks/>
            </p:cNvGrpSpPr>
            <p:nvPr/>
          </p:nvGrpSpPr>
          <p:grpSpPr bwMode="auto">
            <a:xfrm>
              <a:off x="300" y="2880"/>
              <a:ext cx="1920" cy="816"/>
              <a:chOff x="624" y="2688"/>
              <a:chExt cx="1920" cy="816"/>
            </a:xfrm>
          </p:grpSpPr>
          <p:sp>
            <p:nvSpPr>
              <p:cNvPr id="47" name="AutoShape 49"/>
              <p:cNvSpPr>
                <a:spLocks noChangeArrowheads="1"/>
              </p:cNvSpPr>
              <p:nvPr/>
            </p:nvSpPr>
            <p:spPr bwMode="auto">
              <a:xfrm flipV="1">
                <a:off x="624" y="2688"/>
                <a:ext cx="1920" cy="816"/>
              </a:xfrm>
              <a:prstGeom prst="cloudCallout">
                <a:avLst>
                  <a:gd name="adj1" fmla="val 10778"/>
                  <a:gd name="adj2" fmla="val -1718"/>
                </a:avLst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FFFFCC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 anchor="ctr"/>
              <a:lstStyle/>
              <a:p>
                <a:pPr algn="ctr"/>
                <a:endParaRPr lang="en-US" altLang="zh-CN" sz="2800" i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8" name="Text Box 50"/>
              <p:cNvSpPr txBox="1">
                <a:spLocks noChangeArrowheads="1"/>
              </p:cNvSpPr>
              <p:nvPr/>
            </p:nvSpPr>
            <p:spPr bwMode="auto">
              <a:xfrm>
                <a:off x="1104" y="2793"/>
                <a:ext cx="1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i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禁止</a:t>
                </a:r>
              </a:p>
            </p:txBody>
          </p:sp>
        </p:grpSp>
        <p:sp>
          <p:nvSpPr>
            <p:cNvPr id="45" name="AutoShape 51"/>
            <p:cNvSpPr>
              <a:spLocks noChangeArrowheads="1"/>
            </p:cNvSpPr>
            <p:nvPr/>
          </p:nvSpPr>
          <p:spPr bwMode="auto">
            <a:xfrm flipV="1">
              <a:off x="300" y="2880"/>
              <a:ext cx="2036" cy="816"/>
            </a:xfrm>
            <a:prstGeom prst="cloudCallout">
              <a:avLst>
                <a:gd name="adj1" fmla="val 88052"/>
                <a:gd name="adj2" fmla="val 171148"/>
              </a:avLst>
            </a:prstGeom>
            <a:gradFill rotWithShape="0">
              <a:gsLst>
                <a:gs pos="0">
                  <a:schemeClr val="folHlink"/>
                </a:gs>
                <a:gs pos="100000">
                  <a:srgbClr val="FFFFCC"/>
                </a:gs>
              </a:gsLst>
              <a:lin ang="27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anchor="ctr"/>
            <a:lstStyle/>
            <a:p>
              <a:pPr algn="ctr"/>
              <a:endParaRPr lang="en-US" altLang="zh-CN" sz="2800" i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Text Box 52"/>
            <p:cNvSpPr txBox="1">
              <a:spLocks noChangeArrowheads="1"/>
            </p:cNvSpPr>
            <p:nvPr/>
          </p:nvSpPr>
          <p:spPr bwMode="auto">
            <a:xfrm>
              <a:off x="809" y="2985"/>
              <a:ext cx="1305" cy="5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禁止</a:t>
              </a:r>
            </a:p>
          </p:txBody>
        </p:sp>
      </p:grpSp>
      <p:grpSp>
        <p:nvGrpSpPr>
          <p:cNvPr id="51" name="Group 58"/>
          <p:cNvGrpSpPr>
            <a:grpSpLocks/>
          </p:cNvGrpSpPr>
          <p:nvPr/>
        </p:nvGrpSpPr>
        <p:grpSpPr bwMode="auto">
          <a:xfrm>
            <a:off x="3823381" y="754971"/>
            <a:ext cx="4284662" cy="525462"/>
            <a:chOff x="3061" y="935"/>
            <a:chExt cx="2699" cy="331"/>
          </a:xfrm>
        </p:grpSpPr>
        <p:grpSp>
          <p:nvGrpSpPr>
            <p:cNvPr id="52" name="Group 59"/>
            <p:cNvGrpSpPr>
              <a:grpSpLocks/>
            </p:cNvGrpSpPr>
            <p:nvPr/>
          </p:nvGrpSpPr>
          <p:grpSpPr bwMode="auto">
            <a:xfrm>
              <a:off x="3552" y="935"/>
              <a:ext cx="2208" cy="330"/>
              <a:chOff x="3216" y="480"/>
              <a:chExt cx="2208" cy="330"/>
            </a:xfrm>
          </p:grpSpPr>
          <p:sp>
            <p:nvSpPr>
              <p:cNvPr id="55" name="Text Box 60"/>
              <p:cNvSpPr txBox="1">
                <a:spLocks noChangeArrowheads="1"/>
              </p:cNvSpPr>
              <p:nvPr/>
            </p:nvSpPr>
            <p:spPr bwMode="auto">
              <a:xfrm>
                <a:off x="3216" y="480"/>
                <a:ext cx="220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当 </a:t>
                </a:r>
                <a:r>
                  <a:rPr lang="en-US" altLang="zh-CN" sz="2800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r>
                  <a:rPr lang="en-US" altLang="zh-CN" sz="2800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= 0    </a:t>
                </a:r>
                <a:r>
                  <a:rPr lang="en-US" altLang="zh-CN" sz="2800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= 0 </a:t>
                </a:r>
                <a:r>
                  <a:rPr lang="zh-CN" altLang="en-US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时</a:t>
                </a:r>
              </a:p>
            </p:txBody>
          </p:sp>
          <p:sp>
            <p:nvSpPr>
              <p:cNvPr id="56" name="Line 61"/>
              <p:cNvSpPr>
                <a:spLocks noChangeShapeType="1"/>
              </p:cNvSpPr>
              <p:nvPr/>
            </p:nvSpPr>
            <p:spPr bwMode="auto">
              <a:xfrm>
                <a:off x="3536" y="52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7" name="Line 62"/>
              <p:cNvSpPr>
                <a:spLocks noChangeShapeType="1"/>
              </p:cNvSpPr>
              <p:nvPr/>
            </p:nvSpPr>
            <p:spPr bwMode="auto">
              <a:xfrm>
                <a:off x="4272" y="52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53" name="Rectangle 63"/>
            <p:cNvSpPr>
              <a:spLocks noChangeArrowheads="1"/>
            </p:cNvSpPr>
            <p:nvPr/>
          </p:nvSpPr>
          <p:spPr bwMode="auto">
            <a:xfrm>
              <a:off x="3061" y="935"/>
              <a:ext cx="680" cy="3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28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（</a:t>
              </a:r>
              <a:r>
                <a:rPr lang="en-US" altLang="zh-CN" sz="28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4</a:t>
              </a:r>
              <a:r>
                <a:rPr lang="zh-CN" altLang="en-US" sz="28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）</a:t>
              </a:r>
            </a:p>
          </p:txBody>
        </p:sp>
        <p:sp>
          <p:nvSpPr>
            <p:cNvPr id="54" name="Line 64"/>
            <p:cNvSpPr>
              <a:spLocks noChangeShapeType="1"/>
            </p:cNvSpPr>
            <p:nvPr/>
          </p:nvSpPr>
          <p:spPr bwMode="auto">
            <a:xfrm>
              <a:off x="3651" y="1253"/>
              <a:ext cx="18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14148" y="1591583"/>
            <a:ext cx="2847748" cy="2012951"/>
            <a:chOff x="616177" y="1090840"/>
            <a:chExt cx="2847748" cy="2012951"/>
          </a:xfrm>
        </p:grpSpPr>
        <p:sp>
          <p:nvSpPr>
            <p:cNvPr id="59" name="Text Box 70"/>
            <p:cNvSpPr txBox="1">
              <a:spLocks noChangeArrowheads="1"/>
            </p:cNvSpPr>
            <p:nvPr/>
          </p:nvSpPr>
          <p:spPr bwMode="auto">
            <a:xfrm>
              <a:off x="3059113" y="1233941"/>
              <a:ext cx="404576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60" name="Group 74"/>
            <p:cNvGrpSpPr>
              <a:grpSpLocks/>
            </p:cNvGrpSpPr>
            <p:nvPr/>
          </p:nvGrpSpPr>
          <p:grpSpPr bwMode="auto">
            <a:xfrm>
              <a:off x="3059113" y="2602366"/>
              <a:ext cx="404812" cy="463550"/>
              <a:chOff x="4014" y="2931"/>
              <a:chExt cx="255" cy="292"/>
            </a:xfrm>
          </p:grpSpPr>
          <p:sp>
            <p:nvSpPr>
              <p:cNvPr id="93" name="Text Box 71"/>
              <p:cNvSpPr txBox="1">
                <a:spLocks noChangeArrowheads="1"/>
              </p:cNvSpPr>
              <p:nvPr/>
            </p:nvSpPr>
            <p:spPr bwMode="auto">
              <a:xfrm>
                <a:off x="4014" y="2931"/>
                <a:ext cx="255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94" name="Line 73"/>
              <p:cNvSpPr>
                <a:spLocks noChangeShapeType="1"/>
              </p:cNvSpPr>
              <p:nvPr/>
            </p:nvSpPr>
            <p:spPr bwMode="auto">
              <a:xfrm>
                <a:off x="4059" y="2976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61" name="Group 138"/>
            <p:cNvGrpSpPr>
              <a:grpSpLocks/>
            </p:cNvGrpSpPr>
            <p:nvPr/>
          </p:nvGrpSpPr>
          <p:grpSpPr bwMode="auto">
            <a:xfrm>
              <a:off x="616177" y="1090839"/>
              <a:ext cx="519113" cy="2012950"/>
              <a:chOff x="251" y="792"/>
              <a:chExt cx="327" cy="1268"/>
            </a:xfrm>
          </p:grpSpPr>
          <p:grpSp>
            <p:nvGrpSpPr>
              <p:cNvPr id="87" name="Group 79"/>
              <p:cNvGrpSpPr>
                <a:grpSpLocks/>
              </p:cNvGrpSpPr>
              <p:nvPr/>
            </p:nvGrpSpPr>
            <p:grpSpPr bwMode="auto">
              <a:xfrm>
                <a:off x="271" y="792"/>
                <a:ext cx="305" cy="292"/>
                <a:chOff x="724" y="1155"/>
                <a:chExt cx="305" cy="292"/>
              </a:xfrm>
            </p:grpSpPr>
            <p:sp>
              <p:nvSpPr>
                <p:cNvPr id="91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724" y="1155"/>
                  <a:ext cx="305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S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2" name="Line 77"/>
                <p:cNvSpPr>
                  <a:spLocks noChangeShapeType="1"/>
                </p:cNvSpPr>
                <p:nvPr/>
              </p:nvSpPr>
              <p:spPr bwMode="auto">
                <a:xfrm>
                  <a:off x="784" y="1221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88" name="Group 80"/>
              <p:cNvGrpSpPr>
                <a:grpSpLocks/>
              </p:cNvGrpSpPr>
              <p:nvPr/>
            </p:nvGrpSpPr>
            <p:grpSpPr bwMode="auto">
              <a:xfrm>
                <a:off x="251" y="1768"/>
                <a:ext cx="327" cy="292"/>
                <a:chOff x="704" y="2131"/>
                <a:chExt cx="327" cy="292"/>
              </a:xfrm>
            </p:grpSpPr>
            <p:sp>
              <p:nvSpPr>
                <p:cNvPr id="89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704" y="2131"/>
                  <a:ext cx="327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0" name="Line 78"/>
                <p:cNvSpPr>
                  <a:spLocks noChangeShapeType="1"/>
                </p:cNvSpPr>
                <p:nvPr/>
              </p:nvSpPr>
              <p:spPr bwMode="auto">
                <a:xfrm>
                  <a:off x="778" y="2170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62" name="组合 235"/>
            <p:cNvGrpSpPr/>
            <p:nvPr/>
          </p:nvGrpSpPr>
          <p:grpSpPr>
            <a:xfrm>
              <a:off x="1104900" y="1160463"/>
              <a:ext cx="1919288" cy="1894945"/>
              <a:chOff x="2391833" y="1058863"/>
              <a:chExt cx="1919288" cy="1894945"/>
            </a:xfrm>
          </p:grpSpPr>
          <p:grpSp>
            <p:nvGrpSpPr>
              <p:cNvPr id="71" name="组合 51"/>
              <p:cNvGrpSpPr/>
              <p:nvPr/>
            </p:nvGrpSpPr>
            <p:grpSpPr>
              <a:xfrm>
                <a:off x="2410883" y="2246236"/>
                <a:ext cx="1900238" cy="707572"/>
                <a:chOff x="2410883" y="1975303"/>
                <a:chExt cx="1900238" cy="707572"/>
              </a:xfrm>
            </p:grpSpPr>
            <p:sp>
              <p:nvSpPr>
                <p:cNvPr id="80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77281" y="2273753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2</a:t>
                  </a:r>
                  <a:endParaRPr lang="en-US" altLang="zh-CN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1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15380" y="1975303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82" name="矩形 81"/>
                <p:cNvSpPr/>
                <p:nvPr/>
              </p:nvSpPr>
              <p:spPr>
                <a:xfrm>
                  <a:off x="3082396" y="1978025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3" name="椭圆 82"/>
                <p:cNvSpPr/>
                <p:nvPr/>
              </p:nvSpPr>
              <p:spPr>
                <a:xfrm>
                  <a:off x="3563409" y="2292350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84" name="直接连接符 83"/>
                <p:cNvCxnSpPr/>
                <p:nvPr/>
              </p:nvCxnSpPr>
              <p:spPr>
                <a:xfrm>
                  <a:off x="2410883" y="254000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连接符 84"/>
                <p:cNvCxnSpPr/>
                <p:nvPr/>
              </p:nvCxnSpPr>
              <p:spPr>
                <a:xfrm>
                  <a:off x="3630083" y="233045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连接符 85"/>
                <p:cNvCxnSpPr/>
                <p:nvPr/>
              </p:nvCxnSpPr>
              <p:spPr>
                <a:xfrm>
                  <a:off x="2758546" y="2178051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" name="组合 52"/>
              <p:cNvGrpSpPr/>
              <p:nvPr/>
            </p:nvGrpSpPr>
            <p:grpSpPr>
              <a:xfrm>
                <a:off x="2391833" y="1058863"/>
                <a:ext cx="1900238" cy="704850"/>
                <a:chOff x="2391833" y="1058863"/>
                <a:chExt cx="1900238" cy="704850"/>
              </a:xfrm>
            </p:grpSpPr>
            <p:sp>
              <p:nvSpPr>
                <p:cNvPr id="73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62993" y="1349828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74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05855" y="1065666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>
                  <a:off x="3068108" y="1058863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椭圆 75"/>
                <p:cNvSpPr/>
                <p:nvPr/>
              </p:nvSpPr>
              <p:spPr>
                <a:xfrm>
                  <a:off x="3544359" y="1373187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7" name="直接连接符 76"/>
                <p:cNvCxnSpPr/>
                <p:nvPr/>
              </p:nvCxnSpPr>
              <p:spPr>
                <a:xfrm>
                  <a:off x="2391833" y="123983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>
                  <a:off x="3611033" y="141128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/>
                <p:cNvCxnSpPr/>
                <p:nvPr/>
              </p:nvCxnSpPr>
              <p:spPr>
                <a:xfrm>
                  <a:off x="2744258" y="1597026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3" name="组合 252"/>
            <p:cNvGrpSpPr/>
            <p:nvPr/>
          </p:nvGrpSpPr>
          <p:grpSpPr>
            <a:xfrm>
              <a:off x="1432896" y="1694126"/>
              <a:ext cx="1129682" cy="1000713"/>
              <a:chOff x="2719829" y="1592526"/>
              <a:chExt cx="1129682" cy="1000713"/>
            </a:xfrm>
          </p:grpSpPr>
          <p:cxnSp>
            <p:nvCxnSpPr>
              <p:cNvPr id="68" name="直接连接符 67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256"/>
            <p:cNvGrpSpPr/>
            <p:nvPr/>
          </p:nvGrpSpPr>
          <p:grpSpPr>
            <a:xfrm flipV="1">
              <a:off x="1478052" y="1524001"/>
              <a:ext cx="1129682" cy="1039370"/>
              <a:chOff x="2719829" y="1592526"/>
              <a:chExt cx="1129682" cy="1000713"/>
            </a:xfrm>
          </p:grpSpPr>
          <p:cxnSp>
            <p:nvCxnSpPr>
              <p:cNvPr id="65" name="直接连接符 64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843643" y="622300"/>
            <a:ext cx="30207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基本 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RS 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4958897" y="701675"/>
            <a:ext cx="28368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逻辑状态转换表</a:t>
            </a:r>
          </a:p>
        </p:txBody>
      </p:sp>
      <p:grpSp>
        <p:nvGrpSpPr>
          <p:cNvPr id="18" name="Group 61"/>
          <p:cNvGrpSpPr>
            <a:grpSpLocks/>
          </p:cNvGrpSpPr>
          <p:nvPr/>
        </p:nvGrpSpPr>
        <p:grpSpPr bwMode="auto">
          <a:xfrm>
            <a:off x="4746173" y="1474788"/>
            <a:ext cx="3494088" cy="2538413"/>
            <a:chOff x="3408" y="704"/>
            <a:chExt cx="2201" cy="1599"/>
          </a:xfrm>
        </p:grpSpPr>
        <p:sp useBgFill="1">
          <p:nvSpPr>
            <p:cNvPr id="19" name="Rectangle 21"/>
            <p:cNvSpPr>
              <a:spLocks noChangeArrowheads="1"/>
            </p:cNvSpPr>
            <p:nvPr/>
          </p:nvSpPr>
          <p:spPr bwMode="auto">
            <a:xfrm>
              <a:off x="3408" y="709"/>
              <a:ext cx="2016" cy="1584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>
              <a:off x="3408" y="1045"/>
              <a:ext cx="20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" name="Line 23"/>
            <p:cNvSpPr>
              <a:spLocks noChangeShapeType="1"/>
            </p:cNvSpPr>
            <p:nvPr/>
          </p:nvSpPr>
          <p:spPr bwMode="auto">
            <a:xfrm>
              <a:off x="4464" y="709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>
              <a:off x="4944" y="719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23" name="Group 25"/>
            <p:cNvGrpSpPr>
              <a:grpSpLocks/>
            </p:cNvGrpSpPr>
            <p:nvPr/>
          </p:nvGrpSpPr>
          <p:grpSpPr bwMode="auto">
            <a:xfrm>
              <a:off x="3518" y="704"/>
              <a:ext cx="1476" cy="349"/>
              <a:chOff x="3360" y="1435"/>
              <a:chExt cx="1476" cy="349"/>
            </a:xfrm>
          </p:grpSpPr>
          <p:sp>
            <p:nvSpPr>
              <p:cNvPr id="30" name="Text Box 26"/>
              <p:cNvSpPr txBox="1">
                <a:spLocks noChangeArrowheads="1"/>
              </p:cNvSpPr>
              <p:nvPr/>
            </p:nvSpPr>
            <p:spPr bwMode="auto">
              <a:xfrm>
                <a:off x="3360" y="1454"/>
                <a:ext cx="62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r>
                  <a:rPr lang="en-US" altLang="zh-CN" sz="2800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</a:p>
            </p:txBody>
          </p:sp>
          <p:sp>
            <p:nvSpPr>
              <p:cNvPr id="31" name="Line 27"/>
              <p:cNvSpPr>
                <a:spLocks noChangeShapeType="1"/>
              </p:cNvSpPr>
              <p:nvPr/>
            </p:nvSpPr>
            <p:spPr bwMode="auto">
              <a:xfrm>
                <a:off x="3408" y="1502"/>
                <a:ext cx="1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2" name="Text Box 28"/>
              <p:cNvSpPr txBox="1">
                <a:spLocks noChangeArrowheads="1"/>
              </p:cNvSpPr>
              <p:nvPr/>
            </p:nvSpPr>
            <p:spPr bwMode="auto">
              <a:xfrm>
                <a:off x="3723" y="1435"/>
                <a:ext cx="41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</a:p>
            </p:txBody>
          </p:sp>
          <p:sp>
            <p:nvSpPr>
              <p:cNvPr id="33" name="Line 29"/>
              <p:cNvSpPr>
                <a:spLocks noChangeShapeType="1"/>
              </p:cNvSpPr>
              <p:nvPr/>
            </p:nvSpPr>
            <p:spPr bwMode="auto">
              <a:xfrm>
                <a:off x="3792" y="1502"/>
                <a:ext cx="1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4" name="Text Box 30"/>
              <p:cNvSpPr txBox="1">
                <a:spLocks noChangeArrowheads="1"/>
              </p:cNvSpPr>
              <p:nvPr/>
            </p:nvSpPr>
            <p:spPr bwMode="auto">
              <a:xfrm>
                <a:off x="4320" y="1454"/>
                <a:ext cx="51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2800" baseline="30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n</a:t>
                </a:r>
                <a:r>
                  <a:rPr lang="en-US" altLang="zh-CN" sz="2800" i="0" baseline="30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+1</a:t>
                </a:r>
              </a:p>
            </p:txBody>
          </p:sp>
        </p:grpSp>
        <p:grpSp>
          <p:nvGrpSpPr>
            <p:cNvPr id="24" name="Group 31"/>
            <p:cNvGrpSpPr>
              <a:grpSpLocks/>
            </p:cNvGrpSpPr>
            <p:nvPr/>
          </p:nvGrpSpPr>
          <p:grpSpPr bwMode="auto">
            <a:xfrm>
              <a:off x="3552" y="949"/>
              <a:ext cx="2004" cy="435"/>
              <a:chOff x="3312" y="1680"/>
              <a:chExt cx="2208" cy="435"/>
            </a:xfrm>
          </p:grpSpPr>
          <p:sp>
            <p:nvSpPr>
              <p:cNvPr id="28" name="Text Box 32"/>
              <p:cNvSpPr txBox="1">
                <a:spLocks noChangeArrowheads="1"/>
              </p:cNvSpPr>
              <p:nvPr/>
            </p:nvSpPr>
            <p:spPr bwMode="auto">
              <a:xfrm>
                <a:off x="3312" y="1785"/>
                <a:ext cx="220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0      1         1  </a:t>
                </a:r>
                <a:r>
                  <a:rPr lang="en-US" altLang="zh-CN" sz="2800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zh-CN" altLang="en-US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置位</a:t>
                </a:r>
              </a:p>
            </p:txBody>
          </p:sp>
          <p:sp>
            <p:nvSpPr>
              <p:cNvPr id="29" name="Text Box 33"/>
              <p:cNvSpPr txBox="1">
                <a:spLocks noChangeArrowheads="1"/>
              </p:cNvSpPr>
              <p:nvPr/>
            </p:nvSpPr>
            <p:spPr bwMode="auto">
              <a:xfrm>
                <a:off x="3360" y="1680"/>
                <a:ext cx="576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25" name="Text Box 34"/>
            <p:cNvSpPr txBox="1">
              <a:spLocks noChangeArrowheads="1"/>
            </p:cNvSpPr>
            <p:nvPr/>
          </p:nvSpPr>
          <p:spPr bwMode="auto">
            <a:xfrm>
              <a:off x="3552" y="1381"/>
              <a:ext cx="205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1      0         0 </a:t>
              </a:r>
              <a:r>
                <a:rPr lang="en-US" altLang="zh-CN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复位</a:t>
              </a:r>
            </a:p>
          </p:txBody>
        </p:sp>
        <p:sp>
          <p:nvSpPr>
            <p:cNvPr id="26" name="Text Box 35"/>
            <p:cNvSpPr txBox="1">
              <a:spLocks noChangeArrowheads="1"/>
            </p:cNvSpPr>
            <p:nvPr/>
          </p:nvSpPr>
          <p:spPr bwMode="auto">
            <a:xfrm>
              <a:off x="3552" y="1672"/>
              <a:ext cx="200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1      1        </a:t>
              </a:r>
              <a:r>
                <a:rPr lang="en-US" altLang="zh-CN" sz="2800" b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记忆</a:t>
              </a:r>
            </a:p>
          </p:txBody>
        </p:sp>
        <p:sp>
          <p:nvSpPr>
            <p:cNvPr id="27" name="Text Box 36"/>
            <p:cNvSpPr txBox="1">
              <a:spLocks noChangeArrowheads="1"/>
            </p:cNvSpPr>
            <p:nvPr/>
          </p:nvSpPr>
          <p:spPr bwMode="auto">
            <a:xfrm>
              <a:off x="3552" y="1936"/>
              <a:ext cx="203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0      0      </a:t>
              </a:r>
              <a:r>
                <a:rPr lang="zh-CN" altLang="en-US" sz="2400" b="1" i="0" dirty="0" smtClean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不定</a:t>
              </a:r>
              <a:r>
                <a:rPr lang="zh-CN" altLang="en-US" sz="2800" b="1" i="0" dirty="0" smtClean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800" b="1" i="0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禁止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714148" y="1591583"/>
            <a:ext cx="2847748" cy="2012951"/>
            <a:chOff x="616177" y="1090840"/>
            <a:chExt cx="2847748" cy="2012951"/>
          </a:xfrm>
        </p:grpSpPr>
        <p:sp>
          <p:nvSpPr>
            <p:cNvPr id="56" name="Text Box 70"/>
            <p:cNvSpPr txBox="1">
              <a:spLocks noChangeArrowheads="1"/>
            </p:cNvSpPr>
            <p:nvPr/>
          </p:nvSpPr>
          <p:spPr bwMode="auto">
            <a:xfrm>
              <a:off x="3059113" y="1233941"/>
              <a:ext cx="404576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57" name="Group 74"/>
            <p:cNvGrpSpPr>
              <a:grpSpLocks/>
            </p:cNvGrpSpPr>
            <p:nvPr/>
          </p:nvGrpSpPr>
          <p:grpSpPr bwMode="auto">
            <a:xfrm>
              <a:off x="3059113" y="2602366"/>
              <a:ext cx="404812" cy="463550"/>
              <a:chOff x="4014" y="2931"/>
              <a:chExt cx="255" cy="292"/>
            </a:xfrm>
          </p:grpSpPr>
          <p:sp>
            <p:nvSpPr>
              <p:cNvPr id="90" name="Text Box 71"/>
              <p:cNvSpPr txBox="1">
                <a:spLocks noChangeArrowheads="1"/>
              </p:cNvSpPr>
              <p:nvPr/>
            </p:nvSpPr>
            <p:spPr bwMode="auto">
              <a:xfrm>
                <a:off x="4014" y="2931"/>
                <a:ext cx="255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91" name="Line 73"/>
              <p:cNvSpPr>
                <a:spLocks noChangeShapeType="1"/>
              </p:cNvSpPr>
              <p:nvPr/>
            </p:nvSpPr>
            <p:spPr bwMode="auto">
              <a:xfrm>
                <a:off x="4059" y="2976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58" name="Group 138"/>
            <p:cNvGrpSpPr>
              <a:grpSpLocks/>
            </p:cNvGrpSpPr>
            <p:nvPr/>
          </p:nvGrpSpPr>
          <p:grpSpPr bwMode="auto">
            <a:xfrm>
              <a:off x="616177" y="1090839"/>
              <a:ext cx="519113" cy="2012950"/>
              <a:chOff x="251" y="792"/>
              <a:chExt cx="327" cy="1268"/>
            </a:xfrm>
          </p:grpSpPr>
          <p:grpSp>
            <p:nvGrpSpPr>
              <p:cNvPr id="84" name="Group 79"/>
              <p:cNvGrpSpPr>
                <a:grpSpLocks/>
              </p:cNvGrpSpPr>
              <p:nvPr/>
            </p:nvGrpSpPr>
            <p:grpSpPr bwMode="auto">
              <a:xfrm>
                <a:off x="271" y="792"/>
                <a:ext cx="305" cy="292"/>
                <a:chOff x="724" y="1155"/>
                <a:chExt cx="305" cy="292"/>
              </a:xfrm>
            </p:grpSpPr>
            <p:sp>
              <p:nvSpPr>
                <p:cNvPr id="88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724" y="1155"/>
                  <a:ext cx="305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S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9" name="Line 77"/>
                <p:cNvSpPr>
                  <a:spLocks noChangeShapeType="1"/>
                </p:cNvSpPr>
                <p:nvPr/>
              </p:nvSpPr>
              <p:spPr bwMode="auto">
                <a:xfrm>
                  <a:off x="784" y="1221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85" name="Group 80"/>
              <p:cNvGrpSpPr>
                <a:grpSpLocks/>
              </p:cNvGrpSpPr>
              <p:nvPr/>
            </p:nvGrpSpPr>
            <p:grpSpPr bwMode="auto">
              <a:xfrm>
                <a:off x="251" y="1768"/>
                <a:ext cx="327" cy="292"/>
                <a:chOff x="704" y="2131"/>
                <a:chExt cx="327" cy="292"/>
              </a:xfrm>
            </p:grpSpPr>
            <p:sp>
              <p:nvSpPr>
                <p:cNvPr id="86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704" y="2131"/>
                  <a:ext cx="327" cy="29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sz="2400" b="1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D</a:t>
                  </a:r>
                  <a:endPara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7" name="Line 78"/>
                <p:cNvSpPr>
                  <a:spLocks noChangeShapeType="1"/>
                </p:cNvSpPr>
                <p:nvPr/>
              </p:nvSpPr>
              <p:spPr bwMode="auto">
                <a:xfrm>
                  <a:off x="778" y="2170"/>
                  <a:ext cx="1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59" name="组合 235"/>
            <p:cNvGrpSpPr/>
            <p:nvPr/>
          </p:nvGrpSpPr>
          <p:grpSpPr>
            <a:xfrm>
              <a:off x="1104900" y="1160463"/>
              <a:ext cx="1919288" cy="1894945"/>
              <a:chOff x="2391833" y="1058863"/>
              <a:chExt cx="1919288" cy="1894945"/>
            </a:xfrm>
          </p:grpSpPr>
          <p:grpSp>
            <p:nvGrpSpPr>
              <p:cNvPr id="68" name="组合 51"/>
              <p:cNvGrpSpPr/>
              <p:nvPr/>
            </p:nvGrpSpPr>
            <p:grpSpPr>
              <a:xfrm>
                <a:off x="2410883" y="2246236"/>
                <a:ext cx="1900238" cy="707572"/>
                <a:chOff x="2410883" y="1975303"/>
                <a:chExt cx="1900238" cy="707572"/>
              </a:xfrm>
            </p:grpSpPr>
            <p:sp>
              <p:nvSpPr>
                <p:cNvPr id="77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77281" y="2273753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2</a:t>
                  </a:r>
                  <a:endParaRPr lang="en-US" altLang="zh-CN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78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15380" y="1975303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79" name="矩形 78"/>
                <p:cNvSpPr/>
                <p:nvPr/>
              </p:nvSpPr>
              <p:spPr>
                <a:xfrm>
                  <a:off x="3082396" y="1978025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椭圆 79"/>
                <p:cNvSpPr/>
                <p:nvPr/>
              </p:nvSpPr>
              <p:spPr>
                <a:xfrm>
                  <a:off x="3563409" y="2292350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81" name="直接连接符 80"/>
                <p:cNvCxnSpPr/>
                <p:nvPr/>
              </p:nvCxnSpPr>
              <p:spPr>
                <a:xfrm>
                  <a:off x="2410883" y="254000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/>
                <p:cNvCxnSpPr/>
                <p:nvPr/>
              </p:nvCxnSpPr>
              <p:spPr>
                <a:xfrm>
                  <a:off x="3630083" y="2330451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/>
                <p:cNvCxnSpPr/>
                <p:nvPr/>
              </p:nvCxnSpPr>
              <p:spPr>
                <a:xfrm>
                  <a:off x="2758546" y="2178051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组合 52"/>
              <p:cNvGrpSpPr/>
              <p:nvPr/>
            </p:nvGrpSpPr>
            <p:grpSpPr>
              <a:xfrm>
                <a:off x="2391833" y="1058863"/>
                <a:ext cx="1900238" cy="704850"/>
                <a:chOff x="2391833" y="1058863"/>
                <a:chExt cx="1900238" cy="704850"/>
              </a:xfrm>
            </p:grpSpPr>
            <p:sp>
              <p:nvSpPr>
                <p:cNvPr id="70" name="Rectangle 171"/>
                <p:cNvSpPr>
                  <a:spLocks noChangeArrowheads="1"/>
                </p:cNvSpPr>
                <p:nvPr/>
              </p:nvSpPr>
              <p:spPr bwMode="auto">
                <a:xfrm>
                  <a:off x="3062993" y="1349828"/>
                  <a:ext cx="4254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CN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G</a:t>
                  </a:r>
                  <a:r>
                    <a:rPr lang="en-US" altLang="zh-CN" i="0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71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05855" y="1065666"/>
                  <a:ext cx="412750" cy="371475"/>
                </a:xfrm>
                <a:prstGeom prst="rect">
                  <a:avLst/>
                </a:prstGeom>
                <a:noFill/>
                <a:ln w="15875">
                  <a:noFill/>
                  <a:miter lim="800000"/>
                  <a:headEnd/>
                  <a:tailEnd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zh-CN" altLang="en-US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>
                  <a:off x="3068108" y="1058863"/>
                  <a:ext cx="476250" cy="70485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3544359" y="1373187"/>
                  <a:ext cx="72000" cy="72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4" name="直接连接符 73"/>
                <p:cNvCxnSpPr/>
                <p:nvPr/>
              </p:nvCxnSpPr>
              <p:spPr>
                <a:xfrm>
                  <a:off x="2391833" y="123983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/>
                <p:nvPr/>
              </p:nvCxnSpPr>
              <p:spPr>
                <a:xfrm>
                  <a:off x="3611033" y="1411288"/>
                  <a:ext cx="68103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2744258" y="1597026"/>
                  <a:ext cx="32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0" name="组合 252"/>
            <p:cNvGrpSpPr/>
            <p:nvPr/>
          </p:nvGrpSpPr>
          <p:grpSpPr>
            <a:xfrm>
              <a:off x="1432896" y="1694126"/>
              <a:ext cx="1129682" cy="1000713"/>
              <a:chOff x="2719829" y="1592526"/>
              <a:chExt cx="1129682" cy="1000713"/>
            </a:xfrm>
          </p:grpSpPr>
          <p:cxnSp>
            <p:nvCxnSpPr>
              <p:cNvPr id="65" name="直接连接符 64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256"/>
            <p:cNvGrpSpPr/>
            <p:nvPr/>
          </p:nvGrpSpPr>
          <p:grpSpPr>
            <a:xfrm flipV="1">
              <a:off x="1478052" y="1524001"/>
              <a:ext cx="1129682" cy="1039370"/>
              <a:chOff x="2719829" y="1592526"/>
              <a:chExt cx="1129682" cy="1000713"/>
            </a:xfrm>
          </p:grpSpPr>
          <p:cxnSp>
            <p:nvCxnSpPr>
              <p:cNvPr id="62" name="直接连接符 61"/>
              <p:cNvCxnSpPr/>
              <p:nvPr/>
            </p:nvCxnSpPr>
            <p:spPr>
              <a:xfrm rot="5400000">
                <a:off x="2590800" y="1721555"/>
                <a:ext cx="259645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7"/>
          <p:cNvSpPr txBox="1">
            <a:spLocks noChangeArrowheads="1"/>
          </p:cNvSpPr>
          <p:nvPr/>
        </p:nvSpPr>
        <p:spPr bwMode="auto">
          <a:xfrm>
            <a:off x="1898650" y="649514"/>
            <a:ext cx="12096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符号</a:t>
            </a:r>
          </a:p>
        </p:txBody>
      </p:sp>
      <p:grpSp>
        <p:nvGrpSpPr>
          <p:cNvPr id="15" name="Group 50"/>
          <p:cNvGrpSpPr>
            <a:grpSpLocks/>
          </p:cNvGrpSpPr>
          <p:nvPr/>
        </p:nvGrpSpPr>
        <p:grpSpPr bwMode="auto">
          <a:xfrm>
            <a:off x="4813754" y="2347006"/>
            <a:ext cx="2784475" cy="519112"/>
            <a:chOff x="3194" y="2505"/>
            <a:chExt cx="1754" cy="327"/>
          </a:xfrm>
        </p:grpSpPr>
        <p:sp>
          <p:nvSpPr>
            <p:cNvPr id="16" name="Rectangle 51"/>
            <p:cNvSpPr>
              <a:spLocks noChangeArrowheads="1"/>
            </p:cNvSpPr>
            <p:nvPr/>
          </p:nvSpPr>
          <p:spPr bwMode="auto">
            <a:xfrm>
              <a:off x="3194" y="2505"/>
              <a:ext cx="175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r>
                <a:rPr lang="en-US" altLang="zh-CN" sz="2800" b="1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en-US" altLang="zh-CN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—  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置位端</a:t>
              </a:r>
            </a:p>
          </p:txBody>
        </p:sp>
        <p:sp>
          <p:nvSpPr>
            <p:cNvPr id="17" name="Line 52"/>
            <p:cNvSpPr>
              <a:spLocks noChangeShapeType="1"/>
            </p:cNvSpPr>
            <p:nvPr/>
          </p:nvSpPr>
          <p:spPr bwMode="auto">
            <a:xfrm>
              <a:off x="3264" y="2544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8" name="Group 53"/>
          <p:cNvGrpSpPr>
            <a:grpSpLocks/>
          </p:cNvGrpSpPr>
          <p:nvPr/>
        </p:nvGrpSpPr>
        <p:grpSpPr bwMode="auto">
          <a:xfrm>
            <a:off x="4813754" y="3067731"/>
            <a:ext cx="2708275" cy="519112"/>
            <a:chOff x="3194" y="2505"/>
            <a:chExt cx="1706" cy="327"/>
          </a:xfrm>
        </p:grpSpPr>
        <p:sp>
          <p:nvSpPr>
            <p:cNvPr id="19" name="Rectangle 54"/>
            <p:cNvSpPr>
              <a:spLocks noChangeArrowheads="1"/>
            </p:cNvSpPr>
            <p:nvPr/>
          </p:nvSpPr>
          <p:spPr bwMode="auto">
            <a:xfrm>
              <a:off x="3194" y="2505"/>
              <a:ext cx="170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</a:t>
              </a:r>
              <a:r>
                <a:rPr lang="en-US" altLang="zh-CN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—   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复位端</a:t>
              </a:r>
            </a:p>
          </p:txBody>
        </p:sp>
        <p:sp>
          <p:nvSpPr>
            <p:cNvPr id="20" name="Line 55"/>
            <p:cNvSpPr>
              <a:spLocks noChangeShapeType="1"/>
            </p:cNvSpPr>
            <p:nvPr/>
          </p:nvSpPr>
          <p:spPr bwMode="auto">
            <a:xfrm>
              <a:off x="3264" y="2544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092879" y="1544411"/>
            <a:ext cx="2940276" cy="1171575"/>
            <a:chOff x="1147308" y="2110468"/>
            <a:chExt cx="2940276" cy="1171575"/>
          </a:xfrm>
        </p:grpSpPr>
        <p:grpSp>
          <p:nvGrpSpPr>
            <p:cNvPr id="5" name="Group 40"/>
            <p:cNvGrpSpPr>
              <a:grpSpLocks/>
            </p:cNvGrpSpPr>
            <p:nvPr/>
          </p:nvGrpSpPr>
          <p:grpSpPr bwMode="auto">
            <a:xfrm>
              <a:off x="1147308" y="2110468"/>
              <a:ext cx="557649" cy="523875"/>
              <a:chOff x="3737" y="2832"/>
              <a:chExt cx="475" cy="330"/>
            </a:xfrm>
          </p:grpSpPr>
          <p:sp>
            <p:nvSpPr>
              <p:cNvPr id="13" name="Rectangle 41"/>
              <p:cNvSpPr>
                <a:spLocks noChangeArrowheads="1"/>
              </p:cNvSpPr>
              <p:nvPr/>
            </p:nvSpPr>
            <p:spPr bwMode="auto">
              <a:xfrm>
                <a:off x="3737" y="2832"/>
                <a:ext cx="475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r>
                  <a:rPr lang="en-US" altLang="zh-CN" sz="2800" b="1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</a:p>
            </p:txBody>
          </p:sp>
          <p:sp>
            <p:nvSpPr>
              <p:cNvPr id="14" name="Line 42"/>
              <p:cNvSpPr>
                <a:spLocks noChangeShapeType="1"/>
              </p:cNvSpPr>
              <p:nvPr/>
            </p:nvSpPr>
            <p:spPr bwMode="auto">
              <a:xfrm>
                <a:off x="3792" y="2880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6" name="Group 43"/>
            <p:cNvGrpSpPr>
              <a:grpSpLocks/>
            </p:cNvGrpSpPr>
            <p:nvPr/>
          </p:nvGrpSpPr>
          <p:grpSpPr bwMode="auto">
            <a:xfrm>
              <a:off x="1201738" y="2736396"/>
              <a:ext cx="598539" cy="523875"/>
              <a:chOff x="3739" y="2832"/>
              <a:chExt cx="510" cy="330"/>
            </a:xfrm>
          </p:grpSpPr>
          <p:sp>
            <p:nvSpPr>
              <p:cNvPr id="11" name="Rectangle 44"/>
              <p:cNvSpPr>
                <a:spLocks noChangeArrowheads="1"/>
              </p:cNvSpPr>
              <p:nvPr/>
            </p:nvSpPr>
            <p:spPr bwMode="auto">
              <a:xfrm>
                <a:off x="3739" y="2832"/>
                <a:ext cx="510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b="1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</a:p>
            </p:txBody>
          </p:sp>
          <p:sp>
            <p:nvSpPr>
              <p:cNvPr id="12" name="Line 45"/>
              <p:cNvSpPr>
                <a:spLocks noChangeShapeType="1"/>
              </p:cNvSpPr>
              <p:nvPr/>
            </p:nvSpPr>
            <p:spPr bwMode="auto">
              <a:xfrm>
                <a:off x="3792" y="2880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7" name="Group 63"/>
            <p:cNvGrpSpPr>
              <a:grpSpLocks/>
            </p:cNvGrpSpPr>
            <p:nvPr/>
          </p:nvGrpSpPr>
          <p:grpSpPr bwMode="auto">
            <a:xfrm>
              <a:off x="3643084" y="2758168"/>
              <a:ext cx="444500" cy="523875"/>
              <a:chOff x="2336" y="3249"/>
              <a:chExt cx="280" cy="330"/>
            </a:xfrm>
          </p:grpSpPr>
          <p:sp>
            <p:nvSpPr>
              <p:cNvPr id="9" name="Rectangle 47"/>
              <p:cNvSpPr>
                <a:spLocks noChangeArrowheads="1"/>
              </p:cNvSpPr>
              <p:nvPr/>
            </p:nvSpPr>
            <p:spPr bwMode="auto">
              <a:xfrm>
                <a:off x="2336" y="3249"/>
                <a:ext cx="280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10" name="Line 48"/>
              <p:cNvSpPr>
                <a:spLocks noChangeShapeType="1"/>
              </p:cNvSpPr>
              <p:nvPr/>
            </p:nvSpPr>
            <p:spPr bwMode="auto">
              <a:xfrm>
                <a:off x="2449" y="3308"/>
                <a:ext cx="10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8" name="Rectangle 49"/>
            <p:cNvSpPr>
              <a:spLocks noChangeArrowheads="1"/>
            </p:cNvSpPr>
            <p:nvPr/>
          </p:nvSpPr>
          <p:spPr bwMode="auto">
            <a:xfrm>
              <a:off x="3643084" y="2110468"/>
              <a:ext cx="444500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666876" y="2188029"/>
              <a:ext cx="1844924" cy="1034144"/>
              <a:chOff x="2962276" y="446314"/>
              <a:chExt cx="1844924" cy="1034144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3505201" y="446314"/>
                <a:ext cx="751113" cy="1034144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" name="直接连接符 22"/>
              <p:cNvCxnSpPr/>
              <p:nvPr/>
            </p:nvCxnSpPr>
            <p:spPr>
              <a:xfrm>
                <a:off x="4267200" y="740229"/>
                <a:ext cx="540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椭圆 23"/>
              <p:cNvSpPr/>
              <p:nvPr/>
            </p:nvSpPr>
            <p:spPr>
              <a:xfrm>
                <a:off x="3397703" y="1175658"/>
                <a:ext cx="108000" cy="10800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4250871" y="1175658"/>
                <a:ext cx="108000" cy="10800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3397702" y="685800"/>
                <a:ext cx="108000" cy="10800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7" name="直接连接符 26"/>
              <p:cNvCxnSpPr/>
              <p:nvPr/>
            </p:nvCxnSpPr>
            <p:spPr>
              <a:xfrm>
                <a:off x="4348843" y="1230086"/>
                <a:ext cx="432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2962276" y="740229"/>
                <a:ext cx="432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2973161" y="1230086"/>
                <a:ext cx="43200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873828" y="522514"/>
            <a:ext cx="1752600" cy="523220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波形图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197429" y="1600200"/>
            <a:ext cx="6564086" cy="11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反映触发器输入信号取值和状态之间对应关系的图形称为波形图</a:t>
            </a:r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4071257" y="2242457"/>
            <a:ext cx="1295400" cy="5334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build="p" autoUpdateAnimBg="0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74914" y="555171"/>
            <a:ext cx="7848600" cy="2971800"/>
            <a:chOff x="432" y="1344"/>
            <a:chExt cx="4944" cy="1872"/>
          </a:xfrm>
        </p:grpSpPr>
        <p:sp>
          <p:nvSpPr>
            <p:cNvPr id="3" name="Rectangle 6"/>
            <p:cNvSpPr>
              <a:spLocks noChangeArrowheads="1"/>
            </p:cNvSpPr>
            <p:nvPr/>
          </p:nvSpPr>
          <p:spPr bwMode="auto">
            <a:xfrm>
              <a:off x="432" y="1344"/>
              <a:ext cx="4944" cy="1872"/>
            </a:xfrm>
            <a:prstGeom prst="rect">
              <a:avLst/>
            </a:prstGeom>
            <a:solidFill>
              <a:srgbClr val="F8F8F8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" name="Freeform 7"/>
            <p:cNvSpPr>
              <a:spLocks/>
            </p:cNvSpPr>
            <p:nvPr/>
          </p:nvSpPr>
          <p:spPr bwMode="auto">
            <a:xfrm>
              <a:off x="816" y="1872"/>
              <a:ext cx="4464" cy="336"/>
            </a:xfrm>
            <a:custGeom>
              <a:avLst/>
              <a:gdLst>
                <a:gd name="T0" fmla="*/ 0 w 4464"/>
                <a:gd name="T1" fmla="*/ 336 h 336"/>
                <a:gd name="T2" fmla="*/ 384 w 4464"/>
                <a:gd name="T3" fmla="*/ 336 h 336"/>
                <a:gd name="T4" fmla="*/ 384 w 4464"/>
                <a:gd name="T5" fmla="*/ 0 h 336"/>
                <a:gd name="T6" fmla="*/ 960 w 4464"/>
                <a:gd name="T7" fmla="*/ 0 h 336"/>
                <a:gd name="T8" fmla="*/ 960 w 4464"/>
                <a:gd name="T9" fmla="*/ 336 h 336"/>
                <a:gd name="T10" fmla="*/ 1440 w 4464"/>
                <a:gd name="T11" fmla="*/ 336 h 336"/>
                <a:gd name="T12" fmla="*/ 1440 w 4464"/>
                <a:gd name="T13" fmla="*/ 0 h 336"/>
                <a:gd name="T14" fmla="*/ 2112 w 4464"/>
                <a:gd name="T15" fmla="*/ 0 h 336"/>
                <a:gd name="T16" fmla="*/ 2112 w 4464"/>
                <a:gd name="T17" fmla="*/ 336 h 336"/>
                <a:gd name="T18" fmla="*/ 3312 w 4464"/>
                <a:gd name="T19" fmla="*/ 336 h 336"/>
                <a:gd name="T20" fmla="*/ 3312 w 4464"/>
                <a:gd name="T21" fmla="*/ 0 h 336"/>
                <a:gd name="T22" fmla="*/ 3888 w 4464"/>
                <a:gd name="T23" fmla="*/ 0 h 336"/>
                <a:gd name="T24" fmla="*/ 3888 w 4464"/>
                <a:gd name="T25" fmla="*/ 336 h 336"/>
                <a:gd name="T26" fmla="*/ 4464 w 4464"/>
                <a:gd name="T27" fmla="*/ 336 h 3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464"/>
                <a:gd name="T43" fmla="*/ 0 h 336"/>
                <a:gd name="T44" fmla="*/ 4464 w 4464"/>
                <a:gd name="T45" fmla="*/ 336 h 3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464" h="336">
                  <a:moveTo>
                    <a:pt x="0" y="336"/>
                  </a:moveTo>
                  <a:lnTo>
                    <a:pt x="384" y="336"/>
                  </a:lnTo>
                  <a:lnTo>
                    <a:pt x="384" y="0"/>
                  </a:lnTo>
                  <a:lnTo>
                    <a:pt x="960" y="0"/>
                  </a:lnTo>
                  <a:lnTo>
                    <a:pt x="960" y="336"/>
                  </a:lnTo>
                  <a:lnTo>
                    <a:pt x="1440" y="336"/>
                  </a:lnTo>
                  <a:lnTo>
                    <a:pt x="1440" y="0"/>
                  </a:lnTo>
                  <a:lnTo>
                    <a:pt x="2112" y="0"/>
                  </a:lnTo>
                  <a:lnTo>
                    <a:pt x="2112" y="336"/>
                  </a:lnTo>
                  <a:lnTo>
                    <a:pt x="3312" y="336"/>
                  </a:lnTo>
                  <a:lnTo>
                    <a:pt x="3312" y="0"/>
                  </a:lnTo>
                  <a:lnTo>
                    <a:pt x="3888" y="0"/>
                  </a:lnTo>
                  <a:lnTo>
                    <a:pt x="3888" y="336"/>
                  </a:lnTo>
                  <a:lnTo>
                    <a:pt x="4464" y="336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" name="Freeform 8"/>
            <p:cNvSpPr>
              <a:spLocks/>
            </p:cNvSpPr>
            <p:nvPr/>
          </p:nvSpPr>
          <p:spPr bwMode="auto">
            <a:xfrm>
              <a:off x="816" y="2304"/>
              <a:ext cx="3312" cy="336"/>
            </a:xfrm>
            <a:custGeom>
              <a:avLst/>
              <a:gdLst>
                <a:gd name="T0" fmla="*/ 0 w 3312"/>
                <a:gd name="T1" fmla="*/ 0 h 336"/>
                <a:gd name="T2" fmla="*/ 1440 w 3312"/>
                <a:gd name="T3" fmla="*/ 0 h 336"/>
                <a:gd name="T4" fmla="*/ 1440 w 3312"/>
                <a:gd name="T5" fmla="*/ 336 h 336"/>
                <a:gd name="T6" fmla="*/ 2112 w 3312"/>
                <a:gd name="T7" fmla="*/ 336 h 336"/>
                <a:gd name="T8" fmla="*/ 2112 w 3312"/>
                <a:gd name="T9" fmla="*/ 0 h 336"/>
                <a:gd name="T10" fmla="*/ 3312 w 3312"/>
                <a:gd name="T11" fmla="*/ 0 h 3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12"/>
                <a:gd name="T19" fmla="*/ 0 h 336"/>
                <a:gd name="T20" fmla="*/ 3312 w 3312"/>
                <a:gd name="T21" fmla="*/ 336 h 3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12" h="336">
                  <a:moveTo>
                    <a:pt x="0" y="0"/>
                  </a:moveTo>
                  <a:lnTo>
                    <a:pt x="1440" y="0"/>
                  </a:lnTo>
                  <a:lnTo>
                    <a:pt x="1440" y="336"/>
                  </a:lnTo>
                  <a:lnTo>
                    <a:pt x="2112" y="336"/>
                  </a:lnTo>
                  <a:lnTo>
                    <a:pt x="2112" y="0"/>
                  </a:lnTo>
                  <a:lnTo>
                    <a:pt x="3312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" name="Rectangle 9" descr="宽上对角线"/>
            <p:cNvSpPr>
              <a:spLocks noChangeArrowheads="1"/>
            </p:cNvSpPr>
            <p:nvPr/>
          </p:nvSpPr>
          <p:spPr bwMode="auto">
            <a:xfrm>
              <a:off x="4128" y="2304"/>
              <a:ext cx="589" cy="336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>
              <a:off x="4704" y="2304"/>
              <a:ext cx="57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" name="Freeform 11"/>
            <p:cNvSpPr>
              <a:spLocks/>
            </p:cNvSpPr>
            <p:nvPr/>
          </p:nvSpPr>
          <p:spPr bwMode="auto">
            <a:xfrm>
              <a:off x="816" y="2736"/>
              <a:ext cx="3312" cy="336"/>
            </a:xfrm>
            <a:custGeom>
              <a:avLst/>
              <a:gdLst>
                <a:gd name="T0" fmla="*/ 0 w 3312"/>
                <a:gd name="T1" fmla="*/ 336 h 336"/>
                <a:gd name="T2" fmla="*/ 1440 w 3312"/>
                <a:gd name="T3" fmla="*/ 336 h 336"/>
                <a:gd name="T4" fmla="*/ 1440 w 3312"/>
                <a:gd name="T5" fmla="*/ 0 h 336"/>
                <a:gd name="T6" fmla="*/ 2112 w 3312"/>
                <a:gd name="T7" fmla="*/ 0 h 336"/>
                <a:gd name="T8" fmla="*/ 2112 w 3312"/>
                <a:gd name="T9" fmla="*/ 336 h 336"/>
                <a:gd name="T10" fmla="*/ 2832 w 3312"/>
                <a:gd name="T11" fmla="*/ 336 h 336"/>
                <a:gd name="T12" fmla="*/ 2832 w 3312"/>
                <a:gd name="T13" fmla="*/ 0 h 336"/>
                <a:gd name="T14" fmla="*/ 3312 w 3312"/>
                <a:gd name="T15" fmla="*/ 0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312"/>
                <a:gd name="T25" fmla="*/ 0 h 336"/>
                <a:gd name="T26" fmla="*/ 3312 w 3312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312" h="336">
                  <a:moveTo>
                    <a:pt x="0" y="336"/>
                  </a:moveTo>
                  <a:lnTo>
                    <a:pt x="1440" y="336"/>
                  </a:lnTo>
                  <a:lnTo>
                    <a:pt x="1440" y="0"/>
                  </a:lnTo>
                  <a:lnTo>
                    <a:pt x="2112" y="0"/>
                  </a:lnTo>
                  <a:lnTo>
                    <a:pt x="2112" y="336"/>
                  </a:lnTo>
                  <a:lnTo>
                    <a:pt x="2832" y="336"/>
                  </a:lnTo>
                  <a:lnTo>
                    <a:pt x="2832" y="0"/>
                  </a:lnTo>
                  <a:lnTo>
                    <a:pt x="3312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" name="Freeform 12"/>
            <p:cNvSpPr>
              <a:spLocks/>
            </p:cNvSpPr>
            <p:nvPr/>
          </p:nvSpPr>
          <p:spPr bwMode="auto">
            <a:xfrm>
              <a:off x="816" y="1440"/>
              <a:ext cx="4416" cy="336"/>
            </a:xfrm>
            <a:custGeom>
              <a:avLst/>
              <a:gdLst>
                <a:gd name="T0" fmla="*/ 0 w 4416"/>
                <a:gd name="T1" fmla="*/ 0 h 336"/>
                <a:gd name="T2" fmla="*/ 1440 w 4416"/>
                <a:gd name="T3" fmla="*/ 0 h 336"/>
                <a:gd name="T4" fmla="*/ 1440 w 4416"/>
                <a:gd name="T5" fmla="*/ 336 h 336"/>
                <a:gd name="T6" fmla="*/ 2112 w 4416"/>
                <a:gd name="T7" fmla="*/ 336 h 336"/>
                <a:gd name="T8" fmla="*/ 2112 w 4416"/>
                <a:gd name="T9" fmla="*/ 0 h 336"/>
                <a:gd name="T10" fmla="*/ 2832 w 4416"/>
                <a:gd name="T11" fmla="*/ 0 h 336"/>
                <a:gd name="T12" fmla="*/ 2832 w 4416"/>
                <a:gd name="T13" fmla="*/ 336 h 336"/>
                <a:gd name="T14" fmla="*/ 3312 w 4416"/>
                <a:gd name="T15" fmla="*/ 336 h 336"/>
                <a:gd name="T16" fmla="*/ 3312 w 4416"/>
                <a:gd name="T17" fmla="*/ 0 h 336"/>
                <a:gd name="T18" fmla="*/ 4416 w 4416"/>
                <a:gd name="T19" fmla="*/ 0 h 3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416"/>
                <a:gd name="T31" fmla="*/ 0 h 336"/>
                <a:gd name="T32" fmla="*/ 4416 w 4416"/>
                <a:gd name="T33" fmla="*/ 336 h 3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416" h="336">
                  <a:moveTo>
                    <a:pt x="0" y="0"/>
                  </a:moveTo>
                  <a:lnTo>
                    <a:pt x="1440" y="0"/>
                  </a:lnTo>
                  <a:lnTo>
                    <a:pt x="1440" y="336"/>
                  </a:lnTo>
                  <a:lnTo>
                    <a:pt x="2112" y="336"/>
                  </a:lnTo>
                  <a:lnTo>
                    <a:pt x="2112" y="0"/>
                  </a:lnTo>
                  <a:lnTo>
                    <a:pt x="2832" y="0"/>
                  </a:lnTo>
                  <a:lnTo>
                    <a:pt x="2832" y="336"/>
                  </a:lnTo>
                  <a:lnTo>
                    <a:pt x="3312" y="336"/>
                  </a:lnTo>
                  <a:lnTo>
                    <a:pt x="3312" y="0"/>
                  </a:lnTo>
                  <a:lnTo>
                    <a:pt x="4416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" name="Rectangle 13" descr="宽上对角线"/>
            <p:cNvSpPr>
              <a:spLocks noChangeArrowheads="1"/>
            </p:cNvSpPr>
            <p:nvPr/>
          </p:nvSpPr>
          <p:spPr bwMode="auto">
            <a:xfrm>
              <a:off x="4128" y="2736"/>
              <a:ext cx="589" cy="336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>
              <a:off x="4704" y="3072"/>
              <a:ext cx="57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>
              <a:grpSpLocks/>
            </p:cNvGrpSpPr>
            <p:nvPr/>
          </p:nvGrpSpPr>
          <p:grpSpPr bwMode="auto">
            <a:xfrm>
              <a:off x="480" y="1440"/>
              <a:ext cx="288" cy="288"/>
              <a:chOff x="720" y="3360"/>
              <a:chExt cx="288" cy="288"/>
            </a:xfrm>
          </p:grpSpPr>
          <p:sp>
            <p:nvSpPr>
              <p:cNvPr id="20" name="Text Box 16"/>
              <p:cNvSpPr txBox="1">
                <a:spLocks noChangeArrowheads="1"/>
              </p:cNvSpPr>
              <p:nvPr/>
            </p:nvSpPr>
            <p:spPr bwMode="auto">
              <a:xfrm>
                <a:off x="720" y="3360"/>
                <a:ext cx="28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</a:p>
            </p:txBody>
          </p:sp>
          <p:sp>
            <p:nvSpPr>
              <p:cNvPr id="21" name="Line 17"/>
              <p:cNvSpPr>
                <a:spLocks noChangeShapeType="1"/>
              </p:cNvSpPr>
              <p:nvPr/>
            </p:nvSpPr>
            <p:spPr bwMode="auto">
              <a:xfrm>
                <a:off x="826" y="3408"/>
                <a:ext cx="113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3" name="Group 18"/>
            <p:cNvGrpSpPr>
              <a:grpSpLocks/>
            </p:cNvGrpSpPr>
            <p:nvPr/>
          </p:nvGrpSpPr>
          <p:grpSpPr bwMode="auto">
            <a:xfrm>
              <a:off x="480" y="1920"/>
              <a:ext cx="288" cy="288"/>
              <a:chOff x="720" y="3360"/>
              <a:chExt cx="288" cy="288"/>
            </a:xfrm>
          </p:grpSpPr>
          <p:sp>
            <p:nvSpPr>
              <p:cNvPr id="18" name="Text Box 19"/>
              <p:cNvSpPr txBox="1">
                <a:spLocks noChangeArrowheads="1"/>
              </p:cNvSpPr>
              <p:nvPr/>
            </p:nvSpPr>
            <p:spPr bwMode="auto">
              <a:xfrm>
                <a:off x="720" y="3360"/>
                <a:ext cx="28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</a:p>
            </p:txBody>
          </p:sp>
          <p:sp>
            <p:nvSpPr>
              <p:cNvPr id="19" name="Line 20"/>
              <p:cNvSpPr>
                <a:spLocks noChangeShapeType="1"/>
              </p:cNvSpPr>
              <p:nvPr/>
            </p:nvSpPr>
            <p:spPr bwMode="auto">
              <a:xfrm>
                <a:off x="817" y="3408"/>
                <a:ext cx="113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4" name="Group 21"/>
            <p:cNvGrpSpPr>
              <a:grpSpLocks/>
            </p:cNvGrpSpPr>
            <p:nvPr/>
          </p:nvGrpSpPr>
          <p:grpSpPr bwMode="auto">
            <a:xfrm>
              <a:off x="480" y="2832"/>
              <a:ext cx="288" cy="288"/>
              <a:chOff x="720" y="3360"/>
              <a:chExt cx="288" cy="288"/>
            </a:xfrm>
          </p:grpSpPr>
          <p:sp>
            <p:nvSpPr>
              <p:cNvPr id="16" name="Text Box 22"/>
              <p:cNvSpPr txBox="1">
                <a:spLocks noChangeArrowheads="1"/>
              </p:cNvSpPr>
              <p:nvPr/>
            </p:nvSpPr>
            <p:spPr bwMode="auto">
              <a:xfrm>
                <a:off x="720" y="3360"/>
                <a:ext cx="28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17" name="Line 23"/>
              <p:cNvSpPr>
                <a:spLocks noChangeShapeType="1"/>
              </p:cNvSpPr>
              <p:nvPr/>
            </p:nvSpPr>
            <p:spPr bwMode="auto">
              <a:xfrm>
                <a:off x="823" y="3408"/>
                <a:ext cx="113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480" y="230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</p:grpSp>
      <p:sp>
        <p:nvSpPr>
          <p:cNvPr id="22" name="Line 25"/>
          <p:cNvSpPr>
            <a:spLocks noChangeShapeType="1"/>
          </p:cNvSpPr>
          <p:nvPr/>
        </p:nvSpPr>
        <p:spPr bwMode="auto">
          <a:xfrm>
            <a:off x="1894114" y="631371"/>
            <a:ext cx="1588" cy="3962400"/>
          </a:xfrm>
          <a:prstGeom prst="line">
            <a:avLst/>
          </a:prstGeom>
          <a:noFill/>
          <a:ln w="19050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3" name="Line 26"/>
          <p:cNvSpPr>
            <a:spLocks noChangeShapeType="1"/>
          </p:cNvSpPr>
          <p:nvPr/>
        </p:nvSpPr>
        <p:spPr bwMode="auto">
          <a:xfrm>
            <a:off x="2806927" y="631371"/>
            <a:ext cx="1587" cy="3962400"/>
          </a:xfrm>
          <a:prstGeom prst="line">
            <a:avLst/>
          </a:prstGeom>
          <a:noFill/>
          <a:ln w="19050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4" name="Line 27"/>
          <p:cNvSpPr>
            <a:spLocks noChangeShapeType="1"/>
          </p:cNvSpPr>
          <p:nvPr/>
        </p:nvSpPr>
        <p:spPr bwMode="auto">
          <a:xfrm>
            <a:off x="3568927" y="631371"/>
            <a:ext cx="1587" cy="3962400"/>
          </a:xfrm>
          <a:prstGeom prst="line">
            <a:avLst/>
          </a:prstGeom>
          <a:noFill/>
          <a:ln w="19050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5" name="Line 28"/>
          <p:cNvSpPr>
            <a:spLocks noChangeShapeType="1"/>
          </p:cNvSpPr>
          <p:nvPr/>
        </p:nvSpPr>
        <p:spPr bwMode="auto">
          <a:xfrm>
            <a:off x="4635727" y="631371"/>
            <a:ext cx="1587" cy="3962400"/>
          </a:xfrm>
          <a:prstGeom prst="line">
            <a:avLst/>
          </a:prstGeom>
          <a:noFill/>
          <a:ln w="19050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6" name="Line 29"/>
          <p:cNvSpPr>
            <a:spLocks noChangeShapeType="1"/>
          </p:cNvSpPr>
          <p:nvPr/>
        </p:nvSpPr>
        <p:spPr bwMode="auto">
          <a:xfrm>
            <a:off x="5778727" y="631371"/>
            <a:ext cx="1587" cy="3962400"/>
          </a:xfrm>
          <a:prstGeom prst="line">
            <a:avLst/>
          </a:prstGeom>
          <a:noFill/>
          <a:ln w="19050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7" name="Line 30"/>
          <p:cNvSpPr>
            <a:spLocks noChangeShapeType="1"/>
          </p:cNvSpPr>
          <p:nvPr/>
        </p:nvSpPr>
        <p:spPr bwMode="auto">
          <a:xfrm>
            <a:off x="7455127" y="631371"/>
            <a:ext cx="1587" cy="3962400"/>
          </a:xfrm>
          <a:prstGeom prst="line">
            <a:avLst/>
          </a:prstGeom>
          <a:noFill/>
          <a:ln w="19050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8" name="Line 31"/>
          <p:cNvSpPr>
            <a:spLocks noChangeShapeType="1"/>
          </p:cNvSpPr>
          <p:nvPr/>
        </p:nvSpPr>
        <p:spPr bwMode="auto">
          <a:xfrm>
            <a:off x="1284514" y="1926771"/>
            <a:ext cx="609600" cy="1588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9" name="Line 32"/>
          <p:cNvSpPr>
            <a:spLocks noChangeShapeType="1"/>
          </p:cNvSpPr>
          <p:nvPr/>
        </p:nvSpPr>
        <p:spPr bwMode="auto">
          <a:xfrm>
            <a:off x="2808514" y="1926771"/>
            <a:ext cx="76200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0" name="Line 33"/>
          <p:cNvSpPr>
            <a:spLocks noChangeShapeType="1"/>
          </p:cNvSpPr>
          <p:nvPr/>
        </p:nvSpPr>
        <p:spPr bwMode="auto">
          <a:xfrm>
            <a:off x="4637314" y="1926771"/>
            <a:ext cx="114300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1" name="Line 34"/>
          <p:cNvSpPr>
            <a:spLocks noChangeShapeType="1"/>
          </p:cNvSpPr>
          <p:nvPr/>
        </p:nvSpPr>
        <p:spPr bwMode="auto">
          <a:xfrm>
            <a:off x="7456714" y="1926771"/>
            <a:ext cx="91440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3570514" y="1240971"/>
            <a:ext cx="1066800" cy="15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3" name="Text Box 36"/>
          <p:cNvSpPr txBox="1">
            <a:spLocks noChangeArrowheads="1"/>
          </p:cNvSpPr>
          <p:nvPr/>
        </p:nvSpPr>
        <p:spPr bwMode="auto">
          <a:xfrm>
            <a:off x="1132114" y="3831771"/>
            <a:ext cx="685800" cy="4667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</a:t>
            </a:r>
            <a:r>
              <a:rPr lang="en-US" altLang="zh-CN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740377" y="3831771"/>
            <a:ext cx="685800" cy="4667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</a:t>
            </a:r>
            <a:r>
              <a:rPr lang="en-US" altLang="zh-CN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2843439" y="3831771"/>
            <a:ext cx="685800" cy="4667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</a:t>
            </a:r>
            <a:r>
              <a:rPr lang="en-US" altLang="zh-CN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4865914" y="3831771"/>
            <a:ext cx="685800" cy="4667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</a:t>
            </a:r>
            <a:r>
              <a:rPr lang="en-US" altLang="zh-CN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37" name="Text Box 40"/>
          <p:cNvSpPr txBox="1">
            <a:spLocks noChangeArrowheads="1"/>
          </p:cNvSpPr>
          <p:nvPr/>
        </p:nvSpPr>
        <p:spPr bwMode="auto">
          <a:xfrm>
            <a:off x="7609114" y="3831771"/>
            <a:ext cx="685800" cy="4667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</a:t>
            </a:r>
            <a:r>
              <a:rPr lang="en-US" altLang="zh-CN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38" name="Text Box 41"/>
          <p:cNvSpPr txBox="1">
            <a:spLocks noChangeArrowheads="1"/>
          </p:cNvSpPr>
          <p:nvPr/>
        </p:nvSpPr>
        <p:spPr bwMode="auto">
          <a:xfrm>
            <a:off x="1911577" y="3831771"/>
            <a:ext cx="914400" cy="457200"/>
          </a:xfrm>
          <a:prstGeom prst="rect">
            <a:avLst/>
          </a:prstGeom>
          <a:solidFill>
            <a:srgbClr val="33CC3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保持</a:t>
            </a:r>
          </a:p>
        </p:txBody>
      </p:sp>
      <p:sp>
        <p:nvSpPr>
          <p:cNvPr id="39" name="Text Box 42"/>
          <p:cNvSpPr txBox="1">
            <a:spLocks noChangeArrowheads="1"/>
          </p:cNvSpPr>
          <p:nvPr/>
        </p:nvSpPr>
        <p:spPr bwMode="auto">
          <a:xfrm>
            <a:off x="5932714" y="3831771"/>
            <a:ext cx="1295400" cy="4572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不允许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 autoUpdateAnimBg="0"/>
      <p:bldP spid="34" grpId="0" animBg="1" autoUpdateAnimBg="0"/>
      <p:bldP spid="35" grpId="0" animBg="1" autoUpdateAnimBg="0"/>
      <p:bldP spid="36" grpId="0" animBg="1" autoUpdateAnimBg="0"/>
      <p:bldP spid="37" grpId="0" animBg="1" autoUpdateAnimBg="0"/>
      <p:bldP spid="38" grpId="0" animBg="1" autoUpdateAnimBg="0"/>
      <p:bldP spid="39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438400" y="381000"/>
            <a:ext cx="4114800" cy="523220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基本</a:t>
            </a: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RS</a:t>
            </a:r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触发器的特点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7772400" cy="2508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ts val="18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）触发器的次态不仅与输入信号状态有关，而且与触发器的现态有关。</a:t>
            </a:r>
          </a:p>
          <a:p>
            <a:pPr algn="just">
              <a:lnSpc>
                <a:spcPct val="130000"/>
              </a:lnSpc>
              <a:spcBef>
                <a:spcPts val="18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）电路具有两个稳定状态，在无外来触发信号作用时，电路将保持原状态不变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  <a:endParaRPr lang="zh-CN" altLang="en-US" sz="2800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438400" y="381000"/>
            <a:ext cx="4114800" cy="523220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基本</a:t>
            </a: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RS</a:t>
            </a:r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触发器的特点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7772400" cy="2508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ts val="1800"/>
              </a:spcBef>
            </a:pP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）在外加触发信号有效时，电路可以触发翻转，实现置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或置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</a:p>
          <a:p>
            <a:pPr algn="just">
              <a:lnSpc>
                <a:spcPct val="130000"/>
              </a:lnSpc>
              <a:spcBef>
                <a:spcPts val="18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4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）在稳定状态下两个输出端的状态和必须是互补关系，即有约束条件。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438400" y="381000"/>
            <a:ext cx="4114800" cy="523220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基本</a:t>
            </a: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RS</a:t>
            </a:r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触发器的特点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230086" y="1861458"/>
            <a:ext cx="7010400" cy="1717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ts val="18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在数字电路中，凡根据输入信号</a:t>
            </a:r>
            <a:r>
              <a:rPr lang="en-US" altLang="zh-CN" sz="28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S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情况的不同，具有置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、置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和保持功能的电路，都称为</a:t>
            </a:r>
            <a:r>
              <a:rPr lang="en-US" altLang="zh-CN" sz="28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RS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触发器。</a:t>
            </a:r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2290310" y="3045733"/>
            <a:ext cx="1780947" cy="5334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438400" y="130629"/>
            <a:ext cx="4114800" cy="523220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集成基本</a:t>
            </a: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RS</a:t>
            </a:r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152400" y="979715"/>
          <a:ext cx="8839200" cy="3663950"/>
        </p:xfrm>
        <a:graphic>
          <a:graphicData uri="http://schemas.openxmlformats.org/presentationml/2006/ole">
            <p:oleObj spid="_x0000_s78850" name="图片" r:id="rId3" imgW="4067280" imgH="1685880" progId="Word.Picture.8">
              <p:embed/>
            </p:oleObj>
          </a:graphicData>
        </a:graphic>
      </p:graphicFrame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4158343" y="2166259"/>
            <a:ext cx="2286000" cy="1066800"/>
          </a:xfrm>
          <a:prstGeom prst="wedgeRoundRectCallout">
            <a:avLst>
              <a:gd name="adj1" fmla="val 72599"/>
              <a:gd name="adj2" fmla="val 91792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EN</a:t>
            </a:r>
            <a:r>
              <a:rPr lang="zh-CN" altLang="en-US" sz="28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＝</a:t>
            </a:r>
            <a:r>
              <a:rPr lang="en-US" altLang="zh-CN" sz="28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时工作</a:t>
            </a:r>
          </a:p>
          <a:p>
            <a:pPr algn="ctr"/>
            <a:r>
              <a:rPr lang="en-US" altLang="zh-CN" sz="28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EN</a:t>
            </a:r>
            <a:r>
              <a:rPr lang="zh-CN" altLang="en-US" sz="28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＝</a:t>
            </a:r>
            <a:r>
              <a:rPr lang="en-US" altLang="zh-CN" sz="28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时禁止</a:t>
            </a: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276225" y="3587978"/>
            <a:ext cx="1622425" cy="1327150"/>
            <a:chOff x="174" y="2651"/>
            <a:chExt cx="1022" cy="836"/>
          </a:xfrm>
        </p:grpSpPr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509" y="2651"/>
              <a:ext cx="687" cy="528"/>
            </a:xfrm>
            <a:prstGeom prst="ellipse">
              <a:avLst/>
            </a:prstGeom>
            <a:noFill/>
            <a:ln w="38100">
              <a:solidFill>
                <a:srgbClr val="CC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 flipH="1">
              <a:off x="357" y="3002"/>
              <a:ext cx="170" cy="152"/>
            </a:xfrm>
            <a:prstGeom prst="line">
              <a:avLst/>
            </a:prstGeom>
            <a:noFill/>
            <a:ln w="38100">
              <a:solidFill>
                <a:srgbClr val="CC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74" y="3157"/>
              <a:ext cx="388" cy="330"/>
            </a:xfrm>
            <a:prstGeom prst="rect">
              <a:avLst/>
            </a:prstGeom>
            <a:noFill/>
            <a:ln w="38100">
              <a:solidFill>
                <a:srgbClr val="CC66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1S</a:t>
              </a: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272" y="3205"/>
              <a:ext cx="172" cy="0"/>
            </a:xfrm>
            <a:prstGeom prst="line">
              <a:avLst/>
            </a:prstGeom>
            <a:noFill/>
            <a:ln w="38100">
              <a:solidFill>
                <a:srgbClr val="CC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1266825" y="293915"/>
            <a:ext cx="2162175" cy="1447800"/>
            <a:chOff x="798" y="576"/>
            <a:chExt cx="1362" cy="912"/>
          </a:xfrm>
        </p:grpSpPr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1488" y="1008"/>
              <a:ext cx="672" cy="480"/>
            </a:xfrm>
            <a:prstGeom prst="ellipse">
              <a:avLst/>
            </a:prstGeom>
            <a:noFill/>
            <a:ln w="38100">
              <a:solidFill>
                <a:srgbClr val="CC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200" y="768"/>
              <a:ext cx="432" cy="288"/>
            </a:xfrm>
            <a:prstGeom prst="line">
              <a:avLst/>
            </a:prstGeom>
            <a:noFill/>
            <a:ln w="38100">
              <a:solidFill>
                <a:srgbClr val="CC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798" y="576"/>
              <a:ext cx="417" cy="330"/>
            </a:xfrm>
            <a:prstGeom prst="rect">
              <a:avLst/>
            </a:prstGeom>
            <a:noFill/>
            <a:ln w="38100">
              <a:solidFill>
                <a:srgbClr val="CC66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2S</a:t>
              </a: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912" y="609"/>
              <a:ext cx="192" cy="0"/>
            </a:xfrm>
            <a:prstGeom prst="line">
              <a:avLst/>
            </a:prstGeom>
            <a:noFill/>
            <a:ln w="38100">
              <a:solidFill>
                <a:srgbClr val="CC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4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413071" y="277037"/>
            <a:ext cx="6250757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、同步</a:t>
            </a: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RS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触发器和</a:t>
            </a: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锁存器</a:t>
            </a:r>
          </a:p>
        </p:txBody>
      </p:sp>
      <p:grpSp>
        <p:nvGrpSpPr>
          <p:cNvPr id="98" name="组合 97"/>
          <p:cNvGrpSpPr/>
          <p:nvPr/>
        </p:nvGrpSpPr>
        <p:grpSpPr>
          <a:xfrm>
            <a:off x="754204" y="1733444"/>
            <a:ext cx="4248150" cy="2360613"/>
            <a:chOff x="4560660" y="1690914"/>
            <a:chExt cx="4248150" cy="2360613"/>
          </a:xfrm>
        </p:grpSpPr>
        <p:sp>
          <p:nvSpPr>
            <p:cNvPr id="31" name="Text Box 70"/>
            <p:cNvSpPr txBox="1">
              <a:spLocks noChangeArrowheads="1"/>
            </p:cNvSpPr>
            <p:nvPr/>
          </p:nvSpPr>
          <p:spPr bwMode="auto">
            <a:xfrm>
              <a:off x="8375423" y="2048329"/>
              <a:ext cx="404576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32" name="Group 74"/>
            <p:cNvGrpSpPr>
              <a:grpSpLocks/>
            </p:cNvGrpSpPr>
            <p:nvPr/>
          </p:nvGrpSpPr>
          <p:grpSpPr bwMode="auto">
            <a:xfrm>
              <a:off x="8403998" y="3250065"/>
              <a:ext cx="404812" cy="463550"/>
              <a:chOff x="4014" y="2931"/>
              <a:chExt cx="255" cy="292"/>
            </a:xfrm>
          </p:grpSpPr>
          <p:sp>
            <p:nvSpPr>
              <p:cNvPr id="65" name="Text Box 71"/>
              <p:cNvSpPr txBox="1">
                <a:spLocks noChangeArrowheads="1"/>
              </p:cNvSpPr>
              <p:nvPr/>
            </p:nvSpPr>
            <p:spPr bwMode="auto">
              <a:xfrm>
                <a:off x="4014" y="2931"/>
                <a:ext cx="255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66" name="Line 73"/>
              <p:cNvSpPr>
                <a:spLocks noChangeShapeType="1"/>
              </p:cNvSpPr>
              <p:nvPr/>
            </p:nvSpPr>
            <p:spPr bwMode="auto">
              <a:xfrm>
                <a:off x="4089" y="2976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59" name="Group 79"/>
            <p:cNvGrpSpPr>
              <a:grpSpLocks/>
            </p:cNvGrpSpPr>
            <p:nvPr/>
          </p:nvGrpSpPr>
          <p:grpSpPr bwMode="auto">
            <a:xfrm>
              <a:off x="6273799" y="1690914"/>
              <a:ext cx="484188" cy="463550"/>
              <a:chOff x="724" y="1155"/>
              <a:chExt cx="305" cy="292"/>
            </a:xfrm>
          </p:grpSpPr>
          <p:sp>
            <p:nvSpPr>
              <p:cNvPr id="63" name="Text Box 75"/>
              <p:cNvSpPr txBox="1">
                <a:spLocks noChangeArrowheads="1"/>
              </p:cNvSpPr>
              <p:nvPr/>
            </p:nvSpPr>
            <p:spPr bwMode="auto">
              <a:xfrm>
                <a:off x="724" y="1155"/>
                <a:ext cx="305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r>
                  <a:rPr lang="en-US" altLang="zh-CN" sz="2400" b="1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endPara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4" name="Line 77"/>
              <p:cNvSpPr>
                <a:spLocks noChangeShapeType="1"/>
              </p:cNvSpPr>
              <p:nvPr/>
            </p:nvSpPr>
            <p:spPr bwMode="auto">
              <a:xfrm>
                <a:off x="784" y="1221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60" name="Group 80"/>
            <p:cNvGrpSpPr>
              <a:grpSpLocks/>
            </p:cNvGrpSpPr>
            <p:nvPr/>
          </p:nvGrpSpPr>
          <p:grpSpPr bwMode="auto">
            <a:xfrm>
              <a:off x="6361112" y="3587977"/>
              <a:ext cx="519113" cy="463550"/>
              <a:chOff x="704" y="2131"/>
              <a:chExt cx="327" cy="292"/>
            </a:xfrm>
          </p:grpSpPr>
          <p:sp>
            <p:nvSpPr>
              <p:cNvPr id="61" name="Text Box 76"/>
              <p:cNvSpPr txBox="1">
                <a:spLocks noChangeArrowheads="1"/>
              </p:cNvSpPr>
              <p:nvPr/>
            </p:nvSpPr>
            <p:spPr bwMode="auto">
              <a:xfrm>
                <a:off x="704" y="2131"/>
                <a:ext cx="327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endPara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2" name="Line 78"/>
              <p:cNvSpPr>
                <a:spLocks noChangeShapeType="1"/>
              </p:cNvSpPr>
              <p:nvPr/>
            </p:nvSpPr>
            <p:spPr bwMode="auto">
              <a:xfrm>
                <a:off x="778" y="2170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52" name="Rectangle 171"/>
            <p:cNvSpPr>
              <a:spLocks noChangeArrowheads="1"/>
            </p:cNvSpPr>
            <p:nvPr/>
          </p:nvSpPr>
          <p:spPr bwMode="auto">
            <a:xfrm>
              <a:off x="7187621" y="3474961"/>
              <a:ext cx="425414" cy="371513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G</a:t>
              </a:r>
              <a:r>
                <a:rPr lang="en-US" altLang="zh-CN" i="0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3" name="Rectangle 169"/>
            <p:cNvSpPr>
              <a:spLocks noChangeArrowheads="1"/>
            </p:cNvSpPr>
            <p:nvPr/>
          </p:nvSpPr>
          <p:spPr bwMode="auto">
            <a:xfrm>
              <a:off x="7249532" y="3109836"/>
              <a:ext cx="412750" cy="371475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＆</a:t>
              </a:r>
            </a:p>
          </p:txBody>
        </p:sp>
        <p:sp>
          <p:nvSpPr>
            <p:cNvPr id="54" name="矩形 53"/>
            <p:cNvSpPr/>
            <p:nvPr/>
          </p:nvSpPr>
          <p:spPr>
            <a:xfrm>
              <a:off x="7216548" y="3112558"/>
              <a:ext cx="476250" cy="70485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7697561" y="3426883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>
            <a:xfrm>
              <a:off x="6240236" y="3469747"/>
              <a:ext cx="972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7764235" y="3464984"/>
              <a:ext cx="54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6902223" y="3217334"/>
              <a:ext cx="324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171"/>
            <p:cNvSpPr>
              <a:spLocks noChangeArrowheads="1"/>
            </p:cNvSpPr>
            <p:nvPr/>
          </p:nvSpPr>
          <p:spPr bwMode="auto">
            <a:xfrm>
              <a:off x="7168570" y="2275341"/>
              <a:ext cx="425414" cy="371513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G</a:t>
              </a:r>
              <a:r>
                <a:rPr lang="en-US" altLang="zh-CN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6" name="Rectangle 169"/>
            <p:cNvSpPr>
              <a:spLocks noChangeArrowheads="1"/>
            </p:cNvSpPr>
            <p:nvPr/>
          </p:nvSpPr>
          <p:spPr bwMode="auto">
            <a:xfrm>
              <a:off x="7240007" y="1929266"/>
              <a:ext cx="412750" cy="371475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＆</a:t>
              </a:r>
            </a:p>
          </p:txBody>
        </p:sp>
        <p:sp>
          <p:nvSpPr>
            <p:cNvPr id="47" name="矩形 46"/>
            <p:cNvSpPr/>
            <p:nvPr/>
          </p:nvSpPr>
          <p:spPr>
            <a:xfrm>
              <a:off x="7202260" y="1922463"/>
              <a:ext cx="476250" cy="70485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椭圆 47"/>
            <p:cNvSpPr/>
            <p:nvPr/>
          </p:nvSpPr>
          <p:spPr>
            <a:xfrm>
              <a:off x="7678511" y="2236787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>
            <a:xfrm>
              <a:off x="6821260" y="2003425"/>
              <a:ext cx="396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7745185" y="2274888"/>
              <a:ext cx="54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868885" y="2532064"/>
              <a:ext cx="324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252"/>
            <p:cNvGrpSpPr/>
            <p:nvPr/>
          </p:nvGrpSpPr>
          <p:grpSpPr>
            <a:xfrm>
              <a:off x="6866064" y="2532327"/>
              <a:ext cx="1117599" cy="924512"/>
              <a:chOff x="2731912" y="1668727"/>
              <a:chExt cx="1117599" cy="924512"/>
            </a:xfrm>
          </p:grpSpPr>
          <p:cxnSp>
            <p:nvCxnSpPr>
              <p:cNvPr id="40" name="直接连接符 39"/>
              <p:cNvCxnSpPr/>
              <p:nvPr/>
            </p:nvCxnSpPr>
            <p:spPr>
              <a:xfrm rot="5400000">
                <a:off x="2644909" y="1757933"/>
                <a:ext cx="180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组合 256"/>
            <p:cNvGrpSpPr/>
            <p:nvPr/>
          </p:nvGrpSpPr>
          <p:grpSpPr>
            <a:xfrm flipV="1">
              <a:off x="6908663" y="2286003"/>
              <a:ext cx="1087575" cy="939355"/>
              <a:chOff x="2729355" y="1688820"/>
              <a:chExt cx="1120156" cy="904419"/>
            </a:xfrm>
          </p:grpSpPr>
          <p:cxnSp>
            <p:nvCxnSpPr>
              <p:cNvPr id="37" name="直接连接符 36"/>
              <p:cNvCxnSpPr/>
              <p:nvPr/>
            </p:nvCxnSpPr>
            <p:spPr>
              <a:xfrm rot="5400000">
                <a:off x="2652161" y="1766014"/>
                <a:ext cx="155975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2731912" y="1840088"/>
                <a:ext cx="1117599" cy="248356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5400000">
                <a:off x="3586223" y="2340445"/>
                <a:ext cx="504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7" name="直接连接符 66"/>
            <p:cNvCxnSpPr/>
            <p:nvPr/>
          </p:nvCxnSpPr>
          <p:spPr>
            <a:xfrm>
              <a:off x="6240235" y="2250546"/>
              <a:ext cx="972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6892698" y="3722689"/>
              <a:ext cx="324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/>
            <p:cNvSpPr/>
            <p:nvPr/>
          </p:nvSpPr>
          <p:spPr>
            <a:xfrm>
              <a:off x="6759349" y="1965324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6811736" y="3684586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5683023" y="1903413"/>
              <a:ext cx="476250" cy="70485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6159274" y="2217737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5683023" y="3117850"/>
              <a:ext cx="476250" cy="70485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6159274" y="3432174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Rectangle 169"/>
            <p:cNvSpPr>
              <a:spLocks noChangeArrowheads="1"/>
            </p:cNvSpPr>
            <p:nvPr/>
          </p:nvSpPr>
          <p:spPr bwMode="auto">
            <a:xfrm>
              <a:off x="5716007" y="1885874"/>
              <a:ext cx="412750" cy="371475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＆</a:t>
              </a:r>
            </a:p>
          </p:txBody>
        </p:sp>
        <p:sp>
          <p:nvSpPr>
            <p:cNvPr id="80" name="Rectangle 169"/>
            <p:cNvSpPr>
              <a:spLocks noChangeArrowheads="1"/>
            </p:cNvSpPr>
            <p:nvPr/>
          </p:nvSpPr>
          <p:spPr bwMode="auto">
            <a:xfrm>
              <a:off x="5706482" y="3114599"/>
              <a:ext cx="412750" cy="371475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＆</a:t>
              </a:r>
            </a:p>
          </p:txBody>
        </p:sp>
        <p:sp>
          <p:nvSpPr>
            <p:cNvPr id="81" name="Rectangle 171"/>
            <p:cNvSpPr>
              <a:spLocks noChangeArrowheads="1"/>
            </p:cNvSpPr>
            <p:nvPr/>
          </p:nvSpPr>
          <p:spPr bwMode="auto">
            <a:xfrm>
              <a:off x="5658858" y="2246766"/>
              <a:ext cx="425414" cy="371513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G</a:t>
              </a:r>
              <a:r>
                <a:rPr lang="en-US" altLang="zh-CN" i="0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</a:t>
              </a:r>
              <a:endParaRPr lang="en-US" altLang="zh-CN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2" name="Rectangle 171"/>
            <p:cNvSpPr>
              <a:spLocks noChangeArrowheads="1"/>
            </p:cNvSpPr>
            <p:nvPr/>
          </p:nvSpPr>
          <p:spPr bwMode="auto">
            <a:xfrm>
              <a:off x="5658858" y="3475491"/>
              <a:ext cx="425414" cy="371513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G</a:t>
              </a:r>
              <a:r>
                <a:rPr lang="en-US" altLang="zh-CN" i="0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4</a:t>
              </a:r>
              <a:endParaRPr lang="en-US" altLang="zh-CN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cxnSp>
          <p:nvCxnSpPr>
            <p:cNvPr id="83" name="直接连接符 82"/>
            <p:cNvCxnSpPr/>
            <p:nvPr/>
          </p:nvCxnSpPr>
          <p:spPr>
            <a:xfrm>
              <a:off x="5144861" y="2070100"/>
              <a:ext cx="54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5144860" y="3656012"/>
              <a:ext cx="54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5425848" y="3279775"/>
              <a:ext cx="252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>
              <a:off x="5430611" y="2427287"/>
              <a:ext cx="252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rot="16200000" flipV="1">
              <a:off x="5008520" y="2849298"/>
              <a:ext cx="84508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5173436" y="2865437"/>
              <a:ext cx="252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椭圆 89"/>
            <p:cNvSpPr/>
            <p:nvPr/>
          </p:nvSpPr>
          <p:spPr>
            <a:xfrm>
              <a:off x="5082948" y="3622675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椭圆 90"/>
            <p:cNvSpPr/>
            <p:nvPr/>
          </p:nvSpPr>
          <p:spPr>
            <a:xfrm>
              <a:off x="5087711" y="2032000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椭圆 91"/>
            <p:cNvSpPr/>
            <p:nvPr/>
          </p:nvSpPr>
          <p:spPr>
            <a:xfrm>
              <a:off x="5101999" y="2827338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3" name="Text Box 70"/>
            <p:cNvSpPr txBox="1">
              <a:spLocks noChangeArrowheads="1"/>
            </p:cNvSpPr>
            <p:nvPr/>
          </p:nvSpPr>
          <p:spPr bwMode="auto">
            <a:xfrm>
              <a:off x="4694011" y="1881641"/>
              <a:ext cx="335646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4" name="Text Box 70"/>
            <p:cNvSpPr txBox="1">
              <a:spLocks noChangeArrowheads="1"/>
            </p:cNvSpPr>
            <p:nvPr/>
          </p:nvSpPr>
          <p:spPr bwMode="auto">
            <a:xfrm>
              <a:off x="4679723" y="3391353"/>
              <a:ext cx="369310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endPara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5" name="Text Box 70"/>
            <p:cNvSpPr txBox="1">
              <a:spLocks noChangeArrowheads="1"/>
            </p:cNvSpPr>
            <p:nvPr/>
          </p:nvSpPr>
          <p:spPr bwMode="auto">
            <a:xfrm>
              <a:off x="4560660" y="2600778"/>
              <a:ext cx="574494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CP</a:t>
              </a:r>
              <a:endPara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椭圆 95"/>
            <p:cNvSpPr/>
            <p:nvPr/>
          </p:nvSpPr>
          <p:spPr>
            <a:xfrm>
              <a:off x="8273823" y="2236787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7" name="椭圆 96"/>
            <p:cNvSpPr/>
            <p:nvPr/>
          </p:nvSpPr>
          <p:spPr>
            <a:xfrm>
              <a:off x="8307161" y="3427412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99" name="Group 39"/>
          <p:cNvGrpSpPr>
            <a:grpSpLocks/>
          </p:cNvGrpSpPr>
          <p:nvPr/>
        </p:nvGrpSpPr>
        <p:grpSpPr bwMode="auto">
          <a:xfrm>
            <a:off x="6011863" y="2565400"/>
            <a:ext cx="2743200" cy="1997075"/>
            <a:chOff x="3792" y="2438"/>
            <a:chExt cx="1728" cy="1258"/>
          </a:xfrm>
        </p:grpSpPr>
        <p:grpSp>
          <p:nvGrpSpPr>
            <p:cNvPr id="100" name="Group 40"/>
            <p:cNvGrpSpPr>
              <a:grpSpLocks/>
            </p:cNvGrpSpPr>
            <p:nvPr/>
          </p:nvGrpSpPr>
          <p:grpSpPr bwMode="auto">
            <a:xfrm>
              <a:off x="3792" y="2448"/>
              <a:ext cx="1584" cy="1248"/>
              <a:chOff x="3792" y="2448"/>
              <a:chExt cx="1584" cy="1248"/>
            </a:xfrm>
          </p:grpSpPr>
          <p:sp>
            <p:nvSpPr>
              <p:cNvPr id="104" name="Rectangle 41"/>
              <p:cNvSpPr>
                <a:spLocks noChangeArrowheads="1"/>
              </p:cNvSpPr>
              <p:nvPr/>
            </p:nvSpPr>
            <p:spPr bwMode="auto">
              <a:xfrm>
                <a:off x="3792" y="2448"/>
                <a:ext cx="1584" cy="1248"/>
              </a:xfrm>
              <a:prstGeom prst="rect">
                <a:avLst/>
              </a:prstGeom>
              <a:gradFill rotWithShape="0">
                <a:gsLst>
                  <a:gs pos="0">
                    <a:srgbClr val="CCFFCC"/>
                  </a:gs>
                  <a:gs pos="100000">
                    <a:srgbClr val="7FBCE5"/>
                  </a:gs>
                </a:gsLst>
                <a:lin ang="2700000" scaled="1"/>
              </a:gra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5" name="Line 42"/>
              <p:cNvSpPr>
                <a:spLocks noChangeShapeType="1"/>
              </p:cNvSpPr>
              <p:nvPr/>
            </p:nvSpPr>
            <p:spPr bwMode="auto">
              <a:xfrm>
                <a:off x="3792" y="2640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6" name="Line 43"/>
              <p:cNvSpPr>
                <a:spLocks noChangeShapeType="1"/>
              </p:cNvSpPr>
              <p:nvPr/>
            </p:nvSpPr>
            <p:spPr bwMode="auto">
              <a:xfrm>
                <a:off x="3792" y="2832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7" name="Line 44"/>
              <p:cNvSpPr>
                <a:spLocks noChangeShapeType="1"/>
              </p:cNvSpPr>
              <p:nvPr/>
            </p:nvSpPr>
            <p:spPr bwMode="auto">
              <a:xfrm>
                <a:off x="4320" y="2448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8" name="Line 45"/>
              <p:cNvSpPr>
                <a:spLocks noChangeShapeType="1"/>
              </p:cNvSpPr>
              <p:nvPr/>
            </p:nvSpPr>
            <p:spPr bwMode="auto">
              <a:xfrm>
                <a:off x="4853" y="2448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01" name="Group 46"/>
            <p:cNvGrpSpPr>
              <a:grpSpLocks/>
            </p:cNvGrpSpPr>
            <p:nvPr/>
          </p:nvGrpSpPr>
          <p:grpSpPr bwMode="auto">
            <a:xfrm>
              <a:off x="3888" y="2438"/>
              <a:ext cx="1632" cy="414"/>
              <a:chOff x="3888" y="2438"/>
              <a:chExt cx="1632" cy="414"/>
            </a:xfrm>
          </p:grpSpPr>
          <p:sp>
            <p:nvSpPr>
              <p:cNvPr id="102" name="Text Box 47"/>
              <p:cNvSpPr txBox="1">
                <a:spLocks noChangeArrowheads="1"/>
              </p:cNvSpPr>
              <p:nvPr/>
            </p:nvSpPr>
            <p:spPr bwMode="auto">
              <a:xfrm>
                <a:off x="3888" y="2438"/>
                <a:ext cx="1632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    </a:t>
                </a:r>
                <a:r>
                  <a:rPr lang="en-US" altLang="zh-CN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</a:t>
                </a:r>
                <a:r>
                  <a:rPr lang="en-US" altLang="zh-CN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    R </a:t>
                </a:r>
                <a:r>
                  <a:rPr lang="en-US" altLang="zh-CN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   Q </a:t>
                </a:r>
                <a:r>
                  <a:rPr lang="en-US" altLang="zh-CN" b="1" baseline="30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n+1</a:t>
                </a:r>
                <a:endParaRPr lang="en-US" altLang="zh-CN" b="1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3" name="Text Box 48"/>
              <p:cNvSpPr txBox="1">
                <a:spLocks noChangeArrowheads="1"/>
              </p:cNvSpPr>
              <p:nvPr/>
            </p:nvSpPr>
            <p:spPr bwMode="auto">
              <a:xfrm>
                <a:off x="3888" y="2619"/>
                <a:ext cx="1632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</a:t>
                </a:r>
                <a:r>
                  <a:rPr lang="en-US" altLang="zh-CN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 </a:t>
                </a:r>
                <a:r>
                  <a:rPr lang="en-US" altLang="zh-CN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</a:t>
                </a:r>
                <a:r>
                  <a:rPr lang="en-US" altLang="zh-CN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×  ×  </a:t>
                </a:r>
                <a:r>
                  <a:rPr lang="en-US" altLang="zh-CN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</a:t>
                </a:r>
                <a:r>
                  <a:rPr lang="en-US" altLang="zh-CN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b="1" baseline="30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n</a:t>
                </a:r>
                <a:endParaRPr lang="en-US" altLang="zh-CN" b="1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136" name="Group 29"/>
          <p:cNvGrpSpPr>
            <a:grpSpLocks/>
          </p:cNvGrpSpPr>
          <p:nvPr/>
        </p:nvGrpSpPr>
        <p:grpSpPr bwMode="auto">
          <a:xfrm>
            <a:off x="2455050" y="2226304"/>
            <a:ext cx="360363" cy="1312863"/>
            <a:chOff x="1610" y="1389"/>
            <a:chExt cx="227" cy="827"/>
          </a:xfrm>
        </p:grpSpPr>
        <p:sp>
          <p:nvSpPr>
            <p:cNvPr id="137" name="Text Box 30"/>
            <p:cNvSpPr txBox="1">
              <a:spLocks noChangeArrowheads="1"/>
            </p:cNvSpPr>
            <p:nvPr/>
          </p:nvSpPr>
          <p:spPr bwMode="auto">
            <a:xfrm>
              <a:off x="1610" y="1389"/>
              <a:ext cx="227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38" name="Text Box 31"/>
            <p:cNvSpPr txBox="1">
              <a:spLocks noChangeArrowheads="1"/>
            </p:cNvSpPr>
            <p:nvPr/>
          </p:nvSpPr>
          <p:spPr bwMode="auto">
            <a:xfrm>
              <a:off x="1610" y="1885"/>
              <a:ext cx="227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39" name="Group 32"/>
          <p:cNvGrpSpPr>
            <a:grpSpLocks/>
          </p:cNvGrpSpPr>
          <p:nvPr/>
        </p:nvGrpSpPr>
        <p:grpSpPr bwMode="auto">
          <a:xfrm>
            <a:off x="2455050" y="2283453"/>
            <a:ext cx="360363" cy="1252537"/>
            <a:chOff x="1610" y="1434"/>
            <a:chExt cx="227" cy="789"/>
          </a:xfrm>
        </p:grpSpPr>
        <p:sp>
          <p:nvSpPr>
            <p:cNvPr id="140" name="Text Box 33"/>
            <p:cNvSpPr txBox="1">
              <a:spLocks noChangeArrowheads="1"/>
            </p:cNvSpPr>
            <p:nvPr/>
          </p:nvSpPr>
          <p:spPr bwMode="auto">
            <a:xfrm>
              <a:off x="1610" y="1434"/>
              <a:ext cx="227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41" name="Text Box 34"/>
            <p:cNvSpPr txBox="1">
              <a:spLocks noChangeArrowheads="1"/>
            </p:cNvSpPr>
            <p:nvPr/>
          </p:nvSpPr>
          <p:spPr bwMode="auto">
            <a:xfrm>
              <a:off x="1610" y="1892"/>
              <a:ext cx="227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42" name="Group 36"/>
          <p:cNvGrpSpPr>
            <a:grpSpLocks/>
          </p:cNvGrpSpPr>
          <p:nvPr/>
        </p:nvGrpSpPr>
        <p:grpSpPr bwMode="auto">
          <a:xfrm>
            <a:off x="2455050" y="2226304"/>
            <a:ext cx="360363" cy="1303338"/>
            <a:chOff x="1610" y="1389"/>
            <a:chExt cx="227" cy="821"/>
          </a:xfrm>
        </p:grpSpPr>
        <p:sp>
          <p:nvSpPr>
            <p:cNvPr id="143" name="Text Box 37"/>
            <p:cNvSpPr txBox="1">
              <a:spLocks noChangeArrowheads="1"/>
            </p:cNvSpPr>
            <p:nvPr/>
          </p:nvSpPr>
          <p:spPr bwMode="auto">
            <a:xfrm>
              <a:off x="1610" y="1389"/>
              <a:ext cx="227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44" name="Text Box 38"/>
            <p:cNvSpPr txBox="1">
              <a:spLocks noChangeArrowheads="1"/>
            </p:cNvSpPr>
            <p:nvPr/>
          </p:nvSpPr>
          <p:spPr bwMode="auto">
            <a:xfrm>
              <a:off x="1610" y="1879"/>
              <a:ext cx="227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145" name="Text Box 49"/>
          <p:cNvSpPr txBox="1">
            <a:spLocks noChangeArrowheads="1"/>
          </p:cNvSpPr>
          <p:nvPr/>
        </p:nvSpPr>
        <p:spPr bwMode="auto">
          <a:xfrm>
            <a:off x="842815" y="918867"/>
            <a:ext cx="3527166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 dirty="0" smtClean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1). </a:t>
            </a:r>
            <a:r>
              <a:rPr lang="zh-CN" altLang="en-US" sz="2800" b="1" i="0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同步 </a:t>
            </a:r>
            <a:r>
              <a:rPr lang="en-US" altLang="zh-CN" sz="2800" b="1" i="0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RS </a:t>
            </a:r>
            <a:r>
              <a:rPr lang="zh-CN" altLang="en-US" sz="2800" b="1" i="0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</a:p>
        </p:txBody>
      </p:sp>
      <p:sp>
        <p:nvSpPr>
          <p:cNvPr id="147" name="Text Box 51"/>
          <p:cNvSpPr txBox="1">
            <a:spLocks noChangeArrowheads="1"/>
          </p:cNvSpPr>
          <p:nvPr/>
        </p:nvSpPr>
        <p:spPr bwMode="auto">
          <a:xfrm>
            <a:off x="6299200" y="2132013"/>
            <a:ext cx="2225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逻辑状态表</a:t>
            </a:r>
          </a:p>
        </p:txBody>
      </p:sp>
      <p:sp>
        <p:nvSpPr>
          <p:cNvPr id="148" name="Text Box 52"/>
          <p:cNvSpPr txBox="1">
            <a:spLocks noChangeArrowheads="1"/>
          </p:cNvSpPr>
          <p:nvPr/>
        </p:nvSpPr>
        <p:spPr bwMode="auto">
          <a:xfrm>
            <a:off x="6137275" y="3217863"/>
            <a:ext cx="259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  </a:t>
            </a:r>
            <a:r>
              <a:rPr lang="en-US" altLang="zh-CN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en-US" altLang="zh-CN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1    0</a:t>
            </a:r>
          </a:p>
        </p:txBody>
      </p:sp>
      <p:sp>
        <p:nvSpPr>
          <p:cNvPr id="149" name="Text Box 53"/>
          <p:cNvSpPr txBox="1">
            <a:spLocks noChangeArrowheads="1"/>
          </p:cNvSpPr>
          <p:nvPr/>
        </p:nvSpPr>
        <p:spPr bwMode="auto">
          <a:xfrm>
            <a:off x="6137275" y="3563938"/>
            <a:ext cx="259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 </a:t>
            </a:r>
            <a:r>
              <a:rPr lang="en-US" altLang="zh-CN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</a:t>
            </a:r>
            <a:r>
              <a:rPr lang="en-US" altLang="zh-CN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0    1</a:t>
            </a:r>
          </a:p>
        </p:txBody>
      </p:sp>
      <p:sp>
        <p:nvSpPr>
          <p:cNvPr id="150" name="Text Box 54"/>
          <p:cNvSpPr txBox="1">
            <a:spLocks noChangeArrowheads="1"/>
          </p:cNvSpPr>
          <p:nvPr/>
        </p:nvSpPr>
        <p:spPr bwMode="auto">
          <a:xfrm>
            <a:off x="6137275" y="3852863"/>
            <a:ext cx="259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 </a:t>
            </a:r>
            <a:r>
              <a:rPr lang="en-US" altLang="zh-CN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</a:t>
            </a:r>
            <a:r>
              <a:rPr lang="en-US" altLang="zh-CN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0    0</a:t>
            </a:r>
          </a:p>
        </p:txBody>
      </p:sp>
      <p:sp>
        <p:nvSpPr>
          <p:cNvPr id="151" name="Text Box 55"/>
          <p:cNvSpPr txBox="1">
            <a:spLocks noChangeArrowheads="1"/>
          </p:cNvSpPr>
          <p:nvPr/>
        </p:nvSpPr>
        <p:spPr bwMode="auto">
          <a:xfrm>
            <a:off x="6154738" y="4157663"/>
            <a:ext cx="259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</a:t>
            </a:r>
            <a:r>
              <a:rPr lang="en-US" altLang="zh-CN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</a:t>
            </a:r>
            <a:r>
              <a:rPr lang="en-US" altLang="zh-CN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1    1</a:t>
            </a:r>
          </a:p>
        </p:txBody>
      </p:sp>
      <p:sp>
        <p:nvSpPr>
          <p:cNvPr id="152" name="Rectangle 56"/>
          <p:cNvSpPr>
            <a:spLocks noChangeArrowheads="1"/>
          </p:cNvSpPr>
          <p:nvPr/>
        </p:nvSpPr>
        <p:spPr bwMode="auto">
          <a:xfrm>
            <a:off x="7883525" y="3192463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53" name="Rectangle 57"/>
          <p:cNvSpPr>
            <a:spLocks noChangeArrowheads="1"/>
          </p:cNvSpPr>
          <p:nvPr/>
        </p:nvSpPr>
        <p:spPr bwMode="auto">
          <a:xfrm>
            <a:off x="7883525" y="3530600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54" name="Rectangle 58"/>
          <p:cNvSpPr>
            <a:spLocks noChangeArrowheads="1"/>
          </p:cNvSpPr>
          <p:nvPr/>
        </p:nvSpPr>
        <p:spPr bwMode="auto">
          <a:xfrm>
            <a:off x="7813675" y="3833813"/>
            <a:ext cx="4539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b="1" i="0" baseline="30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n</a:t>
            </a:r>
            <a:endParaRPr lang="en-US" altLang="zh-CN" sz="2400" b="1" i="0" baseline="30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55" name="Group 59"/>
          <p:cNvGrpSpPr>
            <a:grpSpLocks/>
          </p:cNvGrpSpPr>
          <p:nvPr/>
        </p:nvGrpSpPr>
        <p:grpSpPr bwMode="auto">
          <a:xfrm>
            <a:off x="4932363" y="4076700"/>
            <a:ext cx="1066800" cy="609600"/>
            <a:chOff x="3120" y="3360"/>
            <a:chExt cx="672" cy="432"/>
          </a:xfrm>
        </p:grpSpPr>
        <p:sp>
          <p:nvSpPr>
            <p:cNvPr id="156" name="AutoShape 60"/>
            <p:cNvSpPr>
              <a:spLocks noChangeArrowheads="1"/>
            </p:cNvSpPr>
            <p:nvPr/>
          </p:nvSpPr>
          <p:spPr bwMode="auto">
            <a:xfrm>
              <a:off x="3120" y="3360"/>
              <a:ext cx="672" cy="432"/>
            </a:xfrm>
            <a:prstGeom prst="rightArrow">
              <a:avLst>
                <a:gd name="adj1" fmla="val 50000"/>
                <a:gd name="adj2" fmla="val 38889"/>
              </a:avLst>
            </a:prstGeom>
            <a:gradFill rotWithShape="0">
              <a:gsLst>
                <a:gs pos="0">
                  <a:schemeClr val="folHlink"/>
                </a:gs>
                <a:gs pos="100000">
                  <a:srgbClr val="FFFFCC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7" name="Rectangle 61"/>
            <p:cNvSpPr>
              <a:spLocks noChangeArrowheads="1"/>
            </p:cNvSpPr>
            <p:nvPr/>
          </p:nvSpPr>
          <p:spPr bwMode="auto">
            <a:xfrm>
              <a:off x="3168" y="3446"/>
              <a:ext cx="409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禁止</a:t>
              </a:r>
            </a:p>
          </p:txBody>
        </p:sp>
      </p:grpSp>
      <p:sp>
        <p:nvSpPr>
          <p:cNvPr id="158" name="Rectangle 62"/>
          <p:cNvSpPr>
            <a:spLocks noChangeArrowheads="1"/>
          </p:cNvSpPr>
          <p:nvPr/>
        </p:nvSpPr>
        <p:spPr bwMode="auto">
          <a:xfrm>
            <a:off x="7737475" y="4157663"/>
            <a:ext cx="6495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不定</a:t>
            </a:r>
          </a:p>
        </p:txBody>
      </p:sp>
      <p:grpSp>
        <p:nvGrpSpPr>
          <p:cNvPr id="160" name="Group 91"/>
          <p:cNvGrpSpPr>
            <a:grpSpLocks/>
          </p:cNvGrpSpPr>
          <p:nvPr/>
        </p:nvGrpSpPr>
        <p:grpSpPr bwMode="auto">
          <a:xfrm>
            <a:off x="2836936" y="1452415"/>
            <a:ext cx="527050" cy="2914650"/>
            <a:chOff x="2018" y="935"/>
            <a:chExt cx="332" cy="1836"/>
          </a:xfrm>
        </p:grpSpPr>
        <p:sp>
          <p:nvSpPr>
            <p:cNvPr id="161" name="Text Box 92"/>
            <p:cNvSpPr txBox="1">
              <a:spLocks noChangeArrowheads="1"/>
            </p:cNvSpPr>
            <p:nvPr/>
          </p:nvSpPr>
          <p:spPr bwMode="auto">
            <a:xfrm>
              <a:off x="2018" y="935"/>
              <a:ext cx="272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2" name="Text Box 93"/>
            <p:cNvSpPr txBox="1">
              <a:spLocks noChangeArrowheads="1"/>
            </p:cNvSpPr>
            <p:nvPr/>
          </p:nvSpPr>
          <p:spPr bwMode="auto">
            <a:xfrm>
              <a:off x="2078" y="2440"/>
              <a:ext cx="272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63" name="Group 94"/>
          <p:cNvGrpSpPr>
            <a:grpSpLocks/>
          </p:cNvGrpSpPr>
          <p:nvPr/>
        </p:nvGrpSpPr>
        <p:grpSpPr bwMode="auto">
          <a:xfrm>
            <a:off x="1146915" y="1618401"/>
            <a:ext cx="463551" cy="2549525"/>
            <a:chOff x="431" y="1207"/>
            <a:chExt cx="292" cy="1606"/>
          </a:xfrm>
        </p:grpSpPr>
        <p:sp>
          <p:nvSpPr>
            <p:cNvPr id="164" name="Text Box 95"/>
            <p:cNvSpPr txBox="1">
              <a:spLocks noChangeArrowheads="1"/>
            </p:cNvSpPr>
            <p:nvPr/>
          </p:nvSpPr>
          <p:spPr bwMode="auto">
            <a:xfrm>
              <a:off x="431" y="1207"/>
              <a:ext cx="272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65" name="Text Box 96"/>
            <p:cNvSpPr txBox="1">
              <a:spLocks noChangeArrowheads="1"/>
            </p:cNvSpPr>
            <p:nvPr/>
          </p:nvSpPr>
          <p:spPr bwMode="auto">
            <a:xfrm>
              <a:off x="438" y="1654"/>
              <a:ext cx="272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66" name="Text Box 97"/>
            <p:cNvSpPr txBox="1">
              <a:spLocks noChangeArrowheads="1"/>
            </p:cNvSpPr>
            <p:nvPr/>
          </p:nvSpPr>
          <p:spPr bwMode="auto">
            <a:xfrm>
              <a:off x="451" y="2482"/>
              <a:ext cx="272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67" name="Group 98"/>
          <p:cNvGrpSpPr>
            <a:grpSpLocks/>
          </p:cNvGrpSpPr>
          <p:nvPr/>
        </p:nvGrpSpPr>
        <p:grpSpPr bwMode="auto">
          <a:xfrm>
            <a:off x="4120559" y="1790368"/>
            <a:ext cx="360362" cy="1820862"/>
            <a:chOff x="3107" y="1389"/>
            <a:chExt cx="227" cy="1147"/>
          </a:xfrm>
        </p:grpSpPr>
        <p:sp>
          <p:nvSpPr>
            <p:cNvPr id="168" name="Text Box 99"/>
            <p:cNvSpPr txBox="1">
              <a:spLocks noChangeArrowheads="1"/>
            </p:cNvSpPr>
            <p:nvPr/>
          </p:nvSpPr>
          <p:spPr bwMode="auto">
            <a:xfrm>
              <a:off x="3107" y="1389"/>
              <a:ext cx="227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69" name="Text Box 100"/>
            <p:cNvSpPr txBox="1">
              <a:spLocks noChangeArrowheads="1"/>
            </p:cNvSpPr>
            <p:nvPr/>
          </p:nvSpPr>
          <p:spPr bwMode="auto">
            <a:xfrm>
              <a:off x="3107" y="2205"/>
              <a:ext cx="227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70" name="Group 101"/>
          <p:cNvGrpSpPr>
            <a:grpSpLocks/>
          </p:cNvGrpSpPr>
          <p:nvPr/>
        </p:nvGrpSpPr>
        <p:grpSpPr bwMode="auto">
          <a:xfrm>
            <a:off x="1126276" y="1604113"/>
            <a:ext cx="484188" cy="2595563"/>
            <a:chOff x="418" y="1198"/>
            <a:chExt cx="305" cy="1635"/>
          </a:xfrm>
        </p:grpSpPr>
        <p:sp>
          <p:nvSpPr>
            <p:cNvPr id="171" name="Text Box 102"/>
            <p:cNvSpPr txBox="1">
              <a:spLocks noChangeArrowheads="1"/>
            </p:cNvSpPr>
            <p:nvPr/>
          </p:nvSpPr>
          <p:spPr bwMode="auto">
            <a:xfrm>
              <a:off x="431" y="1198"/>
              <a:ext cx="182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72" name="Text Box 103"/>
            <p:cNvSpPr txBox="1">
              <a:spLocks noChangeArrowheads="1"/>
            </p:cNvSpPr>
            <p:nvPr/>
          </p:nvSpPr>
          <p:spPr bwMode="auto">
            <a:xfrm>
              <a:off x="418" y="1674"/>
              <a:ext cx="295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73" name="Text Box 104"/>
            <p:cNvSpPr txBox="1">
              <a:spLocks noChangeArrowheads="1"/>
            </p:cNvSpPr>
            <p:nvPr/>
          </p:nvSpPr>
          <p:spPr bwMode="auto">
            <a:xfrm>
              <a:off x="428" y="2502"/>
              <a:ext cx="295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74" name="Group 105"/>
          <p:cNvGrpSpPr>
            <a:grpSpLocks/>
          </p:cNvGrpSpPr>
          <p:nvPr/>
        </p:nvGrpSpPr>
        <p:grpSpPr bwMode="auto">
          <a:xfrm>
            <a:off x="4122146" y="1790368"/>
            <a:ext cx="287338" cy="1806575"/>
            <a:chOff x="3107" y="1389"/>
            <a:chExt cx="181" cy="1138"/>
          </a:xfrm>
        </p:grpSpPr>
        <p:sp>
          <p:nvSpPr>
            <p:cNvPr id="175" name="Text Box 106"/>
            <p:cNvSpPr txBox="1">
              <a:spLocks noChangeArrowheads="1"/>
            </p:cNvSpPr>
            <p:nvPr/>
          </p:nvSpPr>
          <p:spPr bwMode="auto">
            <a:xfrm>
              <a:off x="3107" y="1389"/>
              <a:ext cx="181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76" name="Text Box 107"/>
            <p:cNvSpPr txBox="1">
              <a:spLocks noChangeArrowheads="1"/>
            </p:cNvSpPr>
            <p:nvPr/>
          </p:nvSpPr>
          <p:spPr bwMode="auto">
            <a:xfrm>
              <a:off x="3107" y="2196"/>
              <a:ext cx="181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77" name="Group 108"/>
          <p:cNvGrpSpPr>
            <a:grpSpLocks/>
          </p:cNvGrpSpPr>
          <p:nvPr/>
        </p:nvGrpSpPr>
        <p:grpSpPr bwMode="auto">
          <a:xfrm>
            <a:off x="1110402" y="1618401"/>
            <a:ext cx="454026" cy="2570162"/>
            <a:chOff x="408" y="1207"/>
            <a:chExt cx="286" cy="1619"/>
          </a:xfrm>
        </p:grpSpPr>
        <p:sp>
          <p:nvSpPr>
            <p:cNvPr id="178" name="Text Box 109"/>
            <p:cNvSpPr txBox="1">
              <a:spLocks noChangeArrowheads="1"/>
            </p:cNvSpPr>
            <p:nvPr/>
          </p:nvSpPr>
          <p:spPr bwMode="auto">
            <a:xfrm>
              <a:off x="408" y="1207"/>
              <a:ext cx="249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79" name="Text Box 110"/>
            <p:cNvSpPr txBox="1">
              <a:spLocks noChangeArrowheads="1"/>
            </p:cNvSpPr>
            <p:nvPr/>
          </p:nvSpPr>
          <p:spPr bwMode="auto">
            <a:xfrm>
              <a:off x="415" y="1654"/>
              <a:ext cx="249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80" name="Text Box 111"/>
            <p:cNvSpPr txBox="1">
              <a:spLocks noChangeArrowheads="1"/>
            </p:cNvSpPr>
            <p:nvPr/>
          </p:nvSpPr>
          <p:spPr bwMode="auto">
            <a:xfrm>
              <a:off x="445" y="2495"/>
              <a:ext cx="249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81" name="Group 112"/>
          <p:cNvGrpSpPr>
            <a:grpSpLocks/>
          </p:cNvGrpSpPr>
          <p:nvPr/>
        </p:nvGrpSpPr>
        <p:grpSpPr bwMode="auto">
          <a:xfrm>
            <a:off x="1110401" y="1604113"/>
            <a:ext cx="469901" cy="2584450"/>
            <a:chOff x="408" y="1198"/>
            <a:chExt cx="296" cy="1628"/>
          </a:xfrm>
        </p:grpSpPr>
        <p:sp>
          <p:nvSpPr>
            <p:cNvPr id="182" name="Text Box 113"/>
            <p:cNvSpPr txBox="1">
              <a:spLocks noChangeArrowheads="1"/>
            </p:cNvSpPr>
            <p:nvPr/>
          </p:nvSpPr>
          <p:spPr bwMode="auto">
            <a:xfrm>
              <a:off x="408" y="1198"/>
              <a:ext cx="249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83" name="Text Box 114"/>
            <p:cNvSpPr txBox="1">
              <a:spLocks noChangeArrowheads="1"/>
            </p:cNvSpPr>
            <p:nvPr/>
          </p:nvSpPr>
          <p:spPr bwMode="auto">
            <a:xfrm>
              <a:off x="428" y="1667"/>
              <a:ext cx="249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84" name="Text Box 115"/>
            <p:cNvSpPr txBox="1">
              <a:spLocks noChangeArrowheads="1"/>
            </p:cNvSpPr>
            <p:nvPr/>
          </p:nvSpPr>
          <p:spPr bwMode="auto">
            <a:xfrm>
              <a:off x="455" y="2495"/>
              <a:ext cx="249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85" name="Group 116"/>
          <p:cNvGrpSpPr>
            <a:grpSpLocks/>
          </p:cNvGrpSpPr>
          <p:nvPr/>
        </p:nvGrpSpPr>
        <p:grpSpPr bwMode="auto">
          <a:xfrm>
            <a:off x="2455050" y="2226305"/>
            <a:ext cx="306388" cy="1323976"/>
            <a:chOff x="1610" y="1389"/>
            <a:chExt cx="193" cy="834"/>
          </a:xfrm>
        </p:grpSpPr>
        <p:sp>
          <p:nvSpPr>
            <p:cNvPr id="186" name="Text Box 117"/>
            <p:cNvSpPr txBox="1">
              <a:spLocks noChangeArrowheads="1"/>
            </p:cNvSpPr>
            <p:nvPr/>
          </p:nvSpPr>
          <p:spPr bwMode="auto">
            <a:xfrm>
              <a:off x="1610" y="1892"/>
              <a:ext cx="193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87" name="Text Box 118"/>
            <p:cNvSpPr txBox="1">
              <a:spLocks noChangeArrowheads="1"/>
            </p:cNvSpPr>
            <p:nvPr/>
          </p:nvSpPr>
          <p:spPr bwMode="auto">
            <a:xfrm>
              <a:off x="1610" y="1389"/>
              <a:ext cx="193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88" name="Group 119"/>
          <p:cNvGrpSpPr>
            <a:grpSpLocks/>
          </p:cNvGrpSpPr>
          <p:nvPr/>
        </p:nvGrpSpPr>
        <p:grpSpPr bwMode="auto">
          <a:xfrm>
            <a:off x="4120559" y="1790368"/>
            <a:ext cx="433387" cy="1820862"/>
            <a:chOff x="3106" y="1389"/>
            <a:chExt cx="273" cy="1147"/>
          </a:xfrm>
        </p:grpSpPr>
        <p:sp>
          <p:nvSpPr>
            <p:cNvPr id="189" name="Text Box 120"/>
            <p:cNvSpPr txBox="1">
              <a:spLocks noChangeArrowheads="1"/>
            </p:cNvSpPr>
            <p:nvPr/>
          </p:nvSpPr>
          <p:spPr bwMode="auto">
            <a:xfrm>
              <a:off x="3106" y="2205"/>
              <a:ext cx="273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90" name="Text Box 121"/>
            <p:cNvSpPr txBox="1">
              <a:spLocks noChangeArrowheads="1"/>
            </p:cNvSpPr>
            <p:nvPr/>
          </p:nvSpPr>
          <p:spPr bwMode="auto">
            <a:xfrm>
              <a:off x="3106" y="1389"/>
              <a:ext cx="273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91" name="Group 154"/>
          <p:cNvGrpSpPr>
            <a:grpSpLocks/>
          </p:cNvGrpSpPr>
          <p:nvPr/>
        </p:nvGrpSpPr>
        <p:grpSpPr bwMode="auto">
          <a:xfrm>
            <a:off x="3683260" y="3916583"/>
            <a:ext cx="1165225" cy="1046163"/>
            <a:chOff x="2789" y="2886"/>
            <a:chExt cx="734" cy="659"/>
          </a:xfrm>
        </p:grpSpPr>
        <p:sp>
          <p:nvSpPr>
            <p:cNvPr id="192" name="AutoShape 152"/>
            <p:cNvSpPr>
              <a:spLocks noChangeArrowheads="1"/>
            </p:cNvSpPr>
            <p:nvPr/>
          </p:nvSpPr>
          <p:spPr bwMode="auto">
            <a:xfrm>
              <a:off x="2789" y="2931"/>
              <a:ext cx="734" cy="614"/>
            </a:xfrm>
            <a:prstGeom prst="wedgeRoundRectCallout">
              <a:avLst>
                <a:gd name="adj1" fmla="val -98357"/>
                <a:gd name="adj2" fmla="val -60771"/>
                <a:gd name="adj3" fmla="val 16667"/>
              </a:avLst>
            </a:prstGeom>
            <a:gradFill rotWithShape="0">
              <a:gsLst>
                <a:gs pos="0">
                  <a:srgbClr val="F5DF8D"/>
                </a:gs>
                <a:gs pos="100000">
                  <a:srgbClr val="716741"/>
                </a:gs>
              </a:gsLst>
              <a:path path="rect">
                <a:fillToRect r="100000" b="100000"/>
              </a:path>
            </a:gradFill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endParaRPr lang="zh-CN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3" name="Text Box 153"/>
            <p:cNvSpPr txBox="1">
              <a:spLocks noChangeArrowheads="1"/>
            </p:cNvSpPr>
            <p:nvPr/>
          </p:nvSpPr>
          <p:spPr bwMode="auto">
            <a:xfrm>
              <a:off x="2789" y="2886"/>
              <a:ext cx="727" cy="5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直接</a:t>
              </a:r>
            </a:p>
            <a:p>
              <a:pPr eaLnBrk="0" hangingPunct="0"/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置</a:t>
              </a: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端</a:t>
              </a:r>
              <a:endPara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94" name="Group 150"/>
          <p:cNvGrpSpPr>
            <a:grpSpLocks/>
          </p:cNvGrpSpPr>
          <p:nvPr/>
        </p:nvGrpSpPr>
        <p:grpSpPr bwMode="auto">
          <a:xfrm>
            <a:off x="4204254" y="828970"/>
            <a:ext cx="1282700" cy="1046163"/>
            <a:chOff x="2789" y="482"/>
            <a:chExt cx="808" cy="659"/>
          </a:xfrm>
        </p:grpSpPr>
        <p:sp>
          <p:nvSpPr>
            <p:cNvPr id="195" name="AutoShape 148"/>
            <p:cNvSpPr>
              <a:spLocks noChangeArrowheads="1"/>
            </p:cNvSpPr>
            <p:nvPr/>
          </p:nvSpPr>
          <p:spPr bwMode="auto">
            <a:xfrm>
              <a:off x="2789" y="527"/>
              <a:ext cx="707" cy="614"/>
            </a:xfrm>
            <a:prstGeom prst="wedgeRoundRectCallout">
              <a:avLst>
                <a:gd name="adj1" fmla="val -149705"/>
                <a:gd name="adj2" fmla="val 59455"/>
                <a:gd name="adj3" fmla="val 16667"/>
              </a:avLst>
            </a:prstGeom>
            <a:gradFill rotWithShape="0">
              <a:gsLst>
                <a:gs pos="0">
                  <a:srgbClr val="F5DF8D"/>
                </a:gs>
                <a:gs pos="100000">
                  <a:srgbClr val="716741"/>
                </a:gs>
              </a:gsLst>
              <a:path path="rect">
                <a:fillToRect r="100000" b="100000"/>
              </a:path>
            </a:gradFill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endParaRPr lang="zh-CN" altLang="zh-CN" sz="2800" b="1" i="0">
                <a:solidFill>
                  <a:srgbClr val="DDDDDD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196" name="Text Box 149"/>
            <p:cNvSpPr txBox="1">
              <a:spLocks noChangeArrowheads="1"/>
            </p:cNvSpPr>
            <p:nvPr/>
          </p:nvSpPr>
          <p:spPr bwMode="auto">
            <a:xfrm>
              <a:off x="2789" y="482"/>
              <a:ext cx="808" cy="5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直接</a:t>
              </a:r>
            </a:p>
            <a:p>
              <a:pPr eaLnBrk="0" hangingPunct="0"/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置</a:t>
              </a: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端</a:t>
              </a:r>
              <a:endPara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0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autoUpdateAnimBg="0"/>
      <p:bldP spid="148" grpId="0" autoUpdateAnimBg="0"/>
      <p:bldP spid="149" grpId="0" autoUpdateAnimBg="0"/>
      <p:bldP spid="150" grpId="0" autoUpdateAnimBg="0"/>
      <p:bldP spid="151" grpId="0" autoUpdateAnimBg="0"/>
      <p:bldP spid="152" grpId="0" autoUpdateAnimBg="0"/>
      <p:bldP spid="153" grpId="0" autoUpdateAnimBg="0"/>
      <p:bldP spid="154" grpId="0" autoUpdateAnimBg="0"/>
      <p:bldP spid="158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0"/>
          <p:cNvSpPr txBox="1">
            <a:spLocks noChangeArrowheads="1"/>
          </p:cNvSpPr>
          <p:nvPr/>
        </p:nvSpPr>
        <p:spPr bwMode="auto">
          <a:xfrm>
            <a:off x="1324713" y="958112"/>
            <a:ext cx="19926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图形符号</a:t>
            </a:r>
            <a:endParaRPr lang="zh-CN" altLang="en-US" sz="28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2785973" y="2016339"/>
            <a:ext cx="3027904" cy="1212857"/>
            <a:chOff x="5327153" y="1548507"/>
            <a:chExt cx="3027904" cy="1212857"/>
          </a:xfrm>
        </p:grpSpPr>
        <p:sp>
          <p:nvSpPr>
            <p:cNvPr id="27" name="矩形 26"/>
            <p:cNvSpPr/>
            <p:nvPr/>
          </p:nvSpPr>
          <p:spPr>
            <a:xfrm>
              <a:off x="6712799" y="1570517"/>
              <a:ext cx="797442" cy="119084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7610251" y="2480931"/>
              <a:ext cx="39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/>
            <p:cNvSpPr/>
            <p:nvPr/>
          </p:nvSpPr>
          <p:spPr>
            <a:xfrm>
              <a:off x="6606473" y="2532321"/>
              <a:ext cx="95693" cy="956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6620761" y="1722695"/>
              <a:ext cx="95693" cy="956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7520874" y="2437070"/>
              <a:ext cx="95693" cy="956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5729064" y="1780843"/>
              <a:ext cx="90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5710014" y="2585706"/>
              <a:ext cx="90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6238652" y="1995156"/>
              <a:ext cx="46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6243414" y="2195181"/>
              <a:ext cx="46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6248176" y="2399968"/>
              <a:ext cx="46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7524527" y="1852281"/>
              <a:ext cx="46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137"/>
            <p:cNvSpPr>
              <a:spLocks noChangeArrowheads="1"/>
            </p:cNvSpPr>
            <p:nvPr/>
          </p:nvSpPr>
          <p:spPr bwMode="auto">
            <a:xfrm>
              <a:off x="8003679" y="1634231"/>
              <a:ext cx="35137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8003679" y="2258119"/>
              <a:ext cx="351378" cy="369332"/>
              <a:chOff x="7584579" y="2477194"/>
              <a:chExt cx="351378" cy="369332"/>
            </a:xfrm>
          </p:grpSpPr>
          <p:sp>
            <p:nvSpPr>
              <p:cNvPr id="41" name="Rectangle 137"/>
              <p:cNvSpPr>
                <a:spLocks noChangeArrowheads="1"/>
              </p:cNvSpPr>
              <p:nvPr/>
            </p:nvSpPr>
            <p:spPr bwMode="auto">
              <a:xfrm>
                <a:off x="7584579" y="2477194"/>
                <a:ext cx="35137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cxnSp>
            <p:nvCxnSpPr>
              <p:cNvPr id="42" name="直接连接符 41"/>
              <p:cNvCxnSpPr/>
              <p:nvPr/>
            </p:nvCxnSpPr>
            <p:spPr>
              <a:xfrm>
                <a:off x="7719787" y="2552368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组合 43"/>
            <p:cNvGrpSpPr/>
            <p:nvPr/>
          </p:nvGrpSpPr>
          <p:grpSpPr>
            <a:xfrm>
              <a:off x="5350965" y="1548507"/>
              <a:ext cx="410690" cy="369332"/>
              <a:chOff x="7584579" y="2477194"/>
              <a:chExt cx="410690" cy="369332"/>
            </a:xfrm>
          </p:grpSpPr>
          <p:sp>
            <p:nvSpPr>
              <p:cNvPr id="45" name="Rectangle 137"/>
              <p:cNvSpPr>
                <a:spLocks noChangeArrowheads="1"/>
              </p:cNvSpPr>
              <p:nvPr/>
            </p:nvSpPr>
            <p:spPr bwMode="auto">
              <a:xfrm>
                <a:off x="7584579" y="2477194"/>
                <a:ext cx="41069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r>
                  <a:rPr lang="en-US" altLang="zh-CN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46" name="直接连接符 45"/>
              <p:cNvCxnSpPr/>
              <p:nvPr/>
            </p:nvCxnSpPr>
            <p:spPr>
              <a:xfrm>
                <a:off x="7705501" y="2552368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/>
            <p:cNvGrpSpPr/>
            <p:nvPr/>
          </p:nvGrpSpPr>
          <p:grpSpPr>
            <a:xfrm>
              <a:off x="5327153" y="2367658"/>
              <a:ext cx="436338" cy="369332"/>
              <a:chOff x="7584579" y="2477194"/>
              <a:chExt cx="436338" cy="369332"/>
            </a:xfrm>
          </p:grpSpPr>
          <p:sp>
            <p:nvSpPr>
              <p:cNvPr id="48" name="Rectangle 137"/>
              <p:cNvSpPr>
                <a:spLocks noChangeArrowheads="1"/>
              </p:cNvSpPr>
              <p:nvPr/>
            </p:nvSpPr>
            <p:spPr bwMode="auto">
              <a:xfrm>
                <a:off x="7584579" y="2477194"/>
                <a:ext cx="43633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49" name="直接连接符 48"/>
              <p:cNvCxnSpPr/>
              <p:nvPr/>
            </p:nvCxnSpPr>
            <p:spPr>
              <a:xfrm>
                <a:off x="7715026" y="2552368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Rectangle 137"/>
            <p:cNvSpPr>
              <a:spLocks noChangeArrowheads="1"/>
            </p:cNvSpPr>
            <p:nvPr/>
          </p:nvSpPr>
          <p:spPr bwMode="auto">
            <a:xfrm>
              <a:off x="5779592" y="1739005"/>
              <a:ext cx="30008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1" name="Rectangle 137"/>
            <p:cNvSpPr>
              <a:spLocks noChangeArrowheads="1"/>
            </p:cNvSpPr>
            <p:nvPr/>
          </p:nvSpPr>
          <p:spPr bwMode="auto">
            <a:xfrm>
              <a:off x="5803404" y="2005705"/>
              <a:ext cx="33855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2" name="Rectangle 137"/>
            <p:cNvSpPr>
              <a:spLocks noChangeArrowheads="1"/>
            </p:cNvSpPr>
            <p:nvPr/>
          </p:nvSpPr>
          <p:spPr bwMode="auto">
            <a:xfrm>
              <a:off x="5803404" y="2248593"/>
              <a:ext cx="32573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4" name="Rectangle 137"/>
            <p:cNvSpPr>
              <a:spLocks noChangeArrowheads="1"/>
            </p:cNvSpPr>
            <p:nvPr/>
          </p:nvSpPr>
          <p:spPr bwMode="auto">
            <a:xfrm>
              <a:off x="6708279" y="1996180"/>
              <a:ext cx="33855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894907" y="368595"/>
            <a:ext cx="2124740" cy="5847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主要特点</a:t>
            </a:r>
            <a:endParaRPr lang="zh-CN" altLang="en-US" sz="24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160721" y="1071234"/>
            <a:ext cx="7162800" cy="3865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）时钟电平控制。在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CP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＝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期间接收输入信号，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CP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＝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时状态保持不变，与基本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RS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触发器相比，对触发器状态的转变增加了时间控制。</a:t>
            </a:r>
          </a:p>
          <a:p>
            <a:pPr algn="just"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zh-CN" altLang="en-US" sz="28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S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之间有约束。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不允许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出现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S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同时为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的情况，否则会使触发器处于不确定的状态。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563525" y="310116"/>
            <a:ext cx="1775637" cy="5847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波形图</a:t>
            </a:r>
            <a:endParaRPr lang="zh-CN" altLang="en-US" sz="24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1283290" y="1096925"/>
          <a:ext cx="7061200" cy="2743200"/>
        </p:xfrm>
        <a:graphic>
          <a:graphicData uri="http://schemas.openxmlformats.org/presentationml/2006/ole">
            <p:oleObj spid="_x0000_s81922" name="图片" r:id="rId3" imgW="2647800" imgH="1486080" progId="Word.Picture.8">
              <p:embed/>
            </p:oleObj>
          </a:graphicData>
        </a:graphic>
      </p:graphicFrame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2171330" y="1075660"/>
            <a:ext cx="1588" cy="3581400"/>
          </a:xfrm>
          <a:prstGeom prst="line">
            <a:avLst/>
          </a:prstGeom>
          <a:noFill/>
          <a:ln w="158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2775540" y="1096925"/>
            <a:ext cx="1588" cy="3581400"/>
          </a:xfrm>
          <a:prstGeom prst="line">
            <a:avLst/>
          </a:prstGeom>
          <a:noFill/>
          <a:ln w="158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3385140" y="1096925"/>
            <a:ext cx="1588" cy="3581400"/>
          </a:xfrm>
          <a:prstGeom prst="line">
            <a:avLst/>
          </a:prstGeom>
          <a:noFill/>
          <a:ln w="158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3994740" y="1096925"/>
            <a:ext cx="1588" cy="3581400"/>
          </a:xfrm>
          <a:prstGeom prst="line">
            <a:avLst/>
          </a:prstGeom>
          <a:noFill/>
          <a:ln w="158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4604340" y="1096925"/>
            <a:ext cx="1588" cy="3581400"/>
          </a:xfrm>
          <a:prstGeom prst="line">
            <a:avLst/>
          </a:prstGeom>
          <a:noFill/>
          <a:ln w="158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5221878" y="1101687"/>
            <a:ext cx="1587" cy="3581400"/>
          </a:xfrm>
          <a:prstGeom prst="line">
            <a:avLst/>
          </a:prstGeom>
          <a:noFill/>
          <a:ln w="158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>
            <a:off x="5823540" y="1096925"/>
            <a:ext cx="1588" cy="3581400"/>
          </a:xfrm>
          <a:prstGeom prst="line">
            <a:avLst/>
          </a:prstGeom>
          <a:noFill/>
          <a:ln w="158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>
            <a:off x="6436315" y="1092163"/>
            <a:ext cx="1587" cy="3581400"/>
          </a:xfrm>
          <a:prstGeom prst="line">
            <a:avLst/>
          </a:prstGeom>
          <a:noFill/>
          <a:ln w="158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7042740" y="1096925"/>
            <a:ext cx="1588" cy="3581400"/>
          </a:xfrm>
          <a:prstGeom prst="line">
            <a:avLst/>
          </a:prstGeom>
          <a:noFill/>
          <a:ln w="158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>
            <a:off x="7655515" y="1101687"/>
            <a:ext cx="1587" cy="3581400"/>
          </a:xfrm>
          <a:prstGeom prst="line">
            <a:avLst/>
          </a:prstGeom>
          <a:noFill/>
          <a:ln w="158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1575390" y="3916325"/>
            <a:ext cx="45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不变</a:t>
            </a: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2846978" y="3916325"/>
            <a:ext cx="45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不变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4072528" y="3916325"/>
            <a:ext cx="45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不变</a:t>
            </a: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5302840" y="3916325"/>
            <a:ext cx="45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不变</a:t>
            </a:r>
          </a:p>
        </p:txBody>
      </p: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6528390" y="3932200"/>
            <a:ext cx="45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不变</a:t>
            </a:r>
          </a:p>
        </p:txBody>
      </p:sp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7747590" y="3916325"/>
            <a:ext cx="45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不变</a:t>
            </a:r>
          </a:p>
        </p:txBody>
      </p:sp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2243728" y="3916325"/>
            <a:ext cx="45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</a:t>
            </a:r>
            <a:r>
              <a:rPr lang="en-US" altLang="zh-CN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21" name="Text Box 23"/>
          <p:cNvSpPr txBox="1">
            <a:spLocks noChangeArrowheads="1"/>
          </p:cNvSpPr>
          <p:nvPr/>
        </p:nvSpPr>
        <p:spPr bwMode="auto">
          <a:xfrm>
            <a:off x="3480390" y="3916325"/>
            <a:ext cx="45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</a:t>
            </a:r>
            <a:r>
              <a:rPr lang="en-US" altLang="zh-CN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2" name="Text Box 24"/>
          <p:cNvSpPr txBox="1">
            <a:spLocks noChangeArrowheads="1"/>
          </p:cNvSpPr>
          <p:nvPr/>
        </p:nvSpPr>
        <p:spPr bwMode="auto">
          <a:xfrm>
            <a:off x="4675778" y="3916325"/>
            <a:ext cx="45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</a:t>
            </a:r>
            <a:r>
              <a:rPr lang="en-US" altLang="zh-CN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5901328" y="3916325"/>
            <a:ext cx="45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</a:t>
            </a:r>
            <a:r>
              <a:rPr lang="en-US" altLang="zh-CN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7137990" y="3932200"/>
            <a:ext cx="45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不变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组合 102"/>
          <p:cNvGrpSpPr/>
          <p:nvPr/>
        </p:nvGrpSpPr>
        <p:grpSpPr>
          <a:xfrm>
            <a:off x="814480" y="963756"/>
            <a:ext cx="2589217" cy="3805014"/>
            <a:chOff x="5407745" y="536238"/>
            <a:chExt cx="2589217" cy="3805014"/>
          </a:xfrm>
        </p:grpSpPr>
        <p:sp>
          <p:nvSpPr>
            <p:cNvPr id="41" name="Text Box 70"/>
            <p:cNvSpPr txBox="1">
              <a:spLocks noChangeArrowheads="1"/>
            </p:cNvSpPr>
            <p:nvPr/>
          </p:nvSpPr>
          <p:spPr bwMode="auto">
            <a:xfrm>
              <a:off x="5923376" y="565567"/>
              <a:ext cx="404576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42" name="Group 74"/>
            <p:cNvGrpSpPr>
              <a:grpSpLocks/>
            </p:cNvGrpSpPr>
            <p:nvPr/>
          </p:nvGrpSpPr>
          <p:grpSpPr bwMode="auto">
            <a:xfrm rot="16200000">
              <a:off x="7094693" y="565606"/>
              <a:ext cx="463549" cy="404813"/>
              <a:chOff x="3996" y="2949"/>
              <a:chExt cx="292" cy="255"/>
            </a:xfrm>
          </p:grpSpPr>
          <p:sp>
            <p:nvSpPr>
              <p:cNvPr id="97" name="Text Box 71"/>
              <p:cNvSpPr txBox="1">
                <a:spLocks noChangeArrowheads="1"/>
              </p:cNvSpPr>
              <p:nvPr/>
            </p:nvSpPr>
            <p:spPr bwMode="auto">
              <a:xfrm rot="5400000">
                <a:off x="4014" y="2931"/>
                <a:ext cx="255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98" name="Line 73"/>
              <p:cNvSpPr>
                <a:spLocks noChangeShapeType="1"/>
              </p:cNvSpPr>
              <p:nvPr/>
            </p:nvSpPr>
            <p:spPr bwMode="auto">
              <a:xfrm>
                <a:off x="4236" y="3043"/>
                <a:ext cx="0" cy="1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43" name="Group 79"/>
            <p:cNvGrpSpPr>
              <a:grpSpLocks/>
            </p:cNvGrpSpPr>
            <p:nvPr/>
          </p:nvGrpSpPr>
          <p:grpSpPr bwMode="auto">
            <a:xfrm rot="16200000">
              <a:off x="5343452" y="2362427"/>
              <a:ext cx="463550" cy="334963"/>
              <a:chOff x="938" y="1074"/>
              <a:chExt cx="292" cy="211"/>
            </a:xfrm>
          </p:grpSpPr>
          <p:sp>
            <p:nvSpPr>
              <p:cNvPr id="95" name="Text Box 75"/>
              <p:cNvSpPr txBox="1">
                <a:spLocks noChangeArrowheads="1"/>
              </p:cNvSpPr>
              <p:nvPr/>
            </p:nvSpPr>
            <p:spPr bwMode="auto">
              <a:xfrm rot="5400000">
                <a:off x="978" y="1034"/>
                <a:ext cx="211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6" name="Line 77"/>
              <p:cNvSpPr>
                <a:spLocks noChangeShapeType="1"/>
              </p:cNvSpPr>
              <p:nvPr/>
            </p:nvSpPr>
            <p:spPr bwMode="auto">
              <a:xfrm flipV="1">
                <a:off x="1172" y="1130"/>
                <a:ext cx="0" cy="1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44" name="Group 80"/>
            <p:cNvGrpSpPr>
              <a:grpSpLocks/>
            </p:cNvGrpSpPr>
            <p:nvPr/>
          </p:nvGrpSpPr>
          <p:grpSpPr bwMode="auto">
            <a:xfrm rot="16200000">
              <a:off x="7580243" y="2324326"/>
              <a:ext cx="463550" cy="369888"/>
              <a:chOff x="876" y="2253"/>
              <a:chExt cx="292" cy="233"/>
            </a:xfrm>
          </p:grpSpPr>
          <p:sp>
            <p:nvSpPr>
              <p:cNvPr id="93" name="Text Box 76"/>
              <p:cNvSpPr txBox="1">
                <a:spLocks noChangeArrowheads="1"/>
              </p:cNvSpPr>
              <p:nvPr/>
            </p:nvSpPr>
            <p:spPr bwMode="auto">
              <a:xfrm rot="5400000">
                <a:off x="905" y="2224"/>
                <a:ext cx="233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endPara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4" name="Line 78"/>
              <p:cNvSpPr>
                <a:spLocks noChangeShapeType="1"/>
              </p:cNvSpPr>
              <p:nvPr/>
            </p:nvSpPr>
            <p:spPr bwMode="auto">
              <a:xfrm>
                <a:off x="1120" y="2318"/>
                <a:ext cx="0" cy="1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45" name="Rectangle 171"/>
            <p:cNvSpPr>
              <a:spLocks noChangeArrowheads="1"/>
            </p:cNvSpPr>
            <p:nvPr/>
          </p:nvSpPr>
          <p:spPr bwMode="auto">
            <a:xfrm>
              <a:off x="7293422" y="1789116"/>
              <a:ext cx="425414" cy="371513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G</a:t>
              </a:r>
              <a:r>
                <a:rPr lang="en-US" altLang="zh-CN" i="0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Rectangle 169"/>
            <p:cNvSpPr>
              <a:spLocks noChangeArrowheads="1"/>
            </p:cNvSpPr>
            <p:nvPr/>
          </p:nvSpPr>
          <p:spPr bwMode="auto">
            <a:xfrm rot="21439569">
              <a:off x="7040936" y="1616599"/>
              <a:ext cx="412750" cy="371475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＆</a:t>
              </a:r>
            </a:p>
          </p:txBody>
        </p:sp>
        <p:sp>
          <p:nvSpPr>
            <p:cNvPr id="47" name="矩形 46"/>
            <p:cNvSpPr/>
            <p:nvPr/>
          </p:nvSpPr>
          <p:spPr>
            <a:xfrm rot="16200000">
              <a:off x="7072270" y="1568102"/>
              <a:ext cx="476250" cy="70485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椭圆 47"/>
            <p:cNvSpPr/>
            <p:nvPr/>
          </p:nvSpPr>
          <p:spPr>
            <a:xfrm rot="16200000">
              <a:off x="7272295" y="1605639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>
            <a:xfrm rot="16200000">
              <a:off x="7027159" y="2453559"/>
              <a:ext cx="576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16200000">
              <a:off x="7040396" y="1340965"/>
              <a:ext cx="54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rot="16200000">
              <a:off x="6972746" y="2240102"/>
              <a:ext cx="18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171"/>
            <p:cNvSpPr>
              <a:spLocks noChangeArrowheads="1"/>
            </p:cNvSpPr>
            <p:nvPr/>
          </p:nvSpPr>
          <p:spPr bwMode="auto">
            <a:xfrm rot="21403384">
              <a:off x="6093802" y="1808167"/>
              <a:ext cx="425414" cy="371513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G</a:t>
              </a:r>
              <a:r>
                <a:rPr lang="en-US" altLang="zh-CN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3" name="Rectangle 169"/>
            <p:cNvSpPr>
              <a:spLocks noChangeArrowheads="1"/>
            </p:cNvSpPr>
            <p:nvPr/>
          </p:nvSpPr>
          <p:spPr bwMode="auto">
            <a:xfrm>
              <a:off x="5870998" y="1658021"/>
              <a:ext cx="412750" cy="371475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＆</a:t>
              </a:r>
            </a:p>
          </p:txBody>
        </p:sp>
        <p:sp>
          <p:nvSpPr>
            <p:cNvPr id="54" name="矩形 53"/>
            <p:cNvSpPr/>
            <p:nvPr/>
          </p:nvSpPr>
          <p:spPr>
            <a:xfrm rot="16200000">
              <a:off x="5882175" y="1582391"/>
              <a:ext cx="476250" cy="70485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 rot="16200000">
              <a:off x="6082199" y="1624690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>
            <a:xfrm rot="16200000">
              <a:off x="5650837" y="2366574"/>
              <a:ext cx="396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rot="16200000">
              <a:off x="5850300" y="1360016"/>
              <a:ext cx="54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16200000">
              <a:off x="6291713" y="2249103"/>
              <a:ext cx="162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组合 252"/>
            <p:cNvGrpSpPr/>
            <p:nvPr/>
          </p:nvGrpSpPr>
          <p:grpSpPr>
            <a:xfrm rot="16200000">
              <a:off x="6366904" y="1397616"/>
              <a:ext cx="941422" cy="929272"/>
              <a:chOff x="2908088" y="1663965"/>
              <a:chExt cx="941422" cy="929272"/>
            </a:xfrm>
          </p:grpSpPr>
          <p:cxnSp>
            <p:nvCxnSpPr>
              <p:cNvPr id="90" name="直接连接符 89"/>
              <p:cNvCxnSpPr/>
              <p:nvPr/>
            </p:nvCxnSpPr>
            <p:spPr>
              <a:xfrm rot="5400000">
                <a:off x="2821917" y="1753965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 rot="10800000" flipH="1" flipV="1">
                <a:off x="2908088" y="1839429"/>
                <a:ext cx="941422" cy="249015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 rot="5400000">
                <a:off x="3587019" y="2341237"/>
                <a:ext cx="50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组合 256"/>
            <p:cNvGrpSpPr/>
            <p:nvPr/>
          </p:nvGrpSpPr>
          <p:grpSpPr>
            <a:xfrm rot="16200000" flipV="1">
              <a:off x="6126244" y="1378913"/>
              <a:ext cx="940167" cy="939356"/>
              <a:chOff x="2881296" y="1693405"/>
              <a:chExt cx="968214" cy="904419"/>
            </a:xfrm>
          </p:grpSpPr>
          <p:cxnSp>
            <p:nvCxnSpPr>
              <p:cNvPr id="87" name="直接连接符 86"/>
              <p:cNvCxnSpPr/>
              <p:nvPr/>
            </p:nvCxnSpPr>
            <p:spPr>
              <a:xfrm rot="5400000">
                <a:off x="2808314" y="1771393"/>
                <a:ext cx="1559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>
                <a:off x="2881296" y="1847820"/>
                <a:ext cx="968214" cy="240623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 rot="5400000">
                <a:off x="3590334" y="2345824"/>
                <a:ext cx="50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1" name="直接连接符 60"/>
            <p:cNvCxnSpPr/>
            <p:nvPr/>
          </p:nvCxnSpPr>
          <p:spPr>
            <a:xfrm rot="16200000">
              <a:off x="5825958" y="2460928"/>
              <a:ext cx="54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rot="16200000">
              <a:off x="7406101" y="2320502"/>
              <a:ext cx="324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椭圆 62"/>
            <p:cNvSpPr/>
            <p:nvPr/>
          </p:nvSpPr>
          <p:spPr>
            <a:xfrm rot="16200000">
              <a:off x="5810736" y="2543852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4" name="椭圆 63"/>
            <p:cNvSpPr/>
            <p:nvPr/>
          </p:nvSpPr>
          <p:spPr>
            <a:xfrm rot="16200000">
              <a:off x="7529998" y="2491464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 rot="16200000">
              <a:off x="5863125" y="2697590"/>
              <a:ext cx="476250" cy="70485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6" name="椭圆 65"/>
            <p:cNvSpPr/>
            <p:nvPr/>
          </p:nvSpPr>
          <p:spPr>
            <a:xfrm rot="16200000">
              <a:off x="6063149" y="2739889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 rot="16200000">
              <a:off x="7077562" y="2697589"/>
              <a:ext cx="476250" cy="70485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8" name="椭圆 67"/>
            <p:cNvSpPr/>
            <p:nvPr/>
          </p:nvSpPr>
          <p:spPr>
            <a:xfrm rot="16200000">
              <a:off x="7277586" y="2739888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9" name="Rectangle 169"/>
            <p:cNvSpPr>
              <a:spLocks noChangeArrowheads="1"/>
            </p:cNvSpPr>
            <p:nvPr/>
          </p:nvSpPr>
          <p:spPr bwMode="auto">
            <a:xfrm>
              <a:off x="5848871" y="2746085"/>
              <a:ext cx="412750" cy="371475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＆</a:t>
              </a:r>
            </a:p>
          </p:txBody>
        </p:sp>
        <p:sp>
          <p:nvSpPr>
            <p:cNvPr id="70" name="Rectangle 169"/>
            <p:cNvSpPr>
              <a:spLocks noChangeArrowheads="1"/>
            </p:cNvSpPr>
            <p:nvPr/>
          </p:nvSpPr>
          <p:spPr bwMode="auto">
            <a:xfrm>
              <a:off x="7056331" y="2734345"/>
              <a:ext cx="412750" cy="371475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＆</a:t>
              </a:r>
            </a:p>
          </p:txBody>
        </p:sp>
        <p:sp>
          <p:nvSpPr>
            <p:cNvPr id="71" name="Rectangle 171"/>
            <p:cNvSpPr>
              <a:spLocks noChangeArrowheads="1"/>
            </p:cNvSpPr>
            <p:nvPr/>
          </p:nvSpPr>
          <p:spPr bwMode="auto">
            <a:xfrm>
              <a:off x="6065227" y="2913841"/>
              <a:ext cx="425414" cy="371513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G</a:t>
              </a:r>
              <a:r>
                <a:rPr lang="en-US" altLang="zh-CN" i="0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</a:t>
              </a:r>
              <a:endParaRPr lang="en-US" altLang="zh-CN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2" name="Rectangle 171"/>
            <p:cNvSpPr>
              <a:spLocks noChangeArrowheads="1"/>
            </p:cNvSpPr>
            <p:nvPr/>
          </p:nvSpPr>
          <p:spPr bwMode="auto">
            <a:xfrm>
              <a:off x="7293952" y="2913841"/>
              <a:ext cx="425414" cy="371513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G</a:t>
              </a:r>
              <a:r>
                <a:rPr lang="en-US" altLang="zh-CN" i="0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4</a:t>
              </a:r>
              <a:endParaRPr lang="en-US" altLang="zh-CN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cxnSp>
          <p:nvCxnSpPr>
            <p:cNvPr id="73" name="直接连接符 72"/>
            <p:cNvCxnSpPr/>
            <p:nvPr/>
          </p:nvCxnSpPr>
          <p:spPr>
            <a:xfrm rot="16200000">
              <a:off x="5645512" y="3556302"/>
              <a:ext cx="54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rot="16200000">
              <a:off x="7316662" y="3455802"/>
              <a:ext cx="36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rot="16200000">
              <a:off x="7035187" y="3383876"/>
              <a:ext cx="18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rot="16200000">
              <a:off x="6087937" y="3451039"/>
              <a:ext cx="36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rot="10800000" flipV="1">
              <a:off x="6274251" y="3625827"/>
              <a:ext cx="1224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rot="16200000">
              <a:off x="6763724" y="3707725"/>
              <a:ext cx="18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椭圆 79"/>
            <p:cNvSpPr/>
            <p:nvPr/>
          </p:nvSpPr>
          <p:spPr>
            <a:xfrm rot="16200000">
              <a:off x="5877412" y="3811452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椭圆 80"/>
            <p:cNvSpPr/>
            <p:nvPr/>
          </p:nvSpPr>
          <p:spPr>
            <a:xfrm rot="16200000">
              <a:off x="6815625" y="3806687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2" name="Text Box 70"/>
            <p:cNvSpPr txBox="1">
              <a:spLocks noChangeArrowheads="1"/>
            </p:cNvSpPr>
            <p:nvPr/>
          </p:nvSpPr>
          <p:spPr bwMode="auto">
            <a:xfrm>
              <a:off x="5791153" y="3877406"/>
              <a:ext cx="404576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endPara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4" name="Text Box 70"/>
            <p:cNvSpPr txBox="1">
              <a:spLocks noChangeArrowheads="1"/>
            </p:cNvSpPr>
            <p:nvPr/>
          </p:nvSpPr>
          <p:spPr bwMode="auto">
            <a:xfrm>
              <a:off x="6452779" y="3848470"/>
              <a:ext cx="574494" cy="46384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CP</a:t>
              </a:r>
              <a:endPara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 rot="16200000">
              <a:off x="6082199" y="1029378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 rot="16200000">
              <a:off x="7272824" y="996039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cxnSp>
          <p:nvCxnSpPr>
            <p:cNvPr id="99" name="直接连接符 98"/>
            <p:cNvCxnSpPr/>
            <p:nvPr/>
          </p:nvCxnSpPr>
          <p:spPr>
            <a:xfrm rot="10800000" flipV="1">
              <a:off x="6095262" y="2635227"/>
              <a:ext cx="36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rot="16200000" flipV="1">
              <a:off x="6253924" y="2829685"/>
              <a:ext cx="841399" cy="452481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rot="10800000" flipV="1">
              <a:off x="6902299" y="3473427"/>
              <a:ext cx="234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Rectangle 4"/>
          <p:cNvSpPr>
            <a:spLocks noChangeArrowheads="1"/>
          </p:cNvSpPr>
          <p:nvPr/>
        </p:nvSpPr>
        <p:spPr bwMode="auto">
          <a:xfrm>
            <a:off x="622780" y="255181"/>
            <a:ext cx="2808782" cy="523220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altLang="zh-CN" sz="2800" i="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2).  </a:t>
            </a:r>
            <a:r>
              <a:rPr lang="zh-CN" altLang="en-US" sz="2800" i="0" dirty="0">
                <a:solidFill>
                  <a:srgbClr val="00B0F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同步</a:t>
            </a:r>
            <a:r>
              <a:rPr lang="en-US" altLang="zh-CN" sz="2800" i="0" dirty="0">
                <a:solidFill>
                  <a:srgbClr val="00B0F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2800" i="0" dirty="0">
                <a:solidFill>
                  <a:srgbClr val="00B0F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锁存器</a:t>
            </a:r>
            <a:endParaRPr lang="zh-CN" altLang="en-US" sz="2800" i="0" dirty="0">
              <a:solidFill>
                <a:srgbClr val="00B0F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5" name="Rectangle 5"/>
          <p:cNvSpPr>
            <a:spLocks noChangeArrowheads="1"/>
          </p:cNvSpPr>
          <p:nvPr/>
        </p:nvSpPr>
        <p:spPr bwMode="auto">
          <a:xfrm>
            <a:off x="4066732" y="1486529"/>
            <a:ext cx="2887330" cy="523220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触发方式</a:t>
            </a:r>
            <a:r>
              <a:rPr lang="en-US" altLang="zh-CN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: </a:t>
            </a: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正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脉冲</a:t>
            </a:r>
          </a:p>
        </p:txBody>
      </p:sp>
      <p:sp>
        <p:nvSpPr>
          <p:cNvPr id="106" name="Text Box 42"/>
          <p:cNvSpPr txBox="1">
            <a:spLocks noChangeArrowheads="1"/>
          </p:cNvSpPr>
          <p:nvPr/>
        </p:nvSpPr>
        <p:spPr bwMode="auto">
          <a:xfrm>
            <a:off x="4354070" y="846470"/>
            <a:ext cx="181822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endParaRPr lang="en-US" altLang="zh-CN" sz="2800" i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7" name="Text Box 43"/>
          <p:cNvSpPr txBox="1">
            <a:spLocks noChangeArrowheads="1"/>
          </p:cNvSpPr>
          <p:nvPr/>
        </p:nvSpPr>
        <p:spPr bwMode="auto">
          <a:xfrm>
            <a:off x="4098630" y="455798"/>
            <a:ext cx="3800475" cy="9562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特点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：只有一个输入端，仅用于锁存数据。</a:t>
            </a:r>
          </a:p>
        </p:txBody>
      </p:sp>
      <p:grpSp>
        <p:nvGrpSpPr>
          <p:cNvPr id="108" name="Group 44"/>
          <p:cNvGrpSpPr>
            <a:grpSpLocks/>
          </p:cNvGrpSpPr>
          <p:nvPr/>
        </p:nvGrpSpPr>
        <p:grpSpPr bwMode="auto">
          <a:xfrm>
            <a:off x="3954427" y="2646695"/>
            <a:ext cx="2541588" cy="1997075"/>
            <a:chOff x="3792" y="2438"/>
            <a:chExt cx="1601" cy="1258"/>
          </a:xfrm>
        </p:grpSpPr>
        <p:grpSp>
          <p:nvGrpSpPr>
            <p:cNvPr id="109" name="Group 45"/>
            <p:cNvGrpSpPr>
              <a:grpSpLocks/>
            </p:cNvGrpSpPr>
            <p:nvPr/>
          </p:nvGrpSpPr>
          <p:grpSpPr bwMode="auto">
            <a:xfrm>
              <a:off x="3792" y="2448"/>
              <a:ext cx="1584" cy="1248"/>
              <a:chOff x="3792" y="2448"/>
              <a:chExt cx="1584" cy="1248"/>
            </a:xfrm>
          </p:grpSpPr>
          <p:sp>
            <p:nvSpPr>
              <p:cNvPr id="113" name="Rectangle 46"/>
              <p:cNvSpPr>
                <a:spLocks noChangeArrowheads="1"/>
              </p:cNvSpPr>
              <p:nvPr/>
            </p:nvSpPr>
            <p:spPr bwMode="auto">
              <a:xfrm>
                <a:off x="3792" y="2448"/>
                <a:ext cx="1584" cy="1248"/>
              </a:xfrm>
              <a:prstGeom prst="rect">
                <a:avLst/>
              </a:prstGeom>
              <a:gradFill rotWithShape="0">
                <a:gsLst>
                  <a:gs pos="0">
                    <a:srgbClr val="CCFFCC"/>
                  </a:gs>
                  <a:gs pos="100000">
                    <a:srgbClr val="7FBCE5"/>
                  </a:gs>
                </a:gsLst>
                <a:lin ang="2700000" scaled="1"/>
              </a:gra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4" name="Line 47"/>
              <p:cNvSpPr>
                <a:spLocks noChangeShapeType="1"/>
              </p:cNvSpPr>
              <p:nvPr/>
            </p:nvSpPr>
            <p:spPr bwMode="auto">
              <a:xfrm>
                <a:off x="3792" y="2640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5" name="Line 48"/>
              <p:cNvSpPr>
                <a:spLocks noChangeShapeType="1"/>
              </p:cNvSpPr>
              <p:nvPr/>
            </p:nvSpPr>
            <p:spPr bwMode="auto">
              <a:xfrm>
                <a:off x="3792" y="2832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6" name="Line 49"/>
              <p:cNvSpPr>
                <a:spLocks noChangeShapeType="1"/>
              </p:cNvSpPr>
              <p:nvPr/>
            </p:nvSpPr>
            <p:spPr bwMode="auto">
              <a:xfrm>
                <a:off x="4320" y="2448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7" name="Line 50"/>
              <p:cNvSpPr>
                <a:spLocks noChangeShapeType="1"/>
              </p:cNvSpPr>
              <p:nvPr/>
            </p:nvSpPr>
            <p:spPr bwMode="auto">
              <a:xfrm>
                <a:off x="4853" y="2448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10" name="Group 51"/>
            <p:cNvGrpSpPr>
              <a:grpSpLocks/>
            </p:cNvGrpSpPr>
            <p:nvPr/>
          </p:nvGrpSpPr>
          <p:grpSpPr bwMode="auto">
            <a:xfrm>
              <a:off x="3888" y="2438"/>
              <a:ext cx="1505" cy="414"/>
              <a:chOff x="3888" y="2438"/>
              <a:chExt cx="1505" cy="414"/>
            </a:xfrm>
          </p:grpSpPr>
          <p:sp>
            <p:nvSpPr>
              <p:cNvPr id="111" name="Text Box 52"/>
              <p:cNvSpPr txBox="1">
                <a:spLocks noChangeArrowheads="1"/>
              </p:cNvSpPr>
              <p:nvPr/>
            </p:nvSpPr>
            <p:spPr bwMode="auto">
              <a:xfrm>
                <a:off x="3888" y="2438"/>
                <a:ext cx="1505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CP</a:t>
                </a:r>
                <a:r>
                  <a:rPr lang="en-US" altLang="zh-CN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   </a:t>
                </a:r>
                <a:r>
                  <a:rPr lang="en-US" altLang="zh-CN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r>
                  <a:rPr lang="en-US" altLang="zh-CN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      </a:t>
                </a:r>
                <a:r>
                  <a:rPr lang="en-US" altLang="zh-CN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 </a:t>
                </a:r>
                <a:r>
                  <a:rPr lang="en-US" altLang="zh-CN" b="1" baseline="30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n</a:t>
                </a:r>
                <a:r>
                  <a:rPr lang="en-US" altLang="zh-CN" b="1" i="0" baseline="30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+1</a:t>
                </a:r>
                <a:endParaRPr lang="en-US" altLang="zh-CN" b="1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2" name="Text Box 53"/>
              <p:cNvSpPr txBox="1">
                <a:spLocks noChangeArrowheads="1"/>
              </p:cNvSpPr>
              <p:nvPr/>
            </p:nvSpPr>
            <p:spPr bwMode="auto">
              <a:xfrm>
                <a:off x="3888" y="2619"/>
                <a:ext cx="1505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</a:t>
                </a:r>
                <a:r>
                  <a:rPr lang="en-US" altLang="zh-CN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               </a:t>
                </a:r>
                <a:r>
                  <a:rPr lang="en-US" altLang="zh-CN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   </a:t>
                </a:r>
                <a:r>
                  <a:rPr lang="en-US" altLang="zh-CN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 </a:t>
                </a:r>
                <a:r>
                  <a:rPr lang="en-US" altLang="zh-CN" b="1" baseline="30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n</a:t>
                </a:r>
                <a:endParaRPr lang="en-US" altLang="zh-CN" b="1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118" name="Rectangle 54"/>
          <p:cNvSpPr>
            <a:spLocks noChangeArrowheads="1"/>
          </p:cNvSpPr>
          <p:nvPr/>
        </p:nvSpPr>
        <p:spPr bwMode="auto">
          <a:xfrm>
            <a:off x="4314789" y="2143458"/>
            <a:ext cx="1977121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逻辑状态表</a:t>
            </a:r>
          </a:p>
        </p:txBody>
      </p:sp>
      <p:sp>
        <p:nvSpPr>
          <p:cNvPr id="119" name="Text Box 56"/>
          <p:cNvSpPr txBox="1">
            <a:spLocks noChangeArrowheads="1"/>
          </p:cNvSpPr>
          <p:nvPr/>
        </p:nvSpPr>
        <p:spPr bwMode="auto">
          <a:xfrm>
            <a:off x="4243351" y="3294395"/>
            <a:ext cx="1951473" cy="46384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1        1         1</a:t>
            </a:r>
          </a:p>
        </p:txBody>
      </p:sp>
      <p:sp>
        <p:nvSpPr>
          <p:cNvPr id="120" name="Text Box 57"/>
          <p:cNvSpPr txBox="1">
            <a:spLocks noChangeArrowheads="1"/>
          </p:cNvSpPr>
          <p:nvPr/>
        </p:nvSpPr>
        <p:spPr bwMode="auto">
          <a:xfrm>
            <a:off x="4243351" y="3654758"/>
            <a:ext cx="1951473" cy="46384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1        0         0</a:t>
            </a:r>
          </a:p>
        </p:txBody>
      </p:sp>
      <p:sp>
        <p:nvSpPr>
          <p:cNvPr id="121" name="Text Box 58"/>
          <p:cNvSpPr txBox="1">
            <a:spLocks noChangeArrowheads="1"/>
          </p:cNvSpPr>
          <p:nvPr/>
        </p:nvSpPr>
        <p:spPr bwMode="auto">
          <a:xfrm>
            <a:off x="4243351" y="4015120"/>
            <a:ext cx="1951473" cy="46384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0                   0</a:t>
            </a:r>
          </a:p>
        </p:txBody>
      </p:sp>
      <p:sp>
        <p:nvSpPr>
          <p:cNvPr id="122" name="Text Box 59"/>
          <p:cNvSpPr txBox="1">
            <a:spLocks noChangeArrowheads="1"/>
          </p:cNvSpPr>
          <p:nvPr/>
        </p:nvSpPr>
        <p:spPr bwMode="auto">
          <a:xfrm>
            <a:off x="2302209" y="4086041"/>
            <a:ext cx="481640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23" name="Text Box 62"/>
          <p:cNvSpPr txBox="1">
            <a:spLocks noChangeArrowheads="1"/>
          </p:cNvSpPr>
          <p:nvPr/>
        </p:nvSpPr>
        <p:spPr bwMode="auto">
          <a:xfrm>
            <a:off x="2302208" y="4086041"/>
            <a:ext cx="287337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24" name="Text Box 63"/>
          <p:cNvSpPr txBox="1">
            <a:spLocks noChangeArrowheads="1"/>
          </p:cNvSpPr>
          <p:nvPr/>
        </p:nvSpPr>
        <p:spPr bwMode="auto">
          <a:xfrm>
            <a:off x="911557" y="4082866"/>
            <a:ext cx="361294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25" name="Text Box 66"/>
          <p:cNvSpPr txBox="1">
            <a:spLocks noChangeArrowheads="1"/>
          </p:cNvSpPr>
          <p:nvPr/>
        </p:nvSpPr>
        <p:spPr bwMode="auto">
          <a:xfrm>
            <a:off x="1094120" y="1158691"/>
            <a:ext cx="361294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26" name="Text Box 67"/>
          <p:cNvSpPr txBox="1">
            <a:spLocks noChangeArrowheads="1"/>
          </p:cNvSpPr>
          <p:nvPr/>
        </p:nvSpPr>
        <p:spPr bwMode="auto">
          <a:xfrm>
            <a:off x="911557" y="4105091"/>
            <a:ext cx="361294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27" name="Text Box 69"/>
          <p:cNvSpPr txBox="1">
            <a:spLocks noChangeArrowheads="1"/>
          </p:cNvSpPr>
          <p:nvPr/>
        </p:nvSpPr>
        <p:spPr bwMode="auto">
          <a:xfrm>
            <a:off x="2894345" y="1158691"/>
            <a:ext cx="361294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28" name="Text Box 70"/>
          <p:cNvSpPr txBox="1">
            <a:spLocks noChangeArrowheads="1"/>
          </p:cNvSpPr>
          <p:nvPr/>
        </p:nvSpPr>
        <p:spPr bwMode="auto">
          <a:xfrm>
            <a:off x="1167145" y="1158691"/>
            <a:ext cx="361294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29" name="Text Box 71"/>
          <p:cNvSpPr txBox="1">
            <a:spLocks noChangeArrowheads="1"/>
          </p:cNvSpPr>
          <p:nvPr/>
        </p:nvSpPr>
        <p:spPr bwMode="auto">
          <a:xfrm>
            <a:off x="2302208" y="4086041"/>
            <a:ext cx="361294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30" name="Text Box 73"/>
          <p:cNvSpPr txBox="1">
            <a:spLocks noChangeArrowheads="1"/>
          </p:cNvSpPr>
          <p:nvPr/>
        </p:nvSpPr>
        <p:spPr bwMode="auto">
          <a:xfrm>
            <a:off x="2302208" y="4086041"/>
            <a:ext cx="503237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31" name="Rectangle 86"/>
          <p:cNvSpPr>
            <a:spLocks noChangeArrowheads="1"/>
          </p:cNvSpPr>
          <p:nvPr/>
        </p:nvSpPr>
        <p:spPr bwMode="auto">
          <a:xfrm>
            <a:off x="2678445" y="1104716"/>
            <a:ext cx="566479" cy="58695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32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32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</a:p>
        </p:txBody>
      </p:sp>
      <p:grpSp>
        <p:nvGrpSpPr>
          <p:cNvPr id="132" name="Group 87"/>
          <p:cNvGrpSpPr>
            <a:grpSpLocks/>
          </p:cNvGrpSpPr>
          <p:nvPr/>
        </p:nvGrpSpPr>
        <p:grpSpPr bwMode="auto">
          <a:xfrm>
            <a:off x="6705710" y="2917678"/>
            <a:ext cx="1976437" cy="1152525"/>
            <a:chOff x="3243" y="3022"/>
            <a:chExt cx="1245" cy="726"/>
          </a:xfrm>
        </p:grpSpPr>
        <p:grpSp>
          <p:nvGrpSpPr>
            <p:cNvPr id="133" name="Group 88"/>
            <p:cNvGrpSpPr>
              <a:grpSpLocks/>
            </p:cNvGrpSpPr>
            <p:nvPr/>
          </p:nvGrpSpPr>
          <p:grpSpPr bwMode="auto">
            <a:xfrm>
              <a:off x="3334" y="3385"/>
              <a:ext cx="904" cy="344"/>
              <a:chOff x="3651" y="3294"/>
              <a:chExt cx="904" cy="344"/>
            </a:xfrm>
          </p:grpSpPr>
          <p:sp>
            <p:nvSpPr>
              <p:cNvPr id="136" name="Text Box 89"/>
              <p:cNvSpPr txBox="1">
                <a:spLocks noChangeArrowheads="1"/>
              </p:cNvSpPr>
              <p:nvPr/>
            </p:nvSpPr>
            <p:spPr bwMode="auto">
              <a:xfrm>
                <a:off x="3651" y="3294"/>
                <a:ext cx="514" cy="3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2800" b="1" baseline="44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n</a:t>
                </a:r>
                <a:r>
                  <a:rPr lang="en-US" altLang="zh-CN" sz="2800" b="1" i="0" baseline="44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+1</a:t>
                </a:r>
              </a:p>
            </p:txBody>
          </p:sp>
          <p:sp>
            <p:nvSpPr>
              <p:cNvPr id="137" name="Text Box 90"/>
              <p:cNvSpPr txBox="1">
                <a:spLocks noChangeArrowheads="1"/>
              </p:cNvSpPr>
              <p:nvPr/>
            </p:nvSpPr>
            <p:spPr bwMode="auto">
              <a:xfrm>
                <a:off x="4150" y="3307"/>
                <a:ext cx="405" cy="3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=</a:t>
                </a:r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</a:p>
            </p:txBody>
          </p:sp>
        </p:grpSp>
        <p:sp>
          <p:nvSpPr>
            <p:cNvPr id="134" name="Rectangle 91"/>
            <p:cNvSpPr>
              <a:spLocks noChangeArrowheads="1"/>
            </p:cNvSpPr>
            <p:nvPr/>
          </p:nvSpPr>
          <p:spPr bwMode="auto">
            <a:xfrm>
              <a:off x="3243" y="3022"/>
              <a:ext cx="1245" cy="3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逻辑函数式</a:t>
              </a:r>
            </a:p>
          </p:txBody>
        </p:sp>
        <p:sp>
          <p:nvSpPr>
            <p:cNvPr id="135" name="Rectangle 92"/>
            <p:cNvSpPr>
              <a:spLocks noChangeArrowheads="1"/>
            </p:cNvSpPr>
            <p:nvPr/>
          </p:nvSpPr>
          <p:spPr bwMode="auto">
            <a:xfrm>
              <a:off x="3243" y="3339"/>
              <a:ext cx="1089" cy="409"/>
            </a:xfrm>
            <a:prstGeom prst="rect">
              <a:avLst/>
            </a:prstGeom>
            <a:noFill/>
            <a:ln w="1270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76" name="Text Box 60"/>
          <p:cNvSpPr txBox="1">
            <a:spLocks noChangeArrowheads="1"/>
          </p:cNvSpPr>
          <p:nvPr/>
        </p:nvSpPr>
        <p:spPr bwMode="auto">
          <a:xfrm>
            <a:off x="2364120" y="2727141"/>
            <a:ext cx="430213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77" name="Text Box 64"/>
          <p:cNvSpPr txBox="1">
            <a:spLocks noChangeArrowheads="1"/>
          </p:cNvSpPr>
          <p:nvPr/>
        </p:nvSpPr>
        <p:spPr bwMode="auto">
          <a:xfrm>
            <a:off x="2364120" y="2704916"/>
            <a:ext cx="361294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78" name="Text Box 72"/>
          <p:cNvSpPr txBox="1">
            <a:spLocks noChangeArrowheads="1"/>
          </p:cNvSpPr>
          <p:nvPr/>
        </p:nvSpPr>
        <p:spPr bwMode="auto">
          <a:xfrm>
            <a:off x="2364120" y="2727141"/>
            <a:ext cx="504825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79" name="Text Box 75"/>
          <p:cNvSpPr txBox="1">
            <a:spLocks noChangeArrowheads="1"/>
          </p:cNvSpPr>
          <p:nvPr/>
        </p:nvSpPr>
        <p:spPr bwMode="auto">
          <a:xfrm>
            <a:off x="2364120" y="2727141"/>
            <a:ext cx="288925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80" name="Text Box 61"/>
          <p:cNvSpPr txBox="1">
            <a:spLocks noChangeArrowheads="1"/>
          </p:cNvSpPr>
          <p:nvPr/>
        </p:nvSpPr>
        <p:spPr bwMode="auto">
          <a:xfrm>
            <a:off x="1479882" y="2639829"/>
            <a:ext cx="403853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81" name="Text Box 65"/>
          <p:cNvSpPr txBox="1">
            <a:spLocks noChangeArrowheads="1"/>
          </p:cNvSpPr>
          <p:nvPr/>
        </p:nvSpPr>
        <p:spPr bwMode="auto">
          <a:xfrm>
            <a:off x="1479882" y="2617604"/>
            <a:ext cx="361294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82" name="Text Box 68"/>
          <p:cNvSpPr txBox="1">
            <a:spLocks noChangeArrowheads="1"/>
          </p:cNvSpPr>
          <p:nvPr/>
        </p:nvSpPr>
        <p:spPr bwMode="auto">
          <a:xfrm>
            <a:off x="1479882" y="2617604"/>
            <a:ext cx="361294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83" name="Text Box 74"/>
          <p:cNvSpPr txBox="1">
            <a:spLocks noChangeArrowheads="1"/>
          </p:cNvSpPr>
          <p:nvPr/>
        </p:nvSpPr>
        <p:spPr bwMode="auto">
          <a:xfrm>
            <a:off x="1479882" y="2639829"/>
            <a:ext cx="431800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8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8" dur="500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utoUpdateAnimBg="0"/>
      <p:bldP spid="107" grpId="0"/>
      <p:bldP spid="118" grpId="0"/>
      <p:bldP spid="119" grpId="0"/>
      <p:bldP spid="120" grpId="0"/>
      <p:bldP spid="121" grpId="0"/>
      <p:bldP spid="122" grpId="0"/>
      <p:bldP spid="122" grpId="1"/>
      <p:bldP spid="123" grpId="0"/>
      <p:bldP spid="123" grpId="1"/>
      <p:bldP spid="124" grpId="0"/>
      <p:bldP spid="124" grpId="1"/>
      <p:bldP spid="125" grpId="0" build="allAtOnce"/>
      <p:bldP spid="126" grpId="0"/>
      <p:bldP spid="129" grpId="0"/>
      <p:bldP spid="129" grpId="1"/>
      <p:bldP spid="130" grpId="0"/>
      <p:bldP spid="131" grpId="0"/>
      <p:bldP spid="131" grpId="1"/>
      <p:bldP spid="176" grpId="0"/>
      <p:bldP spid="176" grpId="1"/>
      <p:bldP spid="177" grpId="0" build="allAtOnce"/>
      <p:bldP spid="178" grpId="0"/>
      <p:bldP spid="178" grpId="1"/>
      <p:bldP spid="179" grpId="0"/>
      <p:bldP spid="180" grpId="0"/>
      <p:bldP spid="180" grpId="1"/>
      <p:bldP spid="181" grpId="0"/>
      <p:bldP spid="181" grpId="1"/>
      <p:bldP spid="182" grpId="0"/>
      <p:bldP spid="182" grpId="1"/>
      <p:bldP spid="18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511042" y="734997"/>
            <a:ext cx="5695586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、正边沿触发的</a:t>
            </a: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触发器</a:t>
            </a: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1817688" y="2398713"/>
            <a:ext cx="165224" cy="59875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2800" i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827088" y="1742484"/>
            <a:ext cx="7530103" cy="22801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所谓边沿触发是指触发器的次态仅由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时钟脉冲的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上升沿或下降沿来到时的输入信号决定，在此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以前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或以后输入信号的变化不会影响触发器的状态。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1150937" y="2918710"/>
            <a:ext cx="7366000" cy="525463"/>
            <a:chOff x="1020" y="3158"/>
            <a:chExt cx="4640" cy="331"/>
          </a:xfrm>
        </p:grpSpPr>
        <p:sp>
          <p:nvSpPr>
            <p:cNvPr id="3" name="Rectangle 14"/>
            <p:cNvSpPr>
              <a:spLocks noChangeArrowheads="1"/>
            </p:cNvSpPr>
            <p:nvPr/>
          </p:nvSpPr>
          <p:spPr bwMode="auto">
            <a:xfrm>
              <a:off x="1020" y="3158"/>
              <a:ext cx="1542" cy="3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28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正边沿触发：</a:t>
              </a:r>
            </a:p>
          </p:txBody>
        </p:sp>
        <p:sp>
          <p:nvSpPr>
            <p:cNvPr id="4" name="Rectangle 16"/>
            <p:cNvSpPr>
              <a:spLocks noChangeArrowheads="1"/>
            </p:cNvSpPr>
            <p:nvPr/>
          </p:nvSpPr>
          <p:spPr bwMode="auto">
            <a:xfrm>
              <a:off x="2517" y="3158"/>
              <a:ext cx="3143" cy="3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时钟脉冲的上升沿来到时有效。</a:t>
              </a:r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1150937" y="3494973"/>
            <a:ext cx="7429500" cy="525462"/>
            <a:chOff x="1020" y="3158"/>
            <a:chExt cx="4680" cy="331"/>
          </a:xfrm>
        </p:grpSpPr>
        <p:sp>
          <p:nvSpPr>
            <p:cNvPr id="6" name="Rectangle 21"/>
            <p:cNvSpPr>
              <a:spLocks noChangeArrowheads="1"/>
            </p:cNvSpPr>
            <p:nvPr/>
          </p:nvSpPr>
          <p:spPr bwMode="auto">
            <a:xfrm>
              <a:off x="1020" y="3158"/>
              <a:ext cx="1542" cy="3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28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负边沿触发：</a:t>
              </a:r>
            </a:p>
          </p:txBody>
        </p:sp>
        <p:sp>
          <p:nvSpPr>
            <p:cNvPr id="7" name="Rectangle 22"/>
            <p:cNvSpPr>
              <a:spLocks noChangeArrowheads="1"/>
            </p:cNvSpPr>
            <p:nvPr/>
          </p:nvSpPr>
          <p:spPr bwMode="auto">
            <a:xfrm>
              <a:off x="2517" y="3158"/>
              <a:ext cx="3183" cy="3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时钟脉冲的下降沿来到时有效。</a:t>
              </a:r>
            </a:p>
          </p:txBody>
        </p:sp>
      </p:grp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719137" y="606277"/>
            <a:ext cx="3930650" cy="525463"/>
            <a:chOff x="793" y="921"/>
            <a:chExt cx="2476" cy="331"/>
          </a:xfrm>
        </p:grpSpPr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1111" y="921"/>
              <a:ext cx="2158" cy="3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边沿触发器的特点</a:t>
              </a:r>
              <a:r>
                <a:rPr lang="zh-CN" altLang="en-US" sz="28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：</a:t>
              </a:r>
            </a:p>
          </p:txBody>
        </p:sp>
        <p:sp>
          <p:nvSpPr>
            <p:cNvPr id="10" name="AutoShape 23"/>
            <p:cNvSpPr>
              <a:spLocks noChangeArrowheads="1"/>
            </p:cNvSpPr>
            <p:nvPr/>
          </p:nvSpPr>
          <p:spPr bwMode="auto">
            <a:xfrm>
              <a:off x="793" y="1012"/>
              <a:ext cx="227" cy="182"/>
            </a:xfrm>
            <a:prstGeom prst="flowChartExtract">
              <a:avLst/>
            </a:prstGeom>
            <a:solidFill>
              <a:srgbClr val="002060"/>
            </a:solidFill>
            <a:ln w="25400">
              <a:solidFill>
                <a:srgbClr val="FAD67E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719137" y="2342447"/>
            <a:ext cx="3930650" cy="525462"/>
            <a:chOff x="748" y="2795"/>
            <a:chExt cx="2476" cy="331"/>
          </a:xfrm>
        </p:grpSpPr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066" y="2795"/>
              <a:ext cx="2158" cy="3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边沿触发器的分类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：</a:t>
              </a:r>
            </a:p>
          </p:txBody>
        </p:sp>
        <p:sp>
          <p:nvSpPr>
            <p:cNvPr id="13" name="AutoShape 24"/>
            <p:cNvSpPr>
              <a:spLocks noChangeArrowheads="1"/>
            </p:cNvSpPr>
            <p:nvPr/>
          </p:nvSpPr>
          <p:spPr bwMode="auto">
            <a:xfrm>
              <a:off x="748" y="2886"/>
              <a:ext cx="227" cy="182"/>
            </a:xfrm>
            <a:prstGeom prst="flowChartExtract">
              <a:avLst/>
            </a:prstGeom>
            <a:solidFill>
              <a:srgbClr val="002060"/>
            </a:solidFill>
            <a:ln w="25400">
              <a:solidFill>
                <a:srgbClr val="FAD67E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719137" y="1182540"/>
            <a:ext cx="7416800" cy="9562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来一个时钟脉冲，触发器翻转一次且只能翻转一次。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8"/>
          <p:cNvGrpSpPr>
            <a:grpSpLocks/>
          </p:cNvGrpSpPr>
          <p:nvPr/>
        </p:nvGrpSpPr>
        <p:grpSpPr bwMode="auto">
          <a:xfrm>
            <a:off x="3733319" y="1779034"/>
            <a:ext cx="3559065" cy="2697273"/>
            <a:chOff x="657" y="2024"/>
            <a:chExt cx="2495" cy="1967"/>
          </a:xfrm>
        </p:grpSpPr>
        <p:sp>
          <p:nvSpPr>
            <p:cNvPr id="3" name="Rectangle 99"/>
            <p:cNvSpPr>
              <a:spLocks noChangeArrowheads="1"/>
            </p:cNvSpPr>
            <p:nvPr/>
          </p:nvSpPr>
          <p:spPr bwMode="auto">
            <a:xfrm>
              <a:off x="657" y="2024"/>
              <a:ext cx="2494" cy="1947"/>
            </a:xfrm>
            <a:prstGeom prst="rect">
              <a:avLst/>
            </a:prstGeom>
            <a:gradFill rotWithShape="0">
              <a:gsLst>
                <a:gs pos="0">
                  <a:srgbClr val="5E765E"/>
                </a:gs>
                <a:gs pos="100000">
                  <a:srgbClr val="CCFFCC"/>
                </a:gs>
              </a:gsLst>
              <a:lin ang="189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" name="Text Box 100"/>
            <p:cNvSpPr txBox="1">
              <a:spLocks noChangeArrowheads="1"/>
            </p:cNvSpPr>
            <p:nvPr/>
          </p:nvSpPr>
          <p:spPr bwMode="auto">
            <a:xfrm>
              <a:off x="884" y="2069"/>
              <a:ext cx="337" cy="42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1" i="1" dirty="0"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  <p:sp>
          <p:nvSpPr>
            <p:cNvPr id="5" name="Text Box 101"/>
            <p:cNvSpPr txBox="1">
              <a:spLocks noChangeArrowheads="1"/>
            </p:cNvSpPr>
            <p:nvPr/>
          </p:nvSpPr>
          <p:spPr bwMode="auto">
            <a:xfrm>
              <a:off x="1165" y="2069"/>
              <a:ext cx="577" cy="42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1" i="0" dirty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  </a:t>
              </a:r>
              <a:r>
                <a:rPr lang="en-US" altLang="zh-CN" sz="3200" b="1" i="1" dirty="0" err="1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CN" sz="3200" b="1" baseline="30000" dirty="0" err="1">
                  <a:latin typeface="Times New Roman" pitchFamily="18" charset="0"/>
                  <a:cs typeface="Times New Roman" pitchFamily="18" charset="0"/>
                </a:rPr>
                <a:t>n</a:t>
              </a:r>
              <a:endParaRPr lang="en-US" altLang="zh-CN" sz="3200" b="1" i="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" name="Text Box 102"/>
            <p:cNvSpPr txBox="1">
              <a:spLocks noChangeArrowheads="1"/>
            </p:cNvSpPr>
            <p:nvPr/>
          </p:nvSpPr>
          <p:spPr bwMode="auto">
            <a:xfrm>
              <a:off x="1835" y="2061"/>
              <a:ext cx="636" cy="42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1" i="1" dirty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CN" sz="3200" b="1" baseline="30000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zh-CN" sz="3200" b="1" i="0" baseline="30000" dirty="0">
                  <a:latin typeface="Times New Roman" pitchFamily="18" charset="0"/>
                  <a:cs typeface="Times New Roman" pitchFamily="18" charset="0"/>
                </a:rPr>
                <a:t>+1</a:t>
              </a:r>
              <a:endParaRPr lang="en-US" altLang="zh-CN" sz="3200" b="1" i="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Line 103"/>
            <p:cNvSpPr>
              <a:spLocks noChangeShapeType="1"/>
            </p:cNvSpPr>
            <p:nvPr/>
          </p:nvSpPr>
          <p:spPr bwMode="auto">
            <a:xfrm>
              <a:off x="657" y="2478"/>
              <a:ext cx="24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Line 104"/>
            <p:cNvSpPr>
              <a:spLocks noChangeShapeType="1"/>
            </p:cNvSpPr>
            <p:nvPr/>
          </p:nvSpPr>
          <p:spPr bwMode="auto">
            <a:xfrm>
              <a:off x="1736" y="2044"/>
              <a:ext cx="0" cy="19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" name="Text Box 48"/>
          <p:cNvSpPr txBox="1">
            <a:spLocks noChangeArrowheads="1"/>
          </p:cNvSpPr>
          <p:nvPr/>
        </p:nvSpPr>
        <p:spPr bwMode="auto">
          <a:xfrm>
            <a:off x="6481947" y="3671962"/>
            <a:ext cx="813043" cy="523220"/>
          </a:xfrm>
          <a:prstGeom prst="rect">
            <a:avLst/>
          </a:prstGeom>
          <a:noFill/>
          <a:ln w="38100" cap="sq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i="0" dirty="0">
                <a:solidFill>
                  <a:schemeClr val="accent2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 </a:t>
            </a:r>
            <a:r>
              <a:rPr lang="en-US" altLang="zh-CN" sz="2800" b="1" i="0" dirty="0">
                <a:solidFill>
                  <a:schemeClr val="accent2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endParaRPr lang="en-US" altLang="zh-CN" sz="2400" b="1" i="0" dirty="0">
              <a:solidFill>
                <a:schemeClr val="accent2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" name="Text Box 49"/>
          <p:cNvSpPr txBox="1">
            <a:spLocks noChangeArrowheads="1"/>
          </p:cNvSpPr>
          <p:nvPr/>
        </p:nvSpPr>
        <p:spPr bwMode="auto">
          <a:xfrm>
            <a:off x="6410509" y="2663899"/>
            <a:ext cx="902811" cy="523220"/>
          </a:xfrm>
          <a:prstGeom prst="rect">
            <a:avLst/>
          </a:prstGeom>
          <a:noFill/>
          <a:ln w="38100" cap="sq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i="0" dirty="0">
                <a:solidFill>
                  <a:schemeClr val="accent2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 </a:t>
            </a:r>
            <a:r>
              <a:rPr lang="en-US" altLang="zh-CN" sz="2800" b="1" i="0" dirty="0">
                <a:solidFill>
                  <a:schemeClr val="accent2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</a:t>
            </a:r>
            <a:endParaRPr lang="en-US" altLang="zh-CN" sz="2400" b="1" i="0" dirty="0">
              <a:solidFill>
                <a:schemeClr val="accent2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" name="AutoShape 64"/>
          <p:cNvSpPr>
            <a:spLocks/>
          </p:cNvSpPr>
          <p:nvPr/>
        </p:nvSpPr>
        <p:spPr bwMode="auto">
          <a:xfrm>
            <a:off x="7148697" y="2735337"/>
            <a:ext cx="269875" cy="1370012"/>
          </a:xfrm>
          <a:prstGeom prst="rightBrace">
            <a:avLst>
              <a:gd name="adj1" fmla="val 42304"/>
              <a:gd name="adj2" fmla="val 51685"/>
            </a:avLst>
          </a:prstGeom>
          <a:noFill/>
          <a:ln w="34925">
            <a:solidFill>
              <a:srgbClr val="2553E5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Box 32"/>
          <p:cNvSpPr txBox="1">
            <a:spLocks noChangeArrowheads="1"/>
          </p:cNvSpPr>
          <p:nvPr/>
        </p:nvSpPr>
        <p:spPr bwMode="auto">
          <a:xfrm>
            <a:off x="4001420" y="2879799"/>
            <a:ext cx="3315071" cy="579438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square" anchor="ctr">
            <a:spAutoFit/>
          </a:bodyPr>
          <a:lstStyle/>
          <a:p>
            <a:r>
              <a:rPr lang="en-US" altLang="zh-CN" sz="3200" b="1" i="0" dirty="0" smtClean="0">
                <a:solidFill>
                  <a:srgbClr val="FF66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3200" b="1" i="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3200" b="1" i="0" dirty="0">
                <a:solidFill>
                  <a:srgbClr val="FF66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3200" b="1" i="0" dirty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200" b="1" i="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3200" b="1" i="0" dirty="0">
                <a:solidFill>
                  <a:srgbClr val="FF66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7" name="Text Box 33"/>
          <p:cNvSpPr txBox="1">
            <a:spLocks noChangeArrowheads="1"/>
          </p:cNvSpPr>
          <p:nvPr/>
        </p:nvSpPr>
        <p:spPr bwMode="auto">
          <a:xfrm>
            <a:off x="4003269" y="3360184"/>
            <a:ext cx="3015512" cy="579438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square" anchor="ctr">
            <a:spAutoFit/>
          </a:bodyPr>
          <a:lstStyle/>
          <a:p>
            <a:r>
              <a:rPr lang="en-US" altLang="zh-CN" sz="3200" b="1" i="0" dirty="0" smtClean="0">
                <a:solidFill>
                  <a:srgbClr val="FF66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3200" b="1" i="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3200" b="1" i="0" dirty="0">
                <a:solidFill>
                  <a:srgbClr val="FF66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3200" b="1" i="0" dirty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3200" b="1" i="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200" b="1" i="0" dirty="0">
                <a:solidFill>
                  <a:srgbClr val="FF66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8" name="Text Box 67"/>
          <p:cNvSpPr txBox="1">
            <a:spLocks noChangeArrowheads="1"/>
          </p:cNvSpPr>
          <p:nvPr/>
        </p:nvSpPr>
        <p:spPr bwMode="auto">
          <a:xfrm>
            <a:off x="4000279" y="2405468"/>
            <a:ext cx="2986604" cy="58695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r>
              <a:rPr lang="en-US" altLang="zh-CN" sz="3200" b="1" i="0" dirty="0">
                <a:solidFill>
                  <a:srgbClr val="FF66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3200" b="1" i="0" dirty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3200" b="1" i="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200" b="1" i="0" dirty="0" smtClean="0">
                <a:solidFill>
                  <a:srgbClr val="FF66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3200" b="1" i="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3200" b="1" i="0" dirty="0">
                <a:solidFill>
                  <a:srgbClr val="FF66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</a:p>
        </p:txBody>
      </p:sp>
      <p:grpSp>
        <p:nvGrpSpPr>
          <p:cNvPr id="19" name="Group 75"/>
          <p:cNvGrpSpPr>
            <a:grpSpLocks/>
          </p:cNvGrpSpPr>
          <p:nvPr/>
        </p:nvGrpSpPr>
        <p:grpSpPr bwMode="auto">
          <a:xfrm>
            <a:off x="5977122" y="3671962"/>
            <a:ext cx="530225" cy="622300"/>
            <a:chOff x="4740" y="2024"/>
            <a:chExt cx="334" cy="392"/>
          </a:xfrm>
        </p:grpSpPr>
        <p:sp>
          <p:nvSpPr>
            <p:cNvPr id="20" name="AutoShape 69"/>
            <p:cNvSpPr>
              <a:spLocks/>
            </p:cNvSpPr>
            <p:nvPr/>
          </p:nvSpPr>
          <p:spPr bwMode="auto">
            <a:xfrm>
              <a:off x="4740" y="2032"/>
              <a:ext cx="96" cy="384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38100">
              <a:solidFill>
                <a:srgbClr val="2553E5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Text Box 70"/>
            <p:cNvSpPr txBox="1">
              <a:spLocks noChangeArrowheads="1"/>
            </p:cNvSpPr>
            <p:nvPr/>
          </p:nvSpPr>
          <p:spPr bwMode="auto">
            <a:xfrm>
              <a:off x="4830" y="2024"/>
              <a:ext cx="244" cy="3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1" i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</p:grpSp>
      <p:sp>
        <p:nvSpPr>
          <p:cNvPr id="22" name="Text Box 34"/>
          <p:cNvSpPr txBox="1">
            <a:spLocks noChangeArrowheads="1"/>
          </p:cNvSpPr>
          <p:nvPr/>
        </p:nvSpPr>
        <p:spPr bwMode="auto">
          <a:xfrm>
            <a:off x="3987283" y="3852789"/>
            <a:ext cx="2967703" cy="584775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square" anchor="ctr">
            <a:spAutoFit/>
          </a:bodyPr>
          <a:lstStyle/>
          <a:p>
            <a:r>
              <a:rPr lang="en-US" altLang="zh-CN" sz="3200" b="1" i="0" dirty="0" smtClean="0">
                <a:solidFill>
                  <a:srgbClr val="FF66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3200" b="1" i="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3200" b="1" i="0" dirty="0">
                <a:solidFill>
                  <a:srgbClr val="FF66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3200" b="1" i="0" dirty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200" b="1" i="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3200" b="1" i="0" dirty="0" smtClean="0">
                <a:solidFill>
                  <a:srgbClr val="FF66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endParaRPr lang="en-US" altLang="zh-CN" sz="3200" b="1" i="0" dirty="0">
              <a:solidFill>
                <a:srgbClr val="FF6600"/>
              </a:solidFill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grpSp>
        <p:nvGrpSpPr>
          <p:cNvPr id="23" name="Group 76"/>
          <p:cNvGrpSpPr>
            <a:grpSpLocks/>
          </p:cNvGrpSpPr>
          <p:nvPr/>
        </p:nvGrpSpPr>
        <p:grpSpPr bwMode="auto">
          <a:xfrm>
            <a:off x="5977122" y="2663899"/>
            <a:ext cx="530225" cy="622300"/>
            <a:chOff x="4740" y="2024"/>
            <a:chExt cx="334" cy="392"/>
          </a:xfrm>
        </p:grpSpPr>
        <p:sp>
          <p:nvSpPr>
            <p:cNvPr id="24" name="AutoShape 77"/>
            <p:cNvSpPr>
              <a:spLocks/>
            </p:cNvSpPr>
            <p:nvPr/>
          </p:nvSpPr>
          <p:spPr bwMode="auto">
            <a:xfrm>
              <a:off x="4740" y="2032"/>
              <a:ext cx="96" cy="384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38100">
              <a:solidFill>
                <a:srgbClr val="2553E5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Text Box 78"/>
            <p:cNvSpPr txBox="1">
              <a:spLocks noChangeArrowheads="1"/>
            </p:cNvSpPr>
            <p:nvPr/>
          </p:nvSpPr>
          <p:spPr bwMode="auto">
            <a:xfrm>
              <a:off x="4830" y="2024"/>
              <a:ext cx="244" cy="3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1" i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26" name="Text Box 79"/>
          <p:cNvSpPr txBox="1">
            <a:spLocks noChangeArrowheads="1"/>
          </p:cNvSpPr>
          <p:nvPr/>
        </p:nvSpPr>
        <p:spPr bwMode="auto">
          <a:xfrm>
            <a:off x="3284389" y="1132627"/>
            <a:ext cx="3772484" cy="5254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触发器逻辑状态转换表</a:t>
            </a:r>
          </a:p>
        </p:txBody>
      </p:sp>
      <p:sp>
        <p:nvSpPr>
          <p:cNvPr id="27" name="Rectangle 81"/>
          <p:cNvSpPr>
            <a:spLocks noChangeArrowheads="1"/>
          </p:cNvSpPr>
          <p:nvPr/>
        </p:nvSpPr>
        <p:spPr bwMode="auto">
          <a:xfrm>
            <a:off x="446567" y="361507"/>
            <a:ext cx="4171633" cy="58695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zh-CN" altLang="en-US" sz="3200" i="0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正边沿触发的</a:t>
            </a:r>
            <a:r>
              <a:rPr lang="en-US" altLang="zh-CN" sz="3200" b="1" i="1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3200" i="0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</a:p>
        </p:txBody>
      </p:sp>
      <p:sp>
        <p:nvSpPr>
          <p:cNvPr id="49" name="Rectangle 128"/>
          <p:cNvSpPr>
            <a:spLocks noChangeArrowheads="1"/>
          </p:cNvSpPr>
          <p:nvPr/>
        </p:nvSpPr>
        <p:spPr bwMode="auto">
          <a:xfrm>
            <a:off x="1160093" y="1495980"/>
            <a:ext cx="1108294" cy="6485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6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符号</a:t>
            </a:r>
          </a:p>
        </p:txBody>
      </p:sp>
      <p:sp>
        <p:nvSpPr>
          <p:cNvPr id="50" name="Text Box 51"/>
          <p:cNvSpPr txBox="1">
            <a:spLocks noChangeArrowheads="1"/>
          </p:cNvSpPr>
          <p:nvPr/>
        </p:nvSpPr>
        <p:spPr bwMode="auto">
          <a:xfrm>
            <a:off x="7491911" y="2828482"/>
            <a:ext cx="1392124" cy="1274195"/>
          </a:xfrm>
          <a:prstGeom prst="rect">
            <a:avLst/>
          </a:prstGeom>
          <a:noFill/>
          <a:ln w="38100" cap="sq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3200" b="1" baseline="30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n</a:t>
            </a:r>
            <a:r>
              <a:rPr lang="en-US" altLang="zh-CN" sz="3200" b="1" i="0" baseline="30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+1</a:t>
            </a:r>
          </a:p>
          <a:p>
            <a:pPr>
              <a:lnSpc>
                <a:spcPct val="120000"/>
              </a:lnSpc>
            </a:pP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跟随 </a:t>
            </a:r>
            <a:r>
              <a:rPr lang="en-US" altLang="zh-CN" sz="32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endParaRPr lang="en-US" altLang="zh-CN" sz="3200" b="1" i="1" baseline="30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605378" y="2670132"/>
            <a:ext cx="2551652" cy="1208094"/>
            <a:chOff x="5803405" y="1553270"/>
            <a:chExt cx="2551652" cy="1208094"/>
          </a:xfrm>
        </p:grpSpPr>
        <p:sp>
          <p:nvSpPr>
            <p:cNvPr id="52" name="矩形 51"/>
            <p:cNvSpPr/>
            <p:nvPr/>
          </p:nvSpPr>
          <p:spPr>
            <a:xfrm>
              <a:off x="6712799" y="1570517"/>
              <a:ext cx="797442" cy="119084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/>
            <p:cNvCxnSpPr/>
            <p:nvPr/>
          </p:nvCxnSpPr>
          <p:spPr>
            <a:xfrm>
              <a:off x="7610251" y="2480931"/>
              <a:ext cx="396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椭圆 53"/>
            <p:cNvSpPr/>
            <p:nvPr/>
          </p:nvSpPr>
          <p:spPr>
            <a:xfrm>
              <a:off x="6606473" y="2532321"/>
              <a:ext cx="95693" cy="956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6620761" y="1722695"/>
              <a:ext cx="95693" cy="956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7520874" y="2437070"/>
              <a:ext cx="95693" cy="956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连接符 56"/>
            <p:cNvCxnSpPr/>
            <p:nvPr/>
          </p:nvCxnSpPr>
          <p:spPr>
            <a:xfrm>
              <a:off x="6257701" y="1771318"/>
              <a:ext cx="36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6233889" y="2580944"/>
              <a:ext cx="36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>
              <a:off x="6238652" y="2052306"/>
              <a:ext cx="468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6238651" y="2309481"/>
              <a:ext cx="468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7524527" y="1852281"/>
              <a:ext cx="468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137"/>
            <p:cNvSpPr>
              <a:spLocks noChangeArrowheads="1"/>
            </p:cNvSpPr>
            <p:nvPr/>
          </p:nvSpPr>
          <p:spPr bwMode="auto">
            <a:xfrm>
              <a:off x="8003679" y="1634231"/>
              <a:ext cx="35137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64" name="组合 42"/>
            <p:cNvGrpSpPr/>
            <p:nvPr/>
          </p:nvGrpSpPr>
          <p:grpSpPr>
            <a:xfrm>
              <a:off x="8003679" y="2258119"/>
              <a:ext cx="351378" cy="369332"/>
              <a:chOff x="7584579" y="2477194"/>
              <a:chExt cx="351378" cy="369332"/>
            </a:xfrm>
          </p:grpSpPr>
          <p:sp>
            <p:nvSpPr>
              <p:cNvPr id="75" name="Rectangle 137"/>
              <p:cNvSpPr>
                <a:spLocks noChangeArrowheads="1"/>
              </p:cNvSpPr>
              <p:nvPr/>
            </p:nvSpPr>
            <p:spPr bwMode="auto">
              <a:xfrm>
                <a:off x="7584579" y="2477194"/>
                <a:ext cx="35137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cxnSp>
            <p:nvCxnSpPr>
              <p:cNvPr id="76" name="直接连接符 75"/>
              <p:cNvCxnSpPr/>
              <p:nvPr/>
            </p:nvCxnSpPr>
            <p:spPr>
              <a:xfrm>
                <a:off x="7724550" y="2552368"/>
                <a:ext cx="144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组合 43"/>
            <p:cNvGrpSpPr/>
            <p:nvPr/>
          </p:nvGrpSpPr>
          <p:grpSpPr>
            <a:xfrm>
              <a:off x="5865315" y="1553270"/>
              <a:ext cx="410690" cy="369332"/>
              <a:chOff x="8098929" y="2481957"/>
              <a:chExt cx="410690" cy="369332"/>
            </a:xfrm>
          </p:grpSpPr>
          <p:sp>
            <p:nvSpPr>
              <p:cNvPr id="73" name="Rectangle 137"/>
              <p:cNvSpPr>
                <a:spLocks noChangeArrowheads="1"/>
              </p:cNvSpPr>
              <p:nvPr/>
            </p:nvSpPr>
            <p:spPr bwMode="auto">
              <a:xfrm>
                <a:off x="8098929" y="2481957"/>
                <a:ext cx="41069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r>
                  <a:rPr lang="en-US" altLang="zh-CN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74" name="直接连接符 73"/>
              <p:cNvCxnSpPr/>
              <p:nvPr/>
            </p:nvCxnSpPr>
            <p:spPr>
              <a:xfrm>
                <a:off x="8200799" y="2557131"/>
                <a:ext cx="144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组合 46"/>
            <p:cNvGrpSpPr/>
            <p:nvPr/>
          </p:nvGrpSpPr>
          <p:grpSpPr>
            <a:xfrm>
              <a:off x="5860554" y="2392032"/>
              <a:ext cx="436338" cy="369332"/>
              <a:chOff x="8117980" y="2501568"/>
              <a:chExt cx="436338" cy="369332"/>
            </a:xfrm>
          </p:grpSpPr>
          <p:sp>
            <p:nvSpPr>
              <p:cNvPr id="71" name="Rectangle 137"/>
              <p:cNvSpPr>
                <a:spLocks noChangeArrowheads="1"/>
              </p:cNvSpPr>
              <p:nvPr/>
            </p:nvSpPr>
            <p:spPr bwMode="auto">
              <a:xfrm>
                <a:off x="8117980" y="2501568"/>
                <a:ext cx="43633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72" name="直接连接符 71"/>
              <p:cNvCxnSpPr/>
              <p:nvPr/>
            </p:nvCxnSpPr>
            <p:spPr>
              <a:xfrm>
                <a:off x="8229375" y="2576742"/>
                <a:ext cx="144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Rectangle 137"/>
            <p:cNvSpPr>
              <a:spLocks noChangeArrowheads="1"/>
            </p:cNvSpPr>
            <p:nvPr/>
          </p:nvSpPr>
          <p:spPr bwMode="auto">
            <a:xfrm>
              <a:off x="5803405" y="1839017"/>
              <a:ext cx="47961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CP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8" name="Rectangle 137"/>
            <p:cNvSpPr>
              <a:spLocks noChangeArrowheads="1"/>
            </p:cNvSpPr>
            <p:nvPr/>
          </p:nvSpPr>
          <p:spPr bwMode="auto">
            <a:xfrm>
              <a:off x="5908178" y="2115242"/>
              <a:ext cx="35137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Rectangle 137"/>
            <p:cNvSpPr>
              <a:spLocks noChangeArrowheads="1"/>
            </p:cNvSpPr>
            <p:nvPr/>
          </p:nvSpPr>
          <p:spPr bwMode="auto">
            <a:xfrm>
              <a:off x="6751142" y="1877117"/>
              <a:ext cx="45397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Rectangle 137"/>
            <p:cNvSpPr>
              <a:spLocks noChangeArrowheads="1"/>
            </p:cNvSpPr>
            <p:nvPr/>
          </p:nvSpPr>
          <p:spPr bwMode="auto">
            <a:xfrm>
              <a:off x="6746379" y="1558030"/>
              <a:ext cx="30008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8" name="Rectangle 137"/>
            <p:cNvSpPr>
              <a:spLocks noChangeArrowheads="1"/>
            </p:cNvSpPr>
            <p:nvPr/>
          </p:nvSpPr>
          <p:spPr bwMode="auto">
            <a:xfrm>
              <a:off x="6741616" y="2129530"/>
              <a:ext cx="4667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Rectangle 137"/>
            <p:cNvSpPr>
              <a:spLocks noChangeArrowheads="1"/>
            </p:cNvSpPr>
            <p:nvPr/>
          </p:nvSpPr>
          <p:spPr bwMode="auto">
            <a:xfrm>
              <a:off x="6765429" y="2392032"/>
              <a:ext cx="32573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cxnSp>
          <p:nvCxnSpPr>
            <p:cNvPr id="80" name="直接连接符 79"/>
            <p:cNvCxnSpPr/>
            <p:nvPr/>
          </p:nvCxnSpPr>
          <p:spPr>
            <a:xfrm rot="16200000" flipH="1">
              <a:off x="6718503" y="1991557"/>
              <a:ext cx="66120" cy="63795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V="1">
              <a:off x="6719664" y="2042227"/>
              <a:ext cx="64800" cy="6480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 animBg="1"/>
      <p:bldP spid="16" grpId="0"/>
      <p:bldP spid="17" grpId="0"/>
      <p:bldP spid="18" grpId="0"/>
      <p:bldP spid="22" grpId="0"/>
      <p:bldP spid="26" grpId="0"/>
      <p:bldP spid="5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1435322" y="1361152"/>
            <a:ext cx="4441825" cy="579437"/>
            <a:chOff x="676" y="2698"/>
            <a:chExt cx="2798" cy="365"/>
          </a:xfrm>
        </p:grpSpPr>
        <p:sp>
          <p:nvSpPr>
            <p:cNvPr id="3" name="Text Box 53"/>
            <p:cNvSpPr txBox="1">
              <a:spLocks noChangeArrowheads="1"/>
            </p:cNvSpPr>
            <p:nvPr/>
          </p:nvSpPr>
          <p:spPr bwMode="auto">
            <a:xfrm>
              <a:off x="1446" y="2698"/>
              <a:ext cx="2028" cy="365"/>
            </a:xfrm>
            <a:prstGeom prst="rect">
              <a:avLst/>
            </a:prstGeom>
            <a:noFill/>
            <a:ln w="38100" cap="sq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32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3200" b="1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3200" b="1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32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lang="en-US" altLang="zh-CN" sz="32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endParaRPr lang="en-US" altLang="zh-CN" sz="3200" b="1" i="1" baseline="30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" name="Text Box 54"/>
            <p:cNvSpPr txBox="1">
              <a:spLocks noChangeArrowheads="1"/>
            </p:cNvSpPr>
            <p:nvPr/>
          </p:nvSpPr>
          <p:spPr bwMode="auto">
            <a:xfrm>
              <a:off x="676" y="2698"/>
              <a:ext cx="1144" cy="365"/>
            </a:xfrm>
            <a:prstGeom prst="rect">
              <a:avLst/>
            </a:prstGeom>
            <a:noFill/>
            <a:ln w="38100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32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特性方程</a:t>
              </a:r>
            </a:p>
          </p:txBody>
        </p:sp>
      </p:grpSp>
      <p:sp>
        <p:nvSpPr>
          <p:cNvPr id="5" name="Text Box 55"/>
          <p:cNvSpPr txBox="1">
            <a:spLocks noChangeArrowheads="1"/>
          </p:cNvSpPr>
          <p:nvPr/>
        </p:nvSpPr>
        <p:spPr bwMode="auto">
          <a:xfrm>
            <a:off x="1435100" y="2222906"/>
            <a:ext cx="7262333" cy="1077218"/>
          </a:xfrm>
          <a:prstGeom prst="rect">
            <a:avLst/>
          </a:prstGeom>
          <a:noFill/>
          <a:ln w="38100" cap="sq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触发方式</a:t>
            </a:r>
            <a:r>
              <a:rPr lang="zh-CN" altLang="en-US" sz="32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：</a:t>
            </a:r>
            <a:endParaRPr lang="en-US" altLang="zh-CN" sz="3200" b="1" i="0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r>
              <a:rPr lang="zh-CN" altLang="en-US" sz="32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       边沿</a:t>
            </a: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触发型，且上升沿有效。</a:t>
            </a:r>
            <a:endParaRPr lang="zh-CN" altLang="en-US" sz="28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" name="Line 93"/>
          <p:cNvSpPr>
            <a:spLocks noChangeShapeType="1"/>
          </p:cNvSpPr>
          <p:nvPr/>
        </p:nvSpPr>
        <p:spPr bwMode="auto">
          <a:xfrm>
            <a:off x="6343318" y="3330796"/>
            <a:ext cx="1943100" cy="0"/>
          </a:xfrm>
          <a:prstGeom prst="line">
            <a:avLst/>
          </a:prstGeom>
          <a:noFill/>
          <a:ln w="38100">
            <a:solidFill>
              <a:srgbClr val="FF9933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8" name="Rectangle 81"/>
          <p:cNvSpPr>
            <a:spLocks noChangeArrowheads="1"/>
          </p:cNvSpPr>
          <p:nvPr/>
        </p:nvSpPr>
        <p:spPr bwMode="auto">
          <a:xfrm>
            <a:off x="446567" y="361507"/>
            <a:ext cx="4171633" cy="58695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zh-CN" altLang="en-US" sz="3200" i="0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正边沿触发的</a:t>
            </a:r>
            <a:r>
              <a:rPr lang="en-US" altLang="zh-CN" sz="3200" b="1" i="1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3200" i="0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0"/>
          <p:cNvGrpSpPr>
            <a:grpSpLocks/>
          </p:cNvGrpSpPr>
          <p:nvPr/>
        </p:nvGrpSpPr>
        <p:grpSpPr bwMode="auto">
          <a:xfrm>
            <a:off x="3494088" y="2459038"/>
            <a:ext cx="4347210" cy="381000"/>
            <a:chOff x="672" y="3072"/>
            <a:chExt cx="1728" cy="240"/>
          </a:xfrm>
        </p:grpSpPr>
        <p:sp>
          <p:nvSpPr>
            <p:cNvPr id="25" name="Line 102"/>
            <p:cNvSpPr>
              <a:spLocks noChangeShapeType="1"/>
            </p:cNvSpPr>
            <p:nvPr/>
          </p:nvSpPr>
          <p:spPr bwMode="auto">
            <a:xfrm>
              <a:off x="2208" y="3312"/>
              <a:ext cx="192" cy="0"/>
            </a:xfrm>
            <a:prstGeom prst="line">
              <a:avLst/>
            </a:prstGeom>
            <a:noFill/>
            <a:ln w="34925" cap="sq">
              <a:solidFill>
                <a:srgbClr val="00206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4" name="Group 106"/>
            <p:cNvGrpSpPr>
              <a:grpSpLocks/>
            </p:cNvGrpSpPr>
            <p:nvPr/>
          </p:nvGrpSpPr>
          <p:grpSpPr bwMode="auto">
            <a:xfrm>
              <a:off x="1056" y="3072"/>
              <a:ext cx="384" cy="240"/>
              <a:chOff x="720" y="3072"/>
              <a:chExt cx="384" cy="240"/>
            </a:xfrm>
          </p:grpSpPr>
          <p:sp>
            <p:nvSpPr>
              <p:cNvPr id="21" name="Line 107"/>
              <p:cNvSpPr>
                <a:spLocks noChangeShapeType="1"/>
              </p:cNvSpPr>
              <p:nvPr/>
            </p:nvSpPr>
            <p:spPr bwMode="auto">
              <a:xfrm>
                <a:off x="720" y="3312"/>
                <a:ext cx="192" cy="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" name="Line 108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0" cy="24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3" name="Line 109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192" cy="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4" name="Line 110"/>
              <p:cNvSpPr>
                <a:spLocks noChangeShapeType="1"/>
              </p:cNvSpPr>
              <p:nvPr/>
            </p:nvSpPr>
            <p:spPr bwMode="auto">
              <a:xfrm>
                <a:off x="1104" y="3072"/>
                <a:ext cx="0" cy="24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5" name="Group 111"/>
            <p:cNvGrpSpPr>
              <a:grpSpLocks/>
            </p:cNvGrpSpPr>
            <p:nvPr/>
          </p:nvGrpSpPr>
          <p:grpSpPr bwMode="auto">
            <a:xfrm>
              <a:off x="1440" y="3072"/>
              <a:ext cx="384" cy="240"/>
              <a:chOff x="720" y="3072"/>
              <a:chExt cx="384" cy="240"/>
            </a:xfrm>
          </p:grpSpPr>
          <p:sp>
            <p:nvSpPr>
              <p:cNvPr id="17" name="Line 112"/>
              <p:cNvSpPr>
                <a:spLocks noChangeShapeType="1"/>
              </p:cNvSpPr>
              <p:nvPr/>
            </p:nvSpPr>
            <p:spPr bwMode="auto">
              <a:xfrm>
                <a:off x="720" y="3312"/>
                <a:ext cx="192" cy="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8" name="Line 113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0" cy="24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9" name="Line 114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192" cy="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0" name="Line 115"/>
              <p:cNvSpPr>
                <a:spLocks noChangeShapeType="1"/>
              </p:cNvSpPr>
              <p:nvPr/>
            </p:nvSpPr>
            <p:spPr bwMode="auto">
              <a:xfrm>
                <a:off x="1104" y="3072"/>
                <a:ext cx="0" cy="24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6" name="Group 116"/>
            <p:cNvGrpSpPr>
              <a:grpSpLocks/>
            </p:cNvGrpSpPr>
            <p:nvPr/>
          </p:nvGrpSpPr>
          <p:grpSpPr bwMode="auto">
            <a:xfrm>
              <a:off x="1824" y="3072"/>
              <a:ext cx="384" cy="240"/>
              <a:chOff x="720" y="3072"/>
              <a:chExt cx="384" cy="240"/>
            </a:xfrm>
          </p:grpSpPr>
          <p:sp>
            <p:nvSpPr>
              <p:cNvPr id="13" name="Line 117"/>
              <p:cNvSpPr>
                <a:spLocks noChangeShapeType="1"/>
              </p:cNvSpPr>
              <p:nvPr/>
            </p:nvSpPr>
            <p:spPr bwMode="auto">
              <a:xfrm>
                <a:off x="720" y="3312"/>
                <a:ext cx="192" cy="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" name="Line 118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0" cy="24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" name="Line 119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192" cy="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" name="Line 120"/>
              <p:cNvSpPr>
                <a:spLocks noChangeShapeType="1"/>
              </p:cNvSpPr>
              <p:nvPr/>
            </p:nvSpPr>
            <p:spPr bwMode="auto">
              <a:xfrm>
                <a:off x="1104" y="3072"/>
                <a:ext cx="0" cy="24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7" name="Group 121"/>
            <p:cNvGrpSpPr>
              <a:grpSpLocks/>
            </p:cNvGrpSpPr>
            <p:nvPr/>
          </p:nvGrpSpPr>
          <p:grpSpPr bwMode="auto">
            <a:xfrm>
              <a:off x="672" y="3072"/>
              <a:ext cx="384" cy="240"/>
              <a:chOff x="720" y="3072"/>
              <a:chExt cx="384" cy="240"/>
            </a:xfrm>
          </p:grpSpPr>
          <p:sp>
            <p:nvSpPr>
              <p:cNvPr id="9" name="Line 122"/>
              <p:cNvSpPr>
                <a:spLocks noChangeShapeType="1"/>
              </p:cNvSpPr>
              <p:nvPr/>
            </p:nvSpPr>
            <p:spPr bwMode="auto">
              <a:xfrm>
                <a:off x="720" y="3312"/>
                <a:ext cx="192" cy="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" name="Line 123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0" cy="24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" name="Line 124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192" cy="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" name="Line 125"/>
              <p:cNvSpPr>
                <a:spLocks noChangeShapeType="1"/>
              </p:cNvSpPr>
              <p:nvPr/>
            </p:nvSpPr>
            <p:spPr bwMode="auto">
              <a:xfrm>
                <a:off x="1104" y="3072"/>
                <a:ext cx="0" cy="240"/>
              </a:xfrm>
              <a:prstGeom prst="line">
                <a:avLst/>
              </a:prstGeom>
              <a:noFill/>
              <a:ln w="34925" cap="sq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29" name="Text Box 127"/>
          <p:cNvSpPr txBox="1">
            <a:spLocks noChangeArrowheads="1"/>
          </p:cNvSpPr>
          <p:nvPr/>
        </p:nvSpPr>
        <p:spPr bwMode="auto">
          <a:xfrm>
            <a:off x="2911475" y="2293938"/>
            <a:ext cx="644728" cy="523220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CP</a:t>
            </a:r>
            <a:endParaRPr lang="en-US" altLang="zh-CN" sz="2800" i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0" name="Line 128"/>
          <p:cNvSpPr>
            <a:spLocks noChangeShapeType="1"/>
          </p:cNvSpPr>
          <p:nvPr/>
        </p:nvSpPr>
        <p:spPr bwMode="auto">
          <a:xfrm>
            <a:off x="3988280" y="2819400"/>
            <a:ext cx="0" cy="127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1" name="Line 129"/>
          <p:cNvSpPr>
            <a:spLocks noChangeShapeType="1"/>
          </p:cNvSpPr>
          <p:nvPr/>
        </p:nvSpPr>
        <p:spPr bwMode="auto">
          <a:xfrm>
            <a:off x="4956804" y="2819400"/>
            <a:ext cx="0" cy="127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2" name="Text Box 130"/>
          <p:cNvSpPr txBox="1">
            <a:spLocks noChangeArrowheads="1"/>
          </p:cNvSpPr>
          <p:nvPr/>
        </p:nvSpPr>
        <p:spPr bwMode="auto">
          <a:xfrm>
            <a:off x="611188" y="628687"/>
            <a:ext cx="8204200" cy="1297535"/>
          </a:xfrm>
          <a:prstGeom prst="rect">
            <a:avLst/>
          </a:prstGeom>
          <a:noFill/>
          <a:ln w="38100" cap="sq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en-US" altLang="zh-CN" sz="3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</a:t>
            </a:r>
            <a:r>
              <a:rPr lang="zh-CN" altLang="en-US" sz="32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已知正边沿触发</a:t>
            </a:r>
            <a:r>
              <a:rPr lang="en-US" altLang="zh-CN" sz="32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zh-CN" sz="32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r>
              <a:rPr lang="en-US" altLang="zh-CN" sz="32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CP</a:t>
            </a:r>
            <a:r>
              <a:rPr lang="zh-CN" altLang="zh-CN" sz="32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</a:t>
            </a:r>
            <a:r>
              <a:rPr lang="en-US" altLang="zh-CN" sz="32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zh-CN" sz="32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端的</a:t>
            </a:r>
            <a:r>
              <a:rPr lang="zh-CN" altLang="en-US" sz="32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波</a:t>
            </a:r>
            <a:r>
              <a:rPr lang="zh-CN" altLang="zh-CN" sz="32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形，试画出输出端</a:t>
            </a:r>
            <a:r>
              <a:rPr lang="en-US" altLang="zh-CN" sz="32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zh-CN" altLang="zh-CN" sz="32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的波形。</a:t>
            </a:r>
            <a:r>
              <a:rPr lang="zh-CN" altLang="zh-CN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                  </a:t>
            </a:r>
            <a:endParaRPr lang="zh-CN" altLang="en-US" sz="32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3" name="Line 131"/>
          <p:cNvSpPr>
            <a:spLocks noChangeShapeType="1"/>
          </p:cNvSpPr>
          <p:nvPr/>
        </p:nvSpPr>
        <p:spPr bwMode="auto">
          <a:xfrm>
            <a:off x="6889271" y="2819400"/>
            <a:ext cx="0" cy="127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4" name="Line 132"/>
          <p:cNvSpPr>
            <a:spLocks noChangeShapeType="1"/>
          </p:cNvSpPr>
          <p:nvPr/>
        </p:nvSpPr>
        <p:spPr bwMode="auto">
          <a:xfrm>
            <a:off x="5922334" y="2890838"/>
            <a:ext cx="0" cy="127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5" name="Line 133"/>
          <p:cNvSpPr>
            <a:spLocks noChangeShapeType="1"/>
          </p:cNvSpPr>
          <p:nvPr/>
        </p:nvSpPr>
        <p:spPr bwMode="auto">
          <a:xfrm>
            <a:off x="3407404" y="3662363"/>
            <a:ext cx="4699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6" name="Line 134"/>
          <p:cNvSpPr>
            <a:spLocks noChangeShapeType="1"/>
          </p:cNvSpPr>
          <p:nvPr/>
        </p:nvSpPr>
        <p:spPr bwMode="auto">
          <a:xfrm>
            <a:off x="3877304" y="3236913"/>
            <a:ext cx="0" cy="42545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7" name="Line 135"/>
          <p:cNvSpPr>
            <a:spLocks noChangeShapeType="1"/>
          </p:cNvSpPr>
          <p:nvPr/>
        </p:nvSpPr>
        <p:spPr bwMode="auto">
          <a:xfrm>
            <a:off x="3877304" y="3230563"/>
            <a:ext cx="5969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8" name="Line 136"/>
          <p:cNvSpPr>
            <a:spLocks noChangeShapeType="1"/>
          </p:cNvSpPr>
          <p:nvPr/>
        </p:nvSpPr>
        <p:spPr bwMode="auto">
          <a:xfrm>
            <a:off x="4994904" y="3243263"/>
            <a:ext cx="0" cy="4445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9" name="Line 137"/>
          <p:cNvSpPr>
            <a:spLocks noChangeShapeType="1"/>
          </p:cNvSpPr>
          <p:nvPr/>
        </p:nvSpPr>
        <p:spPr bwMode="auto">
          <a:xfrm>
            <a:off x="4664704" y="3243263"/>
            <a:ext cx="0" cy="4445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0" name="Line 138"/>
          <p:cNvSpPr>
            <a:spLocks noChangeShapeType="1"/>
          </p:cNvSpPr>
          <p:nvPr/>
        </p:nvSpPr>
        <p:spPr bwMode="auto">
          <a:xfrm>
            <a:off x="4486904" y="3230563"/>
            <a:ext cx="0" cy="4445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1" name="Line 139"/>
          <p:cNvSpPr>
            <a:spLocks noChangeShapeType="1"/>
          </p:cNvSpPr>
          <p:nvPr/>
        </p:nvSpPr>
        <p:spPr bwMode="auto">
          <a:xfrm>
            <a:off x="6163304" y="3255963"/>
            <a:ext cx="0" cy="4445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2" name="Line 140"/>
          <p:cNvSpPr>
            <a:spLocks noChangeShapeType="1"/>
          </p:cNvSpPr>
          <p:nvPr/>
        </p:nvSpPr>
        <p:spPr bwMode="auto">
          <a:xfrm>
            <a:off x="5960104" y="3262313"/>
            <a:ext cx="0" cy="42545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3" name="Line 141"/>
          <p:cNvSpPr>
            <a:spLocks noChangeShapeType="1"/>
          </p:cNvSpPr>
          <p:nvPr/>
        </p:nvSpPr>
        <p:spPr bwMode="auto">
          <a:xfrm>
            <a:off x="4486904" y="3687763"/>
            <a:ext cx="1778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4" name="Line 142"/>
          <p:cNvSpPr>
            <a:spLocks noChangeShapeType="1"/>
          </p:cNvSpPr>
          <p:nvPr/>
        </p:nvSpPr>
        <p:spPr bwMode="auto">
          <a:xfrm>
            <a:off x="5960104" y="3255963"/>
            <a:ext cx="1778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5" name="Line 143"/>
          <p:cNvSpPr>
            <a:spLocks noChangeShapeType="1"/>
          </p:cNvSpPr>
          <p:nvPr/>
        </p:nvSpPr>
        <p:spPr bwMode="auto">
          <a:xfrm>
            <a:off x="5007604" y="3687763"/>
            <a:ext cx="9398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6" name="Line 144"/>
          <p:cNvSpPr>
            <a:spLocks noChangeShapeType="1"/>
          </p:cNvSpPr>
          <p:nvPr/>
        </p:nvSpPr>
        <p:spPr bwMode="auto">
          <a:xfrm>
            <a:off x="6163304" y="3706813"/>
            <a:ext cx="2413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7" name="Line 145"/>
          <p:cNvSpPr>
            <a:spLocks noChangeShapeType="1"/>
          </p:cNvSpPr>
          <p:nvPr/>
        </p:nvSpPr>
        <p:spPr bwMode="auto">
          <a:xfrm>
            <a:off x="6442704" y="3255963"/>
            <a:ext cx="0" cy="4445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8" name="Line 146"/>
          <p:cNvSpPr>
            <a:spLocks noChangeShapeType="1"/>
          </p:cNvSpPr>
          <p:nvPr/>
        </p:nvSpPr>
        <p:spPr bwMode="auto">
          <a:xfrm>
            <a:off x="6455404" y="3243263"/>
            <a:ext cx="14400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9" name="Text Box 147"/>
          <p:cNvSpPr txBox="1">
            <a:spLocks noChangeArrowheads="1"/>
          </p:cNvSpPr>
          <p:nvPr/>
        </p:nvSpPr>
        <p:spPr bwMode="auto">
          <a:xfrm>
            <a:off x="3032125" y="3141663"/>
            <a:ext cx="407484" cy="461665"/>
          </a:xfrm>
          <a:prstGeom prst="rect">
            <a:avLst/>
          </a:prstGeom>
          <a:noFill/>
          <a:ln w="38100" cap="sq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</a:p>
        </p:txBody>
      </p:sp>
      <p:sp>
        <p:nvSpPr>
          <p:cNvPr id="50" name="Text Box 148"/>
          <p:cNvSpPr txBox="1">
            <a:spLocks noChangeArrowheads="1"/>
          </p:cNvSpPr>
          <p:nvPr/>
        </p:nvSpPr>
        <p:spPr bwMode="auto">
          <a:xfrm>
            <a:off x="3092451" y="4221163"/>
            <a:ext cx="407484" cy="461665"/>
          </a:xfrm>
          <a:prstGeom prst="rect">
            <a:avLst/>
          </a:prstGeom>
          <a:noFill/>
          <a:ln w="38100" cap="sq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</a:p>
        </p:txBody>
      </p:sp>
      <p:sp>
        <p:nvSpPr>
          <p:cNvPr id="51" name="Line 149"/>
          <p:cNvSpPr>
            <a:spLocks noChangeShapeType="1"/>
          </p:cNvSpPr>
          <p:nvPr/>
        </p:nvSpPr>
        <p:spPr bwMode="auto">
          <a:xfrm>
            <a:off x="4664704" y="3243263"/>
            <a:ext cx="322262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2" name="Line 151"/>
          <p:cNvSpPr>
            <a:spLocks noChangeShapeType="1"/>
          </p:cNvSpPr>
          <p:nvPr/>
        </p:nvSpPr>
        <p:spPr bwMode="auto">
          <a:xfrm flipV="1">
            <a:off x="3987801" y="4103688"/>
            <a:ext cx="0" cy="457200"/>
          </a:xfrm>
          <a:prstGeom prst="line">
            <a:avLst/>
          </a:prstGeom>
          <a:noFill/>
          <a:ln w="38100" cap="sq">
            <a:solidFill>
              <a:srgbClr val="FF9933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3" name="Line 153"/>
          <p:cNvSpPr>
            <a:spLocks noChangeShapeType="1"/>
          </p:cNvSpPr>
          <p:nvPr/>
        </p:nvSpPr>
        <p:spPr bwMode="auto">
          <a:xfrm flipV="1">
            <a:off x="5935663" y="4111625"/>
            <a:ext cx="0" cy="457200"/>
          </a:xfrm>
          <a:prstGeom prst="line">
            <a:avLst/>
          </a:prstGeom>
          <a:noFill/>
          <a:ln w="38100" cap="sq">
            <a:solidFill>
              <a:srgbClr val="FF9933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4" name="Line 154"/>
          <p:cNvSpPr>
            <a:spLocks noChangeShapeType="1"/>
          </p:cNvSpPr>
          <p:nvPr/>
        </p:nvSpPr>
        <p:spPr bwMode="auto">
          <a:xfrm flipV="1">
            <a:off x="6900863" y="4086225"/>
            <a:ext cx="0" cy="457200"/>
          </a:xfrm>
          <a:prstGeom prst="line">
            <a:avLst/>
          </a:prstGeom>
          <a:noFill/>
          <a:ln w="38100" cap="sq">
            <a:solidFill>
              <a:srgbClr val="FF9933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5" name="Line 155"/>
          <p:cNvSpPr>
            <a:spLocks noChangeShapeType="1"/>
          </p:cNvSpPr>
          <p:nvPr/>
        </p:nvSpPr>
        <p:spPr bwMode="auto">
          <a:xfrm>
            <a:off x="5935663" y="4581525"/>
            <a:ext cx="958850" cy="0"/>
          </a:xfrm>
          <a:prstGeom prst="line">
            <a:avLst/>
          </a:prstGeom>
          <a:noFill/>
          <a:ln w="38100" cap="sq">
            <a:solidFill>
              <a:srgbClr val="FF9933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6" name="Line 156"/>
          <p:cNvSpPr>
            <a:spLocks noChangeShapeType="1"/>
          </p:cNvSpPr>
          <p:nvPr/>
        </p:nvSpPr>
        <p:spPr bwMode="auto">
          <a:xfrm>
            <a:off x="6900863" y="4073525"/>
            <a:ext cx="972000" cy="0"/>
          </a:xfrm>
          <a:prstGeom prst="line">
            <a:avLst/>
          </a:prstGeom>
          <a:noFill/>
          <a:ln w="38100" cap="sq">
            <a:solidFill>
              <a:srgbClr val="FF9933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7" name="Line 150"/>
          <p:cNvSpPr>
            <a:spLocks noChangeShapeType="1"/>
          </p:cNvSpPr>
          <p:nvPr/>
        </p:nvSpPr>
        <p:spPr bwMode="auto">
          <a:xfrm>
            <a:off x="3443288" y="4581525"/>
            <a:ext cx="530225" cy="0"/>
          </a:xfrm>
          <a:prstGeom prst="line">
            <a:avLst/>
          </a:prstGeom>
          <a:noFill/>
          <a:ln w="38100" cap="sq">
            <a:solidFill>
              <a:srgbClr val="FF9933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58" name="Group 264"/>
          <p:cNvGrpSpPr>
            <a:grpSpLocks/>
          </p:cNvGrpSpPr>
          <p:nvPr/>
        </p:nvGrpSpPr>
        <p:grpSpPr bwMode="auto">
          <a:xfrm>
            <a:off x="673100" y="2852738"/>
            <a:ext cx="1709738" cy="1152525"/>
            <a:chOff x="340" y="1933"/>
            <a:chExt cx="1077" cy="454"/>
          </a:xfrm>
        </p:grpSpPr>
        <p:sp>
          <p:nvSpPr>
            <p:cNvPr id="61" name="Text Box 207"/>
            <p:cNvSpPr txBox="1">
              <a:spLocks noChangeArrowheads="1"/>
            </p:cNvSpPr>
            <p:nvPr/>
          </p:nvSpPr>
          <p:spPr bwMode="auto">
            <a:xfrm>
              <a:off x="401" y="2047"/>
              <a:ext cx="1008" cy="229"/>
            </a:xfrm>
            <a:prstGeom prst="rect">
              <a:avLst/>
            </a:prstGeom>
            <a:noFill/>
            <a:ln w="38100" cap="sq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r>
                <a:rPr lang="en-US" altLang="zh-CN" sz="32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3200" b="1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3200" b="1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en-US" altLang="zh-CN" sz="32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lang="en-US" altLang="zh-CN" sz="32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  <a:endParaRPr lang="en-US" altLang="zh-CN" sz="3200" b="1" i="1" baseline="30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0" name="Rectangle 209"/>
            <p:cNvSpPr>
              <a:spLocks noChangeArrowheads="1"/>
            </p:cNvSpPr>
            <p:nvPr/>
          </p:nvSpPr>
          <p:spPr bwMode="auto">
            <a:xfrm>
              <a:off x="340" y="1933"/>
              <a:ext cx="1077" cy="454"/>
            </a:xfrm>
            <a:prstGeom prst="rect">
              <a:avLst/>
            </a:prstGeom>
            <a:noFill/>
            <a:ln w="2540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63" name="Text Box 239"/>
          <p:cNvSpPr txBox="1">
            <a:spLocks noChangeArrowheads="1"/>
          </p:cNvSpPr>
          <p:nvPr/>
        </p:nvSpPr>
        <p:spPr bwMode="auto">
          <a:xfrm>
            <a:off x="3587751" y="4175125"/>
            <a:ext cx="335646" cy="46384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64" name="Line 240"/>
          <p:cNvSpPr>
            <a:spLocks noChangeShapeType="1"/>
          </p:cNvSpPr>
          <p:nvPr/>
        </p:nvSpPr>
        <p:spPr bwMode="auto">
          <a:xfrm>
            <a:off x="3990976" y="4076700"/>
            <a:ext cx="935037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5" name="Line 241"/>
          <p:cNvSpPr>
            <a:spLocks noChangeShapeType="1"/>
          </p:cNvSpPr>
          <p:nvPr/>
        </p:nvSpPr>
        <p:spPr bwMode="auto">
          <a:xfrm>
            <a:off x="4927601" y="4076700"/>
            <a:ext cx="1008062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6" name="Rectangle 266"/>
          <p:cNvSpPr>
            <a:spLocks noChangeArrowheads="1"/>
          </p:cNvSpPr>
          <p:nvPr/>
        </p:nvSpPr>
        <p:spPr bwMode="auto">
          <a:xfrm>
            <a:off x="557213" y="765175"/>
            <a:ext cx="1275006" cy="586957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32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[</a:t>
            </a:r>
            <a:r>
              <a:rPr lang="zh-CN" altLang="en-US" sz="32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例题</a:t>
            </a:r>
            <a:r>
              <a:rPr lang="en-US" altLang="zh-CN" sz="32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64" grpId="0" animBg="1"/>
      <p:bldP spid="6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228600" y="838200"/>
          <a:ext cx="8686800" cy="4205288"/>
        </p:xfrm>
        <a:graphic>
          <a:graphicData uri="http://schemas.openxmlformats.org/presentationml/2006/ole">
            <p:oleObj spid="_x0000_s83970" name="Picture" r:id="rId3" imgW="3638520" imgH="1762200" progId="Word.Picture.8">
              <p:embed/>
            </p:oleObj>
          </a:graphicData>
        </a:graphic>
      </p:graphicFrame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592572" y="138223"/>
            <a:ext cx="3733800" cy="588963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i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集成边沿</a:t>
            </a:r>
            <a:r>
              <a:rPr lang="en-US" altLang="zh-CN" sz="3200" b="1" i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3200" b="1" i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endParaRPr lang="zh-CN" altLang="en-US" sz="2400" b="1" i="0">
              <a:solidFill>
                <a:srgbClr val="0070C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561906" y="2441058"/>
            <a:ext cx="2498651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CP</a:t>
            </a:r>
            <a:r>
              <a:rPr lang="zh-CN" altLang="en-US" sz="2800" i="0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上升沿触发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808075" y="2430425"/>
            <a:ext cx="7899991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注意</a:t>
            </a:r>
            <a:r>
              <a:rPr lang="zh-CN" altLang="en-US" sz="2800" dirty="0" smtClean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：</a:t>
            </a:r>
            <a:r>
              <a:rPr lang="en-US" altLang="zh-CN" sz="28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CC4013</a:t>
            </a:r>
            <a:r>
              <a:rPr lang="zh-CN" altLang="en-US" sz="28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的异步输入端</a:t>
            </a:r>
            <a:r>
              <a:rPr lang="en-US" altLang="zh-CN" sz="28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28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</a:t>
            </a:r>
            <a:r>
              <a:rPr lang="en-US" altLang="zh-CN" sz="28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S</a:t>
            </a:r>
            <a:r>
              <a:rPr lang="en-US" altLang="zh-CN" sz="2800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28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为高电平有效</a:t>
            </a:r>
            <a:endParaRPr lang="zh-CN" altLang="en-US" sz="2800" i="0" dirty="0">
              <a:solidFill>
                <a:srgbClr val="0070C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6" grpId="0" animBg="1"/>
      <p:bldP spid="6" grpId="1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 descr="img200706121339341457副本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4163" y="2408238"/>
            <a:ext cx="3095625" cy="222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6469" name="Rectangle 5"/>
          <p:cNvSpPr>
            <a:spLocks noChangeArrowheads="1"/>
          </p:cNvSpPr>
          <p:nvPr/>
        </p:nvSpPr>
        <p:spPr bwMode="auto">
          <a:xfrm>
            <a:off x="2700338" y="1492250"/>
            <a:ext cx="32400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结    束</a:t>
            </a:r>
            <a:r>
              <a:rPr lang="zh-CN" altLang="en-US" sz="3600" dirty="0" smtClean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diamond/>
    <p:sndAc>
      <p:stSnd>
        <p:snd r:embed="rId2" name="结束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28575">
          <a:noFill/>
          <a:miter lim="800000"/>
          <a:headEnd/>
          <a:tailEnd type="none" w="sm" len="lg"/>
        </a:ln>
      </a:spPr>
      <a:bodyPr anchor="ctr">
        <a:spAutoFit/>
      </a:bodyPr>
      <a:lstStyle>
        <a:defPPr algn="l">
          <a:defRPr sz="2800" b="1" dirty="0">
            <a:latin typeface="Times New Roman" pitchFamily="18" charset="0"/>
            <a:ea typeface="华文中宋" pitchFamily="2" charset="-122"/>
            <a:cs typeface="Times New Roman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3865</TotalTime>
  <Words>1462</Words>
  <Application>Microsoft Office PowerPoint</Application>
  <PresentationFormat>全屏显示(16:9)</PresentationFormat>
  <Paragraphs>472</Paragraphs>
  <Slides>35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38" baseType="lpstr">
      <vt:lpstr>Office 主题</vt:lpstr>
      <vt:lpstr>图片</vt:lpstr>
      <vt:lpstr>Picture</vt:lpstr>
      <vt:lpstr>13.1  集成触发器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 电动机</dc:title>
  <dc:creator>wgz</dc:creator>
  <cp:lastModifiedBy>Administrator</cp:lastModifiedBy>
  <cp:revision>296</cp:revision>
  <dcterms:created xsi:type="dcterms:W3CDTF">2017-07-05T02:13:24Z</dcterms:created>
  <dcterms:modified xsi:type="dcterms:W3CDTF">2017-10-15T00:58:58Z</dcterms:modified>
</cp:coreProperties>
</file>