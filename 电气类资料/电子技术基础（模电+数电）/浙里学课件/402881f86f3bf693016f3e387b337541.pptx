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39"/>
  </p:notesMasterIdLst>
  <p:handoutMasterIdLst>
    <p:handoutMasterId r:id="rId40"/>
  </p:handoutMasterIdLst>
  <p:sldIdLst>
    <p:sldId id="561" r:id="rId2"/>
    <p:sldId id="513" r:id="rId3"/>
    <p:sldId id="514" r:id="rId4"/>
    <p:sldId id="515" r:id="rId5"/>
    <p:sldId id="516" r:id="rId6"/>
    <p:sldId id="654" r:id="rId7"/>
    <p:sldId id="517" r:id="rId8"/>
    <p:sldId id="655" r:id="rId9"/>
    <p:sldId id="518" r:id="rId10"/>
    <p:sldId id="657" r:id="rId11"/>
    <p:sldId id="519" r:id="rId12"/>
    <p:sldId id="656" r:id="rId13"/>
    <p:sldId id="520" r:id="rId14"/>
    <p:sldId id="658" r:id="rId15"/>
    <p:sldId id="521" r:id="rId16"/>
    <p:sldId id="522" r:id="rId17"/>
    <p:sldId id="641" r:id="rId18"/>
    <p:sldId id="659" r:id="rId19"/>
    <p:sldId id="661" r:id="rId20"/>
    <p:sldId id="660" r:id="rId21"/>
    <p:sldId id="642" r:id="rId22"/>
    <p:sldId id="643" r:id="rId23"/>
    <p:sldId id="662" r:id="rId24"/>
    <p:sldId id="644" r:id="rId25"/>
    <p:sldId id="663" r:id="rId26"/>
    <p:sldId id="645" r:id="rId27"/>
    <p:sldId id="647" r:id="rId28"/>
    <p:sldId id="648" r:id="rId29"/>
    <p:sldId id="667" r:id="rId30"/>
    <p:sldId id="664" r:id="rId31"/>
    <p:sldId id="649" r:id="rId32"/>
    <p:sldId id="665" r:id="rId33"/>
    <p:sldId id="650" r:id="rId34"/>
    <p:sldId id="666" r:id="rId35"/>
    <p:sldId id="651" r:id="rId36"/>
    <p:sldId id="652" r:id="rId37"/>
    <p:sldId id="653" r:id="rId38"/>
  </p:sldIdLst>
  <p:sldSz cx="9144000" cy="5143500" type="screen16x9"/>
  <p:notesSz cx="7315200" cy="96012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4000" b="1" kern="1200">
        <a:solidFill>
          <a:srgbClr val="000000"/>
        </a:solidFill>
        <a:latin typeface="Times New Roman" pitchFamily="18" charset="0"/>
        <a:ea typeface="幼圆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4000" b="1" kern="1200">
        <a:solidFill>
          <a:srgbClr val="000000"/>
        </a:solidFill>
        <a:latin typeface="Times New Roman" pitchFamily="18" charset="0"/>
        <a:ea typeface="幼圆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4000" b="1" kern="1200">
        <a:solidFill>
          <a:srgbClr val="000000"/>
        </a:solidFill>
        <a:latin typeface="Times New Roman" pitchFamily="18" charset="0"/>
        <a:ea typeface="幼圆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4000" b="1" kern="1200">
        <a:solidFill>
          <a:srgbClr val="000000"/>
        </a:solidFill>
        <a:latin typeface="Times New Roman" pitchFamily="18" charset="0"/>
        <a:ea typeface="幼圆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4000" b="1" kern="1200">
        <a:solidFill>
          <a:srgbClr val="000000"/>
        </a:solidFill>
        <a:latin typeface="Times New Roman" pitchFamily="18" charset="0"/>
        <a:ea typeface="幼圆" pitchFamily="49" charset="-122"/>
        <a:cs typeface="+mn-cs"/>
      </a:defRPr>
    </a:lvl5pPr>
    <a:lvl6pPr marL="2286000" algn="l" defTabSz="914400" rtl="0" eaLnBrk="1" latinLnBrk="0" hangingPunct="1">
      <a:defRPr kumimoji="1" sz="4000" b="1" kern="1200">
        <a:solidFill>
          <a:srgbClr val="000000"/>
        </a:solidFill>
        <a:latin typeface="Times New Roman" pitchFamily="18" charset="0"/>
        <a:ea typeface="幼圆" pitchFamily="49" charset="-122"/>
        <a:cs typeface="+mn-cs"/>
      </a:defRPr>
    </a:lvl6pPr>
    <a:lvl7pPr marL="2743200" algn="l" defTabSz="914400" rtl="0" eaLnBrk="1" latinLnBrk="0" hangingPunct="1">
      <a:defRPr kumimoji="1" sz="4000" b="1" kern="1200">
        <a:solidFill>
          <a:srgbClr val="000000"/>
        </a:solidFill>
        <a:latin typeface="Times New Roman" pitchFamily="18" charset="0"/>
        <a:ea typeface="幼圆" pitchFamily="49" charset="-122"/>
        <a:cs typeface="+mn-cs"/>
      </a:defRPr>
    </a:lvl7pPr>
    <a:lvl8pPr marL="3200400" algn="l" defTabSz="914400" rtl="0" eaLnBrk="1" latinLnBrk="0" hangingPunct="1">
      <a:defRPr kumimoji="1" sz="4000" b="1" kern="1200">
        <a:solidFill>
          <a:srgbClr val="000000"/>
        </a:solidFill>
        <a:latin typeface="Times New Roman" pitchFamily="18" charset="0"/>
        <a:ea typeface="幼圆" pitchFamily="49" charset="-122"/>
        <a:cs typeface="+mn-cs"/>
      </a:defRPr>
    </a:lvl8pPr>
    <a:lvl9pPr marL="3657600" algn="l" defTabSz="914400" rtl="0" eaLnBrk="1" latinLnBrk="0" hangingPunct="1">
      <a:defRPr kumimoji="1" sz="4000" b="1" kern="1200">
        <a:solidFill>
          <a:srgbClr val="000000"/>
        </a:solidFill>
        <a:latin typeface="Times New Roman" pitchFamily="18" charset="0"/>
        <a:ea typeface="幼圆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</p:showPr>
  <p:clrMru>
    <a:srgbClr val="FF9900"/>
    <a:srgbClr val="542A00"/>
    <a:srgbClr val="FF6600"/>
    <a:srgbClr val="FFCC99"/>
    <a:srgbClr val="FFCC00"/>
    <a:srgbClr val="FFCCFF"/>
    <a:srgbClr val="663300"/>
    <a:srgbClr val="FFFF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284" autoAdjust="0"/>
    <p:restoredTop sz="94434" autoAdjust="0"/>
  </p:normalViewPr>
  <p:slideViewPr>
    <p:cSldViewPr snapToGrid="0">
      <p:cViewPr varScale="1">
        <p:scale>
          <a:sx n="89" d="100"/>
          <a:sy n="89" d="100"/>
        </p:scale>
        <p:origin x="-768" y="-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>
        <p:scale>
          <a:sx n="66" d="100"/>
          <a:sy n="66" d="100"/>
        </p:scale>
        <p:origin x="-1506" y="228"/>
      </p:cViewPr>
      <p:guideLst>
        <p:guide orient="horz" pos="2160"/>
        <p:guide pos="2880"/>
      </p:guideLst>
    </p:cSldViewPr>
  </p:notesViewPr>
  <p:gridSpacing cx="46085125" cy="4608512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638" tIns="0" rIns="20638" bIns="0" numCol="1" anchor="t" anchorCtr="0" compatLnSpc="1">
            <a:prstTxWarp prst="textNoShape">
              <a:avLst/>
            </a:prstTxWarp>
          </a:bodyPr>
          <a:lstStyle>
            <a:lvl1pPr defTabSz="1039813">
              <a:defRPr sz="1100" b="0" i="1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638" tIns="0" rIns="20638" bIns="0" numCol="1" anchor="t" anchorCtr="0" compatLnSpc="1">
            <a:prstTxWarp prst="textNoShape">
              <a:avLst/>
            </a:prstTxWarp>
          </a:bodyPr>
          <a:lstStyle>
            <a:lvl1pPr algn="r" defTabSz="1039813">
              <a:defRPr sz="1100" b="0" i="1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69900" y="727075"/>
            <a:ext cx="6375400" cy="35877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425" tIns="49212" rIns="98425" bIns="492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638" tIns="0" rIns="20638" bIns="0" numCol="1" anchor="b" anchorCtr="0" compatLnSpc="1">
            <a:prstTxWarp prst="textNoShape">
              <a:avLst/>
            </a:prstTxWarp>
          </a:bodyPr>
          <a:lstStyle>
            <a:lvl1pPr defTabSz="1039813">
              <a:defRPr sz="1100" b="0" i="1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638" tIns="0" rIns="20638" bIns="0" numCol="1" anchor="b" anchorCtr="0" compatLnSpc="1">
            <a:prstTxWarp prst="textNoShape">
              <a:avLst/>
            </a:prstTxWarp>
          </a:bodyPr>
          <a:lstStyle>
            <a:lvl1pPr algn="r" defTabSz="1039813">
              <a:defRPr sz="1100" b="0" i="1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BCCEC60F-896A-4495-B0E2-9C796BCAFB3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1039813" rtl="0" eaLnBrk="0" fontAlgn="base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87363" algn="l" defTabSz="1039813" rtl="0" eaLnBrk="0" fontAlgn="base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74725" algn="l" defTabSz="1039813" rtl="0" eaLnBrk="0" fontAlgn="base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463675" algn="l" defTabSz="1039813" rtl="0" eaLnBrk="0" fontAlgn="base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951038" algn="l" defTabSz="1039813" rtl="0" eaLnBrk="0" fontAlgn="base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9900" y="727075"/>
            <a:ext cx="6375400" cy="3587750"/>
          </a:xfrm>
          <a:ln/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FD13C6-637A-409E-9818-3715D0B032D6}" type="slidenum">
              <a:rPr lang="en-US" altLang="zh-CN" smtClean="0"/>
              <a:pPr/>
              <a:t>17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9900" y="727075"/>
            <a:ext cx="6375400" cy="3587750"/>
          </a:xfrm>
          <a:ln/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FD13C6-637A-409E-9818-3715D0B032D6}" type="slidenum">
              <a:rPr lang="en-US" altLang="zh-CN" smtClean="0"/>
              <a:pPr/>
              <a:t>18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9900" y="727075"/>
            <a:ext cx="6375400" cy="3587750"/>
          </a:xfrm>
          <a:ln/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FD13C6-637A-409E-9818-3715D0B032D6}" type="slidenum">
              <a:rPr lang="en-US" altLang="zh-CN" smtClean="0"/>
              <a:pPr/>
              <a:t>19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9900" y="727075"/>
            <a:ext cx="6375400" cy="3587750"/>
          </a:xfrm>
          <a:ln/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FD13C6-637A-409E-9818-3715D0B032D6}" type="slidenum">
              <a:rPr lang="en-US" altLang="zh-CN" smtClean="0"/>
              <a:pPr/>
              <a:t>20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9900" y="727075"/>
            <a:ext cx="6375400" cy="3587750"/>
          </a:xfrm>
          <a:ln/>
        </p:spPr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  <p:sp>
        <p:nvSpPr>
          <p:cNvPr id="1843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54DE82E-3CC2-4308-80B8-67BB8DE47BBA}" type="slidenum">
              <a:rPr lang="en-US" altLang="zh-CN" smtClean="0"/>
              <a:pPr/>
              <a:t>21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9900" y="727075"/>
            <a:ext cx="6375400" cy="3587750"/>
          </a:xfrm>
          <a:ln/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C6679B-C671-4814-AA67-57407741EE23}" type="slidenum">
              <a:rPr lang="en-US" altLang="zh-CN" smtClean="0"/>
              <a:pPr/>
              <a:t>22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9900" y="727075"/>
            <a:ext cx="6375400" cy="3587750"/>
          </a:xfrm>
          <a:ln/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C6679B-C671-4814-AA67-57407741EE23}" type="slidenum">
              <a:rPr lang="en-US" altLang="zh-CN" smtClean="0"/>
              <a:pPr/>
              <a:t>23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9900" y="727075"/>
            <a:ext cx="6375400" cy="3587750"/>
          </a:xfrm>
          <a:ln/>
        </p:spPr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  <p:sp>
        <p:nvSpPr>
          <p:cNvPr id="2048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4B0AFC-5A3B-4093-A8F0-32DBEAB97EBD}" type="slidenum">
              <a:rPr lang="en-US" altLang="zh-CN" smtClean="0"/>
              <a:pPr/>
              <a:t>24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9900" y="727075"/>
            <a:ext cx="6375400" cy="3587750"/>
          </a:xfrm>
          <a:ln/>
        </p:spPr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  <p:sp>
        <p:nvSpPr>
          <p:cNvPr id="2048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4B0AFC-5A3B-4093-A8F0-32DBEAB97EBD}" type="slidenum">
              <a:rPr lang="en-US" altLang="zh-CN" smtClean="0"/>
              <a:pPr/>
              <a:t>25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9900" y="727075"/>
            <a:ext cx="6375400" cy="3587750"/>
          </a:xfrm>
          <a:ln/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AA85C4-AEC2-4FC8-A1BB-E98B5FBAE926}" type="slidenum">
              <a:rPr lang="en-US" altLang="zh-CN" smtClean="0"/>
              <a:pPr/>
              <a:t>26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9900" y="727075"/>
            <a:ext cx="6375400" cy="3587750"/>
          </a:xfrm>
          <a:ln/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ED17EC-D57D-41ED-B736-9322CC9634DD}" type="slidenum">
              <a:rPr lang="en-US" altLang="zh-CN" smtClean="0"/>
              <a:pPr/>
              <a:t>27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9900" y="727075"/>
            <a:ext cx="6375400" cy="3587750"/>
          </a:xfrm>
          <a:ln/>
        </p:spPr>
      </p:sp>
      <p:sp>
        <p:nvSpPr>
          <p:cNvPr id="2457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  <p:sp>
        <p:nvSpPr>
          <p:cNvPr id="2458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4E4F71-44C9-4C87-834A-DFCBDBBC0A54}" type="slidenum">
              <a:rPr lang="en-US" altLang="zh-CN" smtClean="0"/>
              <a:pPr/>
              <a:t>28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9900" y="727075"/>
            <a:ext cx="6375400" cy="3587750"/>
          </a:xfrm>
          <a:ln/>
        </p:spPr>
      </p:sp>
      <p:sp>
        <p:nvSpPr>
          <p:cNvPr id="2457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  <p:sp>
        <p:nvSpPr>
          <p:cNvPr id="2458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4E4F71-44C9-4C87-834A-DFCBDBBC0A54}" type="slidenum">
              <a:rPr lang="en-US" altLang="zh-CN" smtClean="0"/>
              <a:pPr/>
              <a:t>29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9900" y="727075"/>
            <a:ext cx="6375400" cy="3587750"/>
          </a:xfrm>
          <a:ln/>
        </p:spPr>
      </p:sp>
      <p:sp>
        <p:nvSpPr>
          <p:cNvPr id="2457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  <p:sp>
        <p:nvSpPr>
          <p:cNvPr id="2458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4E4F71-44C9-4C87-834A-DFCBDBBC0A54}" type="slidenum">
              <a:rPr lang="en-US" altLang="zh-CN" smtClean="0"/>
              <a:pPr/>
              <a:t>30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9900" y="727075"/>
            <a:ext cx="6375400" cy="3587750"/>
          </a:xfrm>
          <a:ln/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F7D540-F3DC-47D0-BC58-B2101089149B}" type="slidenum">
              <a:rPr lang="en-US" altLang="zh-CN" smtClean="0"/>
              <a:pPr/>
              <a:t>31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9900" y="727075"/>
            <a:ext cx="6375400" cy="3587750"/>
          </a:xfrm>
          <a:ln/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F7D540-F3DC-47D0-BC58-B2101089149B}" type="slidenum">
              <a:rPr lang="en-US" altLang="zh-CN" smtClean="0"/>
              <a:pPr/>
              <a:t>32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9900" y="727075"/>
            <a:ext cx="6375400" cy="3587750"/>
          </a:xfrm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A03137-6A7D-497A-9641-A3EDED220F12}" type="slidenum">
              <a:rPr lang="en-US" altLang="zh-CN" smtClean="0"/>
              <a:pPr/>
              <a:t>33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9900" y="727075"/>
            <a:ext cx="6375400" cy="3587750"/>
          </a:xfrm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A03137-6A7D-497A-9641-A3EDED220F12}" type="slidenum">
              <a:rPr lang="en-US" altLang="zh-CN" smtClean="0"/>
              <a:pPr/>
              <a:t>34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9900" y="727075"/>
            <a:ext cx="6375400" cy="3587750"/>
          </a:xfrm>
          <a:ln/>
        </p:spPr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  <p:sp>
        <p:nvSpPr>
          <p:cNvPr id="2765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C4462F-CBFC-4529-8D52-2EB2F4B85FCA}" type="slidenum">
              <a:rPr lang="en-US" altLang="zh-CN" smtClean="0"/>
              <a:pPr/>
              <a:t>35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9900" y="727075"/>
            <a:ext cx="6375400" cy="3587750"/>
          </a:xfrm>
          <a:ln/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C434AC0-B098-49C6-B4AA-B1B8D8C7987F}" type="slidenum">
              <a:rPr lang="en-US" altLang="zh-CN" smtClean="0"/>
              <a:pPr/>
              <a:t>36</a:t>
            </a:fld>
            <a:endParaRPr lang="en-US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7AB67-4EC8-4CDC-93E0-0676F739EE6E}" type="datetimeFigureOut">
              <a:rPr lang="zh-CN" altLang="en-US" smtClean="0"/>
              <a:pPr/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3E63-D473-4438-B410-5B66B64F6BE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165458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7AB67-4EC8-4CDC-93E0-0676F739EE6E}" type="datetimeFigureOut">
              <a:rPr lang="zh-CN" altLang="en-US" smtClean="0"/>
              <a:pPr/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3E63-D473-4438-B410-5B66B64F6BE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7436802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7"/>
            <a:ext cx="7886700" cy="213955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7AB67-4EC8-4CDC-93E0-0676F739EE6E}" type="datetimeFigureOut">
              <a:rPr lang="zh-CN" altLang="en-US" smtClean="0"/>
              <a:pPr/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3E63-D473-4438-B410-5B66B64F6BE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367227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7AB67-4EC8-4CDC-93E0-0676F739EE6E}" type="datetimeFigureOut">
              <a:rPr lang="zh-CN" altLang="en-US" smtClean="0"/>
              <a:pPr/>
              <a:t>2017/10/15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3E63-D473-4438-B410-5B66B64F6BE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87670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7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5" y="1260872"/>
            <a:ext cx="3887391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5" y="1878806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7AB67-4EC8-4CDC-93E0-0676F739EE6E}" type="datetimeFigureOut">
              <a:rPr lang="zh-CN" altLang="en-US" smtClean="0"/>
              <a:pPr/>
              <a:t>2017/10/15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3E63-D473-4438-B410-5B66B64F6BE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588873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7AB67-4EC8-4CDC-93E0-0676F739EE6E}" type="datetimeFigureOut">
              <a:rPr lang="zh-CN" altLang="en-US" smtClean="0"/>
              <a:pPr/>
              <a:t>2017/10/15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3E63-D473-4438-B410-5B66B64F6BE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133102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7AB67-4EC8-4CDC-93E0-0676F739EE6E}" type="datetimeFigureOut">
              <a:rPr lang="zh-CN" altLang="en-US" smtClean="0"/>
              <a:pPr/>
              <a:t>2017/10/15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3E63-D473-4438-B410-5B66B64F6BE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62469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2"/>
            <a:ext cx="4629150" cy="36552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7AB67-4EC8-4CDC-93E0-0676F739EE6E}" type="datetimeFigureOut">
              <a:rPr lang="zh-CN" altLang="en-US" smtClean="0"/>
              <a:pPr/>
              <a:t>2017/10/15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3E63-D473-4438-B410-5B66B64F6BE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461431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2"/>
            <a:ext cx="4629150" cy="365521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7AB67-4EC8-4CDC-93E0-0676F739EE6E}" type="datetimeFigureOut">
              <a:rPr lang="zh-CN" altLang="en-US" smtClean="0"/>
              <a:pPr/>
              <a:t>2017/10/15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3E63-D473-4438-B410-5B66B64F6BE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143021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7AB67-4EC8-4CDC-93E0-0676F739EE6E}" type="datetimeFigureOut">
              <a:rPr lang="zh-CN" altLang="en-US" smtClean="0"/>
              <a:pPr/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3E63-D473-4438-B410-5B66B64F6BE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870871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6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5" y="273846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7AB67-4EC8-4CDC-93E0-0676F739EE6E}" type="datetimeFigureOut">
              <a:rPr lang="zh-CN" altLang="en-US" smtClean="0"/>
              <a:pPr/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A3E63-D473-4438-B410-5B66B64F6BE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408338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7AB67-4EC8-4CDC-93E0-0676F739EE6E}" type="datetimeFigureOut">
              <a:rPr lang="zh-CN" altLang="en-US" smtClean="0"/>
              <a:pPr/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A3E63-D473-4438-B410-5B66B64F6BE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471524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oleObject" Target="../embeddings/oleObject10.bin"/><Relationship Id="rId3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12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2.bin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5.wmf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2.bin"/><Relationship Id="rId5" Type="http://schemas.openxmlformats.org/officeDocument/2006/relationships/oleObject" Target="../embeddings/oleObject11.bin"/><Relationship Id="rId4" Type="http://schemas.openxmlformats.org/officeDocument/2006/relationships/image" Target="../media/image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7.bin"/><Relationship Id="rId5" Type="http://schemas.openxmlformats.org/officeDocument/2006/relationships/oleObject" Target="../embeddings/oleObject16.bin"/><Relationship Id="rId4" Type="http://schemas.openxmlformats.org/officeDocument/2006/relationships/oleObject" Target="../embeddings/oleObject15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1.bin"/><Relationship Id="rId5" Type="http://schemas.openxmlformats.org/officeDocument/2006/relationships/oleObject" Target="../embeddings/oleObject20.bin"/><Relationship Id="rId4" Type="http://schemas.openxmlformats.org/officeDocument/2006/relationships/oleObject" Target="../embeddings/oleObject19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5.bin"/><Relationship Id="rId5" Type="http://schemas.openxmlformats.org/officeDocument/2006/relationships/oleObject" Target="../embeddings/oleObject24.bin"/><Relationship Id="rId4" Type="http://schemas.openxmlformats.org/officeDocument/2006/relationships/oleObject" Target="../embeddings/oleObject23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oleObject" Target="../embeddings/oleObject36.bin"/><Relationship Id="rId18" Type="http://schemas.openxmlformats.org/officeDocument/2006/relationships/oleObject" Target="../embeddings/oleObject41.bin"/><Relationship Id="rId3" Type="http://schemas.openxmlformats.org/officeDocument/2006/relationships/image" Target="../media/image5.wmf"/><Relationship Id="rId7" Type="http://schemas.openxmlformats.org/officeDocument/2006/relationships/oleObject" Target="../embeddings/oleObject30.bin"/><Relationship Id="rId12" Type="http://schemas.openxmlformats.org/officeDocument/2006/relationships/oleObject" Target="../embeddings/oleObject35.bin"/><Relationship Id="rId17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9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9.bin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8.bin"/><Relationship Id="rId10" Type="http://schemas.openxmlformats.org/officeDocument/2006/relationships/oleObject" Target="../embeddings/oleObject33.bin"/><Relationship Id="rId19" Type="http://schemas.openxmlformats.org/officeDocument/2006/relationships/oleObject" Target="../embeddings/oleObject42.bin"/><Relationship Id="rId4" Type="http://schemas.openxmlformats.org/officeDocument/2006/relationships/oleObject" Target="../embeddings/oleObject27.bin"/><Relationship Id="rId9" Type="http://schemas.openxmlformats.org/officeDocument/2006/relationships/oleObject" Target="../embeddings/oleObject32.bin"/><Relationship Id="rId14" Type="http://schemas.openxmlformats.org/officeDocument/2006/relationships/oleObject" Target="../embeddings/oleObject37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13" Type="http://schemas.openxmlformats.org/officeDocument/2006/relationships/oleObject" Target="../embeddings/oleObject50.bin"/><Relationship Id="rId3" Type="http://schemas.openxmlformats.org/officeDocument/2006/relationships/audio" Target="../media/audio1.wav"/><Relationship Id="rId7" Type="http://schemas.openxmlformats.org/officeDocument/2006/relationships/oleObject" Target="../embeddings/oleObject44.bin"/><Relationship Id="rId12" Type="http://schemas.openxmlformats.org/officeDocument/2006/relationships/oleObject" Target="../embeddings/oleObject49.bin"/><Relationship Id="rId17" Type="http://schemas.openxmlformats.org/officeDocument/2006/relationships/oleObject" Target="../embeddings/oleObject54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53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3.bin"/><Relationship Id="rId11" Type="http://schemas.openxmlformats.org/officeDocument/2006/relationships/oleObject" Target="../embeddings/oleObject48.bin"/><Relationship Id="rId5" Type="http://schemas.openxmlformats.org/officeDocument/2006/relationships/image" Target="../media/image6.wmf"/><Relationship Id="rId15" Type="http://schemas.openxmlformats.org/officeDocument/2006/relationships/oleObject" Target="../embeddings/oleObject52.bin"/><Relationship Id="rId10" Type="http://schemas.openxmlformats.org/officeDocument/2006/relationships/oleObject" Target="../embeddings/oleObject47.bin"/><Relationship Id="rId4" Type="http://schemas.openxmlformats.org/officeDocument/2006/relationships/image" Target="../media/image5.wmf"/><Relationship Id="rId9" Type="http://schemas.openxmlformats.org/officeDocument/2006/relationships/oleObject" Target="../embeddings/oleObject46.bin"/><Relationship Id="rId14" Type="http://schemas.openxmlformats.org/officeDocument/2006/relationships/oleObject" Target="../embeddings/oleObject51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9" name="Rectangle 5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2393092" y="3160656"/>
            <a:ext cx="2190520" cy="646331"/>
          </a:xfrm>
          <a:prstGeom prst="rect">
            <a:avLst/>
          </a:prstGeom>
          <a:noFill/>
          <a:ln w="349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600" dirty="0" smtClean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3600" dirty="0" smtClean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  </a:t>
            </a:r>
            <a:r>
              <a:rPr lang="en-US" altLang="zh-CN" sz="3600" dirty="0" smtClean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PN</a:t>
            </a:r>
            <a:r>
              <a:rPr lang="zh-CN" altLang="en-US" sz="3600" dirty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结</a:t>
            </a:r>
          </a:p>
        </p:txBody>
      </p:sp>
      <p:sp>
        <p:nvSpPr>
          <p:cNvPr id="497671" name="Rectangle 7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363380" y="2439080"/>
            <a:ext cx="4397374" cy="646331"/>
          </a:xfrm>
          <a:prstGeom prst="rect">
            <a:avLst/>
          </a:prstGeom>
          <a:noFill/>
          <a:ln w="349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600" dirty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3600" dirty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   </a:t>
            </a:r>
            <a:r>
              <a:rPr lang="zh-CN" altLang="en-US" sz="3600" dirty="0" smtClean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半导体基础知识</a:t>
            </a:r>
            <a:endParaRPr lang="zh-CN" altLang="en-US" sz="3600" dirty="0">
              <a:solidFill>
                <a:srgbClr val="C00000"/>
              </a:solidFill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497672" name="Rectangle 8"/>
          <p:cNvSpPr>
            <a:spLocks noChangeArrowheads="1"/>
          </p:cNvSpPr>
          <p:nvPr/>
        </p:nvSpPr>
        <p:spPr bwMode="auto">
          <a:xfrm>
            <a:off x="793750" y="374254"/>
            <a:ext cx="7145564" cy="1938992"/>
          </a:xfrm>
          <a:prstGeom prst="rect">
            <a:avLst/>
          </a:prstGeom>
          <a:noFill/>
          <a:ln w="349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6000" dirty="0">
                <a:solidFill>
                  <a:schemeClr val="tx1"/>
                </a:solidFill>
                <a:ea typeface="隶书" pitchFamily="49" charset="-122"/>
                <a:cs typeface="Times New Roman" pitchFamily="18" charset="0"/>
              </a:rPr>
              <a:t>8.1 </a:t>
            </a:r>
            <a:r>
              <a:rPr lang="zh-CN" altLang="en-US" sz="6000" dirty="0">
                <a:solidFill>
                  <a:schemeClr val="tx1"/>
                </a:solidFill>
                <a:ea typeface="隶书" pitchFamily="49" charset="-122"/>
                <a:cs typeface="Times New Roman" pitchFamily="18" charset="0"/>
              </a:rPr>
              <a:t>半导体基础</a:t>
            </a:r>
            <a:r>
              <a:rPr lang="zh-CN" altLang="en-US" sz="6000" dirty="0" smtClean="0">
                <a:solidFill>
                  <a:schemeClr val="tx1"/>
                </a:solidFill>
                <a:ea typeface="隶书" pitchFamily="49" charset="-122"/>
                <a:cs typeface="Times New Roman" pitchFamily="18" charset="0"/>
              </a:rPr>
              <a:t>知识</a:t>
            </a:r>
            <a:endParaRPr lang="en-US" altLang="zh-CN" sz="6000" dirty="0" smtClean="0">
              <a:solidFill>
                <a:schemeClr val="tx1"/>
              </a:solidFill>
              <a:ea typeface="隶书" pitchFamily="49" charset="-122"/>
              <a:cs typeface="Times New Roman" pitchFamily="18" charset="0"/>
            </a:endParaRPr>
          </a:p>
          <a:p>
            <a:pPr algn="ctr">
              <a:defRPr/>
            </a:pPr>
            <a:r>
              <a:rPr lang="zh-CN" altLang="en-US" sz="6000" dirty="0" smtClean="0">
                <a:solidFill>
                  <a:schemeClr val="tx1"/>
                </a:solidFill>
                <a:ea typeface="隶书" pitchFamily="49" charset="-122"/>
                <a:cs typeface="Times New Roman" pitchFamily="18" charset="0"/>
              </a:rPr>
              <a:t>和二极管</a:t>
            </a:r>
            <a:endParaRPr lang="zh-CN" altLang="en-US" sz="6000" dirty="0">
              <a:solidFill>
                <a:schemeClr val="tx1"/>
              </a:solidFill>
              <a:ea typeface="隶书" pitchFamily="49" charset="-122"/>
              <a:cs typeface="Times New Roman" pitchFamily="18" charset="0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2408966" y="3902436"/>
            <a:ext cx="380024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3600" dirty="0" smtClean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3 </a:t>
            </a:r>
            <a:r>
              <a:rPr lang="zh-CN" altLang="en-US" sz="3600" dirty="0" smtClean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半导体二极管</a:t>
            </a:r>
            <a:endParaRPr lang="zh-CN" altLang="en-US" sz="3600" dirty="0">
              <a:solidFill>
                <a:srgbClr val="C00000"/>
              </a:solidFill>
              <a:ea typeface="黑体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9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49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669" grpId="0"/>
      <p:bldP spid="497671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97" name="Rectangle 21"/>
          <p:cNvSpPr>
            <a:spLocks noChangeArrowheads="1"/>
          </p:cNvSpPr>
          <p:nvPr/>
        </p:nvSpPr>
        <p:spPr bwMode="auto">
          <a:xfrm>
            <a:off x="714633" y="816604"/>
            <a:ext cx="4264309" cy="584775"/>
          </a:xfrm>
          <a:prstGeom prst="rect">
            <a:avLst/>
          </a:prstGeom>
          <a:noFill/>
          <a:ln w="22225" algn="ctr">
            <a:noFill/>
            <a:miter lim="800000"/>
            <a:headEnd/>
            <a:tailEnd type="none" w="sm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dirty="0" smtClean="0">
                <a:solidFill>
                  <a:srgbClr val="0070C0"/>
                </a:solidFill>
                <a:latin typeface="华文中宋" pitchFamily="2" charset="-122"/>
                <a:ea typeface="华文中宋" pitchFamily="2" charset="-122"/>
              </a:rPr>
              <a:t>1</a:t>
            </a:r>
            <a:r>
              <a:rPr lang="zh-CN" altLang="en-US" sz="3200" dirty="0" smtClean="0">
                <a:solidFill>
                  <a:srgbClr val="0070C0"/>
                </a:solidFill>
                <a:latin typeface="华文中宋" pitchFamily="2" charset="-122"/>
                <a:ea typeface="华文中宋" pitchFamily="2" charset="-122"/>
              </a:rPr>
              <a:t>） 半导体</a:t>
            </a:r>
            <a:r>
              <a:rPr lang="zh-CN" altLang="en-US" sz="3200" dirty="0">
                <a:solidFill>
                  <a:srgbClr val="0070C0"/>
                </a:solidFill>
                <a:latin typeface="华文中宋" pitchFamily="2" charset="-122"/>
                <a:ea typeface="华文中宋" pitchFamily="2" charset="-122"/>
              </a:rPr>
              <a:t>的导电特性</a:t>
            </a:r>
          </a:p>
        </p:txBody>
      </p:sp>
      <p:sp>
        <p:nvSpPr>
          <p:cNvPr id="15" name="Rectangle 7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715923" y="129092"/>
            <a:ext cx="4397374" cy="646331"/>
          </a:xfrm>
          <a:prstGeom prst="rect">
            <a:avLst/>
          </a:prstGeom>
          <a:noFill/>
          <a:ln w="349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600" dirty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3600" dirty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   </a:t>
            </a:r>
            <a:r>
              <a:rPr lang="zh-CN" altLang="en-US" sz="3600" dirty="0" smtClean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半导体基础知识</a:t>
            </a:r>
            <a:endParaRPr lang="zh-CN" altLang="en-US" sz="3600" dirty="0">
              <a:solidFill>
                <a:srgbClr val="C00000"/>
              </a:solidFill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16" name="Text Box 23"/>
          <p:cNvSpPr txBox="1">
            <a:spLocks noChangeArrowheads="1"/>
          </p:cNvSpPr>
          <p:nvPr/>
        </p:nvSpPr>
        <p:spPr bwMode="auto">
          <a:xfrm>
            <a:off x="857379" y="2822230"/>
            <a:ext cx="596296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导电性：介于导体和绝缘体之间</a:t>
            </a:r>
            <a:endParaRPr lang="zh-CN" altLang="en-US" sz="28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7" name="Text Box 23"/>
          <p:cNvSpPr txBox="1">
            <a:spLocks noChangeArrowheads="1"/>
          </p:cNvSpPr>
          <p:nvPr/>
        </p:nvSpPr>
        <p:spPr bwMode="auto">
          <a:xfrm>
            <a:off x="814349" y="3526426"/>
            <a:ext cx="6059786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电荷运动方式：自由电子的定向运动</a:t>
            </a:r>
            <a:endParaRPr lang="en-US" altLang="zh-CN" sz="2800" dirty="0" smtClean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                    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空穴运动</a:t>
            </a:r>
            <a:endParaRPr lang="zh-CN" altLang="en-US" sz="28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8" name="Text Box 23"/>
          <p:cNvSpPr txBox="1">
            <a:spLocks noChangeArrowheads="1"/>
          </p:cNvSpPr>
          <p:nvPr/>
        </p:nvSpPr>
        <p:spPr bwMode="auto">
          <a:xfrm>
            <a:off x="868138" y="1434494"/>
            <a:ext cx="28432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材料：硅或锗</a:t>
            </a:r>
            <a:endParaRPr lang="zh-CN" altLang="en-US" sz="28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8" name="Text Box 23"/>
          <p:cNvSpPr txBox="1">
            <a:spLocks noChangeArrowheads="1"/>
          </p:cNvSpPr>
          <p:nvPr/>
        </p:nvSpPr>
        <p:spPr bwMode="auto">
          <a:xfrm>
            <a:off x="868138" y="2101469"/>
            <a:ext cx="779176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由单一的硅或锗原子构成的晶体称为本征半导体</a:t>
            </a:r>
            <a:endParaRPr lang="zh-CN" altLang="en-US" sz="28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3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197" grpId="0"/>
      <p:bldP spid="15" grpId="0"/>
      <p:bldP spid="16" grpId="0"/>
      <p:bldP spid="17" grpId="0"/>
      <p:bldP spid="18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1097279" y="853376"/>
            <a:ext cx="6927925" cy="1082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prstClr val="black"/>
                </a:solidFill>
                <a:latin typeface="华文中宋" pitchFamily="2" charset="-122"/>
                <a:ea typeface="华文中宋" pitchFamily="2" charset="-122"/>
              </a:rPr>
              <a:t>在</a:t>
            </a:r>
            <a:r>
              <a:rPr lang="zh-CN" altLang="en-US" sz="2800" dirty="0" smtClean="0">
                <a:solidFill>
                  <a:prstClr val="black"/>
                </a:solidFill>
                <a:latin typeface="华文中宋" pitchFamily="2" charset="-122"/>
                <a:ea typeface="华文中宋" pitchFamily="2" charset="-122"/>
              </a:rPr>
              <a:t>半导体</a:t>
            </a:r>
            <a:r>
              <a:rPr lang="zh-CN" altLang="en-US" sz="2800" dirty="0">
                <a:solidFill>
                  <a:prstClr val="black"/>
                </a:solidFill>
                <a:latin typeface="华文中宋" pitchFamily="2" charset="-122"/>
                <a:ea typeface="华文中宋" pitchFamily="2" charset="-122"/>
              </a:rPr>
              <a:t>中，</a:t>
            </a:r>
            <a:r>
              <a:rPr lang="zh-CN" altLang="en-US" sz="2800" dirty="0" smtClean="0">
                <a:solidFill>
                  <a:prstClr val="black"/>
                </a:solidFill>
                <a:latin typeface="华文中宋" pitchFamily="2" charset="-122"/>
                <a:ea typeface="华文中宋" pitchFamily="2" charset="-122"/>
              </a:rPr>
              <a:t>同时</a:t>
            </a:r>
            <a:r>
              <a:rPr lang="zh-CN" altLang="en-US" sz="2800" dirty="0">
                <a:solidFill>
                  <a:prstClr val="black"/>
                </a:solidFill>
                <a:latin typeface="华文中宋" pitchFamily="2" charset="-122"/>
                <a:ea typeface="华文中宋" pitchFamily="2" charset="-122"/>
              </a:rPr>
              <a:t>存在</a:t>
            </a:r>
            <a:r>
              <a:rPr lang="zh-CN" altLang="en-US" sz="2800" dirty="0" smtClean="0">
                <a:solidFill>
                  <a:prstClr val="black"/>
                </a:solidFill>
                <a:latin typeface="华文中宋" pitchFamily="2" charset="-122"/>
                <a:ea typeface="华文中宋" pitchFamily="2" charset="-122"/>
              </a:rPr>
              <a:t>着电子导电和空穴导电。空穴和自由电子</a:t>
            </a:r>
            <a:r>
              <a:rPr lang="zh-CN" altLang="en-US" sz="2800" dirty="0">
                <a:solidFill>
                  <a:prstClr val="black"/>
                </a:solidFill>
                <a:latin typeface="华文中宋" pitchFamily="2" charset="-122"/>
                <a:ea typeface="华文中宋" pitchFamily="2" charset="-122"/>
              </a:rPr>
              <a:t>都</a:t>
            </a:r>
            <a:r>
              <a:rPr lang="zh-CN" altLang="en-US" sz="2800" dirty="0" smtClean="0">
                <a:solidFill>
                  <a:prstClr val="black"/>
                </a:solidFill>
                <a:latin typeface="华文中宋" pitchFamily="2" charset="-122"/>
                <a:ea typeface="华文中宋" pitchFamily="2" charset="-122"/>
              </a:rPr>
              <a:t>称为</a:t>
            </a:r>
            <a:r>
              <a:rPr lang="zh-CN" altLang="en-US" sz="2800" dirty="0" smtClean="0">
                <a:solidFill>
                  <a:srgbClr val="ED7D31"/>
                </a:solidFill>
                <a:latin typeface="华文中宋" pitchFamily="2" charset="-122"/>
                <a:ea typeface="华文中宋" pitchFamily="2" charset="-122"/>
              </a:rPr>
              <a:t>载流子</a:t>
            </a:r>
            <a:r>
              <a:rPr lang="zh-CN" altLang="en-US" sz="2800" dirty="0">
                <a:solidFill>
                  <a:srgbClr val="ED7D31"/>
                </a:solidFill>
                <a:latin typeface="华文中宋" pitchFamily="2" charset="-122"/>
                <a:ea typeface="华文中宋" pitchFamily="2" charset="-122"/>
              </a:rPr>
              <a:t>。</a:t>
            </a:r>
          </a:p>
        </p:txBody>
      </p:sp>
      <p:sp>
        <p:nvSpPr>
          <p:cNvPr id="3" name="矩形 2"/>
          <p:cNvSpPr/>
          <p:nvPr/>
        </p:nvSpPr>
        <p:spPr>
          <a:xfrm>
            <a:off x="1102658" y="2094739"/>
            <a:ext cx="6675120" cy="1082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0"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本征半导体中载流子的数量极其微弱，导电能力很差。</a:t>
            </a:r>
            <a:endParaRPr lang="zh-CN" altLang="en-US" sz="28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18795" y="3297767"/>
            <a:ext cx="6303981" cy="565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0"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温度对半导体器件的性能影响很大。</a:t>
            </a:r>
            <a:endParaRPr lang="zh-CN" altLang="en-US" sz="28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</p:spTree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Text Box 2"/>
          <p:cNvSpPr txBox="1">
            <a:spLocks noChangeArrowheads="1"/>
          </p:cNvSpPr>
          <p:nvPr/>
        </p:nvSpPr>
        <p:spPr bwMode="auto">
          <a:xfrm>
            <a:off x="788988" y="303610"/>
            <a:ext cx="59753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3200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32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32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3200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N</a:t>
            </a:r>
            <a:r>
              <a:rPr lang="zh-CN" altLang="en-US" sz="3200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型半导体和</a:t>
            </a:r>
            <a:r>
              <a:rPr lang="en-US" altLang="zh-CN" sz="3200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P</a:t>
            </a:r>
            <a:r>
              <a:rPr lang="zh-CN" altLang="en-US" sz="3200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型半导体</a:t>
            </a:r>
          </a:p>
        </p:txBody>
      </p:sp>
      <p:sp>
        <p:nvSpPr>
          <p:cNvPr id="436236" name="Text Box 12"/>
          <p:cNvSpPr txBox="1">
            <a:spLocks noChangeArrowheads="1"/>
          </p:cNvSpPr>
          <p:nvPr/>
        </p:nvSpPr>
        <p:spPr bwMode="auto">
          <a:xfrm>
            <a:off x="1120662" y="1717554"/>
            <a:ext cx="6291358" cy="1643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在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硅或锗中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掺入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少量的五价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元素（也称为杂质），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如磷或砷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、锑，形成</a:t>
            </a:r>
            <a:r>
              <a:rPr lang="en-US" altLang="zh-CN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N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型半导体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。</a:t>
            </a:r>
          </a:p>
        </p:txBody>
      </p:sp>
      <p:sp>
        <p:nvSpPr>
          <p:cNvPr id="436246" name="Rectangle 22"/>
          <p:cNvSpPr>
            <a:spLocks noChangeArrowheads="1"/>
          </p:cNvSpPr>
          <p:nvPr/>
        </p:nvSpPr>
        <p:spPr bwMode="auto">
          <a:xfrm>
            <a:off x="1152695" y="3432596"/>
            <a:ext cx="6324600" cy="1082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在</a:t>
            </a:r>
            <a:r>
              <a:rPr lang="en-US" altLang="zh-CN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N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型半导体中，电子是多子，空穴是少子</a:t>
            </a:r>
          </a:p>
        </p:txBody>
      </p:sp>
      <p:sp>
        <p:nvSpPr>
          <p:cNvPr id="2070" name="Text Box 30"/>
          <p:cNvSpPr txBox="1">
            <a:spLocks noChangeArrowheads="1"/>
          </p:cNvSpPr>
          <p:nvPr/>
        </p:nvSpPr>
        <p:spPr bwMode="auto">
          <a:xfrm>
            <a:off x="661951" y="1135170"/>
            <a:ext cx="2522313" cy="522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dirty="0" smtClean="0">
                <a:solidFill>
                  <a:srgbClr val="00B050"/>
                </a:solidFill>
                <a:latin typeface="华文中宋" pitchFamily="2" charset="-122"/>
                <a:ea typeface="华文中宋" pitchFamily="2" charset="-122"/>
              </a:rPr>
              <a:t>N</a:t>
            </a:r>
            <a:r>
              <a:rPr lang="zh-CN" altLang="en-US" sz="2800" dirty="0">
                <a:solidFill>
                  <a:srgbClr val="00B050"/>
                </a:solidFill>
                <a:latin typeface="华文中宋" pitchFamily="2" charset="-122"/>
                <a:ea typeface="华文中宋" pitchFamily="2" charset="-122"/>
              </a:rPr>
              <a:t>型半导体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6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300"/>
                                        <p:tgtEl>
                                          <p:spTgt spid="436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36" grpId="0" autoUpdateAnimBg="0"/>
      <p:bldP spid="436246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1120662" y="1717554"/>
            <a:ext cx="6291358" cy="1643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在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硅或锗中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掺入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少量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的三价元素（也称为杂质），如硼或铝、镓，形成</a:t>
            </a:r>
            <a:r>
              <a:rPr lang="en-US" altLang="zh-CN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P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型半导体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。</a:t>
            </a:r>
          </a:p>
        </p:txBody>
      </p:sp>
      <p:sp>
        <p:nvSpPr>
          <p:cNvPr id="7" name="Rectangle 22"/>
          <p:cNvSpPr>
            <a:spLocks noChangeArrowheads="1"/>
          </p:cNvSpPr>
          <p:nvPr/>
        </p:nvSpPr>
        <p:spPr bwMode="auto">
          <a:xfrm>
            <a:off x="1134034" y="3395273"/>
            <a:ext cx="6324600" cy="112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在</a:t>
            </a:r>
            <a:r>
              <a:rPr lang="en-US" altLang="zh-CN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P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型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半导体中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，空穴是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多子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，电子是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少子</a:t>
            </a:r>
          </a:p>
        </p:txBody>
      </p:sp>
      <p:sp>
        <p:nvSpPr>
          <p:cNvPr id="8" name="Text Box 30"/>
          <p:cNvSpPr txBox="1">
            <a:spLocks noChangeArrowheads="1"/>
          </p:cNvSpPr>
          <p:nvPr/>
        </p:nvSpPr>
        <p:spPr bwMode="auto">
          <a:xfrm>
            <a:off x="661951" y="1135170"/>
            <a:ext cx="2522313" cy="522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dirty="0" smtClean="0">
                <a:solidFill>
                  <a:srgbClr val="00B050"/>
                </a:solidFill>
                <a:latin typeface="华文中宋" pitchFamily="2" charset="-122"/>
                <a:ea typeface="华文中宋" pitchFamily="2" charset="-122"/>
              </a:rPr>
              <a:t>P</a:t>
            </a:r>
            <a:r>
              <a:rPr lang="zh-CN" altLang="en-US" sz="2800" dirty="0" smtClean="0">
                <a:solidFill>
                  <a:srgbClr val="00B050"/>
                </a:solidFill>
                <a:latin typeface="华文中宋" pitchFamily="2" charset="-122"/>
                <a:ea typeface="华文中宋" pitchFamily="2" charset="-122"/>
              </a:rPr>
              <a:t>型</a:t>
            </a:r>
            <a:r>
              <a:rPr lang="zh-CN" altLang="en-US" sz="2800" dirty="0">
                <a:solidFill>
                  <a:srgbClr val="00B050"/>
                </a:solidFill>
                <a:latin typeface="华文中宋" pitchFamily="2" charset="-122"/>
                <a:ea typeface="华文中宋" pitchFamily="2" charset="-122"/>
              </a:rPr>
              <a:t>半导体</a:t>
            </a:r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1" name="Text Box 3"/>
          <p:cNvSpPr txBox="1">
            <a:spLocks noChangeArrowheads="1"/>
          </p:cNvSpPr>
          <p:nvPr/>
        </p:nvSpPr>
        <p:spPr bwMode="auto">
          <a:xfrm>
            <a:off x="1208442" y="2932803"/>
            <a:ext cx="360615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半导体本身不带电。</a:t>
            </a:r>
            <a:endParaRPr lang="zh-CN" altLang="en-US" sz="28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3096" name="Rectangle 32"/>
          <p:cNvSpPr>
            <a:spLocks noChangeArrowheads="1"/>
          </p:cNvSpPr>
          <p:nvPr/>
        </p:nvSpPr>
        <p:spPr bwMode="auto">
          <a:xfrm>
            <a:off x="1258888" y="4083844"/>
            <a:ext cx="27443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b="0">
                <a:solidFill>
                  <a:srgbClr val="CCECFF"/>
                </a:solidFill>
                <a:ea typeface="隶书" pitchFamily="49" charset="-122"/>
              </a:rPr>
              <a:t> </a:t>
            </a:r>
          </a:p>
        </p:txBody>
      </p:sp>
      <p:sp>
        <p:nvSpPr>
          <p:cNvPr id="30" name="Rectangle 22"/>
          <p:cNvSpPr>
            <a:spLocks noChangeArrowheads="1"/>
          </p:cNvSpPr>
          <p:nvPr/>
        </p:nvSpPr>
        <p:spPr bwMode="auto">
          <a:xfrm>
            <a:off x="1155551" y="1098627"/>
            <a:ext cx="6324600" cy="1599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P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型半导体和</a:t>
            </a:r>
            <a:r>
              <a:rPr lang="en-US" altLang="zh-CN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N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型半导体中，都有一种多数载流子和一种少数载流子，导电能力明显提高</a:t>
            </a:r>
            <a:endParaRPr lang="zh-CN" altLang="en-US" sz="28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37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7251" grpId="0" autoUpdateAnimBg="0"/>
      <p:bldP spid="30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5" name="Text Box 3"/>
          <p:cNvSpPr txBox="1">
            <a:spLocks noChangeArrowheads="1"/>
          </p:cNvSpPr>
          <p:nvPr/>
        </p:nvSpPr>
        <p:spPr bwMode="auto">
          <a:xfrm>
            <a:off x="989704" y="1802494"/>
            <a:ext cx="7089289" cy="1865864"/>
          </a:xfrm>
          <a:prstGeom prst="rect">
            <a:avLst/>
          </a:prstGeom>
          <a:noFill/>
          <a:ln w="25400">
            <a:noFill/>
            <a:prstDash val="sysDot"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同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一块半导体单晶上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，在两边分别形成</a:t>
            </a:r>
            <a:r>
              <a:rPr lang="en-US" altLang="zh-CN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P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型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半导体和</a:t>
            </a:r>
            <a:r>
              <a:rPr lang="en-US" altLang="zh-CN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N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型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半导体，在交界处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就形成一个</a:t>
            </a:r>
            <a:r>
              <a:rPr lang="en-US" altLang="zh-CN" sz="2800" i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PN</a:t>
            </a:r>
            <a:r>
              <a:rPr lang="zh-CN" altLang="en-US" sz="2800" i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结 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。</a:t>
            </a:r>
          </a:p>
        </p:txBody>
      </p:sp>
      <p:sp>
        <p:nvSpPr>
          <p:cNvPr id="438299" name="Text Box 27"/>
          <p:cNvSpPr txBox="1">
            <a:spLocks noChangeArrowheads="1"/>
          </p:cNvSpPr>
          <p:nvPr/>
        </p:nvSpPr>
        <p:spPr bwMode="auto">
          <a:xfrm>
            <a:off x="633157" y="990010"/>
            <a:ext cx="3989387" cy="647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tIns="108000">
            <a:spAutoFit/>
          </a:bodyPr>
          <a:lstStyle/>
          <a:p>
            <a:pPr eaLnBrk="1" fontAlgn="ctr" hangingPunct="1">
              <a:spcBef>
                <a:spcPct val="20000"/>
              </a:spcBef>
              <a:defRPr/>
            </a:pPr>
            <a:r>
              <a:rPr lang="en-US" altLang="zh-CN" sz="320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320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）  </a:t>
            </a:r>
            <a:r>
              <a:rPr lang="en-US" altLang="zh-CN" sz="3200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PN</a:t>
            </a:r>
            <a:r>
              <a:rPr lang="zh-CN" altLang="en-US" sz="3200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结的形成</a:t>
            </a:r>
          </a:p>
        </p:txBody>
      </p:sp>
      <p:sp>
        <p:nvSpPr>
          <p:cNvPr id="33" name="Rectangle 5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683309" y="228770"/>
            <a:ext cx="2190520" cy="646331"/>
          </a:xfrm>
          <a:prstGeom prst="rect">
            <a:avLst/>
          </a:prstGeom>
          <a:noFill/>
          <a:ln w="349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600" dirty="0" smtClean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3600" dirty="0" smtClean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  </a:t>
            </a:r>
            <a:r>
              <a:rPr lang="en-US" altLang="zh-CN" sz="3600" dirty="0" smtClean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PN</a:t>
            </a:r>
            <a:r>
              <a:rPr lang="zh-CN" altLang="en-US" sz="3600" dirty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结</a:t>
            </a:r>
          </a:p>
        </p:txBody>
      </p:sp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38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" dur="500"/>
                                        <p:tgtEl>
                                          <p:spTgt spid="438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8275" grpId="0" autoUpdateAnimBg="0" rev="1"/>
      <p:bldP spid="43829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备份_图形1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61071" y="1152525"/>
            <a:ext cx="6019800" cy="3354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4223271" y="2003425"/>
          <a:ext cx="368300" cy="368300"/>
        </p:xfrm>
        <a:graphic>
          <a:graphicData uri="http://schemas.openxmlformats.org/presentationml/2006/ole">
            <p:oleObj spid="_x0000_s51202" name="CorelDRAW" r:id="rId4" imgW="585360" imgH="585360" progId="">
              <p:embed/>
            </p:oleObj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4528071" y="2003425"/>
          <a:ext cx="368300" cy="368300"/>
        </p:xfrm>
        <a:graphic>
          <a:graphicData uri="http://schemas.openxmlformats.org/presentationml/2006/ole">
            <p:oleObj spid="_x0000_s51203" name="CorelDRAW" r:id="rId5" imgW="585360" imgH="585360" progId="">
              <p:embed/>
            </p:oleObj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/>
        </p:nvGraphicFramePr>
        <p:xfrm>
          <a:off x="4756671" y="2841625"/>
          <a:ext cx="381000" cy="381000"/>
        </p:xfrm>
        <a:graphic>
          <a:graphicData uri="http://schemas.openxmlformats.org/presentationml/2006/ole">
            <p:oleObj spid="_x0000_s51204" name="CorelDRAW" r:id="rId6" imgW="558720" imgH="558720" progId="">
              <p:embed/>
            </p:oleObj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/>
        </p:nvGraphicFramePr>
        <p:xfrm>
          <a:off x="5061471" y="2841625"/>
          <a:ext cx="381000" cy="381000"/>
        </p:xfrm>
        <a:graphic>
          <a:graphicData uri="http://schemas.openxmlformats.org/presentationml/2006/ole">
            <p:oleObj spid="_x0000_s51205" name="CorelDRAW" r:id="rId7" imgW="558720" imgH="558720" progId="">
              <p:embed/>
            </p:oleObj>
          </a:graphicData>
        </a:graphic>
      </p:graphicFrame>
      <p:sp>
        <p:nvSpPr>
          <p:cNvPr id="10" name="Oval 8"/>
          <p:cNvSpPr>
            <a:spLocks noChangeArrowheads="1"/>
          </p:cNvSpPr>
          <p:nvPr/>
        </p:nvSpPr>
        <p:spPr bwMode="auto">
          <a:xfrm>
            <a:off x="3613671" y="1927225"/>
            <a:ext cx="381000" cy="457200"/>
          </a:xfrm>
          <a:prstGeom prst="ellipse">
            <a:avLst/>
          </a:prstGeom>
          <a:solidFill>
            <a:srgbClr val="118ABB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3994671" y="2859088"/>
            <a:ext cx="457200" cy="381000"/>
          </a:xfrm>
          <a:prstGeom prst="ellipse">
            <a:avLst/>
          </a:prstGeom>
          <a:solidFill>
            <a:srgbClr val="118ABB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Oval 10"/>
          <p:cNvSpPr>
            <a:spLocks noChangeArrowheads="1"/>
          </p:cNvSpPr>
          <p:nvPr/>
        </p:nvSpPr>
        <p:spPr bwMode="auto">
          <a:xfrm>
            <a:off x="5671071" y="2927350"/>
            <a:ext cx="533400" cy="457200"/>
          </a:xfrm>
          <a:prstGeom prst="ellipse">
            <a:avLst/>
          </a:prstGeom>
          <a:solidFill>
            <a:srgbClr val="118ABB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Oval 11"/>
          <p:cNvSpPr>
            <a:spLocks noChangeArrowheads="1"/>
          </p:cNvSpPr>
          <p:nvPr/>
        </p:nvSpPr>
        <p:spPr bwMode="auto">
          <a:xfrm>
            <a:off x="5518671" y="1851025"/>
            <a:ext cx="457200" cy="533400"/>
          </a:xfrm>
          <a:prstGeom prst="ellipse">
            <a:avLst/>
          </a:prstGeom>
          <a:solidFill>
            <a:srgbClr val="118ABB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1795628" y="695475"/>
            <a:ext cx="114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P </a:t>
            </a:r>
            <a:r>
              <a:rPr lang="zh-CN" altLang="en-US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区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6989780" y="673959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N </a:t>
            </a:r>
            <a:r>
              <a:rPr lang="zh-CN" altLang="en-US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区</a:t>
            </a:r>
          </a:p>
        </p:txBody>
      </p:sp>
      <p:sp>
        <p:nvSpPr>
          <p:cNvPr id="16" name="AutoShape 14"/>
          <p:cNvSpPr>
            <a:spLocks noChangeArrowheads="1"/>
          </p:cNvSpPr>
          <p:nvPr/>
        </p:nvSpPr>
        <p:spPr bwMode="auto">
          <a:xfrm>
            <a:off x="2699271" y="0"/>
            <a:ext cx="4267200" cy="762000"/>
          </a:xfrm>
          <a:prstGeom prst="rightArrow">
            <a:avLst>
              <a:gd name="adj1" fmla="val 50000"/>
              <a:gd name="adj2" fmla="val 140000"/>
            </a:avLst>
          </a:prstGeom>
          <a:solidFill>
            <a:srgbClr val="0066FF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zh-CN" sz="2000" dirty="0">
                <a:solidFill>
                  <a:srgbClr val="FFFF00"/>
                </a:solidFill>
                <a:ea typeface="华文中宋" pitchFamily="2" charset="-122"/>
                <a:cs typeface="Times New Roman" pitchFamily="18" charset="0"/>
              </a:rPr>
              <a:t>P</a:t>
            </a:r>
            <a:r>
              <a:rPr lang="zh-CN" altLang="en-US" sz="2000" dirty="0">
                <a:solidFill>
                  <a:srgbClr val="FFFF00"/>
                </a:solidFill>
                <a:ea typeface="华文中宋" pitchFamily="2" charset="-122"/>
                <a:cs typeface="Times New Roman" pitchFamily="18" charset="0"/>
              </a:rPr>
              <a:t>区的空穴向</a:t>
            </a:r>
            <a:r>
              <a:rPr lang="en-US" altLang="zh-CN" sz="2000" dirty="0">
                <a:solidFill>
                  <a:srgbClr val="FFFF00"/>
                </a:solidFill>
                <a:ea typeface="华文中宋" pitchFamily="2" charset="-122"/>
                <a:cs typeface="Times New Roman" pitchFamily="18" charset="0"/>
              </a:rPr>
              <a:t>N</a:t>
            </a:r>
            <a:r>
              <a:rPr lang="zh-CN" altLang="en-US" sz="2000" dirty="0">
                <a:solidFill>
                  <a:srgbClr val="FFFF00"/>
                </a:solidFill>
                <a:ea typeface="华文中宋" pitchFamily="2" charset="-122"/>
                <a:cs typeface="Times New Roman" pitchFamily="18" charset="0"/>
              </a:rPr>
              <a:t>区</a:t>
            </a:r>
            <a:r>
              <a:rPr lang="zh-CN" altLang="en-US" sz="2000" dirty="0" smtClean="0">
                <a:solidFill>
                  <a:srgbClr val="FFFF00"/>
                </a:solidFill>
                <a:ea typeface="华文中宋" pitchFamily="2" charset="-122"/>
                <a:cs typeface="Times New Roman" pitchFamily="18" charset="0"/>
              </a:rPr>
              <a:t>扩散与</a:t>
            </a:r>
            <a:r>
              <a:rPr lang="zh-CN" altLang="en-US" sz="2000" dirty="0">
                <a:solidFill>
                  <a:srgbClr val="FFFF00"/>
                </a:solidFill>
                <a:ea typeface="华文中宋" pitchFamily="2" charset="-122"/>
                <a:cs typeface="Times New Roman" pitchFamily="18" charset="0"/>
              </a:rPr>
              <a:t>电子复合</a:t>
            </a:r>
          </a:p>
        </p:txBody>
      </p:sp>
      <p:sp>
        <p:nvSpPr>
          <p:cNvPr id="17" name="AutoShape 15"/>
          <p:cNvSpPr>
            <a:spLocks noChangeArrowheads="1"/>
          </p:cNvSpPr>
          <p:nvPr/>
        </p:nvSpPr>
        <p:spPr bwMode="auto">
          <a:xfrm>
            <a:off x="2546871" y="4283075"/>
            <a:ext cx="4343400" cy="685800"/>
          </a:xfrm>
          <a:prstGeom prst="leftArrow">
            <a:avLst>
              <a:gd name="adj1" fmla="val 50000"/>
              <a:gd name="adj2" fmla="val 158333"/>
            </a:avLst>
          </a:prstGeom>
          <a:solidFill>
            <a:srgbClr val="0066FF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zh-CN" sz="2000" dirty="0">
                <a:solidFill>
                  <a:srgbClr val="FFFF00"/>
                </a:solidFill>
                <a:ea typeface="华文中宋" pitchFamily="2" charset="-122"/>
                <a:cs typeface="Times New Roman" pitchFamily="18" charset="0"/>
              </a:rPr>
              <a:t>N</a:t>
            </a:r>
            <a:r>
              <a:rPr lang="zh-CN" altLang="en-US" sz="2000" dirty="0">
                <a:solidFill>
                  <a:srgbClr val="FFFF00"/>
                </a:solidFill>
                <a:ea typeface="华文中宋" pitchFamily="2" charset="-122"/>
                <a:cs typeface="Times New Roman" pitchFamily="18" charset="0"/>
              </a:rPr>
              <a:t>区的电子向</a:t>
            </a:r>
            <a:r>
              <a:rPr lang="en-US" altLang="zh-CN" sz="2000" dirty="0">
                <a:solidFill>
                  <a:srgbClr val="FFFF00"/>
                </a:solidFill>
                <a:ea typeface="华文中宋" pitchFamily="2" charset="-122"/>
                <a:cs typeface="Times New Roman" pitchFamily="18" charset="0"/>
              </a:rPr>
              <a:t>P</a:t>
            </a:r>
            <a:r>
              <a:rPr lang="zh-CN" altLang="en-US" sz="2000" dirty="0">
                <a:solidFill>
                  <a:srgbClr val="FFFF00"/>
                </a:solidFill>
                <a:ea typeface="华文中宋" pitchFamily="2" charset="-122"/>
                <a:cs typeface="Times New Roman" pitchFamily="18" charset="0"/>
              </a:rPr>
              <a:t>区</a:t>
            </a:r>
            <a:r>
              <a:rPr lang="zh-CN" altLang="en-US" sz="2000" dirty="0" smtClean="0">
                <a:solidFill>
                  <a:srgbClr val="FFFF00"/>
                </a:solidFill>
                <a:ea typeface="华文中宋" pitchFamily="2" charset="-122"/>
                <a:cs typeface="Times New Roman" pitchFamily="18" charset="0"/>
              </a:rPr>
              <a:t>扩散与</a:t>
            </a:r>
            <a:r>
              <a:rPr lang="zh-CN" altLang="en-US" sz="2000" dirty="0">
                <a:solidFill>
                  <a:srgbClr val="FFFF00"/>
                </a:solidFill>
                <a:ea typeface="华文中宋" pitchFamily="2" charset="-122"/>
                <a:cs typeface="Times New Roman" pitchFamily="18" charset="0"/>
              </a:rPr>
              <a:t>空穴复合</a:t>
            </a:r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3537471" y="631825"/>
            <a:ext cx="0" cy="3810000"/>
          </a:xfrm>
          <a:prstGeom prst="line">
            <a:avLst/>
          </a:prstGeom>
          <a:noFill/>
          <a:ln w="12700">
            <a:solidFill>
              <a:srgbClr val="FF0000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>
            <a:off x="6128271" y="555625"/>
            <a:ext cx="0" cy="3810000"/>
          </a:xfrm>
          <a:prstGeom prst="line">
            <a:avLst/>
          </a:prstGeom>
          <a:noFill/>
          <a:ln w="12700">
            <a:solidFill>
              <a:srgbClr val="FF0000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Box 18"/>
          <p:cNvSpPr txBox="1">
            <a:spLocks noChangeArrowheads="1"/>
          </p:cNvSpPr>
          <p:nvPr/>
        </p:nvSpPr>
        <p:spPr bwMode="auto">
          <a:xfrm>
            <a:off x="3840480" y="588795"/>
            <a:ext cx="229854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空间电荷区</a:t>
            </a:r>
          </a:p>
        </p:txBody>
      </p:sp>
      <p:sp>
        <p:nvSpPr>
          <p:cNvPr id="21" name="Line 19"/>
          <p:cNvSpPr>
            <a:spLocks noChangeShapeType="1"/>
          </p:cNvSpPr>
          <p:nvPr/>
        </p:nvSpPr>
        <p:spPr bwMode="auto">
          <a:xfrm>
            <a:off x="5671071" y="860425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 flipH="1">
            <a:off x="3542234" y="871856"/>
            <a:ext cx="42016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Line 21"/>
          <p:cNvSpPr>
            <a:spLocks noChangeShapeType="1"/>
          </p:cNvSpPr>
          <p:nvPr/>
        </p:nvSpPr>
        <p:spPr bwMode="auto">
          <a:xfrm flipH="1">
            <a:off x="3842271" y="4289425"/>
            <a:ext cx="2133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3909506" y="4365625"/>
            <a:ext cx="217932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内电场方向</a:t>
            </a:r>
          </a:p>
        </p:txBody>
      </p:sp>
      <p:graphicFrame>
        <p:nvGraphicFramePr>
          <p:cNvPr id="25" name="Object 23"/>
          <p:cNvGraphicFramePr>
            <a:graphicFrameLocks noChangeAspect="1"/>
          </p:cNvGraphicFramePr>
          <p:nvPr/>
        </p:nvGraphicFramePr>
        <p:xfrm>
          <a:off x="4451871" y="2841625"/>
          <a:ext cx="381000" cy="381000"/>
        </p:xfrm>
        <a:graphic>
          <a:graphicData uri="http://schemas.openxmlformats.org/presentationml/2006/ole">
            <p:oleObj spid="_x0000_s51206" name="CorelDRAW" r:id="rId8" imgW="558720" imgH="558720" progId="">
              <p:embed/>
            </p:oleObj>
          </a:graphicData>
        </a:graphic>
      </p:graphicFrame>
      <p:graphicFrame>
        <p:nvGraphicFramePr>
          <p:cNvPr id="26" name="Object 24"/>
          <p:cNvGraphicFramePr>
            <a:graphicFrameLocks noChangeAspect="1"/>
          </p:cNvGraphicFramePr>
          <p:nvPr/>
        </p:nvGraphicFramePr>
        <p:xfrm>
          <a:off x="4832871" y="2003425"/>
          <a:ext cx="368300" cy="368300"/>
        </p:xfrm>
        <a:graphic>
          <a:graphicData uri="http://schemas.openxmlformats.org/presentationml/2006/ole">
            <p:oleObj spid="_x0000_s51207" name="CorelDRAW" r:id="rId9" imgW="585360" imgH="585360" progId="">
              <p:embed/>
            </p:oleObj>
          </a:graphicData>
        </a:graphic>
      </p:graphicFrame>
      <p:graphicFrame>
        <p:nvGraphicFramePr>
          <p:cNvPr id="27" name="Object 25"/>
          <p:cNvGraphicFramePr>
            <a:graphicFrameLocks noChangeAspect="1"/>
          </p:cNvGraphicFramePr>
          <p:nvPr/>
        </p:nvGraphicFramePr>
        <p:xfrm>
          <a:off x="5137671" y="2003425"/>
          <a:ext cx="368300" cy="368300"/>
        </p:xfrm>
        <a:graphic>
          <a:graphicData uri="http://schemas.openxmlformats.org/presentationml/2006/ole">
            <p:oleObj spid="_x0000_s51208" name="CorelDRAW" r:id="rId10" imgW="585360" imgH="585360" progId="">
              <p:embed/>
            </p:oleObj>
          </a:graphicData>
        </a:graphic>
      </p:graphicFrame>
      <p:graphicFrame>
        <p:nvGraphicFramePr>
          <p:cNvPr id="28" name="Object 26"/>
          <p:cNvGraphicFramePr>
            <a:graphicFrameLocks noChangeAspect="1"/>
          </p:cNvGraphicFramePr>
          <p:nvPr/>
        </p:nvGraphicFramePr>
        <p:xfrm>
          <a:off x="5518671" y="2003425"/>
          <a:ext cx="368300" cy="368300"/>
        </p:xfrm>
        <a:graphic>
          <a:graphicData uri="http://schemas.openxmlformats.org/presentationml/2006/ole">
            <p:oleObj spid="_x0000_s51209" name="CorelDRAW" r:id="rId11" imgW="585360" imgH="585360" progId="">
              <p:embed/>
            </p:oleObj>
          </a:graphicData>
        </a:graphic>
      </p:graphicFrame>
      <p:graphicFrame>
        <p:nvGraphicFramePr>
          <p:cNvPr id="29" name="Object 28"/>
          <p:cNvGraphicFramePr>
            <a:graphicFrameLocks noChangeAspect="1"/>
          </p:cNvGraphicFramePr>
          <p:nvPr/>
        </p:nvGraphicFramePr>
        <p:xfrm>
          <a:off x="3918471" y="2016125"/>
          <a:ext cx="368300" cy="368300"/>
        </p:xfrm>
        <a:graphic>
          <a:graphicData uri="http://schemas.openxmlformats.org/presentationml/2006/ole">
            <p:oleObj spid="_x0000_s51210" name="CorelDRAW" r:id="rId12" imgW="585360" imgH="585360" progId="">
              <p:embed/>
            </p:oleObj>
          </a:graphicData>
        </a:graphic>
      </p:graphicFrame>
      <p:graphicFrame>
        <p:nvGraphicFramePr>
          <p:cNvPr id="30" name="Object 29"/>
          <p:cNvGraphicFramePr>
            <a:graphicFrameLocks noChangeAspect="1"/>
          </p:cNvGraphicFramePr>
          <p:nvPr/>
        </p:nvGraphicFramePr>
        <p:xfrm>
          <a:off x="5366271" y="2917825"/>
          <a:ext cx="381000" cy="381000"/>
        </p:xfrm>
        <a:graphic>
          <a:graphicData uri="http://schemas.openxmlformats.org/presentationml/2006/ole">
            <p:oleObj spid="_x0000_s51211" name="CorelDRAW" r:id="rId13" imgW="558720" imgH="558720" progId="">
              <p:embed/>
            </p:oleObj>
          </a:graphicData>
        </a:graphic>
      </p:graphicFrame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000"/>
                            </p:stCondLst>
                            <p:childTnLst>
                              <p:par>
                                <p:cTn id="9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500"/>
                            </p:stCondLst>
                            <p:childTnLst>
                              <p:par>
                                <p:cTn id="98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000"/>
                            </p:stCondLst>
                            <p:childTnLst>
                              <p:par>
                                <p:cTn id="105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utoUpdateAnimBg="0"/>
      <p:bldP spid="15" grpId="0" autoUpdateAnimBg="0"/>
      <p:bldP spid="16" grpId="0" animBg="1" autoUpdateAnimBg="0"/>
      <p:bldP spid="17" grpId="0" animBg="1" autoUpdateAnimBg="0"/>
      <p:bldP spid="18" grpId="0" animBg="1"/>
      <p:bldP spid="19" grpId="0" animBg="1"/>
      <p:bldP spid="20" grpId="0" autoUpdateAnimBg="0"/>
      <p:bldP spid="21" grpId="0" animBg="1"/>
      <p:bldP spid="22" grpId="0" animBg="1"/>
      <p:bldP spid="23" grpId="0" animBg="1"/>
      <p:bldP spid="2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319" name="Text Box 23"/>
          <p:cNvSpPr txBox="1">
            <a:spLocks noChangeArrowheads="1"/>
          </p:cNvSpPr>
          <p:nvPr/>
        </p:nvSpPr>
        <p:spPr bwMode="auto">
          <a:xfrm>
            <a:off x="416316" y="165091"/>
            <a:ext cx="76962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b="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   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在</a:t>
            </a: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一定条件下，多子扩散和少子漂移达到</a:t>
            </a:r>
            <a:r>
              <a:rPr lang="zh-CN" altLang="en-US" sz="28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动态平衡</a:t>
            </a:r>
            <a:endParaRPr lang="zh-CN" altLang="en-US" sz="28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pic>
        <p:nvPicPr>
          <p:cNvPr id="28" name="Picture 2" descr="备份_图形15(b)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0877" y="1229061"/>
            <a:ext cx="7239000" cy="3697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" name="Picture 3" descr="图形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93527" y="2594311"/>
            <a:ext cx="11113" cy="11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Line 4"/>
          <p:cNvSpPr>
            <a:spLocks noChangeShapeType="1"/>
          </p:cNvSpPr>
          <p:nvPr/>
        </p:nvSpPr>
        <p:spPr bwMode="auto">
          <a:xfrm>
            <a:off x="3104477" y="771861"/>
            <a:ext cx="0" cy="4038600"/>
          </a:xfrm>
          <a:prstGeom prst="line">
            <a:avLst/>
          </a:prstGeom>
          <a:noFill/>
          <a:ln w="3175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Line 5"/>
          <p:cNvSpPr>
            <a:spLocks noChangeShapeType="1"/>
          </p:cNvSpPr>
          <p:nvPr/>
        </p:nvSpPr>
        <p:spPr bwMode="auto">
          <a:xfrm>
            <a:off x="6000077" y="695661"/>
            <a:ext cx="0" cy="4191000"/>
          </a:xfrm>
          <a:prstGeom prst="line">
            <a:avLst/>
          </a:prstGeom>
          <a:noFill/>
          <a:ln w="31750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Box 6"/>
          <p:cNvSpPr txBox="1">
            <a:spLocks noChangeArrowheads="1"/>
          </p:cNvSpPr>
          <p:nvPr/>
        </p:nvSpPr>
        <p:spPr bwMode="auto">
          <a:xfrm>
            <a:off x="3519543" y="641873"/>
            <a:ext cx="2133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空间电荷区</a:t>
            </a:r>
          </a:p>
        </p:txBody>
      </p:sp>
      <p:sp>
        <p:nvSpPr>
          <p:cNvPr id="33" name="Line 7"/>
          <p:cNvSpPr>
            <a:spLocks noChangeShapeType="1"/>
          </p:cNvSpPr>
          <p:nvPr/>
        </p:nvSpPr>
        <p:spPr bwMode="auto">
          <a:xfrm flipV="1">
            <a:off x="5371427" y="924260"/>
            <a:ext cx="6286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Line 8"/>
          <p:cNvSpPr>
            <a:spLocks noChangeShapeType="1"/>
          </p:cNvSpPr>
          <p:nvPr/>
        </p:nvSpPr>
        <p:spPr bwMode="auto">
          <a:xfrm flipH="1" flipV="1">
            <a:off x="3104477" y="92426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Line 9"/>
          <p:cNvSpPr>
            <a:spLocks noChangeShapeType="1"/>
          </p:cNvSpPr>
          <p:nvPr/>
        </p:nvSpPr>
        <p:spPr bwMode="auto">
          <a:xfrm flipH="1">
            <a:off x="3561677" y="4713642"/>
            <a:ext cx="1905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Box 10"/>
          <p:cNvSpPr txBox="1">
            <a:spLocks noChangeArrowheads="1"/>
          </p:cNvSpPr>
          <p:nvPr/>
        </p:nvSpPr>
        <p:spPr bwMode="auto">
          <a:xfrm>
            <a:off x="3614605" y="4681835"/>
            <a:ext cx="211921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内电场方向</a:t>
            </a:r>
          </a:p>
        </p:txBody>
      </p:sp>
      <p:graphicFrame>
        <p:nvGraphicFramePr>
          <p:cNvPr id="37" name="Object 11"/>
          <p:cNvGraphicFramePr>
            <a:graphicFrameLocks noChangeAspect="1"/>
          </p:cNvGraphicFramePr>
          <p:nvPr/>
        </p:nvGraphicFramePr>
        <p:xfrm>
          <a:off x="6533477" y="2372061"/>
          <a:ext cx="381000" cy="381000"/>
        </p:xfrm>
        <a:graphic>
          <a:graphicData uri="http://schemas.openxmlformats.org/presentationml/2006/ole">
            <p:oleObj spid="_x0000_s5126" name="CorelDRAW" r:id="rId5" imgW="585360" imgH="585360" progId="">
              <p:embed/>
            </p:oleObj>
          </a:graphicData>
        </a:graphic>
      </p:graphicFrame>
      <p:graphicFrame>
        <p:nvGraphicFramePr>
          <p:cNvPr id="38" name="Object 12"/>
          <p:cNvGraphicFramePr>
            <a:graphicFrameLocks noChangeAspect="1"/>
          </p:cNvGraphicFramePr>
          <p:nvPr/>
        </p:nvGraphicFramePr>
        <p:xfrm>
          <a:off x="2113877" y="3286461"/>
          <a:ext cx="381000" cy="381000"/>
        </p:xfrm>
        <a:graphic>
          <a:graphicData uri="http://schemas.openxmlformats.org/presentationml/2006/ole">
            <p:oleObj spid="_x0000_s5127" name="CorelDRAW" r:id="rId6" imgW="585360" imgH="585360" progId="">
              <p:embed/>
            </p:oleObj>
          </a:graphicData>
        </a:graphic>
      </p:graphicFrame>
      <p:graphicFrame>
        <p:nvGraphicFramePr>
          <p:cNvPr id="39" name="Object 13"/>
          <p:cNvGraphicFramePr>
            <a:graphicFrameLocks noChangeAspect="1"/>
          </p:cNvGraphicFramePr>
          <p:nvPr/>
        </p:nvGraphicFramePr>
        <p:xfrm>
          <a:off x="2266277" y="2143461"/>
          <a:ext cx="381000" cy="381000"/>
        </p:xfrm>
        <a:graphic>
          <a:graphicData uri="http://schemas.openxmlformats.org/presentationml/2006/ole">
            <p:oleObj spid="_x0000_s5128" name="CorelDRAW" r:id="rId7" imgW="558720" imgH="558720" progId="">
              <p:embed/>
            </p:oleObj>
          </a:graphicData>
        </a:graphic>
      </p:graphicFrame>
      <p:graphicFrame>
        <p:nvGraphicFramePr>
          <p:cNvPr id="40" name="Object 14"/>
          <p:cNvGraphicFramePr>
            <a:graphicFrameLocks noChangeAspect="1"/>
          </p:cNvGraphicFramePr>
          <p:nvPr/>
        </p:nvGraphicFramePr>
        <p:xfrm>
          <a:off x="6609677" y="3438861"/>
          <a:ext cx="381000" cy="381000"/>
        </p:xfrm>
        <a:graphic>
          <a:graphicData uri="http://schemas.openxmlformats.org/presentationml/2006/ole">
            <p:oleObj spid="_x0000_s5129" name="CorelDRAW" r:id="rId8" imgW="558720" imgH="558720" progId="">
              <p:embed/>
            </p:oleObj>
          </a:graphicData>
        </a:graphic>
      </p:graphicFrame>
      <p:sp>
        <p:nvSpPr>
          <p:cNvPr id="41" name="Line 15"/>
          <p:cNvSpPr>
            <a:spLocks noChangeShapeType="1"/>
          </p:cNvSpPr>
          <p:nvPr/>
        </p:nvSpPr>
        <p:spPr bwMode="auto">
          <a:xfrm>
            <a:off x="2418677" y="3438861"/>
            <a:ext cx="2895600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Line 16"/>
          <p:cNvSpPr>
            <a:spLocks noChangeShapeType="1"/>
          </p:cNvSpPr>
          <p:nvPr/>
        </p:nvSpPr>
        <p:spPr bwMode="auto">
          <a:xfrm flipH="1">
            <a:off x="3180677" y="3667461"/>
            <a:ext cx="3429000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Line 17"/>
          <p:cNvSpPr>
            <a:spLocks noChangeShapeType="1"/>
          </p:cNvSpPr>
          <p:nvPr/>
        </p:nvSpPr>
        <p:spPr bwMode="auto">
          <a:xfrm flipH="1">
            <a:off x="3104477" y="2600661"/>
            <a:ext cx="3429000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Line 18"/>
          <p:cNvSpPr>
            <a:spLocks noChangeShapeType="1"/>
          </p:cNvSpPr>
          <p:nvPr/>
        </p:nvSpPr>
        <p:spPr bwMode="auto">
          <a:xfrm>
            <a:off x="2571077" y="2372061"/>
            <a:ext cx="2895600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Line 19"/>
          <p:cNvSpPr>
            <a:spLocks noChangeShapeType="1"/>
          </p:cNvSpPr>
          <p:nvPr/>
        </p:nvSpPr>
        <p:spPr bwMode="auto">
          <a:xfrm flipV="1">
            <a:off x="2799677" y="3438861"/>
            <a:ext cx="914400" cy="137160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Line 20"/>
          <p:cNvSpPr>
            <a:spLocks noChangeShapeType="1"/>
          </p:cNvSpPr>
          <p:nvPr/>
        </p:nvSpPr>
        <p:spPr bwMode="auto">
          <a:xfrm flipV="1">
            <a:off x="2799677" y="3667461"/>
            <a:ext cx="1981200" cy="114300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Line 21"/>
          <p:cNvSpPr>
            <a:spLocks noChangeShapeType="1"/>
          </p:cNvSpPr>
          <p:nvPr/>
        </p:nvSpPr>
        <p:spPr bwMode="auto">
          <a:xfrm flipH="1">
            <a:off x="5228215" y="1140311"/>
            <a:ext cx="1226371" cy="1161825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Line 22"/>
          <p:cNvSpPr>
            <a:spLocks noChangeShapeType="1"/>
          </p:cNvSpPr>
          <p:nvPr/>
        </p:nvSpPr>
        <p:spPr bwMode="auto">
          <a:xfrm flipH="1">
            <a:off x="5421853" y="1129553"/>
            <a:ext cx="1043491" cy="146304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Box 24"/>
          <p:cNvSpPr txBox="1">
            <a:spLocks noChangeArrowheads="1"/>
          </p:cNvSpPr>
          <p:nvPr/>
        </p:nvSpPr>
        <p:spPr bwMode="auto">
          <a:xfrm>
            <a:off x="249219" y="2525358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P</a:t>
            </a:r>
            <a:r>
              <a:rPr lang="zh-CN" altLang="en-US" sz="24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区</a:t>
            </a:r>
          </a:p>
        </p:txBody>
      </p:sp>
      <p:sp>
        <p:nvSpPr>
          <p:cNvPr id="50" name="Text Box 25"/>
          <p:cNvSpPr txBox="1">
            <a:spLocks noChangeArrowheads="1"/>
          </p:cNvSpPr>
          <p:nvPr/>
        </p:nvSpPr>
        <p:spPr bwMode="auto">
          <a:xfrm>
            <a:off x="8133677" y="2589903"/>
            <a:ext cx="838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N</a:t>
            </a:r>
            <a:r>
              <a:rPr lang="zh-CN" altLang="en-US" sz="24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区</a:t>
            </a:r>
          </a:p>
        </p:txBody>
      </p:sp>
      <p:sp>
        <p:nvSpPr>
          <p:cNvPr id="51" name="Rectangle 26"/>
          <p:cNvSpPr>
            <a:spLocks noChangeArrowheads="1"/>
          </p:cNvSpPr>
          <p:nvPr/>
        </p:nvSpPr>
        <p:spPr bwMode="auto">
          <a:xfrm>
            <a:off x="1506070" y="4681835"/>
            <a:ext cx="148455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多子扩散</a:t>
            </a:r>
          </a:p>
        </p:txBody>
      </p:sp>
      <p:sp>
        <p:nvSpPr>
          <p:cNvPr id="52" name="Rectangle 27"/>
          <p:cNvSpPr>
            <a:spLocks noChangeArrowheads="1"/>
          </p:cNvSpPr>
          <p:nvPr/>
        </p:nvSpPr>
        <p:spPr bwMode="auto">
          <a:xfrm>
            <a:off x="6152477" y="728830"/>
            <a:ext cx="14157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少子漂移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39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9319" grpId="0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51" grpId="0"/>
      <p:bldP spid="5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5" name="AutoShape 5"/>
          <p:cNvSpPr>
            <a:spLocks noChangeArrowheads="1"/>
          </p:cNvSpPr>
          <p:nvPr/>
        </p:nvSpPr>
        <p:spPr bwMode="auto">
          <a:xfrm>
            <a:off x="1707777" y="3707354"/>
            <a:ext cx="381000" cy="342900"/>
          </a:xfrm>
          <a:prstGeom prst="star4">
            <a:avLst>
              <a:gd name="adj" fmla="val 12500"/>
            </a:avLst>
          </a:prstGeom>
          <a:solidFill>
            <a:srgbClr val="FFFF00"/>
          </a:solidFill>
          <a:ln w="38100">
            <a:solidFill>
              <a:srgbClr val="FFCC99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80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40352" name="Rectangle 32"/>
          <p:cNvSpPr>
            <a:spLocks noChangeArrowheads="1"/>
          </p:cNvSpPr>
          <p:nvPr/>
        </p:nvSpPr>
        <p:spPr bwMode="auto">
          <a:xfrm>
            <a:off x="374110" y="2975162"/>
            <a:ext cx="203934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6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结 论 ：</a:t>
            </a:r>
          </a:p>
        </p:txBody>
      </p:sp>
      <p:sp>
        <p:nvSpPr>
          <p:cNvPr id="440354" name="Text Box 34"/>
          <p:cNvSpPr txBox="1">
            <a:spLocks noChangeArrowheads="1"/>
          </p:cNvSpPr>
          <p:nvPr/>
        </p:nvSpPr>
        <p:spPr bwMode="auto">
          <a:xfrm>
            <a:off x="2253728" y="3603140"/>
            <a:ext cx="6462713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在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PN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结中同时存在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多子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的扩散运动和少子的漂移运动。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507108" y="197804"/>
            <a:ext cx="5685147" cy="2995614"/>
            <a:chOff x="1864" y="421"/>
            <a:chExt cx="3218" cy="1887"/>
          </a:xfrm>
        </p:grpSpPr>
        <p:pic>
          <p:nvPicPr>
            <p:cNvPr id="36" name="Picture 8" descr="备份_图形15(b)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093" y="669"/>
              <a:ext cx="2675" cy="14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" name="Line 9"/>
            <p:cNvSpPr>
              <a:spLocks noChangeShapeType="1"/>
            </p:cNvSpPr>
            <p:nvPr/>
          </p:nvSpPr>
          <p:spPr bwMode="auto">
            <a:xfrm>
              <a:off x="2901" y="490"/>
              <a:ext cx="1" cy="1521"/>
            </a:xfrm>
            <a:prstGeom prst="line">
              <a:avLst/>
            </a:prstGeom>
            <a:noFill/>
            <a:ln w="31750">
              <a:solidFill>
                <a:srgbClr val="00CCFF"/>
              </a:solidFill>
              <a:prstDash val="lg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10"/>
            <p:cNvSpPr>
              <a:spLocks noChangeShapeType="1"/>
            </p:cNvSpPr>
            <p:nvPr/>
          </p:nvSpPr>
          <p:spPr bwMode="auto">
            <a:xfrm>
              <a:off x="3999" y="460"/>
              <a:ext cx="1" cy="1579"/>
            </a:xfrm>
            <a:prstGeom prst="line">
              <a:avLst/>
            </a:prstGeom>
            <a:noFill/>
            <a:ln w="31750">
              <a:solidFill>
                <a:srgbClr val="00CCFF"/>
              </a:solidFill>
              <a:prstDash val="lg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 Box 11"/>
            <p:cNvSpPr txBox="1">
              <a:spLocks noChangeArrowheads="1"/>
            </p:cNvSpPr>
            <p:nvPr/>
          </p:nvSpPr>
          <p:spPr bwMode="auto">
            <a:xfrm>
              <a:off x="3049" y="421"/>
              <a:ext cx="90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solidFill>
                    <a:schemeClr val="tx1"/>
                  </a:solidFill>
                </a:rPr>
                <a:t>空间电荷区</a:t>
              </a:r>
            </a:p>
          </p:txBody>
        </p:sp>
        <p:sp>
          <p:nvSpPr>
            <p:cNvPr id="40" name="Line 12"/>
            <p:cNvSpPr>
              <a:spLocks noChangeShapeType="1"/>
            </p:cNvSpPr>
            <p:nvPr/>
          </p:nvSpPr>
          <p:spPr bwMode="auto">
            <a:xfrm>
              <a:off x="3820" y="557"/>
              <a:ext cx="1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13"/>
            <p:cNvSpPr>
              <a:spLocks noChangeShapeType="1"/>
            </p:cNvSpPr>
            <p:nvPr/>
          </p:nvSpPr>
          <p:spPr bwMode="auto">
            <a:xfrm flipH="1" flipV="1">
              <a:off x="2901" y="550"/>
              <a:ext cx="20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14"/>
            <p:cNvSpPr>
              <a:spLocks noChangeShapeType="1"/>
            </p:cNvSpPr>
            <p:nvPr/>
          </p:nvSpPr>
          <p:spPr bwMode="auto">
            <a:xfrm flipH="1">
              <a:off x="3101" y="2027"/>
              <a:ext cx="70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 Box 15"/>
            <p:cNvSpPr txBox="1">
              <a:spLocks noChangeArrowheads="1"/>
            </p:cNvSpPr>
            <p:nvPr/>
          </p:nvSpPr>
          <p:spPr bwMode="auto">
            <a:xfrm>
              <a:off x="3066" y="2056"/>
              <a:ext cx="89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solidFill>
                    <a:schemeClr val="tx1"/>
                  </a:solidFill>
                </a:rPr>
                <a:t>内电场方向</a:t>
              </a:r>
            </a:p>
          </p:txBody>
        </p:sp>
        <p:graphicFrame>
          <p:nvGraphicFramePr>
            <p:cNvPr id="44" name="Object 16"/>
            <p:cNvGraphicFramePr>
              <a:graphicFrameLocks noChangeAspect="1"/>
            </p:cNvGraphicFramePr>
            <p:nvPr/>
          </p:nvGraphicFramePr>
          <p:xfrm>
            <a:off x="4201" y="1118"/>
            <a:ext cx="140" cy="145"/>
          </p:xfrm>
          <a:graphic>
            <a:graphicData uri="http://schemas.openxmlformats.org/presentationml/2006/ole">
              <p:oleObj spid="_x0000_s53250" name="CorelDRAW" r:id="rId4" imgW="585360" imgH="585360" progId="">
                <p:embed/>
              </p:oleObj>
            </a:graphicData>
          </a:graphic>
        </p:graphicFrame>
        <p:graphicFrame>
          <p:nvGraphicFramePr>
            <p:cNvPr id="45" name="Object 17"/>
            <p:cNvGraphicFramePr>
              <a:graphicFrameLocks noChangeAspect="1"/>
            </p:cNvGraphicFramePr>
            <p:nvPr/>
          </p:nvGraphicFramePr>
          <p:xfrm>
            <a:off x="2526" y="1477"/>
            <a:ext cx="141" cy="145"/>
          </p:xfrm>
          <a:graphic>
            <a:graphicData uri="http://schemas.openxmlformats.org/presentationml/2006/ole">
              <p:oleObj spid="_x0000_s53251" name="CorelDRAW" r:id="rId5" imgW="585360" imgH="585360" progId="">
                <p:embed/>
              </p:oleObj>
            </a:graphicData>
          </a:graphic>
        </p:graphicFrame>
        <p:graphicFrame>
          <p:nvGraphicFramePr>
            <p:cNvPr id="46" name="Object 18"/>
            <p:cNvGraphicFramePr>
              <a:graphicFrameLocks noChangeAspect="1"/>
            </p:cNvGraphicFramePr>
            <p:nvPr/>
          </p:nvGraphicFramePr>
          <p:xfrm>
            <a:off x="2583" y="1028"/>
            <a:ext cx="142" cy="146"/>
          </p:xfrm>
          <a:graphic>
            <a:graphicData uri="http://schemas.openxmlformats.org/presentationml/2006/ole">
              <p:oleObj spid="_x0000_s53252" name="CorelDRAW" r:id="rId6" imgW="558720" imgH="558720" progId="">
                <p:embed/>
              </p:oleObj>
            </a:graphicData>
          </a:graphic>
        </p:graphicFrame>
        <p:graphicFrame>
          <p:nvGraphicFramePr>
            <p:cNvPr id="47" name="Object 19"/>
            <p:cNvGraphicFramePr>
              <a:graphicFrameLocks noChangeAspect="1"/>
            </p:cNvGraphicFramePr>
            <p:nvPr/>
          </p:nvGraphicFramePr>
          <p:xfrm>
            <a:off x="4230" y="1536"/>
            <a:ext cx="140" cy="146"/>
          </p:xfrm>
          <a:graphic>
            <a:graphicData uri="http://schemas.openxmlformats.org/presentationml/2006/ole">
              <p:oleObj spid="_x0000_s53253" name="CorelDRAW" r:id="rId7" imgW="558720" imgH="558720" progId="">
                <p:embed/>
              </p:oleObj>
            </a:graphicData>
          </a:graphic>
        </p:graphicFrame>
        <p:sp>
          <p:nvSpPr>
            <p:cNvPr id="48" name="Line 20"/>
            <p:cNvSpPr>
              <a:spLocks noChangeShapeType="1"/>
            </p:cNvSpPr>
            <p:nvPr/>
          </p:nvSpPr>
          <p:spPr bwMode="auto">
            <a:xfrm>
              <a:off x="2642" y="1536"/>
              <a:ext cx="1070" cy="1"/>
            </a:xfrm>
            <a:prstGeom prst="line">
              <a:avLst/>
            </a:prstGeom>
            <a:noFill/>
            <a:ln w="9525">
              <a:solidFill>
                <a:schemeClr val="accent4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21"/>
            <p:cNvSpPr>
              <a:spLocks noChangeShapeType="1"/>
            </p:cNvSpPr>
            <p:nvPr/>
          </p:nvSpPr>
          <p:spPr bwMode="auto">
            <a:xfrm flipH="1">
              <a:off x="2930" y="1626"/>
              <a:ext cx="1267" cy="1"/>
            </a:xfrm>
            <a:prstGeom prst="line">
              <a:avLst/>
            </a:prstGeom>
            <a:noFill/>
            <a:ln w="9525">
              <a:solidFill>
                <a:schemeClr val="accent4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22"/>
            <p:cNvSpPr>
              <a:spLocks noChangeShapeType="1"/>
            </p:cNvSpPr>
            <p:nvPr/>
          </p:nvSpPr>
          <p:spPr bwMode="auto">
            <a:xfrm flipH="1">
              <a:off x="2901" y="1207"/>
              <a:ext cx="1268" cy="1"/>
            </a:xfrm>
            <a:prstGeom prst="line">
              <a:avLst/>
            </a:prstGeom>
            <a:noFill/>
            <a:ln w="9525">
              <a:solidFill>
                <a:schemeClr val="accent4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23"/>
            <p:cNvSpPr>
              <a:spLocks noChangeShapeType="1"/>
            </p:cNvSpPr>
            <p:nvPr/>
          </p:nvSpPr>
          <p:spPr bwMode="auto">
            <a:xfrm>
              <a:off x="2699" y="1118"/>
              <a:ext cx="1070" cy="1"/>
            </a:xfrm>
            <a:prstGeom prst="line">
              <a:avLst/>
            </a:prstGeom>
            <a:noFill/>
            <a:ln w="9525">
              <a:solidFill>
                <a:schemeClr val="accent4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24"/>
            <p:cNvSpPr>
              <a:spLocks noChangeShapeType="1"/>
            </p:cNvSpPr>
            <p:nvPr/>
          </p:nvSpPr>
          <p:spPr bwMode="auto">
            <a:xfrm flipV="1">
              <a:off x="2786" y="1536"/>
              <a:ext cx="338" cy="517"/>
            </a:xfrm>
            <a:prstGeom prst="line">
              <a:avLst/>
            </a:prstGeom>
            <a:noFill/>
            <a:ln w="12700">
              <a:solidFill>
                <a:schemeClr val="accent4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25"/>
            <p:cNvSpPr>
              <a:spLocks noChangeShapeType="1"/>
            </p:cNvSpPr>
            <p:nvPr/>
          </p:nvSpPr>
          <p:spPr bwMode="auto">
            <a:xfrm flipV="1">
              <a:off x="2786" y="1626"/>
              <a:ext cx="732" cy="431"/>
            </a:xfrm>
            <a:prstGeom prst="line">
              <a:avLst/>
            </a:prstGeom>
            <a:noFill/>
            <a:ln w="12700">
              <a:solidFill>
                <a:schemeClr val="accent4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26"/>
            <p:cNvSpPr>
              <a:spLocks noChangeShapeType="1"/>
            </p:cNvSpPr>
            <p:nvPr/>
          </p:nvSpPr>
          <p:spPr bwMode="auto">
            <a:xfrm>
              <a:off x="2729" y="639"/>
              <a:ext cx="760" cy="460"/>
            </a:xfrm>
            <a:prstGeom prst="line">
              <a:avLst/>
            </a:prstGeom>
            <a:noFill/>
            <a:ln w="12700">
              <a:solidFill>
                <a:schemeClr val="accent4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27"/>
            <p:cNvSpPr>
              <a:spLocks noChangeShapeType="1"/>
            </p:cNvSpPr>
            <p:nvPr/>
          </p:nvSpPr>
          <p:spPr bwMode="auto">
            <a:xfrm>
              <a:off x="2729" y="639"/>
              <a:ext cx="507" cy="517"/>
            </a:xfrm>
            <a:prstGeom prst="line">
              <a:avLst/>
            </a:prstGeom>
            <a:noFill/>
            <a:ln w="12700">
              <a:solidFill>
                <a:schemeClr val="accent4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Text Box 28"/>
            <p:cNvSpPr txBox="1">
              <a:spLocks noChangeArrowheads="1"/>
            </p:cNvSpPr>
            <p:nvPr/>
          </p:nvSpPr>
          <p:spPr bwMode="auto">
            <a:xfrm>
              <a:off x="1864" y="1118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ea typeface="宋体" charset="-122"/>
                </a:rPr>
                <a:t>P</a:t>
              </a:r>
            </a:p>
          </p:txBody>
        </p:sp>
        <p:sp>
          <p:nvSpPr>
            <p:cNvPr id="57" name="Text Box 29"/>
            <p:cNvSpPr txBox="1">
              <a:spLocks noChangeArrowheads="1"/>
            </p:cNvSpPr>
            <p:nvPr/>
          </p:nvSpPr>
          <p:spPr bwMode="auto">
            <a:xfrm>
              <a:off x="4773" y="1118"/>
              <a:ext cx="30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ea typeface="宋体" charset="-122"/>
                </a:rPr>
                <a:t>N</a:t>
              </a:r>
            </a:p>
          </p:txBody>
        </p:sp>
        <p:sp>
          <p:nvSpPr>
            <p:cNvPr id="58" name="Rectangle 30"/>
            <p:cNvSpPr>
              <a:spLocks noChangeArrowheads="1"/>
            </p:cNvSpPr>
            <p:nvPr/>
          </p:nvSpPr>
          <p:spPr bwMode="auto">
            <a:xfrm>
              <a:off x="2155" y="2025"/>
              <a:ext cx="73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/>
              <a:r>
                <a:rPr lang="zh-CN" altLang="en-US" sz="2000" dirty="0">
                  <a:solidFill>
                    <a:schemeClr val="tx1"/>
                  </a:solidFill>
                </a:rPr>
                <a:t>多子扩散</a:t>
              </a:r>
            </a:p>
          </p:txBody>
        </p:sp>
        <p:sp>
          <p:nvSpPr>
            <p:cNvPr id="59" name="Rectangle 31"/>
            <p:cNvSpPr>
              <a:spLocks noChangeArrowheads="1"/>
            </p:cNvSpPr>
            <p:nvPr/>
          </p:nvSpPr>
          <p:spPr bwMode="auto">
            <a:xfrm>
              <a:off x="2204" y="438"/>
              <a:ext cx="689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solidFill>
                    <a:schemeClr val="tx1"/>
                  </a:solidFill>
                </a:rPr>
                <a:t>少子漂移</a:t>
              </a:r>
            </a:p>
          </p:txBody>
        </p:sp>
      </p:grpSp>
      <p:sp>
        <p:nvSpPr>
          <p:cNvPr id="60" name="Rectangle 33"/>
          <p:cNvSpPr>
            <a:spLocks noChangeArrowheads="1"/>
          </p:cNvSpPr>
          <p:nvPr/>
        </p:nvSpPr>
        <p:spPr bwMode="auto">
          <a:xfrm>
            <a:off x="2486717" y="183516"/>
            <a:ext cx="5600700" cy="3124200"/>
          </a:xfrm>
          <a:prstGeom prst="rect">
            <a:avLst/>
          </a:prstGeom>
          <a:noFill/>
          <a:ln w="57150" cap="rnd">
            <a:solidFill>
              <a:srgbClr val="FF66FF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1000"/>
                            </p:stCondLst>
                            <p:childTnLst>
                              <p:par>
                                <p:cTn id="5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0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0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0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0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40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40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300"/>
                                        <p:tgtEl>
                                          <p:spTgt spid="440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25" grpId="0" animBg="1"/>
      <p:bldP spid="440352" grpId="0" autoUpdateAnimBg="0"/>
      <p:bldP spid="440354" grpId="0" autoUpdateAnimBg="0"/>
      <p:bldP spid="6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6" name="Text Box 6"/>
          <p:cNvSpPr txBox="1">
            <a:spLocks noChangeArrowheads="1"/>
          </p:cNvSpPr>
          <p:nvPr/>
        </p:nvSpPr>
        <p:spPr bwMode="auto">
          <a:xfrm>
            <a:off x="2228626" y="3579608"/>
            <a:ext cx="625915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内电场阻挡多子的扩散运动，推动少子的漂移运动。</a:t>
            </a:r>
          </a:p>
        </p:txBody>
      </p:sp>
      <p:grpSp>
        <p:nvGrpSpPr>
          <p:cNvPr id="64" name="Group 7"/>
          <p:cNvGrpSpPr>
            <a:grpSpLocks/>
          </p:cNvGrpSpPr>
          <p:nvPr/>
        </p:nvGrpSpPr>
        <p:grpSpPr bwMode="auto">
          <a:xfrm>
            <a:off x="2507108" y="197804"/>
            <a:ext cx="5685147" cy="2995614"/>
            <a:chOff x="1864" y="421"/>
            <a:chExt cx="3218" cy="1887"/>
          </a:xfrm>
        </p:grpSpPr>
        <p:pic>
          <p:nvPicPr>
            <p:cNvPr id="65" name="Picture 8" descr="备份_图形15(b)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093" y="669"/>
              <a:ext cx="2675" cy="14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6" name="Line 9"/>
            <p:cNvSpPr>
              <a:spLocks noChangeShapeType="1"/>
            </p:cNvSpPr>
            <p:nvPr/>
          </p:nvSpPr>
          <p:spPr bwMode="auto">
            <a:xfrm>
              <a:off x="2901" y="490"/>
              <a:ext cx="1" cy="1521"/>
            </a:xfrm>
            <a:prstGeom prst="line">
              <a:avLst/>
            </a:prstGeom>
            <a:noFill/>
            <a:ln w="31750">
              <a:solidFill>
                <a:srgbClr val="00CCFF"/>
              </a:solidFill>
              <a:prstDash val="lg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10"/>
            <p:cNvSpPr>
              <a:spLocks noChangeShapeType="1"/>
            </p:cNvSpPr>
            <p:nvPr/>
          </p:nvSpPr>
          <p:spPr bwMode="auto">
            <a:xfrm>
              <a:off x="3999" y="460"/>
              <a:ext cx="1" cy="1579"/>
            </a:xfrm>
            <a:prstGeom prst="line">
              <a:avLst/>
            </a:prstGeom>
            <a:noFill/>
            <a:ln w="31750">
              <a:solidFill>
                <a:srgbClr val="00CCFF"/>
              </a:solidFill>
              <a:prstDash val="lg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Text Box 11"/>
            <p:cNvSpPr txBox="1">
              <a:spLocks noChangeArrowheads="1"/>
            </p:cNvSpPr>
            <p:nvPr/>
          </p:nvSpPr>
          <p:spPr bwMode="auto">
            <a:xfrm>
              <a:off x="3049" y="421"/>
              <a:ext cx="90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solidFill>
                    <a:schemeClr val="tx1"/>
                  </a:solidFill>
                </a:rPr>
                <a:t>空间电荷区</a:t>
              </a:r>
            </a:p>
          </p:txBody>
        </p:sp>
        <p:sp>
          <p:nvSpPr>
            <p:cNvPr id="69" name="Line 12"/>
            <p:cNvSpPr>
              <a:spLocks noChangeShapeType="1"/>
            </p:cNvSpPr>
            <p:nvPr/>
          </p:nvSpPr>
          <p:spPr bwMode="auto">
            <a:xfrm>
              <a:off x="3820" y="557"/>
              <a:ext cx="1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13"/>
            <p:cNvSpPr>
              <a:spLocks noChangeShapeType="1"/>
            </p:cNvSpPr>
            <p:nvPr/>
          </p:nvSpPr>
          <p:spPr bwMode="auto">
            <a:xfrm flipH="1" flipV="1">
              <a:off x="2901" y="550"/>
              <a:ext cx="20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14"/>
            <p:cNvSpPr>
              <a:spLocks noChangeShapeType="1"/>
            </p:cNvSpPr>
            <p:nvPr/>
          </p:nvSpPr>
          <p:spPr bwMode="auto">
            <a:xfrm flipH="1">
              <a:off x="3101" y="2027"/>
              <a:ext cx="70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Text Box 15"/>
            <p:cNvSpPr txBox="1">
              <a:spLocks noChangeArrowheads="1"/>
            </p:cNvSpPr>
            <p:nvPr/>
          </p:nvSpPr>
          <p:spPr bwMode="auto">
            <a:xfrm>
              <a:off x="3066" y="2056"/>
              <a:ext cx="89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solidFill>
                    <a:schemeClr val="tx1"/>
                  </a:solidFill>
                </a:rPr>
                <a:t>内电场方向</a:t>
              </a:r>
            </a:p>
          </p:txBody>
        </p:sp>
        <p:graphicFrame>
          <p:nvGraphicFramePr>
            <p:cNvPr id="73" name="Object 16"/>
            <p:cNvGraphicFramePr>
              <a:graphicFrameLocks noChangeAspect="1"/>
            </p:cNvGraphicFramePr>
            <p:nvPr/>
          </p:nvGraphicFramePr>
          <p:xfrm>
            <a:off x="4201" y="1118"/>
            <a:ext cx="140" cy="145"/>
          </p:xfrm>
          <a:graphic>
            <a:graphicData uri="http://schemas.openxmlformats.org/presentationml/2006/ole">
              <p:oleObj spid="_x0000_s6154" name="CorelDRAW" r:id="rId4" imgW="585360" imgH="585360" progId="">
                <p:embed/>
              </p:oleObj>
            </a:graphicData>
          </a:graphic>
        </p:graphicFrame>
        <p:graphicFrame>
          <p:nvGraphicFramePr>
            <p:cNvPr id="74" name="Object 17"/>
            <p:cNvGraphicFramePr>
              <a:graphicFrameLocks noChangeAspect="1"/>
            </p:cNvGraphicFramePr>
            <p:nvPr/>
          </p:nvGraphicFramePr>
          <p:xfrm>
            <a:off x="2526" y="1477"/>
            <a:ext cx="141" cy="145"/>
          </p:xfrm>
          <a:graphic>
            <a:graphicData uri="http://schemas.openxmlformats.org/presentationml/2006/ole">
              <p:oleObj spid="_x0000_s6155" name="CorelDRAW" r:id="rId5" imgW="585360" imgH="585360" progId="">
                <p:embed/>
              </p:oleObj>
            </a:graphicData>
          </a:graphic>
        </p:graphicFrame>
        <p:graphicFrame>
          <p:nvGraphicFramePr>
            <p:cNvPr id="75" name="Object 18"/>
            <p:cNvGraphicFramePr>
              <a:graphicFrameLocks noChangeAspect="1"/>
            </p:cNvGraphicFramePr>
            <p:nvPr/>
          </p:nvGraphicFramePr>
          <p:xfrm>
            <a:off x="2583" y="1028"/>
            <a:ext cx="142" cy="146"/>
          </p:xfrm>
          <a:graphic>
            <a:graphicData uri="http://schemas.openxmlformats.org/presentationml/2006/ole">
              <p:oleObj spid="_x0000_s6156" name="CorelDRAW" r:id="rId6" imgW="558720" imgH="558720" progId="">
                <p:embed/>
              </p:oleObj>
            </a:graphicData>
          </a:graphic>
        </p:graphicFrame>
        <p:graphicFrame>
          <p:nvGraphicFramePr>
            <p:cNvPr id="76" name="Object 19"/>
            <p:cNvGraphicFramePr>
              <a:graphicFrameLocks noChangeAspect="1"/>
            </p:cNvGraphicFramePr>
            <p:nvPr/>
          </p:nvGraphicFramePr>
          <p:xfrm>
            <a:off x="4230" y="1536"/>
            <a:ext cx="140" cy="146"/>
          </p:xfrm>
          <a:graphic>
            <a:graphicData uri="http://schemas.openxmlformats.org/presentationml/2006/ole">
              <p:oleObj spid="_x0000_s6157" name="CorelDRAW" r:id="rId7" imgW="558720" imgH="558720" progId="">
                <p:embed/>
              </p:oleObj>
            </a:graphicData>
          </a:graphic>
        </p:graphicFrame>
        <p:sp>
          <p:nvSpPr>
            <p:cNvPr id="77" name="Line 20"/>
            <p:cNvSpPr>
              <a:spLocks noChangeShapeType="1"/>
            </p:cNvSpPr>
            <p:nvPr/>
          </p:nvSpPr>
          <p:spPr bwMode="auto">
            <a:xfrm>
              <a:off x="2642" y="1536"/>
              <a:ext cx="1070" cy="1"/>
            </a:xfrm>
            <a:prstGeom prst="line">
              <a:avLst/>
            </a:prstGeom>
            <a:noFill/>
            <a:ln w="9525">
              <a:solidFill>
                <a:schemeClr val="accent4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21"/>
            <p:cNvSpPr>
              <a:spLocks noChangeShapeType="1"/>
            </p:cNvSpPr>
            <p:nvPr/>
          </p:nvSpPr>
          <p:spPr bwMode="auto">
            <a:xfrm flipH="1">
              <a:off x="2930" y="1626"/>
              <a:ext cx="1267" cy="1"/>
            </a:xfrm>
            <a:prstGeom prst="line">
              <a:avLst/>
            </a:prstGeom>
            <a:noFill/>
            <a:ln w="9525">
              <a:solidFill>
                <a:schemeClr val="accent4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22"/>
            <p:cNvSpPr>
              <a:spLocks noChangeShapeType="1"/>
            </p:cNvSpPr>
            <p:nvPr/>
          </p:nvSpPr>
          <p:spPr bwMode="auto">
            <a:xfrm flipH="1">
              <a:off x="2901" y="1207"/>
              <a:ext cx="1268" cy="1"/>
            </a:xfrm>
            <a:prstGeom prst="line">
              <a:avLst/>
            </a:prstGeom>
            <a:noFill/>
            <a:ln w="9525">
              <a:solidFill>
                <a:schemeClr val="accent4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23"/>
            <p:cNvSpPr>
              <a:spLocks noChangeShapeType="1"/>
            </p:cNvSpPr>
            <p:nvPr/>
          </p:nvSpPr>
          <p:spPr bwMode="auto">
            <a:xfrm>
              <a:off x="2699" y="1118"/>
              <a:ext cx="1070" cy="1"/>
            </a:xfrm>
            <a:prstGeom prst="line">
              <a:avLst/>
            </a:prstGeom>
            <a:noFill/>
            <a:ln w="9525">
              <a:solidFill>
                <a:schemeClr val="accent4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24"/>
            <p:cNvSpPr>
              <a:spLocks noChangeShapeType="1"/>
            </p:cNvSpPr>
            <p:nvPr/>
          </p:nvSpPr>
          <p:spPr bwMode="auto">
            <a:xfrm flipV="1">
              <a:off x="2786" y="1536"/>
              <a:ext cx="338" cy="517"/>
            </a:xfrm>
            <a:prstGeom prst="line">
              <a:avLst/>
            </a:prstGeom>
            <a:noFill/>
            <a:ln w="12700">
              <a:solidFill>
                <a:schemeClr val="accent4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25"/>
            <p:cNvSpPr>
              <a:spLocks noChangeShapeType="1"/>
            </p:cNvSpPr>
            <p:nvPr/>
          </p:nvSpPr>
          <p:spPr bwMode="auto">
            <a:xfrm flipV="1">
              <a:off x="2786" y="1626"/>
              <a:ext cx="732" cy="431"/>
            </a:xfrm>
            <a:prstGeom prst="line">
              <a:avLst/>
            </a:prstGeom>
            <a:noFill/>
            <a:ln w="12700">
              <a:solidFill>
                <a:schemeClr val="accent4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26"/>
            <p:cNvSpPr>
              <a:spLocks noChangeShapeType="1"/>
            </p:cNvSpPr>
            <p:nvPr/>
          </p:nvSpPr>
          <p:spPr bwMode="auto">
            <a:xfrm>
              <a:off x="2729" y="639"/>
              <a:ext cx="760" cy="460"/>
            </a:xfrm>
            <a:prstGeom prst="line">
              <a:avLst/>
            </a:prstGeom>
            <a:noFill/>
            <a:ln w="12700">
              <a:solidFill>
                <a:schemeClr val="accent4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27"/>
            <p:cNvSpPr>
              <a:spLocks noChangeShapeType="1"/>
            </p:cNvSpPr>
            <p:nvPr/>
          </p:nvSpPr>
          <p:spPr bwMode="auto">
            <a:xfrm>
              <a:off x="2729" y="639"/>
              <a:ext cx="507" cy="517"/>
            </a:xfrm>
            <a:prstGeom prst="line">
              <a:avLst/>
            </a:prstGeom>
            <a:noFill/>
            <a:ln w="12700">
              <a:solidFill>
                <a:schemeClr val="accent4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Text Box 28"/>
            <p:cNvSpPr txBox="1">
              <a:spLocks noChangeArrowheads="1"/>
            </p:cNvSpPr>
            <p:nvPr/>
          </p:nvSpPr>
          <p:spPr bwMode="auto">
            <a:xfrm>
              <a:off x="1864" y="1118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ea typeface="宋体" charset="-122"/>
                </a:rPr>
                <a:t>P</a:t>
              </a:r>
            </a:p>
          </p:txBody>
        </p:sp>
        <p:sp>
          <p:nvSpPr>
            <p:cNvPr id="86" name="Text Box 29"/>
            <p:cNvSpPr txBox="1">
              <a:spLocks noChangeArrowheads="1"/>
            </p:cNvSpPr>
            <p:nvPr/>
          </p:nvSpPr>
          <p:spPr bwMode="auto">
            <a:xfrm>
              <a:off x="4773" y="1118"/>
              <a:ext cx="30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ea typeface="宋体" charset="-122"/>
                </a:rPr>
                <a:t>N</a:t>
              </a:r>
            </a:p>
          </p:txBody>
        </p:sp>
        <p:sp>
          <p:nvSpPr>
            <p:cNvPr id="87" name="Rectangle 30"/>
            <p:cNvSpPr>
              <a:spLocks noChangeArrowheads="1"/>
            </p:cNvSpPr>
            <p:nvPr/>
          </p:nvSpPr>
          <p:spPr bwMode="auto">
            <a:xfrm>
              <a:off x="2155" y="2025"/>
              <a:ext cx="73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/>
              <a:r>
                <a:rPr lang="zh-CN" altLang="en-US" sz="2000" dirty="0">
                  <a:solidFill>
                    <a:schemeClr val="tx1"/>
                  </a:solidFill>
                </a:rPr>
                <a:t>多子扩散</a:t>
              </a:r>
            </a:p>
          </p:txBody>
        </p:sp>
        <p:sp>
          <p:nvSpPr>
            <p:cNvPr id="88" name="Rectangle 31"/>
            <p:cNvSpPr>
              <a:spLocks noChangeArrowheads="1"/>
            </p:cNvSpPr>
            <p:nvPr/>
          </p:nvSpPr>
          <p:spPr bwMode="auto">
            <a:xfrm>
              <a:off x="2204" y="438"/>
              <a:ext cx="689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solidFill>
                    <a:schemeClr val="tx1"/>
                  </a:solidFill>
                </a:rPr>
                <a:t>少子漂移</a:t>
              </a:r>
            </a:p>
          </p:txBody>
        </p:sp>
      </p:grpSp>
      <p:sp>
        <p:nvSpPr>
          <p:cNvPr id="89" name="Rectangle 33"/>
          <p:cNvSpPr>
            <a:spLocks noChangeArrowheads="1"/>
          </p:cNvSpPr>
          <p:nvPr/>
        </p:nvSpPr>
        <p:spPr bwMode="auto">
          <a:xfrm>
            <a:off x="2486717" y="183516"/>
            <a:ext cx="5600700" cy="3124200"/>
          </a:xfrm>
          <a:prstGeom prst="rect">
            <a:avLst/>
          </a:prstGeom>
          <a:noFill/>
          <a:ln w="57150" cap="rnd">
            <a:solidFill>
              <a:srgbClr val="FF66FF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" name="AutoShape 5"/>
          <p:cNvSpPr>
            <a:spLocks noChangeArrowheads="1"/>
          </p:cNvSpPr>
          <p:nvPr/>
        </p:nvSpPr>
        <p:spPr bwMode="auto">
          <a:xfrm>
            <a:off x="1707777" y="3707354"/>
            <a:ext cx="381000" cy="342900"/>
          </a:xfrm>
          <a:prstGeom prst="star4">
            <a:avLst>
              <a:gd name="adj" fmla="val 12500"/>
            </a:avLst>
          </a:prstGeom>
          <a:solidFill>
            <a:srgbClr val="FFFF00"/>
          </a:solidFill>
          <a:ln w="38100">
            <a:solidFill>
              <a:srgbClr val="FFCC99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80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1" name="Rectangle 32"/>
          <p:cNvSpPr>
            <a:spLocks noChangeArrowheads="1"/>
          </p:cNvSpPr>
          <p:nvPr/>
        </p:nvSpPr>
        <p:spPr bwMode="auto">
          <a:xfrm>
            <a:off x="374110" y="2975162"/>
            <a:ext cx="203934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6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结 论 ：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2" name="Text Box 2"/>
          <p:cNvSpPr txBox="1">
            <a:spLocks noChangeArrowheads="1"/>
          </p:cNvSpPr>
          <p:nvPr/>
        </p:nvSpPr>
        <p:spPr bwMode="auto">
          <a:xfrm>
            <a:off x="2268968" y="3552713"/>
            <a:ext cx="628336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在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一定条件下，多子扩散和少子漂移达到动态平衡，空间电荷区的宽度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基本稳定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。</a:t>
            </a:r>
          </a:p>
        </p:txBody>
      </p:sp>
      <p:grpSp>
        <p:nvGrpSpPr>
          <p:cNvPr id="35" name="Group 7"/>
          <p:cNvGrpSpPr>
            <a:grpSpLocks/>
          </p:cNvGrpSpPr>
          <p:nvPr/>
        </p:nvGrpSpPr>
        <p:grpSpPr bwMode="auto">
          <a:xfrm>
            <a:off x="2507108" y="197804"/>
            <a:ext cx="5685147" cy="2995614"/>
            <a:chOff x="1864" y="421"/>
            <a:chExt cx="3218" cy="1887"/>
          </a:xfrm>
        </p:grpSpPr>
        <p:pic>
          <p:nvPicPr>
            <p:cNvPr id="61" name="Picture 8" descr="备份_图形15(b)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093" y="669"/>
              <a:ext cx="2675" cy="14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" name="Line 9"/>
            <p:cNvSpPr>
              <a:spLocks noChangeShapeType="1"/>
            </p:cNvSpPr>
            <p:nvPr/>
          </p:nvSpPr>
          <p:spPr bwMode="auto">
            <a:xfrm>
              <a:off x="2901" y="490"/>
              <a:ext cx="1" cy="1521"/>
            </a:xfrm>
            <a:prstGeom prst="line">
              <a:avLst/>
            </a:prstGeom>
            <a:noFill/>
            <a:ln w="31750">
              <a:solidFill>
                <a:srgbClr val="00CCFF"/>
              </a:solidFill>
              <a:prstDash val="lg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10"/>
            <p:cNvSpPr>
              <a:spLocks noChangeShapeType="1"/>
            </p:cNvSpPr>
            <p:nvPr/>
          </p:nvSpPr>
          <p:spPr bwMode="auto">
            <a:xfrm>
              <a:off x="3999" y="460"/>
              <a:ext cx="1" cy="1579"/>
            </a:xfrm>
            <a:prstGeom prst="line">
              <a:avLst/>
            </a:prstGeom>
            <a:noFill/>
            <a:ln w="31750">
              <a:solidFill>
                <a:srgbClr val="00CCFF"/>
              </a:solidFill>
              <a:prstDash val="lg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Text Box 11"/>
            <p:cNvSpPr txBox="1">
              <a:spLocks noChangeArrowheads="1"/>
            </p:cNvSpPr>
            <p:nvPr/>
          </p:nvSpPr>
          <p:spPr bwMode="auto">
            <a:xfrm>
              <a:off x="3049" y="421"/>
              <a:ext cx="90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solidFill>
                    <a:schemeClr val="tx1"/>
                  </a:solidFill>
                </a:rPr>
                <a:t>空间电荷区</a:t>
              </a:r>
            </a:p>
          </p:txBody>
        </p:sp>
        <p:sp>
          <p:nvSpPr>
            <p:cNvPr id="65" name="Line 12"/>
            <p:cNvSpPr>
              <a:spLocks noChangeShapeType="1"/>
            </p:cNvSpPr>
            <p:nvPr/>
          </p:nvSpPr>
          <p:spPr bwMode="auto">
            <a:xfrm>
              <a:off x="3820" y="557"/>
              <a:ext cx="1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13"/>
            <p:cNvSpPr>
              <a:spLocks noChangeShapeType="1"/>
            </p:cNvSpPr>
            <p:nvPr/>
          </p:nvSpPr>
          <p:spPr bwMode="auto">
            <a:xfrm flipH="1" flipV="1">
              <a:off x="2901" y="550"/>
              <a:ext cx="20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14"/>
            <p:cNvSpPr>
              <a:spLocks noChangeShapeType="1"/>
            </p:cNvSpPr>
            <p:nvPr/>
          </p:nvSpPr>
          <p:spPr bwMode="auto">
            <a:xfrm flipH="1">
              <a:off x="3101" y="2027"/>
              <a:ext cx="70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Text Box 15"/>
            <p:cNvSpPr txBox="1">
              <a:spLocks noChangeArrowheads="1"/>
            </p:cNvSpPr>
            <p:nvPr/>
          </p:nvSpPr>
          <p:spPr bwMode="auto">
            <a:xfrm>
              <a:off x="3066" y="2056"/>
              <a:ext cx="89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solidFill>
                    <a:schemeClr val="tx1"/>
                  </a:solidFill>
                </a:rPr>
                <a:t>内电场方向</a:t>
              </a:r>
            </a:p>
          </p:txBody>
        </p:sp>
        <p:graphicFrame>
          <p:nvGraphicFramePr>
            <p:cNvPr id="69" name="Object 16"/>
            <p:cNvGraphicFramePr>
              <a:graphicFrameLocks noChangeAspect="1"/>
            </p:cNvGraphicFramePr>
            <p:nvPr/>
          </p:nvGraphicFramePr>
          <p:xfrm>
            <a:off x="4201" y="1118"/>
            <a:ext cx="140" cy="145"/>
          </p:xfrm>
          <a:graphic>
            <a:graphicData uri="http://schemas.openxmlformats.org/presentationml/2006/ole">
              <p:oleObj spid="_x0000_s52230" name="CorelDRAW" r:id="rId4" imgW="585360" imgH="585360" progId="">
                <p:embed/>
              </p:oleObj>
            </a:graphicData>
          </a:graphic>
        </p:graphicFrame>
        <p:graphicFrame>
          <p:nvGraphicFramePr>
            <p:cNvPr id="70" name="Object 17"/>
            <p:cNvGraphicFramePr>
              <a:graphicFrameLocks noChangeAspect="1"/>
            </p:cNvGraphicFramePr>
            <p:nvPr/>
          </p:nvGraphicFramePr>
          <p:xfrm>
            <a:off x="2526" y="1477"/>
            <a:ext cx="141" cy="145"/>
          </p:xfrm>
          <a:graphic>
            <a:graphicData uri="http://schemas.openxmlformats.org/presentationml/2006/ole">
              <p:oleObj spid="_x0000_s52231" name="CorelDRAW" r:id="rId5" imgW="585360" imgH="585360" progId="">
                <p:embed/>
              </p:oleObj>
            </a:graphicData>
          </a:graphic>
        </p:graphicFrame>
        <p:graphicFrame>
          <p:nvGraphicFramePr>
            <p:cNvPr id="71" name="Object 18"/>
            <p:cNvGraphicFramePr>
              <a:graphicFrameLocks noChangeAspect="1"/>
            </p:cNvGraphicFramePr>
            <p:nvPr/>
          </p:nvGraphicFramePr>
          <p:xfrm>
            <a:off x="2583" y="1028"/>
            <a:ext cx="142" cy="146"/>
          </p:xfrm>
          <a:graphic>
            <a:graphicData uri="http://schemas.openxmlformats.org/presentationml/2006/ole">
              <p:oleObj spid="_x0000_s52232" name="CorelDRAW" r:id="rId6" imgW="558720" imgH="558720" progId="">
                <p:embed/>
              </p:oleObj>
            </a:graphicData>
          </a:graphic>
        </p:graphicFrame>
        <p:graphicFrame>
          <p:nvGraphicFramePr>
            <p:cNvPr id="72" name="Object 19"/>
            <p:cNvGraphicFramePr>
              <a:graphicFrameLocks noChangeAspect="1"/>
            </p:cNvGraphicFramePr>
            <p:nvPr/>
          </p:nvGraphicFramePr>
          <p:xfrm>
            <a:off x="4230" y="1536"/>
            <a:ext cx="140" cy="146"/>
          </p:xfrm>
          <a:graphic>
            <a:graphicData uri="http://schemas.openxmlformats.org/presentationml/2006/ole">
              <p:oleObj spid="_x0000_s52233" name="CorelDRAW" r:id="rId7" imgW="558720" imgH="558720" progId="">
                <p:embed/>
              </p:oleObj>
            </a:graphicData>
          </a:graphic>
        </p:graphicFrame>
        <p:sp>
          <p:nvSpPr>
            <p:cNvPr id="73" name="Line 20"/>
            <p:cNvSpPr>
              <a:spLocks noChangeShapeType="1"/>
            </p:cNvSpPr>
            <p:nvPr/>
          </p:nvSpPr>
          <p:spPr bwMode="auto">
            <a:xfrm>
              <a:off x="2642" y="1536"/>
              <a:ext cx="1070" cy="1"/>
            </a:xfrm>
            <a:prstGeom prst="line">
              <a:avLst/>
            </a:prstGeom>
            <a:noFill/>
            <a:ln w="9525">
              <a:solidFill>
                <a:schemeClr val="accent4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21"/>
            <p:cNvSpPr>
              <a:spLocks noChangeShapeType="1"/>
            </p:cNvSpPr>
            <p:nvPr/>
          </p:nvSpPr>
          <p:spPr bwMode="auto">
            <a:xfrm flipH="1">
              <a:off x="2930" y="1626"/>
              <a:ext cx="1267" cy="1"/>
            </a:xfrm>
            <a:prstGeom prst="line">
              <a:avLst/>
            </a:prstGeom>
            <a:noFill/>
            <a:ln w="9525">
              <a:solidFill>
                <a:schemeClr val="accent4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22"/>
            <p:cNvSpPr>
              <a:spLocks noChangeShapeType="1"/>
            </p:cNvSpPr>
            <p:nvPr/>
          </p:nvSpPr>
          <p:spPr bwMode="auto">
            <a:xfrm flipH="1">
              <a:off x="2901" y="1207"/>
              <a:ext cx="1268" cy="1"/>
            </a:xfrm>
            <a:prstGeom prst="line">
              <a:avLst/>
            </a:prstGeom>
            <a:noFill/>
            <a:ln w="9525">
              <a:solidFill>
                <a:schemeClr val="accent4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23"/>
            <p:cNvSpPr>
              <a:spLocks noChangeShapeType="1"/>
            </p:cNvSpPr>
            <p:nvPr/>
          </p:nvSpPr>
          <p:spPr bwMode="auto">
            <a:xfrm>
              <a:off x="2699" y="1118"/>
              <a:ext cx="1070" cy="1"/>
            </a:xfrm>
            <a:prstGeom prst="line">
              <a:avLst/>
            </a:prstGeom>
            <a:noFill/>
            <a:ln w="9525">
              <a:solidFill>
                <a:schemeClr val="accent4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24"/>
            <p:cNvSpPr>
              <a:spLocks noChangeShapeType="1"/>
            </p:cNvSpPr>
            <p:nvPr/>
          </p:nvSpPr>
          <p:spPr bwMode="auto">
            <a:xfrm flipV="1">
              <a:off x="2786" y="1536"/>
              <a:ext cx="338" cy="517"/>
            </a:xfrm>
            <a:prstGeom prst="line">
              <a:avLst/>
            </a:prstGeom>
            <a:noFill/>
            <a:ln w="12700">
              <a:solidFill>
                <a:schemeClr val="accent4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25"/>
            <p:cNvSpPr>
              <a:spLocks noChangeShapeType="1"/>
            </p:cNvSpPr>
            <p:nvPr/>
          </p:nvSpPr>
          <p:spPr bwMode="auto">
            <a:xfrm flipV="1">
              <a:off x="2786" y="1626"/>
              <a:ext cx="732" cy="431"/>
            </a:xfrm>
            <a:prstGeom prst="line">
              <a:avLst/>
            </a:prstGeom>
            <a:noFill/>
            <a:ln w="12700">
              <a:solidFill>
                <a:schemeClr val="accent4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26"/>
            <p:cNvSpPr>
              <a:spLocks noChangeShapeType="1"/>
            </p:cNvSpPr>
            <p:nvPr/>
          </p:nvSpPr>
          <p:spPr bwMode="auto">
            <a:xfrm>
              <a:off x="2729" y="639"/>
              <a:ext cx="760" cy="460"/>
            </a:xfrm>
            <a:prstGeom prst="line">
              <a:avLst/>
            </a:prstGeom>
            <a:noFill/>
            <a:ln w="12700">
              <a:solidFill>
                <a:schemeClr val="accent4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27"/>
            <p:cNvSpPr>
              <a:spLocks noChangeShapeType="1"/>
            </p:cNvSpPr>
            <p:nvPr/>
          </p:nvSpPr>
          <p:spPr bwMode="auto">
            <a:xfrm>
              <a:off x="2729" y="639"/>
              <a:ext cx="507" cy="517"/>
            </a:xfrm>
            <a:prstGeom prst="line">
              <a:avLst/>
            </a:prstGeom>
            <a:noFill/>
            <a:ln w="12700">
              <a:solidFill>
                <a:schemeClr val="accent4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Text Box 28"/>
            <p:cNvSpPr txBox="1">
              <a:spLocks noChangeArrowheads="1"/>
            </p:cNvSpPr>
            <p:nvPr/>
          </p:nvSpPr>
          <p:spPr bwMode="auto">
            <a:xfrm>
              <a:off x="1864" y="1118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ea typeface="宋体" charset="-122"/>
                </a:rPr>
                <a:t>P</a:t>
              </a:r>
            </a:p>
          </p:txBody>
        </p:sp>
        <p:sp>
          <p:nvSpPr>
            <p:cNvPr id="82" name="Text Box 29"/>
            <p:cNvSpPr txBox="1">
              <a:spLocks noChangeArrowheads="1"/>
            </p:cNvSpPr>
            <p:nvPr/>
          </p:nvSpPr>
          <p:spPr bwMode="auto">
            <a:xfrm>
              <a:off x="4773" y="1118"/>
              <a:ext cx="30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ea typeface="宋体" charset="-122"/>
                </a:rPr>
                <a:t>N</a:t>
              </a:r>
            </a:p>
          </p:txBody>
        </p:sp>
        <p:sp>
          <p:nvSpPr>
            <p:cNvPr id="83" name="Rectangle 30"/>
            <p:cNvSpPr>
              <a:spLocks noChangeArrowheads="1"/>
            </p:cNvSpPr>
            <p:nvPr/>
          </p:nvSpPr>
          <p:spPr bwMode="auto">
            <a:xfrm>
              <a:off x="2155" y="2025"/>
              <a:ext cx="73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/>
              <a:r>
                <a:rPr lang="zh-CN" altLang="en-US" sz="2000" dirty="0">
                  <a:solidFill>
                    <a:schemeClr val="tx1"/>
                  </a:solidFill>
                </a:rPr>
                <a:t>多子扩散</a:t>
              </a:r>
            </a:p>
          </p:txBody>
        </p:sp>
        <p:sp>
          <p:nvSpPr>
            <p:cNvPr id="84" name="Rectangle 31"/>
            <p:cNvSpPr>
              <a:spLocks noChangeArrowheads="1"/>
            </p:cNvSpPr>
            <p:nvPr/>
          </p:nvSpPr>
          <p:spPr bwMode="auto">
            <a:xfrm>
              <a:off x="2204" y="438"/>
              <a:ext cx="689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solidFill>
                    <a:schemeClr val="tx1"/>
                  </a:solidFill>
                </a:rPr>
                <a:t>少子漂移</a:t>
              </a:r>
            </a:p>
          </p:txBody>
        </p:sp>
      </p:grpSp>
      <p:sp>
        <p:nvSpPr>
          <p:cNvPr id="85" name="Rectangle 33"/>
          <p:cNvSpPr>
            <a:spLocks noChangeArrowheads="1"/>
          </p:cNvSpPr>
          <p:nvPr/>
        </p:nvSpPr>
        <p:spPr bwMode="auto">
          <a:xfrm>
            <a:off x="2486717" y="183516"/>
            <a:ext cx="5600700" cy="3124200"/>
          </a:xfrm>
          <a:prstGeom prst="rect">
            <a:avLst/>
          </a:prstGeom>
          <a:noFill/>
          <a:ln w="57150" cap="rnd">
            <a:solidFill>
              <a:srgbClr val="FF66FF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" name="AutoShape 5"/>
          <p:cNvSpPr>
            <a:spLocks noChangeArrowheads="1"/>
          </p:cNvSpPr>
          <p:nvPr/>
        </p:nvSpPr>
        <p:spPr bwMode="auto">
          <a:xfrm>
            <a:off x="1707777" y="3707354"/>
            <a:ext cx="381000" cy="342900"/>
          </a:xfrm>
          <a:prstGeom prst="star4">
            <a:avLst>
              <a:gd name="adj" fmla="val 12500"/>
            </a:avLst>
          </a:prstGeom>
          <a:solidFill>
            <a:srgbClr val="FFFF00"/>
          </a:solidFill>
          <a:ln w="38100">
            <a:solidFill>
              <a:srgbClr val="FFCC99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80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7" name="Rectangle 32"/>
          <p:cNvSpPr>
            <a:spLocks noChangeArrowheads="1"/>
          </p:cNvSpPr>
          <p:nvPr/>
        </p:nvSpPr>
        <p:spPr bwMode="auto">
          <a:xfrm>
            <a:off x="374110" y="2975162"/>
            <a:ext cx="203934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6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结 论 ：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40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2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7" name="Text Box 3"/>
          <p:cNvSpPr txBox="1">
            <a:spLocks noChangeArrowheads="1"/>
          </p:cNvSpPr>
          <p:nvPr/>
        </p:nvSpPr>
        <p:spPr bwMode="auto">
          <a:xfrm>
            <a:off x="834690" y="508215"/>
            <a:ext cx="611981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32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32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3200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PN</a:t>
            </a:r>
            <a:r>
              <a:rPr lang="zh-CN" altLang="en-US" sz="3200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结的单向导电性</a:t>
            </a:r>
          </a:p>
        </p:txBody>
      </p:sp>
      <p:grpSp>
        <p:nvGrpSpPr>
          <p:cNvPr id="115" name="Group 66"/>
          <p:cNvGrpSpPr>
            <a:grpSpLocks/>
          </p:cNvGrpSpPr>
          <p:nvPr/>
        </p:nvGrpSpPr>
        <p:grpSpPr bwMode="auto">
          <a:xfrm>
            <a:off x="2533263" y="1592132"/>
            <a:ext cx="2590800" cy="519112"/>
            <a:chOff x="295" y="663"/>
            <a:chExt cx="1632" cy="327"/>
          </a:xfrm>
        </p:grpSpPr>
        <p:sp>
          <p:nvSpPr>
            <p:cNvPr id="116" name="Text Box 4"/>
            <p:cNvSpPr txBox="1">
              <a:spLocks noChangeArrowheads="1"/>
            </p:cNvSpPr>
            <p:nvPr/>
          </p:nvSpPr>
          <p:spPr bwMode="auto">
            <a:xfrm>
              <a:off x="435" y="663"/>
              <a:ext cx="149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外加正向电压</a:t>
              </a:r>
            </a:p>
          </p:txBody>
        </p:sp>
        <p:sp>
          <p:nvSpPr>
            <p:cNvPr id="117" name="Oval 64"/>
            <p:cNvSpPr>
              <a:spLocks noChangeArrowheads="1"/>
            </p:cNvSpPr>
            <p:nvPr/>
          </p:nvSpPr>
          <p:spPr bwMode="auto">
            <a:xfrm>
              <a:off x="295" y="754"/>
              <a:ext cx="136" cy="136"/>
            </a:xfrm>
            <a:prstGeom prst="ellipse">
              <a:avLst/>
            </a:prstGeom>
            <a:solidFill>
              <a:srgbClr val="FF9900"/>
            </a:solidFill>
            <a:ln w="349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9" name="Group 66"/>
          <p:cNvGrpSpPr>
            <a:grpSpLocks/>
          </p:cNvGrpSpPr>
          <p:nvPr/>
        </p:nvGrpSpPr>
        <p:grpSpPr bwMode="auto">
          <a:xfrm>
            <a:off x="2544020" y="2614108"/>
            <a:ext cx="2590800" cy="519112"/>
            <a:chOff x="295" y="663"/>
            <a:chExt cx="1632" cy="327"/>
          </a:xfrm>
        </p:grpSpPr>
        <p:sp>
          <p:nvSpPr>
            <p:cNvPr id="120" name="Text Box 4"/>
            <p:cNvSpPr txBox="1">
              <a:spLocks noChangeArrowheads="1"/>
            </p:cNvSpPr>
            <p:nvPr/>
          </p:nvSpPr>
          <p:spPr bwMode="auto">
            <a:xfrm>
              <a:off x="435" y="663"/>
              <a:ext cx="149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外加反向电压</a:t>
              </a:r>
              <a:endPara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endParaRPr>
            </a:p>
          </p:txBody>
        </p:sp>
        <p:sp>
          <p:nvSpPr>
            <p:cNvPr id="121" name="Oval 64"/>
            <p:cNvSpPr>
              <a:spLocks noChangeArrowheads="1"/>
            </p:cNvSpPr>
            <p:nvPr/>
          </p:nvSpPr>
          <p:spPr bwMode="auto">
            <a:xfrm>
              <a:off x="295" y="754"/>
              <a:ext cx="136" cy="136"/>
            </a:xfrm>
            <a:prstGeom prst="ellipse">
              <a:avLst/>
            </a:prstGeom>
            <a:solidFill>
              <a:srgbClr val="FF9900"/>
            </a:solidFill>
            <a:ln w="349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2" descr="备份_图形15(b)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1081" y="1157287"/>
            <a:ext cx="61722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2" name="Text Box 5"/>
          <p:cNvSpPr txBox="1">
            <a:spLocks noChangeArrowheads="1"/>
          </p:cNvSpPr>
          <p:nvPr/>
        </p:nvSpPr>
        <p:spPr bwMode="auto">
          <a:xfrm>
            <a:off x="649423" y="1313273"/>
            <a:ext cx="9144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P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区</a:t>
            </a:r>
          </a:p>
        </p:txBody>
      </p:sp>
      <p:sp>
        <p:nvSpPr>
          <p:cNvPr id="63" name="Text Box 6"/>
          <p:cNvSpPr txBox="1">
            <a:spLocks noChangeArrowheads="1"/>
          </p:cNvSpPr>
          <p:nvPr/>
        </p:nvSpPr>
        <p:spPr bwMode="auto">
          <a:xfrm>
            <a:off x="7537005" y="1291757"/>
            <a:ext cx="97229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N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区</a:t>
            </a:r>
          </a:p>
        </p:txBody>
      </p:sp>
      <p:sp>
        <p:nvSpPr>
          <p:cNvPr id="64" name="Line 7"/>
          <p:cNvSpPr>
            <a:spLocks noChangeShapeType="1"/>
          </p:cNvSpPr>
          <p:nvPr/>
        </p:nvSpPr>
        <p:spPr bwMode="auto">
          <a:xfrm>
            <a:off x="7619481" y="2376487"/>
            <a:ext cx="0" cy="457200"/>
          </a:xfrm>
          <a:prstGeom prst="line">
            <a:avLst/>
          </a:prstGeom>
          <a:noFill/>
          <a:ln w="88900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Line 8"/>
          <p:cNvSpPr>
            <a:spLocks noChangeShapeType="1"/>
          </p:cNvSpPr>
          <p:nvPr/>
        </p:nvSpPr>
        <p:spPr bwMode="auto">
          <a:xfrm>
            <a:off x="1294881" y="2376487"/>
            <a:ext cx="0" cy="457200"/>
          </a:xfrm>
          <a:prstGeom prst="line">
            <a:avLst/>
          </a:prstGeom>
          <a:noFill/>
          <a:ln w="88900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Line 9"/>
          <p:cNvSpPr>
            <a:spLocks noChangeShapeType="1"/>
          </p:cNvSpPr>
          <p:nvPr/>
        </p:nvSpPr>
        <p:spPr bwMode="auto">
          <a:xfrm>
            <a:off x="7595669" y="2592387"/>
            <a:ext cx="1066800" cy="0"/>
          </a:xfrm>
          <a:prstGeom prst="line">
            <a:avLst/>
          </a:prstGeom>
          <a:noFill/>
          <a:ln w="349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Line 10"/>
          <p:cNvSpPr>
            <a:spLocks noChangeShapeType="1"/>
          </p:cNvSpPr>
          <p:nvPr/>
        </p:nvSpPr>
        <p:spPr bwMode="auto">
          <a:xfrm>
            <a:off x="380481" y="2605087"/>
            <a:ext cx="838200" cy="0"/>
          </a:xfrm>
          <a:prstGeom prst="line">
            <a:avLst/>
          </a:prstGeom>
          <a:noFill/>
          <a:ln w="349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Line 11"/>
          <p:cNvSpPr>
            <a:spLocks noChangeShapeType="1"/>
          </p:cNvSpPr>
          <p:nvPr/>
        </p:nvSpPr>
        <p:spPr bwMode="auto">
          <a:xfrm>
            <a:off x="380481" y="2605087"/>
            <a:ext cx="0" cy="2209800"/>
          </a:xfrm>
          <a:prstGeom prst="line">
            <a:avLst/>
          </a:prstGeom>
          <a:noFill/>
          <a:ln w="349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Line 12"/>
          <p:cNvSpPr>
            <a:spLocks noChangeShapeType="1"/>
          </p:cNvSpPr>
          <p:nvPr/>
        </p:nvSpPr>
        <p:spPr bwMode="auto">
          <a:xfrm>
            <a:off x="8675169" y="2592387"/>
            <a:ext cx="0" cy="2209800"/>
          </a:xfrm>
          <a:prstGeom prst="line">
            <a:avLst/>
          </a:prstGeom>
          <a:noFill/>
          <a:ln w="349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Line 13"/>
          <p:cNvSpPr>
            <a:spLocks noChangeShapeType="1"/>
          </p:cNvSpPr>
          <p:nvPr/>
        </p:nvSpPr>
        <p:spPr bwMode="auto">
          <a:xfrm>
            <a:off x="380481" y="4814887"/>
            <a:ext cx="3657600" cy="0"/>
          </a:xfrm>
          <a:prstGeom prst="line">
            <a:avLst/>
          </a:prstGeom>
          <a:noFill/>
          <a:ln w="349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Line 14"/>
          <p:cNvSpPr>
            <a:spLocks noChangeShapeType="1"/>
          </p:cNvSpPr>
          <p:nvPr/>
        </p:nvSpPr>
        <p:spPr bwMode="auto">
          <a:xfrm>
            <a:off x="4495281" y="4814887"/>
            <a:ext cx="4191000" cy="0"/>
          </a:xfrm>
          <a:prstGeom prst="line">
            <a:avLst/>
          </a:prstGeom>
          <a:noFill/>
          <a:ln w="349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Line 15"/>
          <p:cNvSpPr>
            <a:spLocks noChangeShapeType="1"/>
          </p:cNvSpPr>
          <p:nvPr/>
        </p:nvSpPr>
        <p:spPr bwMode="auto">
          <a:xfrm>
            <a:off x="4038081" y="4586287"/>
            <a:ext cx="0" cy="4572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Line 16"/>
          <p:cNvSpPr>
            <a:spLocks noChangeShapeType="1"/>
          </p:cNvSpPr>
          <p:nvPr/>
        </p:nvSpPr>
        <p:spPr bwMode="auto">
          <a:xfrm>
            <a:off x="4190481" y="4662487"/>
            <a:ext cx="0" cy="3048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Line 17"/>
          <p:cNvSpPr>
            <a:spLocks noChangeShapeType="1"/>
          </p:cNvSpPr>
          <p:nvPr/>
        </p:nvSpPr>
        <p:spPr bwMode="auto">
          <a:xfrm>
            <a:off x="4342881" y="4586287"/>
            <a:ext cx="0" cy="4572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Line 18"/>
          <p:cNvSpPr>
            <a:spLocks noChangeShapeType="1"/>
          </p:cNvSpPr>
          <p:nvPr/>
        </p:nvSpPr>
        <p:spPr bwMode="auto">
          <a:xfrm>
            <a:off x="4495281" y="4662487"/>
            <a:ext cx="0" cy="3048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Line 19"/>
          <p:cNvSpPr>
            <a:spLocks noChangeShapeType="1"/>
          </p:cNvSpPr>
          <p:nvPr/>
        </p:nvSpPr>
        <p:spPr bwMode="auto">
          <a:xfrm flipV="1">
            <a:off x="3885681" y="4586287"/>
            <a:ext cx="838200" cy="3810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Line 20"/>
          <p:cNvSpPr>
            <a:spLocks noChangeShapeType="1"/>
          </p:cNvSpPr>
          <p:nvPr/>
        </p:nvSpPr>
        <p:spPr bwMode="auto">
          <a:xfrm>
            <a:off x="3733281" y="4052887"/>
            <a:ext cx="12954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Text Box 21"/>
          <p:cNvSpPr txBox="1">
            <a:spLocks noChangeArrowheads="1"/>
          </p:cNvSpPr>
          <p:nvPr/>
        </p:nvSpPr>
        <p:spPr bwMode="auto">
          <a:xfrm>
            <a:off x="3809481" y="3519487"/>
            <a:ext cx="1143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chemeClr val="tx1"/>
                </a:solidFill>
                <a:ea typeface="宋体" charset="-122"/>
              </a:rPr>
              <a:t>内电场</a:t>
            </a:r>
          </a:p>
        </p:txBody>
      </p:sp>
      <p:sp>
        <p:nvSpPr>
          <p:cNvPr id="79" name="Line 22"/>
          <p:cNvSpPr>
            <a:spLocks noChangeShapeType="1"/>
          </p:cNvSpPr>
          <p:nvPr/>
        </p:nvSpPr>
        <p:spPr bwMode="auto">
          <a:xfrm flipH="1">
            <a:off x="3861514" y="3568177"/>
            <a:ext cx="900113" cy="0"/>
          </a:xfrm>
          <a:prstGeom prst="line">
            <a:avLst/>
          </a:prstGeom>
          <a:noFill/>
          <a:ln w="22225">
            <a:solidFill>
              <a:srgbClr val="FFFF66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Text Box 23"/>
          <p:cNvSpPr txBox="1">
            <a:spLocks noChangeArrowheads="1"/>
          </p:cNvSpPr>
          <p:nvPr/>
        </p:nvSpPr>
        <p:spPr bwMode="auto">
          <a:xfrm>
            <a:off x="3809481" y="4129087"/>
            <a:ext cx="1066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外电场</a:t>
            </a:r>
          </a:p>
        </p:txBody>
      </p:sp>
      <p:sp>
        <p:nvSpPr>
          <p:cNvPr id="81" name="Text Box 24"/>
          <p:cNvSpPr txBox="1">
            <a:spLocks noChangeArrowheads="1"/>
          </p:cNvSpPr>
          <p:nvPr/>
        </p:nvSpPr>
        <p:spPr bwMode="auto">
          <a:xfrm>
            <a:off x="3657081" y="4433887"/>
            <a:ext cx="762000" cy="457200"/>
          </a:xfrm>
          <a:prstGeom prst="rect">
            <a:avLst/>
          </a:prstGeom>
          <a:noFill/>
          <a:ln w="317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i="1" dirty="0">
                <a:solidFill>
                  <a:schemeClr val="tx1"/>
                </a:solidFill>
                <a:ea typeface="宋体" charset="-122"/>
              </a:rPr>
              <a:t>E</a:t>
            </a:r>
          </a:p>
        </p:txBody>
      </p:sp>
      <p:sp>
        <p:nvSpPr>
          <p:cNvPr id="82" name="Line 25"/>
          <p:cNvSpPr>
            <a:spLocks noChangeShapeType="1"/>
          </p:cNvSpPr>
          <p:nvPr/>
        </p:nvSpPr>
        <p:spPr bwMode="auto">
          <a:xfrm flipV="1">
            <a:off x="532881" y="3214687"/>
            <a:ext cx="0" cy="83820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Text Box 26"/>
          <p:cNvSpPr txBox="1">
            <a:spLocks noChangeArrowheads="1"/>
          </p:cNvSpPr>
          <p:nvPr/>
        </p:nvSpPr>
        <p:spPr bwMode="auto">
          <a:xfrm>
            <a:off x="609081" y="3367087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i="1" dirty="0">
                <a:solidFill>
                  <a:schemeClr val="tx1"/>
                </a:solidFill>
                <a:ea typeface="宋体" charset="-122"/>
              </a:rPr>
              <a:t>I</a:t>
            </a:r>
          </a:p>
        </p:txBody>
      </p:sp>
      <p:graphicFrame>
        <p:nvGraphicFramePr>
          <p:cNvPr id="84" name="Object 27"/>
          <p:cNvGraphicFramePr>
            <a:graphicFrameLocks noChangeAspect="1"/>
          </p:cNvGraphicFramePr>
          <p:nvPr/>
        </p:nvGraphicFramePr>
        <p:xfrm>
          <a:off x="761481" y="2224087"/>
          <a:ext cx="304800" cy="304800"/>
        </p:xfrm>
        <a:graphic>
          <a:graphicData uri="http://schemas.openxmlformats.org/presentationml/2006/ole">
            <p:oleObj spid="_x0000_s54274" name="CorelDRAW" r:id="rId4" imgW="558720" imgH="558720" progId="">
              <p:embed/>
            </p:oleObj>
          </a:graphicData>
        </a:graphic>
      </p:graphicFrame>
      <p:sp>
        <p:nvSpPr>
          <p:cNvPr id="85" name="Line 28"/>
          <p:cNvSpPr>
            <a:spLocks noChangeShapeType="1"/>
          </p:cNvSpPr>
          <p:nvPr/>
        </p:nvSpPr>
        <p:spPr bwMode="auto">
          <a:xfrm flipH="1">
            <a:off x="304281" y="2376487"/>
            <a:ext cx="4572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Line 29"/>
          <p:cNvSpPr>
            <a:spLocks noChangeShapeType="1"/>
          </p:cNvSpPr>
          <p:nvPr/>
        </p:nvSpPr>
        <p:spPr bwMode="auto">
          <a:xfrm>
            <a:off x="3504681" y="700087"/>
            <a:ext cx="0" cy="3200400"/>
          </a:xfrm>
          <a:prstGeom prst="line">
            <a:avLst/>
          </a:prstGeom>
          <a:noFill/>
          <a:ln w="25400">
            <a:solidFill>
              <a:srgbClr val="542A00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Line 30"/>
          <p:cNvSpPr>
            <a:spLocks noChangeShapeType="1"/>
          </p:cNvSpPr>
          <p:nvPr/>
        </p:nvSpPr>
        <p:spPr bwMode="auto">
          <a:xfrm>
            <a:off x="5257281" y="700087"/>
            <a:ext cx="0" cy="3124200"/>
          </a:xfrm>
          <a:prstGeom prst="line">
            <a:avLst/>
          </a:prstGeom>
          <a:noFill/>
          <a:ln w="25400">
            <a:solidFill>
              <a:srgbClr val="542A00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8" name="Object 32"/>
          <p:cNvGraphicFramePr>
            <a:graphicFrameLocks noChangeAspect="1"/>
          </p:cNvGraphicFramePr>
          <p:nvPr/>
        </p:nvGraphicFramePr>
        <p:xfrm>
          <a:off x="6095481" y="2681287"/>
          <a:ext cx="304800" cy="304800"/>
        </p:xfrm>
        <a:graphic>
          <a:graphicData uri="http://schemas.openxmlformats.org/presentationml/2006/ole">
            <p:oleObj spid="_x0000_s54275" name="CorelDRAW" r:id="rId5" imgW="558720" imgH="558720" progId="">
              <p:embed/>
            </p:oleObj>
          </a:graphicData>
        </a:graphic>
      </p:graphicFrame>
      <p:graphicFrame>
        <p:nvGraphicFramePr>
          <p:cNvPr id="89" name="Object 33"/>
          <p:cNvGraphicFramePr>
            <a:graphicFrameLocks noChangeAspect="1"/>
          </p:cNvGraphicFramePr>
          <p:nvPr/>
        </p:nvGraphicFramePr>
        <p:xfrm>
          <a:off x="8533881" y="2224087"/>
          <a:ext cx="304800" cy="304800"/>
        </p:xfrm>
        <a:graphic>
          <a:graphicData uri="http://schemas.openxmlformats.org/presentationml/2006/ole">
            <p:oleObj spid="_x0000_s54276" name="CorelDRAW" r:id="rId6" imgW="558720" imgH="558720" progId="">
              <p:embed/>
            </p:oleObj>
          </a:graphicData>
        </a:graphic>
      </p:graphicFrame>
      <p:graphicFrame>
        <p:nvGraphicFramePr>
          <p:cNvPr id="90" name="Object 34"/>
          <p:cNvGraphicFramePr>
            <a:graphicFrameLocks noChangeAspect="1"/>
          </p:cNvGraphicFramePr>
          <p:nvPr/>
        </p:nvGraphicFramePr>
        <p:xfrm>
          <a:off x="6095481" y="1233487"/>
          <a:ext cx="304800" cy="304800"/>
        </p:xfrm>
        <a:graphic>
          <a:graphicData uri="http://schemas.openxmlformats.org/presentationml/2006/ole">
            <p:oleObj spid="_x0000_s54277" name="CorelDRAW" r:id="rId7" imgW="558720" imgH="558720" progId="">
              <p:embed/>
            </p:oleObj>
          </a:graphicData>
        </a:graphic>
      </p:graphicFrame>
      <p:graphicFrame>
        <p:nvGraphicFramePr>
          <p:cNvPr id="91" name="Object 35"/>
          <p:cNvGraphicFramePr>
            <a:graphicFrameLocks noChangeAspect="1"/>
          </p:cNvGraphicFramePr>
          <p:nvPr/>
        </p:nvGraphicFramePr>
        <p:xfrm>
          <a:off x="5485881" y="1233487"/>
          <a:ext cx="304800" cy="304800"/>
        </p:xfrm>
        <a:graphic>
          <a:graphicData uri="http://schemas.openxmlformats.org/presentationml/2006/ole">
            <p:oleObj spid="_x0000_s54278" name="CorelDRAW" r:id="rId8" imgW="558720" imgH="558720" progId="">
              <p:embed/>
            </p:oleObj>
          </a:graphicData>
        </a:graphic>
      </p:graphicFrame>
      <p:graphicFrame>
        <p:nvGraphicFramePr>
          <p:cNvPr id="92" name="Object 36"/>
          <p:cNvGraphicFramePr>
            <a:graphicFrameLocks noChangeAspect="1"/>
          </p:cNvGraphicFramePr>
          <p:nvPr/>
        </p:nvGraphicFramePr>
        <p:xfrm>
          <a:off x="5714481" y="2681287"/>
          <a:ext cx="304800" cy="304800"/>
        </p:xfrm>
        <a:graphic>
          <a:graphicData uri="http://schemas.openxmlformats.org/presentationml/2006/ole">
            <p:oleObj spid="_x0000_s54279" name="CorelDRAW" r:id="rId9" imgW="558720" imgH="558720" progId="">
              <p:embed/>
            </p:oleObj>
          </a:graphicData>
        </a:graphic>
      </p:graphicFrame>
      <p:graphicFrame>
        <p:nvGraphicFramePr>
          <p:cNvPr id="93" name="Object 37"/>
          <p:cNvGraphicFramePr>
            <a:graphicFrameLocks noChangeAspect="1"/>
          </p:cNvGraphicFramePr>
          <p:nvPr/>
        </p:nvGraphicFramePr>
        <p:xfrm>
          <a:off x="5562081" y="3290887"/>
          <a:ext cx="304800" cy="304800"/>
        </p:xfrm>
        <a:graphic>
          <a:graphicData uri="http://schemas.openxmlformats.org/presentationml/2006/ole">
            <p:oleObj spid="_x0000_s54280" name="CorelDRAW" r:id="rId10" imgW="558720" imgH="558720" progId="">
              <p:embed/>
            </p:oleObj>
          </a:graphicData>
        </a:graphic>
      </p:graphicFrame>
      <p:graphicFrame>
        <p:nvGraphicFramePr>
          <p:cNvPr id="94" name="Object 38"/>
          <p:cNvGraphicFramePr>
            <a:graphicFrameLocks noChangeAspect="1"/>
          </p:cNvGraphicFramePr>
          <p:nvPr/>
        </p:nvGraphicFramePr>
        <p:xfrm>
          <a:off x="6019281" y="3443287"/>
          <a:ext cx="304800" cy="304800"/>
        </p:xfrm>
        <a:graphic>
          <a:graphicData uri="http://schemas.openxmlformats.org/presentationml/2006/ole">
            <p:oleObj spid="_x0000_s54281" name="CorelDRAW" r:id="rId11" imgW="558720" imgH="558720" progId="">
              <p:embed/>
            </p:oleObj>
          </a:graphicData>
        </a:graphic>
      </p:graphicFrame>
      <p:graphicFrame>
        <p:nvGraphicFramePr>
          <p:cNvPr id="95" name="Object 39"/>
          <p:cNvGraphicFramePr>
            <a:graphicFrameLocks noChangeAspect="1"/>
          </p:cNvGraphicFramePr>
          <p:nvPr/>
        </p:nvGraphicFramePr>
        <p:xfrm>
          <a:off x="2590281" y="1169987"/>
          <a:ext cx="368300" cy="368300"/>
        </p:xfrm>
        <a:graphic>
          <a:graphicData uri="http://schemas.openxmlformats.org/presentationml/2006/ole">
            <p:oleObj spid="_x0000_s54282" name="CorelDRAW" r:id="rId12" imgW="585360" imgH="585360" progId="">
              <p:embed/>
            </p:oleObj>
          </a:graphicData>
        </a:graphic>
      </p:graphicFrame>
      <p:graphicFrame>
        <p:nvGraphicFramePr>
          <p:cNvPr id="96" name="Object 40"/>
          <p:cNvGraphicFramePr>
            <a:graphicFrameLocks noChangeAspect="1"/>
          </p:cNvGraphicFramePr>
          <p:nvPr/>
        </p:nvGraphicFramePr>
        <p:xfrm>
          <a:off x="2450581" y="2084387"/>
          <a:ext cx="368300" cy="368300"/>
        </p:xfrm>
        <a:graphic>
          <a:graphicData uri="http://schemas.openxmlformats.org/presentationml/2006/ole">
            <p:oleObj spid="_x0000_s54283" name="CorelDRAW" r:id="rId13" imgW="585360" imgH="585360" progId="">
              <p:embed/>
            </p:oleObj>
          </a:graphicData>
        </a:graphic>
      </p:graphicFrame>
      <p:graphicFrame>
        <p:nvGraphicFramePr>
          <p:cNvPr id="97" name="Object 41"/>
          <p:cNvGraphicFramePr>
            <a:graphicFrameLocks noChangeAspect="1"/>
          </p:cNvGraphicFramePr>
          <p:nvPr/>
        </p:nvGraphicFramePr>
        <p:xfrm>
          <a:off x="2602981" y="3455987"/>
          <a:ext cx="368300" cy="368300"/>
        </p:xfrm>
        <a:graphic>
          <a:graphicData uri="http://schemas.openxmlformats.org/presentationml/2006/ole">
            <p:oleObj spid="_x0000_s54284" name="CorelDRAW" r:id="rId14" imgW="585360" imgH="585360" progId="">
              <p:embed/>
            </p:oleObj>
          </a:graphicData>
        </a:graphic>
      </p:graphicFrame>
      <p:graphicFrame>
        <p:nvGraphicFramePr>
          <p:cNvPr id="98" name="Object 42"/>
          <p:cNvGraphicFramePr>
            <a:graphicFrameLocks noChangeAspect="1"/>
          </p:cNvGraphicFramePr>
          <p:nvPr/>
        </p:nvGraphicFramePr>
        <p:xfrm>
          <a:off x="3123681" y="1157287"/>
          <a:ext cx="368300" cy="368300"/>
        </p:xfrm>
        <a:graphic>
          <a:graphicData uri="http://schemas.openxmlformats.org/presentationml/2006/ole">
            <p:oleObj spid="_x0000_s54285" name="CorelDRAW" r:id="rId15" imgW="585360" imgH="585360" progId="">
              <p:embed/>
            </p:oleObj>
          </a:graphicData>
        </a:graphic>
      </p:graphicFrame>
      <p:graphicFrame>
        <p:nvGraphicFramePr>
          <p:cNvPr id="99" name="Object 43"/>
          <p:cNvGraphicFramePr>
            <a:graphicFrameLocks noChangeAspect="1"/>
          </p:cNvGraphicFramePr>
          <p:nvPr/>
        </p:nvGraphicFramePr>
        <p:xfrm>
          <a:off x="3047481" y="2071687"/>
          <a:ext cx="368300" cy="368300"/>
        </p:xfrm>
        <a:graphic>
          <a:graphicData uri="http://schemas.openxmlformats.org/presentationml/2006/ole">
            <p:oleObj spid="_x0000_s54286" name="CorelDRAW" r:id="rId16" imgW="585360" imgH="585360" progId="">
              <p:embed/>
            </p:oleObj>
          </a:graphicData>
        </a:graphic>
      </p:graphicFrame>
      <p:graphicFrame>
        <p:nvGraphicFramePr>
          <p:cNvPr id="100" name="Object 44"/>
          <p:cNvGraphicFramePr>
            <a:graphicFrameLocks noChangeAspect="1"/>
          </p:cNvGraphicFramePr>
          <p:nvPr/>
        </p:nvGraphicFramePr>
        <p:xfrm>
          <a:off x="3136381" y="3443287"/>
          <a:ext cx="368300" cy="368300"/>
        </p:xfrm>
        <a:graphic>
          <a:graphicData uri="http://schemas.openxmlformats.org/presentationml/2006/ole">
            <p:oleObj spid="_x0000_s54287" name="CorelDRAW" r:id="rId17" imgW="585360" imgH="585360" progId="">
              <p:embed/>
            </p:oleObj>
          </a:graphicData>
        </a:graphic>
      </p:graphicFrame>
      <p:sp>
        <p:nvSpPr>
          <p:cNvPr id="101" name="Text Box 45"/>
          <p:cNvSpPr txBox="1">
            <a:spLocks noChangeArrowheads="1"/>
          </p:cNvSpPr>
          <p:nvPr/>
        </p:nvSpPr>
        <p:spPr bwMode="auto">
          <a:xfrm>
            <a:off x="3504681" y="638175"/>
            <a:ext cx="1828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空间电荷区变窄</a:t>
            </a:r>
          </a:p>
        </p:txBody>
      </p:sp>
      <p:sp>
        <p:nvSpPr>
          <p:cNvPr id="102" name="Line 46"/>
          <p:cNvSpPr>
            <a:spLocks noChangeShapeType="1"/>
          </p:cNvSpPr>
          <p:nvPr/>
        </p:nvSpPr>
        <p:spPr bwMode="auto">
          <a:xfrm>
            <a:off x="3504681" y="1004887"/>
            <a:ext cx="1752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stealth" w="med" len="med"/>
            <a:tailEnd type="stealth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Line 47"/>
          <p:cNvSpPr>
            <a:spLocks noChangeShapeType="1"/>
          </p:cNvSpPr>
          <p:nvPr/>
        </p:nvSpPr>
        <p:spPr bwMode="auto">
          <a:xfrm flipH="1">
            <a:off x="8076681" y="2376487"/>
            <a:ext cx="4572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" name="Text Box 48"/>
          <p:cNvSpPr txBox="1">
            <a:spLocks noChangeArrowheads="1"/>
          </p:cNvSpPr>
          <p:nvPr/>
        </p:nvSpPr>
        <p:spPr bwMode="auto">
          <a:xfrm>
            <a:off x="610669" y="4032250"/>
            <a:ext cx="30972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1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 P</a:t>
            </a:r>
            <a:r>
              <a:rPr lang="zh-CN" altLang="en-US" sz="1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区的空穴进入空间电荷区和一部分负离子中和</a:t>
            </a:r>
            <a:endParaRPr lang="zh-CN" altLang="en-US" sz="2400" b="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05" name="Text Box 49"/>
          <p:cNvSpPr txBox="1">
            <a:spLocks noChangeArrowheads="1"/>
          </p:cNvSpPr>
          <p:nvPr/>
        </p:nvSpPr>
        <p:spPr bwMode="auto">
          <a:xfrm>
            <a:off x="4858819" y="4052887"/>
            <a:ext cx="37957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1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         N</a:t>
            </a:r>
            <a:r>
              <a:rPr lang="zh-CN" altLang="en-US" sz="1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区电子进入空间电荷</a:t>
            </a:r>
          </a:p>
          <a:p>
            <a:pPr algn="ctr" eaLnBrk="1" hangingPunct="1"/>
            <a:r>
              <a:rPr lang="zh-CN" altLang="en-US" sz="1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       区和一部分正 离子中和</a:t>
            </a:r>
          </a:p>
        </p:txBody>
      </p:sp>
      <p:graphicFrame>
        <p:nvGraphicFramePr>
          <p:cNvPr id="107" name="Object 51"/>
          <p:cNvGraphicFramePr>
            <a:graphicFrameLocks noChangeAspect="1"/>
          </p:cNvGraphicFramePr>
          <p:nvPr/>
        </p:nvGraphicFramePr>
        <p:xfrm>
          <a:off x="1371081" y="2300287"/>
          <a:ext cx="368300" cy="368300"/>
        </p:xfrm>
        <a:graphic>
          <a:graphicData uri="http://schemas.openxmlformats.org/presentationml/2006/ole">
            <p:oleObj spid="_x0000_s54288" name="CorelDRAW" r:id="rId18" imgW="585360" imgH="585360" progId="">
              <p:embed/>
            </p:oleObj>
          </a:graphicData>
        </a:graphic>
      </p:graphicFrame>
      <p:graphicFrame>
        <p:nvGraphicFramePr>
          <p:cNvPr id="108" name="Object 52"/>
          <p:cNvGraphicFramePr>
            <a:graphicFrameLocks noChangeAspect="1"/>
          </p:cNvGraphicFramePr>
          <p:nvPr/>
        </p:nvGraphicFramePr>
        <p:xfrm>
          <a:off x="7086081" y="2376487"/>
          <a:ext cx="304800" cy="304800"/>
        </p:xfrm>
        <a:graphic>
          <a:graphicData uri="http://schemas.openxmlformats.org/presentationml/2006/ole">
            <p:oleObj spid="_x0000_s54289" name="CorelDRAW" r:id="rId19" imgW="558720" imgH="558720" progId="">
              <p:embed/>
            </p:oleObj>
          </a:graphicData>
        </a:graphic>
      </p:graphicFrame>
      <p:sp>
        <p:nvSpPr>
          <p:cNvPr id="109" name="Oval 53"/>
          <p:cNvSpPr>
            <a:spLocks noChangeArrowheads="1"/>
          </p:cNvSpPr>
          <p:nvPr/>
        </p:nvSpPr>
        <p:spPr bwMode="auto">
          <a:xfrm>
            <a:off x="1980681" y="1225550"/>
            <a:ext cx="457200" cy="457200"/>
          </a:xfrm>
          <a:prstGeom prst="ellipse">
            <a:avLst/>
          </a:prstGeom>
          <a:solidFill>
            <a:srgbClr val="118ABB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" name="Oval 54"/>
          <p:cNvSpPr>
            <a:spLocks noChangeArrowheads="1"/>
          </p:cNvSpPr>
          <p:nvPr/>
        </p:nvSpPr>
        <p:spPr bwMode="auto">
          <a:xfrm>
            <a:off x="1980681" y="1919287"/>
            <a:ext cx="381000" cy="457200"/>
          </a:xfrm>
          <a:prstGeom prst="ellipse">
            <a:avLst/>
          </a:prstGeom>
          <a:solidFill>
            <a:srgbClr val="118ABB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" name="Oval 55"/>
          <p:cNvSpPr>
            <a:spLocks noChangeArrowheads="1"/>
          </p:cNvSpPr>
          <p:nvPr/>
        </p:nvSpPr>
        <p:spPr bwMode="auto">
          <a:xfrm>
            <a:off x="2056881" y="3519487"/>
            <a:ext cx="457200" cy="374650"/>
          </a:xfrm>
          <a:prstGeom prst="ellipse">
            <a:avLst/>
          </a:prstGeom>
          <a:solidFill>
            <a:srgbClr val="118ABB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" name="Oval 56"/>
          <p:cNvSpPr>
            <a:spLocks noChangeArrowheads="1"/>
          </p:cNvSpPr>
          <p:nvPr/>
        </p:nvSpPr>
        <p:spPr bwMode="auto">
          <a:xfrm>
            <a:off x="6552681" y="1233487"/>
            <a:ext cx="381000" cy="381000"/>
          </a:xfrm>
          <a:prstGeom prst="ellipse">
            <a:avLst/>
          </a:prstGeom>
          <a:solidFill>
            <a:srgbClr val="118ABB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" name="Oval 57"/>
          <p:cNvSpPr>
            <a:spLocks noChangeArrowheads="1"/>
          </p:cNvSpPr>
          <p:nvPr/>
        </p:nvSpPr>
        <p:spPr bwMode="auto">
          <a:xfrm>
            <a:off x="6476481" y="2528887"/>
            <a:ext cx="381000" cy="457200"/>
          </a:xfrm>
          <a:prstGeom prst="ellipse">
            <a:avLst/>
          </a:prstGeom>
          <a:solidFill>
            <a:srgbClr val="118ABB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" name="Oval 58"/>
          <p:cNvSpPr>
            <a:spLocks noChangeArrowheads="1"/>
          </p:cNvSpPr>
          <p:nvPr/>
        </p:nvSpPr>
        <p:spPr bwMode="auto">
          <a:xfrm>
            <a:off x="6324081" y="3367087"/>
            <a:ext cx="381000" cy="457200"/>
          </a:xfrm>
          <a:prstGeom prst="ellipse">
            <a:avLst/>
          </a:prstGeom>
          <a:solidFill>
            <a:srgbClr val="118ABB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" name="Rectangle 70"/>
          <p:cNvSpPr>
            <a:spLocks noChangeArrowheads="1"/>
          </p:cNvSpPr>
          <p:nvPr/>
        </p:nvSpPr>
        <p:spPr bwMode="auto">
          <a:xfrm rot="10800000">
            <a:off x="8567219" y="3313112"/>
            <a:ext cx="215900" cy="431800"/>
          </a:xfrm>
          <a:prstGeom prst="rect">
            <a:avLst/>
          </a:prstGeom>
          <a:gradFill rotWithShape="1">
            <a:gsLst>
              <a:gs pos="0">
                <a:srgbClr val="76762F"/>
              </a:gs>
              <a:gs pos="50000">
                <a:srgbClr val="FFFF66"/>
              </a:gs>
              <a:gs pos="100000">
                <a:srgbClr val="76762F"/>
              </a:gs>
            </a:gsLst>
            <a:lin ang="0" scaled="1"/>
          </a:gradFill>
          <a:ln w="381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5" name="Group 66"/>
          <p:cNvGrpSpPr>
            <a:grpSpLocks/>
          </p:cNvGrpSpPr>
          <p:nvPr/>
        </p:nvGrpSpPr>
        <p:grpSpPr bwMode="auto">
          <a:xfrm>
            <a:off x="424764" y="193638"/>
            <a:ext cx="2590800" cy="519112"/>
            <a:chOff x="295" y="663"/>
            <a:chExt cx="1632" cy="327"/>
          </a:xfrm>
        </p:grpSpPr>
        <p:sp>
          <p:nvSpPr>
            <p:cNvPr id="119" name="Text Box 4"/>
            <p:cNvSpPr txBox="1">
              <a:spLocks noChangeArrowheads="1"/>
            </p:cNvSpPr>
            <p:nvPr/>
          </p:nvSpPr>
          <p:spPr bwMode="auto">
            <a:xfrm>
              <a:off x="435" y="663"/>
              <a:ext cx="149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外加正向电压</a:t>
              </a:r>
            </a:p>
          </p:txBody>
        </p:sp>
        <p:sp>
          <p:nvSpPr>
            <p:cNvPr id="120" name="Oval 64"/>
            <p:cNvSpPr>
              <a:spLocks noChangeArrowheads="1"/>
            </p:cNvSpPr>
            <p:nvPr/>
          </p:nvSpPr>
          <p:spPr bwMode="auto">
            <a:xfrm>
              <a:off x="295" y="754"/>
              <a:ext cx="136" cy="136"/>
            </a:xfrm>
            <a:prstGeom prst="ellipse">
              <a:avLst/>
            </a:prstGeom>
            <a:solidFill>
              <a:srgbClr val="FF9900"/>
            </a:solidFill>
            <a:ln w="349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1" name="Text Box 50"/>
          <p:cNvSpPr txBox="1">
            <a:spLocks noChangeArrowheads="1"/>
          </p:cNvSpPr>
          <p:nvPr/>
        </p:nvSpPr>
        <p:spPr bwMode="auto">
          <a:xfrm>
            <a:off x="2876550" y="172123"/>
            <a:ext cx="54713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扩散运动增强，形成较大的正向电流。</a:t>
            </a:r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500"/>
                            </p:stCondLst>
                            <p:childTnLst>
                              <p:par>
                                <p:cTn id="6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500"/>
                            </p:stCondLst>
                            <p:childTnLst>
                              <p:par>
                                <p:cTn id="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7500"/>
                            </p:stCondLst>
                            <p:childTnLst>
                              <p:par>
                                <p:cTn id="8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8000"/>
                            </p:stCondLst>
                            <p:childTnLst>
                              <p:par>
                                <p:cTn id="9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500"/>
                            </p:stCondLst>
                            <p:childTnLst>
                              <p:par>
                                <p:cTn id="10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17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500"/>
                            </p:stCondLst>
                            <p:childTnLst>
                              <p:par>
                                <p:cTn id="1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3000"/>
                            </p:stCondLst>
                            <p:childTnLst>
                              <p:par>
                                <p:cTn id="1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3500"/>
                            </p:stCondLst>
                            <p:childTnLst>
                              <p:par>
                                <p:cTn id="126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4000"/>
                            </p:stCondLst>
                            <p:childTnLst>
                              <p:par>
                                <p:cTn id="1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4500"/>
                            </p:stCondLst>
                            <p:childTnLst>
                              <p:par>
                                <p:cTn id="1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000"/>
                            </p:stCondLst>
                            <p:childTnLst>
                              <p:par>
                                <p:cTn id="1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50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000"/>
                            </p:stCondLst>
                            <p:childTnLst>
                              <p:par>
                                <p:cTn id="149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2500"/>
                            </p:stCondLst>
                            <p:childTnLst>
                              <p:par>
                                <p:cTn id="1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3500"/>
                            </p:stCondLst>
                            <p:childTnLst>
                              <p:par>
                                <p:cTn id="158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4000"/>
                            </p:stCondLst>
                            <p:childTnLst>
                              <p:par>
                                <p:cTn id="1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4500"/>
                            </p:stCondLst>
                            <p:childTnLst>
                              <p:par>
                                <p:cTn id="16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500"/>
                            </p:stCondLst>
                            <p:childTnLst>
                              <p:par>
                                <p:cTn id="17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1000"/>
                            </p:stCondLst>
                            <p:childTnLst>
                              <p:par>
                                <p:cTn id="17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500"/>
                            </p:stCondLst>
                            <p:childTnLst>
                              <p:par>
                                <p:cTn id="18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2000"/>
                            </p:stCondLst>
                            <p:childTnLst>
                              <p:par>
                                <p:cTn id="18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3000"/>
                            </p:stCondLst>
                            <p:childTnLst>
                              <p:par>
                                <p:cTn id="19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3500"/>
                            </p:stCondLst>
                            <p:childTnLst>
                              <p:par>
                                <p:cTn id="193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4500"/>
                            </p:stCondLst>
                            <p:childTnLst>
                              <p:par>
                                <p:cTn id="203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5000"/>
                            </p:stCondLst>
                            <p:childTnLst>
                              <p:par>
                                <p:cTn id="2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5500"/>
                            </p:stCondLst>
                            <p:childTnLst>
                              <p:par>
                                <p:cTn id="213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2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6500"/>
                            </p:stCondLst>
                            <p:childTnLst>
                              <p:par>
                                <p:cTn id="224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99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utoUpdateAnimBg="0"/>
      <p:bldP spid="79" grpId="0" animBg="1"/>
      <p:bldP spid="80" grpId="0" autoUpdateAnimBg="0"/>
      <p:bldP spid="81" grpId="0" autoUpdateAnimBg="0"/>
      <p:bldP spid="82" grpId="0" animBg="1"/>
      <p:bldP spid="83" grpId="0" autoUpdateAnimBg="0"/>
      <p:bldP spid="85" grpId="0" animBg="1"/>
      <p:bldP spid="86" grpId="0" animBg="1"/>
      <p:bldP spid="87" grpId="0" animBg="1"/>
      <p:bldP spid="101" grpId="0" autoUpdateAnimBg="0"/>
      <p:bldP spid="102" grpId="0" animBg="1"/>
      <p:bldP spid="103" grpId="0" animBg="1"/>
      <p:bldP spid="104" grpId="0" autoUpdateAnimBg="0"/>
      <p:bldP spid="105" grpId="0" autoUpdateAnimBg="0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8" grpId="0" animBg="1"/>
      <p:bldP spid="12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66"/>
          <p:cNvGrpSpPr>
            <a:grpSpLocks/>
          </p:cNvGrpSpPr>
          <p:nvPr/>
        </p:nvGrpSpPr>
        <p:grpSpPr bwMode="auto">
          <a:xfrm>
            <a:off x="424764" y="193639"/>
            <a:ext cx="2590800" cy="523875"/>
            <a:chOff x="295" y="663"/>
            <a:chExt cx="1632" cy="330"/>
          </a:xfrm>
        </p:grpSpPr>
        <p:sp>
          <p:nvSpPr>
            <p:cNvPr id="57" name="Text Box 4"/>
            <p:cNvSpPr txBox="1">
              <a:spLocks noChangeArrowheads="1"/>
            </p:cNvSpPr>
            <p:nvPr/>
          </p:nvSpPr>
          <p:spPr bwMode="auto">
            <a:xfrm>
              <a:off x="435" y="663"/>
              <a:ext cx="149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外加反向电压</a:t>
              </a:r>
              <a:endPara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endParaRPr>
            </a:p>
          </p:txBody>
        </p:sp>
        <p:sp>
          <p:nvSpPr>
            <p:cNvPr id="58" name="Oval 64"/>
            <p:cNvSpPr>
              <a:spLocks noChangeArrowheads="1"/>
            </p:cNvSpPr>
            <p:nvPr/>
          </p:nvSpPr>
          <p:spPr bwMode="auto">
            <a:xfrm>
              <a:off x="295" y="754"/>
              <a:ext cx="136" cy="136"/>
            </a:xfrm>
            <a:prstGeom prst="ellipse">
              <a:avLst/>
            </a:prstGeom>
            <a:solidFill>
              <a:srgbClr val="FF9900"/>
            </a:solidFill>
            <a:ln w="349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59" name="Picture 2" descr="备份_图形15(b)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79583" y="961726"/>
            <a:ext cx="65532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" name="Picture 3" descr="图形1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68833" y="2266651"/>
            <a:ext cx="11113" cy="11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" name="Line 5"/>
          <p:cNvSpPr>
            <a:spLocks noChangeShapeType="1"/>
          </p:cNvSpPr>
          <p:nvPr/>
        </p:nvSpPr>
        <p:spPr bwMode="auto">
          <a:xfrm flipV="1">
            <a:off x="2722583" y="809326"/>
            <a:ext cx="3886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stealth" w="med" len="med"/>
            <a:tailEnd type="stealth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Rectangle 7"/>
          <p:cNvSpPr>
            <a:spLocks noChangeArrowheads="1"/>
          </p:cNvSpPr>
          <p:nvPr/>
        </p:nvSpPr>
        <p:spPr bwMode="auto">
          <a:xfrm>
            <a:off x="3636983" y="352126"/>
            <a:ext cx="228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空间电荷区变宽</a:t>
            </a:r>
            <a:r>
              <a:rPr lang="zh-CN" altLang="en-US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</a:p>
        </p:txBody>
      </p:sp>
      <p:graphicFrame>
        <p:nvGraphicFramePr>
          <p:cNvPr id="63" name="Object 8"/>
          <p:cNvGraphicFramePr>
            <a:graphicFrameLocks noChangeAspect="1"/>
          </p:cNvGraphicFramePr>
          <p:nvPr/>
        </p:nvGraphicFramePr>
        <p:xfrm>
          <a:off x="3560783" y="1418926"/>
          <a:ext cx="369888" cy="369888"/>
        </p:xfrm>
        <a:graphic>
          <a:graphicData uri="http://schemas.openxmlformats.org/presentationml/2006/ole">
            <p:oleObj spid="_x0000_s8206" name="CorelDRAW" r:id="rId6" imgW="585360" imgH="585360" progId="">
              <p:embed/>
            </p:oleObj>
          </a:graphicData>
        </a:graphic>
      </p:graphicFrame>
      <p:graphicFrame>
        <p:nvGraphicFramePr>
          <p:cNvPr id="64" name="Object 9"/>
          <p:cNvGraphicFramePr>
            <a:graphicFrameLocks noChangeAspect="1"/>
          </p:cNvGraphicFramePr>
          <p:nvPr/>
        </p:nvGraphicFramePr>
        <p:xfrm>
          <a:off x="3636983" y="2942926"/>
          <a:ext cx="369888" cy="369888"/>
        </p:xfrm>
        <a:graphic>
          <a:graphicData uri="http://schemas.openxmlformats.org/presentationml/2006/ole">
            <p:oleObj spid="_x0000_s8207" name="CorelDRAW" r:id="rId7" imgW="585360" imgH="585360" progId="">
              <p:embed/>
            </p:oleObj>
          </a:graphicData>
        </a:graphic>
      </p:graphicFrame>
      <p:graphicFrame>
        <p:nvGraphicFramePr>
          <p:cNvPr id="65" name="Object 10"/>
          <p:cNvGraphicFramePr>
            <a:graphicFrameLocks noChangeAspect="1"/>
          </p:cNvGraphicFramePr>
          <p:nvPr/>
        </p:nvGraphicFramePr>
        <p:xfrm>
          <a:off x="3027383" y="1342726"/>
          <a:ext cx="369888" cy="369888"/>
        </p:xfrm>
        <a:graphic>
          <a:graphicData uri="http://schemas.openxmlformats.org/presentationml/2006/ole">
            <p:oleObj spid="_x0000_s8208" name="CorelDRAW" r:id="rId8" imgW="585360" imgH="585360" progId="">
              <p:embed/>
            </p:oleObj>
          </a:graphicData>
        </a:graphic>
      </p:graphicFrame>
      <p:graphicFrame>
        <p:nvGraphicFramePr>
          <p:cNvPr id="66" name="Object 11"/>
          <p:cNvGraphicFramePr>
            <a:graphicFrameLocks noChangeAspect="1"/>
          </p:cNvGraphicFramePr>
          <p:nvPr/>
        </p:nvGraphicFramePr>
        <p:xfrm>
          <a:off x="3027383" y="2942926"/>
          <a:ext cx="369888" cy="369888"/>
        </p:xfrm>
        <a:graphic>
          <a:graphicData uri="http://schemas.openxmlformats.org/presentationml/2006/ole">
            <p:oleObj spid="_x0000_s8209" name="CorelDRAW" r:id="rId9" imgW="585360" imgH="585360" progId="">
              <p:embed/>
            </p:oleObj>
          </a:graphicData>
        </a:graphic>
      </p:graphicFrame>
      <p:graphicFrame>
        <p:nvGraphicFramePr>
          <p:cNvPr id="67" name="Object 12"/>
          <p:cNvGraphicFramePr>
            <a:graphicFrameLocks noChangeAspect="1"/>
          </p:cNvGraphicFramePr>
          <p:nvPr/>
        </p:nvGraphicFramePr>
        <p:xfrm>
          <a:off x="6151583" y="2942926"/>
          <a:ext cx="381000" cy="381000"/>
        </p:xfrm>
        <a:graphic>
          <a:graphicData uri="http://schemas.openxmlformats.org/presentationml/2006/ole">
            <p:oleObj spid="_x0000_s8210" name="CorelDRAW" r:id="rId10" imgW="558720" imgH="558720" progId="">
              <p:embed/>
            </p:oleObj>
          </a:graphicData>
        </a:graphic>
      </p:graphicFrame>
      <p:graphicFrame>
        <p:nvGraphicFramePr>
          <p:cNvPr id="68" name="Object 13"/>
          <p:cNvGraphicFramePr>
            <a:graphicFrameLocks noChangeAspect="1"/>
          </p:cNvGraphicFramePr>
          <p:nvPr/>
        </p:nvGraphicFramePr>
        <p:xfrm>
          <a:off x="6075383" y="2180926"/>
          <a:ext cx="381000" cy="381000"/>
        </p:xfrm>
        <a:graphic>
          <a:graphicData uri="http://schemas.openxmlformats.org/presentationml/2006/ole">
            <p:oleObj spid="_x0000_s8211" name="CorelDRAW" r:id="rId11" imgW="558720" imgH="558720" progId="">
              <p:embed/>
            </p:oleObj>
          </a:graphicData>
        </a:graphic>
      </p:graphicFrame>
      <p:graphicFrame>
        <p:nvGraphicFramePr>
          <p:cNvPr id="69" name="Object 14"/>
          <p:cNvGraphicFramePr>
            <a:graphicFrameLocks noChangeAspect="1"/>
          </p:cNvGraphicFramePr>
          <p:nvPr/>
        </p:nvGraphicFramePr>
        <p:xfrm>
          <a:off x="5541983" y="2104726"/>
          <a:ext cx="381000" cy="381000"/>
        </p:xfrm>
        <a:graphic>
          <a:graphicData uri="http://schemas.openxmlformats.org/presentationml/2006/ole">
            <p:oleObj spid="_x0000_s8212" name="CorelDRAW" r:id="rId12" imgW="558720" imgH="558720" progId="">
              <p:embed/>
            </p:oleObj>
          </a:graphicData>
        </a:graphic>
      </p:graphicFrame>
      <p:graphicFrame>
        <p:nvGraphicFramePr>
          <p:cNvPr id="70" name="Object 15"/>
          <p:cNvGraphicFramePr>
            <a:graphicFrameLocks noChangeAspect="1"/>
          </p:cNvGraphicFramePr>
          <p:nvPr/>
        </p:nvGraphicFramePr>
        <p:xfrm>
          <a:off x="5465783" y="2654001"/>
          <a:ext cx="381000" cy="381000"/>
        </p:xfrm>
        <a:graphic>
          <a:graphicData uri="http://schemas.openxmlformats.org/presentationml/2006/ole">
            <p:oleObj spid="_x0000_s8213" name="CorelDRAW" r:id="rId13" imgW="558720" imgH="558720" progId="">
              <p:embed/>
            </p:oleObj>
          </a:graphicData>
        </a:graphic>
      </p:graphicFrame>
      <p:sp>
        <p:nvSpPr>
          <p:cNvPr id="71" name="Line 16"/>
          <p:cNvSpPr>
            <a:spLocks noChangeShapeType="1"/>
          </p:cNvSpPr>
          <p:nvPr/>
        </p:nvSpPr>
        <p:spPr bwMode="auto">
          <a:xfrm flipV="1">
            <a:off x="2112983" y="2866726"/>
            <a:ext cx="22320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Line 17"/>
          <p:cNvSpPr>
            <a:spLocks noChangeShapeType="1"/>
          </p:cNvSpPr>
          <p:nvPr/>
        </p:nvSpPr>
        <p:spPr bwMode="auto">
          <a:xfrm>
            <a:off x="1503383" y="2196801"/>
            <a:ext cx="0" cy="457200"/>
          </a:xfrm>
          <a:prstGeom prst="line">
            <a:avLst/>
          </a:prstGeom>
          <a:noFill/>
          <a:ln w="88900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Line 18"/>
          <p:cNvSpPr>
            <a:spLocks noChangeShapeType="1"/>
          </p:cNvSpPr>
          <p:nvPr/>
        </p:nvSpPr>
        <p:spPr bwMode="auto">
          <a:xfrm>
            <a:off x="8208983" y="2257126"/>
            <a:ext cx="0" cy="457200"/>
          </a:xfrm>
          <a:prstGeom prst="line">
            <a:avLst/>
          </a:prstGeom>
          <a:noFill/>
          <a:ln w="88900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Line 19"/>
          <p:cNvSpPr>
            <a:spLocks noChangeShapeType="1"/>
          </p:cNvSpPr>
          <p:nvPr/>
        </p:nvSpPr>
        <p:spPr bwMode="auto">
          <a:xfrm>
            <a:off x="8666183" y="2501601"/>
            <a:ext cx="0" cy="2286000"/>
          </a:xfrm>
          <a:prstGeom prst="line">
            <a:avLst/>
          </a:prstGeom>
          <a:noFill/>
          <a:ln w="349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Line 20"/>
          <p:cNvSpPr>
            <a:spLocks noChangeShapeType="1"/>
          </p:cNvSpPr>
          <p:nvPr/>
        </p:nvSpPr>
        <p:spPr bwMode="auto">
          <a:xfrm>
            <a:off x="8208983" y="2501601"/>
            <a:ext cx="457200" cy="0"/>
          </a:xfrm>
          <a:prstGeom prst="line">
            <a:avLst/>
          </a:prstGeom>
          <a:noFill/>
          <a:ln w="349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Line 22"/>
          <p:cNvSpPr>
            <a:spLocks noChangeShapeType="1"/>
          </p:cNvSpPr>
          <p:nvPr/>
        </p:nvSpPr>
        <p:spPr bwMode="auto">
          <a:xfrm>
            <a:off x="817583" y="4787601"/>
            <a:ext cx="3429000" cy="0"/>
          </a:xfrm>
          <a:prstGeom prst="line">
            <a:avLst/>
          </a:prstGeom>
          <a:noFill/>
          <a:ln w="349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Line 23"/>
          <p:cNvSpPr>
            <a:spLocks noChangeShapeType="1"/>
          </p:cNvSpPr>
          <p:nvPr/>
        </p:nvSpPr>
        <p:spPr bwMode="auto">
          <a:xfrm>
            <a:off x="817583" y="2425401"/>
            <a:ext cx="0" cy="2362200"/>
          </a:xfrm>
          <a:prstGeom prst="line">
            <a:avLst/>
          </a:prstGeom>
          <a:noFill/>
          <a:ln w="349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Line 24"/>
          <p:cNvSpPr>
            <a:spLocks noChangeShapeType="1"/>
          </p:cNvSpPr>
          <p:nvPr/>
        </p:nvSpPr>
        <p:spPr bwMode="auto">
          <a:xfrm>
            <a:off x="817583" y="2425401"/>
            <a:ext cx="609600" cy="0"/>
          </a:xfrm>
          <a:prstGeom prst="line">
            <a:avLst/>
          </a:prstGeom>
          <a:noFill/>
          <a:ln w="349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Line 25"/>
          <p:cNvSpPr>
            <a:spLocks noChangeShapeType="1"/>
          </p:cNvSpPr>
          <p:nvPr/>
        </p:nvSpPr>
        <p:spPr bwMode="auto">
          <a:xfrm>
            <a:off x="4403746" y="4578051"/>
            <a:ext cx="0" cy="4572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Line 26"/>
          <p:cNvSpPr>
            <a:spLocks noChangeShapeType="1"/>
          </p:cNvSpPr>
          <p:nvPr/>
        </p:nvSpPr>
        <p:spPr bwMode="auto">
          <a:xfrm>
            <a:off x="4246583" y="4635201"/>
            <a:ext cx="0" cy="3048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Line 27"/>
          <p:cNvSpPr>
            <a:spLocks noChangeShapeType="1"/>
          </p:cNvSpPr>
          <p:nvPr/>
        </p:nvSpPr>
        <p:spPr bwMode="auto">
          <a:xfrm>
            <a:off x="4703783" y="4559001"/>
            <a:ext cx="0" cy="4572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Line 28"/>
          <p:cNvSpPr>
            <a:spLocks noChangeShapeType="1"/>
          </p:cNvSpPr>
          <p:nvPr/>
        </p:nvSpPr>
        <p:spPr bwMode="auto">
          <a:xfrm>
            <a:off x="4551383" y="4635201"/>
            <a:ext cx="0" cy="3048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Line 29"/>
          <p:cNvSpPr>
            <a:spLocks noChangeShapeType="1"/>
          </p:cNvSpPr>
          <p:nvPr/>
        </p:nvSpPr>
        <p:spPr bwMode="auto">
          <a:xfrm flipV="1">
            <a:off x="4094183" y="4635201"/>
            <a:ext cx="838200" cy="2286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Line 30"/>
          <p:cNvSpPr>
            <a:spLocks noChangeShapeType="1"/>
          </p:cNvSpPr>
          <p:nvPr/>
        </p:nvSpPr>
        <p:spPr bwMode="auto">
          <a:xfrm>
            <a:off x="4703783" y="4787601"/>
            <a:ext cx="3962400" cy="0"/>
          </a:xfrm>
          <a:prstGeom prst="line">
            <a:avLst/>
          </a:prstGeom>
          <a:noFill/>
          <a:ln w="349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Line 31"/>
          <p:cNvSpPr>
            <a:spLocks noChangeShapeType="1"/>
          </p:cNvSpPr>
          <p:nvPr/>
        </p:nvSpPr>
        <p:spPr bwMode="auto">
          <a:xfrm flipH="1">
            <a:off x="4072948" y="3704168"/>
            <a:ext cx="1219200" cy="0"/>
          </a:xfrm>
          <a:prstGeom prst="line">
            <a:avLst/>
          </a:prstGeom>
          <a:noFill/>
          <a:ln w="19050">
            <a:solidFill>
              <a:srgbClr val="FFFF66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Line 32"/>
          <p:cNvSpPr>
            <a:spLocks noChangeShapeType="1"/>
          </p:cNvSpPr>
          <p:nvPr/>
        </p:nvSpPr>
        <p:spPr bwMode="auto">
          <a:xfrm flipH="1">
            <a:off x="3930507" y="4014541"/>
            <a:ext cx="1219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Text Box 33"/>
          <p:cNvSpPr txBox="1">
            <a:spLocks noChangeArrowheads="1"/>
          </p:cNvSpPr>
          <p:nvPr/>
        </p:nvSpPr>
        <p:spPr bwMode="auto">
          <a:xfrm>
            <a:off x="4278716" y="3265469"/>
            <a:ext cx="1143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内电场</a:t>
            </a:r>
          </a:p>
        </p:txBody>
      </p:sp>
      <p:sp>
        <p:nvSpPr>
          <p:cNvPr id="88" name="Text Box 34"/>
          <p:cNvSpPr txBox="1">
            <a:spLocks noChangeArrowheads="1"/>
          </p:cNvSpPr>
          <p:nvPr/>
        </p:nvSpPr>
        <p:spPr bwMode="auto">
          <a:xfrm>
            <a:off x="4169324" y="4005242"/>
            <a:ext cx="1066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外电场</a:t>
            </a:r>
          </a:p>
        </p:txBody>
      </p:sp>
      <p:sp>
        <p:nvSpPr>
          <p:cNvPr id="90" name="Text Box 36"/>
          <p:cNvSpPr txBox="1">
            <a:spLocks noChangeArrowheads="1"/>
          </p:cNvSpPr>
          <p:nvPr/>
        </p:nvSpPr>
        <p:spPr bwMode="auto">
          <a:xfrm>
            <a:off x="908126" y="4030345"/>
            <a:ext cx="2438400" cy="701675"/>
          </a:xfrm>
          <a:prstGeom prst="rect">
            <a:avLst/>
          </a:prstGeom>
          <a:noFill/>
          <a:ln w="317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少子越过</a:t>
            </a:r>
            <a:r>
              <a:rPr lang="en-US" altLang="zh-CN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PN</a:t>
            </a:r>
            <a:r>
              <a:rPr lang="zh-CN" altLang="en-US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结形成很小的反向电流</a:t>
            </a:r>
          </a:p>
        </p:txBody>
      </p:sp>
      <p:sp>
        <p:nvSpPr>
          <p:cNvPr id="91" name="Text Box 37"/>
          <p:cNvSpPr txBox="1">
            <a:spLocks noChangeArrowheads="1"/>
          </p:cNvSpPr>
          <p:nvPr/>
        </p:nvSpPr>
        <p:spPr bwMode="auto">
          <a:xfrm>
            <a:off x="969983" y="3217564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i="1" dirty="0">
                <a:solidFill>
                  <a:schemeClr val="tx1"/>
                </a:solidFill>
                <a:ea typeface="宋体" charset="-122"/>
              </a:rPr>
              <a:t>I</a:t>
            </a:r>
            <a:r>
              <a:rPr lang="en-US" altLang="zh-CN" sz="2000" baseline="-25000" dirty="0">
                <a:solidFill>
                  <a:schemeClr val="tx1"/>
                </a:solidFill>
                <a:ea typeface="宋体" charset="-122"/>
              </a:rPr>
              <a:t>R</a:t>
            </a:r>
          </a:p>
        </p:txBody>
      </p:sp>
      <p:sp>
        <p:nvSpPr>
          <p:cNvPr id="92" name="Line 38"/>
          <p:cNvSpPr>
            <a:spLocks noChangeShapeType="1"/>
          </p:cNvSpPr>
          <p:nvPr/>
        </p:nvSpPr>
        <p:spPr bwMode="auto">
          <a:xfrm>
            <a:off x="969983" y="3035001"/>
            <a:ext cx="0" cy="990600"/>
          </a:xfrm>
          <a:prstGeom prst="line">
            <a:avLst/>
          </a:prstGeom>
          <a:noFill/>
          <a:ln w="22225">
            <a:solidFill>
              <a:srgbClr val="0070C0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Line 39"/>
          <p:cNvSpPr>
            <a:spLocks noChangeShapeType="1"/>
          </p:cNvSpPr>
          <p:nvPr/>
        </p:nvSpPr>
        <p:spPr bwMode="auto">
          <a:xfrm>
            <a:off x="2730652" y="688489"/>
            <a:ext cx="0" cy="3190352"/>
          </a:xfrm>
          <a:prstGeom prst="line">
            <a:avLst/>
          </a:prstGeom>
          <a:noFill/>
          <a:ln w="25400">
            <a:solidFill>
              <a:srgbClr val="542A00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Line 40"/>
          <p:cNvSpPr>
            <a:spLocks noChangeShapeType="1"/>
          </p:cNvSpPr>
          <p:nvPr/>
        </p:nvSpPr>
        <p:spPr bwMode="auto">
          <a:xfrm>
            <a:off x="6617749" y="677732"/>
            <a:ext cx="0" cy="3179594"/>
          </a:xfrm>
          <a:prstGeom prst="line">
            <a:avLst/>
          </a:prstGeom>
          <a:noFill/>
          <a:ln w="25400">
            <a:solidFill>
              <a:srgbClr val="542A00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Text Box 41"/>
          <p:cNvSpPr txBox="1">
            <a:spLocks noChangeArrowheads="1"/>
          </p:cNvSpPr>
          <p:nvPr/>
        </p:nvSpPr>
        <p:spPr bwMode="auto">
          <a:xfrm>
            <a:off x="3898304" y="4364430"/>
            <a:ext cx="762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i="1" dirty="0">
                <a:solidFill>
                  <a:schemeClr val="tx1"/>
                </a:solidFill>
                <a:ea typeface="宋体" charset="-122"/>
              </a:rPr>
              <a:t>E</a:t>
            </a:r>
          </a:p>
        </p:txBody>
      </p:sp>
      <p:sp>
        <p:nvSpPr>
          <p:cNvPr id="96" name="Line 42"/>
          <p:cNvSpPr>
            <a:spLocks noChangeShapeType="1"/>
          </p:cNvSpPr>
          <p:nvPr/>
        </p:nvSpPr>
        <p:spPr bwMode="auto">
          <a:xfrm flipH="1" flipV="1">
            <a:off x="3789383" y="1952326"/>
            <a:ext cx="30240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7" name="Object 43"/>
          <p:cNvGraphicFramePr>
            <a:graphicFrameLocks noChangeAspect="1"/>
          </p:cNvGraphicFramePr>
          <p:nvPr/>
        </p:nvGraphicFramePr>
        <p:xfrm>
          <a:off x="6913583" y="2942926"/>
          <a:ext cx="381000" cy="381000"/>
        </p:xfrm>
        <a:graphic>
          <a:graphicData uri="http://schemas.openxmlformats.org/presentationml/2006/ole">
            <p:oleObj spid="_x0000_s8214" name="CorelDRAW" r:id="rId14" imgW="558720" imgH="558720" progId="">
              <p:embed/>
            </p:oleObj>
          </a:graphicData>
        </a:graphic>
      </p:graphicFrame>
      <p:graphicFrame>
        <p:nvGraphicFramePr>
          <p:cNvPr id="98" name="Object 44"/>
          <p:cNvGraphicFramePr>
            <a:graphicFrameLocks noChangeAspect="1"/>
          </p:cNvGraphicFramePr>
          <p:nvPr/>
        </p:nvGraphicFramePr>
        <p:xfrm>
          <a:off x="6761183" y="2104726"/>
          <a:ext cx="381000" cy="381000"/>
        </p:xfrm>
        <a:graphic>
          <a:graphicData uri="http://schemas.openxmlformats.org/presentationml/2006/ole">
            <p:oleObj spid="_x0000_s8215" name="CorelDRAW" r:id="rId15" imgW="558720" imgH="558720" progId="">
              <p:embed/>
            </p:oleObj>
          </a:graphicData>
        </a:graphic>
      </p:graphicFrame>
      <p:graphicFrame>
        <p:nvGraphicFramePr>
          <p:cNvPr id="99" name="Object 45"/>
          <p:cNvGraphicFramePr>
            <a:graphicFrameLocks noChangeAspect="1"/>
          </p:cNvGraphicFramePr>
          <p:nvPr/>
        </p:nvGraphicFramePr>
        <p:xfrm>
          <a:off x="2112983" y="1418926"/>
          <a:ext cx="369888" cy="369888"/>
        </p:xfrm>
        <a:graphic>
          <a:graphicData uri="http://schemas.openxmlformats.org/presentationml/2006/ole">
            <p:oleObj spid="_x0000_s8216" name="CorelDRAW" r:id="rId16" imgW="585360" imgH="585360" progId="">
              <p:embed/>
            </p:oleObj>
          </a:graphicData>
        </a:graphic>
      </p:graphicFrame>
      <p:graphicFrame>
        <p:nvGraphicFramePr>
          <p:cNvPr id="100" name="Object 46"/>
          <p:cNvGraphicFramePr>
            <a:graphicFrameLocks noChangeAspect="1"/>
          </p:cNvGraphicFramePr>
          <p:nvPr/>
        </p:nvGraphicFramePr>
        <p:xfrm>
          <a:off x="2265383" y="3019126"/>
          <a:ext cx="369888" cy="369888"/>
        </p:xfrm>
        <a:graphic>
          <a:graphicData uri="http://schemas.openxmlformats.org/presentationml/2006/ole">
            <p:oleObj spid="_x0000_s8217" name="CorelDRAW" r:id="rId17" imgW="585360" imgH="585360" progId="">
              <p:embed/>
            </p:oleObj>
          </a:graphicData>
        </a:graphic>
      </p:graphicFrame>
      <p:sp>
        <p:nvSpPr>
          <p:cNvPr id="101" name="Oval 47"/>
          <p:cNvSpPr>
            <a:spLocks noChangeArrowheads="1"/>
          </p:cNvSpPr>
          <p:nvPr/>
        </p:nvSpPr>
        <p:spPr bwMode="auto">
          <a:xfrm>
            <a:off x="5541983" y="2044401"/>
            <a:ext cx="381000" cy="457200"/>
          </a:xfrm>
          <a:prstGeom prst="ellipse">
            <a:avLst/>
          </a:prstGeom>
          <a:solidFill>
            <a:srgbClr val="118ABB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" name="Oval 48"/>
          <p:cNvSpPr>
            <a:spLocks noChangeArrowheads="1"/>
          </p:cNvSpPr>
          <p:nvPr/>
        </p:nvSpPr>
        <p:spPr bwMode="auto">
          <a:xfrm>
            <a:off x="3560783" y="1358601"/>
            <a:ext cx="381000" cy="457200"/>
          </a:xfrm>
          <a:prstGeom prst="ellipse">
            <a:avLst/>
          </a:prstGeom>
          <a:solidFill>
            <a:srgbClr val="118ABB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" name="Oval 49"/>
          <p:cNvSpPr>
            <a:spLocks noChangeArrowheads="1"/>
          </p:cNvSpPr>
          <p:nvPr/>
        </p:nvSpPr>
        <p:spPr bwMode="auto">
          <a:xfrm>
            <a:off x="3636983" y="2882601"/>
            <a:ext cx="381000" cy="457200"/>
          </a:xfrm>
          <a:prstGeom prst="ellipse">
            <a:avLst/>
          </a:prstGeom>
          <a:solidFill>
            <a:srgbClr val="118ABB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" name="Oval 50"/>
          <p:cNvSpPr>
            <a:spLocks noChangeArrowheads="1"/>
          </p:cNvSpPr>
          <p:nvPr/>
        </p:nvSpPr>
        <p:spPr bwMode="auto">
          <a:xfrm>
            <a:off x="5389583" y="2577801"/>
            <a:ext cx="533400" cy="457200"/>
          </a:xfrm>
          <a:prstGeom prst="ellipse">
            <a:avLst/>
          </a:prstGeom>
          <a:solidFill>
            <a:srgbClr val="118ABB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" name="Line 51"/>
          <p:cNvSpPr>
            <a:spLocks noChangeShapeType="1"/>
          </p:cNvSpPr>
          <p:nvPr/>
        </p:nvSpPr>
        <p:spPr bwMode="auto">
          <a:xfrm flipV="1">
            <a:off x="2732441" y="1990164"/>
            <a:ext cx="2140773" cy="2076225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" name="Rectangle 64"/>
          <p:cNvSpPr>
            <a:spLocks noChangeArrowheads="1"/>
          </p:cNvSpPr>
          <p:nvPr/>
        </p:nvSpPr>
        <p:spPr bwMode="auto">
          <a:xfrm rot="10800000">
            <a:off x="8543946" y="3496964"/>
            <a:ext cx="215900" cy="431800"/>
          </a:xfrm>
          <a:prstGeom prst="rect">
            <a:avLst/>
          </a:prstGeom>
          <a:gradFill rotWithShape="1">
            <a:gsLst>
              <a:gs pos="0">
                <a:srgbClr val="76762F"/>
              </a:gs>
              <a:gs pos="50000">
                <a:srgbClr val="FFFF66"/>
              </a:gs>
              <a:gs pos="100000">
                <a:srgbClr val="76762F"/>
              </a:gs>
            </a:gsLst>
            <a:lin ang="0" scaled="1"/>
          </a:gradFill>
          <a:ln w="381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" name="Line 35"/>
          <p:cNvSpPr>
            <a:spLocks noChangeShapeType="1"/>
          </p:cNvSpPr>
          <p:nvPr/>
        </p:nvSpPr>
        <p:spPr bwMode="auto">
          <a:xfrm flipV="1">
            <a:off x="2721685" y="2904564"/>
            <a:ext cx="1065007" cy="1161825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Text Box 6"/>
          <p:cNvSpPr txBox="1">
            <a:spLocks noChangeArrowheads="1"/>
          </p:cNvSpPr>
          <p:nvPr/>
        </p:nvSpPr>
        <p:spPr bwMode="auto">
          <a:xfrm>
            <a:off x="5378824" y="4003668"/>
            <a:ext cx="323234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外电场驱使空间电荷区两侧的空穴和自由电子移走</a:t>
            </a:r>
          </a:p>
        </p:txBody>
      </p:sp>
      <p:sp>
        <p:nvSpPr>
          <p:cNvPr id="110" name="Text Box 5"/>
          <p:cNvSpPr txBox="1">
            <a:spLocks noChangeArrowheads="1"/>
          </p:cNvSpPr>
          <p:nvPr/>
        </p:nvSpPr>
        <p:spPr bwMode="auto">
          <a:xfrm>
            <a:off x="864576" y="1313273"/>
            <a:ext cx="9144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P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区</a:t>
            </a:r>
          </a:p>
        </p:txBody>
      </p:sp>
      <p:sp>
        <p:nvSpPr>
          <p:cNvPr id="111" name="Text Box 6"/>
          <p:cNvSpPr txBox="1">
            <a:spLocks noChangeArrowheads="1"/>
          </p:cNvSpPr>
          <p:nvPr/>
        </p:nvSpPr>
        <p:spPr bwMode="auto">
          <a:xfrm>
            <a:off x="8096402" y="1291757"/>
            <a:ext cx="8109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N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区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500"/>
                            </p:stCondLst>
                            <p:childTnLst>
                              <p:par>
                                <p:cTn id="52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500"/>
                            </p:stCondLst>
                            <p:childTnLst>
                              <p:par>
                                <p:cTn id="6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5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000"/>
                            </p:stCondLst>
                            <p:childTnLst>
                              <p:par>
                                <p:cTn id="81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7500"/>
                            </p:stCondLst>
                            <p:childTnLst>
                              <p:par>
                                <p:cTn id="8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8000"/>
                            </p:stCondLst>
                            <p:childTnLst>
                              <p:par>
                                <p:cTn id="92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500"/>
                            </p:stCondLst>
                            <p:childTnLst>
                              <p:par>
                                <p:cTn id="9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6" dur="3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000"/>
                            </p:stCondLst>
                            <p:childTnLst>
                              <p:par>
                                <p:cTn id="121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500"/>
                            </p:stCondLst>
                            <p:childTnLst>
                              <p:par>
                                <p:cTn id="1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500"/>
                            </p:stCondLst>
                            <p:childTnLst>
                              <p:par>
                                <p:cTn id="1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000"/>
                            </p:stCondLst>
                            <p:childTnLst>
                              <p:par>
                                <p:cTn id="140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500"/>
                            </p:stCondLst>
                            <p:childTnLst>
                              <p:par>
                                <p:cTn id="1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00"/>
                            </p:stCondLst>
                            <p:childTnLst>
                              <p:par>
                                <p:cTn id="15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500"/>
                            </p:stCondLst>
                            <p:childTnLst>
                              <p:par>
                                <p:cTn id="16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00"/>
                            </p:stCondLst>
                            <p:childTnLst>
                              <p:par>
                                <p:cTn id="173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000"/>
                            </p:stCondLst>
                            <p:childTnLst>
                              <p:par>
                                <p:cTn id="1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500"/>
                            </p:stCondLst>
                            <p:childTnLst>
                              <p:par>
                                <p:cTn id="18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2500"/>
                            </p:stCondLst>
                            <p:childTnLst>
                              <p:par>
                                <p:cTn id="19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utoUpdateAnimBg="0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utoUpdateAnimBg="0"/>
      <p:bldP spid="88" grpId="0" autoUpdateAnimBg="0"/>
      <p:bldP spid="90" grpId="0" autoUpdateAnimBg="0"/>
      <p:bldP spid="91" grpId="0" autoUpdateAnimBg="0"/>
      <p:bldP spid="92" grpId="0" animBg="1"/>
      <p:bldP spid="93" grpId="0" animBg="1"/>
      <p:bldP spid="94" grpId="0" animBg="1"/>
      <p:bldP spid="95" grpId="0" autoUpdateAnimBg="0"/>
      <p:bldP spid="96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8" grpId="0" animBg="1"/>
      <p:bldP spid="89" grpId="0" animBg="1"/>
      <p:bldP spid="109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/>
          <p:cNvSpPr>
            <a:spLocks noChangeArrowheads="1"/>
          </p:cNvSpPr>
          <p:nvPr/>
        </p:nvSpPr>
        <p:spPr bwMode="auto">
          <a:xfrm>
            <a:off x="490369" y="176212"/>
            <a:ext cx="4648200" cy="838200"/>
          </a:xfrm>
          <a:prstGeom prst="horizontalScroll">
            <a:avLst>
              <a:gd name="adj" fmla="val 12500"/>
            </a:avLst>
          </a:prstGeom>
          <a:solidFill>
            <a:srgbClr val="99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由上述分析可知：</a:t>
            </a:r>
          </a:p>
        </p:txBody>
      </p:sp>
      <p:sp>
        <p:nvSpPr>
          <p:cNvPr id="10" name="AutoShape 3"/>
          <p:cNvSpPr>
            <a:spLocks noChangeArrowheads="1"/>
          </p:cNvSpPr>
          <p:nvPr/>
        </p:nvSpPr>
        <p:spPr bwMode="auto">
          <a:xfrm>
            <a:off x="1070386" y="1382862"/>
            <a:ext cx="216000" cy="288000"/>
          </a:xfrm>
          <a:prstGeom prst="diamond">
            <a:avLst/>
          </a:prstGeom>
          <a:solidFill>
            <a:srgbClr val="FFFF00"/>
          </a:solidFill>
          <a:ln w="82550">
            <a:solidFill>
              <a:srgbClr val="FFCC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509656" y="1255562"/>
            <a:ext cx="377234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PN</a:t>
            </a:r>
            <a:r>
              <a:rPr lang="zh-CN" altLang="en-US" sz="2800" dirty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结具有单向导电性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1452283" y="1976325"/>
            <a:ext cx="6766561" cy="112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在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PN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结上加正向电压时，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PN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结电阻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很低，正向电流较大。（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PN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结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处于</a:t>
            </a:r>
            <a:r>
              <a:rPr lang="zh-CN" altLang="en-US" sz="2800" i="1" dirty="0">
                <a:solidFill>
                  <a:srgbClr val="7030A0"/>
                </a:solidFill>
                <a:ea typeface="华文中宋" pitchFamily="2" charset="-122"/>
                <a:cs typeface="Times New Roman" pitchFamily="18" charset="0"/>
              </a:rPr>
              <a:t>导通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状态）</a:t>
            </a:r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1484555" y="3224214"/>
            <a:ext cx="6615057" cy="112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加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反向电压时，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PN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结电阻很高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，反向电流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很小。（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PN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结处于</a:t>
            </a:r>
            <a:r>
              <a:rPr lang="zh-CN" altLang="en-US" sz="2800" i="1" dirty="0">
                <a:solidFill>
                  <a:srgbClr val="7030A0"/>
                </a:solidFill>
                <a:ea typeface="华文中宋" pitchFamily="2" charset="-122"/>
                <a:cs typeface="Times New Roman" pitchFamily="18" charset="0"/>
              </a:rPr>
              <a:t>截止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状态）</a:t>
            </a:r>
          </a:p>
        </p:txBody>
      </p:sp>
      <p:sp>
        <p:nvSpPr>
          <p:cNvPr id="14" name="AutoShape 7"/>
          <p:cNvSpPr>
            <a:spLocks noChangeArrowheads="1"/>
          </p:cNvSpPr>
          <p:nvPr/>
        </p:nvSpPr>
        <p:spPr bwMode="auto">
          <a:xfrm>
            <a:off x="5519568" y="656216"/>
            <a:ext cx="1483660" cy="662995"/>
          </a:xfrm>
          <a:prstGeom prst="cloudCallout">
            <a:avLst>
              <a:gd name="adj1" fmla="val -77808"/>
              <a:gd name="adj2" fmla="val 7129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/>
          <a:p>
            <a:pPr algn="ctr" eaLnBrk="1" hangingPunct="1"/>
            <a:r>
              <a:rPr lang="zh-CN" altLang="en-US" sz="3200" dirty="0">
                <a:solidFill>
                  <a:srgbClr val="990033"/>
                </a:solidFill>
                <a:ea typeface="华文中宋" pitchFamily="2" charset="-122"/>
                <a:cs typeface="Times New Roman" pitchFamily="18" charset="0"/>
              </a:rPr>
              <a:t>切记</a:t>
            </a:r>
          </a:p>
        </p:txBody>
      </p:sp>
      <p:sp>
        <p:nvSpPr>
          <p:cNvPr id="15" name="Line 8"/>
          <p:cNvSpPr>
            <a:spLocks noChangeShapeType="1"/>
          </p:cNvSpPr>
          <p:nvPr/>
        </p:nvSpPr>
        <p:spPr bwMode="auto">
          <a:xfrm>
            <a:off x="1596613" y="1788962"/>
            <a:ext cx="3276600" cy="0"/>
          </a:xfrm>
          <a:prstGeom prst="line">
            <a:avLst/>
          </a:prstGeom>
          <a:noFill/>
          <a:ln w="50800">
            <a:solidFill>
              <a:srgbClr val="FF66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autoUpdateAnimBg="0"/>
      <p:bldP spid="10" grpId="0" animBg="1"/>
      <p:bldP spid="11" grpId="0" autoUpdateAnimBg="0"/>
      <p:bldP spid="12" grpId="0" autoUpdateAnimBg="0"/>
      <p:bldP spid="13" grpId="0" autoUpdateAnimBg="0"/>
      <p:bldP spid="14" grpId="0" animBg="1" autoUpdateAnimBg="0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 3"/>
          <p:cNvSpPr txBox="1">
            <a:spLocks noChangeArrowheads="1"/>
          </p:cNvSpPr>
          <p:nvPr/>
        </p:nvSpPr>
        <p:spPr bwMode="auto">
          <a:xfrm>
            <a:off x="742277" y="623507"/>
            <a:ext cx="380024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3600" dirty="0" smtClean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3  </a:t>
            </a:r>
            <a:r>
              <a:rPr lang="zh-CN" altLang="en-US" sz="3600" dirty="0" smtClean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半导体二极管</a:t>
            </a:r>
            <a:endParaRPr lang="zh-CN" altLang="en-US" sz="3600" dirty="0">
              <a:solidFill>
                <a:srgbClr val="C00000"/>
              </a:solidFill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39" name="Text Box 45"/>
          <p:cNvSpPr txBox="1">
            <a:spLocks noChangeArrowheads="1"/>
          </p:cNvSpPr>
          <p:nvPr/>
        </p:nvSpPr>
        <p:spPr bwMode="auto">
          <a:xfrm>
            <a:off x="2564746" y="1758820"/>
            <a:ext cx="3349625" cy="585787"/>
          </a:xfrm>
          <a:prstGeom prst="rect">
            <a:avLst/>
          </a:prstGeom>
          <a:noFill/>
          <a:ln w="44450" algn="ctr">
            <a:noFill/>
            <a:miter lim="800000"/>
            <a:headEnd/>
            <a:tailEnd type="none" w="sm" len="lg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altLang="zh-CN" sz="320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320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320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  </a:t>
            </a:r>
            <a:r>
              <a:rPr lang="zh-CN" altLang="en-US" sz="3200" dirty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普通二极管</a:t>
            </a:r>
          </a:p>
        </p:txBody>
      </p:sp>
      <p:sp>
        <p:nvSpPr>
          <p:cNvPr id="40" name="Text Box 45"/>
          <p:cNvSpPr txBox="1">
            <a:spLocks noChangeArrowheads="1"/>
          </p:cNvSpPr>
          <p:nvPr/>
        </p:nvSpPr>
        <p:spPr bwMode="auto">
          <a:xfrm>
            <a:off x="2623483" y="2774820"/>
            <a:ext cx="3348038" cy="585787"/>
          </a:xfrm>
          <a:prstGeom prst="rect">
            <a:avLst/>
          </a:prstGeom>
          <a:noFill/>
          <a:ln w="44450" algn="ctr">
            <a:noFill/>
            <a:miter lim="800000"/>
            <a:headEnd/>
            <a:tailEnd type="none" w="sm" len="lg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altLang="zh-CN" sz="3200" dirty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2 </a:t>
            </a:r>
            <a:r>
              <a:rPr lang="zh-CN" altLang="en-US" sz="320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320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3200" dirty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特殊二极管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45"/>
          <p:cNvSpPr txBox="1">
            <a:spLocks noChangeArrowheads="1"/>
          </p:cNvSpPr>
          <p:nvPr/>
        </p:nvSpPr>
        <p:spPr bwMode="auto">
          <a:xfrm>
            <a:off x="789734" y="392599"/>
            <a:ext cx="3349625" cy="585787"/>
          </a:xfrm>
          <a:prstGeom prst="rect">
            <a:avLst/>
          </a:prstGeom>
          <a:noFill/>
          <a:ln w="44450" algn="ctr">
            <a:noFill/>
            <a:miter lim="800000"/>
            <a:headEnd/>
            <a:tailEnd type="none" w="sm" len="lg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altLang="zh-CN" sz="320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320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320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  </a:t>
            </a:r>
            <a:r>
              <a:rPr lang="zh-CN" altLang="en-US" sz="3200" dirty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普通二极管</a:t>
            </a:r>
          </a:p>
        </p:txBody>
      </p:sp>
      <p:sp>
        <p:nvSpPr>
          <p:cNvPr id="41" name="Text Box 45"/>
          <p:cNvSpPr txBox="1">
            <a:spLocks noChangeArrowheads="1"/>
          </p:cNvSpPr>
          <p:nvPr/>
        </p:nvSpPr>
        <p:spPr bwMode="auto">
          <a:xfrm>
            <a:off x="519411" y="1045789"/>
            <a:ext cx="2951162" cy="523220"/>
          </a:xfrm>
          <a:prstGeom prst="rect">
            <a:avLst/>
          </a:prstGeom>
          <a:noFill/>
          <a:ln w="44450" algn="ctr">
            <a:noFill/>
            <a:miter lim="800000"/>
            <a:headEnd/>
            <a:tailEnd type="none" w="sm" len="lg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基本结构</a:t>
            </a:r>
          </a:p>
        </p:txBody>
      </p:sp>
      <p:sp>
        <p:nvSpPr>
          <p:cNvPr id="42" name="Text Box 45"/>
          <p:cNvSpPr txBox="1">
            <a:spLocks noChangeArrowheads="1"/>
          </p:cNvSpPr>
          <p:nvPr/>
        </p:nvSpPr>
        <p:spPr bwMode="auto">
          <a:xfrm>
            <a:off x="1562902" y="1575868"/>
            <a:ext cx="5870632" cy="523220"/>
          </a:xfrm>
          <a:prstGeom prst="rect">
            <a:avLst/>
          </a:prstGeom>
          <a:noFill/>
          <a:ln w="44450" algn="ctr">
            <a:noFill/>
            <a:miter lim="800000"/>
            <a:headEnd/>
            <a:tailEnd type="none" w="sm" len="lg"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PN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结加上外壳和引线，就是二极管</a:t>
            </a:r>
            <a:endParaRPr lang="zh-CN" altLang="en-US" sz="28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616689" y="2135265"/>
            <a:ext cx="4127894" cy="1394588"/>
            <a:chOff x="1616689" y="2135265"/>
            <a:chExt cx="4127894" cy="1394588"/>
          </a:xfrm>
        </p:grpSpPr>
        <p:sp>
          <p:nvSpPr>
            <p:cNvPr id="43" name="Text Box 45"/>
            <p:cNvSpPr txBox="1">
              <a:spLocks noChangeArrowheads="1"/>
            </p:cNvSpPr>
            <p:nvPr/>
          </p:nvSpPr>
          <p:spPr bwMode="auto">
            <a:xfrm>
              <a:off x="1616689" y="2565571"/>
              <a:ext cx="2073183" cy="523220"/>
            </a:xfrm>
            <a:prstGeom prst="rect">
              <a:avLst/>
            </a:prstGeom>
            <a:noFill/>
            <a:ln w="44450" algn="ctr">
              <a:noFill/>
              <a:miter lim="800000"/>
              <a:headEnd/>
              <a:tailEnd type="none" w="sm" len="lg"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按结构分类</a:t>
              </a:r>
              <a:endPara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4" name="AutoShape 256"/>
            <p:cNvSpPr>
              <a:spLocks/>
            </p:cNvSpPr>
            <p:nvPr/>
          </p:nvSpPr>
          <p:spPr bwMode="auto">
            <a:xfrm>
              <a:off x="3713480" y="2374062"/>
              <a:ext cx="146050" cy="972000"/>
            </a:xfrm>
            <a:prstGeom prst="leftBrace">
              <a:avLst>
                <a:gd name="adj1" fmla="val 82699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5" name="Text Box 45"/>
            <p:cNvSpPr txBox="1">
              <a:spLocks noChangeArrowheads="1"/>
            </p:cNvSpPr>
            <p:nvPr/>
          </p:nvSpPr>
          <p:spPr bwMode="auto">
            <a:xfrm>
              <a:off x="3832765" y="2135265"/>
              <a:ext cx="1911818" cy="523220"/>
            </a:xfrm>
            <a:prstGeom prst="rect">
              <a:avLst/>
            </a:prstGeom>
            <a:noFill/>
            <a:ln w="44450" algn="ctr">
              <a:noFill/>
              <a:miter lim="800000"/>
              <a:headEnd/>
              <a:tailEnd type="none" w="sm" len="lg"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点接触型</a:t>
              </a:r>
              <a:endPara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6" name="Text Box 45"/>
            <p:cNvSpPr txBox="1">
              <a:spLocks noChangeArrowheads="1"/>
            </p:cNvSpPr>
            <p:nvPr/>
          </p:nvSpPr>
          <p:spPr bwMode="auto">
            <a:xfrm>
              <a:off x="3800492" y="3006633"/>
              <a:ext cx="1911818" cy="523220"/>
            </a:xfrm>
            <a:prstGeom prst="rect">
              <a:avLst/>
            </a:prstGeom>
            <a:noFill/>
            <a:ln w="44450" algn="ctr">
              <a:noFill/>
              <a:miter lim="800000"/>
              <a:headEnd/>
              <a:tailEnd type="none" w="sm" len="lg"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面接触型</a:t>
              </a:r>
              <a:endPara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531550" y="3436941"/>
            <a:ext cx="4127894" cy="1394588"/>
            <a:chOff x="3531550" y="3436941"/>
            <a:chExt cx="4127894" cy="1394588"/>
          </a:xfrm>
        </p:grpSpPr>
        <p:sp>
          <p:nvSpPr>
            <p:cNvPr id="47" name="Text Box 45"/>
            <p:cNvSpPr txBox="1">
              <a:spLocks noChangeArrowheads="1"/>
            </p:cNvSpPr>
            <p:nvPr/>
          </p:nvSpPr>
          <p:spPr bwMode="auto">
            <a:xfrm>
              <a:off x="3531550" y="3867247"/>
              <a:ext cx="2073183" cy="523220"/>
            </a:xfrm>
            <a:prstGeom prst="rect">
              <a:avLst/>
            </a:prstGeom>
            <a:noFill/>
            <a:ln w="44450" algn="ctr">
              <a:noFill/>
              <a:miter lim="800000"/>
              <a:headEnd/>
              <a:tailEnd type="none" w="sm" len="lg"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按材料分类</a:t>
              </a:r>
              <a:endPara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8" name="AutoShape 256"/>
            <p:cNvSpPr>
              <a:spLocks/>
            </p:cNvSpPr>
            <p:nvPr/>
          </p:nvSpPr>
          <p:spPr bwMode="auto">
            <a:xfrm>
              <a:off x="5628341" y="3675738"/>
              <a:ext cx="146050" cy="972000"/>
            </a:xfrm>
            <a:prstGeom prst="leftBrace">
              <a:avLst>
                <a:gd name="adj1" fmla="val 82699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zh-CN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9" name="Text Box 45"/>
            <p:cNvSpPr txBox="1">
              <a:spLocks noChangeArrowheads="1"/>
            </p:cNvSpPr>
            <p:nvPr/>
          </p:nvSpPr>
          <p:spPr bwMode="auto">
            <a:xfrm>
              <a:off x="5747626" y="3436941"/>
              <a:ext cx="1911818" cy="523220"/>
            </a:xfrm>
            <a:prstGeom prst="rect">
              <a:avLst/>
            </a:prstGeom>
            <a:noFill/>
            <a:ln w="44450" algn="ctr">
              <a:noFill/>
              <a:miter lim="800000"/>
              <a:headEnd/>
              <a:tailEnd type="none" w="sm" len="lg"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硅二极管</a:t>
              </a:r>
              <a:endPara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0" name="Text Box 45"/>
            <p:cNvSpPr txBox="1">
              <a:spLocks noChangeArrowheads="1"/>
            </p:cNvSpPr>
            <p:nvPr/>
          </p:nvSpPr>
          <p:spPr bwMode="auto">
            <a:xfrm>
              <a:off x="5715353" y="4308309"/>
              <a:ext cx="1911818" cy="523220"/>
            </a:xfrm>
            <a:prstGeom prst="rect">
              <a:avLst/>
            </a:prstGeom>
            <a:noFill/>
            <a:ln w="44450" algn="ctr">
              <a:noFill/>
              <a:miter lim="800000"/>
              <a:headEnd/>
              <a:tailEnd type="none" w="sm" len="lg"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锗二极管</a:t>
              </a:r>
              <a:endPara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图形1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50297" y="633095"/>
            <a:ext cx="48768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Line 4"/>
          <p:cNvSpPr>
            <a:spLocks noChangeShapeType="1"/>
          </p:cNvSpPr>
          <p:nvPr/>
        </p:nvSpPr>
        <p:spPr bwMode="auto">
          <a:xfrm flipV="1">
            <a:off x="3325009" y="845820"/>
            <a:ext cx="685800" cy="152400"/>
          </a:xfrm>
          <a:prstGeom prst="line">
            <a:avLst/>
          </a:prstGeom>
          <a:noFill/>
          <a:ln w="19050">
            <a:solidFill>
              <a:schemeClr val="accent5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2105809" y="1150620"/>
            <a:ext cx="381000" cy="381000"/>
          </a:xfrm>
          <a:prstGeom prst="line">
            <a:avLst/>
          </a:prstGeom>
          <a:noFill/>
          <a:ln w="19050">
            <a:solidFill>
              <a:schemeClr val="accent5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 flipV="1">
            <a:off x="3325009" y="2446020"/>
            <a:ext cx="838200" cy="228600"/>
          </a:xfrm>
          <a:prstGeom prst="line">
            <a:avLst/>
          </a:prstGeom>
          <a:noFill/>
          <a:ln w="19050">
            <a:solidFill>
              <a:schemeClr val="accent5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2410609" y="2750820"/>
            <a:ext cx="685800" cy="381000"/>
          </a:xfrm>
          <a:prstGeom prst="line">
            <a:avLst/>
          </a:prstGeom>
          <a:noFill/>
          <a:ln w="19050">
            <a:solidFill>
              <a:schemeClr val="accent5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 flipV="1">
            <a:off x="6677809" y="1303020"/>
            <a:ext cx="685800" cy="228600"/>
          </a:xfrm>
          <a:prstGeom prst="line">
            <a:avLst/>
          </a:prstGeom>
          <a:noFill/>
          <a:ln w="19050">
            <a:solidFill>
              <a:schemeClr val="accent5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>
            <a:off x="5839609" y="922020"/>
            <a:ext cx="457200" cy="152400"/>
          </a:xfrm>
          <a:prstGeom prst="line">
            <a:avLst/>
          </a:prstGeom>
          <a:noFill/>
          <a:ln w="19050">
            <a:solidFill>
              <a:schemeClr val="accent5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 flipH="1" flipV="1">
            <a:off x="5534809" y="1836420"/>
            <a:ext cx="685800" cy="457200"/>
          </a:xfrm>
          <a:prstGeom prst="line">
            <a:avLst/>
          </a:prstGeom>
          <a:noFill/>
          <a:ln w="19050">
            <a:solidFill>
              <a:schemeClr val="accent5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 flipV="1">
            <a:off x="7211209" y="2750820"/>
            <a:ext cx="381000" cy="381000"/>
          </a:xfrm>
          <a:prstGeom prst="line">
            <a:avLst/>
          </a:prstGeom>
          <a:noFill/>
          <a:ln w="19050">
            <a:solidFill>
              <a:schemeClr val="accent5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 flipH="1" flipV="1">
            <a:off x="6476104" y="3894267"/>
            <a:ext cx="677730" cy="247425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5587197" y="450342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面接触型</a:t>
            </a: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2523322" y="450342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点接触型</a:t>
            </a:r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3934609" y="46482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引线</a:t>
            </a: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4163209" y="2141220"/>
            <a:ext cx="838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触丝</a:t>
            </a:r>
          </a:p>
        </p:txBody>
      </p:sp>
      <p:sp>
        <p:nvSpPr>
          <p:cNvPr id="20" name="Text Box 18"/>
          <p:cNvSpPr txBox="1">
            <a:spLocks noChangeArrowheads="1"/>
          </p:cNvSpPr>
          <p:nvPr/>
        </p:nvSpPr>
        <p:spPr bwMode="auto">
          <a:xfrm>
            <a:off x="1496209" y="845820"/>
            <a:ext cx="762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外壳</a:t>
            </a: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1366219" y="2446020"/>
            <a:ext cx="1295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N</a:t>
            </a:r>
            <a:r>
              <a:rPr lang="zh-CN" altLang="en-US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型锗片</a:t>
            </a:r>
          </a:p>
        </p:txBody>
      </p: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5839609" y="2598420"/>
            <a:ext cx="91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00FF99"/>
                </a:solidFill>
              </a:rPr>
              <a:t>N</a:t>
            </a:r>
            <a:r>
              <a:rPr lang="zh-CN" altLang="en-US" sz="2000">
                <a:solidFill>
                  <a:srgbClr val="00FF99"/>
                </a:solidFill>
              </a:rPr>
              <a:t>型硅</a:t>
            </a: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4696609" y="617220"/>
            <a:ext cx="1219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阳极引线</a:t>
            </a:r>
          </a:p>
        </p:txBody>
      </p: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4849009" y="145542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PN</a:t>
            </a:r>
            <a:r>
              <a:rPr lang="zh-CN" altLang="en-US" sz="2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结</a:t>
            </a: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7134113" y="3900992"/>
            <a:ext cx="1295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阴极引线</a:t>
            </a:r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7592209" y="2369820"/>
            <a:ext cx="1371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金锑合金</a:t>
            </a: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7744609" y="313182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底座</a:t>
            </a:r>
          </a:p>
        </p:txBody>
      </p:sp>
      <p:sp>
        <p:nvSpPr>
          <p:cNvPr id="28" name="Line 26"/>
          <p:cNvSpPr>
            <a:spLocks noChangeShapeType="1"/>
          </p:cNvSpPr>
          <p:nvPr/>
        </p:nvSpPr>
        <p:spPr bwMode="auto">
          <a:xfrm flipV="1">
            <a:off x="7287409" y="3360420"/>
            <a:ext cx="5334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Box 27"/>
          <p:cNvSpPr txBox="1">
            <a:spLocks noChangeArrowheads="1"/>
          </p:cNvSpPr>
          <p:nvPr/>
        </p:nvSpPr>
        <p:spPr bwMode="auto">
          <a:xfrm>
            <a:off x="7211209" y="922020"/>
            <a:ext cx="1524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铝合金小球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500"/>
                            </p:stCondLst>
                            <p:childTnLst>
                              <p:par>
                                <p:cTn id="7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00"/>
                            </p:stCondLst>
                            <p:childTnLst>
                              <p:par>
                                <p:cTn id="7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4500"/>
                            </p:stCondLst>
                            <p:childTnLst>
                              <p:par>
                                <p:cTn id="8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500"/>
                            </p:stCondLst>
                            <p:childTnLst>
                              <p:par>
                                <p:cTn id="8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6000"/>
                            </p:stCondLst>
                            <p:childTnLst>
                              <p:par>
                                <p:cTn id="9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utoUpdateAnimBg="0"/>
      <p:bldP spid="17" grpId="0" autoUpdateAnimBg="0"/>
      <p:bldP spid="18" grpId="0" autoUpdateAnimBg="0"/>
      <p:bldP spid="19" grpId="0" autoUpdateAnimBg="0"/>
      <p:bldP spid="20" grpId="0" autoUpdateAnimBg="0"/>
      <p:bldP spid="21" grpId="0" autoUpdateAnimBg="0"/>
      <p:bldP spid="22" grpId="0" autoUpdateAnimBg="0"/>
      <p:bldP spid="23" grpId="0" autoUpdateAnimBg="0"/>
      <p:bldP spid="24" grpId="0" autoUpdateAnimBg="0"/>
      <p:bldP spid="25" grpId="0" autoUpdateAnimBg="0"/>
      <p:bldP spid="26" grpId="0" autoUpdateAnimBg="0"/>
      <p:bldP spid="27" grpId="0" autoUpdateAnimBg="0"/>
      <p:bldP spid="28" grpId="0" animBg="1"/>
      <p:bldP spid="2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 45"/>
          <p:cNvSpPr txBox="1">
            <a:spLocks noChangeArrowheads="1"/>
          </p:cNvSpPr>
          <p:nvPr/>
        </p:nvSpPr>
        <p:spPr bwMode="auto">
          <a:xfrm>
            <a:off x="1487598" y="1016469"/>
            <a:ext cx="1911818" cy="523220"/>
          </a:xfrm>
          <a:prstGeom prst="rect">
            <a:avLst/>
          </a:prstGeom>
          <a:noFill/>
          <a:ln w="44450" algn="ctr">
            <a:noFill/>
            <a:miter lim="800000"/>
            <a:headEnd/>
            <a:tailEnd type="none" w="sm" len="lg"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点接触型</a:t>
            </a:r>
            <a:endParaRPr lang="zh-CN" altLang="en-US" sz="28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0" name="Text Box 45"/>
          <p:cNvSpPr txBox="1">
            <a:spLocks noChangeArrowheads="1"/>
          </p:cNvSpPr>
          <p:nvPr/>
        </p:nvSpPr>
        <p:spPr bwMode="auto">
          <a:xfrm>
            <a:off x="1530628" y="2597842"/>
            <a:ext cx="1911818" cy="523220"/>
          </a:xfrm>
          <a:prstGeom prst="rect">
            <a:avLst/>
          </a:prstGeom>
          <a:noFill/>
          <a:ln w="44450" algn="ctr">
            <a:noFill/>
            <a:miter lim="800000"/>
            <a:headEnd/>
            <a:tailEnd type="none" w="sm" len="lg"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面接触型</a:t>
            </a:r>
            <a:endParaRPr lang="zh-CN" altLang="en-US" sz="28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2" name="Text Box 45"/>
          <p:cNvSpPr txBox="1">
            <a:spLocks noChangeArrowheads="1"/>
          </p:cNvSpPr>
          <p:nvPr/>
        </p:nvSpPr>
        <p:spPr bwMode="auto">
          <a:xfrm>
            <a:off x="2595635" y="1575866"/>
            <a:ext cx="5483357" cy="523220"/>
          </a:xfrm>
          <a:prstGeom prst="rect">
            <a:avLst/>
          </a:prstGeom>
          <a:noFill/>
          <a:ln w="44450" algn="ctr">
            <a:noFill/>
            <a:miter lim="800000"/>
            <a:headEnd/>
            <a:tailEnd type="none" w="sm" len="lg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电流小；结电容小；工作频率高</a:t>
            </a:r>
            <a:endParaRPr lang="zh-CN" altLang="en-US" sz="28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3" name="Text Box 45"/>
          <p:cNvSpPr txBox="1">
            <a:spLocks noChangeArrowheads="1"/>
          </p:cNvSpPr>
          <p:nvPr/>
        </p:nvSpPr>
        <p:spPr bwMode="auto">
          <a:xfrm>
            <a:off x="2520330" y="3221787"/>
            <a:ext cx="5483357" cy="523220"/>
          </a:xfrm>
          <a:prstGeom prst="rect">
            <a:avLst/>
          </a:prstGeom>
          <a:noFill/>
          <a:ln w="44450" algn="ctr">
            <a:noFill/>
            <a:miter lim="800000"/>
            <a:headEnd/>
            <a:tailEnd type="none" w="sm" len="lg"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电流大；结电容大；工作频率低</a:t>
            </a:r>
            <a:endParaRPr lang="zh-CN" altLang="en-US" sz="28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651062" y="258183"/>
            <a:ext cx="335078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二极管实物图</a:t>
            </a:r>
            <a:endParaRPr lang="zh-CN" altLang="en-US" sz="28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中宋" pitchFamily="2" charset="-122"/>
              <a:ea typeface="华文中宋" pitchFamily="2" charset="-122"/>
            </a:endParaRPr>
          </a:p>
        </p:txBody>
      </p:sp>
      <p:grpSp>
        <p:nvGrpSpPr>
          <p:cNvPr id="17" name="Group 21"/>
          <p:cNvGrpSpPr>
            <a:grpSpLocks/>
          </p:cNvGrpSpPr>
          <p:nvPr/>
        </p:nvGrpSpPr>
        <p:grpSpPr bwMode="auto">
          <a:xfrm>
            <a:off x="604689" y="3295108"/>
            <a:ext cx="576262" cy="1368425"/>
            <a:chOff x="748" y="3067"/>
            <a:chExt cx="363" cy="862"/>
          </a:xfrm>
        </p:grpSpPr>
        <p:sp>
          <p:nvSpPr>
            <p:cNvPr id="18" name="Tree"/>
            <p:cNvSpPr>
              <a:spLocks noEditPoints="1" noChangeArrowheads="1"/>
            </p:cNvSpPr>
            <p:nvPr/>
          </p:nvSpPr>
          <p:spPr bwMode="auto">
            <a:xfrm>
              <a:off x="748" y="3067"/>
              <a:ext cx="91" cy="590"/>
            </a:xfrm>
            <a:custGeom>
              <a:avLst/>
              <a:gdLst>
                <a:gd name="G0" fmla="+- 0 0 0"/>
                <a:gd name="G1" fmla="*/ 18900 1 3"/>
                <a:gd name="G2" fmla="*/ 18900 2 3"/>
                <a:gd name="G3" fmla="+- 18900 0 0"/>
                <a:gd name="T0" fmla="*/ 10800 w 21600"/>
                <a:gd name="T1" fmla="*/ 0 h 21600"/>
                <a:gd name="T2" fmla="*/ 6171 w 21600"/>
                <a:gd name="T3" fmla="*/ 6300 h 21600"/>
                <a:gd name="T4" fmla="*/ 3086 w 21600"/>
                <a:gd name="T5" fmla="*/ 12600 h 21600"/>
                <a:gd name="T6" fmla="*/ 0 w 21600"/>
                <a:gd name="T7" fmla="*/ 18900 h 21600"/>
                <a:gd name="T8" fmla="*/ 15429 w 21600"/>
                <a:gd name="T9" fmla="*/ 6300 h 21600"/>
                <a:gd name="T10" fmla="*/ 18514 w 21600"/>
                <a:gd name="T11" fmla="*/ 12600 h 21600"/>
                <a:gd name="T12" fmla="*/ 21600 w 21600"/>
                <a:gd name="T13" fmla="*/ 18900 h 21600"/>
                <a:gd name="T14" fmla="*/ 17694720 60000 65536"/>
                <a:gd name="T15" fmla="*/ 11796480 60000 65536"/>
                <a:gd name="T16" fmla="*/ 11796480 60000 65536"/>
                <a:gd name="T17" fmla="*/ 11796480 60000 65536"/>
                <a:gd name="T18" fmla="*/ 0 60000 65536"/>
                <a:gd name="T19" fmla="*/ 0 60000 65536"/>
                <a:gd name="T20" fmla="*/ 0 60000 65536"/>
                <a:gd name="T21" fmla="*/ 761 w 21600"/>
                <a:gd name="T22" fmla="*/ 22454 h 21600"/>
                <a:gd name="T23" fmla="*/ 21069 w 21600"/>
                <a:gd name="T24" fmla="*/ 28282 h 216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600" h="21600">
                  <a:moveTo>
                    <a:pt x="0" y="18900"/>
                  </a:moveTo>
                  <a:lnTo>
                    <a:pt x="9257" y="18900"/>
                  </a:lnTo>
                  <a:lnTo>
                    <a:pt x="9257" y="21600"/>
                  </a:lnTo>
                  <a:lnTo>
                    <a:pt x="12343" y="21600"/>
                  </a:lnTo>
                  <a:lnTo>
                    <a:pt x="12343" y="18900"/>
                  </a:lnTo>
                  <a:lnTo>
                    <a:pt x="21600" y="18900"/>
                  </a:lnTo>
                  <a:lnTo>
                    <a:pt x="12343" y="12600"/>
                  </a:lnTo>
                  <a:lnTo>
                    <a:pt x="18514" y="12600"/>
                  </a:lnTo>
                  <a:lnTo>
                    <a:pt x="12343" y="6300"/>
                  </a:lnTo>
                  <a:lnTo>
                    <a:pt x="15429" y="6300"/>
                  </a:lnTo>
                  <a:lnTo>
                    <a:pt x="10800" y="0"/>
                  </a:lnTo>
                  <a:lnTo>
                    <a:pt x="6171" y="6300"/>
                  </a:lnTo>
                  <a:lnTo>
                    <a:pt x="9257" y="6300"/>
                  </a:lnTo>
                  <a:lnTo>
                    <a:pt x="3086" y="12600"/>
                  </a:lnTo>
                  <a:lnTo>
                    <a:pt x="9257" y="12600"/>
                  </a:lnTo>
                  <a:close/>
                </a:path>
              </a:pathLst>
            </a:custGeom>
            <a:solidFill>
              <a:srgbClr val="00CC6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 eaLnBrk="0" hangingPunct="0">
                <a:defRPr/>
              </a:pPr>
              <a:endParaRPr lang="zh-CN" altLang="en-US">
                <a:ea typeface="幼圆" pitchFamily="49" charset="-122"/>
              </a:endParaRPr>
            </a:p>
          </p:txBody>
        </p:sp>
        <p:sp>
          <p:nvSpPr>
            <p:cNvPr id="19" name="Tree"/>
            <p:cNvSpPr>
              <a:spLocks noEditPoints="1" noChangeArrowheads="1"/>
            </p:cNvSpPr>
            <p:nvPr/>
          </p:nvSpPr>
          <p:spPr bwMode="auto">
            <a:xfrm>
              <a:off x="884" y="3203"/>
              <a:ext cx="91" cy="590"/>
            </a:xfrm>
            <a:custGeom>
              <a:avLst/>
              <a:gdLst>
                <a:gd name="G0" fmla="+- 0 0 0"/>
                <a:gd name="G1" fmla="*/ 18900 1 3"/>
                <a:gd name="G2" fmla="*/ 18900 2 3"/>
                <a:gd name="G3" fmla="+- 18900 0 0"/>
                <a:gd name="T0" fmla="*/ 10800 w 21600"/>
                <a:gd name="T1" fmla="*/ 0 h 21600"/>
                <a:gd name="T2" fmla="*/ 6171 w 21600"/>
                <a:gd name="T3" fmla="*/ 6300 h 21600"/>
                <a:gd name="T4" fmla="*/ 3086 w 21600"/>
                <a:gd name="T5" fmla="*/ 12600 h 21600"/>
                <a:gd name="T6" fmla="*/ 0 w 21600"/>
                <a:gd name="T7" fmla="*/ 18900 h 21600"/>
                <a:gd name="T8" fmla="*/ 15429 w 21600"/>
                <a:gd name="T9" fmla="*/ 6300 h 21600"/>
                <a:gd name="T10" fmla="*/ 18514 w 21600"/>
                <a:gd name="T11" fmla="*/ 12600 h 21600"/>
                <a:gd name="T12" fmla="*/ 21600 w 21600"/>
                <a:gd name="T13" fmla="*/ 18900 h 21600"/>
                <a:gd name="T14" fmla="*/ 17694720 60000 65536"/>
                <a:gd name="T15" fmla="*/ 11796480 60000 65536"/>
                <a:gd name="T16" fmla="*/ 11796480 60000 65536"/>
                <a:gd name="T17" fmla="*/ 11796480 60000 65536"/>
                <a:gd name="T18" fmla="*/ 0 60000 65536"/>
                <a:gd name="T19" fmla="*/ 0 60000 65536"/>
                <a:gd name="T20" fmla="*/ 0 60000 65536"/>
                <a:gd name="T21" fmla="*/ 761 w 21600"/>
                <a:gd name="T22" fmla="*/ 22454 h 21600"/>
                <a:gd name="T23" fmla="*/ 21069 w 21600"/>
                <a:gd name="T24" fmla="*/ 28282 h 216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600" h="21600">
                  <a:moveTo>
                    <a:pt x="0" y="18900"/>
                  </a:moveTo>
                  <a:lnTo>
                    <a:pt x="9257" y="18900"/>
                  </a:lnTo>
                  <a:lnTo>
                    <a:pt x="9257" y="21600"/>
                  </a:lnTo>
                  <a:lnTo>
                    <a:pt x="12343" y="21600"/>
                  </a:lnTo>
                  <a:lnTo>
                    <a:pt x="12343" y="18900"/>
                  </a:lnTo>
                  <a:lnTo>
                    <a:pt x="21600" y="18900"/>
                  </a:lnTo>
                  <a:lnTo>
                    <a:pt x="12343" y="12600"/>
                  </a:lnTo>
                  <a:lnTo>
                    <a:pt x="18514" y="12600"/>
                  </a:lnTo>
                  <a:lnTo>
                    <a:pt x="12343" y="6300"/>
                  </a:lnTo>
                  <a:lnTo>
                    <a:pt x="15429" y="6300"/>
                  </a:lnTo>
                  <a:lnTo>
                    <a:pt x="10800" y="0"/>
                  </a:lnTo>
                  <a:lnTo>
                    <a:pt x="6171" y="6300"/>
                  </a:lnTo>
                  <a:lnTo>
                    <a:pt x="9257" y="6300"/>
                  </a:lnTo>
                  <a:lnTo>
                    <a:pt x="3086" y="12600"/>
                  </a:lnTo>
                  <a:lnTo>
                    <a:pt x="9257" y="12600"/>
                  </a:lnTo>
                  <a:close/>
                </a:path>
              </a:pathLst>
            </a:custGeom>
            <a:solidFill>
              <a:srgbClr val="00CC6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 eaLnBrk="0" hangingPunct="0">
                <a:defRPr/>
              </a:pPr>
              <a:endParaRPr lang="zh-CN" altLang="en-US">
                <a:ea typeface="幼圆" pitchFamily="49" charset="-122"/>
              </a:endParaRPr>
            </a:p>
          </p:txBody>
        </p:sp>
        <p:sp>
          <p:nvSpPr>
            <p:cNvPr id="20" name="Tree"/>
            <p:cNvSpPr>
              <a:spLocks noEditPoints="1" noChangeArrowheads="1"/>
            </p:cNvSpPr>
            <p:nvPr/>
          </p:nvSpPr>
          <p:spPr bwMode="auto">
            <a:xfrm>
              <a:off x="1020" y="3339"/>
              <a:ext cx="91" cy="590"/>
            </a:xfrm>
            <a:custGeom>
              <a:avLst/>
              <a:gdLst>
                <a:gd name="G0" fmla="+- 0 0 0"/>
                <a:gd name="G1" fmla="*/ 18900 1 3"/>
                <a:gd name="G2" fmla="*/ 18900 2 3"/>
                <a:gd name="G3" fmla="+- 18900 0 0"/>
                <a:gd name="T0" fmla="*/ 10800 w 21600"/>
                <a:gd name="T1" fmla="*/ 0 h 21600"/>
                <a:gd name="T2" fmla="*/ 6171 w 21600"/>
                <a:gd name="T3" fmla="*/ 6300 h 21600"/>
                <a:gd name="T4" fmla="*/ 3086 w 21600"/>
                <a:gd name="T5" fmla="*/ 12600 h 21600"/>
                <a:gd name="T6" fmla="*/ 0 w 21600"/>
                <a:gd name="T7" fmla="*/ 18900 h 21600"/>
                <a:gd name="T8" fmla="*/ 15429 w 21600"/>
                <a:gd name="T9" fmla="*/ 6300 h 21600"/>
                <a:gd name="T10" fmla="*/ 18514 w 21600"/>
                <a:gd name="T11" fmla="*/ 12600 h 21600"/>
                <a:gd name="T12" fmla="*/ 21600 w 21600"/>
                <a:gd name="T13" fmla="*/ 18900 h 21600"/>
                <a:gd name="T14" fmla="*/ 17694720 60000 65536"/>
                <a:gd name="T15" fmla="*/ 11796480 60000 65536"/>
                <a:gd name="T16" fmla="*/ 11796480 60000 65536"/>
                <a:gd name="T17" fmla="*/ 11796480 60000 65536"/>
                <a:gd name="T18" fmla="*/ 0 60000 65536"/>
                <a:gd name="T19" fmla="*/ 0 60000 65536"/>
                <a:gd name="T20" fmla="*/ 0 60000 65536"/>
                <a:gd name="T21" fmla="*/ 761 w 21600"/>
                <a:gd name="T22" fmla="*/ 22454 h 21600"/>
                <a:gd name="T23" fmla="*/ 21069 w 21600"/>
                <a:gd name="T24" fmla="*/ 28282 h 216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600" h="21600">
                  <a:moveTo>
                    <a:pt x="0" y="18900"/>
                  </a:moveTo>
                  <a:lnTo>
                    <a:pt x="9257" y="18900"/>
                  </a:lnTo>
                  <a:lnTo>
                    <a:pt x="9257" y="21600"/>
                  </a:lnTo>
                  <a:lnTo>
                    <a:pt x="12343" y="21600"/>
                  </a:lnTo>
                  <a:lnTo>
                    <a:pt x="12343" y="18900"/>
                  </a:lnTo>
                  <a:lnTo>
                    <a:pt x="21600" y="18900"/>
                  </a:lnTo>
                  <a:lnTo>
                    <a:pt x="12343" y="12600"/>
                  </a:lnTo>
                  <a:lnTo>
                    <a:pt x="18514" y="12600"/>
                  </a:lnTo>
                  <a:lnTo>
                    <a:pt x="12343" y="6300"/>
                  </a:lnTo>
                  <a:lnTo>
                    <a:pt x="15429" y="6300"/>
                  </a:lnTo>
                  <a:lnTo>
                    <a:pt x="10800" y="0"/>
                  </a:lnTo>
                  <a:lnTo>
                    <a:pt x="6171" y="6300"/>
                  </a:lnTo>
                  <a:lnTo>
                    <a:pt x="9257" y="6300"/>
                  </a:lnTo>
                  <a:lnTo>
                    <a:pt x="3086" y="12600"/>
                  </a:lnTo>
                  <a:lnTo>
                    <a:pt x="9257" y="12600"/>
                  </a:lnTo>
                  <a:close/>
                </a:path>
              </a:pathLst>
            </a:custGeom>
            <a:solidFill>
              <a:srgbClr val="00CC6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 eaLnBrk="0" hangingPunct="0">
                <a:defRPr/>
              </a:pPr>
              <a:endParaRPr lang="zh-CN" altLang="en-US">
                <a:ea typeface="幼圆" pitchFamily="49" charset="-122"/>
              </a:endParaRPr>
            </a:p>
          </p:txBody>
        </p:sp>
      </p:grpSp>
      <p:grpSp>
        <p:nvGrpSpPr>
          <p:cNvPr id="21" name="组合 18"/>
          <p:cNvGrpSpPr>
            <a:grpSpLocks/>
          </p:cNvGrpSpPr>
          <p:nvPr/>
        </p:nvGrpSpPr>
        <p:grpSpPr bwMode="auto">
          <a:xfrm>
            <a:off x="1878217" y="1048030"/>
            <a:ext cx="4489450" cy="3506788"/>
            <a:chOff x="1114043" y="1248229"/>
            <a:chExt cx="4490286" cy="3506335"/>
          </a:xfrm>
        </p:grpSpPr>
        <p:sp>
          <p:nvSpPr>
            <p:cNvPr id="22" name="Rectangle 16"/>
            <p:cNvSpPr>
              <a:spLocks noChangeArrowheads="1"/>
            </p:cNvSpPr>
            <p:nvPr/>
          </p:nvSpPr>
          <p:spPr bwMode="auto">
            <a:xfrm>
              <a:off x="1865283" y="4230689"/>
              <a:ext cx="2749241" cy="523875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中小功率二极管</a:t>
              </a:r>
            </a:p>
          </p:txBody>
        </p:sp>
        <p:pic>
          <p:nvPicPr>
            <p:cNvPr id="23" name="Picture 19" descr="http://www.dzsc.com/uploadfile/company/834827/b2011113125555810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114043" y="1248229"/>
              <a:ext cx="4490286" cy="29815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24" name="组合 19"/>
          <p:cNvGrpSpPr>
            <a:grpSpLocks/>
          </p:cNvGrpSpPr>
          <p:nvPr/>
        </p:nvGrpSpPr>
        <p:grpSpPr bwMode="auto">
          <a:xfrm>
            <a:off x="1895046" y="1059069"/>
            <a:ext cx="4071937" cy="3600450"/>
            <a:chOff x="3325132" y="1785936"/>
            <a:chExt cx="4071849" cy="3600226"/>
          </a:xfrm>
        </p:grpSpPr>
        <p:sp>
          <p:nvSpPr>
            <p:cNvPr id="25" name="Rectangle 17"/>
            <p:cNvSpPr>
              <a:spLocks noChangeArrowheads="1"/>
            </p:cNvSpPr>
            <p:nvPr/>
          </p:nvSpPr>
          <p:spPr bwMode="auto">
            <a:xfrm>
              <a:off x="3876867" y="4862287"/>
              <a:ext cx="2873081" cy="523875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大功率二极管</a:t>
              </a:r>
            </a:p>
          </p:txBody>
        </p:sp>
        <p:pic>
          <p:nvPicPr>
            <p:cNvPr id="26" name="Picture 21" descr="http://lubiao.b0.upaiyun.com/c/2/2014/7/19/12/9/d1f0172fb3155067f15da2cffc8929c2.jp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325132" y="1785936"/>
              <a:ext cx="4071849" cy="30473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6" name="组合 55"/>
          <p:cNvGrpSpPr/>
          <p:nvPr/>
        </p:nvGrpSpPr>
        <p:grpSpPr>
          <a:xfrm>
            <a:off x="7085753" y="1563466"/>
            <a:ext cx="1315969" cy="1517095"/>
            <a:chOff x="7731212" y="1305283"/>
            <a:chExt cx="1315969" cy="1517095"/>
          </a:xfrm>
        </p:grpSpPr>
        <p:sp>
          <p:nvSpPr>
            <p:cNvPr id="41" name="Text Box 46"/>
            <p:cNvSpPr txBox="1">
              <a:spLocks noChangeArrowheads="1"/>
            </p:cNvSpPr>
            <p:nvPr/>
          </p:nvSpPr>
          <p:spPr bwMode="auto">
            <a:xfrm>
              <a:off x="7731212" y="1781533"/>
              <a:ext cx="19835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40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ea typeface="华文中宋" pitchFamily="2" charset="-122"/>
                  <a:cs typeface="Times New Roman" pitchFamily="18" charset="0"/>
                </a:rPr>
                <a:t>D</a:t>
              </a:r>
              <a:endParaRPr kumimoji="0" lang="zh-CN" altLang="zh-CN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53" name="组合 52"/>
            <p:cNvGrpSpPr/>
            <p:nvPr/>
          </p:nvGrpSpPr>
          <p:grpSpPr>
            <a:xfrm rot="5400000">
              <a:off x="7522724" y="1889519"/>
              <a:ext cx="1256900" cy="288422"/>
              <a:chOff x="7522724" y="1889519"/>
              <a:chExt cx="1256900" cy="288422"/>
            </a:xfrm>
          </p:grpSpPr>
          <p:sp>
            <p:nvSpPr>
              <p:cNvPr id="14" name="AutoShape 30"/>
              <p:cNvSpPr>
                <a:spLocks noChangeArrowheads="1"/>
              </p:cNvSpPr>
              <p:nvPr/>
            </p:nvSpPr>
            <p:spPr bwMode="auto">
              <a:xfrm rot="5400000">
                <a:off x="7979962" y="1958714"/>
                <a:ext cx="215999" cy="215933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15" name="AutoShape 31"/>
              <p:cNvCxnSpPr>
                <a:cxnSpLocks noChangeShapeType="1"/>
              </p:cNvCxnSpPr>
              <p:nvPr/>
            </p:nvCxnSpPr>
            <p:spPr bwMode="auto">
              <a:xfrm>
                <a:off x="8195928" y="1889519"/>
                <a:ext cx="0" cy="288422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27" name="AutoShape 32"/>
              <p:cNvCxnSpPr>
                <a:cxnSpLocks noChangeShapeType="1"/>
              </p:cNvCxnSpPr>
              <p:nvPr/>
            </p:nvCxnSpPr>
            <p:spPr bwMode="auto">
              <a:xfrm>
                <a:off x="7594490" y="2047071"/>
                <a:ext cx="1116000" cy="0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</p:cxnSp>
          <p:sp>
            <p:nvSpPr>
              <p:cNvPr id="35" name="Oval 40"/>
              <p:cNvSpPr>
                <a:spLocks noChangeArrowheads="1"/>
              </p:cNvSpPr>
              <p:nvPr/>
            </p:nvSpPr>
            <p:spPr bwMode="auto">
              <a:xfrm>
                <a:off x="7522724" y="2008953"/>
                <a:ext cx="71766" cy="71788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1" name="Oval 40"/>
              <p:cNvSpPr>
                <a:spLocks noChangeArrowheads="1"/>
              </p:cNvSpPr>
              <p:nvPr/>
            </p:nvSpPr>
            <p:spPr bwMode="auto">
              <a:xfrm>
                <a:off x="8707858" y="1999989"/>
                <a:ext cx="71766" cy="71788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54" name="Text Box 46"/>
            <p:cNvSpPr txBox="1">
              <a:spLocks noChangeArrowheads="1"/>
            </p:cNvSpPr>
            <p:nvPr/>
          </p:nvSpPr>
          <p:spPr bwMode="auto">
            <a:xfrm>
              <a:off x="8312236" y="1305283"/>
              <a:ext cx="71343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ea typeface="华文中宋" pitchFamily="2" charset="-122"/>
                  <a:cs typeface="Times New Roman" pitchFamily="18" charset="0"/>
                </a:rPr>
                <a:t>阳极</a:t>
              </a:r>
              <a:endParaRPr kumimoji="0" lang="zh-CN" altLang="zh-CN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5" name="Text Box 46"/>
            <p:cNvSpPr txBox="1">
              <a:spLocks noChangeArrowheads="1"/>
            </p:cNvSpPr>
            <p:nvPr/>
          </p:nvSpPr>
          <p:spPr bwMode="auto">
            <a:xfrm>
              <a:off x="8302711" y="2453046"/>
              <a:ext cx="74447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40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ea typeface="华文中宋" pitchFamily="2" charset="-122"/>
                  <a:cs typeface="Times New Roman" pitchFamily="18" charset="0"/>
                </a:rPr>
                <a:t>阴极</a:t>
              </a:r>
              <a:endParaRPr kumimoji="0" lang="zh-CN" altLang="zh-CN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57" name="Text Box 46"/>
          <p:cNvSpPr txBox="1">
            <a:spLocks noChangeArrowheads="1"/>
          </p:cNvSpPr>
          <p:nvPr/>
        </p:nvSpPr>
        <p:spPr bwMode="auto">
          <a:xfrm>
            <a:off x="6970955" y="3476816"/>
            <a:ext cx="1581374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华文中宋" pitchFamily="2" charset="-122"/>
                <a:cs typeface="Times New Roman" pitchFamily="18" charset="0"/>
              </a:rPr>
              <a:t>图形符号</a:t>
            </a:r>
            <a:endParaRPr kumimoji="0" lang="zh-CN" altLang="zh-CN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Box 45"/>
          <p:cNvSpPr txBox="1">
            <a:spLocks noChangeArrowheads="1"/>
          </p:cNvSpPr>
          <p:nvPr/>
        </p:nvSpPr>
        <p:spPr bwMode="auto">
          <a:xfrm>
            <a:off x="161365" y="379182"/>
            <a:ext cx="2951162" cy="523220"/>
          </a:xfrm>
          <a:prstGeom prst="rect">
            <a:avLst/>
          </a:prstGeom>
          <a:noFill/>
          <a:ln w="44450" algn="ctr">
            <a:noFill/>
            <a:miter lim="800000"/>
            <a:headEnd/>
            <a:tailEnd type="none" w="sm" len="lg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伏安特性</a:t>
            </a:r>
            <a:endParaRPr lang="zh-CN" altLang="en-US" sz="28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3245110" y="345391"/>
            <a:ext cx="1089025" cy="2209615"/>
            <a:chOff x="3245110" y="345391"/>
            <a:chExt cx="1089025" cy="2209615"/>
          </a:xfrm>
        </p:grpSpPr>
        <p:sp>
          <p:nvSpPr>
            <p:cNvPr id="79" name="Freeform 7"/>
            <p:cNvSpPr>
              <a:spLocks/>
            </p:cNvSpPr>
            <p:nvPr/>
          </p:nvSpPr>
          <p:spPr bwMode="auto">
            <a:xfrm>
              <a:off x="3245110" y="345391"/>
              <a:ext cx="1089025" cy="2209615"/>
            </a:xfrm>
            <a:custGeom>
              <a:avLst/>
              <a:gdLst>
                <a:gd name="T0" fmla="*/ 2147483647 w 528"/>
                <a:gd name="T1" fmla="*/ 0 h 1496"/>
                <a:gd name="T2" fmla="*/ 2147483647 w 528"/>
                <a:gd name="T3" fmla="*/ 2147483647 h 1496"/>
                <a:gd name="T4" fmla="*/ 0 w 528"/>
                <a:gd name="T5" fmla="*/ 2147483647 h 1496"/>
                <a:gd name="T6" fmla="*/ 0 60000 65536"/>
                <a:gd name="T7" fmla="*/ 0 60000 65536"/>
                <a:gd name="T8" fmla="*/ 0 60000 65536"/>
                <a:gd name="T9" fmla="*/ 0 w 528"/>
                <a:gd name="T10" fmla="*/ 0 h 1496"/>
                <a:gd name="T11" fmla="*/ 528 w 528"/>
                <a:gd name="T12" fmla="*/ 1496 h 14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1496">
                  <a:moveTo>
                    <a:pt x="528" y="0"/>
                  </a:moveTo>
                  <a:cubicBezTo>
                    <a:pt x="476" y="500"/>
                    <a:pt x="424" y="1000"/>
                    <a:pt x="336" y="1248"/>
                  </a:cubicBezTo>
                  <a:cubicBezTo>
                    <a:pt x="248" y="1496"/>
                    <a:pt x="56" y="1448"/>
                    <a:pt x="0" y="1488"/>
                  </a:cubicBezTo>
                </a:path>
              </a:pathLst>
            </a:custGeom>
            <a:noFill/>
            <a:ln w="50800">
              <a:solidFill>
                <a:srgbClr val="FF9933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4" name="Text Box 53"/>
            <p:cNvSpPr txBox="1">
              <a:spLocks noChangeArrowheads="1"/>
            </p:cNvSpPr>
            <p:nvPr/>
          </p:nvSpPr>
          <p:spPr bwMode="auto">
            <a:xfrm>
              <a:off x="3454431" y="686460"/>
              <a:ext cx="7804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FF6600"/>
                  </a:solidFill>
                </a:rPr>
                <a:t>正向</a:t>
              </a: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3245110" y="1600015"/>
            <a:ext cx="838200" cy="646331"/>
            <a:chOff x="3245110" y="1600015"/>
            <a:chExt cx="838200" cy="646331"/>
          </a:xfrm>
        </p:grpSpPr>
        <p:sp>
          <p:nvSpPr>
            <p:cNvPr id="107" name="Text Box 56"/>
            <p:cNvSpPr txBox="1">
              <a:spLocks noChangeArrowheads="1"/>
            </p:cNvSpPr>
            <p:nvPr/>
          </p:nvSpPr>
          <p:spPr bwMode="auto">
            <a:xfrm>
              <a:off x="3321310" y="1600015"/>
              <a:ext cx="762000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dirty="0">
                  <a:solidFill>
                    <a:srgbClr val="00B0F0"/>
                  </a:solidFill>
                  <a:ea typeface="幼圆" pitchFamily="49" charset="-122"/>
                </a:rPr>
                <a:t>死区电压</a:t>
              </a:r>
            </a:p>
          </p:txBody>
        </p:sp>
        <p:sp>
          <p:nvSpPr>
            <p:cNvPr id="103" name="Line 52"/>
            <p:cNvSpPr>
              <a:spLocks noChangeShapeType="1"/>
            </p:cNvSpPr>
            <p:nvPr/>
          </p:nvSpPr>
          <p:spPr bwMode="auto">
            <a:xfrm>
              <a:off x="3245110" y="2196330"/>
              <a:ext cx="685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stealth" w="med" len="med"/>
              <a:tailEnd type="stealth" w="med" len="med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1597285" y="2555005"/>
            <a:ext cx="1647825" cy="1740237"/>
            <a:chOff x="1597285" y="2555005"/>
            <a:chExt cx="1647825" cy="1740237"/>
          </a:xfrm>
        </p:grpSpPr>
        <p:sp>
          <p:nvSpPr>
            <p:cNvPr id="105" name="Text Box 54"/>
            <p:cNvSpPr txBox="1">
              <a:spLocks noChangeArrowheads="1"/>
            </p:cNvSpPr>
            <p:nvPr/>
          </p:nvSpPr>
          <p:spPr bwMode="auto">
            <a:xfrm>
              <a:off x="2121389" y="3747226"/>
              <a:ext cx="86853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FF6600"/>
                  </a:solidFill>
                </a:rPr>
                <a:t>反向</a:t>
              </a:r>
            </a:p>
          </p:txBody>
        </p:sp>
        <p:sp>
          <p:nvSpPr>
            <p:cNvPr id="80" name="Freeform 8"/>
            <p:cNvSpPr>
              <a:spLocks/>
            </p:cNvSpPr>
            <p:nvPr/>
          </p:nvSpPr>
          <p:spPr bwMode="auto">
            <a:xfrm>
              <a:off x="1597285" y="2555005"/>
              <a:ext cx="1647825" cy="1740237"/>
            </a:xfrm>
            <a:custGeom>
              <a:avLst/>
              <a:gdLst>
                <a:gd name="T0" fmla="*/ 2147483647 w 960"/>
                <a:gd name="T1" fmla="*/ 0 h 1296"/>
                <a:gd name="T2" fmla="*/ 2147483647 w 960"/>
                <a:gd name="T3" fmla="*/ 2147483647 h 1296"/>
                <a:gd name="T4" fmla="*/ 2147483647 w 960"/>
                <a:gd name="T5" fmla="*/ 2147483647 h 1296"/>
                <a:gd name="T6" fmla="*/ 0 w 960"/>
                <a:gd name="T7" fmla="*/ 2147483647 h 12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0"/>
                <a:gd name="T13" fmla="*/ 0 h 1296"/>
                <a:gd name="T14" fmla="*/ 960 w 960"/>
                <a:gd name="T15" fmla="*/ 1296 h 12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0" h="1296">
                  <a:moveTo>
                    <a:pt x="960" y="0"/>
                  </a:moveTo>
                  <a:cubicBezTo>
                    <a:pt x="696" y="28"/>
                    <a:pt x="432" y="56"/>
                    <a:pt x="288" y="144"/>
                  </a:cubicBezTo>
                  <a:cubicBezTo>
                    <a:pt x="144" y="232"/>
                    <a:pt x="144" y="336"/>
                    <a:pt x="96" y="528"/>
                  </a:cubicBezTo>
                  <a:cubicBezTo>
                    <a:pt x="48" y="720"/>
                    <a:pt x="16" y="1168"/>
                    <a:pt x="0" y="1296"/>
                  </a:cubicBezTo>
                </a:path>
              </a:pathLst>
            </a:custGeom>
            <a:noFill/>
            <a:ln w="50800">
              <a:solidFill>
                <a:srgbClr val="FF9933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9" name="Text Box 59"/>
          <p:cNvSpPr txBox="1">
            <a:spLocks noChangeArrowheads="1"/>
          </p:cNvSpPr>
          <p:nvPr/>
        </p:nvSpPr>
        <p:spPr bwMode="auto">
          <a:xfrm>
            <a:off x="2029085" y="4495982"/>
            <a:ext cx="2646363" cy="425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硅</a:t>
            </a:r>
            <a:r>
              <a:rPr lang="zh-CN" altLang="en-US" sz="24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管伏安特性</a:t>
            </a:r>
            <a:endParaRPr lang="zh-CN" altLang="en-US" sz="24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1416310" y="0"/>
            <a:ext cx="3962400" cy="4513694"/>
            <a:chOff x="1416310" y="0"/>
            <a:chExt cx="3962400" cy="4513694"/>
          </a:xfrm>
        </p:grpSpPr>
        <p:sp>
          <p:nvSpPr>
            <p:cNvPr id="77" name="Line 3"/>
            <p:cNvSpPr>
              <a:spLocks noChangeShapeType="1"/>
            </p:cNvSpPr>
            <p:nvPr/>
          </p:nvSpPr>
          <p:spPr bwMode="auto">
            <a:xfrm>
              <a:off x="1416310" y="2550577"/>
              <a:ext cx="3505200" cy="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8" name="Line 4"/>
            <p:cNvSpPr>
              <a:spLocks noChangeShapeType="1"/>
            </p:cNvSpPr>
            <p:nvPr/>
          </p:nvSpPr>
          <p:spPr bwMode="auto">
            <a:xfrm flipV="1">
              <a:off x="3235585" y="121034"/>
              <a:ext cx="0" cy="439266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Line 9"/>
            <p:cNvSpPr>
              <a:spLocks noChangeShapeType="1"/>
            </p:cNvSpPr>
            <p:nvPr/>
          </p:nvSpPr>
          <p:spPr bwMode="auto">
            <a:xfrm>
              <a:off x="3245110" y="3259070"/>
              <a:ext cx="15240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Line 10"/>
            <p:cNvSpPr>
              <a:spLocks noChangeShapeType="1"/>
            </p:cNvSpPr>
            <p:nvPr/>
          </p:nvSpPr>
          <p:spPr bwMode="auto">
            <a:xfrm>
              <a:off x="3245110" y="3967564"/>
              <a:ext cx="15240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Line 11"/>
            <p:cNvSpPr>
              <a:spLocks noChangeShapeType="1"/>
            </p:cNvSpPr>
            <p:nvPr/>
          </p:nvSpPr>
          <p:spPr bwMode="auto">
            <a:xfrm>
              <a:off x="3245110" y="1912933"/>
              <a:ext cx="15240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Line 12"/>
            <p:cNvSpPr>
              <a:spLocks noChangeShapeType="1"/>
            </p:cNvSpPr>
            <p:nvPr/>
          </p:nvSpPr>
          <p:spPr bwMode="auto">
            <a:xfrm>
              <a:off x="3245110" y="1204439"/>
              <a:ext cx="15240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5" name="Line 13"/>
            <p:cNvSpPr>
              <a:spLocks noChangeShapeType="1"/>
            </p:cNvSpPr>
            <p:nvPr/>
          </p:nvSpPr>
          <p:spPr bwMode="auto">
            <a:xfrm>
              <a:off x="3245110" y="495945"/>
              <a:ext cx="15240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6" name="Line 19"/>
            <p:cNvSpPr>
              <a:spLocks noChangeShapeType="1"/>
            </p:cNvSpPr>
            <p:nvPr/>
          </p:nvSpPr>
          <p:spPr bwMode="auto">
            <a:xfrm>
              <a:off x="3854710" y="2408878"/>
              <a:ext cx="0" cy="141699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7" name="Line 20"/>
            <p:cNvSpPr>
              <a:spLocks noChangeShapeType="1"/>
            </p:cNvSpPr>
            <p:nvPr/>
          </p:nvSpPr>
          <p:spPr bwMode="auto">
            <a:xfrm>
              <a:off x="4464310" y="2408878"/>
              <a:ext cx="0" cy="141699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8" name="Line 21"/>
            <p:cNvSpPr>
              <a:spLocks noChangeShapeType="1"/>
            </p:cNvSpPr>
            <p:nvPr/>
          </p:nvSpPr>
          <p:spPr bwMode="auto">
            <a:xfrm>
              <a:off x="2711710" y="2408878"/>
              <a:ext cx="0" cy="141699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9" name="Line 22"/>
            <p:cNvSpPr>
              <a:spLocks noChangeShapeType="1"/>
            </p:cNvSpPr>
            <p:nvPr/>
          </p:nvSpPr>
          <p:spPr bwMode="auto">
            <a:xfrm>
              <a:off x="2102110" y="2408878"/>
              <a:ext cx="0" cy="141699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0" name="Text Box 29"/>
            <p:cNvSpPr txBox="1">
              <a:spLocks noChangeArrowheads="1"/>
            </p:cNvSpPr>
            <p:nvPr/>
          </p:nvSpPr>
          <p:spPr bwMode="auto">
            <a:xfrm>
              <a:off x="3397510" y="3825865"/>
              <a:ext cx="762000" cy="340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-40</a:t>
              </a:r>
            </a:p>
          </p:txBody>
        </p:sp>
        <p:sp>
          <p:nvSpPr>
            <p:cNvPr id="91" name="Text Box 30"/>
            <p:cNvSpPr txBox="1">
              <a:spLocks noChangeArrowheads="1"/>
            </p:cNvSpPr>
            <p:nvPr/>
          </p:nvSpPr>
          <p:spPr bwMode="auto">
            <a:xfrm>
              <a:off x="3397510" y="3117372"/>
              <a:ext cx="609600" cy="340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-20</a:t>
              </a:r>
            </a:p>
          </p:txBody>
        </p:sp>
        <p:sp>
          <p:nvSpPr>
            <p:cNvPr id="92" name="Text Box 37"/>
            <p:cNvSpPr txBox="1">
              <a:spLocks noChangeArrowheads="1"/>
            </p:cNvSpPr>
            <p:nvPr/>
          </p:nvSpPr>
          <p:spPr bwMode="auto">
            <a:xfrm>
              <a:off x="3168910" y="2550577"/>
              <a:ext cx="457200" cy="340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93" name="Text Box 40"/>
            <p:cNvSpPr txBox="1">
              <a:spLocks noChangeArrowheads="1"/>
            </p:cNvSpPr>
            <p:nvPr/>
          </p:nvSpPr>
          <p:spPr bwMode="auto">
            <a:xfrm>
              <a:off x="4692910" y="2621426"/>
              <a:ext cx="685800" cy="340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solidFill>
                    <a:schemeClr val="tx1"/>
                  </a:solidFill>
                </a:rPr>
                <a:t>U</a:t>
              </a:r>
              <a:r>
                <a:rPr lang="en-US" altLang="zh-CN" sz="1800">
                  <a:solidFill>
                    <a:schemeClr val="tx1"/>
                  </a:solidFill>
                </a:rPr>
                <a:t>/V</a:t>
              </a:r>
            </a:p>
          </p:txBody>
        </p:sp>
        <p:sp>
          <p:nvSpPr>
            <p:cNvPr id="94" name="Text Box 41"/>
            <p:cNvSpPr txBox="1">
              <a:spLocks noChangeArrowheads="1"/>
            </p:cNvSpPr>
            <p:nvPr/>
          </p:nvSpPr>
          <p:spPr bwMode="auto">
            <a:xfrm>
              <a:off x="2559310" y="0"/>
              <a:ext cx="762000" cy="340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solidFill>
                    <a:schemeClr val="tx1"/>
                  </a:solidFill>
                </a:rPr>
                <a:t>I</a:t>
              </a:r>
              <a:r>
                <a:rPr lang="en-US" altLang="zh-CN" sz="1800">
                  <a:solidFill>
                    <a:schemeClr val="tx1"/>
                  </a:solidFill>
                </a:rPr>
                <a:t>/mA</a:t>
              </a:r>
            </a:p>
          </p:txBody>
        </p:sp>
        <p:sp>
          <p:nvSpPr>
            <p:cNvPr id="95" name="Text Box 42"/>
            <p:cNvSpPr txBox="1">
              <a:spLocks noChangeArrowheads="1"/>
            </p:cNvSpPr>
            <p:nvPr/>
          </p:nvSpPr>
          <p:spPr bwMode="auto">
            <a:xfrm>
              <a:off x="2787910" y="354247"/>
              <a:ext cx="533400" cy="340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60</a:t>
              </a:r>
            </a:p>
          </p:txBody>
        </p:sp>
        <p:sp>
          <p:nvSpPr>
            <p:cNvPr id="96" name="Text Box 43"/>
            <p:cNvSpPr txBox="1">
              <a:spLocks noChangeArrowheads="1"/>
            </p:cNvSpPr>
            <p:nvPr/>
          </p:nvSpPr>
          <p:spPr bwMode="auto">
            <a:xfrm>
              <a:off x="2787910" y="1062740"/>
              <a:ext cx="609600" cy="340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97" name="Text Box 44"/>
            <p:cNvSpPr txBox="1">
              <a:spLocks noChangeArrowheads="1"/>
            </p:cNvSpPr>
            <p:nvPr/>
          </p:nvSpPr>
          <p:spPr bwMode="auto">
            <a:xfrm>
              <a:off x="2798927" y="1700384"/>
              <a:ext cx="457200" cy="340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98" name="Text Box 45"/>
            <p:cNvSpPr txBox="1">
              <a:spLocks noChangeArrowheads="1"/>
            </p:cNvSpPr>
            <p:nvPr/>
          </p:nvSpPr>
          <p:spPr bwMode="auto">
            <a:xfrm>
              <a:off x="1873510" y="2025111"/>
              <a:ext cx="533400" cy="340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-50</a:t>
              </a:r>
            </a:p>
          </p:txBody>
        </p:sp>
        <p:sp>
          <p:nvSpPr>
            <p:cNvPr id="99" name="Text Box 46"/>
            <p:cNvSpPr txBox="1">
              <a:spLocks noChangeArrowheads="1"/>
            </p:cNvSpPr>
            <p:nvPr/>
          </p:nvSpPr>
          <p:spPr bwMode="auto">
            <a:xfrm>
              <a:off x="2483110" y="2025111"/>
              <a:ext cx="533400" cy="340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-25</a:t>
              </a:r>
            </a:p>
          </p:txBody>
        </p:sp>
        <p:sp>
          <p:nvSpPr>
            <p:cNvPr id="100" name="Text Box 47"/>
            <p:cNvSpPr txBox="1">
              <a:spLocks noChangeArrowheads="1"/>
            </p:cNvSpPr>
            <p:nvPr/>
          </p:nvSpPr>
          <p:spPr bwMode="auto">
            <a:xfrm>
              <a:off x="3549910" y="2621426"/>
              <a:ext cx="533400" cy="340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0.4</a:t>
              </a:r>
            </a:p>
          </p:txBody>
        </p:sp>
        <p:sp>
          <p:nvSpPr>
            <p:cNvPr id="101" name="Text Box 48"/>
            <p:cNvSpPr txBox="1">
              <a:spLocks noChangeArrowheads="1"/>
            </p:cNvSpPr>
            <p:nvPr/>
          </p:nvSpPr>
          <p:spPr bwMode="auto">
            <a:xfrm>
              <a:off x="4159510" y="2621426"/>
              <a:ext cx="685800" cy="340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0.8</a:t>
              </a:r>
            </a:p>
          </p:txBody>
        </p:sp>
        <p:sp>
          <p:nvSpPr>
            <p:cNvPr id="110" name="Text Box 60"/>
            <p:cNvSpPr txBox="1">
              <a:spLocks noChangeArrowheads="1"/>
            </p:cNvSpPr>
            <p:nvPr/>
          </p:nvSpPr>
          <p:spPr bwMode="auto">
            <a:xfrm>
              <a:off x="3321310" y="4109262"/>
              <a:ext cx="762000" cy="340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altLang="zh-CN" sz="1800" i="1">
                  <a:solidFill>
                    <a:schemeClr val="tx1"/>
                  </a:solidFill>
                </a:rPr>
                <a:t>I</a:t>
              </a:r>
              <a:r>
                <a:rPr lang="en-US" altLang="zh-CN" sz="1800">
                  <a:solidFill>
                    <a:schemeClr val="tx1"/>
                  </a:solidFill>
                </a:rPr>
                <a:t>/μA</a:t>
              </a:r>
            </a:p>
          </p:txBody>
        </p:sp>
      </p:grpSp>
      <p:sp>
        <p:nvSpPr>
          <p:cNvPr id="135" name="Text Box 111"/>
          <p:cNvSpPr txBox="1">
            <a:spLocks noChangeArrowheads="1"/>
          </p:cNvSpPr>
          <p:nvPr/>
        </p:nvSpPr>
        <p:spPr bwMode="auto">
          <a:xfrm>
            <a:off x="5943600" y="4512759"/>
            <a:ext cx="2609850" cy="422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锗</a:t>
            </a:r>
            <a:r>
              <a:rPr lang="zh-CN" altLang="en-US" sz="24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管伏安特性</a:t>
            </a:r>
            <a:endParaRPr lang="zh-CN" altLang="en-US" sz="24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grpSp>
        <p:nvGrpSpPr>
          <p:cNvPr id="147" name="组合 146"/>
          <p:cNvGrpSpPr/>
          <p:nvPr/>
        </p:nvGrpSpPr>
        <p:grpSpPr>
          <a:xfrm>
            <a:off x="6858000" y="1779954"/>
            <a:ext cx="828101" cy="646331"/>
            <a:chOff x="6858000" y="1779954"/>
            <a:chExt cx="828101" cy="646331"/>
          </a:xfrm>
        </p:grpSpPr>
        <p:sp>
          <p:nvSpPr>
            <p:cNvPr id="138" name="Text Box 114"/>
            <p:cNvSpPr txBox="1">
              <a:spLocks noChangeArrowheads="1"/>
            </p:cNvSpPr>
            <p:nvPr/>
          </p:nvSpPr>
          <p:spPr bwMode="auto">
            <a:xfrm>
              <a:off x="6924101" y="1779954"/>
              <a:ext cx="762000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dirty="0">
                  <a:solidFill>
                    <a:srgbClr val="00B0F0"/>
                  </a:solidFill>
                  <a:ea typeface="幼圆" pitchFamily="49" charset="-122"/>
                </a:rPr>
                <a:t>死区电压</a:t>
              </a:r>
            </a:p>
          </p:txBody>
        </p:sp>
        <p:sp>
          <p:nvSpPr>
            <p:cNvPr id="137" name="Line 113"/>
            <p:cNvSpPr>
              <a:spLocks noChangeShapeType="1"/>
            </p:cNvSpPr>
            <p:nvPr/>
          </p:nvSpPr>
          <p:spPr bwMode="auto">
            <a:xfrm>
              <a:off x="6858000" y="2398769"/>
              <a:ext cx="609600" cy="14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stealth" w="med" len="med"/>
              <a:tailEnd type="stealth" w="med" len="med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39" name="Freeform 141"/>
          <p:cNvSpPr>
            <a:spLocks/>
          </p:cNvSpPr>
          <p:nvPr/>
        </p:nvSpPr>
        <p:spPr bwMode="auto">
          <a:xfrm>
            <a:off x="6858096" y="428817"/>
            <a:ext cx="1066800" cy="2196201"/>
          </a:xfrm>
          <a:custGeom>
            <a:avLst/>
            <a:gdLst>
              <a:gd name="T0" fmla="*/ 2147483647 w 528"/>
              <a:gd name="T1" fmla="*/ 0 h 1496"/>
              <a:gd name="T2" fmla="*/ 2147483647 w 528"/>
              <a:gd name="T3" fmla="*/ 2147483647 h 1496"/>
              <a:gd name="T4" fmla="*/ 0 w 528"/>
              <a:gd name="T5" fmla="*/ 2147483647 h 1496"/>
              <a:gd name="T6" fmla="*/ 0 60000 65536"/>
              <a:gd name="T7" fmla="*/ 0 60000 65536"/>
              <a:gd name="T8" fmla="*/ 0 60000 65536"/>
              <a:gd name="T9" fmla="*/ 0 w 528"/>
              <a:gd name="T10" fmla="*/ 0 h 1496"/>
              <a:gd name="T11" fmla="*/ 528 w 528"/>
              <a:gd name="T12" fmla="*/ 1496 h 14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28" h="1496">
                <a:moveTo>
                  <a:pt x="528" y="0"/>
                </a:moveTo>
                <a:cubicBezTo>
                  <a:pt x="476" y="500"/>
                  <a:pt x="424" y="1000"/>
                  <a:pt x="336" y="1248"/>
                </a:cubicBezTo>
                <a:cubicBezTo>
                  <a:pt x="248" y="1496"/>
                  <a:pt x="56" y="1448"/>
                  <a:pt x="0" y="1488"/>
                </a:cubicBezTo>
              </a:path>
            </a:pathLst>
          </a:custGeom>
          <a:noFill/>
          <a:ln w="50800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0" name="Freeform 142"/>
          <p:cNvSpPr>
            <a:spLocks/>
          </p:cNvSpPr>
          <p:nvPr/>
        </p:nvSpPr>
        <p:spPr bwMode="auto">
          <a:xfrm>
            <a:off x="5200746" y="2607001"/>
            <a:ext cx="1647825" cy="1730830"/>
          </a:xfrm>
          <a:custGeom>
            <a:avLst/>
            <a:gdLst>
              <a:gd name="T0" fmla="*/ 2147483647 w 960"/>
              <a:gd name="T1" fmla="*/ 0 h 1296"/>
              <a:gd name="T2" fmla="*/ 2147483647 w 960"/>
              <a:gd name="T3" fmla="*/ 2147483647 h 1296"/>
              <a:gd name="T4" fmla="*/ 2147483647 w 960"/>
              <a:gd name="T5" fmla="*/ 2147483647 h 1296"/>
              <a:gd name="T6" fmla="*/ 0 w 960"/>
              <a:gd name="T7" fmla="*/ 2147483647 h 1296"/>
              <a:gd name="T8" fmla="*/ 0 60000 65536"/>
              <a:gd name="T9" fmla="*/ 0 60000 65536"/>
              <a:gd name="T10" fmla="*/ 0 60000 65536"/>
              <a:gd name="T11" fmla="*/ 0 60000 65536"/>
              <a:gd name="T12" fmla="*/ 0 w 960"/>
              <a:gd name="T13" fmla="*/ 0 h 1296"/>
              <a:gd name="T14" fmla="*/ 960 w 960"/>
              <a:gd name="T15" fmla="*/ 1296 h 129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0" h="1296">
                <a:moveTo>
                  <a:pt x="960" y="0"/>
                </a:moveTo>
                <a:cubicBezTo>
                  <a:pt x="696" y="28"/>
                  <a:pt x="432" y="56"/>
                  <a:pt x="288" y="144"/>
                </a:cubicBezTo>
                <a:cubicBezTo>
                  <a:pt x="144" y="232"/>
                  <a:pt x="144" y="336"/>
                  <a:pt x="96" y="528"/>
                </a:cubicBezTo>
                <a:cubicBezTo>
                  <a:pt x="48" y="720"/>
                  <a:pt x="16" y="1168"/>
                  <a:pt x="0" y="1296"/>
                </a:cubicBezTo>
              </a:path>
            </a:pathLst>
          </a:custGeom>
          <a:noFill/>
          <a:ln w="50800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5" name="直接连接符 74"/>
          <p:cNvCxnSpPr/>
          <p:nvPr/>
        </p:nvCxnSpPr>
        <p:spPr>
          <a:xfrm rot="5400000" flipH="1" flipV="1">
            <a:off x="3431690" y="1635163"/>
            <a:ext cx="1742739" cy="1588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圆角矩形标注 140"/>
          <p:cNvSpPr/>
          <p:nvPr/>
        </p:nvSpPr>
        <p:spPr>
          <a:xfrm>
            <a:off x="4453666" y="1624405"/>
            <a:ext cx="1151068" cy="340519"/>
          </a:xfrm>
          <a:prstGeom prst="wedgeRoundRectCallout">
            <a:avLst>
              <a:gd name="adj1" fmla="val -59891"/>
              <a:gd name="adj2" fmla="val 181423"/>
              <a:gd name="adj3" fmla="val 16667"/>
            </a:avLst>
          </a:prstGeom>
          <a:solidFill>
            <a:schemeClr val="bg1">
              <a:lumMod val="7500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kumimoji="0" lang="zh-CN" altLang="en-US" sz="20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导通电压</a:t>
            </a:r>
          </a:p>
        </p:txBody>
      </p:sp>
      <p:grpSp>
        <p:nvGrpSpPr>
          <p:cNvPr id="148" name="组合 147"/>
          <p:cNvGrpSpPr/>
          <p:nvPr/>
        </p:nvGrpSpPr>
        <p:grpSpPr>
          <a:xfrm>
            <a:off x="5105400" y="214312"/>
            <a:ext cx="3834204" cy="4355702"/>
            <a:chOff x="5105400" y="214312"/>
            <a:chExt cx="3834204" cy="4355702"/>
          </a:xfrm>
        </p:grpSpPr>
        <p:sp>
          <p:nvSpPr>
            <p:cNvPr id="112" name="Line 88"/>
            <p:cNvSpPr>
              <a:spLocks noChangeShapeType="1"/>
            </p:cNvSpPr>
            <p:nvPr/>
          </p:nvSpPr>
          <p:spPr bwMode="auto">
            <a:xfrm>
              <a:off x="5105400" y="2610168"/>
              <a:ext cx="3505200" cy="1469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3" name="Line 89"/>
            <p:cNvSpPr>
              <a:spLocks noChangeShapeType="1"/>
            </p:cNvSpPr>
            <p:nvPr/>
          </p:nvSpPr>
          <p:spPr bwMode="auto">
            <a:xfrm flipV="1">
              <a:off x="6858000" y="284778"/>
              <a:ext cx="0" cy="4227981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4" name="Line 90"/>
            <p:cNvSpPr>
              <a:spLocks noChangeShapeType="1"/>
            </p:cNvSpPr>
            <p:nvPr/>
          </p:nvSpPr>
          <p:spPr bwMode="auto">
            <a:xfrm>
              <a:off x="6858000" y="1975971"/>
              <a:ext cx="152400" cy="1469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5" name="Line 91"/>
            <p:cNvSpPr>
              <a:spLocks noChangeShapeType="1"/>
            </p:cNvSpPr>
            <p:nvPr/>
          </p:nvSpPr>
          <p:spPr bwMode="auto">
            <a:xfrm>
              <a:off x="6858000" y="3314831"/>
              <a:ext cx="152400" cy="1469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6" name="Line 92"/>
            <p:cNvSpPr>
              <a:spLocks noChangeShapeType="1"/>
            </p:cNvSpPr>
            <p:nvPr/>
          </p:nvSpPr>
          <p:spPr bwMode="auto">
            <a:xfrm>
              <a:off x="6858000" y="4019495"/>
              <a:ext cx="152400" cy="1469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7" name="Line 93"/>
            <p:cNvSpPr>
              <a:spLocks noChangeShapeType="1"/>
            </p:cNvSpPr>
            <p:nvPr/>
          </p:nvSpPr>
          <p:spPr bwMode="auto">
            <a:xfrm>
              <a:off x="6858000" y="1341773"/>
              <a:ext cx="152400" cy="1469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8" name="Line 94"/>
            <p:cNvSpPr>
              <a:spLocks noChangeShapeType="1"/>
            </p:cNvSpPr>
            <p:nvPr/>
          </p:nvSpPr>
          <p:spPr bwMode="auto">
            <a:xfrm>
              <a:off x="6858000" y="778043"/>
              <a:ext cx="152400" cy="1469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9" name="Line 95"/>
            <p:cNvSpPr>
              <a:spLocks noChangeShapeType="1"/>
            </p:cNvSpPr>
            <p:nvPr/>
          </p:nvSpPr>
          <p:spPr bwMode="auto">
            <a:xfrm>
              <a:off x="5638800" y="2469235"/>
              <a:ext cx="0" cy="14093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0" name="Line 96"/>
            <p:cNvSpPr>
              <a:spLocks noChangeShapeType="1"/>
            </p:cNvSpPr>
            <p:nvPr/>
          </p:nvSpPr>
          <p:spPr bwMode="auto">
            <a:xfrm>
              <a:off x="6248400" y="2469235"/>
              <a:ext cx="0" cy="14093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1" name="Line 97"/>
            <p:cNvSpPr>
              <a:spLocks noChangeShapeType="1"/>
            </p:cNvSpPr>
            <p:nvPr/>
          </p:nvSpPr>
          <p:spPr bwMode="auto">
            <a:xfrm>
              <a:off x="8077200" y="2469235"/>
              <a:ext cx="0" cy="14093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2" name="Line 98"/>
            <p:cNvSpPr>
              <a:spLocks noChangeShapeType="1"/>
            </p:cNvSpPr>
            <p:nvPr/>
          </p:nvSpPr>
          <p:spPr bwMode="auto">
            <a:xfrm>
              <a:off x="7467600" y="2469235"/>
              <a:ext cx="0" cy="14093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3" name="Text Box 99"/>
            <p:cNvSpPr txBox="1">
              <a:spLocks noChangeArrowheads="1"/>
            </p:cNvSpPr>
            <p:nvPr/>
          </p:nvSpPr>
          <p:spPr bwMode="auto">
            <a:xfrm>
              <a:off x="7010400" y="3173898"/>
              <a:ext cx="609600" cy="3391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-20</a:t>
              </a:r>
            </a:p>
          </p:txBody>
        </p:sp>
        <p:sp>
          <p:nvSpPr>
            <p:cNvPr id="124" name="Text Box 100"/>
            <p:cNvSpPr txBox="1">
              <a:spLocks noChangeArrowheads="1"/>
            </p:cNvSpPr>
            <p:nvPr/>
          </p:nvSpPr>
          <p:spPr bwMode="auto">
            <a:xfrm>
              <a:off x="7010400" y="3878562"/>
              <a:ext cx="609600" cy="3391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-40</a:t>
              </a:r>
            </a:p>
          </p:txBody>
        </p:sp>
        <p:sp>
          <p:nvSpPr>
            <p:cNvPr id="125" name="Text Box 101"/>
            <p:cNvSpPr txBox="1">
              <a:spLocks noChangeArrowheads="1"/>
            </p:cNvSpPr>
            <p:nvPr/>
          </p:nvSpPr>
          <p:spPr bwMode="auto">
            <a:xfrm>
              <a:off x="5943600" y="2087542"/>
              <a:ext cx="685800" cy="3391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-25</a:t>
              </a:r>
            </a:p>
          </p:txBody>
        </p:sp>
        <p:sp>
          <p:nvSpPr>
            <p:cNvPr id="126" name="Text Box 102"/>
            <p:cNvSpPr txBox="1">
              <a:spLocks noChangeArrowheads="1"/>
            </p:cNvSpPr>
            <p:nvPr/>
          </p:nvSpPr>
          <p:spPr bwMode="auto">
            <a:xfrm>
              <a:off x="7848600" y="2680634"/>
              <a:ext cx="533400" cy="3391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0.4</a:t>
              </a:r>
            </a:p>
          </p:txBody>
        </p:sp>
        <p:sp>
          <p:nvSpPr>
            <p:cNvPr id="127" name="Text Box 103"/>
            <p:cNvSpPr txBox="1">
              <a:spLocks noChangeArrowheads="1"/>
            </p:cNvSpPr>
            <p:nvPr/>
          </p:nvSpPr>
          <p:spPr bwMode="auto">
            <a:xfrm>
              <a:off x="7239000" y="2680634"/>
              <a:ext cx="762000" cy="3391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0.2</a:t>
              </a:r>
            </a:p>
          </p:txBody>
        </p:sp>
        <p:sp>
          <p:nvSpPr>
            <p:cNvPr id="128" name="Text Box 104"/>
            <p:cNvSpPr txBox="1">
              <a:spLocks noChangeArrowheads="1"/>
            </p:cNvSpPr>
            <p:nvPr/>
          </p:nvSpPr>
          <p:spPr bwMode="auto">
            <a:xfrm>
              <a:off x="5334000" y="2087542"/>
              <a:ext cx="685800" cy="3391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-50</a:t>
              </a:r>
            </a:p>
          </p:txBody>
        </p:sp>
        <p:sp>
          <p:nvSpPr>
            <p:cNvPr id="129" name="Text Box 105"/>
            <p:cNvSpPr txBox="1">
              <a:spLocks noChangeArrowheads="1"/>
            </p:cNvSpPr>
            <p:nvPr/>
          </p:nvSpPr>
          <p:spPr bwMode="auto">
            <a:xfrm>
              <a:off x="6324600" y="1200841"/>
              <a:ext cx="457200" cy="3391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30" name="Text Box 106"/>
            <p:cNvSpPr txBox="1">
              <a:spLocks noChangeArrowheads="1"/>
            </p:cNvSpPr>
            <p:nvPr/>
          </p:nvSpPr>
          <p:spPr bwMode="auto">
            <a:xfrm>
              <a:off x="6781800" y="2610168"/>
              <a:ext cx="457200" cy="3391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131" name="Text Box 107"/>
            <p:cNvSpPr txBox="1">
              <a:spLocks noChangeArrowheads="1"/>
            </p:cNvSpPr>
            <p:nvPr/>
          </p:nvSpPr>
          <p:spPr bwMode="auto">
            <a:xfrm>
              <a:off x="6324600" y="637110"/>
              <a:ext cx="457200" cy="3391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15</a:t>
              </a:r>
            </a:p>
          </p:txBody>
        </p:sp>
        <p:sp>
          <p:nvSpPr>
            <p:cNvPr id="132" name="Text Box 108"/>
            <p:cNvSpPr txBox="1">
              <a:spLocks noChangeArrowheads="1"/>
            </p:cNvSpPr>
            <p:nvPr/>
          </p:nvSpPr>
          <p:spPr bwMode="auto">
            <a:xfrm>
              <a:off x="6400800" y="1835038"/>
              <a:ext cx="381000" cy="3391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3" name="Text Box 109"/>
            <p:cNvSpPr txBox="1">
              <a:spLocks noChangeArrowheads="1"/>
            </p:cNvSpPr>
            <p:nvPr/>
          </p:nvSpPr>
          <p:spPr bwMode="auto">
            <a:xfrm>
              <a:off x="6096000" y="214312"/>
              <a:ext cx="762000" cy="3391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solidFill>
                    <a:schemeClr val="tx1"/>
                  </a:solidFill>
                </a:rPr>
                <a:t>I</a:t>
              </a:r>
              <a:r>
                <a:rPr lang="en-US" altLang="zh-CN" sz="1800">
                  <a:solidFill>
                    <a:schemeClr val="tx1"/>
                  </a:solidFill>
                </a:rPr>
                <a:t>/mA</a:t>
              </a:r>
            </a:p>
          </p:txBody>
        </p:sp>
        <p:sp>
          <p:nvSpPr>
            <p:cNvPr id="134" name="Text Box 110"/>
            <p:cNvSpPr txBox="1">
              <a:spLocks noChangeArrowheads="1"/>
            </p:cNvSpPr>
            <p:nvPr/>
          </p:nvSpPr>
          <p:spPr bwMode="auto">
            <a:xfrm>
              <a:off x="8318349" y="2663956"/>
              <a:ext cx="62125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 dirty="0">
                  <a:solidFill>
                    <a:schemeClr val="tx1"/>
                  </a:solidFill>
                </a:rPr>
                <a:t>U</a:t>
              </a:r>
              <a:r>
                <a:rPr lang="en-US" altLang="zh-CN" sz="1800" dirty="0">
                  <a:solidFill>
                    <a:schemeClr val="tx1"/>
                  </a:solidFill>
                </a:rPr>
                <a:t>/V</a:t>
              </a:r>
            </a:p>
          </p:txBody>
        </p:sp>
        <p:sp>
          <p:nvSpPr>
            <p:cNvPr id="136" name="Text Box 112"/>
            <p:cNvSpPr txBox="1">
              <a:spLocks noChangeArrowheads="1"/>
            </p:cNvSpPr>
            <p:nvPr/>
          </p:nvSpPr>
          <p:spPr bwMode="auto">
            <a:xfrm>
              <a:off x="6934200" y="4230894"/>
              <a:ext cx="762000" cy="3391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altLang="zh-CN" sz="1800" i="1">
                  <a:solidFill>
                    <a:schemeClr val="tx1"/>
                  </a:solidFill>
                </a:rPr>
                <a:t>I</a:t>
              </a:r>
              <a:r>
                <a:rPr lang="en-US" altLang="zh-CN" sz="1800">
                  <a:solidFill>
                    <a:schemeClr val="tx1"/>
                  </a:solidFill>
                </a:rPr>
                <a:t>/μA</a:t>
              </a:r>
            </a:p>
          </p:txBody>
        </p:sp>
      </p:grpSp>
      <p:cxnSp>
        <p:nvCxnSpPr>
          <p:cNvPr id="142" name="直接连接符 141"/>
          <p:cNvCxnSpPr/>
          <p:nvPr/>
        </p:nvCxnSpPr>
        <p:spPr>
          <a:xfrm rot="5400000" flipH="1" flipV="1">
            <a:off x="7126148" y="1930998"/>
            <a:ext cx="1388532" cy="795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圆角矩形标注 143"/>
          <p:cNvSpPr/>
          <p:nvPr/>
        </p:nvSpPr>
        <p:spPr>
          <a:xfrm>
            <a:off x="7659445" y="3248810"/>
            <a:ext cx="1151068" cy="340519"/>
          </a:xfrm>
          <a:prstGeom prst="wedgeRoundRectCallout">
            <a:avLst>
              <a:gd name="adj1" fmla="val -35592"/>
              <a:gd name="adj2" fmla="val -213476"/>
              <a:gd name="adj3" fmla="val 16667"/>
            </a:avLst>
          </a:prstGeom>
          <a:solidFill>
            <a:schemeClr val="bg1">
              <a:lumMod val="75000"/>
            </a:schemeClr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kumimoji="0" lang="zh-CN" altLang="en-US" sz="20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导通电压</a:t>
            </a:r>
          </a:p>
        </p:txBody>
      </p:sp>
      <p:grpSp>
        <p:nvGrpSpPr>
          <p:cNvPr id="74" name="组合 73"/>
          <p:cNvGrpSpPr/>
          <p:nvPr/>
        </p:nvGrpSpPr>
        <p:grpSpPr bwMode="auto">
          <a:xfrm>
            <a:off x="869459" y="996113"/>
            <a:ext cx="971724" cy="1267986"/>
            <a:chOff x="7709697" y="1194850"/>
            <a:chExt cx="971724" cy="1267986"/>
          </a:xfrm>
        </p:grpSpPr>
        <p:sp>
          <p:nvSpPr>
            <p:cNvPr id="102" name="Text Box 46"/>
            <p:cNvSpPr txBox="1">
              <a:spLocks noChangeArrowheads="1"/>
            </p:cNvSpPr>
            <p:nvPr/>
          </p:nvSpPr>
          <p:spPr bwMode="auto">
            <a:xfrm>
              <a:off x="7709697" y="1706230"/>
              <a:ext cx="19835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40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ea typeface="华文中宋" pitchFamily="2" charset="-122"/>
                  <a:cs typeface="Times New Roman" pitchFamily="18" charset="0"/>
                </a:rPr>
                <a:t>D</a:t>
              </a:r>
              <a:endParaRPr kumimoji="0" lang="zh-CN" altLang="zh-CN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06" name="组合 52"/>
            <p:cNvGrpSpPr/>
            <p:nvPr/>
          </p:nvGrpSpPr>
          <p:grpSpPr bwMode="auto">
            <a:xfrm rot="5400000">
              <a:off x="7532254" y="1689499"/>
              <a:ext cx="1237850" cy="288422"/>
              <a:chOff x="7332224" y="1889519"/>
              <a:chExt cx="1237850" cy="288422"/>
            </a:xfrm>
          </p:grpSpPr>
          <p:sp>
            <p:nvSpPr>
              <p:cNvPr id="143" name="AutoShape 30"/>
              <p:cNvSpPr>
                <a:spLocks noChangeArrowheads="1"/>
              </p:cNvSpPr>
              <p:nvPr/>
            </p:nvSpPr>
            <p:spPr bwMode="auto">
              <a:xfrm rot="5400000">
                <a:off x="7979962" y="1958714"/>
                <a:ext cx="215999" cy="215933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145" name="AutoShape 31"/>
              <p:cNvCxnSpPr>
                <a:cxnSpLocks noChangeShapeType="1"/>
              </p:cNvCxnSpPr>
              <p:nvPr/>
            </p:nvCxnSpPr>
            <p:spPr bwMode="auto">
              <a:xfrm>
                <a:off x="8195928" y="1889519"/>
                <a:ext cx="0" cy="288422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46" name="AutoShape 32"/>
              <p:cNvCxnSpPr>
                <a:cxnSpLocks noChangeShapeType="1"/>
              </p:cNvCxnSpPr>
              <p:nvPr/>
            </p:nvCxnSpPr>
            <p:spPr bwMode="auto">
              <a:xfrm>
                <a:off x="7402195" y="2049156"/>
                <a:ext cx="1090447" cy="0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</p:cxnSp>
          <p:sp>
            <p:nvSpPr>
              <p:cNvPr id="149" name="Oval 40"/>
              <p:cNvSpPr>
                <a:spLocks noChangeArrowheads="1"/>
              </p:cNvSpPr>
              <p:nvPr/>
            </p:nvSpPr>
            <p:spPr bwMode="auto">
              <a:xfrm>
                <a:off x="7332224" y="2008954"/>
                <a:ext cx="71766" cy="71788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0" name="Oval 40"/>
              <p:cNvSpPr>
                <a:spLocks noChangeArrowheads="1"/>
              </p:cNvSpPr>
              <p:nvPr/>
            </p:nvSpPr>
            <p:spPr bwMode="auto">
              <a:xfrm>
                <a:off x="8498308" y="2009514"/>
                <a:ext cx="71766" cy="71788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2400">
                  <a:ea typeface="华文中宋" pitchFamily="2" charset="-122"/>
                  <a:cs typeface="Times New Roman" pitchFamily="18" charset="0"/>
                </a:endParaRPr>
              </a:p>
            </p:txBody>
          </p:sp>
          <p:cxnSp>
            <p:nvCxnSpPr>
              <p:cNvPr id="151" name="AutoShape 31"/>
              <p:cNvCxnSpPr>
                <a:cxnSpLocks noChangeShapeType="1"/>
              </p:cNvCxnSpPr>
              <p:nvPr/>
            </p:nvCxnSpPr>
            <p:spPr bwMode="auto">
              <a:xfrm rot="10800000" flipH="1">
                <a:off x="7416427" y="1989883"/>
                <a:ext cx="249686" cy="0"/>
              </a:xfrm>
              <a:prstGeom prst="straightConnector1">
                <a:avLst/>
              </a:prstGeom>
              <a:noFill/>
              <a:ln w="25400">
                <a:solidFill>
                  <a:srgbClr val="C00000"/>
                </a:solidFill>
                <a:round/>
                <a:headEnd/>
                <a:tailEnd type="triangle"/>
              </a:ln>
            </p:spPr>
          </p:cxnSp>
        </p:grpSp>
        <p:sp>
          <p:nvSpPr>
            <p:cNvPr id="108" name="Text Box 46"/>
            <p:cNvSpPr txBox="1">
              <a:spLocks noChangeArrowheads="1"/>
            </p:cNvSpPr>
            <p:nvPr/>
          </p:nvSpPr>
          <p:spPr bwMode="auto">
            <a:xfrm>
              <a:off x="8263378" y="1194850"/>
              <a:ext cx="17554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40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ea typeface="华文中宋" pitchFamily="2" charset="-122"/>
                  <a:cs typeface="Times New Roman" pitchFamily="18" charset="0"/>
                </a:rPr>
                <a:t>I</a:t>
              </a:r>
              <a:endParaRPr kumimoji="0" lang="zh-CN" altLang="zh-CN" sz="240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5" name="Text Box 46"/>
            <p:cNvSpPr txBox="1">
              <a:spLocks noChangeArrowheads="1"/>
            </p:cNvSpPr>
            <p:nvPr/>
          </p:nvSpPr>
          <p:spPr bwMode="auto">
            <a:xfrm>
              <a:off x="8385131" y="1787527"/>
              <a:ext cx="27247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40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ea typeface="华文中宋" pitchFamily="2" charset="-122"/>
                  <a:cs typeface="Times New Roman" pitchFamily="18" charset="0"/>
                </a:rPr>
                <a:t>U</a:t>
              </a:r>
              <a:endParaRPr kumimoji="0" lang="zh-CN" altLang="zh-CN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6" name="Text Box 46"/>
            <p:cNvSpPr txBox="1">
              <a:spLocks noChangeArrowheads="1"/>
            </p:cNvSpPr>
            <p:nvPr/>
          </p:nvSpPr>
          <p:spPr bwMode="auto">
            <a:xfrm>
              <a:off x="8387428" y="1437288"/>
              <a:ext cx="27247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40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ea typeface="华文中宋" pitchFamily="2" charset="-122"/>
                  <a:cs typeface="Times New Roman" pitchFamily="18" charset="0"/>
                </a:rPr>
                <a:t>+</a:t>
              </a:r>
              <a:endParaRPr kumimoji="0" lang="zh-CN" altLang="zh-CN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7" name="Text Box 46"/>
            <p:cNvSpPr txBox="1">
              <a:spLocks noChangeArrowheads="1"/>
            </p:cNvSpPr>
            <p:nvPr/>
          </p:nvSpPr>
          <p:spPr bwMode="auto">
            <a:xfrm>
              <a:off x="8408944" y="2093504"/>
              <a:ext cx="27247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40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ea typeface="华文中宋" pitchFamily="2" charset="-122"/>
                  <a:cs typeface="Times New Roman" pitchFamily="18" charset="0"/>
                </a:rPr>
                <a:t>-</a:t>
              </a:r>
              <a:endParaRPr kumimoji="0" lang="zh-CN" altLang="zh-CN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5" presetClass="emph" presetSubtype="0" repeatCount="4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7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/>
      <p:bldP spid="135" grpId="0"/>
      <p:bldP spid="139" grpId="0" animBg="1"/>
      <p:bldP spid="140" grpId="0" animBg="1"/>
      <p:bldP spid="141" grpId="0" animBg="1"/>
      <p:bldP spid="141" grpId="1" animBg="1"/>
      <p:bldP spid="14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Box 45"/>
          <p:cNvSpPr txBox="1">
            <a:spLocks noChangeArrowheads="1"/>
          </p:cNvSpPr>
          <p:nvPr/>
        </p:nvSpPr>
        <p:spPr bwMode="auto">
          <a:xfrm>
            <a:off x="161365" y="379182"/>
            <a:ext cx="2951162" cy="523220"/>
          </a:xfrm>
          <a:prstGeom prst="rect">
            <a:avLst/>
          </a:prstGeom>
          <a:noFill/>
          <a:ln w="44450" algn="ctr">
            <a:noFill/>
            <a:miter lim="800000"/>
            <a:headEnd/>
            <a:tailEnd type="none" w="sm" len="lg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伏安特性</a:t>
            </a:r>
            <a:endParaRPr lang="zh-CN" altLang="en-US" sz="28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155" name="组合 154"/>
          <p:cNvGrpSpPr/>
          <p:nvPr/>
        </p:nvGrpSpPr>
        <p:grpSpPr>
          <a:xfrm>
            <a:off x="1056249" y="1254742"/>
            <a:ext cx="6839864" cy="535531"/>
            <a:chOff x="1056249" y="1254742"/>
            <a:chExt cx="6839864" cy="535531"/>
          </a:xfrm>
        </p:grpSpPr>
        <p:sp>
          <p:nvSpPr>
            <p:cNvPr id="141" name="Text Box 148"/>
            <p:cNvSpPr txBox="1">
              <a:spLocks noChangeArrowheads="1"/>
            </p:cNvSpPr>
            <p:nvPr/>
          </p:nvSpPr>
          <p:spPr bwMode="auto">
            <a:xfrm>
              <a:off x="1317697" y="1254742"/>
              <a:ext cx="6578416" cy="5355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Bef>
                  <a:spcPts val="12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死区电压：硅管约</a:t>
              </a:r>
              <a:r>
                <a:rPr lang="zh-CN" altLang="en-US" sz="24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为 </a:t>
              </a:r>
              <a:r>
                <a:rPr lang="en-US" altLang="zh-CN" sz="24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0.5V</a:t>
              </a:r>
              <a:r>
                <a:rPr lang="zh-CN" altLang="en-US" sz="24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，锗</a:t>
              </a:r>
              <a:r>
                <a:rPr lang="zh-CN" altLang="en-US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管约</a:t>
              </a:r>
              <a:r>
                <a:rPr lang="zh-CN" altLang="en-US" sz="24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为 </a:t>
              </a:r>
              <a:r>
                <a:rPr lang="en-US" altLang="zh-CN" sz="24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0.2V</a:t>
              </a:r>
              <a:r>
                <a:rPr lang="zh-CN" altLang="en-US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。</a:t>
              </a:r>
            </a:p>
          </p:txBody>
        </p:sp>
        <p:sp>
          <p:nvSpPr>
            <p:cNvPr id="152" name="AutoShape 145"/>
            <p:cNvSpPr>
              <a:spLocks noChangeArrowheads="1"/>
            </p:cNvSpPr>
            <p:nvPr/>
          </p:nvSpPr>
          <p:spPr bwMode="auto">
            <a:xfrm>
              <a:off x="1056249" y="1369771"/>
              <a:ext cx="228600" cy="3048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>
                <a:ea typeface="幼圆" pitchFamily="49" charset="-122"/>
              </a:endParaRPr>
            </a:p>
          </p:txBody>
        </p:sp>
      </p:grpSp>
      <p:grpSp>
        <p:nvGrpSpPr>
          <p:cNvPr id="156" name="组合 155"/>
          <p:cNvGrpSpPr/>
          <p:nvPr/>
        </p:nvGrpSpPr>
        <p:grpSpPr>
          <a:xfrm>
            <a:off x="1056248" y="2192114"/>
            <a:ext cx="6872137" cy="535531"/>
            <a:chOff x="1056248" y="2192114"/>
            <a:chExt cx="6872137" cy="535531"/>
          </a:xfrm>
        </p:grpSpPr>
        <p:sp>
          <p:nvSpPr>
            <p:cNvPr id="150" name="Text Box 149"/>
            <p:cNvSpPr txBox="1">
              <a:spLocks noChangeArrowheads="1"/>
            </p:cNvSpPr>
            <p:nvPr/>
          </p:nvSpPr>
          <p:spPr bwMode="auto">
            <a:xfrm>
              <a:off x="1319974" y="2192114"/>
              <a:ext cx="6608411" cy="5355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Bef>
                  <a:spcPts val="1200"/>
                </a:spcBef>
              </a:pPr>
              <a:r>
                <a:rPr lang="zh-CN" altLang="en-US" sz="24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正向</a:t>
              </a:r>
              <a:r>
                <a:rPr lang="zh-CN" altLang="en-US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压降：硅管约</a:t>
              </a:r>
              <a:r>
                <a:rPr lang="zh-CN" altLang="en-US" sz="24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为 </a:t>
              </a:r>
              <a:r>
                <a:rPr lang="en-US" altLang="zh-CN" sz="24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0</a:t>
              </a:r>
              <a:r>
                <a:rPr lang="en-US" altLang="zh-CN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. 7V</a:t>
              </a:r>
              <a:r>
                <a:rPr lang="zh-CN" altLang="en-US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，锗管约</a:t>
              </a:r>
              <a:r>
                <a:rPr lang="zh-CN" altLang="en-US" sz="24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为 </a:t>
              </a:r>
              <a:r>
                <a:rPr lang="en-US" altLang="zh-CN" sz="24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0.3V</a:t>
              </a:r>
              <a:r>
                <a:rPr lang="zh-CN" altLang="en-US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。</a:t>
              </a:r>
            </a:p>
          </p:txBody>
        </p:sp>
        <p:sp>
          <p:nvSpPr>
            <p:cNvPr id="153" name="AutoShape 146"/>
            <p:cNvSpPr>
              <a:spLocks noChangeArrowheads="1"/>
            </p:cNvSpPr>
            <p:nvPr/>
          </p:nvSpPr>
          <p:spPr bwMode="auto">
            <a:xfrm>
              <a:off x="1056248" y="2307143"/>
              <a:ext cx="228600" cy="304800"/>
            </a:xfrm>
            <a:prstGeom prst="triangle">
              <a:avLst>
                <a:gd name="adj" fmla="val 50000"/>
              </a:avLst>
            </a:prstGeom>
            <a:solidFill>
              <a:srgbClr val="FF99CC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>
                <a:ea typeface="幼圆" pitchFamily="49" charset="-122"/>
              </a:endParaRPr>
            </a:p>
          </p:txBody>
        </p:sp>
      </p:grpSp>
      <p:grpSp>
        <p:nvGrpSpPr>
          <p:cNvPr id="157" name="组合 156"/>
          <p:cNvGrpSpPr/>
          <p:nvPr/>
        </p:nvGrpSpPr>
        <p:grpSpPr>
          <a:xfrm>
            <a:off x="1077763" y="3061822"/>
            <a:ext cx="6527894" cy="940835"/>
            <a:chOff x="1077763" y="3330763"/>
            <a:chExt cx="6527894" cy="940835"/>
          </a:xfrm>
        </p:grpSpPr>
        <p:sp>
          <p:nvSpPr>
            <p:cNvPr id="151" name="Text Box 150"/>
            <p:cNvSpPr txBox="1">
              <a:spLocks noChangeArrowheads="1"/>
            </p:cNvSpPr>
            <p:nvPr/>
          </p:nvSpPr>
          <p:spPr bwMode="auto">
            <a:xfrm>
              <a:off x="1309218" y="3330763"/>
              <a:ext cx="6296439" cy="940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Bef>
                  <a:spcPts val="12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常温下，反向饱和电流很小。当</a:t>
              </a:r>
              <a:r>
                <a:rPr lang="en-US" altLang="zh-CN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PN</a:t>
              </a:r>
              <a:r>
                <a:rPr lang="zh-CN" altLang="en-US" sz="24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结温度升高时，反向电流明显增加。</a:t>
              </a:r>
            </a:p>
          </p:txBody>
        </p:sp>
        <p:sp>
          <p:nvSpPr>
            <p:cNvPr id="154" name="AutoShape 147"/>
            <p:cNvSpPr>
              <a:spLocks noChangeArrowheads="1"/>
            </p:cNvSpPr>
            <p:nvPr/>
          </p:nvSpPr>
          <p:spPr bwMode="auto">
            <a:xfrm>
              <a:off x="1077763" y="3424276"/>
              <a:ext cx="228600" cy="304800"/>
            </a:xfrm>
            <a:prstGeom prst="triangle">
              <a:avLst>
                <a:gd name="adj" fmla="val 50000"/>
              </a:avLst>
            </a:prstGeom>
            <a:solidFill>
              <a:srgbClr val="542A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zh-CN" altLang="zh-CN" sz="3200">
                <a:solidFill>
                  <a:srgbClr val="FFFF66"/>
                </a:solidFill>
                <a:latin typeface="隶书" pitchFamily="49" charset="-122"/>
                <a:ea typeface="隶书" pitchFamily="49" charset="-122"/>
              </a:endParaRPr>
            </a:p>
          </p:txBody>
        </p:sp>
      </p:grp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Box 45"/>
          <p:cNvSpPr txBox="1">
            <a:spLocks noChangeArrowheads="1"/>
          </p:cNvSpPr>
          <p:nvPr/>
        </p:nvSpPr>
        <p:spPr bwMode="auto">
          <a:xfrm>
            <a:off x="161365" y="379182"/>
            <a:ext cx="2951162" cy="523220"/>
          </a:xfrm>
          <a:prstGeom prst="rect">
            <a:avLst/>
          </a:prstGeom>
          <a:noFill/>
          <a:ln w="44450" algn="ctr">
            <a:noFill/>
            <a:miter lim="800000"/>
            <a:headEnd/>
            <a:tailEnd type="none" w="sm" len="lg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3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主要参数</a:t>
            </a:r>
            <a:endParaRPr lang="zh-CN" altLang="en-US" sz="28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91" name="Group 40"/>
          <p:cNvGrpSpPr>
            <a:grpSpLocks/>
          </p:cNvGrpSpPr>
          <p:nvPr/>
        </p:nvGrpSpPr>
        <p:grpSpPr bwMode="auto">
          <a:xfrm>
            <a:off x="861527" y="1027881"/>
            <a:ext cx="3668712" cy="519113"/>
            <a:chOff x="685" y="907"/>
            <a:chExt cx="2311" cy="327"/>
          </a:xfrm>
        </p:grpSpPr>
        <p:sp>
          <p:nvSpPr>
            <p:cNvPr id="92" name="Text Box 41"/>
            <p:cNvSpPr txBox="1">
              <a:spLocks noChangeArrowheads="1"/>
            </p:cNvSpPr>
            <p:nvPr/>
          </p:nvSpPr>
          <p:spPr bwMode="auto">
            <a:xfrm>
              <a:off x="932" y="907"/>
              <a:ext cx="20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最大整流电流 </a:t>
              </a:r>
              <a:r>
                <a:rPr lang="en-US" altLang="zh-CN" sz="2800" i="1" dirty="0" err="1">
                  <a:solidFill>
                    <a:srgbClr val="7030A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aseline="-30000" dirty="0" err="1">
                  <a:solidFill>
                    <a:srgbClr val="7030A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om</a:t>
              </a:r>
              <a:r>
                <a:rPr lang="en-US" altLang="zh-CN" sz="2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93" name="Oval 42"/>
            <p:cNvSpPr>
              <a:spLocks noChangeArrowheads="1"/>
            </p:cNvSpPr>
            <p:nvPr/>
          </p:nvSpPr>
          <p:spPr bwMode="auto">
            <a:xfrm>
              <a:off x="685" y="1015"/>
              <a:ext cx="136" cy="136"/>
            </a:xfrm>
            <a:prstGeom prst="ellipse">
              <a:avLst/>
            </a:prstGeom>
            <a:solidFill>
              <a:srgbClr val="FF9933"/>
            </a:solidFill>
            <a:ln w="41275">
              <a:noFill/>
              <a:round/>
              <a:headEnd/>
              <a:tailEnd/>
            </a:ln>
            <a:effectLst>
              <a:prstShdw prst="shdw17" dist="17961" dir="2700000">
                <a:srgbClr val="995C1F"/>
              </a:prstShdw>
            </a:effectLst>
          </p:spPr>
          <p:txBody>
            <a:bodyPr anchor="ctr">
              <a:spAutoFit/>
            </a:bodyPr>
            <a:lstStyle/>
            <a:p>
              <a:pPr eaLnBrk="0" hangingPunct="0"/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94" name="Group 43"/>
          <p:cNvGrpSpPr>
            <a:grpSpLocks/>
          </p:cNvGrpSpPr>
          <p:nvPr/>
        </p:nvGrpSpPr>
        <p:grpSpPr bwMode="auto">
          <a:xfrm>
            <a:off x="861527" y="2639787"/>
            <a:ext cx="4049712" cy="519113"/>
            <a:chOff x="685" y="1570"/>
            <a:chExt cx="2551" cy="327"/>
          </a:xfrm>
        </p:grpSpPr>
        <p:sp>
          <p:nvSpPr>
            <p:cNvPr id="95" name="Text Box 44"/>
            <p:cNvSpPr txBox="1">
              <a:spLocks noChangeArrowheads="1"/>
            </p:cNvSpPr>
            <p:nvPr/>
          </p:nvSpPr>
          <p:spPr bwMode="auto">
            <a:xfrm>
              <a:off x="884" y="1570"/>
              <a:ext cx="235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反向峰值电压 </a:t>
              </a:r>
              <a:r>
                <a:rPr lang="en-US" altLang="zh-CN" sz="2800" i="1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aseline="-300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RM</a:t>
              </a:r>
              <a:r>
                <a:rPr lang="en-US" altLang="zh-CN" sz="2800" b="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96" name="Oval 45"/>
            <p:cNvSpPr>
              <a:spLocks noChangeArrowheads="1"/>
            </p:cNvSpPr>
            <p:nvPr/>
          </p:nvSpPr>
          <p:spPr bwMode="auto">
            <a:xfrm>
              <a:off x="685" y="1695"/>
              <a:ext cx="136" cy="136"/>
            </a:xfrm>
            <a:prstGeom prst="ellipse">
              <a:avLst/>
            </a:prstGeom>
            <a:solidFill>
              <a:schemeClr val="accent1"/>
            </a:solidFill>
            <a:ln w="41275">
              <a:noFill/>
              <a:round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anchor="ctr">
              <a:spAutoFit/>
            </a:bodyPr>
            <a:lstStyle/>
            <a:p>
              <a:pPr eaLnBrk="0" hangingPunct="0">
                <a:defRPr/>
              </a:pPr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03" name="Text Box 2"/>
          <p:cNvSpPr txBox="1">
            <a:spLocks noChangeArrowheads="1"/>
          </p:cNvSpPr>
          <p:nvPr/>
        </p:nvSpPr>
        <p:spPr bwMode="auto">
          <a:xfrm>
            <a:off x="1223477" y="1545402"/>
            <a:ext cx="52095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允许长时间流过的最大正向</a:t>
            </a:r>
            <a:r>
              <a:rPr lang="zh-CN" altLang="en-US" sz="2400" dirty="0">
                <a:solidFill>
                  <a:srgbClr val="FF0000"/>
                </a:solidFill>
                <a:ea typeface="华文中宋" pitchFamily="2" charset="-122"/>
                <a:cs typeface="Times New Roman" pitchFamily="18" charset="0"/>
              </a:rPr>
              <a:t>平均</a:t>
            </a:r>
            <a:r>
              <a:rPr lang="zh-CN" altLang="en-US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电流</a:t>
            </a:r>
          </a:p>
        </p:txBody>
      </p:sp>
      <p:sp>
        <p:nvSpPr>
          <p:cNvPr id="104" name="Text Box 2"/>
          <p:cNvSpPr txBox="1">
            <a:spLocks noChangeArrowheads="1"/>
          </p:cNvSpPr>
          <p:nvPr/>
        </p:nvSpPr>
        <p:spPr bwMode="auto">
          <a:xfrm>
            <a:off x="1194902" y="3236687"/>
            <a:ext cx="39354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反向击穿电压</a:t>
            </a:r>
            <a:r>
              <a:rPr lang="zh-CN" altLang="en-US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的</a:t>
            </a:r>
            <a:r>
              <a:rPr lang="en-US" altLang="zh-CN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1/2</a:t>
            </a:r>
            <a:r>
              <a:rPr lang="zh-CN" altLang="en-US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或</a:t>
            </a:r>
            <a:r>
              <a:rPr lang="en-US" altLang="zh-CN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1/3</a:t>
            </a:r>
            <a:endParaRPr lang="zh-CN" altLang="en-US" sz="24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109" name="组合 108"/>
          <p:cNvGrpSpPr/>
          <p:nvPr/>
        </p:nvGrpSpPr>
        <p:grpSpPr>
          <a:xfrm>
            <a:off x="4987849" y="193638"/>
            <a:ext cx="3962400" cy="4513694"/>
            <a:chOff x="640776" y="36512"/>
            <a:chExt cx="3962400" cy="4854575"/>
          </a:xfrm>
        </p:grpSpPr>
        <p:sp>
          <p:nvSpPr>
            <p:cNvPr id="110" name="Line 3"/>
            <p:cNvSpPr>
              <a:spLocks noChangeShapeType="1"/>
            </p:cNvSpPr>
            <p:nvPr/>
          </p:nvSpPr>
          <p:spPr bwMode="auto">
            <a:xfrm>
              <a:off x="640776" y="2779712"/>
              <a:ext cx="3505200" cy="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1" name="Line 4"/>
            <p:cNvSpPr>
              <a:spLocks noChangeShapeType="1"/>
            </p:cNvSpPr>
            <p:nvPr/>
          </p:nvSpPr>
          <p:spPr bwMode="auto">
            <a:xfrm flipV="1">
              <a:off x="2460051" y="166687"/>
              <a:ext cx="0" cy="472440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2" name="Freeform 7"/>
            <p:cNvSpPr>
              <a:spLocks/>
            </p:cNvSpPr>
            <p:nvPr/>
          </p:nvSpPr>
          <p:spPr bwMode="auto">
            <a:xfrm>
              <a:off x="2469576" y="407987"/>
              <a:ext cx="1089025" cy="2376488"/>
            </a:xfrm>
            <a:custGeom>
              <a:avLst/>
              <a:gdLst>
                <a:gd name="T0" fmla="*/ 2147483647 w 528"/>
                <a:gd name="T1" fmla="*/ 0 h 1496"/>
                <a:gd name="T2" fmla="*/ 2147483647 w 528"/>
                <a:gd name="T3" fmla="*/ 2147483647 h 1496"/>
                <a:gd name="T4" fmla="*/ 0 w 528"/>
                <a:gd name="T5" fmla="*/ 2147483647 h 1496"/>
                <a:gd name="T6" fmla="*/ 0 60000 65536"/>
                <a:gd name="T7" fmla="*/ 0 60000 65536"/>
                <a:gd name="T8" fmla="*/ 0 60000 65536"/>
                <a:gd name="T9" fmla="*/ 0 w 528"/>
                <a:gd name="T10" fmla="*/ 0 h 1496"/>
                <a:gd name="T11" fmla="*/ 528 w 528"/>
                <a:gd name="T12" fmla="*/ 1496 h 14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1496">
                  <a:moveTo>
                    <a:pt x="528" y="0"/>
                  </a:moveTo>
                  <a:cubicBezTo>
                    <a:pt x="476" y="500"/>
                    <a:pt x="424" y="1000"/>
                    <a:pt x="336" y="1248"/>
                  </a:cubicBezTo>
                  <a:cubicBezTo>
                    <a:pt x="248" y="1496"/>
                    <a:pt x="56" y="1448"/>
                    <a:pt x="0" y="1488"/>
                  </a:cubicBezTo>
                </a:path>
              </a:pathLst>
            </a:custGeom>
            <a:noFill/>
            <a:ln w="50800">
              <a:solidFill>
                <a:srgbClr val="FF9933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3" name="Freeform 8"/>
            <p:cNvSpPr>
              <a:spLocks/>
            </p:cNvSpPr>
            <p:nvPr/>
          </p:nvSpPr>
          <p:spPr bwMode="auto">
            <a:xfrm>
              <a:off x="821751" y="2784475"/>
              <a:ext cx="1647825" cy="1871662"/>
            </a:xfrm>
            <a:custGeom>
              <a:avLst/>
              <a:gdLst>
                <a:gd name="T0" fmla="*/ 2147483647 w 960"/>
                <a:gd name="T1" fmla="*/ 0 h 1296"/>
                <a:gd name="T2" fmla="*/ 2147483647 w 960"/>
                <a:gd name="T3" fmla="*/ 2147483647 h 1296"/>
                <a:gd name="T4" fmla="*/ 2147483647 w 960"/>
                <a:gd name="T5" fmla="*/ 2147483647 h 1296"/>
                <a:gd name="T6" fmla="*/ 0 w 960"/>
                <a:gd name="T7" fmla="*/ 2147483647 h 12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0"/>
                <a:gd name="T13" fmla="*/ 0 h 1296"/>
                <a:gd name="T14" fmla="*/ 960 w 960"/>
                <a:gd name="T15" fmla="*/ 1296 h 12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0" h="1296">
                  <a:moveTo>
                    <a:pt x="960" y="0"/>
                  </a:moveTo>
                  <a:cubicBezTo>
                    <a:pt x="696" y="28"/>
                    <a:pt x="432" y="56"/>
                    <a:pt x="288" y="144"/>
                  </a:cubicBezTo>
                  <a:cubicBezTo>
                    <a:pt x="144" y="232"/>
                    <a:pt x="144" y="336"/>
                    <a:pt x="96" y="528"/>
                  </a:cubicBezTo>
                  <a:cubicBezTo>
                    <a:pt x="48" y="720"/>
                    <a:pt x="16" y="1168"/>
                    <a:pt x="0" y="1296"/>
                  </a:cubicBezTo>
                </a:path>
              </a:pathLst>
            </a:custGeom>
            <a:noFill/>
            <a:ln w="50800">
              <a:solidFill>
                <a:srgbClr val="FF9933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4" name="Line 9"/>
            <p:cNvSpPr>
              <a:spLocks noChangeShapeType="1"/>
            </p:cNvSpPr>
            <p:nvPr/>
          </p:nvSpPr>
          <p:spPr bwMode="auto">
            <a:xfrm>
              <a:off x="2469576" y="3541712"/>
              <a:ext cx="15240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5" name="Line 10"/>
            <p:cNvSpPr>
              <a:spLocks noChangeShapeType="1"/>
            </p:cNvSpPr>
            <p:nvPr/>
          </p:nvSpPr>
          <p:spPr bwMode="auto">
            <a:xfrm>
              <a:off x="2469576" y="4303712"/>
              <a:ext cx="15240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6" name="Line 11"/>
            <p:cNvSpPr>
              <a:spLocks noChangeShapeType="1"/>
            </p:cNvSpPr>
            <p:nvPr/>
          </p:nvSpPr>
          <p:spPr bwMode="auto">
            <a:xfrm>
              <a:off x="2469576" y="2093912"/>
              <a:ext cx="15240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7" name="Line 12"/>
            <p:cNvSpPr>
              <a:spLocks noChangeShapeType="1"/>
            </p:cNvSpPr>
            <p:nvPr/>
          </p:nvSpPr>
          <p:spPr bwMode="auto">
            <a:xfrm>
              <a:off x="2469576" y="1331912"/>
              <a:ext cx="15240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8" name="Line 13"/>
            <p:cNvSpPr>
              <a:spLocks noChangeShapeType="1"/>
            </p:cNvSpPr>
            <p:nvPr/>
          </p:nvSpPr>
          <p:spPr bwMode="auto">
            <a:xfrm>
              <a:off x="2469576" y="569912"/>
              <a:ext cx="15240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9" name="Line 19"/>
            <p:cNvSpPr>
              <a:spLocks noChangeShapeType="1"/>
            </p:cNvSpPr>
            <p:nvPr/>
          </p:nvSpPr>
          <p:spPr bwMode="auto">
            <a:xfrm>
              <a:off x="3079176" y="2627312"/>
              <a:ext cx="0" cy="1524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0" name="Line 20"/>
            <p:cNvSpPr>
              <a:spLocks noChangeShapeType="1"/>
            </p:cNvSpPr>
            <p:nvPr/>
          </p:nvSpPr>
          <p:spPr bwMode="auto">
            <a:xfrm>
              <a:off x="3688776" y="2627312"/>
              <a:ext cx="0" cy="1524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1" name="Line 21"/>
            <p:cNvSpPr>
              <a:spLocks noChangeShapeType="1"/>
            </p:cNvSpPr>
            <p:nvPr/>
          </p:nvSpPr>
          <p:spPr bwMode="auto">
            <a:xfrm>
              <a:off x="1936176" y="2627312"/>
              <a:ext cx="0" cy="1524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2" name="Line 22"/>
            <p:cNvSpPr>
              <a:spLocks noChangeShapeType="1"/>
            </p:cNvSpPr>
            <p:nvPr/>
          </p:nvSpPr>
          <p:spPr bwMode="auto">
            <a:xfrm>
              <a:off x="1326576" y="2627312"/>
              <a:ext cx="0" cy="1524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3" name="Text Box 29"/>
            <p:cNvSpPr txBox="1">
              <a:spLocks noChangeArrowheads="1"/>
            </p:cNvSpPr>
            <p:nvPr/>
          </p:nvSpPr>
          <p:spPr bwMode="auto">
            <a:xfrm>
              <a:off x="2621976" y="4151312"/>
              <a:ext cx="7620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-40</a:t>
              </a:r>
            </a:p>
          </p:txBody>
        </p:sp>
        <p:sp>
          <p:nvSpPr>
            <p:cNvPr id="124" name="Text Box 30"/>
            <p:cNvSpPr txBox="1">
              <a:spLocks noChangeArrowheads="1"/>
            </p:cNvSpPr>
            <p:nvPr/>
          </p:nvSpPr>
          <p:spPr bwMode="auto">
            <a:xfrm>
              <a:off x="2621976" y="3389312"/>
              <a:ext cx="6096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-20</a:t>
              </a:r>
            </a:p>
          </p:txBody>
        </p:sp>
        <p:sp>
          <p:nvSpPr>
            <p:cNvPr id="125" name="Text Box 37"/>
            <p:cNvSpPr txBox="1">
              <a:spLocks noChangeArrowheads="1"/>
            </p:cNvSpPr>
            <p:nvPr/>
          </p:nvSpPr>
          <p:spPr bwMode="auto">
            <a:xfrm>
              <a:off x="2393376" y="2779712"/>
              <a:ext cx="4572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126" name="Text Box 40"/>
            <p:cNvSpPr txBox="1">
              <a:spLocks noChangeArrowheads="1"/>
            </p:cNvSpPr>
            <p:nvPr/>
          </p:nvSpPr>
          <p:spPr bwMode="auto">
            <a:xfrm>
              <a:off x="3917376" y="2855912"/>
              <a:ext cx="6858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solidFill>
                    <a:schemeClr val="tx1"/>
                  </a:solidFill>
                </a:rPr>
                <a:t>U</a:t>
              </a:r>
              <a:r>
                <a:rPr lang="en-US" altLang="zh-CN" sz="1800">
                  <a:solidFill>
                    <a:schemeClr val="tx1"/>
                  </a:solidFill>
                </a:rPr>
                <a:t>/V</a:t>
              </a:r>
            </a:p>
          </p:txBody>
        </p:sp>
        <p:sp>
          <p:nvSpPr>
            <p:cNvPr id="127" name="Text Box 41"/>
            <p:cNvSpPr txBox="1">
              <a:spLocks noChangeArrowheads="1"/>
            </p:cNvSpPr>
            <p:nvPr/>
          </p:nvSpPr>
          <p:spPr bwMode="auto">
            <a:xfrm>
              <a:off x="1783776" y="36512"/>
              <a:ext cx="7620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solidFill>
                    <a:schemeClr val="tx1"/>
                  </a:solidFill>
                </a:rPr>
                <a:t>I</a:t>
              </a:r>
              <a:r>
                <a:rPr lang="en-US" altLang="zh-CN" sz="1800">
                  <a:solidFill>
                    <a:schemeClr val="tx1"/>
                  </a:solidFill>
                </a:rPr>
                <a:t>/mA</a:t>
              </a:r>
            </a:p>
          </p:txBody>
        </p:sp>
        <p:sp>
          <p:nvSpPr>
            <p:cNvPr id="128" name="Text Box 42"/>
            <p:cNvSpPr txBox="1">
              <a:spLocks noChangeArrowheads="1"/>
            </p:cNvSpPr>
            <p:nvPr/>
          </p:nvSpPr>
          <p:spPr bwMode="auto">
            <a:xfrm>
              <a:off x="2012376" y="417512"/>
              <a:ext cx="5334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60</a:t>
              </a:r>
            </a:p>
          </p:txBody>
        </p:sp>
        <p:sp>
          <p:nvSpPr>
            <p:cNvPr id="129" name="Text Box 43"/>
            <p:cNvSpPr txBox="1">
              <a:spLocks noChangeArrowheads="1"/>
            </p:cNvSpPr>
            <p:nvPr/>
          </p:nvSpPr>
          <p:spPr bwMode="auto">
            <a:xfrm>
              <a:off x="2012376" y="1179512"/>
              <a:ext cx="6096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130" name="Text Box 44"/>
            <p:cNvSpPr txBox="1">
              <a:spLocks noChangeArrowheads="1"/>
            </p:cNvSpPr>
            <p:nvPr/>
          </p:nvSpPr>
          <p:spPr bwMode="auto">
            <a:xfrm>
              <a:off x="2023393" y="1865311"/>
              <a:ext cx="4572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131" name="Text Box 45"/>
            <p:cNvSpPr txBox="1">
              <a:spLocks noChangeArrowheads="1"/>
            </p:cNvSpPr>
            <p:nvPr/>
          </p:nvSpPr>
          <p:spPr bwMode="auto">
            <a:xfrm>
              <a:off x="1097976" y="2214562"/>
              <a:ext cx="5334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-50</a:t>
              </a:r>
            </a:p>
          </p:txBody>
        </p:sp>
        <p:sp>
          <p:nvSpPr>
            <p:cNvPr id="132" name="Text Box 46"/>
            <p:cNvSpPr txBox="1">
              <a:spLocks noChangeArrowheads="1"/>
            </p:cNvSpPr>
            <p:nvPr/>
          </p:nvSpPr>
          <p:spPr bwMode="auto">
            <a:xfrm>
              <a:off x="1707576" y="2214562"/>
              <a:ext cx="5334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-25</a:t>
              </a:r>
            </a:p>
          </p:txBody>
        </p:sp>
        <p:sp>
          <p:nvSpPr>
            <p:cNvPr id="133" name="Text Box 47"/>
            <p:cNvSpPr txBox="1">
              <a:spLocks noChangeArrowheads="1"/>
            </p:cNvSpPr>
            <p:nvPr/>
          </p:nvSpPr>
          <p:spPr bwMode="auto">
            <a:xfrm>
              <a:off x="2774376" y="2855912"/>
              <a:ext cx="5334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0.4</a:t>
              </a:r>
            </a:p>
          </p:txBody>
        </p:sp>
        <p:sp>
          <p:nvSpPr>
            <p:cNvPr id="134" name="Text Box 48"/>
            <p:cNvSpPr txBox="1">
              <a:spLocks noChangeArrowheads="1"/>
            </p:cNvSpPr>
            <p:nvPr/>
          </p:nvSpPr>
          <p:spPr bwMode="auto">
            <a:xfrm>
              <a:off x="3383976" y="2855912"/>
              <a:ext cx="6858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0.8</a:t>
              </a:r>
            </a:p>
          </p:txBody>
        </p:sp>
        <p:sp>
          <p:nvSpPr>
            <p:cNvPr id="135" name="Line 49"/>
            <p:cNvSpPr>
              <a:spLocks noChangeShapeType="1"/>
            </p:cNvSpPr>
            <p:nvPr/>
          </p:nvSpPr>
          <p:spPr bwMode="auto">
            <a:xfrm>
              <a:off x="1133834" y="3181862"/>
              <a:ext cx="131792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stealth" w="med" len="med"/>
              <a:tailEnd type="stealth" w="med" len="med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6" name="Line 52"/>
            <p:cNvSpPr>
              <a:spLocks noChangeShapeType="1"/>
            </p:cNvSpPr>
            <p:nvPr/>
          </p:nvSpPr>
          <p:spPr bwMode="auto">
            <a:xfrm>
              <a:off x="2469576" y="2398712"/>
              <a:ext cx="685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stealth" w="med" len="med"/>
              <a:tailEnd type="stealth" w="med" len="med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7" name="Text Box 53"/>
            <p:cNvSpPr txBox="1">
              <a:spLocks noChangeArrowheads="1"/>
            </p:cNvSpPr>
            <p:nvPr/>
          </p:nvSpPr>
          <p:spPr bwMode="auto">
            <a:xfrm>
              <a:off x="2678897" y="774814"/>
              <a:ext cx="780400" cy="430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FF6600"/>
                  </a:solidFill>
                </a:rPr>
                <a:t>正向</a:t>
              </a:r>
            </a:p>
          </p:txBody>
        </p:sp>
        <p:sp>
          <p:nvSpPr>
            <p:cNvPr id="138" name="Text Box 54"/>
            <p:cNvSpPr txBox="1">
              <a:spLocks noChangeArrowheads="1"/>
            </p:cNvSpPr>
            <p:nvPr/>
          </p:nvSpPr>
          <p:spPr bwMode="auto">
            <a:xfrm>
              <a:off x="1345855" y="4066734"/>
              <a:ext cx="868535" cy="430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FF6600"/>
                  </a:solidFill>
                </a:rPr>
                <a:t>反向</a:t>
              </a:r>
            </a:p>
          </p:txBody>
        </p:sp>
        <p:sp>
          <p:nvSpPr>
            <p:cNvPr id="139" name="Text Box 55"/>
            <p:cNvSpPr txBox="1">
              <a:spLocks noChangeArrowheads="1"/>
            </p:cNvSpPr>
            <p:nvPr/>
          </p:nvSpPr>
          <p:spPr bwMode="auto">
            <a:xfrm>
              <a:off x="1208242" y="3200213"/>
              <a:ext cx="12954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dirty="0">
                  <a:solidFill>
                    <a:schemeClr val="tx1"/>
                  </a:solidFill>
                  <a:ea typeface="幼圆" pitchFamily="49" charset="-122"/>
                </a:rPr>
                <a:t>击穿电压</a:t>
              </a:r>
            </a:p>
          </p:txBody>
        </p:sp>
        <p:sp>
          <p:nvSpPr>
            <p:cNvPr id="140" name="Text Box 56"/>
            <p:cNvSpPr txBox="1">
              <a:spLocks noChangeArrowheads="1"/>
            </p:cNvSpPr>
            <p:nvPr/>
          </p:nvSpPr>
          <p:spPr bwMode="auto">
            <a:xfrm>
              <a:off x="2545776" y="1757362"/>
              <a:ext cx="762000" cy="6951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dirty="0">
                  <a:solidFill>
                    <a:srgbClr val="00B0F0"/>
                  </a:solidFill>
                  <a:ea typeface="幼圆" pitchFamily="49" charset="-122"/>
                </a:rPr>
                <a:t>死区电压</a:t>
              </a:r>
            </a:p>
          </p:txBody>
        </p:sp>
        <p:sp>
          <p:nvSpPr>
            <p:cNvPr id="141" name="Text Box 57"/>
            <p:cNvSpPr txBox="1">
              <a:spLocks noChangeArrowheads="1"/>
            </p:cNvSpPr>
            <p:nvPr/>
          </p:nvSpPr>
          <p:spPr bwMode="auto">
            <a:xfrm>
              <a:off x="1282347" y="3470466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altLang="zh-CN" sz="2000" i="1" dirty="0">
                  <a:solidFill>
                    <a:schemeClr val="tx1"/>
                  </a:solidFill>
                </a:rPr>
                <a:t>U</a:t>
              </a:r>
              <a:r>
                <a:rPr lang="en-US" altLang="zh-CN" sz="2000" baseline="-30000" dirty="0">
                  <a:solidFill>
                    <a:schemeClr val="tx1"/>
                  </a:solidFill>
                </a:rPr>
                <a:t>(BR)</a:t>
              </a:r>
              <a:endParaRPr lang="en-US" altLang="zh-CN" sz="2400" b="0" dirty="0">
                <a:solidFill>
                  <a:schemeClr val="tx1"/>
                </a:solidFill>
              </a:endParaRPr>
            </a:p>
          </p:txBody>
        </p:sp>
        <p:sp>
          <p:nvSpPr>
            <p:cNvPr id="143" name="Text Box 60"/>
            <p:cNvSpPr txBox="1">
              <a:spLocks noChangeArrowheads="1"/>
            </p:cNvSpPr>
            <p:nvPr/>
          </p:nvSpPr>
          <p:spPr bwMode="auto">
            <a:xfrm>
              <a:off x="2545776" y="4456112"/>
              <a:ext cx="7620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altLang="zh-CN" sz="1800" i="1">
                  <a:solidFill>
                    <a:schemeClr val="tx1"/>
                  </a:solidFill>
                </a:rPr>
                <a:t>I</a:t>
              </a:r>
              <a:r>
                <a:rPr lang="en-US" altLang="zh-CN" sz="1800">
                  <a:solidFill>
                    <a:schemeClr val="tx1"/>
                  </a:solidFill>
                </a:rPr>
                <a:t>/μA</a:t>
              </a:r>
            </a:p>
          </p:txBody>
        </p:sp>
      </p:grp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  <p:bldP spid="10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Box 45"/>
          <p:cNvSpPr txBox="1">
            <a:spLocks noChangeArrowheads="1"/>
          </p:cNvSpPr>
          <p:nvPr/>
        </p:nvSpPr>
        <p:spPr bwMode="auto">
          <a:xfrm>
            <a:off x="161365" y="379182"/>
            <a:ext cx="2951162" cy="523220"/>
          </a:xfrm>
          <a:prstGeom prst="rect">
            <a:avLst/>
          </a:prstGeom>
          <a:noFill/>
          <a:ln w="44450" algn="ctr">
            <a:noFill/>
            <a:miter lim="800000"/>
            <a:headEnd/>
            <a:tailEnd type="none" w="sm" len="lg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3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主要参数</a:t>
            </a:r>
            <a:endParaRPr lang="zh-CN" altLang="en-US" sz="28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904558" y="3343133"/>
            <a:ext cx="3897312" cy="519112"/>
            <a:chOff x="685" y="3067"/>
            <a:chExt cx="2455" cy="327"/>
          </a:xfrm>
        </p:grpSpPr>
        <p:sp>
          <p:nvSpPr>
            <p:cNvPr id="98" name="Text Box 47"/>
            <p:cNvSpPr txBox="1">
              <a:spLocks noChangeArrowheads="1"/>
            </p:cNvSpPr>
            <p:nvPr/>
          </p:nvSpPr>
          <p:spPr bwMode="auto">
            <a:xfrm>
              <a:off x="884" y="3067"/>
              <a:ext cx="225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最高工作频率 </a:t>
              </a:r>
              <a:r>
                <a:rPr lang="en-US" altLang="zh-CN" sz="2800" i="1" dirty="0" err="1">
                  <a:solidFill>
                    <a:srgbClr val="7030A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f</a:t>
              </a:r>
              <a:r>
                <a:rPr lang="en-US" altLang="zh-CN" sz="2800" baseline="-30000" dirty="0" err="1">
                  <a:solidFill>
                    <a:srgbClr val="7030A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M</a:t>
              </a:r>
              <a:r>
                <a:rPr lang="en-US" altLang="zh-CN" sz="2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99" name="Oval 48"/>
            <p:cNvSpPr>
              <a:spLocks noChangeArrowheads="1"/>
            </p:cNvSpPr>
            <p:nvPr/>
          </p:nvSpPr>
          <p:spPr bwMode="auto">
            <a:xfrm>
              <a:off x="685" y="3156"/>
              <a:ext cx="136" cy="136"/>
            </a:xfrm>
            <a:prstGeom prst="ellipse">
              <a:avLst/>
            </a:prstGeom>
            <a:solidFill>
              <a:srgbClr val="0C8DCE"/>
            </a:solidFill>
            <a:ln w="41275">
              <a:noFill/>
              <a:round/>
              <a:headEnd/>
              <a:tailEnd/>
            </a:ln>
            <a:effectLst>
              <a:prstShdw prst="shdw17" dist="17961" dir="2700000">
                <a:srgbClr val="07557C"/>
              </a:prstShdw>
            </a:effectLst>
          </p:spPr>
          <p:txBody>
            <a:bodyPr anchor="ctr">
              <a:spAutoFit/>
            </a:bodyPr>
            <a:lstStyle/>
            <a:p>
              <a:pPr eaLnBrk="0" hangingPunct="0"/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5" name="Group 49"/>
          <p:cNvGrpSpPr>
            <a:grpSpLocks/>
          </p:cNvGrpSpPr>
          <p:nvPr/>
        </p:nvGrpSpPr>
        <p:grpSpPr bwMode="auto">
          <a:xfrm>
            <a:off x="904558" y="1110297"/>
            <a:ext cx="3592512" cy="519113"/>
            <a:chOff x="685" y="2260"/>
            <a:chExt cx="2263" cy="327"/>
          </a:xfrm>
        </p:grpSpPr>
        <p:sp>
          <p:nvSpPr>
            <p:cNvPr id="101" name="Text Box 50"/>
            <p:cNvSpPr txBox="1">
              <a:spLocks noChangeArrowheads="1"/>
            </p:cNvSpPr>
            <p:nvPr/>
          </p:nvSpPr>
          <p:spPr bwMode="auto">
            <a:xfrm>
              <a:off x="884" y="2260"/>
              <a:ext cx="20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反向峰值电流 </a:t>
              </a:r>
              <a:r>
                <a:rPr lang="en-US" altLang="zh-CN" sz="2800" i="1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aseline="-300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RM</a:t>
              </a:r>
              <a:r>
                <a:rPr lang="en-US" altLang="zh-CN" sz="2800" b="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102" name="Oval 51"/>
            <p:cNvSpPr>
              <a:spLocks noChangeArrowheads="1"/>
            </p:cNvSpPr>
            <p:nvPr/>
          </p:nvSpPr>
          <p:spPr bwMode="auto">
            <a:xfrm>
              <a:off x="685" y="2384"/>
              <a:ext cx="136" cy="136"/>
            </a:xfrm>
            <a:prstGeom prst="ellipse">
              <a:avLst/>
            </a:prstGeom>
            <a:solidFill>
              <a:srgbClr val="E174E4"/>
            </a:solidFill>
            <a:ln w="41275">
              <a:noFill/>
              <a:round/>
              <a:headEnd/>
              <a:tailEnd/>
            </a:ln>
            <a:effectLst>
              <a:prstShdw prst="shdw17" dist="17961" dir="2700000">
                <a:srgbClr val="874689"/>
              </a:prstShdw>
            </a:effectLst>
          </p:spPr>
          <p:txBody>
            <a:bodyPr anchor="ctr">
              <a:spAutoFit/>
            </a:bodyPr>
            <a:lstStyle/>
            <a:p>
              <a:pPr eaLnBrk="0" hangingPunct="0"/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05" name="Text Box 2"/>
          <p:cNvSpPr txBox="1">
            <a:spLocks noChangeArrowheads="1"/>
          </p:cNvSpPr>
          <p:nvPr/>
        </p:nvSpPr>
        <p:spPr bwMode="auto">
          <a:xfrm>
            <a:off x="1270205" y="1651840"/>
            <a:ext cx="421619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反向峰值电压时的反向电流值</a:t>
            </a:r>
          </a:p>
        </p:txBody>
      </p:sp>
      <p:grpSp>
        <p:nvGrpSpPr>
          <p:cNvPr id="6" name="Group 46"/>
          <p:cNvGrpSpPr>
            <a:grpSpLocks/>
          </p:cNvGrpSpPr>
          <p:nvPr/>
        </p:nvGrpSpPr>
        <p:grpSpPr bwMode="auto">
          <a:xfrm>
            <a:off x="937507" y="2452222"/>
            <a:ext cx="2613025" cy="519113"/>
            <a:chOff x="685" y="3067"/>
            <a:chExt cx="1646" cy="327"/>
          </a:xfrm>
        </p:grpSpPr>
        <p:sp>
          <p:nvSpPr>
            <p:cNvPr id="107" name="Text Box 47"/>
            <p:cNvSpPr txBox="1">
              <a:spLocks noChangeArrowheads="1"/>
            </p:cNvSpPr>
            <p:nvPr/>
          </p:nvSpPr>
          <p:spPr bwMode="auto">
            <a:xfrm>
              <a:off x="884" y="3067"/>
              <a:ext cx="144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正向压降 </a:t>
              </a:r>
              <a:r>
                <a:rPr lang="en-US" altLang="zh-CN" sz="2800" i="1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aseline="-250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F</a:t>
              </a:r>
              <a:r>
                <a:rPr lang="en-US" altLang="zh-CN" sz="2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华文中宋" pitchFamily="2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108" name="Oval 48"/>
            <p:cNvSpPr>
              <a:spLocks noChangeArrowheads="1"/>
            </p:cNvSpPr>
            <p:nvPr/>
          </p:nvSpPr>
          <p:spPr bwMode="auto">
            <a:xfrm>
              <a:off x="685" y="3156"/>
              <a:ext cx="136" cy="136"/>
            </a:xfrm>
            <a:prstGeom prst="ellipse">
              <a:avLst/>
            </a:prstGeom>
            <a:solidFill>
              <a:srgbClr val="663300"/>
            </a:solidFill>
            <a:ln w="41275">
              <a:noFill/>
              <a:round/>
              <a:headEnd/>
              <a:tailEnd/>
            </a:ln>
            <a:effectLst>
              <a:prstShdw prst="shdw17" dist="17961" dir="2700000">
                <a:srgbClr val="07557C"/>
              </a:prstShdw>
            </a:effectLst>
          </p:spPr>
          <p:txBody>
            <a:bodyPr anchor="ctr">
              <a:spAutoFit/>
            </a:bodyPr>
            <a:lstStyle/>
            <a:p>
              <a:pPr eaLnBrk="0" hangingPunct="0"/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4987849" y="193638"/>
            <a:ext cx="3962400" cy="4513694"/>
            <a:chOff x="640776" y="36512"/>
            <a:chExt cx="3962400" cy="4854575"/>
          </a:xfrm>
        </p:grpSpPr>
        <p:sp>
          <p:nvSpPr>
            <p:cNvPr id="48" name="Line 3"/>
            <p:cNvSpPr>
              <a:spLocks noChangeShapeType="1"/>
            </p:cNvSpPr>
            <p:nvPr/>
          </p:nvSpPr>
          <p:spPr bwMode="auto">
            <a:xfrm>
              <a:off x="640776" y="2779712"/>
              <a:ext cx="3505200" cy="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Line 4"/>
            <p:cNvSpPr>
              <a:spLocks noChangeShapeType="1"/>
            </p:cNvSpPr>
            <p:nvPr/>
          </p:nvSpPr>
          <p:spPr bwMode="auto">
            <a:xfrm flipV="1">
              <a:off x="2460051" y="166687"/>
              <a:ext cx="0" cy="472440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Freeform 7"/>
            <p:cNvSpPr>
              <a:spLocks/>
            </p:cNvSpPr>
            <p:nvPr/>
          </p:nvSpPr>
          <p:spPr bwMode="auto">
            <a:xfrm>
              <a:off x="2469576" y="407987"/>
              <a:ext cx="1089025" cy="2376488"/>
            </a:xfrm>
            <a:custGeom>
              <a:avLst/>
              <a:gdLst>
                <a:gd name="T0" fmla="*/ 2147483647 w 528"/>
                <a:gd name="T1" fmla="*/ 0 h 1496"/>
                <a:gd name="T2" fmla="*/ 2147483647 w 528"/>
                <a:gd name="T3" fmla="*/ 2147483647 h 1496"/>
                <a:gd name="T4" fmla="*/ 0 w 528"/>
                <a:gd name="T5" fmla="*/ 2147483647 h 1496"/>
                <a:gd name="T6" fmla="*/ 0 60000 65536"/>
                <a:gd name="T7" fmla="*/ 0 60000 65536"/>
                <a:gd name="T8" fmla="*/ 0 60000 65536"/>
                <a:gd name="T9" fmla="*/ 0 w 528"/>
                <a:gd name="T10" fmla="*/ 0 h 1496"/>
                <a:gd name="T11" fmla="*/ 528 w 528"/>
                <a:gd name="T12" fmla="*/ 1496 h 14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1496">
                  <a:moveTo>
                    <a:pt x="528" y="0"/>
                  </a:moveTo>
                  <a:cubicBezTo>
                    <a:pt x="476" y="500"/>
                    <a:pt x="424" y="1000"/>
                    <a:pt x="336" y="1248"/>
                  </a:cubicBezTo>
                  <a:cubicBezTo>
                    <a:pt x="248" y="1496"/>
                    <a:pt x="56" y="1448"/>
                    <a:pt x="0" y="1488"/>
                  </a:cubicBezTo>
                </a:path>
              </a:pathLst>
            </a:custGeom>
            <a:noFill/>
            <a:ln w="50800">
              <a:solidFill>
                <a:srgbClr val="FF9933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Freeform 8"/>
            <p:cNvSpPr>
              <a:spLocks/>
            </p:cNvSpPr>
            <p:nvPr/>
          </p:nvSpPr>
          <p:spPr bwMode="auto">
            <a:xfrm>
              <a:off x="821751" y="2784475"/>
              <a:ext cx="1647825" cy="1871662"/>
            </a:xfrm>
            <a:custGeom>
              <a:avLst/>
              <a:gdLst>
                <a:gd name="T0" fmla="*/ 2147483647 w 960"/>
                <a:gd name="T1" fmla="*/ 0 h 1296"/>
                <a:gd name="T2" fmla="*/ 2147483647 w 960"/>
                <a:gd name="T3" fmla="*/ 2147483647 h 1296"/>
                <a:gd name="T4" fmla="*/ 2147483647 w 960"/>
                <a:gd name="T5" fmla="*/ 2147483647 h 1296"/>
                <a:gd name="T6" fmla="*/ 0 w 960"/>
                <a:gd name="T7" fmla="*/ 2147483647 h 12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0"/>
                <a:gd name="T13" fmla="*/ 0 h 1296"/>
                <a:gd name="T14" fmla="*/ 960 w 960"/>
                <a:gd name="T15" fmla="*/ 1296 h 12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0" h="1296">
                  <a:moveTo>
                    <a:pt x="960" y="0"/>
                  </a:moveTo>
                  <a:cubicBezTo>
                    <a:pt x="696" y="28"/>
                    <a:pt x="432" y="56"/>
                    <a:pt x="288" y="144"/>
                  </a:cubicBezTo>
                  <a:cubicBezTo>
                    <a:pt x="144" y="232"/>
                    <a:pt x="144" y="336"/>
                    <a:pt x="96" y="528"/>
                  </a:cubicBezTo>
                  <a:cubicBezTo>
                    <a:pt x="48" y="720"/>
                    <a:pt x="16" y="1168"/>
                    <a:pt x="0" y="1296"/>
                  </a:cubicBezTo>
                </a:path>
              </a:pathLst>
            </a:custGeom>
            <a:noFill/>
            <a:ln w="50800">
              <a:solidFill>
                <a:srgbClr val="FF9933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Line 9"/>
            <p:cNvSpPr>
              <a:spLocks noChangeShapeType="1"/>
            </p:cNvSpPr>
            <p:nvPr/>
          </p:nvSpPr>
          <p:spPr bwMode="auto">
            <a:xfrm>
              <a:off x="2469576" y="3541712"/>
              <a:ext cx="15240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3" name="Line 10"/>
            <p:cNvSpPr>
              <a:spLocks noChangeShapeType="1"/>
            </p:cNvSpPr>
            <p:nvPr/>
          </p:nvSpPr>
          <p:spPr bwMode="auto">
            <a:xfrm>
              <a:off x="2469576" y="4303712"/>
              <a:ext cx="15240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Line 11"/>
            <p:cNvSpPr>
              <a:spLocks noChangeShapeType="1"/>
            </p:cNvSpPr>
            <p:nvPr/>
          </p:nvSpPr>
          <p:spPr bwMode="auto">
            <a:xfrm>
              <a:off x="2469576" y="2093912"/>
              <a:ext cx="15240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0" name="Line 12"/>
            <p:cNvSpPr>
              <a:spLocks noChangeShapeType="1"/>
            </p:cNvSpPr>
            <p:nvPr/>
          </p:nvSpPr>
          <p:spPr bwMode="auto">
            <a:xfrm>
              <a:off x="2469576" y="1331912"/>
              <a:ext cx="15240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1" name="Line 13"/>
            <p:cNvSpPr>
              <a:spLocks noChangeShapeType="1"/>
            </p:cNvSpPr>
            <p:nvPr/>
          </p:nvSpPr>
          <p:spPr bwMode="auto">
            <a:xfrm>
              <a:off x="2469576" y="569912"/>
              <a:ext cx="152400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Line 19"/>
            <p:cNvSpPr>
              <a:spLocks noChangeShapeType="1"/>
            </p:cNvSpPr>
            <p:nvPr/>
          </p:nvSpPr>
          <p:spPr bwMode="auto">
            <a:xfrm>
              <a:off x="3079176" y="2627312"/>
              <a:ext cx="0" cy="1524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3" name="Line 20"/>
            <p:cNvSpPr>
              <a:spLocks noChangeShapeType="1"/>
            </p:cNvSpPr>
            <p:nvPr/>
          </p:nvSpPr>
          <p:spPr bwMode="auto">
            <a:xfrm>
              <a:off x="3688776" y="2627312"/>
              <a:ext cx="0" cy="1524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4" name="Line 21"/>
            <p:cNvSpPr>
              <a:spLocks noChangeShapeType="1"/>
            </p:cNvSpPr>
            <p:nvPr/>
          </p:nvSpPr>
          <p:spPr bwMode="auto">
            <a:xfrm>
              <a:off x="1936176" y="2627312"/>
              <a:ext cx="0" cy="1524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5" name="Line 22"/>
            <p:cNvSpPr>
              <a:spLocks noChangeShapeType="1"/>
            </p:cNvSpPr>
            <p:nvPr/>
          </p:nvSpPr>
          <p:spPr bwMode="auto">
            <a:xfrm>
              <a:off x="1326576" y="2627312"/>
              <a:ext cx="0" cy="1524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6" name="Text Box 29"/>
            <p:cNvSpPr txBox="1">
              <a:spLocks noChangeArrowheads="1"/>
            </p:cNvSpPr>
            <p:nvPr/>
          </p:nvSpPr>
          <p:spPr bwMode="auto">
            <a:xfrm>
              <a:off x="2621976" y="4151312"/>
              <a:ext cx="7620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-40</a:t>
              </a:r>
            </a:p>
          </p:txBody>
        </p:sp>
        <p:sp>
          <p:nvSpPr>
            <p:cNvPr id="97" name="Text Box 30"/>
            <p:cNvSpPr txBox="1">
              <a:spLocks noChangeArrowheads="1"/>
            </p:cNvSpPr>
            <p:nvPr/>
          </p:nvSpPr>
          <p:spPr bwMode="auto">
            <a:xfrm>
              <a:off x="2621976" y="3389312"/>
              <a:ext cx="6096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-20</a:t>
              </a:r>
            </a:p>
          </p:txBody>
        </p:sp>
        <p:sp>
          <p:nvSpPr>
            <p:cNvPr id="100" name="Text Box 37"/>
            <p:cNvSpPr txBox="1">
              <a:spLocks noChangeArrowheads="1"/>
            </p:cNvSpPr>
            <p:nvPr/>
          </p:nvSpPr>
          <p:spPr bwMode="auto">
            <a:xfrm>
              <a:off x="2393376" y="2779712"/>
              <a:ext cx="4572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103" name="Text Box 40"/>
            <p:cNvSpPr txBox="1">
              <a:spLocks noChangeArrowheads="1"/>
            </p:cNvSpPr>
            <p:nvPr/>
          </p:nvSpPr>
          <p:spPr bwMode="auto">
            <a:xfrm>
              <a:off x="3917376" y="2855912"/>
              <a:ext cx="6858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solidFill>
                    <a:schemeClr val="tx1"/>
                  </a:solidFill>
                </a:rPr>
                <a:t>U</a:t>
              </a:r>
              <a:r>
                <a:rPr lang="en-US" altLang="zh-CN" sz="1800">
                  <a:solidFill>
                    <a:schemeClr val="tx1"/>
                  </a:solidFill>
                </a:rPr>
                <a:t>/V</a:t>
              </a:r>
            </a:p>
          </p:txBody>
        </p:sp>
        <p:sp>
          <p:nvSpPr>
            <p:cNvPr id="104" name="Text Box 41"/>
            <p:cNvSpPr txBox="1">
              <a:spLocks noChangeArrowheads="1"/>
            </p:cNvSpPr>
            <p:nvPr/>
          </p:nvSpPr>
          <p:spPr bwMode="auto">
            <a:xfrm>
              <a:off x="1783776" y="36512"/>
              <a:ext cx="7620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solidFill>
                    <a:schemeClr val="tx1"/>
                  </a:solidFill>
                </a:rPr>
                <a:t>I</a:t>
              </a:r>
              <a:r>
                <a:rPr lang="en-US" altLang="zh-CN" sz="1800">
                  <a:solidFill>
                    <a:schemeClr val="tx1"/>
                  </a:solidFill>
                </a:rPr>
                <a:t>/mA</a:t>
              </a:r>
            </a:p>
          </p:txBody>
        </p:sp>
        <p:sp>
          <p:nvSpPr>
            <p:cNvPr id="106" name="Text Box 42"/>
            <p:cNvSpPr txBox="1">
              <a:spLocks noChangeArrowheads="1"/>
            </p:cNvSpPr>
            <p:nvPr/>
          </p:nvSpPr>
          <p:spPr bwMode="auto">
            <a:xfrm>
              <a:off x="2012376" y="417512"/>
              <a:ext cx="5334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60</a:t>
              </a:r>
            </a:p>
          </p:txBody>
        </p:sp>
        <p:sp>
          <p:nvSpPr>
            <p:cNvPr id="109" name="Text Box 43"/>
            <p:cNvSpPr txBox="1">
              <a:spLocks noChangeArrowheads="1"/>
            </p:cNvSpPr>
            <p:nvPr/>
          </p:nvSpPr>
          <p:spPr bwMode="auto">
            <a:xfrm>
              <a:off x="2012376" y="1179512"/>
              <a:ext cx="6096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110" name="Text Box 44"/>
            <p:cNvSpPr txBox="1">
              <a:spLocks noChangeArrowheads="1"/>
            </p:cNvSpPr>
            <p:nvPr/>
          </p:nvSpPr>
          <p:spPr bwMode="auto">
            <a:xfrm>
              <a:off x="2023393" y="1865311"/>
              <a:ext cx="4572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111" name="Text Box 45"/>
            <p:cNvSpPr txBox="1">
              <a:spLocks noChangeArrowheads="1"/>
            </p:cNvSpPr>
            <p:nvPr/>
          </p:nvSpPr>
          <p:spPr bwMode="auto">
            <a:xfrm>
              <a:off x="1097976" y="2214562"/>
              <a:ext cx="5334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-50</a:t>
              </a:r>
            </a:p>
          </p:txBody>
        </p:sp>
        <p:sp>
          <p:nvSpPr>
            <p:cNvPr id="112" name="Text Box 46"/>
            <p:cNvSpPr txBox="1">
              <a:spLocks noChangeArrowheads="1"/>
            </p:cNvSpPr>
            <p:nvPr/>
          </p:nvSpPr>
          <p:spPr bwMode="auto">
            <a:xfrm>
              <a:off x="1707576" y="2214562"/>
              <a:ext cx="5334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-25</a:t>
              </a:r>
            </a:p>
          </p:txBody>
        </p:sp>
        <p:sp>
          <p:nvSpPr>
            <p:cNvPr id="113" name="Text Box 47"/>
            <p:cNvSpPr txBox="1">
              <a:spLocks noChangeArrowheads="1"/>
            </p:cNvSpPr>
            <p:nvPr/>
          </p:nvSpPr>
          <p:spPr bwMode="auto">
            <a:xfrm>
              <a:off x="2774376" y="2855912"/>
              <a:ext cx="5334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0.4</a:t>
              </a:r>
            </a:p>
          </p:txBody>
        </p:sp>
        <p:sp>
          <p:nvSpPr>
            <p:cNvPr id="114" name="Text Box 48"/>
            <p:cNvSpPr txBox="1">
              <a:spLocks noChangeArrowheads="1"/>
            </p:cNvSpPr>
            <p:nvPr/>
          </p:nvSpPr>
          <p:spPr bwMode="auto">
            <a:xfrm>
              <a:off x="3383976" y="2855912"/>
              <a:ext cx="6858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</a:rPr>
                <a:t>0.8</a:t>
              </a:r>
            </a:p>
          </p:txBody>
        </p:sp>
        <p:sp>
          <p:nvSpPr>
            <p:cNvPr id="115" name="Line 49"/>
            <p:cNvSpPr>
              <a:spLocks noChangeShapeType="1"/>
            </p:cNvSpPr>
            <p:nvPr/>
          </p:nvSpPr>
          <p:spPr bwMode="auto">
            <a:xfrm>
              <a:off x="1133834" y="3181862"/>
              <a:ext cx="131792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stealth" w="med" len="med"/>
              <a:tailEnd type="stealth" w="med" len="med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6" name="Line 52"/>
            <p:cNvSpPr>
              <a:spLocks noChangeShapeType="1"/>
            </p:cNvSpPr>
            <p:nvPr/>
          </p:nvSpPr>
          <p:spPr bwMode="auto">
            <a:xfrm>
              <a:off x="2469576" y="2398712"/>
              <a:ext cx="685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stealth" w="med" len="med"/>
              <a:tailEnd type="stealth" w="med" len="med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7" name="Text Box 53"/>
            <p:cNvSpPr txBox="1">
              <a:spLocks noChangeArrowheads="1"/>
            </p:cNvSpPr>
            <p:nvPr/>
          </p:nvSpPr>
          <p:spPr bwMode="auto">
            <a:xfrm>
              <a:off x="2678897" y="774814"/>
              <a:ext cx="780400" cy="430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FF6600"/>
                  </a:solidFill>
                </a:rPr>
                <a:t>正向</a:t>
              </a:r>
            </a:p>
          </p:txBody>
        </p:sp>
        <p:sp>
          <p:nvSpPr>
            <p:cNvPr id="118" name="Text Box 54"/>
            <p:cNvSpPr txBox="1">
              <a:spLocks noChangeArrowheads="1"/>
            </p:cNvSpPr>
            <p:nvPr/>
          </p:nvSpPr>
          <p:spPr bwMode="auto">
            <a:xfrm>
              <a:off x="1345855" y="4066734"/>
              <a:ext cx="868535" cy="430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FF6600"/>
                  </a:solidFill>
                </a:rPr>
                <a:t>反向</a:t>
              </a:r>
            </a:p>
          </p:txBody>
        </p:sp>
        <p:sp>
          <p:nvSpPr>
            <p:cNvPr id="119" name="Text Box 55"/>
            <p:cNvSpPr txBox="1">
              <a:spLocks noChangeArrowheads="1"/>
            </p:cNvSpPr>
            <p:nvPr/>
          </p:nvSpPr>
          <p:spPr bwMode="auto">
            <a:xfrm>
              <a:off x="1208242" y="3200213"/>
              <a:ext cx="12954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dirty="0">
                  <a:solidFill>
                    <a:schemeClr val="tx1"/>
                  </a:solidFill>
                  <a:ea typeface="幼圆" pitchFamily="49" charset="-122"/>
                </a:rPr>
                <a:t>击穿电压</a:t>
              </a:r>
            </a:p>
          </p:txBody>
        </p:sp>
        <p:sp>
          <p:nvSpPr>
            <p:cNvPr id="120" name="Text Box 56"/>
            <p:cNvSpPr txBox="1">
              <a:spLocks noChangeArrowheads="1"/>
            </p:cNvSpPr>
            <p:nvPr/>
          </p:nvSpPr>
          <p:spPr bwMode="auto">
            <a:xfrm>
              <a:off x="2545776" y="1757362"/>
              <a:ext cx="762000" cy="6951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dirty="0">
                  <a:solidFill>
                    <a:srgbClr val="00B0F0"/>
                  </a:solidFill>
                  <a:ea typeface="幼圆" pitchFamily="49" charset="-122"/>
                </a:rPr>
                <a:t>死区电压</a:t>
              </a:r>
            </a:p>
          </p:txBody>
        </p:sp>
        <p:sp>
          <p:nvSpPr>
            <p:cNvPr id="121" name="Text Box 57"/>
            <p:cNvSpPr txBox="1">
              <a:spLocks noChangeArrowheads="1"/>
            </p:cNvSpPr>
            <p:nvPr/>
          </p:nvSpPr>
          <p:spPr bwMode="auto">
            <a:xfrm>
              <a:off x="1282347" y="3470466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altLang="zh-CN" sz="2000" i="1" dirty="0">
                  <a:solidFill>
                    <a:schemeClr val="tx1"/>
                  </a:solidFill>
                </a:rPr>
                <a:t>U</a:t>
              </a:r>
              <a:r>
                <a:rPr lang="en-US" altLang="zh-CN" sz="2000" baseline="-30000" dirty="0">
                  <a:solidFill>
                    <a:schemeClr val="tx1"/>
                  </a:solidFill>
                </a:rPr>
                <a:t>(BR)</a:t>
              </a:r>
              <a:endParaRPr lang="en-US" altLang="zh-CN" sz="2400" b="0" dirty="0">
                <a:solidFill>
                  <a:schemeClr val="tx1"/>
                </a:solidFill>
              </a:endParaRPr>
            </a:p>
          </p:txBody>
        </p:sp>
        <p:sp>
          <p:nvSpPr>
            <p:cNvPr id="122" name="Text Box 60"/>
            <p:cNvSpPr txBox="1">
              <a:spLocks noChangeArrowheads="1"/>
            </p:cNvSpPr>
            <p:nvPr/>
          </p:nvSpPr>
          <p:spPr bwMode="auto">
            <a:xfrm>
              <a:off x="2545776" y="4456112"/>
              <a:ext cx="7620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altLang="zh-CN" sz="1800" i="1">
                  <a:solidFill>
                    <a:schemeClr val="tx1"/>
                  </a:solidFill>
                </a:rPr>
                <a:t>I</a:t>
              </a:r>
              <a:r>
                <a:rPr lang="en-US" altLang="zh-CN" sz="1800">
                  <a:solidFill>
                    <a:schemeClr val="tx1"/>
                  </a:solidFill>
                </a:rPr>
                <a:t>/μA</a:t>
              </a:r>
            </a:p>
          </p:txBody>
        </p:sp>
      </p:grp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4"/>
          <p:cNvGrpSpPr>
            <a:grpSpLocks/>
          </p:cNvGrpSpPr>
          <p:nvPr/>
        </p:nvGrpSpPr>
        <p:grpSpPr bwMode="auto">
          <a:xfrm>
            <a:off x="6019800" y="2200948"/>
            <a:ext cx="2362200" cy="1906588"/>
            <a:chOff x="1104" y="2015"/>
            <a:chExt cx="2208" cy="1298"/>
          </a:xfrm>
        </p:grpSpPr>
        <p:grpSp>
          <p:nvGrpSpPr>
            <p:cNvPr id="36" name="Group 5"/>
            <p:cNvGrpSpPr>
              <a:grpSpLocks/>
            </p:cNvGrpSpPr>
            <p:nvPr/>
          </p:nvGrpSpPr>
          <p:grpSpPr bwMode="auto">
            <a:xfrm>
              <a:off x="1104" y="2014"/>
              <a:ext cx="1104" cy="1296"/>
              <a:chOff x="1104" y="2015"/>
              <a:chExt cx="1344" cy="1746"/>
            </a:xfrm>
          </p:grpSpPr>
          <p:sp>
            <p:nvSpPr>
              <p:cNvPr id="40" name="Freeform 6"/>
              <p:cNvSpPr>
                <a:spLocks/>
              </p:cNvSpPr>
              <p:nvPr/>
            </p:nvSpPr>
            <p:spPr bwMode="auto">
              <a:xfrm>
                <a:off x="1104" y="2015"/>
                <a:ext cx="672" cy="881"/>
              </a:xfrm>
              <a:custGeom>
                <a:avLst/>
                <a:gdLst>
                  <a:gd name="T0" fmla="*/ 0 w 672"/>
                  <a:gd name="T1" fmla="*/ 881 h 881"/>
                  <a:gd name="T2" fmla="*/ 108 w 672"/>
                  <a:gd name="T3" fmla="*/ 493 h 881"/>
                  <a:gd name="T4" fmla="*/ 336 w 672"/>
                  <a:gd name="T5" fmla="*/ 65 h 881"/>
                  <a:gd name="T6" fmla="*/ 672 w 672"/>
                  <a:gd name="T7" fmla="*/ 881 h 88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2"/>
                  <a:gd name="T13" fmla="*/ 0 h 881"/>
                  <a:gd name="T14" fmla="*/ 672 w 672"/>
                  <a:gd name="T15" fmla="*/ 881 h 88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2" h="881">
                    <a:moveTo>
                      <a:pt x="0" y="881"/>
                    </a:moveTo>
                    <a:cubicBezTo>
                      <a:pt x="18" y="816"/>
                      <a:pt x="52" y="629"/>
                      <a:pt x="108" y="493"/>
                    </a:cubicBezTo>
                    <a:cubicBezTo>
                      <a:pt x="164" y="357"/>
                      <a:pt x="242" y="0"/>
                      <a:pt x="336" y="65"/>
                    </a:cubicBezTo>
                    <a:cubicBezTo>
                      <a:pt x="430" y="130"/>
                      <a:pt x="548" y="505"/>
                      <a:pt x="672" y="881"/>
                    </a:cubicBezTo>
                  </a:path>
                </a:pathLst>
              </a:cu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1" name="Freeform 7"/>
              <p:cNvSpPr>
                <a:spLocks/>
              </p:cNvSpPr>
              <p:nvPr/>
            </p:nvSpPr>
            <p:spPr bwMode="auto">
              <a:xfrm rot="10796237">
                <a:off x="1776" y="2880"/>
                <a:ext cx="672" cy="881"/>
              </a:xfrm>
              <a:custGeom>
                <a:avLst/>
                <a:gdLst>
                  <a:gd name="T0" fmla="*/ 0 w 672"/>
                  <a:gd name="T1" fmla="*/ 881 h 881"/>
                  <a:gd name="T2" fmla="*/ 108 w 672"/>
                  <a:gd name="T3" fmla="*/ 493 h 881"/>
                  <a:gd name="T4" fmla="*/ 336 w 672"/>
                  <a:gd name="T5" fmla="*/ 65 h 881"/>
                  <a:gd name="T6" fmla="*/ 672 w 672"/>
                  <a:gd name="T7" fmla="*/ 881 h 88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2"/>
                  <a:gd name="T13" fmla="*/ 0 h 881"/>
                  <a:gd name="T14" fmla="*/ 672 w 672"/>
                  <a:gd name="T15" fmla="*/ 881 h 88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2" h="881">
                    <a:moveTo>
                      <a:pt x="0" y="881"/>
                    </a:moveTo>
                    <a:cubicBezTo>
                      <a:pt x="18" y="816"/>
                      <a:pt x="52" y="629"/>
                      <a:pt x="108" y="493"/>
                    </a:cubicBezTo>
                    <a:cubicBezTo>
                      <a:pt x="164" y="357"/>
                      <a:pt x="242" y="0"/>
                      <a:pt x="336" y="65"/>
                    </a:cubicBezTo>
                    <a:cubicBezTo>
                      <a:pt x="430" y="130"/>
                      <a:pt x="548" y="505"/>
                      <a:pt x="672" y="881"/>
                    </a:cubicBezTo>
                  </a:path>
                </a:pathLst>
              </a:cu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37" name="Group 8"/>
            <p:cNvGrpSpPr>
              <a:grpSpLocks/>
            </p:cNvGrpSpPr>
            <p:nvPr/>
          </p:nvGrpSpPr>
          <p:grpSpPr bwMode="auto">
            <a:xfrm>
              <a:off x="2208" y="2015"/>
              <a:ext cx="1104" cy="1296"/>
              <a:chOff x="1104" y="2015"/>
              <a:chExt cx="1344" cy="1746"/>
            </a:xfrm>
          </p:grpSpPr>
          <p:sp>
            <p:nvSpPr>
              <p:cNvPr id="38" name="Freeform 9"/>
              <p:cNvSpPr>
                <a:spLocks/>
              </p:cNvSpPr>
              <p:nvPr/>
            </p:nvSpPr>
            <p:spPr bwMode="auto">
              <a:xfrm>
                <a:off x="1104" y="2015"/>
                <a:ext cx="672" cy="881"/>
              </a:xfrm>
              <a:custGeom>
                <a:avLst/>
                <a:gdLst>
                  <a:gd name="T0" fmla="*/ 0 w 672"/>
                  <a:gd name="T1" fmla="*/ 881 h 881"/>
                  <a:gd name="T2" fmla="*/ 108 w 672"/>
                  <a:gd name="T3" fmla="*/ 493 h 881"/>
                  <a:gd name="T4" fmla="*/ 336 w 672"/>
                  <a:gd name="T5" fmla="*/ 65 h 881"/>
                  <a:gd name="T6" fmla="*/ 672 w 672"/>
                  <a:gd name="T7" fmla="*/ 881 h 88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2"/>
                  <a:gd name="T13" fmla="*/ 0 h 881"/>
                  <a:gd name="T14" fmla="*/ 672 w 672"/>
                  <a:gd name="T15" fmla="*/ 881 h 88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2" h="881">
                    <a:moveTo>
                      <a:pt x="0" y="881"/>
                    </a:moveTo>
                    <a:cubicBezTo>
                      <a:pt x="18" y="816"/>
                      <a:pt x="52" y="629"/>
                      <a:pt x="108" y="493"/>
                    </a:cubicBezTo>
                    <a:cubicBezTo>
                      <a:pt x="164" y="357"/>
                      <a:pt x="242" y="0"/>
                      <a:pt x="336" y="65"/>
                    </a:cubicBezTo>
                    <a:cubicBezTo>
                      <a:pt x="430" y="130"/>
                      <a:pt x="548" y="505"/>
                      <a:pt x="672" y="881"/>
                    </a:cubicBezTo>
                  </a:path>
                </a:pathLst>
              </a:cu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9" name="Freeform 10"/>
              <p:cNvSpPr>
                <a:spLocks/>
              </p:cNvSpPr>
              <p:nvPr/>
            </p:nvSpPr>
            <p:spPr bwMode="auto">
              <a:xfrm rot="10796237">
                <a:off x="1776" y="2880"/>
                <a:ext cx="672" cy="881"/>
              </a:xfrm>
              <a:custGeom>
                <a:avLst/>
                <a:gdLst>
                  <a:gd name="T0" fmla="*/ 0 w 672"/>
                  <a:gd name="T1" fmla="*/ 881 h 881"/>
                  <a:gd name="T2" fmla="*/ 108 w 672"/>
                  <a:gd name="T3" fmla="*/ 493 h 881"/>
                  <a:gd name="T4" fmla="*/ 336 w 672"/>
                  <a:gd name="T5" fmla="*/ 65 h 881"/>
                  <a:gd name="T6" fmla="*/ 672 w 672"/>
                  <a:gd name="T7" fmla="*/ 881 h 88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2"/>
                  <a:gd name="T13" fmla="*/ 0 h 881"/>
                  <a:gd name="T14" fmla="*/ 672 w 672"/>
                  <a:gd name="T15" fmla="*/ 881 h 88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2" h="881">
                    <a:moveTo>
                      <a:pt x="0" y="881"/>
                    </a:moveTo>
                    <a:cubicBezTo>
                      <a:pt x="18" y="816"/>
                      <a:pt x="52" y="629"/>
                      <a:pt x="108" y="493"/>
                    </a:cubicBezTo>
                    <a:cubicBezTo>
                      <a:pt x="164" y="357"/>
                      <a:pt x="242" y="0"/>
                      <a:pt x="336" y="65"/>
                    </a:cubicBezTo>
                    <a:cubicBezTo>
                      <a:pt x="430" y="130"/>
                      <a:pt x="548" y="505"/>
                      <a:pt x="672" y="881"/>
                    </a:cubicBezTo>
                  </a:path>
                </a:pathLst>
              </a:cu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</p:grpSp>
      <p:grpSp>
        <p:nvGrpSpPr>
          <p:cNvPr id="42" name="Group 11"/>
          <p:cNvGrpSpPr>
            <a:grpSpLocks/>
          </p:cNvGrpSpPr>
          <p:nvPr/>
        </p:nvGrpSpPr>
        <p:grpSpPr bwMode="auto">
          <a:xfrm>
            <a:off x="5529786" y="2505748"/>
            <a:ext cx="2770188" cy="396875"/>
            <a:chOff x="511" y="912"/>
            <a:chExt cx="1745" cy="250"/>
          </a:xfrm>
        </p:grpSpPr>
        <p:sp>
          <p:nvSpPr>
            <p:cNvPr id="43" name="Line 12"/>
            <p:cNvSpPr>
              <a:spLocks noChangeShapeType="1"/>
            </p:cNvSpPr>
            <p:nvPr/>
          </p:nvSpPr>
          <p:spPr bwMode="auto">
            <a:xfrm>
              <a:off x="816" y="1056"/>
              <a:ext cx="14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4" name="Text Box 13"/>
            <p:cNvSpPr txBox="1">
              <a:spLocks noChangeArrowheads="1"/>
            </p:cNvSpPr>
            <p:nvPr/>
          </p:nvSpPr>
          <p:spPr bwMode="auto">
            <a:xfrm>
              <a:off x="511" y="912"/>
              <a:ext cx="40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2000" i="1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000" baseline="-25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R</a:t>
              </a:r>
              <a:endParaRPr lang="en-US" altLang="zh-CN" sz="24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45" name="Group 14"/>
          <p:cNvGrpSpPr>
            <a:grpSpLocks/>
          </p:cNvGrpSpPr>
          <p:nvPr/>
        </p:nvGrpSpPr>
        <p:grpSpPr bwMode="auto">
          <a:xfrm>
            <a:off x="5562600" y="2048548"/>
            <a:ext cx="1914526" cy="396875"/>
            <a:chOff x="528" y="624"/>
            <a:chExt cx="1206" cy="250"/>
          </a:xfrm>
        </p:grpSpPr>
        <p:sp>
          <p:nvSpPr>
            <p:cNvPr id="46" name="Line 15"/>
            <p:cNvSpPr>
              <a:spLocks noChangeShapeType="1"/>
            </p:cNvSpPr>
            <p:nvPr/>
          </p:nvSpPr>
          <p:spPr bwMode="auto">
            <a:xfrm>
              <a:off x="823" y="741"/>
              <a:ext cx="91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7" name="Text Box 16"/>
            <p:cNvSpPr txBox="1">
              <a:spLocks noChangeArrowheads="1"/>
            </p:cNvSpPr>
            <p:nvPr/>
          </p:nvSpPr>
          <p:spPr bwMode="auto">
            <a:xfrm>
              <a:off x="528" y="624"/>
              <a:ext cx="52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000" baseline="-25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m</a:t>
              </a:r>
              <a:endParaRPr lang="en-US" altLang="zh-CN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48" name="Group 17"/>
          <p:cNvGrpSpPr>
            <a:grpSpLocks/>
          </p:cNvGrpSpPr>
          <p:nvPr/>
        </p:nvGrpSpPr>
        <p:grpSpPr bwMode="auto">
          <a:xfrm>
            <a:off x="5486400" y="1438948"/>
            <a:ext cx="3241676" cy="2743200"/>
            <a:chOff x="480" y="240"/>
            <a:chExt cx="2042" cy="1728"/>
          </a:xfrm>
        </p:grpSpPr>
        <p:sp>
          <p:nvSpPr>
            <p:cNvPr id="49" name="Line 18"/>
            <p:cNvSpPr>
              <a:spLocks noChangeShapeType="1"/>
            </p:cNvSpPr>
            <p:nvPr/>
          </p:nvSpPr>
          <p:spPr bwMode="auto">
            <a:xfrm>
              <a:off x="480" y="1318"/>
              <a:ext cx="20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0" name="Line 19"/>
            <p:cNvSpPr>
              <a:spLocks noChangeShapeType="1"/>
            </p:cNvSpPr>
            <p:nvPr/>
          </p:nvSpPr>
          <p:spPr bwMode="auto">
            <a:xfrm flipV="1">
              <a:off x="816" y="454"/>
              <a:ext cx="0" cy="151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1" name="Text Box 20"/>
            <p:cNvSpPr txBox="1">
              <a:spLocks noChangeArrowheads="1"/>
            </p:cNvSpPr>
            <p:nvPr/>
          </p:nvSpPr>
          <p:spPr bwMode="auto">
            <a:xfrm>
              <a:off x="806" y="240"/>
              <a:ext cx="23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v</a:t>
              </a:r>
              <a:r>
                <a:rPr lang="en-US" altLang="zh-CN" sz="2400" i="1" baseline="-25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</a:p>
          </p:txBody>
        </p:sp>
        <p:sp>
          <p:nvSpPr>
            <p:cNvPr id="52" name="Text Box 21"/>
            <p:cNvSpPr txBox="1">
              <a:spLocks noChangeArrowheads="1"/>
            </p:cNvSpPr>
            <p:nvPr/>
          </p:nvSpPr>
          <p:spPr bwMode="auto">
            <a:xfrm>
              <a:off x="2352" y="1296"/>
              <a:ext cx="17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t</a:t>
              </a:r>
            </a:p>
          </p:txBody>
        </p:sp>
        <p:sp>
          <p:nvSpPr>
            <p:cNvPr id="53" name="Text Box 22"/>
            <p:cNvSpPr txBox="1">
              <a:spLocks noChangeArrowheads="1"/>
            </p:cNvSpPr>
            <p:nvPr/>
          </p:nvSpPr>
          <p:spPr bwMode="auto">
            <a:xfrm>
              <a:off x="624" y="1296"/>
              <a:ext cx="28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0</a:t>
              </a:r>
              <a:endParaRPr lang="en-US" altLang="zh-CN" sz="24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54" name="Text Box 29"/>
          <p:cNvSpPr txBox="1">
            <a:spLocks noChangeArrowheads="1"/>
          </p:cNvSpPr>
          <p:nvPr/>
        </p:nvSpPr>
        <p:spPr bwMode="auto">
          <a:xfrm>
            <a:off x="533399" y="3661299"/>
            <a:ext cx="52757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1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v</a:t>
            </a:r>
            <a:r>
              <a:rPr lang="en-US" altLang="zh-CN" sz="2800" i="1" baseline="-250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&gt; </a:t>
            </a:r>
            <a:r>
              <a:rPr lang="en-US" altLang="zh-CN" sz="2800" i="1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800" baseline="-250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R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时，二极管导通，</a:t>
            </a:r>
            <a:r>
              <a:rPr lang="en-US" altLang="zh-CN" sz="2800" i="1" dirty="0" err="1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v</a:t>
            </a:r>
            <a:r>
              <a:rPr lang="en-US" altLang="zh-CN" sz="2800" baseline="-25000" dirty="0" err="1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o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=</a:t>
            </a:r>
            <a:r>
              <a:rPr lang="en-US" altLang="zh-CN" sz="28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v</a:t>
            </a:r>
            <a:r>
              <a:rPr lang="en-US" altLang="zh-CN" sz="2800" i="1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。</a:t>
            </a:r>
          </a:p>
        </p:txBody>
      </p:sp>
      <p:sp>
        <p:nvSpPr>
          <p:cNvPr id="55" name="Text Box 30"/>
          <p:cNvSpPr txBox="1">
            <a:spLocks noChangeArrowheads="1"/>
          </p:cNvSpPr>
          <p:nvPr/>
        </p:nvSpPr>
        <p:spPr bwMode="auto">
          <a:xfrm>
            <a:off x="533400" y="4270899"/>
            <a:ext cx="575982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1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v</a:t>
            </a:r>
            <a:r>
              <a:rPr lang="en-US" altLang="zh-CN" sz="2800" i="1" baseline="-250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&lt; </a:t>
            </a:r>
            <a:r>
              <a:rPr lang="en-US" altLang="zh-CN" sz="2800" i="1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800" baseline="-250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R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时，二极管截止， </a:t>
            </a:r>
            <a:r>
              <a:rPr lang="en-US" altLang="zh-CN" sz="2800" i="1" dirty="0" err="1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v</a:t>
            </a:r>
            <a:r>
              <a:rPr lang="en-US" altLang="zh-CN" sz="2800" baseline="-25000" dirty="0" err="1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o</a:t>
            </a:r>
            <a:r>
              <a:rPr lang="en-US" altLang="zh-CN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=</a:t>
            </a:r>
            <a:r>
              <a:rPr lang="en-US" altLang="zh-CN" sz="2800" i="1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800" baseline="-250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R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。</a:t>
            </a:r>
          </a:p>
        </p:txBody>
      </p:sp>
      <p:grpSp>
        <p:nvGrpSpPr>
          <p:cNvPr id="56" name="Group 39"/>
          <p:cNvGrpSpPr>
            <a:grpSpLocks/>
          </p:cNvGrpSpPr>
          <p:nvPr/>
        </p:nvGrpSpPr>
        <p:grpSpPr bwMode="auto">
          <a:xfrm>
            <a:off x="6122988" y="2250161"/>
            <a:ext cx="1549400" cy="476250"/>
            <a:chOff x="3851" y="1705"/>
            <a:chExt cx="976" cy="300"/>
          </a:xfrm>
        </p:grpSpPr>
        <p:sp>
          <p:nvSpPr>
            <p:cNvPr id="57" name="Freeform 32"/>
            <p:cNvSpPr>
              <a:spLocks/>
            </p:cNvSpPr>
            <p:nvPr/>
          </p:nvSpPr>
          <p:spPr bwMode="auto">
            <a:xfrm>
              <a:off x="4599" y="1705"/>
              <a:ext cx="228" cy="300"/>
            </a:xfrm>
            <a:custGeom>
              <a:avLst/>
              <a:gdLst>
                <a:gd name="T0" fmla="*/ 0 w 672"/>
                <a:gd name="T1" fmla="*/ 35 h 881"/>
                <a:gd name="T2" fmla="*/ 5 w 672"/>
                <a:gd name="T3" fmla="*/ 19 h 881"/>
                <a:gd name="T4" fmla="*/ 16 w 672"/>
                <a:gd name="T5" fmla="*/ 2 h 881"/>
                <a:gd name="T6" fmla="*/ 31 w 672"/>
                <a:gd name="T7" fmla="*/ 35 h 8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881"/>
                <a:gd name="T14" fmla="*/ 672 w 672"/>
                <a:gd name="T15" fmla="*/ 881 h 8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881">
                  <a:moveTo>
                    <a:pt x="0" y="881"/>
                  </a:moveTo>
                  <a:cubicBezTo>
                    <a:pt x="18" y="816"/>
                    <a:pt x="52" y="629"/>
                    <a:pt x="108" y="493"/>
                  </a:cubicBezTo>
                  <a:cubicBezTo>
                    <a:pt x="164" y="357"/>
                    <a:pt x="242" y="0"/>
                    <a:pt x="336" y="65"/>
                  </a:cubicBezTo>
                  <a:cubicBezTo>
                    <a:pt x="430" y="130"/>
                    <a:pt x="548" y="505"/>
                    <a:pt x="672" y="881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8" name="Freeform 33"/>
            <p:cNvSpPr>
              <a:spLocks/>
            </p:cNvSpPr>
            <p:nvPr/>
          </p:nvSpPr>
          <p:spPr bwMode="auto">
            <a:xfrm>
              <a:off x="3851" y="1706"/>
              <a:ext cx="236" cy="299"/>
            </a:xfrm>
            <a:custGeom>
              <a:avLst/>
              <a:gdLst>
                <a:gd name="T0" fmla="*/ 0 w 672"/>
                <a:gd name="T1" fmla="*/ 34 h 881"/>
                <a:gd name="T2" fmla="*/ 5 w 672"/>
                <a:gd name="T3" fmla="*/ 19 h 881"/>
                <a:gd name="T4" fmla="*/ 14 w 672"/>
                <a:gd name="T5" fmla="*/ 2 h 881"/>
                <a:gd name="T6" fmla="*/ 29 w 672"/>
                <a:gd name="T7" fmla="*/ 34 h 8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881"/>
                <a:gd name="T14" fmla="*/ 672 w 672"/>
                <a:gd name="T15" fmla="*/ 881 h 8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881">
                  <a:moveTo>
                    <a:pt x="0" y="881"/>
                  </a:moveTo>
                  <a:cubicBezTo>
                    <a:pt x="18" y="816"/>
                    <a:pt x="52" y="629"/>
                    <a:pt x="108" y="493"/>
                  </a:cubicBezTo>
                  <a:cubicBezTo>
                    <a:pt x="164" y="357"/>
                    <a:pt x="242" y="0"/>
                    <a:pt x="336" y="65"/>
                  </a:cubicBezTo>
                  <a:cubicBezTo>
                    <a:pt x="430" y="130"/>
                    <a:pt x="548" y="505"/>
                    <a:pt x="672" y="881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59" name="Text Box 34"/>
          <p:cNvSpPr txBox="1">
            <a:spLocks noChangeArrowheads="1"/>
          </p:cNvSpPr>
          <p:nvPr/>
        </p:nvSpPr>
        <p:spPr bwMode="auto">
          <a:xfrm>
            <a:off x="372036" y="853124"/>
            <a:ext cx="845999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例：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理想二极管电路中 </a:t>
            </a:r>
            <a:r>
              <a:rPr lang="en-US" altLang="zh-CN" sz="28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v</a:t>
            </a:r>
            <a:r>
              <a:rPr lang="en-US" altLang="zh-CN" sz="2800" i="1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= </a:t>
            </a:r>
            <a:r>
              <a:rPr lang="en-US" altLang="zh-CN" sz="2800" i="1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800" baseline="-250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m</a:t>
            </a:r>
            <a:r>
              <a:rPr lang="en-US" altLang="zh-CN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800" dirty="0" err="1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sin</a:t>
            </a:r>
            <a:r>
              <a:rPr lang="en-US" altLang="zh-CN" sz="2800" i="1" dirty="0" err="1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ωt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V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，求输出波形</a:t>
            </a:r>
            <a:r>
              <a:rPr lang="en-US" altLang="zh-CN" sz="2800" i="1" dirty="0" err="1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v</a:t>
            </a:r>
            <a:r>
              <a:rPr lang="en-US" altLang="zh-CN" sz="2800" baseline="-25000" dirty="0" err="1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O</a:t>
            </a:r>
            <a:endParaRPr lang="zh-CN" altLang="en-US" sz="28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0" name="Text Box 35"/>
          <p:cNvSpPr txBox="1">
            <a:spLocks noChangeArrowheads="1"/>
          </p:cNvSpPr>
          <p:nvPr/>
        </p:nvSpPr>
        <p:spPr bwMode="auto">
          <a:xfrm>
            <a:off x="544158" y="3232786"/>
            <a:ext cx="103699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解：</a:t>
            </a:r>
          </a:p>
        </p:txBody>
      </p:sp>
      <p:sp>
        <p:nvSpPr>
          <p:cNvPr id="61" name="Line 36"/>
          <p:cNvSpPr>
            <a:spLocks noChangeShapeType="1"/>
          </p:cNvSpPr>
          <p:nvPr/>
        </p:nvSpPr>
        <p:spPr bwMode="auto">
          <a:xfrm>
            <a:off x="6019800" y="2734348"/>
            <a:ext cx="904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2" name="Line 37"/>
          <p:cNvSpPr>
            <a:spLocks noChangeShapeType="1"/>
          </p:cNvSpPr>
          <p:nvPr/>
        </p:nvSpPr>
        <p:spPr bwMode="auto">
          <a:xfrm>
            <a:off x="6496051" y="2726729"/>
            <a:ext cx="8001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3" name="Line 38"/>
          <p:cNvSpPr>
            <a:spLocks noChangeShapeType="1"/>
          </p:cNvSpPr>
          <p:nvPr/>
        </p:nvSpPr>
        <p:spPr bwMode="auto">
          <a:xfrm>
            <a:off x="7672387" y="2733079"/>
            <a:ext cx="6080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4" name="Rectangle 2"/>
          <p:cNvSpPr>
            <a:spLocks noGrp="1" noChangeArrowheads="1"/>
          </p:cNvSpPr>
          <p:nvPr>
            <p:ph type="title"/>
          </p:nvPr>
        </p:nvSpPr>
        <p:spPr>
          <a:xfrm>
            <a:off x="168630" y="0"/>
            <a:ext cx="6627812" cy="971550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二极管的应用</a:t>
            </a:r>
            <a:r>
              <a:rPr lang="en-US" altLang="zh-CN" sz="3600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1: </a:t>
            </a:r>
            <a:r>
              <a:rPr lang="zh-CN" altLang="en-US" sz="3600" dirty="0" smtClean="0">
                <a:solidFill>
                  <a:srgbClr val="0070C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限幅电路</a:t>
            </a:r>
          </a:p>
        </p:txBody>
      </p:sp>
      <p:grpSp>
        <p:nvGrpSpPr>
          <p:cNvPr id="40989" name="Group 29"/>
          <p:cNvGrpSpPr>
            <a:grpSpLocks/>
          </p:cNvGrpSpPr>
          <p:nvPr/>
        </p:nvGrpSpPr>
        <p:grpSpPr bwMode="auto">
          <a:xfrm>
            <a:off x="2107622" y="1559633"/>
            <a:ext cx="2052637" cy="1602202"/>
            <a:chOff x="7232" y="1525"/>
            <a:chExt cx="3232" cy="2522"/>
          </a:xfrm>
        </p:grpSpPr>
        <p:sp>
          <p:nvSpPr>
            <p:cNvPr id="40990" name="AutoShape 30"/>
            <p:cNvSpPr>
              <a:spLocks noChangeArrowheads="1"/>
            </p:cNvSpPr>
            <p:nvPr/>
          </p:nvSpPr>
          <p:spPr bwMode="auto">
            <a:xfrm rot="5400000">
              <a:off x="8043" y="1933"/>
              <a:ext cx="340" cy="340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cxnSp>
          <p:nvCxnSpPr>
            <p:cNvPr id="40991" name="AutoShape 31"/>
            <p:cNvCxnSpPr>
              <a:cxnSpLocks noChangeShapeType="1"/>
            </p:cNvCxnSpPr>
            <p:nvPr/>
          </p:nvCxnSpPr>
          <p:spPr bwMode="auto">
            <a:xfrm>
              <a:off x="8383" y="1858"/>
              <a:ext cx="0" cy="454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0992" name="AutoShape 32"/>
            <p:cNvCxnSpPr>
              <a:cxnSpLocks noChangeShapeType="1"/>
            </p:cNvCxnSpPr>
            <p:nvPr/>
          </p:nvCxnSpPr>
          <p:spPr bwMode="auto">
            <a:xfrm>
              <a:off x="7436" y="2106"/>
              <a:ext cx="2580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0993" name="AutoShape 33"/>
            <p:cNvCxnSpPr>
              <a:cxnSpLocks noChangeShapeType="1"/>
            </p:cNvCxnSpPr>
            <p:nvPr/>
          </p:nvCxnSpPr>
          <p:spPr bwMode="auto">
            <a:xfrm>
              <a:off x="9138" y="2106"/>
              <a:ext cx="0" cy="1882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</p:cxnSp>
        <p:sp useBgFill="1">
          <p:nvSpPr>
            <p:cNvPr id="40994" name="Rectangle 34"/>
            <p:cNvSpPr>
              <a:spLocks noChangeArrowheads="1"/>
            </p:cNvSpPr>
            <p:nvPr/>
          </p:nvSpPr>
          <p:spPr bwMode="auto">
            <a:xfrm>
              <a:off x="9033" y="2443"/>
              <a:ext cx="195" cy="525"/>
            </a:xfrm>
            <a:prstGeom prst="rect">
              <a:avLst/>
            </a:prstGeom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 useBgFill="1">
          <p:nvSpPr>
            <p:cNvPr id="40995" name="Rectangle 35"/>
            <p:cNvSpPr>
              <a:spLocks noChangeArrowheads="1"/>
            </p:cNvSpPr>
            <p:nvPr/>
          </p:nvSpPr>
          <p:spPr bwMode="auto">
            <a:xfrm>
              <a:off x="8950" y="3396"/>
              <a:ext cx="340" cy="142"/>
            </a:xfrm>
            <a:prstGeom prst="rect">
              <a:avLst/>
            </a:prstGeom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cxnSp>
          <p:nvCxnSpPr>
            <p:cNvPr id="40996" name="AutoShape 36"/>
            <p:cNvCxnSpPr>
              <a:cxnSpLocks noChangeShapeType="1"/>
            </p:cNvCxnSpPr>
            <p:nvPr/>
          </p:nvCxnSpPr>
          <p:spPr bwMode="auto">
            <a:xfrm>
              <a:off x="8950" y="3366"/>
              <a:ext cx="340" cy="0"/>
            </a:xfrm>
            <a:prstGeom prst="straightConnector1">
              <a:avLst/>
            </a:prstGeom>
            <a:noFill/>
            <a:ln w="44450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0997" name="AutoShape 37"/>
            <p:cNvCxnSpPr>
              <a:cxnSpLocks noChangeShapeType="1"/>
            </p:cNvCxnSpPr>
            <p:nvPr/>
          </p:nvCxnSpPr>
          <p:spPr bwMode="auto">
            <a:xfrm>
              <a:off x="9033" y="3538"/>
              <a:ext cx="195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0998" name="AutoShape 38"/>
            <p:cNvCxnSpPr>
              <a:cxnSpLocks noChangeShapeType="1"/>
            </p:cNvCxnSpPr>
            <p:nvPr/>
          </p:nvCxnSpPr>
          <p:spPr bwMode="auto">
            <a:xfrm>
              <a:off x="7436" y="3988"/>
              <a:ext cx="2580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40999" name="Oval 39"/>
            <p:cNvSpPr>
              <a:spLocks noChangeArrowheads="1"/>
            </p:cNvSpPr>
            <p:nvPr/>
          </p:nvSpPr>
          <p:spPr bwMode="auto">
            <a:xfrm>
              <a:off x="10016" y="3934"/>
              <a:ext cx="113" cy="113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000" name="Oval 40"/>
            <p:cNvSpPr>
              <a:spLocks noChangeArrowheads="1"/>
            </p:cNvSpPr>
            <p:nvPr/>
          </p:nvSpPr>
          <p:spPr bwMode="auto">
            <a:xfrm>
              <a:off x="7323" y="2046"/>
              <a:ext cx="113" cy="113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001" name="Oval 41"/>
            <p:cNvSpPr>
              <a:spLocks noChangeArrowheads="1"/>
            </p:cNvSpPr>
            <p:nvPr/>
          </p:nvSpPr>
          <p:spPr bwMode="auto">
            <a:xfrm>
              <a:off x="10016" y="2040"/>
              <a:ext cx="113" cy="113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002" name="Oval 42"/>
            <p:cNvSpPr>
              <a:spLocks noChangeArrowheads="1"/>
            </p:cNvSpPr>
            <p:nvPr/>
          </p:nvSpPr>
          <p:spPr bwMode="auto">
            <a:xfrm>
              <a:off x="7323" y="3934"/>
              <a:ext cx="113" cy="113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003" name="Text Box 43"/>
            <p:cNvSpPr txBox="1">
              <a:spLocks noChangeArrowheads="1"/>
            </p:cNvSpPr>
            <p:nvPr/>
          </p:nvSpPr>
          <p:spPr bwMode="auto">
            <a:xfrm>
              <a:off x="9939" y="2106"/>
              <a:ext cx="276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+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41004" name="Text Box 44"/>
            <p:cNvSpPr txBox="1">
              <a:spLocks noChangeArrowheads="1"/>
            </p:cNvSpPr>
            <p:nvPr/>
          </p:nvSpPr>
          <p:spPr bwMode="auto">
            <a:xfrm>
              <a:off x="7323" y="2815"/>
              <a:ext cx="314" cy="4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v</a:t>
              </a:r>
              <a:r>
                <a:rPr kumimoji="0" lang="en-US" altLang="zh-CN" sz="1800" b="0" i="1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i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41005" name="Text Box 45"/>
            <p:cNvSpPr txBox="1">
              <a:spLocks noChangeArrowheads="1"/>
            </p:cNvSpPr>
            <p:nvPr/>
          </p:nvSpPr>
          <p:spPr bwMode="auto">
            <a:xfrm>
              <a:off x="9894" y="2855"/>
              <a:ext cx="570" cy="4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v</a:t>
              </a:r>
              <a:r>
                <a:rPr kumimoji="0" lang="en-US" altLang="zh-CN" sz="1800" b="0" i="1" u="none" strike="noStrike" cap="none" normalizeH="0" baseline="-2500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o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41006" name="Text Box 46"/>
            <p:cNvSpPr txBox="1">
              <a:spLocks noChangeArrowheads="1"/>
            </p:cNvSpPr>
            <p:nvPr/>
          </p:nvSpPr>
          <p:spPr bwMode="auto">
            <a:xfrm>
              <a:off x="8102" y="2253"/>
              <a:ext cx="314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D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41007" name="Text Box 47"/>
            <p:cNvSpPr txBox="1">
              <a:spLocks noChangeArrowheads="1"/>
            </p:cNvSpPr>
            <p:nvPr/>
          </p:nvSpPr>
          <p:spPr bwMode="auto">
            <a:xfrm>
              <a:off x="8640" y="2557"/>
              <a:ext cx="310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R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41008" name="Text Box 48"/>
            <p:cNvSpPr txBox="1">
              <a:spLocks noChangeArrowheads="1"/>
            </p:cNvSpPr>
            <p:nvPr/>
          </p:nvSpPr>
          <p:spPr bwMode="auto">
            <a:xfrm>
              <a:off x="8463" y="3283"/>
              <a:ext cx="425" cy="4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kumimoji="0" lang="en-US" altLang="zh-CN" sz="1800" b="0" i="1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R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41009" name="Text Box 49"/>
            <p:cNvSpPr txBox="1">
              <a:spLocks noChangeArrowheads="1"/>
            </p:cNvSpPr>
            <p:nvPr/>
          </p:nvSpPr>
          <p:spPr bwMode="auto">
            <a:xfrm>
              <a:off x="7232" y="2106"/>
              <a:ext cx="314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+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41010" name="Text Box 50"/>
            <p:cNvSpPr txBox="1">
              <a:spLocks noChangeArrowheads="1"/>
            </p:cNvSpPr>
            <p:nvPr/>
          </p:nvSpPr>
          <p:spPr bwMode="auto">
            <a:xfrm>
              <a:off x="10016" y="3396"/>
              <a:ext cx="265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-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41011" name="Text Box 51"/>
            <p:cNvSpPr txBox="1">
              <a:spLocks noChangeArrowheads="1"/>
            </p:cNvSpPr>
            <p:nvPr/>
          </p:nvSpPr>
          <p:spPr bwMode="auto">
            <a:xfrm>
              <a:off x="7323" y="3423"/>
              <a:ext cx="179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-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41012" name="Oval 52"/>
            <p:cNvSpPr>
              <a:spLocks noChangeArrowheads="1"/>
            </p:cNvSpPr>
            <p:nvPr/>
          </p:nvSpPr>
          <p:spPr bwMode="auto">
            <a:xfrm>
              <a:off x="9094" y="2068"/>
              <a:ext cx="85" cy="85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013" name="Oval 53"/>
            <p:cNvSpPr>
              <a:spLocks noChangeArrowheads="1"/>
            </p:cNvSpPr>
            <p:nvPr/>
          </p:nvSpPr>
          <p:spPr bwMode="auto">
            <a:xfrm>
              <a:off x="9094" y="3934"/>
              <a:ext cx="85" cy="85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Text Box 46"/>
            <p:cNvSpPr txBox="1">
              <a:spLocks noChangeArrowheads="1"/>
            </p:cNvSpPr>
            <p:nvPr/>
          </p:nvSpPr>
          <p:spPr bwMode="auto">
            <a:xfrm>
              <a:off x="7391" y="1525"/>
              <a:ext cx="314" cy="4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a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66" name="Text Box 46"/>
            <p:cNvSpPr txBox="1">
              <a:spLocks noChangeArrowheads="1"/>
            </p:cNvSpPr>
            <p:nvPr/>
          </p:nvSpPr>
          <p:spPr bwMode="auto">
            <a:xfrm>
              <a:off x="8949" y="1576"/>
              <a:ext cx="314" cy="4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b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09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9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 builtIn="1"/>
                                        </p:tgtEl>
                                      </p:cMediaNode>
                                    </p:audio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CC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utoUpdateAnimBg="0"/>
      <p:bldP spid="55" grpId="0" autoUpdateAnimBg="0"/>
      <p:bldP spid="59" grpId="0" autoUpdateAnimBg="0"/>
      <p:bldP spid="60" grpId="0" autoUpdateAnimBg="0"/>
      <p:bldP spid="61" grpId="0" animBg="1"/>
      <p:bldP spid="62" grpId="0" animBg="1"/>
      <p:bldP spid="63" grpId="0" animBg="1"/>
      <p:bldP spid="64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>
          <a:xfrm>
            <a:off x="163157" y="129092"/>
            <a:ext cx="5559911" cy="685800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二极管的应用</a:t>
            </a:r>
            <a:r>
              <a:rPr lang="en-US" altLang="zh-CN" sz="3600" dirty="0" smtClean="0">
                <a:latin typeface="黑体" pitchFamily="49" charset="-122"/>
                <a:ea typeface="黑体" pitchFamily="49" charset="-122"/>
                <a:cs typeface="Times New Roman" pitchFamily="18" charset="0"/>
              </a:rPr>
              <a:t>2: </a:t>
            </a:r>
            <a:r>
              <a:rPr lang="zh-CN" altLang="en-US" sz="3600" dirty="0" smtClean="0">
                <a:solidFill>
                  <a:srgbClr val="00B0F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开关电路</a:t>
            </a:r>
          </a:p>
        </p:txBody>
      </p:sp>
      <p:sp>
        <p:nvSpPr>
          <p:cNvPr id="35" name="Text Box 5"/>
          <p:cNvSpPr txBox="1">
            <a:spLocks noChangeArrowheads="1"/>
          </p:cNvSpPr>
          <p:nvPr/>
        </p:nvSpPr>
        <p:spPr bwMode="auto">
          <a:xfrm>
            <a:off x="373772" y="820457"/>
            <a:ext cx="3251554" cy="151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利用二极管的单向导电性可作为电子开关</a:t>
            </a:r>
          </a:p>
        </p:txBody>
      </p:sp>
      <p:grpSp>
        <p:nvGrpSpPr>
          <p:cNvPr id="36" name="Group 6"/>
          <p:cNvGrpSpPr>
            <a:grpSpLocks/>
          </p:cNvGrpSpPr>
          <p:nvPr/>
        </p:nvGrpSpPr>
        <p:grpSpPr bwMode="auto">
          <a:xfrm>
            <a:off x="3916679" y="2588558"/>
            <a:ext cx="4572000" cy="2286000"/>
            <a:chOff x="2352" y="2074"/>
            <a:chExt cx="2880" cy="1440"/>
          </a:xfrm>
        </p:grpSpPr>
        <p:sp>
          <p:nvSpPr>
            <p:cNvPr id="37" name="Line 7"/>
            <p:cNvSpPr>
              <a:spLocks noChangeShapeType="1"/>
            </p:cNvSpPr>
            <p:nvPr/>
          </p:nvSpPr>
          <p:spPr bwMode="auto">
            <a:xfrm>
              <a:off x="2352" y="2074"/>
              <a:ext cx="28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8" name="Line 8"/>
            <p:cNvSpPr>
              <a:spLocks noChangeShapeType="1"/>
            </p:cNvSpPr>
            <p:nvPr/>
          </p:nvSpPr>
          <p:spPr bwMode="auto">
            <a:xfrm>
              <a:off x="2352" y="2554"/>
              <a:ext cx="28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9" name="Line 9"/>
            <p:cNvSpPr>
              <a:spLocks noChangeShapeType="1"/>
            </p:cNvSpPr>
            <p:nvPr/>
          </p:nvSpPr>
          <p:spPr bwMode="auto">
            <a:xfrm>
              <a:off x="2352" y="3514"/>
              <a:ext cx="28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0" name="Text Box 10"/>
            <p:cNvSpPr txBox="1">
              <a:spLocks noChangeArrowheads="1"/>
            </p:cNvSpPr>
            <p:nvPr/>
          </p:nvSpPr>
          <p:spPr bwMode="auto">
            <a:xfrm>
              <a:off x="2400" y="2170"/>
              <a:ext cx="1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v</a:t>
              </a:r>
              <a:r>
                <a:rPr lang="en-US" altLang="zh-CN" sz="2400" i="1" baseline="-25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aseline="-25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1    </a:t>
              </a:r>
              <a:r>
                <a:rPr lang="en-US" altLang="zh-CN" sz="2400" i="1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v</a:t>
              </a:r>
              <a:r>
                <a:rPr lang="en-US" altLang="zh-CN" sz="2400" i="1" baseline="-25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aseline="-250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2</a:t>
              </a:r>
              <a:endParaRPr lang="en-US" altLang="zh-CN" sz="24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1" name="Text Box 11"/>
            <p:cNvSpPr txBox="1">
              <a:spLocks noChangeArrowheads="1"/>
            </p:cNvSpPr>
            <p:nvPr/>
          </p:nvSpPr>
          <p:spPr bwMode="auto">
            <a:xfrm>
              <a:off x="3408" y="2074"/>
              <a:ext cx="168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二极管工作状态</a:t>
              </a:r>
            </a:p>
          </p:txBody>
        </p:sp>
        <p:sp>
          <p:nvSpPr>
            <p:cNvPr id="42" name="Text Box 12"/>
            <p:cNvSpPr txBox="1">
              <a:spLocks noChangeArrowheads="1"/>
            </p:cNvSpPr>
            <p:nvPr/>
          </p:nvSpPr>
          <p:spPr bwMode="auto">
            <a:xfrm>
              <a:off x="3552" y="2314"/>
              <a:ext cx="100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D</a:t>
              </a:r>
              <a:r>
                <a:rPr lang="en-US" altLang="zh-CN" sz="20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1                  </a:t>
              </a:r>
              <a:r>
                <a:rPr lang="en-US" altLang="zh-CN" sz="20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D</a:t>
              </a:r>
              <a:r>
                <a:rPr lang="en-US" altLang="zh-CN" sz="20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2</a:t>
              </a:r>
              <a:endParaRPr lang="en-US" altLang="zh-CN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3" name="Text Box 13"/>
            <p:cNvSpPr txBox="1">
              <a:spLocks noChangeArrowheads="1"/>
            </p:cNvSpPr>
            <p:nvPr/>
          </p:nvSpPr>
          <p:spPr bwMode="auto">
            <a:xfrm>
              <a:off x="4896" y="2170"/>
              <a:ext cx="31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v</a:t>
              </a:r>
              <a:r>
                <a:rPr lang="en-US" altLang="zh-CN" sz="2400" baseline="-250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0</a:t>
              </a:r>
              <a:endParaRPr lang="en-US" altLang="zh-CN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4" name="Line 14"/>
            <p:cNvSpPr>
              <a:spLocks noChangeShapeType="1"/>
            </p:cNvSpPr>
            <p:nvPr/>
          </p:nvSpPr>
          <p:spPr bwMode="auto">
            <a:xfrm>
              <a:off x="3360" y="2074"/>
              <a:ext cx="0" cy="14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5" name="Line 15"/>
            <p:cNvSpPr>
              <a:spLocks noChangeShapeType="1"/>
            </p:cNvSpPr>
            <p:nvPr/>
          </p:nvSpPr>
          <p:spPr bwMode="auto">
            <a:xfrm>
              <a:off x="4704" y="2074"/>
              <a:ext cx="0" cy="14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6" name="Line 16"/>
            <p:cNvSpPr>
              <a:spLocks noChangeShapeType="1"/>
            </p:cNvSpPr>
            <p:nvPr/>
          </p:nvSpPr>
          <p:spPr bwMode="auto">
            <a:xfrm>
              <a:off x="3360" y="2314"/>
              <a:ext cx="13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47" name="Text Box 17"/>
          <p:cNvSpPr txBox="1">
            <a:spLocks noChangeArrowheads="1"/>
          </p:cNvSpPr>
          <p:nvPr/>
        </p:nvSpPr>
        <p:spPr bwMode="auto">
          <a:xfrm>
            <a:off x="4069079" y="3445808"/>
            <a:ext cx="2286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0V       0V</a:t>
            </a:r>
          </a:p>
        </p:txBody>
      </p:sp>
      <p:sp>
        <p:nvSpPr>
          <p:cNvPr id="48" name="Text Box 18"/>
          <p:cNvSpPr txBox="1">
            <a:spLocks noChangeArrowheads="1"/>
          </p:cNvSpPr>
          <p:nvPr/>
        </p:nvSpPr>
        <p:spPr bwMode="auto">
          <a:xfrm>
            <a:off x="5745479" y="3429933"/>
            <a:ext cx="2438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导通        导通</a:t>
            </a:r>
          </a:p>
        </p:txBody>
      </p:sp>
      <p:sp>
        <p:nvSpPr>
          <p:cNvPr id="49" name="Text Box 19"/>
          <p:cNvSpPr txBox="1">
            <a:spLocks noChangeArrowheads="1"/>
          </p:cNvSpPr>
          <p:nvPr/>
        </p:nvSpPr>
        <p:spPr bwMode="auto">
          <a:xfrm>
            <a:off x="5745479" y="3760133"/>
            <a:ext cx="2438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导通        截止</a:t>
            </a:r>
          </a:p>
        </p:txBody>
      </p:sp>
      <p:sp>
        <p:nvSpPr>
          <p:cNvPr id="50" name="Text Box 20"/>
          <p:cNvSpPr txBox="1">
            <a:spLocks noChangeArrowheads="1"/>
          </p:cNvSpPr>
          <p:nvPr/>
        </p:nvSpPr>
        <p:spPr bwMode="auto">
          <a:xfrm>
            <a:off x="5745479" y="4090333"/>
            <a:ext cx="2438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截止        导通</a:t>
            </a:r>
          </a:p>
        </p:txBody>
      </p:sp>
      <p:sp>
        <p:nvSpPr>
          <p:cNvPr id="51" name="Text Box 21"/>
          <p:cNvSpPr txBox="1">
            <a:spLocks noChangeArrowheads="1"/>
          </p:cNvSpPr>
          <p:nvPr/>
        </p:nvSpPr>
        <p:spPr bwMode="auto">
          <a:xfrm>
            <a:off x="5745479" y="4420533"/>
            <a:ext cx="2438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截止        截止</a:t>
            </a:r>
          </a:p>
        </p:txBody>
      </p:sp>
      <p:sp>
        <p:nvSpPr>
          <p:cNvPr id="52" name="Text Box 22"/>
          <p:cNvSpPr txBox="1">
            <a:spLocks noChangeArrowheads="1"/>
          </p:cNvSpPr>
          <p:nvPr/>
        </p:nvSpPr>
        <p:spPr bwMode="auto">
          <a:xfrm>
            <a:off x="4069079" y="3771246"/>
            <a:ext cx="2286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0V     </a:t>
            </a:r>
            <a:r>
              <a:rPr lang="en-US" altLang="zh-CN" sz="20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 5V</a:t>
            </a:r>
            <a:endParaRPr lang="en-US" altLang="zh-CN" sz="20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3" name="Text Box 23"/>
          <p:cNvSpPr txBox="1">
            <a:spLocks noChangeArrowheads="1"/>
          </p:cNvSpPr>
          <p:nvPr/>
        </p:nvSpPr>
        <p:spPr bwMode="auto">
          <a:xfrm>
            <a:off x="4069079" y="4096683"/>
            <a:ext cx="2286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5V       </a:t>
            </a:r>
            <a:r>
              <a:rPr lang="en-US" altLang="zh-CN" sz="2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0V</a:t>
            </a:r>
          </a:p>
        </p:txBody>
      </p:sp>
      <p:sp>
        <p:nvSpPr>
          <p:cNvPr id="54" name="Text Box 24"/>
          <p:cNvSpPr txBox="1">
            <a:spLocks noChangeArrowheads="1"/>
          </p:cNvSpPr>
          <p:nvPr/>
        </p:nvSpPr>
        <p:spPr bwMode="auto">
          <a:xfrm>
            <a:off x="4069079" y="4420533"/>
            <a:ext cx="2286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5V       </a:t>
            </a:r>
            <a:r>
              <a:rPr lang="en-US" altLang="zh-CN" sz="2000" dirty="0" err="1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5V</a:t>
            </a:r>
            <a:endParaRPr lang="en-US" altLang="zh-CN" sz="20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5" name="Text Box 25"/>
          <p:cNvSpPr txBox="1">
            <a:spLocks noChangeArrowheads="1"/>
          </p:cNvSpPr>
          <p:nvPr/>
        </p:nvSpPr>
        <p:spPr bwMode="auto">
          <a:xfrm>
            <a:off x="7955279" y="3410883"/>
            <a:ext cx="762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0V</a:t>
            </a:r>
          </a:p>
        </p:txBody>
      </p:sp>
      <p:sp>
        <p:nvSpPr>
          <p:cNvPr id="56" name="Text Box 26"/>
          <p:cNvSpPr txBox="1">
            <a:spLocks noChangeArrowheads="1"/>
          </p:cNvSpPr>
          <p:nvPr/>
        </p:nvSpPr>
        <p:spPr bwMode="auto">
          <a:xfrm>
            <a:off x="7955279" y="3761721"/>
            <a:ext cx="762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0V</a:t>
            </a:r>
          </a:p>
        </p:txBody>
      </p:sp>
      <p:sp>
        <p:nvSpPr>
          <p:cNvPr id="57" name="Text Box 27"/>
          <p:cNvSpPr txBox="1">
            <a:spLocks noChangeArrowheads="1"/>
          </p:cNvSpPr>
          <p:nvPr/>
        </p:nvSpPr>
        <p:spPr bwMode="auto">
          <a:xfrm>
            <a:off x="7955279" y="4112558"/>
            <a:ext cx="762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0V</a:t>
            </a:r>
          </a:p>
        </p:txBody>
      </p:sp>
      <p:sp>
        <p:nvSpPr>
          <p:cNvPr id="58" name="Text Box 28"/>
          <p:cNvSpPr txBox="1">
            <a:spLocks noChangeArrowheads="1"/>
          </p:cNvSpPr>
          <p:nvPr/>
        </p:nvSpPr>
        <p:spPr bwMode="auto">
          <a:xfrm>
            <a:off x="7955279" y="4461808"/>
            <a:ext cx="762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5V</a:t>
            </a:r>
            <a:endParaRPr lang="en-US" altLang="zh-CN" sz="20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9" name="Text Box 29"/>
          <p:cNvSpPr txBox="1">
            <a:spLocks noChangeArrowheads="1"/>
          </p:cNvSpPr>
          <p:nvPr/>
        </p:nvSpPr>
        <p:spPr bwMode="auto">
          <a:xfrm>
            <a:off x="293854" y="2470823"/>
            <a:ext cx="3084047" cy="2160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例：求</a:t>
            </a:r>
            <a:r>
              <a:rPr lang="en-US" altLang="zh-CN" sz="2800" i="1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v</a:t>
            </a:r>
            <a:r>
              <a:rPr lang="en-US" altLang="zh-CN" sz="2800" i="1" baseline="-250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aseline="-250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和</a:t>
            </a:r>
            <a:r>
              <a:rPr lang="en-US" altLang="zh-CN" sz="2800" i="1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v</a:t>
            </a:r>
            <a:r>
              <a:rPr lang="en-US" altLang="zh-CN" sz="2800" i="1" baseline="-250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aseline="-250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不同值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(</a:t>
            </a:r>
            <a:r>
              <a:rPr lang="en-US" altLang="zh-CN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0V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，</a:t>
            </a:r>
            <a:r>
              <a:rPr lang="en-US" altLang="zh-CN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5V</a:t>
            </a: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)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组合时的</a:t>
            </a:r>
            <a:r>
              <a:rPr lang="en-US" altLang="zh-CN" sz="28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v</a:t>
            </a:r>
            <a:r>
              <a:rPr lang="en-US" altLang="zh-CN" sz="28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0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值（二极管为理想模型）。</a:t>
            </a:r>
          </a:p>
        </p:txBody>
      </p:sp>
      <p:sp>
        <p:nvSpPr>
          <p:cNvPr id="60" name="Text Box 30"/>
          <p:cNvSpPr txBox="1">
            <a:spLocks noChangeArrowheads="1"/>
          </p:cNvSpPr>
          <p:nvPr/>
        </p:nvSpPr>
        <p:spPr bwMode="auto">
          <a:xfrm>
            <a:off x="3370728" y="2033643"/>
            <a:ext cx="102914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解：</a:t>
            </a:r>
          </a:p>
        </p:txBody>
      </p:sp>
      <p:grpSp>
        <p:nvGrpSpPr>
          <p:cNvPr id="77826" name="Group 2"/>
          <p:cNvGrpSpPr>
            <a:grpSpLocks/>
          </p:cNvGrpSpPr>
          <p:nvPr/>
        </p:nvGrpSpPr>
        <p:grpSpPr bwMode="auto">
          <a:xfrm>
            <a:off x="6853519" y="439005"/>
            <a:ext cx="1704975" cy="2109146"/>
            <a:chOff x="6298" y="10532"/>
            <a:chExt cx="2684" cy="3322"/>
          </a:xfrm>
        </p:grpSpPr>
        <p:cxnSp>
          <p:nvCxnSpPr>
            <p:cNvPr id="77827" name="AutoShape 3"/>
            <p:cNvCxnSpPr>
              <a:cxnSpLocks noChangeShapeType="1"/>
            </p:cNvCxnSpPr>
            <p:nvPr/>
          </p:nvCxnSpPr>
          <p:spPr bwMode="auto">
            <a:xfrm>
              <a:off x="6656" y="12368"/>
              <a:ext cx="2029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77828" name="AutoShape 4"/>
            <p:cNvCxnSpPr>
              <a:cxnSpLocks noChangeShapeType="1"/>
            </p:cNvCxnSpPr>
            <p:nvPr/>
          </p:nvCxnSpPr>
          <p:spPr bwMode="auto">
            <a:xfrm flipV="1">
              <a:off x="7943" y="10980"/>
              <a:ext cx="0" cy="213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77829" name="Oval 5"/>
            <p:cNvSpPr>
              <a:spLocks noChangeArrowheads="1"/>
            </p:cNvSpPr>
            <p:nvPr/>
          </p:nvSpPr>
          <p:spPr bwMode="auto">
            <a:xfrm>
              <a:off x="6543" y="13040"/>
              <a:ext cx="113" cy="113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830" name="Oval 6"/>
            <p:cNvSpPr>
              <a:spLocks noChangeArrowheads="1"/>
            </p:cNvSpPr>
            <p:nvPr/>
          </p:nvSpPr>
          <p:spPr bwMode="auto">
            <a:xfrm>
              <a:off x="7877" y="10867"/>
              <a:ext cx="113" cy="113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831" name="Oval 7"/>
            <p:cNvSpPr>
              <a:spLocks noChangeArrowheads="1"/>
            </p:cNvSpPr>
            <p:nvPr/>
          </p:nvSpPr>
          <p:spPr bwMode="auto">
            <a:xfrm>
              <a:off x="6559" y="12313"/>
              <a:ext cx="113" cy="113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832" name="Text Box 8"/>
            <p:cNvSpPr txBox="1">
              <a:spLocks noChangeArrowheads="1"/>
            </p:cNvSpPr>
            <p:nvPr/>
          </p:nvSpPr>
          <p:spPr bwMode="auto">
            <a:xfrm>
              <a:off x="8580" y="11744"/>
              <a:ext cx="402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v</a:t>
              </a:r>
              <a:r>
                <a:rPr kumimoji="0" lang="en-US" altLang="zh-CN" sz="18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o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7833" name="Oval 9"/>
            <p:cNvSpPr>
              <a:spLocks noChangeArrowheads="1"/>
            </p:cNvSpPr>
            <p:nvPr/>
          </p:nvSpPr>
          <p:spPr bwMode="auto">
            <a:xfrm>
              <a:off x="7905" y="12317"/>
              <a:ext cx="85" cy="85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834" name="Text Box 10"/>
            <p:cNvSpPr txBox="1">
              <a:spLocks noChangeArrowheads="1"/>
            </p:cNvSpPr>
            <p:nvPr/>
          </p:nvSpPr>
          <p:spPr bwMode="auto">
            <a:xfrm>
              <a:off x="7065" y="11653"/>
              <a:ext cx="452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D</a:t>
              </a:r>
              <a:r>
                <a:rPr kumimoji="0" lang="en-US" altLang="zh-CN" sz="1800" b="0" i="0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1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sp useBgFill="1">
          <p:nvSpPr>
            <p:cNvPr id="77835" name="Rectangle 11"/>
            <p:cNvSpPr>
              <a:spLocks noChangeArrowheads="1"/>
            </p:cNvSpPr>
            <p:nvPr/>
          </p:nvSpPr>
          <p:spPr bwMode="auto">
            <a:xfrm>
              <a:off x="7848" y="11351"/>
              <a:ext cx="195" cy="525"/>
            </a:xfrm>
            <a:prstGeom prst="rect">
              <a:avLst/>
            </a:prstGeom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836" name="Text Box 12"/>
            <p:cNvSpPr txBox="1">
              <a:spLocks noChangeArrowheads="1"/>
            </p:cNvSpPr>
            <p:nvPr/>
          </p:nvSpPr>
          <p:spPr bwMode="auto">
            <a:xfrm>
              <a:off x="7065" y="11149"/>
              <a:ext cx="852" cy="4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4.7k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77837" name="Group 13"/>
            <p:cNvGrpSpPr>
              <a:grpSpLocks/>
            </p:cNvGrpSpPr>
            <p:nvPr/>
          </p:nvGrpSpPr>
          <p:grpSpPr bwMode="auto">
            <a:xfrm rot="5400000">
              <a:off x="7098" y="12192"/>
              <a:ext cx="369" cy="342"/>
              <a:chOff x="4466" y="2577"/>
              <a:chExt cx="369" cy="342"/>
            </a:xfrm>
          </p:grpSpPr>
          <p:sp>
            <p:nvSpPr>
              <p:cNvPr id="77838" name="AutoShape 14"/>
              <p:cNvSpPr>
                <a:spLocks noChangeArrowheads="1"/>
              </p:cNvSpPr>
              <p:nvPr/>
            </p:nvSpPr>
            <p:spPr bwMode="auto">
              <a:xfrm rot="10800000">
                <a:off x="4482" y="2577"/>
                <a:ext cx="340" cy="34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cxnSp>
            <p:nvCxnSpPr>
              <p:cNvPr id="77839" name="AutoShape 15"/>
              <p:cNvCxnSpPr>
                <a:cxnSpLocks noChangeShapeType="1"/>
              </p:cNvCxnSpPr>
              <p:nvPr/>
            </p:nvCxnSpPr>
            <p:spPr bwMode="auto">
              <a:xfrm rot="5400000">
                <a:off x="4651" y="2734"/>
                <a:ext cx="0" cy="369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77840" name="Text Box 16"/>
            <p:cNvSpPr txBox="1">
              <a:spLocks noChangeArrowheads="1"/>
            </p:cNvSpPr>
            <p:nvPr/>
          </p:nvSpPr>
          <p:spPr bwMode="auto">
            <a:xfrm>
              <a:off x="6364" y="11693"/>
              <a:ext cx="483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v</a:t>
              </a:r>
              <a:r>
                <a:rPr kumimoji="0" lang="en-US" altLang="zh-CN" sz="18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kumimoji="0" lang="en-US" altLang="zh-CN" sz="1800" b="0" i="0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1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7841" name="Text Box 17"/>
            <p:cNvSpPr txBox="1">
              <a:spLocks noChangeArrowheads="1"/>
            </p:cNvSpPr>
            <p:nvPr/>
          </p:nvSpPr>
          <p:spPr bwMode="auto">
            <a:xfrm>
              <a:off x="7029" y="13230"/>
              <a:ext cx="527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D</a:t>
              </a:r>
              <a:r>
                <a:rPr kumimoji="0" lang="en-US" altLang="zh-CN" sz="1800" b="0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2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77842" name="Group 18"/>
            <p:cNvGrpSpPr>
              <a:grpSpLocks/>
            </p:cNvGrpSpPr>
            <p:nvPr/>
          </p:nvGrpSpPr>
          <p:grpSpPr bwMode="auto">
            <a:xfrm rot="5400000">
              <a:off x="7080" y="12933"/>
              <a:ext cx="369" cy="342"/>
              <a:chOff x="4466" y="2577"/>
              <a:chExt cx="369" cy="342"/>
            </a:xfrm>
          </p:grpSpPr>
          <p:sp>
            <p:nvSpPr>
              <p:cNvPr id="77843" name="AutoShape 19"/>
              <p:cNvSpPr>
                <a:spLocks noChangeArrowheads="1"/>
              </p:cNvSpPr>
              <p:nvPr/>
            </p:nvSpPr>
            <p:spPr bwMode="auto">
              <a:xfrm rot="10800000">
                <a:off x="4482" y="2577"/>
                <a:ext cx="340" cy="34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cxnSp>
            <p:nvCxnSpPr>
              <p:cNvPr id="77844" name="AutoShape 20"/>
              <p:cNvCxnSpPr>
                <a:cxnSpLocks noChangeShapeType="1"/>
              </p:cNvCxnSpPr>
              <p:nvPr/>
            </p:nvCxnSpPr>
            <p:spPr bwMode="auto">
              <a:xfrm rot="5400000">
                <a:off x="4651" y="2734"/>
                <a:ext cx="0" cy="369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77845" name="Text Box 21"/>
            <p:cNvSpPr txBox="1">
              <a:spLocks noChangeArrowheads="1"/>
            </p:cNvSpPr>
            <p:nvPr/>
          </p:nvSpPr>
          <p:spPr bwMode="auto">
            <a:xfrm>
              <a:off x="8030" y="10532"/>
              <a:ext cx="612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V</a:t>
              </a:r>
              <a:r>
                <a:rPr kumimoji="0" lang="en-US" altLang="zh-CN" sz="1800" b="0" i="0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CC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cxnSp>
          <p:nvCxnSpPr>
            <p:cNvPr id="77846" name="AutoShape 22"/>
            <p:cNvCxnSpPr>
              <a:cxnSpLocks noChangeShapeType="1"/>
            </p:cNvCxnSpPr>
            <p:nvPr/>
          </p:nvCxnSpPr>
          <p:spPr bwMode="auto">
            <a:xfrm>
              <a:off x="6672" y="13110"/>
              <a:ext cx="1271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77847" name="Oval 23"/>
            <p:cNvSpPr>
              <a:spLocks noChangeArrowheads="1"/>
            </p:cNvSpPr>
            <p:nvPr/>
          </p:nvSpPr>
          <p:spPr bwMode="auto">
            <a:xfrm>
              <a:off x="8685" y="12313"/>
              <a:ext cx="113" cy="113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848" name="Text Box 24"/>
            <p:cNvSpPr txBox="1">
              <a:spLocks noChangeArrowheads="1"/>
            </p:cNvSpPr>
            <p:nvPr/>
          </p:nvSpPr>
          <p:spPr bwMode="auto">
            <a:xfrm>
              <a:off x="6298" y="12432"/>
              <a:ext cx="483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v</a:t>
              </a:r>
              <a:r>
                <a:rPr kumimoji="0" lang="en-US" altLang="zh-CN" sz="18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kumimoji="0" lang="en-US" altLang="zh-CN" sz="1800" b="0" i="0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2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7849" name="Text Box 25"/>
            <p:cNvSpPr txBox="1">
              <a:spLocks noChangeArrowheads="1"/>
            </p:cNvSpPr>
            <p:nvPr/>
          </p:nvSpPr>
          <p:spPr bwMode="auto">
            <a:xfrm>
              <a:off x="8172" y="10928"/>
              <a:ext cx="733" cy="4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5</a:t>
              </a:r>
              <a:r>
                <a:rPr kumimoji="0" lang="en-US" altLang="zh-CN" sz="18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V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77888" name="Group 64"/>
          <p:cNvGrpSpPr>
            <a:grpSpLocks/>
          </p:cNvGrpSpPr>
          <p:nvPr/>
        </p:nvGrpSpPr>
        <p:grpSpPr bwMode="auto">
          <a:xfrm>
            <a:off x="4098733" y="933429"/>
            <a:ext cx="2524125" cy="1322388"/>
            <a:chOff x="7166" y="12872"/>
            <a:chExt cx="3973" cy="2083"/>
          </a:xfrm>
        </p:grpSpPr>
        <p:sp useBgFill="1">
          <p:nvSpPr>
            <p:cNvPr id="77889" name="Oval 65"/>
            <p:cNvSpPr>
              <a:spLocks noChangeArrowheads="1"/>
            </p:cNvSpPr>
            <p:nvPr/>
          </p:nvSpPr>
          <p:spPr bwMode="auto">
            <a:xfrm>
              <a:off x="10140" y="14082"/>
              <a:ext cx="383" cy="397"/>
            </a:xfrm>
            <a:prstGeom prst="ellipse">
              <a:avLst/>
            </a:prstGeom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cxnSp>
          <p:nvCxnSpPr>
            <p:cNvPr id="77890" name="AutoShape 66"/>
            <p:cNvCxnSpPr>
              <a:cxnSpLocks noChangeShapeType="1"/>
            </p:cNvCxnSpPr>
            <p:nvPr/>
          </p:nvCxnSpPr>
          <p:spPr bwMode="auto">
            <a:xfrm>
              <a:off x="7466" y="14773"/>
              <a:ext cx="3263" cy="1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77891" name="AutoShape 67"/>
            <p:cNvCxnSpPr>
              <a:cxnSpLocks noChangeShapeType="1"/>
            </p:cNvCxnSpPr>
            <p:nvPr/>
          </p:nvCxnSpPr>
          <p:spPr bwMode="auto">
            <a:xfrm>
              <a:off x="7470" y="13062"/>
              <a:ext cx="3189" cy="1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77892" name="AutoShape 68"/>
            <p:cNvCxnSpPr>
              <a:cxnSpLocks noChangeShapeType="1"/>
            </p:cNvCxnSpPr>
            <p:nvPr/>
          </p:nvCxnSpPr>
          <p:spPr bwMode="auto">
            <a:xfrm flipV="1">
              <a:off x="9249" y="13062"/>
              <a:ext cx="0" cy="742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77893" name="Oval 69"/>
            <p:cNvSpPr>
              <a:spLocks noChangeArrowheads="1"/>
            </p:cNvSpPr>
            <p:nvPr/>
          </p:nvSpPr>
          <p:spPr bwMode="auto">
            <a:xfrm>
              <a:off x="7849" y="13734"/>
              <a:ext cx="113" cy="113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894" name="Oval 70"/>
            <p:cNvSpPr>
              <a:spLocks noChangeArrowheads="1"/>
            </p:cNvSpPr>
            <p:nvPr/>
          </p:nvSpPr>
          <p:spPr bwMode="auto">
            <a:xfrm>
              <a:off x="7357" y="13007"/>
              <a:ext cx="113" cy="113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895" name="Text Box 71"/>
            <p:cNvSpPr txBox="1">
              <a:spLocks noChangeArrowheads="1"/>
            </p:cNvSpPr>
            <p:nvPr/>
          </p:nvSpPr>
          <p:spPr bwMode="auto">
            <a:xfrm>
              <a:off x="10737" y="13603"/>
              <a:ext cx="402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v</a:t>
              </a:r>
              <a:r>
                <a:rPr kumimoji="0" lang="en-US" altLang="zh-CN" sz="18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o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7896" name="Oval 72"/>
            <p:cNvSpPr>
              <a:spLocks noChangeArrowheads="1"/>
            </p:cNvSpPr>
            <p:nvPr/>
          </p:nvSpPr>
          <p:spPr bwMode="auto">
            <a:xfrm>
              <a:off x="9211" y="13011"/>
              <a:ext cx="85" cy="85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897" name="Text Box 73"/>
            <p:cNvSpPr txBox="1">
              <a:spLocks noChangeArrowheads="1"/>
            </p:cNvSpPr>
            <p:nvPr/>
          </p:nvSpPr>
          <p:spPr bwMode="auto">
            <a:xfrm>
              <a:off x="8789" y="13062"/>
              <a:ext cx="452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D</a:t>
              </a:r>
              <a:r>
                <a:rPr kumimoji="0" lang="en-US" altLang="zh-CN" sz="1800" b="0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1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7898" name="Text Box 74"/>
            <p:cNvSpPr txBox="1">
              <a:spLocks noChangeArrowheads="1"/>
            </p:cNvSpPr>
            <p:nvPr/>
          </p:nvSpPr>
          <p:spPr bwMode="auto">
            <a:xfrm>
              <a:off x="9405" y="13283"/>
              <a:ext cx="852" cy="4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4.7k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77899" name="Group 75"/>
            <p:cNvGrpSpPr>
              <a:grpSpLocks/>
            </p:cNvGrpSpPr>
            <p:nvPr/>
          </p:nvGrpSpPr>
          <p:grpSpPr bwMode="auto">
            <a:xfrm rot="5400000">
              <a:off x="8404" y="12886"/>
              <a:ext cx="369" cy="342"/>
              <a:chOff x="4466" y="2577"/>
              <a:chExt cx="369" cy="342"/>
            </a:xfrm>
          </p:grpSpPr>
          <p:sp>
            <p:nvSpPr>
              <p:cNvPr id="77900" name="AutoShape 76"/>
              <p:cNvSpPr>
                <a:spLocks noChangeArrowheads="1"/>
              </p:cNvSpPr>
              <p:nvPr/>
            </p:nvSpPr>
            <p:spPr bwMode="auto">
              <a:xfrm rot="10800000">
                <a:off x="4482" y="2577"/>
                <a:ext cx="340" cy="34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cxnSp>
            <p:nvCxnSpPr>
              <p:cNvPr id="77901" name="AutoShape 77"/>
              <p:cNvCxnSpPr>
                <a:cxnSpLocks noChangeShapeType="1"/>
              </p:cNvCxnSpPr>
              <p:nvPr/>
            </p:nvCxnSpPr>
            <p:spPr bwMode="auto">
              <a:xfrm rot="5400000">
                <a:off x="4651" y="2734"/>
                <a:ext cx="0" cy="369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77902" name="Text Box 78"/>
            <p:cNvSpPr txBox="1">
              <a:spLocks noChangeArrowheads="1"/>
            </p:cNvSpPr>
            <p:nvPr/>
          </p:nvSpPr>
          <p:spPr bwMode="auto">
            <a:xfrm>
              <a:off x="7166" y="13534"/>
              <a:ext cx="483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v</a:t>
              </a:r>
              <a:r>
                <a:rPr kumimoji="0" lang="en-US" altLang="zh-CN" sz="18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kumimoji="0" lang="en-US" altLang="zh-CN" sz="1800" b="0" i="0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1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7903" name="Text Box 79"/>
            <p:cNvSpPr txBox="1">
              <a:spLocks noChangeArrowheads="1"/>
            </p:cNvSpPr>
            <p:nvPr/>
          </p:nvSpPr>
          <p:spPr bwMode="auto">
            <a:xfrm>
              <a:off x="8742" y="13855"/>
              <a:ext cx="527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D</a:t>
              </a:r>
              <a:r>
                <a:rPr kumimoji="0" lang="en-US" altLang="zh-CN" sz="1800" b="0" i="0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2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77904" name="Group 80"/>
            <p:cNvGrpSpPr>
              <a:grpSpLocks/>
            </p:cNvGrpSpPr>
            <p:nvPr/>
          </p:nvGrpSpPr>
          <p:grpSpPr bwMode="auto">
            <a:xfrm rot="5400000">
              <a:off x="8386" y="13627"/>
              <a:ext cx="369" cy="342"/>
              <a:chOff x="4466" y="2577"/>
              <a:chExt cx="369" cy="342"/>
            </a:xfrm>
          </p:grpSpPr>
          <p:sp>
            <p:nvSpPr>
              <p:cNvPr id="77905" name="AutoShape 81"/>
              <p:cNvSpPr>
                <a:spLocks noChangeArrowheads="1"/>
              </p:cNvSpPr>
              <p:nvPr/>
            </p:nvSpPr>
            <p:spPr bwMode="auto">
              <a:xfrm rot="10800000">
                <a:off x="4482" y="2577"/>
                <a:ext cx="340" cy="34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cxnSp>
            <p:nvCxnSpPr>
              <p:cNvPr id="77906" name="AutoShape 82"/>
              <p:cNvCxnSpPr>
                <a:cxnSpLocks noChangeShapeType="1"/>
              </p:cNvCxnSpPr>
              <p:nvPr/>
            </p:nvCxnSpPr>
            <p:spPr bwMode="auto">
              <a:xfrm rot="5400000">
                <a:off x="4651" y="2734"/>
                <a:ext cx="0" cy="369"/>
              </a:xfrm>
              <a:prstGeom prst="straightConnector1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cxnSp>
          <p:nvCxnSpPr>
            <p:cNvPr id="77907" name="AutoShape 83"/>
            <p:cNvCxnSpPr>
              <a:cxnSpLocks noChangeShapeType="1"/>
            </p:cNvCxnSpPr>
            <p:nvPr/>
          </p:nvCxnSpPr>
          <p:spPr bwMode="auto">
            <a:xfrm>
              <a:off x="7978" y="13804"/>
              <a:ext cx="1271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77908" name="Oval 84"/>
            <p:cNvSpPr>
              <a:spLocks noChangeArrowheads="1"/>
            </p:cNvSpPr>
            <p:nvPr/>
          </p:nvSpPr>
          <p:spPr bwMode="auto">
            <a:xfrm>
              <a:off x="10659" y="13007"/>
              <a:ext cx="113" cy="113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909" name="Text Box 85"/>
            <p:cNvSpPr txBox="1">
              <a:spLocks noChangeArrowheads="1"/>
            </p:cNvSpPr>
            <p:nvPr/>
          </p:nvSpPr>
          <p:spPr bwMode="auto">
            <a:xfrm>
              <a:off x="7637" y="14082"/>
              <a:ext cx="483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v</a:t>
              </a:r>
              <a:r>
                <a:rPr kumimoji="0" lang="en-US" altLang="zh-CN" sz="18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kumimoji="0" lang="en-US" altLang="zh-CN" sz="1800" b="0" i="0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2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cxnSp>
          <p:nvCxnSpPr>
            <p:cNvPr id="77910" name="AutoShape 86"/>
            <p:cNvCxnSpPr>
              <a:cxnSpLocks noChangeShapeType="1"/>
            </p:cNvCxnSpPr>
            <p:nvPr/>
          </p:nvCxnSpPr>
          <p:spPr bwMode="auto">
            <a:xfrm flipV="1">
              <a:off x="10347" y="13067"/>
              <a:ext cx="4" cy="1883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77911" name="Text Box 87"/>
            <p:cNvSpPr txBox="1">
              <a:spLocks noChangeArrowheads="1"/>
            </p:cNvSpPr>
            <p:nvPr/>
          </p:nvSpPr>
          <p:spPr bwMode="auto">
            <a:xfrm>
              <a:off x="9805" y="13753"/>
              <a:ext cx="289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+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7912" name="Text Box 88"/>
            <p:cNvSpPr txBox="1">
              <a:spLocks noChangeArrowheads="1"/>
            </p:cNvSpPr>
            <p:nvPr/>
          </p:nvSpPr>
          <p:spPr bwMode="auto">
            <a:xfrm>
              <a:off x="9859" y="14331"/>
              <a:ext cx="179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-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7913" name="Text Box 89"/>
            <p:cNvSpPr txBox="1">
              <a:spLocks noChangeArrowheads="1"/>
            </p:cNvSpPr>
            <p:nvPr/>
          </p:nvSpPr>
          <p:spPr bwMode="auto">
            <a:xfrm>
              <a:off x="9553" y="13990"/>
              <a:ext cx="798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V</a:t>
              </a:r>
              <a:r>
                <a:rPr kumimoji="0" lang="en-US" altLang="zh-CN" sz="1800" b="1" i="0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CC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7914" name="Text Box 90"/>
            <p:cNvSpPr txBox="1">
              <a:spLocks noChangeArrowheads="1"/>
            </p:cNvSpPr>
            <p:nvPr/>
          </p:nvSpPr>
          <p:spPr bwMode="auto">
            <a:xfrm>
              <a:off x="7225" y="13017"/>
              <a:ext cx="289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+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7915" name="Text Box 91"/>
            <p:cNvSpPr txBox="1">
              <a:spLocks noChangeArrowheads="1"/>
            </p:cNvSpPr>
            <p:nvPr/>
          </p:nvSpPr>
          <p:spPr bwMode="auto">
            <a:xfrm>
              <a:off x="7750" y="13811"/>
              <a:ext cx="289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+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7916" name="Text Box 92"/>
            <p:cNvSpPr txBox="1">
              <a:spLocks noChangeArrowheads="1"/>
            </p:cNvSpPr>
            <p:nvPr/>
          </p:nvSpPr>
          <p:spPr bwMode="auto">
            <a:xfrm>
              <a:off x="7287" y="14258"/>
              <a:ext cx="179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-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7917" name="Text Box 93"/>
            <p:cNvSpPr txBox="1">
              <a:spLocks noChangeArrowheads="1"/>
            </p:cNvSpPr>
            <p:nvPr/>
          </p:nvSpPr>
          <p:spPr bwMode="auto">
            <a:xfrm>
              <a:off x="7772" y="14326"/>
              <a:ext cx="179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-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7918" name="Oval 94"/>
            <p:cNvSpPr>
              <a:spLocks noChangeArrowheads="1"/>
            </p:cNvSpPr>
            <p:nvPr/>
          </p:nvSpPr>
          <p:spPr bwMode="auto">
            <a:xfrm>
              <a:off x="10729" y="14714"/>
              <a:ext cx="113" cy="113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919" name="Oval 95"/>
            <p:cNvSpPr>
              <a:spLocks noChangeArrowheads="1"/>
            </p:cNvSpPr>
            <p:nvPr/>
          </p:nvSpPr>
          <p:spPr bwMode="auto">
            <a:xfrm>
              <a:off x="7342" y="14714"/>
              <a:ext cx="113" cy="113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 useBgFill="1">
          <p:nvSpPr>
            <p:cNvPr id="77920" name="Rectangle 96"/>
            <p:cNvSpPr>
              <a:spLocks noChangeArrowheads="1"/>
            </p:cNvSpPr>
            <p:nvPr/>
          </p:nvSpPr>
          <p:spPr bwMode="auto">
            <a:xfrm>
              <a:off x="10253" y="13279"/>
              <a:ext cx="195" cy="525"/>
            </a:xfrm>
            <a:prstGeom prst="rect">
              <a:avLst/>
            </a:prstGeom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921" name="Text Box 97"/>
            <p:cNvSpPr txBox="1">
              <a:spLocks noChangeArrowheads="1"/>
            </p:cNvSpPr>
            <p:nvPr/>
          </p:nvSpPr>
          <p:spPr bwMode="auto">
            <a:xfrm>
              <a:off x="10739" y="12983"/>
              <a:ext cx="289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+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7922" name="Text Box 98"/>
            <p:cNvSpPr txBox="1">
              <a:spLocks noChangeArrowheads="1"/>
            </p:cNvSpPr>
            <p:nvPr/>
          </p:nvSpPr>
          <p:spPr bwMode="auto">
            <a:xfrm>
              <a:off x="10782" y="14155"/>
              <a:ext cx="179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-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endParaRPr>
            </a:p>
          </p:txBody>
        </p:sp>
        <p:cxnSp>
          <p:nvCxnSpPr>
            <p:cNvPr id="77923" name="AutoShape 99"/>
            <p:cNvCxnSpPr>
              <a:cxnSpLocks noChangeShapeType="1"/>
            </p:cNvCxnSpPr>
            <p:nvPr/>
          </p:nvCxnSpPr>
          <p:spPr bwMode="auto">
            <a:xfrm>
              <a:off x="10255" y="14950"/>
              <a:ext cx="170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77924" name="Oval 100"/>
            <p:cNvSpPr>
              <a:spLocks noChangeArrowheads="1"/>
            </p:cNvSpPr>
            <p:nvPr/>
          </p:nvSpPr>
          <p:spPr bwMode="auto">
            <a:xfrm>
              <a:off x="10301" y="13007"/>
              <a:ext cx="85" cy="85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925" name="Oval 101"/>
            <p:cNvSpPr>
              <a:spLocks noChangeArrowheads="1"/>
            </p:cNvSpPr>
            <p:nvPr/>
          </p:nvSpPr>
          <p:spPr bwMode="auto">
            <a:xfrm>
              <a:off x="10318" y="14722"/>
              <a:ext cx="85" cy="85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78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78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78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78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utoUpdateAnimBg="0"/>
      <p:bldP spid="35" grpId="0" autoUpdateAnimBg="0"/>
      <p:bldP spid="47" grpId="0" autoUpdateAnimBg="0"/>
      <p:bldP spid="48" grpId="0" autoUpdateAnimBg="0"/>
      <p:bldP spid="49" grpId="0" autoUpdateAnimBg="0"/>
      <p:bldP spid="50" grpId="0" autoUpdateAnimBg="0"/>
      <p:bldP spid="51" grpId="0" autoUpdateAnimBg="0"/>
      <p:bldP spid="52" grpId="0" autoUpdateAnimBg="0"/>
      <p:bldP spid="53" grpId="0" autoUpdateAnimBg="0"/>
      <p:bldP spid="54" grpId="0" autoUpdateAnimBg="0"/>
      <p:bldP spid="55" grpId="0" autoUpdateAnimBg="0"/>
      <p:bldP spid="56" grpId="0" autoUpdateAnimBg="0"/>
      <p:bldP spid="57" grpId="0" autoUpdateAnimBg="0"/>
      <p:bldP spid="58" grpId="0" autoUpdateAnimBg="0"/>
      <p:bldP spid="59" grpId="0" autoUpdateAnimBg="0"/>
      <p:bldP spid="60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Box 45"/>
          <p:cNvSpPr txBox="1">
            <a:spLocks noChangeArrowheads="1"/>
          </p:cNvSpPr>
          <p:nvPr/>
        </p:nvSpPr>
        <p:spPr bwMode="auto">
          <a:xfrm>
            <a:off x="789734" y="726086"/>
            <a:ext cx="3349625" cy="585787"/>
          </a:xfrm>
          <a:prstGeom prst="rect">
            <a:avLst/>
          </a:prstGeom>
          <a:noFill/>
          <a:ln w="44450" algn="ctr">
            <a:noFill/>
            <a:miter lim="800000"/>
            <a:headEnd/>
            <a:tailEnd type="none" w="sm" len="lg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altLang="zh-CN" sz="320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320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320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  </a:t>
            </a:r>
            <a:r>
              <a:rPr lang="zh-CN" altLang="en-US" sz="3200" dirty="0" smtClean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特殊二极管</a:t>
            </a:r>
            <a:endParaRPr lang="zh-CN" altLang="en-US" sz="3200" dirty="0">
              <a:solidFill>
                <a:srgbClr val="0070C0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8" name="Rectangle 13"/>
          <p:cNvSpPr>
            <a:spLocks noChangeArrowheads="1"/>
          </p:cNvSpPr>
          <p:nvPr/>
        </p:nvSpPr>
        <p:spPr bwMode="auto">
          <a:xfrm>
            <a:off x="2606007" y="1870564"/>
            <a:ext cx="25932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）稳压管</a:t>
            </a:r>
            <a:endParaRPr lang="zh-CN" altLang="en-US" sz="28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2562978" y="2483750"/>
            <a:ext cx="33860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）光电二极管</a:t>
            </a:r>
            <a:endParaRPr lang="zh-CN" altLang="en-US" sz="28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2562977" y="3107693"/>
            <a:ext cx="318160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3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）发光二极管</a:t>
            </a:r>
            <a:endParaRPr lang="zh-CN" altLang="en-US" sz="28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utoUpdateAnimBg="0"/>
      <p:bldP spid="17" grpId="0" autoUpdateAnimBg="0"/>
      <p:bldP spid="18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13"/>
          <p:cNvSpPr>
            <a:spLocks noChangeArrowheads="1"/>
          </p:cNvSpPr>
          <p:nvPr/>
        </p:nvSpPr>
        <p:spPr bwMode="auto">
          <a:xfrm>
            <a:off x="876003" y="900620"/>
            <a:ext cx="25932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）稳压管</a:t>
            </a:r>
            <a:endParaRPr lang="zh-CN" altLang="en-US" sz="28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6096000" y="1735567"/>
            <a:ext cx="1066800" cy="1524000"/>
            <a:chOff x="3648" y="1200"/>
            <a:chExt cx="672" cy="960"/>
          </a:xfrm>
        </p:grpSpPr>
        <p:sp>
          <p:nvSpPr>
            <p:cNvPr id="50" name="Line 16"/>
            <p:cNvSpPr>
              <a:spLocks noChangeShapeType="1"/>
            </p:cNvSpPr>
            <p:nvPr/>
          </p:nvSpPr>
          <p:spPr bwMode="auto">
            <a:xfrm>
              <a:off x="3648" y="1420"/>
              <a:ext cx="672" cy="0"/>
            </a:xfrm>
            <a:prstGeom prst="line">
              <a:avLst/>
            </a:prstGeom>
            <a:noFill/>
            <a:ln w="38100">
              <a:solidFill>
                <a:srgbClr val="FF9933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1" name="Line 17"/>
            <p:cNvSpPr>
              <a:spLocks noChangeShapeType="1"/>
            </p:cNvSpPr>
            <p:nvPr/>
          </p:nvSpPr>
          <p:spPr bwMode="auto">
            <a:xfrm>
              <a:off x="4320" y="1420"/>
              <a:ext cx="0" cy="220"/>
            </a:xfrm>
            <a:prstGeom prst="line">
              <a:avLst/>
            </a:prstGeom>
            <a:noFill/>
            <a:ln w="38100">
              <a:solidFill>
                <a:srgbClr val="FF9933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2" name="Line 18"/>
            <p:cNvSpPr>
              <a:spLocks noChangeShapeType="1"/>
            </p:cNvSpPr>
            <p:nvPr/>
          </p:nvSpPr>
          <p:spPr bwMode="auto">
            <a:xfrm>
              <a:off x="4032" y="1200"/>
              <a:ext cx="0" cy="960"/>
            </a:xfrm>
            <a:prstGeom prst="line">
              <a:avLst/>
            </a:prstGeom>
            <a:noFill/>
            <a:ln w="38100">
              <a:solidFill>
                <a:srgbClr val="FF9933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4" name="Line 19"/>
            <p:cNvSpPr>
              <a:spLocks noChangeShapeType="1"/>
            </p:cNvSpPr>
            <p:nvPr/>
          </p:nvSpPr>
          <p:spPr bwMode="auto">
            <a:xfrm flipH="1">
              <a:off x="3792" y="1420"/>
              <a:ext cx="240" cy="396"/>
            </a:xfrm>
            <a:prstGeom prst="line">
              <a:avLst/>
            </a:prstGeom>
            <a:noFill/>
            <a:ln w="38100">
              <a:solidFill>
                <a:srgbClr val="FF9933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5" name="Line 20"/>
            <p:cNvSpPr>
              <a:spLocks noChangeShapeType="1"/>
            </p:cNvSpPr>
            <p:nvPr/>
          </p:nvSpPr>
          <p:spPr bwMode="auto">
            <a:xfrm>
              <a:off x="4032" y="1420"/>
              <a:ext cx="240" cy="396"/>
            </a:xfrm>
            <a:prstGeom prst="line">
              <a:avLst/>
            </a:prstGeom>
            <a:noFill/>
            <a:ln w="38100">
              <a:solidFill>
                <a:srgbClr val="FF9933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6" name="Line 21"/>
            <p:cNvSpPr>
              <a:spLocks noChangeShapeType="1"/>
            </p:cNvSpPr>
            <p:nvPr/>
          </p:nvSpPr>
          <p:spPr bwMode="auto">
            <a:xfrm>
              <a:off x="3792" y="1816"/>
              <a:ext cx="480" cy="0"/>
            </a:xfrm>
            <a:prstGeom prst="line">
              <a:avLst/>
            </a:prstGeom>
            <a:noFill/>
            <a:ln w="38100">
              <a:solidFill>
                <a:srgbClr val="FF9933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57" name="Rectangle 22"/>
          <p:cNvSpPr>
            <a:spLocks noChangeArrowheads="1"/>
          </p:cNvSpPr>
          <p:nvPr/>
        </p:nvSpPr>
        <p:spPr bwMode="auto">
          <a:xfrm>
            <a:off x="6063055" y="3698521"/>
            <a:ext cx="162095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图形符号</a:t>
            </a:r>
            <a:endParaRPr lang="en-US" altLang="zh-CN" sz="28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8" name="Rectangle 23"/>
          <p:cNvSpPr>
            <a:spLocks noChangeArrowheads="1"/>
          </p:cNvSpPr>
          <p:nvPr/>
        </p:nvSpPr>
        <p:spPr bwMode="auto">
          <a:xfrm>
            <a:off x="7308850" y="2167367"/>
            <a:ext cx="5325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D</a:t>
            </a:r>
            <a:r>
              <a:rPr lang="en-US" altLang="zh-CN" sz="24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Z</a:t>
            </a:r>
          </a:p>
        </p:txBody>
      </p:sp>
      <p:sp>
        <p:nvSpPr>
          <p:cNvPr id="59" name="Text Box 24"/>
          <p:cNvSpPr txBox="1">
            <a:spLocks noChangeArrowheads="1"/>
          </p:cNvSpPr>
          <p:nvPr/>
        </p:nvSpPr>
        <p:spPr bwMode="auto">
          <a:xfrm>
            <a:off x="6795732" y="1360787"/>
            <a:ext cx="8771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阴 极</a:t>
            </a:r>
          </a:p>
        </p:txBody>
      </p:sp>
      <p:sp>
        <p:nvSpPr>
          <p:cNvPr id="60" name="Text Box 25"/>
          <p:cNvSpPr txBox="1">
            <a:spLocks noChangeArrowheads="1"/>
          </p:cNvSpPr>
          <p:nvPr/>
        </p:nvSpPr>
        <p:spPr bwMode="auto">
          <a:xfrm>
            <a:off x="6795733" y="3042565"/>
            <a:ext cx="8771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阳 极</a:t>
            </a:r>
          </a:p>
        </p:txBody>
      </p:sp>
      <p:sp>
        <p:nvSpPr>
          <p:cNvPr id="93" name="Rectangle 13"/>
          <p:cNvSpPr>
            <a:spLocks noChangeArrowheads="1"/>
          </p:cNvSpPr>
          <p:nvPr/>
        </p:nvSpPr>
        <p:spPr bwMode="auto">
          <a:xfrm>
            <a:off x="1032098" y="2042687"/>
            <a:ext cx="416384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是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一种特殊的面接触型半导体二极管。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"/>
                            </p:stCondLst>
                            <p:childTnLst>
                              <p:par>
                                <p:cTn id="19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00"/>
                            </p:stCondLst>
                            <p:childTnLst>
                              <p:par>
                                <p:cTn id="2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300"/>
                            </p:stCondLst>
                            <p:childTnLst>
                              <p:par>
                                <p:cTn id="2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8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utoUpdateAnimBg="0"/>
      <p:bldP spid="57" grpId="0" autoUpdateAnimBg="0"/>
      <p:bldP spid="58" grpId="0" autoUpdateAnimBg="0"/>
      <p:bldP spid="59" grpId="0" autoUpdateAnimBg="0"/>
      <p:bldP spid="60" grpId="0" autoUpdateAnimBg="0"/>
      <p:bldP spid="93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Box 26"/>
          <p:cNvSpPr txBox="1">
            <a:spLocks noChangeArrowheads="1"/>
          </p:cNvSpPr>
          <p:nvPr/>
        </p:nvSpPr>
        <p:spPr bwMode="auto">
          <a:xfrm>
            <a:off x="934103" y="1074737"/>
            <a:ext cx="10182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特点</a:t>
            </a:r>
            <a:r>
              <a:rPr lang="en-US" altLang="zh-CN" sz="2800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:</a:t>
            </a:r>
          </a:p>
        </p:txBody>
      </p:sp>
      <p:grpSp>
        <p:nvGrpSpPr>
          <p:cNvPr id="5" name="组合 51"/>
          <p:cNvGrpSpPr>
            <a:grpSpLocks/>
          </p:cNvGrpSpPr>
          <p:nvPr/>
        </p:nvGrpSpPr>
        <p:grpSpPr bwMode="auto">
          <a:xfrm>
            <a:off x="4877135" y="675399"/>
            <a:ext cx="3406310" cy="3614605"/>
            <a:chOff x="755650" y="1815709"/>
            <a:chExt cx="3406310" cy="3614605"/>
          </a:xfrm>
        </p:grpSpPr>
        <p:sp>
          <p:nvSpPr>
            <p:cNvPr id="80" name="Line 65"/>
            <p:cNvSpPr>
              <a:spLocks noChangeShapeType="1"/>
            </p:cNvSpPr>
            <p:nvPr/>
          </p:nvSpPr>
          <p:spPr bwMode="auto">
            <a:xfrm flipV="1">
              <a:off x="847814" y="4028109"/>
              <a:ext cx="3077421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66"/>
            <p:cNvSpPr>
              <a:spLocks noChangeShapeType="1"/>
            </p:cNvSpPr>
            <p:nvPr/>
          </p:nvSpPr>
          <p:spPr bwMode="auto">
            <a:xfrm flipH="1" flipV="1">
              <a:off x="2825197" y="1957891"/>
              <a:ext cx="0" cy="3463962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Freeform 67"/>
            <p:cNvSpPr>
              <a:spLocks/>
            </p:cNvSpPr>
            <p:nvPr/>
          </p:nvSpPr>
          <p:spPr bwMode="auto">
            <a:xfrm>
              <a:off x="2841331" y="2571077"/>
              <a:ext cx="675113" cy="1452512"/>
            </a:xfrm>
            <a:custGeom>
              <a:avLst/>
              <a:gdLst>
                <a:gd name="T0" fmla="*/ 2147483647 w 528"/>
                <a:gd name="T1" fmla="*/ 0 h 1496"/>
                <a:gd name="T2" fmla="*/ 2147483647 w 528"/>
                <a:gd name="T3" fmla="*/ 2147483647 h 1496"/>
                <a:gd name="T4" fmla="*/ 0 w 528"/>
                <a:gd name="T5" fmla="*/ 2147483647 h 1496"/>
                <a:gd name="T6" fmla="*/ 0 60000 65536"/>
                <a:gd name="T7" fmla="*/ 0 60000 65536"/>
                <a:gd name="T8" fmla="*/ 0 60000 65536"/>
                <a:gd name="T9" fmla="*/ 0 w 528"/>
                <a:gd name="T10" fmla="*/ 0 h 1496"/>
                <a:gd name="T11" fmla="*/ 528 w 528"/>
                <a:gd name="T12" fmla="*/ 1496 h 14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1496">
                  <a:moveTo>
                    <a:pt x="528" y="0"/>
                  </a:moveTo>
                  <a:cubicBezTo>
                    <a:pt x="476" y="500"/>
                    <a:pt x="424" y="1000"/>
                    <a:pt x="336" y="1248"/>
                  </a:cubicBezTo>
                  <a:cubicBezTo>
                    <a:pt x="248" y="1496"/>
                    <a:pt x="56" y="1448"/>
                    <a:pt x="0" y="1488"/>
                  </a:cubicBezTo>
                </a:path>
              </a:pathLst>
            </a:custGeom>
            <a:noFill/>
            <a:ln w="5080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Freeform 68"/>
            <p:cNvSpPr>
              <a:spLocks/>
            </p:cNvSpPr>
            <p:nvPr/>
          </p:nvSpPr>
          <p:spPr bwMode="auto">
            <a:xfrm>
              <a:off x="910635" y="4090731"/>
              <a:ext cx="929930" cy="1339583"/>
            </a:xfrm>
            <a:custGeom>
              <a:avLst/>
              <a:gdLst>
                <a:gd name="T0" fmla="*/ 2147483647 w 960"/>
                <a:gd name="T1" fmla="*/ 0 h 1296"/>
                <a:gd name="T2" fmla="*/ 2147483647 w 960"/>
                <a:gd name="T3" fmla="*/ 2147483647 h 1296"/>
                <a:gd name="T4" fmla="*/ 2147483647 w 960"/>
                <a:gd name="T5" fmla="*/ 2147483647 h 1296"/>
                <a:gd name="T6" fmla="*/ 0 w 960"/>
                <a:gd name="T7" fmla="*/ 2147483647 h 12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0"/>
                <a:gd name="T13" fmla="*/ 0 h 1296"/>
                <a:gd name="T14" fmla="*/ 960 w 960"/>
                <a:gd name="T15" fmla="*/ 1296 h 12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0" h="1296">
                  <a:moveTo>
                    <a:pt x="960" y="0"/>
                  </a:moveTo>
                  <a:cubicBezTo>
                    <a:pt x="696" y="28"/>
                    <a:pt x="432" y="56"/>
                    <a:pt x="288" y="144"/>
                  </a:cubicBezTo>
                  <a:cubicBezTo>
                    <a:pt x="144" y="232"/>
                    <a:pt x="144" y="336"/>
                    <a:pt x="96" y="528"/>
                  </a:cubicBezTo>
                  <a:cubicBezTo>
                    <a:pt x="48" y="720"/>
                    <a:pt x="16" y="1168"/>
                    <a:pt x="0" y="1296"/>
                  </a:cubicBezTo>
                </a:path>
              </a:pathLst>
            </a:custGeom>
            <a:noFill/>
            <a:ln w="5080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Text Box 69"/>
            <p:cNvSpPr txBox="1">
              <a:spLocks noChangeArrowheads="1"/>
            </p:cNvSpPr>
            <p:nvPr/>
          </p:nvSpPr>
          <p:spPr bwMode="auto">
            <a:xfrm>
              <a:off x="2950833" y="1815709"/>
              <a:ext cx="73720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solidFill>
                    <a:schemeClr val="tx1"/>
                  </a:solidFill>
                </a:rPr>
                <a:t>I/</a:t>
              </a:r>
              <a:r>
                <a:rPr lang="en-US" altLang="zh-CN" sz="1800" dirty="0" err="1">
                  <a:solidFill>
                    <a:schemeClr val="tx1"/>
                  </a:solidFill>
                </a:rPr>
                <a:t>mA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85" name="Text Box 70"/>
            <p:cNvSpPr txBox="1">
              <a:spLocks noChangeArrowheads="1"/>
            </p:cNvSpPr>
            <p:nvPr/>
          </p:nvSpPr>
          <p:spPr bwMode="auto">
            <a:xfrm>
              <a:off x="3430384" y="4062732"/>
              <a:ext cx="73157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 smtClean="0">
                  <a:solidFill>
                    <a:schemeClr val="tx1"/>
                  </a:solidFill>
                </a:rPr>
                <a:t>U</a:t>
              </a:r>
              <a:r>
                <a:rPr lang="en-US" altLang="zh-CN" sz="2400" dirty="0" smtClean="0">
                  <a:solidFill>
                    <a:schemeClr val="tx1"/>
                  </a:solidFill>
                </a:rPr>
                <a:t>/V</a:t>
              </a:r>
              <a:endParaRPr lang="en-US" altLang="zh-CN" sz="2400" dirty="0">
                <a:solidFill>
                  <a:schemeClr val="tx1"/>
                </a:solidFill>
              </a:endParaRPr>
            </a:p>
          </p:txBody>
        </p:sp>
        <p:sp>
          <p:nvSpPr>
            <p:cNvPr id="86" name="Text Box 71"/>
            <p:cNvSpPr txBox="1">
              <a:spLocks noChangeArrowheads="1"/>
            </p:cNvSpPr>
            <p:nvPr/>
          </p:nvSpPr>
          <p:spPr bwMode="auto">
            <a:xfrm>
              <a:off x="2469596" y="3974890"/>
              <a:ext cx="340158" cy="46166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i="1" dirty="0">
                  <a:solidFill>
                    <a:schemeClr val="tx1"/>
                  </a:solidFill>
                  <a:ea typeface="隶书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87" name="Line 72"/>
            <p:cNvSpPr>
              <a:spLocks noChangeShapeType="1"/>
            </p:cNvSpPr>
            <p:nvPr/>
          </p:nvSpPr>
          <p:spPr bwMode="auto">
            <a:xfrm flipV="1">
              <a:off x="977641" y="4820567"/>
              <a:ext cx="18610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73"/>
            <p:cNvSpPr>
              <a:spLocks noChangeShapeType="1"/>
            </p:cNvSpPr>
            <p:nvPr/>
          </p:nvSpPr>
          <p:spPr bwMode="auto">
            <a:xfrm>
              <a:off x="964524" y="4030799"/>
              <a:ext cx="0" cy="78862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Text Box 74"/>
            <p:cNvSpPr txBox="1">
              <a:spLocks noChangeArrowheads="1"/>
            </p:cNvSpPr>
            <p:nvPr/>
          </p:nvSpPr>
          <p:spPr bwMode="auto">
            <a:xfrm>
              <a:off x="755650" y="3507394"/>
              <a:ext cx="582087" cy="471497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800" i="1">
                  <a:solidFill>
                    <a:srgbClr val="FF9933"/>
                  </a:solidFill>
                  <a:ea typeface="隶书" pitchFamily="49" charset="-122"/>
                </a:rPr>
                <a:t>U</a:t>
              </a:r>
              <a:r>
                <a:rPr lang="en-US" altLang="zh-CN" sz="2800" baseline="-25000">
                  <a:solidFill>
                    <a:srgbClr val="FF9933"/>
                  </a:solidFill>
                  <a:ea typeface="隶书" pitchFamily="49" charset="-122"/>
                </a:rPr>
                <a:t>Z</a:t>
              </a:r>
            </a:p>
          </p:txBody>
        </p:sp>
        <p:sp>
          <p:nvSpPr>
            <p:cNvPr id="90" name="Text Box 75"/>
            <p:cNvSpPr txBox="1">
              <a:spLocks noChangeArrowheads="1"/>
            </p:cNvSpPr>
            <p:nvPr/>
          </p:nvSpPr>
          <p:spPr bwMode="auto">
            <a:xfrm>
              <a:off x="2919619" y="4597235"/>
              <a:ext cx="466898" cy="471497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800" i="1" dirty="0">
                  <a:solidFill>
                    <a:srgbClr val="FF9933"/>
                  </a:solidFill>
                  <a:ea typeface="隶书" pitchFamily="49" charset="-122"/>
                </a:rPr>
                <a:t>I</a:t>
              </a:r>
              <a:r>
                <a:rPr lang="en-US" altLang="zh-CN" sz="2800" baseline="-25000" dirty="0">
                  <a:solidFill>
                    <a:srgbClr val="FF9933"/>
                  </a:solidFill>
                  <a:ea typeface="隶书" pitchFamily="49" charset="-122"/>
                </a:rPr>
                <a:t>Z</a:t>
              </a:r>
            </a:p>
          </p:txBody>
        </p:sp>
        <p:cxnSp>
          <p:nvCxnSpPr>
            <p:cNvPr id="91" name="直接连接符 46"/>
            <p:cNvCxnSpPr>
              <a:cxnSpLocks noChangeShapeType="1"/>
            </p:cNvCxnSpPr>
            <p:nvPr/>
          </p:nvCxnSpPr>
          <p:spPr bwMode="auto">
            <a:xfrm flipV="1">
              <a:off x="1795463" y="4020458"/>
              <a:ext cx="1044000" cy="70530"/>
            </a:xfrm>
            <a:prstGeom prst="line">
              <a:avLst/>
            </a:prstGeom>
            <a:noFill/>
            <a:ln w="50800" algn="ctr">
              <a:solidFill>
                <a:srgbClr val="FFFF00"/>
              </a:solidFill>
              <a:round/>
              <a:headEnd/>
              <a:tailEnd type="none" w="sm" len="lg"/>
            </a:ln>
          </p:spPr>
        </p:cxnSp>
      </p:grpSp>
      <p:grpSp>
        <p:nvGrpSpPr>
          <p:cNvPr id="97" name="组合 96"/>
          <p:cNvGrpSpPr/>
          <p:nvPr/>
        </p:nvGrpSpPr>
        <p:grpSpPr>
          <a:xfrm>
            <a:off x="5240653" y="806339"/>
            <a:ext cx="1199870" cy="1643062"/>
            <a:chOff x="6348693" y="1333463"/>
            <a:chExt cx="1199870" cy="1643062"/>
          </a:xfrm>
        </p:grpSpPr>
        <p:sp>
          <p:nvSpPr>
            <p:cNvPr id="69" name="Rectangle 98"/>
            <p:cNvSpPr>
              <a:spLocks noChangeArrowheads="1"/>
            </p:cNvSpPr>
            <p:nvPr/>
          </p:nvSpPr>
          <p:spPr bwMode="auto">
            <a:xfrm>
              <a:off x="7088468" y="1333463"/>
              <a:ext cx="287258" cy="461665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i="1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70" name="Rectangle 100"/>
            <p:cNvSpPr>
              <a:spLocks noChangeArrowheads="1"/>
            </p:cNvSpPr>
            <p:nvPr/>
          </p:nvSpPr>
          <p:spPr bwMode="auto">
            <a:xfrm>
              <a:off x="6420131" y="2109750"/>
              <a:ext cx="404813" cy="457200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i="1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71" name="Rectangle 102"/>
            <p:cNvSpPr>
              <a:spLocks noChangeArrowheads="1"/>
            </p:cNvSpPr>
            <p:nvPr/>
          </p:nvSpPr>
          <p:spPr bwMode="auto">
            <a:xfrm>
              <a:off x="6348693" y="1606512"/>
              <a:ext cx="539750" cy="519113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0" dirty="0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rPr>
                <a:t>＋</a:t>
              </a:r>
            </a:p>
          </p:txBody>
        </p:sp>
        <p:sp>
          <p:nvSpPr>
            <p:cNvPr id="72" name="Rectangle 103"/>
            <p:cNvSpPr>
              <a:spLocks noChangeArrowheads="1"/>
            </p:cNvSpPr>
            <p:nvPr/>
          </p:nvSpPr>
          <p:spPr bwMode="auto">
            <a:xfrm>
              <a:off x="6420131" y="2397087"/>
              <a:ext cx="388938" cy="579438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3200" dirty="0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rPr>
                <a:t>-</a:t>
              </a:r>
            </a:p>
          </p:txBody>
        </p:sp>
        <p:grpSp>
          <p:nvGrpSpPr>
            <p:cNvPr id="49" name="Group 15"/>
            <p:cNvGrpSpPr>
              <a:grpSpLocks/>
            </p:cNvGrpSpPr>
            <p:nvPr/>
          </p:nvGrpSpPr>
          <p:grpSpPr bwMode="auto">
            <a:xfrm rot="10800000">
              <a:off x="6666917" y="1714051"/>
              <a:ext cx="881646" cy="1148212"/>
              <a:chOff x="3762" y="1200"/>
              <a:chExt cx="937" cy="960"/>
            </a:xfrm>
          </p:grpSpPr>
          <p:sp>
            <p:nvSpPr>
              <p:cNvPr id="53" name="Line 16"/>
              <p:cNvSpPr>
                <a:spLocks noChangeShapeType="1"/>
              </p:cNvSpPr>
              <p:nvPr/>
            </p:nvSpPr>
            <p:spPr bwMode="auto">
              <a:xfrm>
                <a:off x="3762" y="1418"/>
                <a:ext cx="558" cy="0"/>
              </a:xfrm>
              <a:prstGeom prst="line">
                <a:avLst/>
              </a:prstGeom>
              <a:noFill/>
              <a:ln w="38100">
                <a:solidFill>
                  <a:srgbClr val="FF9933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4" name="Line 17"/>
              <p:cNvSpPr>
                <a:spLocks noChangeShapeType="1"/>
              </p:cNvSpPr>
              <p:nvPr/>
            </p:nvSpPr>
            <p:spPr bwMode="auto">
              <a:xfrm>
                <a:off x="4320" y="1420"/>
                <a:ext cx="0" cy="220"/>
              </a:xfrm>
              <a:prstGeom prst="line">
                <a:avLst/>
              </a:prstGeom>
              <a:noFill/>
              <a:ln w="38100">
                <a:solidFill>
                  <a:srgbClr val="FF9933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5" name="Line 18"/>
              <p:cNvSpPr>
                <a:spLocks noChangeShapeType="1"/>
              </p:cNvSpPr>
              <p:nvPr/>
            </p:nvSpPr>
            <p:spPr bwMode="auto">
              <a:xfrm>
                <a:off x="4032" y="1200"/>
                <a:ext cx="0" cy="960"/>
              </a:xfrm>
              <a:prstGeom prst="line">
                <a:avLst/>
              </a:prstGeom>
              <a:noFill/>
              <a:ln w="38100">
                <a:solidFill>
                  <a:srgbClr val="FF9933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79" name="Line 19"/>
              <p:cNvSpPr>
                <a:spLocks noChangeShapeType="1"/>
              </p:cNvSpPr>
              <p:nvPr/>
            </p:nvSpPr>
            <p:spPr bwMode="auto">
              <a:xfrm flipH="1">
                <a:off x="3792" y="1420"/>
                <a:ext cx="240" cy="396"/>
              </a:xfrm>
              <a:prstGeom prst="line">
                <a:avLst/>
              </a:prstGeom>
              <a:noFill/>
              <a:ln w="38100">
                <a:solidFill>
                  <a:srgbClr val="FF9933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93" name="Line 20"/>
              <p:cNvSpPr>
                <a:spLocks noChangeShapeType="1"/>
              </p:cNvSpPr>
              <p:nvPr/>
            </p:nvSpPr>
            <p:spPr bwMode="auto">
              <a:xfrm>
                <a:off x="4032" y="1420"/>
                <a:ext cx="240" cy="396"/>
              </a:xfrm>
              <a:prstGeom prst="line">
                <a:avLst/>
              </a:prstGeom>
              <a:noFill/>
              <a:ln w="38100">
                <a:solidFill>
                  <a:srgbClr val="FF9933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94" name="Line 21"/>
              <p:cNvSpPr>
                <a:spLocks noChangeShapeType="1"/>
              </p:cNvSpPr>
              <p:nvPr/>
            </p:nvSpPr>
            <p:spPr bwMode="auto">
              <a:xfrm>
                <a:off x="3792" y="1816"/>
                <a:ext cx="480" cy="0"/>
              </a:xfrm>
              <a:prstGeom prst="line">
                <a:avLst/>
              </a:prstGeom>
              <a:noFill/>
              <a:ln w="38100">
                <a:solidFill>
                  <a:srgbClr val="FF9933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95" name="Line 16"/>
              <p:cNvSpPr>
                <a:spLocks noChangeShapeType="1"/>
              </p:cNvSpPr>
              <p:nvPr/>
            </p:nvSpPr>
            <p:spPr bwMode="auto">
              <a:xfrm>
                <a:off x="4027" y="1210"/>
                <a:ext cx="672" cy="0"/>
              </a:xfrm>
              <a:prstGeom prst="line">
                <a:avLst/>
              </a:prstGeom>
              <a:noFill/>
              <a:ln w="38100">
                <a:solidFill>
                  <a:srgbClr val="FF9933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96" name="Line 16"/>
              <p:cNvSpPr>
                <a:spLocks noChangeShapeType="1"/>
              </p:cNvSpPr>
              <p:nvPr/>
            </p:nvSpPr>
            <p:spPr bwMode="auto">
              <a:xfrm>
                <a:off x="4027" y="2159"/>
                <a:ext cx="672" cy="0"/>
              </a:xfrm>
              <a:prstGeom prst="line">
                <a:avLst/>
              </a:prstGeom>
              <a:noFill/>
              <a:ln w="38100">
                <a:solidFill>
                  <a:srgbClr val="FF9933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68" name="Line 96"/>
            <p:cNvSpPr>
              <a:spLocks noChangeShapeType="1"/>
            </p:cNvSpPr>
            <p:nvPr/>
          </p:nvSpPr>
          <p:spPr bwMode="auto">
            <a:xfrm>
              <a:off x="6766205" y="1708112"/>
              <a:ext cx="360363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8" name="Rectangle 22"/>
          <p:cNvSpPr>
            <a:spLocks noChangeArrowheads="1"/>
          </p:cNvSpPr>
          <p:nvPr/>
        </p:nvSpPr>
        <p:spPr bwMode="auto">
          <a:xfrm>
            <a:off x="6041539" y="4387010"/>
            <a:ext cx="14157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伏安特性</a:t>
            </a:r>
            <a:endParaRPr lang="en-US" altLang="zh-CN" sz="24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102" name="组合 101"/>
          <p:cNvGrpSpPr/>
          <p:nvPr/>
        </p:nvGrpSpPr>
        <p:grpSpPr>
          <a:xfrm>
            <a:off x="675360" y="1708673"/>
            <a:ext cx="3810579" cy="1212640"/>
            <a:chOff x="675360" y="1708673"/>
            <a:chExt cx="3810579" cy="1212640"/>
          </a:xfrm>
        </p:grpSpPr>
        <p:sp>
          <p:nvSpPr>
            <p:cNvPr id="62" name="Text Box 27"/>
            <p:cNvSpPr txBox="1">
              <a:spLocks noChangeArrowheads="1"/>
            </p:cNvSpPr>
            <p:nvPr/>
          </p:nvSpPr>
          <p:spPr bwMode="auto">
            <a:xfrm>
              <a:off x="675360" y="1708673"/>
              <a:ext cx="3810579" cy="12126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    </a:t>
              </a:r>
              <a:r>
                <a:rPr lang="zh-CN" altLang="en-US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正向特性</a:t>
              </a: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曲线与普通二极管类似</a:t>
              </a:r>
            </a:p>
          </p:txBody>
        </p:sp>
        <p:sp>
          <p:nvSpPr>
            <p:cNvPr id="99" name="Oval 57"/>
            <p:cNvSpPr>
              <a:spLocks noChangeArrowheads="1"/>
            </p:cNvSpPr>
            <p:nvPr/>
          </p:nvSpPr>
          <p:spPr bwMode="auto">
            <a:xfrm>
              <a:off x="803258" y="1980204"/>
              <a:ext cx="180000" cy="18000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653844" y="2958950"/>
            <a:ext cx="3775393" cy="523220"/>
            <a:chOff x="653844" y="2958950"/>
            <a:chExt cx="3775393" cy="523220"/>
          </a:xfrm>
        </p:grpSpPr>
        <p:sp>
          <p:nvSpPr>
            <p:cNvPr id="92" name="Text Box 27"/>
            <p:cNvSpPr txBox="1">
              <a:spLocks noChangeArrowheads="1"/>
            </p:cNvSpPr>
            <p:nvPr/>
          </p:nvSpPr>
          <p:spPr bwMode="auto">
            <a:xfrm>
              <a:off x="653844" y="2958950"/>
              <a:ext cx="3775393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    </a:t>
              </a:r>
              <a:r>
                <a:rPr lang="zh-CN" altLang="en-US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反向</a:t>
              </a: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特性曲线比较陡</a:t>
              </a:r>
            </a:p>
          </p:txBody>
        </p:sp>
        <p:sp>
          <p:nvSpPr>
            <p:cNvPr id="100" name="Oval 57"/>
            <p:cNvSpPr>
              <a:spLocks noChangeArrowheads="1"/>
            </p:cNvSpPr>
            <p:nvPr/>
          </p:nvSpPr>
          <p:spPr bwMode="auto">
            <a:xfrm>
              <a:off x="835531" y="3152787"/>
              <a:ext cx="180000" cy="18000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664602" y="3557065"/>
            <a:ext cx="3416320" cy="523220"/>
            <a:chOff x="664602" y="3557065"/>
            <a:chExt cx="3416320" cy="523220"/>
          </a:xfrm>
        </p:grpSpPr>
        <p:sp>
          <p:nvSpPr>
            <p:cNvPr id="63" name="Text Box 28"/>
            <p:cNvSpPr txBox="1">
              <a:spLocks noChangeArrowheads="1"/>
            </p:cNvSpPr>
            <p:nvPr/>
          </p:nvSpPr>
          <p:spPr bwMode="auto">
            <a:xfrm>
              <a:off x="664602" y="3557065"/>
              <a:ext cx="341632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    </a:t>
              </a:r>
              <a:r>
                <a:rPr lang="zh-CN" altLang="en-US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工作</a:t>
              </a:r>
              <a:r>
                <a:rPr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在反向击穿区</a:t>
              </a:r>
            </a:p>
          </p:txBody>
        </p:sp>
        <p:sp>
          <p:nvSpPr>
            <p:cNvPr id="101" name="Oval 57"/>
            <p:cNvSpPr>
              <a:spLocks noChangeArrowheads="1"/>
            </p:cNvSpPr>
            <p:nvPr/>
          </p:nvSpPr>
          <p:spPr bwMode="auto">
            <a:xfrm>
              <a:off x="824773" y="3722943"/>
              <a:ext cx="180000" cy="18000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3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utoUpdateAnimBg="0"/>
      <p:bldP spid="98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5"/>
          <p:cNvGrpSpPr>
            <a:grpSpLocks/>
          </p:cNvGrpSpPr>
          <p:nvPr/>
        </p:nvGrpSpPr>
        <p:grpSpPr bwMode="auto">
          <a:xfrm>
            <a:off x="4005505" y="961465"/>
            <a:ext cx="2545901" cy="523220"/>
            <a:chOff x="5572424" y="1052513"/>
            <a:chExt cx="2545901" cy="697626"/>
          </a:xfrm>
        </p:grpSpPr>
        <p:sp>
          <p:nvSpPr>
            <p:cNvPr id="11299" name="Text Box 47"/>
            <p:cNvSpPr txBox="1">
              <a:spLocks noChangeArrowheads="1"/>
            </p:cNvSpPr>
            <p:nvPr/>
          </p:nvSpPr>
          <p:spPr bwMode="auto">
            <a:xfrm>
              <a:off x="5795962" y="1052513"/>
              <a:ext cx="2322363" cy="6976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稳定电压</a:t>
              </a:r>
              <a:r>
                <a:rPr lang="en-US" altLang="zh-CN" sz="2800" i="1" dirty="0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aseline="-25000" dirty="0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Z</a:t>
              </a:r>
            </a:p>
          </p:txBody>
        </p:sp>
        <p:sp>
          <p:nvSpPr>
            <p:cNvPr id="11300" name="Oval 56"/>
            <p:cNvSpPr>
              <a:spLocks noChangeArrowheads="1"/>
            </p:cNvSpPr>
            <p:nvPr/>
          </p:nvSpPr>
          <p:spPr bwMode="auto">
            <a:xfrm>
              <a:off x="5572424" y="1360935"/>
              <a:ext cx="180000" cy="240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6" name="组合 46"/>
          <p:cNvGrpSpPr>
            <a:grpSpLocks/>
          </p:cNvGrpSpPr>
          <p:nvPr/>
        </p:nvGrpSpPr>
        <p:grpSpPr bwMode="auto">
          <a:xfrm>
            <a:off x="3987521" y="2008093"/>
            <a:ext cx="2563885" cy="523220"/>
            <a:chOff x="5593939" y="1901826"/>
            <a:chExt cx="2563886" cy="697626"/>
          </a:xfrm>
        </p:grpSpPr>
        <p:sp>
          <p:nvSpPr>
            <p:cNvPr id="11297" name="Text Box 48"/>
            <p:cNvSpPr txBox="1">
              <a:spLocks noChangeArrowheads="1"/>
            </p:cNvSpPr>
            <p:nvPr/>
          </p:nvSpPr>
          <p:spPr bwMode="auto">
            <a:xfrm>
              <a:off x="5795963" y="1901826"/>
              <a:ext cx="2361862" cy="6976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稳定电流</a:t>
              </a:r>
              <a:r>
                <a:rPr lang="en-US" altLang="zh-CN" sz="2800" i="1" dirty="0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aseline="-25000" dirty="0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Z</a:t>
              </a:r>
            </a:p>
          </p:txBody>
        </p:sp>
        <p:sp>
          <p:nvSpPr>
            <p:cNvPr id="11298" name="Oval 57"/>
            <p:cNvSpPr>
              <a:spLocks noChangeArrowheads="1"/>
            </p:cNvSpPr>
            <p:nvPr/>
          </p:nvSpPr>
          <p:spPr bwMode="auto">
            <a:xfrm>
              <a:off x="5593939" y="2180198"/>
              <a:ext cx="180000" cy="240000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43" name="Text Box 45"/>
          <p:cNvSpPr txBox="1">
            <a:spLocks noChangeArrowheads="1"/>
          </p:cNvSpPr>
          <p:nvPr/>
        </p:nvSpPr>
        <p:spPr bwMode="auto">
          <a:xfrm>
            <a:off x="3808208" y="1341233"/>
            <a:ext cx="507760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稳定</a:t>
            </a:r>
            <a:r>
              <a:rPr lang="zh-CN" altLang="en-US" sz="24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工作电流时的</a:t>
            </a:r>
            <a:r>
              <a:rPr lang="zh-CN" altLang="en-US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反向击穿电压值。     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3700631" y="2543399"/>
            <a:ext cx="5443369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工作电压等于稳定电压时的工作电流。     </a:t>
            </a:r>
          </a:p>
        </p:txBody>
      </p:sp>
      <p:grpSp>
        <p:nvGrpSpPr>
          <p:cNvPr id="42" name="组合 51"/>
          <p:cNvGrpSpPr>
            <a:grpSpLocks/>
          </p:cNvGrpSpPr>
          <p:nvPr/>
        </p:nvGrpSpPr>
        <p:grpSpPr bwMode="auto">
          <a:xfrm>
            <a:off x="434227" y="1191766"/>
            <a:ext cx="3406310" cy="3205815"/>
            <a:chOff x="755650" y="2224499"/>
            <a:chExt cx="3406310" cy="3205815"/>
          </a:xfrm>
        </p:grpSpPr>
        <p:sp>
          <p:nvSpPr>
            <p:cNvPr id="46" name="Line 65"/>
            <p:cNvSpPr>
              <a:spLocks noChangeShapeType="1"/>
            </p:cNvSpPr>
            <p:nvPr/>
          </p:nvSpPr>
          <p:spPr bwMode="auto">
            <a:xfrm flipV="1">
              <a:off x="847814" y="4028109"/>
              <a:ext cx="3077421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66"/>
            <p:cNvSpPr>
              <a:spLocks noChangeShapeType="1"/>
            </p:cNvSpPr>
            <p:nvPr/>
          </p:nvSpPr>
          <p:spPr bwMode="auto">
            <a:xfrm flipV="1">
              <a:off x="2825196" y="2302135"/>
              <a:ext cx="0" cy="3119718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67"/>
            <p:cNvSpPr>
              <a:spLocks/>
            </p:cNvSpPr>
            <p:nvPr/>
          </p:nvSpPr>
          <p:spPr bwMode="auto">
            <a:xfrm>
              <a:off x="2841331" y="2571077"/>
              <a:ext cx="675113" cy="1452512"/>
            </a:xfrm>
            <a:custGeom>
              <a:avLst/>
              <a:gdLst>
                <a:gd name="T0" fmla="*/ 2147483647 w 528"/>
                <a:gd name="T1" fmla="*/ 0 h 1496"/>
                <a:gd name="T2" fmla="*/ 2147483647 w 528"/>
                <a:gd name="T3" fmla="*/ 2147483647 h 1496"/>
                <a:gd name="T4" fmla="*/ 0 w 528"/>
                <a:gd name="T5" fmla="*/ 2147483647 h 1496"/>
                <a:gd name="T6" fmla="*/ 0 60000 65536"/>
                <a:gd name="T7" fmla="*/ 0 60000 65536"/>
                <a:gd name="T8" fmla="*/ 0 60000 65536"/>
                <a:gd name="T9" fmla="*/ 0 w 528"/>
                <a:gd name="T10" fmla="*/ 0 h 1496"/>
                <a:gd name="T11" fmla="*/ 528 w 528"/>
                <a:gd name="T12" fmla="*/ 1496 h 14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1496">
                  <a:moveTo>
                    <a:pt x="528" y="0"/>
                  </a:moveTo>
                  <a:cubicBezTo>
                    <a:pt x="476" y="500"/>
                    <a:pt x="424" y="1000"/>
                    <a:pt x="336" y="1248"/>
                  </a:cubicBezTo>
                  <a:cubicBezTo>
                    <a:pt x="248" y="1496"/>
                    <a:pt x="56" y="1448"/>
                    <a:pt x="0" y="1488"/>
                  </a:cubicBezTo>
                </a:path>
              </a:pathLst>
            </a:custGeom>
            <a:noFill/>
            <a:ln w="5080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68"/>
            <p:cNvSpPr>
              <a:spLocks/>
            </p:cNvSpPr>
            <p:nvPr/>
          </p:nvSpPr>
          <p:spPr bwMode="auto">
            <a:xfrm>
              <a:off x="910635" y="4090731"/>
              <a:ext cx="929930" cy="1339583"/>
            </a:xfrm>
            <a:custGeom>
              <a:avLst/>
              <a:gdLst>
                <a:gd name="T0" fmla="*/ 2147483647 w 960"/>
                <a:gd name="T1" fmla="*/ 0 h 1296"/>
                <a:gd name="T2" fmla="*/ 2147483647 w 960"/>
                <a:gd name="T3" fmla="*/ 2147483647 h 1296"/>
                <a:gd name="T4" fmla="*/ 2147483647 w 960"/>
                <a:gd name="T5" fmla="*/ 2147483647 h 1296"/>
                <a:gd name="T6" fmla="*/ 0 w 960"/>
                <a:gd name="T7" fmla="*/ 2147483647 h 12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0"/>
                <a:gd name="T13" fmla="*/ 0 h 1296"/>
                <a:gd name="T14" fmla="*/ 960 w 960"/>
                <a:gd name="T15" fmla="*/ 1296 h 12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0" h="1296">
                  <a:moveTo>
                    <a:pt x="960" y="0"/>
                  </a:moveTo>
                  <a:cubicBezTo>
                    <a:pt x="696" y="28"/>
                    <a:pt x="432" y="56"/>
                    <a:pt x="288" y="144"/>
                  </a:cubicBezTo>
                  <a:cubicBezTo>
                    <a:pt x="144" y="232"/>
                    <a:pt x="144" y="336"/>
                    <a:pt x="96" y="528"/>
                  </a:cubicBezTo>
                  <a:cubicBezTo>
                    <a:pt x="48" y="720"/>
                    <a:pt x="16" y="1168"/>
                    <a:pt x="0" y="1296"/>
                  </a:cubicBezTo>
                </a:path>
              </a:pathLst>
            </a:custGeom>
            <a:noFill/>
            <a:ln w="5080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Text Box 69"/>
            <p:cNvSpPr txBox="1">
              <a:spLocks noChangeArrowheads="1"/>
            </p:cNvSpPr>
            <p:nvPr/>
          </p:nvSpPr>
          <p:spPr bwMode="auto">
            <a:xfrm>
              <a:off x="2057948" y="2224499"/>
              <a:ext cx="73720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solidFill>
                    <a:schemeClr val="tx1"/>
                  </a:solidFill>
                </a:rPr>
                <a:t>I/</a:t>
              </a:r>
              <a:r>
                <a:rPr lang="en-US" altLang="zh-CN" sz="1800" dirty="0" err="1">
                  <a:solidFill>
                    <a:schemeClr val="tx1"/>
                  </a:solidFill>
                </a:rPr>
                <a:t>mA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51" name="Text Box 70"/>
            <p:cNvSpPr txBox="1">
              <a:spLocks noChangeArrowheads="1"/>
            </p:cNvSpPr>
            <p:nvPr/>
          </p:nvSpPr>
          <p:spPr bwMode="auto">
            <a:xfrm>
              <a:off x="3430384" y="4062732"/>
              <a:ext cx="73157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 smtClean="0">
                  <a:solidFill>
                    <a:schemeClr val="tx1"/>
                  </a:solidFill>
                </a:rPr>
                <a:t>U</a:t>
              </a:r>
              <a:r>
                <a:rPr lang="en-US" altLang="zh-CN" sz="2400" dirty="0" smtClean="0">
                  <a:solidFill>
                    <a:schemeClr val="tx1"/>
                  </a:solidFill>
                </a:rPr>
                <a:t>/V</a:t>
              </a:r>
              <a:endParaRPr lang="en-US" altLang="zh-CN" sz="2400" dirty="0">
                <a:solidFill>
                  <a:schemeClr val="tx1"/>
                </a:solidFill>
              </a:endParaRPr>
            </a:p>
          </p:txBody>
        </p:sp>
        <p:sp>
          <p:nvSpPr>
            <p:cNvPr id="52" name="Text Box 71"/>
            <p:cNvSpPr txBox="1">
              <a:spLocks noChangeArrowheads="1"/>
            </p:cNvSpPr>
            <p:nvPr/>
          </p:nvSpPr>
          <p:spPr bwMode="auto">
            <a:xfrm>
              <a:off x="2469596" y="3974890"/>
              <a:ext cx="340158" cy="46166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i="1" dirty="0">
                  <a:solidFill>
                    <a:schemeClr val="tx1"/>
                  </a:solidFill>
                  <a:ea typeface="隶书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3" name="Line 72"/>
            <p:cNvSpPr>
              <a:spLocks noChangeShapeType="1"/>
            </p:cNvSpPr>
            <p:nvPr/>
          </p:nvSpPr>
          <p:spPr bwMode="auto">
            <a:xfrm flipV="1">
              <a:off x="977641" y="4820567"/>
              <a:ext cx="18610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73"/>
            <p:cNvSpPr>
              <a:spLocks noChangeShapeType="1"/>
            </p:cNvSpPr>
            <p:nvPr/>
          </p:nvSpPr>
          <p:spPr bwMode="auto">
            <a:xfrm>
              <a:off x="964524" y="4030799"/>
              <a:ext cx="0" cy="78862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 Box 74"/>
            <p:cNvSpPr txBox="1">
              <a:spLocks noChangeArrowheads="1"/>
            </p:cNvSpPr>
            <p:nvPr/>
          </p:nvSpPr>
          <p:spPr bwMode="auto">
            <a:xfrm>
              <a:off x="755650" y="3507394"/>
              <a:ext cx="582087" cy="471497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800" i="1">
                  <a:solidFill>
                    <a:srgbClr val="FF9933"/>
                  </a:solidFill>
                  <a:ea typeface="隶书" pitchFamily="49" charset="-122"/>
                </a:rPr>
                <a:t>U</a:t>
              </a:r>
              <a:r>
                <a:rPr lang="en-US" altLang="zh-CN" sz="2800" baseline="-25000">
                  <a:solidFill>
                    <a:srgbClr val="FF9933"/>
                  </a:solidFill>
                  <a:ea typeface="隶书" pitchFamily="49" charset="-122"/>
                </a:rPr>
                <a:t>Z</a:t>
              </a:r>
            </a:p>
          </p:txBody>
        </p:sp>
        <p:sp>
          <p:nvSpPr>
            <p:cNvPr id="56" name="Text Box 75"/>
            <p:cNvSpPr txBox="1">
              <a:spLocks noChangeArrowheads="1"/>
            </p:cNvSpPr>
            <p:nvPr/>
          </p:nvSpPr>
          <p:spPr bwMode="auto">
            <a:xfrm>
              <a:off x="2919619" y="4597235"/>
              <a:ext cx="466898" cy="471497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800" i="1" dirty="0">
                  <a:solidFill>
                    <a:srgbClr val="FF9933"/>
                  </a:solidFill>
                  <a:ea typeface="隶书" pitchFamily="49" charset="-122"/>
                </a:rPr>
                <a:t>I</a:t>
              </a:r>
              <a:r>
                <a:rPr lang="en-US" altLang="zh-CN" sz="2800" baseline="-25000" dirty="0">
                  <a:solidFill>
                    <a:srgbClr val="FF9933"/>
                  </a:solidFill>
                  <a:ea typeface="隶书" pitchFamily="49" charset="-122"/>
                </a:rPr>
                <a:t>Z</a:t>
              </a:r>
            </a:p>
          </p:txBody>
        </p:sp>
        <p:cxnSp>
          <p:nvCxnSpPr>
            <p:cNvPr id="57" name="直接连接符 46"/>
            <p:cNvCxnSpPr>
              <a:cxnSpLocks noChangeShapeType="1"/>
            </p:cNvCxnSpPr>
            <p:nvPr/>
          </p:nvCxnSpPr>
          <p:spPr bwMode="auto">
            <a:xfrm flipV="1">
              <a:off x="1795463" y="4020458"/>
              <a:ext cx="1044000" cy="70530"/>
            </a:xfrm>
            <a:prstGeom prst="line">
              <a:avLst/>
            </a:prstGeom>
            <a:noFill/>
            <a:ln w="50800" algn="ctr">
              <a:solidFill>
                <a:srgbClr val="FFFF00"/>
              </a:solidFill>
              <a:round/>
              <a:headEnd/>
              <a:tailEnd type="none" w="sm" len="lg"/>
            </a:ln>
          </p:spPr>
        </p:cxnSp>
      </p:grpSp>
      <p:sp>
        <p:nvSpPr>
          <p:cNvPr id="73" name="Rectangle 22"/>
          <p:cNvSpPr>
            <a:spLocks noChangeArrowheads="1"/>
          </p:cNvSpPr>
          <p:nvPr/>
        </p:nvSpPr>
        <p:spPr bwMode="auto">
          <a:xfrm>
            <a:off x="1598631" y="4494587"/>
            <a:ext cx="14157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伏安特性</a:t>
            </a:r>
            <a:endParaRPr lang="en-US" altLang="zh-CN" sz="24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9" name="Text Box 29"/>
          <p:cNvSpPr txBox="1">
            <a:spLocks noChangeArrowheads="1"/>
          </p:cNvSpPr>
          <p:nvPr/>
        </p:nvSpPr>
        <p:spPr bwMode="auto">
          <a:xfrm>
            <a:off x="2339974" y="250031"/>
            <a:ext cx="352294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稳压管的主要参数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:</a:t>
            </a:r>
          </a:p>
        </p:txBody>
      </p:sp>
      <p:grpSp>
        <p:nvGrpSpPr>
          <p:cNvPr id="38" name="组合 49"/>
          <p:cNvGrpSpPr>
            <a:grpSpLocks/>
          </p:cNvGrpSpPr>
          <p:nvPr/>
        </p:nvGrpSpPr>
        <p:grpSpPr bwMode="auto">
          <a:xfrm>
            <a:off x="3983990" y="3186349"/>
            <a:ext cx="3460077" cy="584775"/>
            <a:chOff x="5508407" y="5167994"/>
            <a:chExt cx="3460393" cy="779701"/>
          </a:xfrm>
        </p:grpSpPr>
        <p:sp>
          <p:nvSpPr>
            <p:cNvPr id="39" name="Text Box 51"/>
            <p:cNvSpPr txBox="1">
              <a:spLocks noChangeArrowheads="1"/>
            </p:cNvSpPr>
            <p:nvPr/>
          </p:nvSpPr>
          <p:spPr bwMode="auto">
            <a:xfrm>
              <a:off x="5616000" y="5167994"/>
              <a:ext cx="3352800" cy="7797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 最大允许耗散功率</a:t>
              </a:r>
              <a:r>
                <a:rPr lang="en-US" altLang="zh-CN" sz="3200" b="0" i="1" dirty="0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P</a:t>
              </a:r>
              <a:r>
                <a:rPr lang="en-US" altLang="zh-CN" sz="1800" b="0" dirty="0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1800" b="0" baseline="-25000" dirty="0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M</a:t>
              </a:r>
            </a:p>
          </p:txBody>
        </p:sp>
        <p:sp>
          <p:nvSpPr>
            <p:cNvPr id="40" name="Oval 53"/>
            <p:cNvSpPr>
              <a:spLocks noChangeArrowheads="1"/>
            </p:cNvSpPr>
            <p:nvPr/>
          </p:nvSpPr>
          <p:spPr bwMode="auto">
            <a:xfrm>
              <a:off x="5508407" y="5501133"/>
              <a:ext cx="180016" cy="2400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41" name="Text Box 55"/>
          <p:cNvSpPr txBox="1">
            <a:spLocks noChangeArrowheads="1"/>
          </p:cNvSpPr>
          <p:nvPr/>
        </p:nvSpPr>
        <p:spPr bwMode="auto">
          <a:xfrm>
            <a:off x="4754281" y="3759714"/>
            <a:ext cx="18373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P</a:t>
            </a:r>
            <a:r>
              <a:rPr lang="en-US" altLang="zh-CN" sz="24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M </a:t>
            </a:r>
            <a:r>
              <a:rPr lang="en-US" altLang="zh-CN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= </a:t>
            </a:r>
            <a:r>
              <a:rPr lang="en-US" altLang="zh-CN" sz="24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4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Z </a:t>
            </a:r>
            <a:r>
              <a:rPr lang="en-US" altLang="zh-CN" sz="2400" i="1" dirty="0" err="1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aseline="-25000" dirty="0" err="1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Zmax</a:t>
            </a:r>
            <a:endParaRPr lang="en-US" altLang="zh-CN" sz="2400" baseline="-250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613" name="Text Box 29"/>
          <p:cNvSpPr txBox="1">
            <a:spLocks noChangeArrowheads="1"/>
          </p:cNvSpPr>
          <p:nvPr/>
        </p:nvSpPr>
        <p:spPr bwMode="auto">
          <a:xfrm>
            <a:off x="2339975" y="250031"/>
            <a:ext cx="359824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稳压管的主要参数</a:t>
            </a:r>
            <a:r>
              <a:rPr lang="en-US" altLang="zh-CN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itchFamily="2" charset="-122"/>
                <a:cs typeface="Times New Roman" pitchFamily="18" charset="0"/>
              </a:rPr>
              <a:t>:</a:t>
            </a:r>
          </a:p>
        </p:txBody>
      </p:sp>
      <p:sp>
        <p:nvSpPr>
          <p:cNvPr id="23581" name="Text Box 45"/>
          <p:cNvSpPr txBox="1">
            <a:spLocks noChangeArrowheads="1"/>
          </p:cNvSpPr>
          <p:nvPr/>
        </p:nvSpPr>
        <p:spPr bwMode="auto">
          <a:xfrm>
            <a:off x="4442909" y="3142115"/>
            <a:ext cx="45504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稳定电压值受温度变化的系数。     </a:t>
            </a:r>
          </a:p>
        </p:txBody>
      </p:sp>
      <p:grpSp>
        <p:nvGrpSpPr>
          <p:cNvPr id="2" name="组合 48"/>
          <p:cNvGrpSpPr>
            <a:grpSpLocks/>
          </p:cNvGrpSpPr>
          <p:nvPr/>
        </p:nvGrpSpPr>
        <p:grpSpPr bwMode="auto">
          <a:xfrm>
            <a:off x="4148886" y="2546173"/>
            <a:ext cx="3325326" cy="523220"/>
            <a:chOff x="5518636" y="3765551"/>
            <a:chExt cx="3325327" cy="697626"/>
          </a:xfrm>
        </p:grpSpPr>
        <p:sp>
          <p:nvSpPr>
            <p:cNvPr id="11305" name="Text Box 50"/>
            <p:cNvSpPr txBox="1">
              <a:spLocks noChangeArrowheads="1"/>
            </p:cNvSpPr>
            <p:nvPr/>
          </p:nvSpPr>
          <p:spPr bwMode="auto">
            <a:xfrm>
              <a:off x="5719763" y="3765551"/>
              <a:ext cx="3124200" cy="6976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电压温度系数</a:t>
              </a:r>
              <a:r>
                <a:rPr lang="el-GR" altLang="zh-CN" sz="2800" i="1" dirty="0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α</a:t>
              </a:r>
              <a:r>
                <a:rPr lang="en-US" altLang="zh-CN" sz="2800" baseline="-25000" dirty="0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U</a:t>
              </a:r>
              <a:endParaRPr lang="el-GR" altLang="zh-CN" sz="2800" baseline="-250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306" name="Oval 52"/>
            <p:cNvSpPr>
              <a:spLocks noChangeArrowheads="1"/>
            </p:cNvSpPr>
            <p:nvPr/>
          </p:nvSpPr>
          <p:spPr bwMode="auto">
            <a:xfrm>
              <a:off x="5518636" y="4021643"/>
              <a:ext cx="180000" cy="2400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4" name="组合 47"/>
          <p:cNvGrpSpPr>
            <a:grpSpLocks/>
          </p:cNvGrpSpPr>
          <p:nvPr/>
        </p:nvGrpSpPr>
        <p:grpSpPr bwMode="auto">
          <a:xfrm>
            <a:off x="4159645" y="1196200"/>
            <a:ext cx="2477825" cy="523220"/>
            <a:chOff x="5540151" y="2596703"/>
            <a:chExt cx="2477826" cy="697626"/>
          </a:xfrm>
        </p:grpSpPr>
        <p:sp>
          <p:nvSpPr>
            <p:cNvPr id="11301" name="Text Box 49"/>
            <p:cNvSpPr txBox="1">
              <a:spLocks noChangeArrowheads="1"/>
            </p:cNvSpPr>
            <p:nvPr/>
          </p:nvSpPr>
          <p:spPr bwMode="auto">
            <a:xfrm>
              <a:off x="5795964" y="2596703"/>
              <a:ext cx="2222013" cy="6976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动态电阻</a:t>
              </a:r>
              <a:r>
                <a:rPr lang="en-US" altLang="zh-CN" sz="2800" i="1" dirty="0" err="1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aseline="-25000" dirty="0" err="1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Z</a:t>
              </a:r>
              <a:endParaRPr lang="en-US" altLang="zh-CN" sz="2800" baseline="-250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302" name="Oval 54"/>
            <p:cNvSpPr>
              <a:spLocks noChangeArrowheads="1"/>
            </p:cNvSpPr>
            <p:nvPr/>
          </p:nvSpPr>
          <p:spPr bwMode="auto">
            <a:xfrm>
              <a:off x="5540151" y="2838395"/>
              <a:ext cx="180000" cy="240000"/>
            </a:xfrm>
            <a:prstGeom prst="ellipse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23578" name="Text Box 55"/>
          <p:cNvSpPr txBox="1">
            <a:spLocks noChangeArrowheads="1"/>
          </p:cNvSpPr>
          <p:nvPr/>
        </p:nvSpPr>
        <p:spPr bwMode="auto">
          <a:xfrm>
            <a:off x="4547385" y="1825901"/>
            <a:ext cx="210185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i="1" dirty="0" err="1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400" baseline="-25000" dirty="0" err="1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z</a:t>
            </a:r>
            <a:r>
              <a:rPr lang="en-US" altLang="zh-CN" sz="24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= △</a:t>
            </a:r>
            <a:r>
              <a:rPr lang="en-US" altLang="zh-CN" sz="24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4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Z </a:t>
            </a:r>
            <a:r>
              <a:rPr lang="en-US" altLang="zh-CN" sz="24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/ △</a:t>
            </a:r>
            <a:r>
              <a:rPr lang="en-US" altLang="zh-CN" sz="24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Z</a:t>
            </a:r>
          </a:p>
        </p:txBody>
      </p:sp>
      <p:grpSp>
        <p:nvGrpSpPr>
          <p:cNvPr id="7" name="组合 41"/>
          <p:cNvGrpSpPr>
            <a:grpSpLocks/>
          </p:cNvGrpSpPr>
          <p:nvPr/>
        </p:nvGrpSpPr>
        <p:grpSpPr bwMode="auto">
          <a:xfrm>
            <a:off x="473726" y="1019334"/>
            <a:ext cx="3402837" cy="3582590"/>
            <a:chOff x="557325" y="1173163"/>
            <a:chExt cx="3928578" cy="4776787"/>
          </a:xfrm>
        </p:grpSpPr>
        <p:sp>
          <p:nvSpPr>
            <p:cNvPr id="11279" name="Line 65"/>
            <p:cNvSpPr>
              <a:spLocks noChangeShapeType="1"/>
            </p:cNvSpPr>
            <p:nvPr/>
          </p:nvSpPr>
          <p:spPr bwMode="auto">
            <a:xfrm flipV="1">
              <a:off x="557325" y="3812763"/>
              <a:ext cx="3763173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0" name="Line 66"/>
            <p:cNvSpPr>
              <a:spLocks noChangeShapeType="1"/>
            </p:cNvSpPr>
            <p:nvPr/>
          </p:nvSpPr>
          <p:spPr bwMode="auto">
            <a:xfrm flipV="1">
              <a:off x="2911475" y="1225550"/>
              <a:ext cx="0" cy="472440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1" name="Freeform 67"/>
            <p:cNvSpPr>
              <a:spLocks/>
            </p:cNvSpPr>
            <p:nvPr/>
          </p:nvSpPr>
          <p:spPr bwMode="auto">
            <a:xfrm>
              <a:off x="2911475" y="1604963"/>
              <a:ext cx="990600" cy="2224087"/>
            </a:xfrm>
            <a:custGeom>
              <a:avLst/>
              <a:gdLst>
                <a:gd name="T0" fmla="*/ 2147483647 w 528"/>
                <a:gd name="T1" fmla="*/ 0 h 1496"/>
                <a:gd name="T2" fmla="*/ 2147483647 w 528"/>
                <a:gd name="T3" fmla="*/ 2147483647 h 1496"/>
                <a:gd name="T4" fmla="*/ 0 w 528"/>
                <a:gd name="T5" fmla="*/ 2147483647 h 1496"/>
                <a:gd name="T6" fmla="*/ 0 60000 65536"/>
                <a:gd name="T7" fmla="*/ 0 60000 65536"/>
                <a:gd name="T8" fmla="*/ 0 60000 65536"/>
                <a:gd name="T9" fmla="*/ 0 w 528"/>
                <a:gd name="T10" fmla="*/ 0 h 1496"/>
                <a:gd name="T11" fmla="*/ 528 w 528"/>
                <a:gd name="T12" fmla="*/ 1496 h 14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1496">
                  <a:moveTo>
                    <a:pt x="528" y="0"/>
                  </a:moveTo>
                  <a:cubicBezTo>
                    <a:pt x="476" y="500"/>
                    <a:pt x="424" y="1000"/>
                    <a:pt x="336" y="1248"/>
                  </a:cubicBezTo>
                  <a:cubicBezTo>
                    <a:pt x="248" y="1496"/>
                    <a:pt x="56" y="1448"/>
                    <a:pt x="0" y="1488"/>
                  </a:cubicBezTo>
                </a:path>
              </a:pathLst>
            </a:custGeom>
            <a:noFill/>
            <a:ln w="50800">
              <a:solidFill>
                <a:srgbClr val="FFFF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2" name="Freeform 68"/>
            <p:cNvSpPr>
              <a:spLocks/>
            </p:cNvSpPr>
            <p:nvPr/>
          </p:nvSpPr>
          <p:spPr bwMode="auto">
            <a:xfrm>
              <a:off x="828675" y="3811588"/>
              <a:ext cx="2087563" cy="1946275"/>
            </a:xfrm>
            <a:custGeom>
              <a:avLst/>
              <a:gdLst>
                <a:gd name="T0" fmla="*/ 2147483647 w 960"/>
                <a:gd name="T1" fmla="*/ 0 h 1296"/>
                <a:gd name="T2" fmla="*/ 2147483647 w 960"/>
                <a:gd name="T3" fmla="*/ 2147483647 h 1296"/>
                <a:gd name="T4" fmla="*/ 2147483647 w 960"/>
                <a:gd name="T5" fmla="*/ 2147483647 h 1296"/>
                <a:gd name="T6" fmla="*/ 0 w 960"/>
                <a:gd name="T7" fmla="*/ 2147483647 h 12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0"/>
                <a:gd name="T13" fmla="*/ 0 h 1296"/>
                <a:gd name="T14" fmla="*/ 960 w 960"/>
                <a:gd name="T15" fmla="*/ 1296 h 12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0" h="1296">
                  <a:moveTo>
                    <a:pt x="960" y="0"/>
                  </a:moveTo>
                  <a:cubicBezTo>
                    <a:pt x="696" y="28"/>
                    <a:pt x="432" y="56"/>
                    <a:pt x="288" y="144"/>
                  </a:cubicBezTo>
                  <a:cubicBezTo>
                    <a:pt x="144" y="232"/>
                    <a:pt x="144" y="336"/>
                    <a:pt x="96" y="528"/>
                  </a:cubicBezTo>
                  <a:cubicBezTo>
                    <a:pt x="48" y="720"/>
                    <a:pt x="16" y="1168"/>
                    <a:pt x="0" y="1296"/>
                  </a:cubicBezTo>
                </a:path>
              </a:pathLst>
            </a:custGeom>
            <a:noFill/>
            <a:ln w="50800">
              <a:solidFill>
                <a:srgbClr val="FFFF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3" name="Text Box 69"/>
            <p:cNvSpPr txBox="1">
              <a:spLocks noChangeArrowheads="1"/>
            </p:cNvSpPr>
            <p:nvPr/>
          </p:nvSpPr>
          <p:spPr bwMode="auto">
            <a:xfrm>
              <a:off x="2063514" y="1173163"/>
              <a:ext cx="967023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solidFill>
                    <a:schemeClr val="tx1"/>
                  </a:solidFill>
                </a:rPr>
                <a:t>I/</a:t>
              </a:r>
              <a:r>
                <a:rPr lang="en-US" altLang="zh-CN" sz="1800" dirty="0" err="1">
                  <a:solidFill>
                    <a:schemeClr val="tx1"/>
                  </a:solidFill>
                </a:rPr>
                <a:t>mA</a:t>
              </a: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11284" name="Text Box 70"/>
            <p:cNvSpPr txBox="1">
              <a:spLocks noChangeArrowheads="1"/>
            </p:cNvSpPr>
            <p:nvPr/>
          </p:nvSpPr>
          <p:spPr bwMode="auto">
            <a:xfrm>
              <a:off x="3648212" y="3837267"/>
              <a:ext cx="837691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solidFill>
                    <a:schemeClr val="tx1"/>
                  </a:solidFill>
                </a:rPr>
                <a:t>U</a:t>
              </a:r>
              <a:r>
                <a:rPr lang="en-US" altLang="zh-CN" sz="2400" dirty="0">
                  <a:solidFill>
                    <a:schemeClr val="tx1"/>
                  </a:solidFill>
                </a:rPr>
                <a:t>/V</a:t>
              </a:r>
            </a:p>
          </p:txBody>
        </p:sp>
        <p:sp>
          <p:nvSpPr>
            <p:cNvPr id="11285" name="Text Box 71"/>
            <p:cNvSpPr txBox="1">
              <a:spLocks noChangeArrowheads="1"/>
            </p:cNvSpPr>
            <p:nvPr/>
          </p:nvSpPr>
          <p:spPr bwMode="auto">
            <a:xfrm>
              <a:off x="2552794" y="3706867"/>
              <a:ext cx="392713" cy="61555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i="1" dirty="0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rPr>
                <a:t>0</a:t>
              </a:r>
            </a:p>
          </p:txBody>
        </p:sp>
        <p:sp>
          <p:nvSpPr>
            <p:cNvPr id="11286" name="Line 72"/>
            <p:cNvSpPr>
              <a:spLocks noChangeShapeType="1"/>
            </p:cNvSpPr>
            <p:nvPr/>
          </p:nvSpPr>
          <p:spPr bwMode="auto">
            <a:xfrm>
              <a:off x="1042988" y="4700588"/>
              <a:ext cx="18764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7" name="Line 73"/>
            <p:cNvSpPr>
              <a:spLocks noChangeShapeType="1"/>
            </p:cNvSpPr>
            <p:nvPr/>
          </p:nvSpPr>
          <p:spPr bwMode="auto">
            <a:xfrm flipH="1">
              <a:off x="1015999" y="3562350"/>
              <a:ext cx="0" cy="11477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8" name="Text Box 74"/>
            <p:cNvSpPr txBox="1">
              <a:spLocks noChangeArrowheads="1"/>
            </p:cNvSpPr>
            <p:nvPr/>
          </p:nvSpPr>
          <p:spPr bwMode="auto">
            <a:xfrm>
              <a:off x="940906" y="3096028"/>
              <a:ext cx="672163" cy="49244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l-GR" altLang="zh-CN" sz="1800" i="1" dirty="0">
                  <a:solidFill>
                    <a:srgbClr val="FF9933"/>
                  </a:solidFill>
                  <a:ea typeface="隶书" pitchFamily="49" charset="-122"/>
                </a:rPr>
                <a:t>Δ</a:t>
              </a:r>
              <a:r>
                <a:rPr lang="en-US" altLang="zh-CN" sz="1800" i="1" dirty="0">
                  <a:solidFill>
                    <a:srgbClr val="FF9933"/>
                  </a:solidFill>
                  <a:ea typeface="隶书" pitchFamily="49" charset="-122"/>
                </a:rPr>
                <a:t>U</a:t>
              </a:r>
              <a:r>
                <a:rPr lang="en-US" altLang="zh-CN" sz="1800" baseline="-25000" dirty="0">
                  <a:solidFill>
                    <a:srgbClr val="FF9933"/>
                  </a:solidFill>
                  <a:ea typeface="隶书" pitchFamily="49" charset="-122"/>
                </a:rPr>
                <a:t>Z</a:t>
              </a:r>
            </a:p>
          </p:txBody>
        </p:sp>
        <p:sp>
          <p:nvSpPr>
            <p:cNvPr id="11289" name="Text Box 75"/>
            <p:cNvSpPr txBox="1">
              <a:spLocks noChangeArrowheads="1"/>
            </p:cNvSpPr>
            <p:nvPr/>
          </p:nvSpPr>
          <p:spPr bwMode="auto">
            <a:xfrm>
              <a:off x="3059113" y="4413250"/>
              <a:ext cx="520407" cy="697627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800" i="1" dirty="0">
                  <a:solidFill>
                    <a:srgbClr val="FF9933"/>
                  </a:solidFill>
                  <a:ea typeface="隶书" pitchFamily="49" charset="-122"/>
                </a:rPr>
                <a:t>I</a:t>
              </a:r>
              <a:r>
                <a:rPr lang="en-US" altLang="zh-CN" sz="2800" baseline="-25000" dirty="0">
                  <a:solidFill>
                    <a:srgbClr val="FF9933"/>
                  </a:solidFill>
                  <a:ea typeface="隶书" pitchFamily="49" charset="-122"/>
                </a:rPr>
                <a:t>Z</a:t>
              </a:r>
            </a:p>
          </p:txBody>
        </p:sp>
        <p:sp>
          <p:nvSpPr>
            <p:cNvPr id="11290" name="Line 72"/>
            <p:cNvSpPr>
              <a:spLocks noChangeShapeType="1"/>
            </p:cNvSpPr>
            <p:nvPr/>
          </p:nvSpPr>
          <p:spPr bwMode="auto">
            <a:xfrm>
              <a:off x="866775" y="5559425"/>
              <a:ext cx="206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1" name="Line 73"/>
            <p:cNvSpPr>
              <a:spLocks noChangeShapeType="1"/>
            </p:cNvSpPr>
            <p:nvPr/>
          </p:nvSpPr>
          <p:spPr bwMode="auto">
            <a:xfrm>
              <a:off x="809943" y="3576637"/>
              <a:ext cx="0" cy="19764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2" name="Text Box 75"/>
            <p:cNvSpPr txBox="1">
              <a:spLocks noChangeArrowheads="1"/>
            </p:cNvSpPr>
            <p:nvPr/>
          </p:nvSpPr>
          <p:spPr bwMode="auto">
            <a:xfrm>
              <a:off x="2987676" y="5122863"/>
              <a:ext cx="1031876" cy="697627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 type="none" w="sm" len="lg"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sz="2800" i="1">
                  <a:solidFill>
                    <a:srgbClr val="FF9933"/>
                  </a:solidFill>
                  <a:ea typeface="隶书" pitchFamily="49" charset="-122"/>
                </a:rPr>
                <a:t>I</a:t>
              </a:r>
              <a:r>
                <a:rPr lang="en-US" altLang="zh-CN" sz="2800" baseline="-25000">
                  <a:solidFill>
                    <a:srgbClr val="FF9933"/>
                  </a:solidFill>
                  <a:ea typeface="隶书" pitchFamily="49" charset="-122"/>
                </a:rPr>
                <a:t>Zmax</a:t>
              </a:r>
            </a:p>
          </p:txBody>
        </p:sp>
        <p:sp>
          <p:nvSpPr>
            <p:cNvPr id="11293" name="Text Box 74"/>
            <p:cNvSpPr txBox="1">
              <a:spLocks noChangeArrowheads="1"/>
            </p:cNvSpPr>
            <p:nvPr/>
          </p:nvSpPr>
          <p:spPr bwMode="auto">
            <a:xfrm>
              <a:off x="1662113" y="4930095"/>
              <a:ext cx="568526" cy="49244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l-GR" altLang="zh-CN" sz="1800" i="1" dirty="0">
                  <a:solidFill>
                    <a:srgbClr val="FF9933"/>
                  </a:solidFill>
                  <a:ea typeface="隶书" pitchFamily="49" charset="-122"/>
                </a:rPr>
                <a:t>Δ</a:t>
              </a:r>
              <a:r>
                <a:rPr lang="en-US" altLang="zh-CN" sz="1800" i="1" dirty="0">
                  <a:solidFill>
                    <a:srgbClr val="FF9933"/>
                  </a:solidFill>
                  <a:ea typeface="隶书" pitchFamily="49" charset="-122"/>
                </a:rPr>
                <a:t>I</a:t>
              </a:r>
              <a:r>
                <a:rPr lang="en-US" altLang="zh-CN" sz="1800" baseline="-25000" dirty="0">
                  <a:solidFill>
                    <a:srgbClr val="FF9933"/>
                  </a:solidFill>
                  <a:ea typeface="隶书" pitchFamily="49" charset="-122"/>
                </a:rPr>
                <a:t>Z</a:t>
              </a:r>
            </a:p>
          </p:txBody>
        </p:sp>
        <p:cxnSp>
          <p:nvCxnSpPr>
            <p:cNvPr id="11294" name="直接箭头连接符 33"/>
            <p:cNvCxnSpPr>
              <a:cxnSpLocks noChangeShapeType="1"/>
            </p:cNvCxnSpPr>
            <p:nvPr/>
          </p:nvCxnSpPr>
          <p:spPr bwMode="auto">
            <a:xfrm rot="5400000">
              <a:off x="1255486" y="5145314"/>
              <a:ext cx="856343" cy="1588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</p:cxnSp>
        <p:cxnSp>
          <p:nvCxnSpPr>
            <p:cNvPr id="11295" name="直接箭头连接符 37"/>
            <p:cNvCxnSpPr>
              <a:cxnSpLocks noChangeShapeType="1"/>
            </p:cNvCxnSpPr>
            <p:nvPr/>
          </p:nvCxnSpPr>
          <p:spPr bwMode="auto">
            <a:xfrm rot="10800000" flipV="1">
              <a:off x="1028703" y="3595690"/>
              <a:ext cx="271461" cy="0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11296" name="直接箭头连接符 39"/>
            <p:cNvCxnSpPr>
              <a:cxnSpLocks noChangeShapeType="1"/>
            </p:cNvCxnSpPr>
            <p:nvPr/>
          </p:nvCxnSpPr>
          <p:spPr bwMode="auto">
            <a:xfrm flipV="1">
              <a:off x="652465" y="3600450"/>
              <a:ext cx="161923" cy="2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81" grpId="0"/>
      <p:bldP spid="2357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005" name="Text Box 37"/>
          <p:cNvSpPr txBox="1">
            <a:spLocks noChangeArrowheads="1"/>
          </p:cNvSpPr>
          <p:nvPr/>
        </p:nvSpPr>
        <p:spPr bwMode="auto">
          <a:xfrm>
            <a:off x="1936583" y="712191"/>
            <a:ext cx="4044669" cy="523220"/>
          </a:xfrm>
          <a:prstGeom prst="rect">
            <a:avLst/>
          </a:prstGeom>
          <a:noFill/>
          <a:ln w="34925" algn="ctr">
            <a:noFill/>
            <a:miter lim="800000"/>
            <a:headEnd/>
            <a:tailEnd type="none" w="sm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稳压管构成的稳压电路</a:t>
            </a:r>
          </a:p>
        </p:txBody>
      </p:sp>
      <p:sp>
        <p:nvSpPr>
          <p:cNvPr id="596007" name="Text Box 39"/>
          <p:cNvSpPr txBox="1">
            <a:spLocks noChangeArrowheads="1"/>
          </p:cNvSpPr>
          <p:nvPr/>
        </p:nvSpPr>
        <p:spPr bwMode="auto">
          <a:xfrm>
            <a:off x="317706" y="1985375"/>
            <a:ext cx="4597400" cy="1643527"/>
          </a:xfrm>
          <a:prstGeom prst="rect">
            <a:avLst/>
          </a:prstGeom>
          <a:noFill/>
          <a:ln w="34925" algn="ctr">
            <a:noFill/>
            <a:miter lim="800000"/>
            <a:headEnd/>
            <a:tailEnd type="none" w="sm" len="lg"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     </a:t>
            </a:r>
            <a:r>
              <a:rPr lang="en-US" altLang="zh-CN" sz="2800" i="1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R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为限流电阻，用来限制流过稳压管的电流。</a:t>
            </a:r>
            <a:r>
              <a:rPr lang="en-US" altLang="zh-CN" sz="2800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800" baseline="-250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L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为负载电阻。</a:t>
            </a:r>
          </a:p>
        </p:txBody>
      </p:sp>
      <p:grpSp>
        <p:nvGrpSpPr>
          <p:cNvPr id="35" name="Group 81"/>
          <p:cNvGrpSpPr>
            <a:grpSpLocks/>
          </p:cNvGrpSpPr>
          <p:nvPr/>
        </p:nvGrpSpPr>
        <p:grpSpPr bwMode="auto">
          <a:xfrm>
            <a:off x="4890060" y="1290228"/>
            <a:ext cx="4092575" cy="3116901"/>
            <a:chOff x="3151" y="2115"/>
            <a:chExt cx="2578" cy="1784"/>
          </a:xfrm>
        </p:grpSpPr>
        <p:sp>
          <p:nvSpPr>
            <p:cNvPr id="36" name="Text Box 40"/>
            <p:cNvSpPr txBox="1">
              <a:spLocks noChangeArrowheads="1"/>
            </p:cNvSpPr>
            <p:nvPr/>
          </p:nvSpPr>
          <p:spPr bwMode="auto">
            <a:xfrm>
              <a:off x="3152" y="3019"/>
              <a:ext cx="325" cy="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0" i="1">
                  <a:solidFill>
                    <a:schemeClr val="tx1"/>
                  </a:solidFill>
                </a:rPr>
                <a:t>U</a:t>
              </a:r>
              <a:r>
                <a:rPr lang="en-US" altLang="zh-CN" sz="3200" b="0" i="1" baseline="-2500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37" name="Text Box 41"/>
            <p:cNvSpPr txBox="1">
              <a:spLocks noChangeArrowheads="1"/>
            </p:cNvSpPr>
            <p:nvPr/>
          </p:nvSpPr>
          <p:spPr bwMode="auto">
            <a:xfrm>
              <a:off x="3815" y="2158"/>
              <a:ext cx="253" cy="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0" i="1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38" name="Line 45"/>
            <p:cNvSpPr>
              <a:spLocks noChangeShapeType="1"/>
            </p:cNvSpPr>
            <p:nvPr/>
          </p:nvSpPr>
          <p:spPr bwMode="auto">
            <a:xfrm>
              <a:off x="4362" y="2508"/>
              <a:ext cx="0" cy="13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Line 48"/>
            <p:cNvSpPr>
              <a:spLocks noChangeShapeType="1"/>
            </p:cNvSpPr>
            <p:nvPr/>
          </p:nvSpPr>
          <p:spPr bwMode="auto">
            <a:xfrm>
              <a:off x="3197" y="2508"/>
              <a:ext cx="2132" cy="15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Line 49"/>
            <p:cNvSpPr>
              <a:spLocks noChangeShapeType="1"/>
            </p:cNvSpPr>
            <p:nvPr/>
          </p:nvSpPr>
          <p:spPr bwMode="auto">
            <a:xfrm>
              <a:off x="3197" y="3824"/>
              <a:ext cx="2132" cy="14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Rectangle 50"/>
            <p:cNvSpPr>
              <a:spLocks noChangeArrowheads="1"/>
            </p:cNvSpPr>
            <p:nvPr/>
          </p:nvSpPr>
          <p:spPr bwMode="auto">
            <a:xfrm rot="5400000">
              <a:off x="3878" y="2350"/>
              <a:ext cx="136" cy="318"/>
            </a:xfrm>
            <a:prstGeom prst="rect">
              <a:avLst/>
            </a:prstGeom>
            <a:gradFill rotWithShape="1">
              <a:gsLst>
                <a:gs pos="0">
                  <a:srgbClr val="76762F"/>
                </a:gs>
                <a:gs pos="50000">
                  <a:srgbClr val="FFFF66"/>
                </a:gs>
                <a:gs pos="100000">
                  <a:srgbClr val="76762F"/>
                </a:gs>
              </a:gsLst>
              <a:lin ang="0" scaled="1"/>
            </a:gradFill>
            <a:ln w="381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>
                <a:solidFill>
                  <a:schemeClr val="tx1"/>
                </a:solidFill>
                <a:ea typeface="幼圆" pitchFamily="49" charset="-122"/>
              </a:endParaRPr>
            </a:p>
          </p:txBody>
        </p:sp>
        <p:sp>
          <p:nvSpPr>
            <p:cNvPr id="42" name="Rectangle 51"/>
            <p:cNvSpPr>
              <a:spLocks noChangeArrowheads="1"/>
            </p:cNvSpPr>
            <p:nvPr/>
          </p:nvSpPr>
          <p:spPr bwMode="auto">
            <a:xfrm>
              <a:off x="3151" y="2432"/>
              <a:ext cx="340" cy="297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0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rPr>
                <a:t>＋</a:t>
              </a:r>
            </a:p>
          </p:txBody>
        </p:sp>
        <p:sp>
          <p:nvSpPr>
            <p:cNvPr id="43" name="Rectangle 52"/>
            <p:cNvSpPr>
              <a:spLocks noChangeArrowheads="1"/>
            </p:cNvSpPr>
            <p:nvPr/>
          </p:nvSpPr>
          <p:spPr bwMode="auto">
            <a:xfrm>
              <a:off x="3197" y="3564"/>
              <a:ext cx="247" cy="335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3200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rPr>
                <a:t>-</a:t>
              </a:r>
            </a:p>
          </p:txBody>
        </p:sp>
        <p:sp>
          <p:nvSpPr>
            <p:cNvPr id="44" name="Rectangle 53"/>
            <p:cNvSpPr>
              <a:spLocks noChangeArrowheads="1"/>
            </p:cNvSpPr>
            <p:nvPr/>
          </p:nvSpPr>
          <p:spPr bwMode="auto">
            <a:xfrm>
              <a:off x="4294" y="2695"/>
              <a:ext cx="340" cy="297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0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rPr>
                <a:t>＋</a:t>
              </a:r>
            </a:p>
          </p:txBody>
        </p:sp>
        <p:sp>
          <p:nvSpPr>
            <p:cNvPr id="45" name="Line 56"/>
            <p:cNvSpPr>
              <a:spLocks noChangeShapeType="1"/>
            </p:cNvSpPr>
            <p:nvPr/>
          </p:nvSpPr>
          <p:spPr bwMode="auto">
            <a:xfrm rot="10800000" flipV="1">
              <a:off x="4212" y="3089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AutoShape 57"/>
            <p:cNvSpPr>
              <a:spLocks noChangeArrowheads="1"/>
            </p:cNvSpPr>
            <p:nvPr/>
          </p:nvSpPr>
          <p:spPr bwMode="auto">
            <a:xfrm>
              <a:off x="4260" y="3089"/>
              <a:ext cx="192" cy="192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>
                <a:solidFill>
                  <a:schemeClr val="tx1"/>
                </a:solidFill>
                <a:ea typeface="幼圆" pitchFamily="49" charset="-122"/>
              </a:endParaRPr>
            </a:p>
          </p:txBody>
        </p:sp>
        <p:sp>
          <p:nvSpPr>
            <p:cNvPr id="47" name="Rectangle 58"/>
            <p:cNvSpPr>
              <a:spLocks noChangeArrowheads="1"/>
            </p:cNvSpPr>
            <p:nvPr/>
          </p:nvSpPr>
          <p:spPr bwMode="auto">
            <a:xfrm rot="10800000">
              <a:off x="4364" y="3371"/>
              <a:ext cx="245" cy="332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3200" dirty="0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rPr>
                <a:t>-</a:t>
              </a:r>
            </a:p>
          </p:txBody>
        </p:sp>
        <p:sp>
          <p:nvSpPr>
            <p:cNvPr id="48" name="Line 61"/>
            <p:cNvSpPr>
              <a:spLocks noChangeShapeType="1"/>
            </p:cNvSpPr>
            <p:nvPr/>
          </p:nvSpPr>
          <p:spPr bwMode="auto">
            <a:xfrm>
              <a:off x="4499" y="3081"/>
              <a:ext cx="0" cy="136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Line 65"/>
            <p:cNvSpPr>
              <a:spLocks noChangeShapeType="1"/>
            </p:cNvSpPr>
            <p:nvPr/>
          </p:nvSpPr>
          <p:spPr bwMode="auto">
            <a:xfrm>
              <a:off x="5329" y="2523"/>
              <a:ext cx="0" cy="1315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Rectangle 66"/>
            <p:cNvSpPr>
              <a:spLocks noChangeArrowheads="1"/>
            </p:cNvSpPr>
            <p:nvPr/>
          </p:nvSpPr>
          <p:spPr bwMode="auto">
            <a:xfrm>
              <a:off x="5261" y="3022"/>
              <a:ext cx="136" cy="318"/>
            </a:xfrm>
            <a:prstGeom prst="rect">
              <a:avLst/>
            </a:prstGeom>
            <a:gradFill rotWithShape="1">
              <a:gsLst>
                <a:gs pos="0">
                  <a:srgbClr val="76762F"/>
                </a:gs>
                <a:gs pos="50000">
                  <a:srgbClr val="FFFF66"/>
                </a:gs>
                <a:gs pos="100000">
                  <a:srgbClr val="76762F"/>
                </a:gs>
              </a:gsLst>
              <a:lin ang="0" scaled="1"/>
            </a:gradFill>
            <a:ln w="381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>
                <a:solidFill>
                  <a:schemeClr val="tx1"/>
                </a:solidFill>
                <a:ea typeface="幼圆" pitchFamily="49" charset="-122"/>
              </a:endParaRPr>
            </a:p>
          </p:txBody>
        </p:sp>
        <p:sp>
          <p:nvSpPr>
            <p:cNvPr id="51" name="Oval 67"/>
            <p:cNvSpPr>
              <a:spLocks noChangeArrowheads="1"/>
            </p:cNvSpPr>
            <p:nvPr/>
          </p:nvSpPr>
          <p:spPr bwMode="auto">
            <a:xfrm>
              <a:off x="3198" y="2478"/>
              <a:ext cx="48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>
                <a:solidFill>
                  <a:schemeClr val="tx1"/>
                </a:solidFill>
                <a:ea typeface="幼圆" pitchFamily="49" charset="-122"/>
              </a:endParaRPr>
            </a:p>
          </p:txBody>
        </p:sp>
        <p:sp>
          <p:nvSpPr>
            <p:cNvPr id="52" name="Oval 68"/>
            <p:cNvSpPr>
              <a:spLocks noChangeArrowheads="1"/>
            </p:cNvSpPr>
            <p:nvPr/>
          </p:nvSpPr>
          <p:spPr bwMode="auto">
            <a:xfrm>
              <a:off x="3198" y="3793"/>
              <a:ext cx="48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>
                <a:solidFill>
                  <a:schemeClr val="tx1"/>
                </a:solidFill>
                <a:ea typeface="幼圆" pitchFamily="49" charset="-122"/>
              </a:endParaRPr>
            </a:p>
          </p:txBody>
        </p:sp>
        <p:sp>
          <p:nvSpPr>
            <p:cNvPr id="53" name="Text Box 69"/>
            <p:cNvSpPr txBox="1">
              <a:spLocks noChangeArrowheads="1"/>
            </p:cNvSpPr>
            <p:nvPr/>
          </p:nvSpPr>
          <p:spPr bwMode="auto">
            <a:xfrm>
              <a:off x="3912" y="3022"/>
              <a:ext cx="371" cy="297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800" b="0">
                  <a:solidFill>
                    <a:schemeClr val="tx1"/>
                  </a:solidFill>
                  <a:ea typeface="幼圆" pitchFamily="49" charset="-122"/>
                </a:rPr>
                <a:t>D</a:t>
              </a:r>
              <a:r>
                <a:rPr lang="en-US" altLang="zh-CN" sz="2800" b="0" baseline="-25000">
                  <a:solidFill>
                    <a:schemeClr val="tx1"/>
                  </a:solidFill>
                  <a:ea typeface="幼圆" pitchFamily="49" charset="-122"/>
                </a:rPr>
                <a:t>Z</a:t>
              </a:r>
            </a:p>
          </p:txBody>
        </p:sp>
        <p:sp>
          <p:nvSpPr>
            <p:cNvPr id="54" name="Text Box 70"/>
            <p:cNvSpPr txBox="1">
              <a:spLocks noChangeArrowheads="1"/>
            </p:cNvSpPr>
            <p:nvPr/>
          </p:nvSpPr>
          <p:spPr bwMode="auto">
            <a:xfrm>
              <a:off x="4967" y="3022"/>
              <a:ext cx="331" cy="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0" i="1">
                  <a:solidFill>
                    <a:schemeClr val="tx1"/>
                  </a:solidFill>
                </a:rPr>
                <a:t>R</a:t>
              </a:r>
              <a:r>
                <a:rPr lang="en-US" altLang="zh-CN" sz="2400" b="0" baseline="-2500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55" name="Line 71"/>
            <p:cNvSpPr>
              <a:spLocks noChangeShapeType="1"/>
            </p:cNvSpPr>
            <p:nvPr/>
          </p:nvSpPr>
          <p:spPr bwMode="auto">
            <a:xfrm>
              <a:off x="3379" y="2478"/>
              <a:ext cx="363" cy="0"/>
            </a:xfrm>
            <a:prstGeom prst="line">
              <a:avLst/>
            </a:prstGeom>
            <a:noFill/>
            <a:ln w="34925">
              <a:solidFill>
                <a:srgbClr val="FF9900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6" name="Line 72"/>
            <p:cNvSpPr>
              <a:spLocks noChangeShapeType="1"/>
            </p:cNvSpPr>
            <p:nvPr/>
          </p:nvSpPr>
          <p:spPr bwMode="auto">
            <a:xfrm>
              <a:off x="4876" y="2478"/>
              <a:ext cx="363" cy="0"/>
            </a:xfrm>
            <a:prstGeom prst="line">
              <a:avLst/>
            </a:prstGeom>
            <a:noFill/>
            <a:ln w="34925">
              <a:solidFill>
                <a:srgbClr val="FF9900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7" name="Line 73"/>
            <p:cNvSpPr>
              <a:spLocks noChangeShapeType="1"/>
            </p:cNvSpPr>
            <p:nvPr/>
          </p:nvSpPr>
          <p:spPr bwMode="auto">
            <a:xfrm>
              <a:off x="4318" y="2614"/>
              <a:ext cx="0" cy="272"/>
            </a:xfrm>
            <a:prstGeom prst="line">
              <a:avLst/>
            </a:prstGeom>
            <a:noFill/>
            <a:ln w="34925">
              <a:solidFill>
                <a:srgbClr val="FF9900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Rectangle 74"/>
            <p:cNvSpPr>
              <a:spLocks noChangeArrowheads="1"/>
            </p:cNvSpPr>
            <p:nvPr/>
          </p:nvSpPr>
          <p:spPr bwMode="auto">
            <a:xfrm>
              <a:off x="5284" y="2568"/>
              <a:ext cx="340" cy="297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0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rPr>
                <a:t>＋</a:t>
              </a:r>
            </a:p>
          </p:txBody>
        </p:sp>
        <p:sp>
          <p:nvSpPr>
            <p:cNvPr id="59" name="Rectangle 75"/>
            <p:cNvSpPr>
              <a:spLocks noChangeArrowheads="1"/>
            </p:cNvSpPr>
            <p:nvPr/>
          </p:nvSpPr>
          <p:spPr bwMode="auto">
            <a:xfrm rot="10800000">
              <a:off x="5358" y="3418"/>
              <a:ext cx="245" cy="332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3200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rPr>
                <a:t>-</a:t>
              </a:r>
            </a:p>
          </p:txBody>
        </p:sp>
        <p:sp>
          <p:nvSpPr>
            <p:cNvPr id="60" name="Text Box 76"/>
            <p:cNvSpPr txBox="1">
              <a:spLocks noChangeArrowheads="1"/>
            </p:cNvSpPr>
            <p:nvPr/>
          </p:nvSpPr>
          <p:spPr bwMode="auto">
            <a:xfrm>
              <a:off x="5359" y="3052"/>
              <a:ext cx="370" cy="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0" i="1">
                  <a:solidFill>
                    <a:schemeClr val="tx1"/>
                  </a:solidFill>
                </a:rPr>
                <a:t>U</a:t>
              </a:r>
              <a:r>
                <a:rPr lang="en-US" altLang="zh-CN" sz="2400" b="0" baseline="-2500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61" name="Text Box 77"/>
            <p:cNvSpPr txBox="1">
              <a:spLocks noChangeArrowheads="1"/>
            </p:cNvSpPr>
            <p:nvPr/>
          </p:nvSpPr>
          <p:spPr bwMode="auto">
            <a:xfrm>
              <a:off x="3424" y="2151"/>
              <a:ext cx="192" cy="299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800" i="1">
                  <a:solidFill>
                    <a:schemeClr val="tx1"/>
                  </a:solidFill>
                  <a:ea typeface="幼圆" pitchFamily="49" charset="-122"/>
                </a:rPr>
                <a:t>I</a:t>
              </a:r>
            </a:p>
          </p:txBody>
        </p:sp>
        <p:sp>
          <p:nvSpPr>
            <p:cNvPr id="62" name="Text Box 78"/>
            <p:cNvSpPr txBox="1">
              <a:spLocks noChangeArrowheads="1"/>
            </p:cNvSpPr>
            <p:nvPr/>
          </p:nvSpPr>
          <p:spPr bwMode="auto">
            <a:xfrm>
              <a:off x="4967" y="2115"/>
              <a:ext cx="284" cy="299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800" i="1">
                  <a:solidFill>
                    <a:schemeClr val="tx1"/>
                  </a:solidFill>
                  <a:ea typeface="幼圆" pitchFamily="49" charset="-122"/>
                </a:rPr>
                <a:t>I</a:t>
              </a:r>
              <a:r>
                <a:rPr lang="en-US" altLang="zh-CN" sz="2800" baseline="-25000">
                  <a:solidFill>
                    <a:schemeClr val="tx1"/>
                  </a:solidFill>
                  <a:ea typeface="幼圆" pitchFamily="49" charset="-122"/>
                </a:rPr>
                <a:t>L</a:t>
              </a:r>
            </a:p>
          </p:txBody>
        </p:sp>
        <p:sp>
          <p:nvSpPr>
            <p:cNvPr id="63" name="Text Box 79"/>
            <p:cNvSpPr txBox="1">
              <a:spLocks noChangeArrowheads="1"/>
            </p:cNvSpPr>
            <p:nvPr/>
          </p:nvSpPr>
          <p:spPr bwMode="auto">
            <a:xfrm>
              <a:off x="4014" y="2568"/>
              <a:ext cx="284" cy="299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800" i="1">
                  <a:solidFill>
                    <a:schemeClr val="tx1"/>
                  </a:solidFill>
                  <a:ea typeface="幼圆" pitchFamily="49" charset="-122"/>
                </a:rPr>
                <a:t>I</a:t>
              </a:r>
              <a:r>
                <a:rPr lang="en-US" altLang="zh-CN" sz="2800" baseline="-25000">
                  <a:solidFill>
                    <a:schemeClr val="tx1"/>
                  </a:solidFill>
                  <a:ea typeface="幼圆" pitchFamily="49" charset="-122"/>
                </a:rPr>
                <a:t>Z</a:t>
              </a:r>
            </a:p>
          </p:txBody>
        </p:sp>
        <p:sp>
          <p:nvSpPr>
            <p:cNvPr id="64" name="Text Box 80"/>
            <p:cNvSpPr txBox="1">
              <a:spLocks noChangeArrowheads="1"/>
            </p:cNvSpPr>
            <p:nvPr/>
          </p:nvSpPr>
          <p:spPr bwMode="auto">
            <a:xfrm>
              <a:off x="4452" y="3052"/>
              <a:ext cx="371" cy="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0" i="1">
                  <a:solidFill>
                    <a:schemeClr val="tx1"/>
                  </a:solidFill>
                </a:rPr>
                <a:t>U</a:t>
              </a:r>
              <a:r>
                <a:rPr lang="en-US" altLang="zh-CN" sz="2800" b="0" baseline="-25000">
                  <a:solidFill>
                    <a:schemeClr val="tx1"/>
                  </a:solidFill>
                </a:rPr>
                <a:t>Z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600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051" name="Rectangle 83"/>
          <p:cNvSpPr>
            <a:spLocks noChangeArrowheads="1"/>
          </p:cNvSpPr>
          <p:nvPr/>
        </p:nvSpPr>
        <p:spPr bwMode="auto">
          <a:xfrm>
            <a:off x="446799" y="2216397"/>
            <a:ext cx="4663084" cy="609398"/>
          </a:xfrm>
          <a:prstGeom prst="rect">
            <a:avLst/>
          </a:prstGeom>
          <a:noFill/>
          <a:ln w="34925" algn="ctr">
            <a:noFill/>
            <a:miter lim="800000"/>
            <a:headEnd/>
            <a:tailEnd type="none" w="sm" len="lg"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稳压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管工作在其反向特性</a:t>
            </a: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区</a:t>
            </a:r>
            <a:endParaRPr lang="zh-CN" altLang="en-US" sz="2800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2" name="Group 81"/>
          <p:cNvGrpSpPr>
            <a:grpSpLocks/>
          </p:cNvGrpSpPr>
          <p:nvPr/>
        </p:nvGrpSpPr>
        <p:grpSpPr bwMode="auto">
          <a:xfrm>
            <a:off x="4867836" y="1290228"/>
            <a:ext cx="4114801" cy="3116901"/>
            <a:chOff x="3137" y="2115"/>
            <a:chExt cx="2592" cy="1784"/>
          </a:xfrm>
        </p:grpSpPr>
        <p:sp>
          <p:nvSpPr>
            <p:cNvPr id="36" name="Text Box 40"/>
            <p:cNvSpPr txBox="1">
              <a:spLocks noChangeArrowheads="1"/>
            </p:cNvSpPr>
            <p:nvPr/>
          </p:nvSpPr>
          <p:spPr bwMode="auto">
            <a:xfrm>
              <a:off x="3152" y="3019"/>
              <a:ext cx="325" cy="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0" i="1">
                  <a:solidFill>
                    <a:schemeClr val="tx1"/>
                  </a:solidFill>
                </a:rPr>
                <a:t>U</a:t>
              </a:r>
              <a:r>
                <a:rPr lang="en-US" altLang="zh-CN" sz="3200" b="0" i="1" baseline="-2500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37" name="Text Box 41"/>
            <p:cNvSpPr txBox="1">
              <a:spLocks noChangeArrowheads="1"/>
            </p:cNvSpPr>
            <p:nvPr/>
          </p:nvSpPr>
          <p:spPr bwMode="auto">
            <a:xfrm>
              <a:off x="3815" y="2158"/>
              <a:ext cx="253" cy="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0" i="1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38" name="Line 45"/>
            <p:cNvSpPr>
              <a:spLocks noChangeShapeType="1"/>
            </p:cNvSpPr>
            <p:nvPr/>
          </p:nvSpPr>
          <p:spPr bwMode="auto">
            <a:xfrm>
              <a:off x="4362" y="2508"/>
              <a:ext cx="0" cy="13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Line 48"/>
            <p:cNvSpPr>
              <a:spLocks noChangeShapeType="1"/>
            </p:cNvSpPr>
            <p:nvPr/>
          </p:nvSpPr>
          <p:spPr bwMode="auto">
            <a:xfrm>
              <a:off x="3197" y="2508"/>
              <a:ext cx="2132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Line 49"/>
            <p:cNvSpPr>
              <a:spLocks noChangeShapeType="1"/>
            </p:cNvSpPr>
            <p:nvPr/>
          </p:nvSpPr>
          <p:spPr bwMode="auto">
            <a:xfrm>
              <a:off x="3197" y="3824"/>
              <a:ext cx="2132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Rectangle 50"/>
            <p:cNvSpPr>
              <a:spLocks noChangeArrowheads="1"/>
            </p:cNvSpPr>
            <p:nvPr/>
          </p:nvSpPr>
          <p:spPr bwMode="auto">
            <a:xfrm rot="5400000">
              <a:off x="3878" y="2350"/>
              <a:ext cx="136" cy="318"/>
            </a:xfrm>
            <a:prstGeom prst="rect">
              <a:avLst/>
            </a:prstGeom>
            <a:gradFill rotWithShape="1">
              <a:gsLst>
                <a:gs pos="0">
                  <a:srgbClr val="76762F"/>
                </a:gs>
                <a:gs pos="50000">
                  <a:srgbClr val="FFFF66"/>
                </a:gs>
                <a:gs pos="100000">
                  <a:srgbClr val="76762F"/>
                </a:gs>
              </a:gsLst>
              <a:lin ang="0" scaled="1"/>
            </a:gradFill>
            <a:ln w="381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>
                <a:solidFill>
                  <a:schemeClr val="tx1"/>
                </a:solidFill>
                <a:ea typeface="幼圆" pitchFamily="49" charset="-122"/>
              </a:endParaRPr>
            </a:p>
          </p:txBody>
        </p:sp>
        <p:sp>
          <p:nvSpPr>
            <p:cNvPr id="42" name="Rectangle 51"/>
            <p:cNvSpPr>
              <a:spLocks noChangeArrowheads="1"/>
            </p:cNvSpPr>
            <p:nvPr/>
          </p:nvSpPr>
          <p:spPr bwMode="auto">
            <a:xfrm>
              <a:off x="3151" y="2432"/>
              <a:ext cx="340" cy="297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0" dirty="0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rPr>
                <a:t>＋</a:t>
              </a:r>
            </a:p>
          </p:txBody>
        </p:sp>
        <p:sp>
          <p:nvSpPr>
            <p:cNvPr id="43" name="Rectangle 52"/>
            <p:cNvSpPr>
              <a:spLocks noChangeArrowheads="1"/>
            </p:cNvSpPr>
            <p:nvPr/>
          </p:nvSpPr>
          <p:spPr bwMode="auto">
            <a:xfrm>
              <a:off x="3197" y="3564"/>
              <a:ext cx="247" cy="335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3200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rPr>
                <a:t>-</a:t>
              </a:r>
            </a:p>
          </p:txBody>
        </p:sp>
        <p:sp>
          <p:nvSpPr>
            <p:cNvPr id="44" name="Rectangle 53"/>
            <p:cNvSpPr>
              <a:spLocks noChangeArrowheads="1"/>
            </p:cNvSpPr>
            <p:nvPr/>
          </p:nvSpPr>
          <p:spPr bwMode="auto">
            <a:xfrm>
              <a:off x="4294" y="2695"/>
              <a:ext cx="340" cy="297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0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rPr>
                <a:t>＋</a:t>
              </a:r>
            </a:p>
          </p:txBody>
        </p:sp>
        <p:sp>
          <p:nvSpPr>
            <p:cNvPr id="45" name="Line 56"/>
            <p:cNvSpPr>
              <a:spLocks noChangeShapeType="1"/>
            </p:cNvSpPr>
            <p:nvPr/>
          </p:nvSpPr>
          <p:spPr bwMode="auto">
            <a:xfrm rot="10800000" flipV="1">
              <a:off x="4212" y="3089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AutoShape 57"/>
            <p:cNvSpPr>
              <a:spLocks noChangeArrowheads="1"/>
            </p:cNvSpPr>
            <p:nvPr/>
          </p:nvSpPr>
          <p:spPr bwMode="auto">
            <a:xfrm>
              <a:off x="4260" y="3089"/>
              <a:ext cx="192" cy="192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>
                <a:solidFill>
                  <a:schemeClr val="tx1"/>
                </a:solidFill>
                <a:ea typeface="幼圆" pitchFamily="49" charset="-122"/>
              </a:endParaRPr>
            </a:p>
          </p:txBody>
        </p:sp>
        <p:sp>
          <p:nvSpPr>
            <p:cNvPr id="47" name="Rectangle 58"/>
            <p:cNvSpPr>
              <a:spLocks noChangeArrowheads="1"/>
            </p:cNvSpPr>
            <p:nvPr/>
          </p:nvSpPr>
          <p:spPr bwMode="auto">
            <a:xfrm rot="10800000">
              <a:off x="4364" y="3371"/>
              <a:ext cx="245" cy="332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3200" dirty="0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rPr>
                <a:t>-</a:t>
              </a:r>
            </a:p>
          </p:txBody>
        </p:sp>
        <p:sp>
          <p:nvSpPr>
            <p:cNvPr id="48" name="Line 61"/>
            <p:cNvSpPr>
              <a:spLocks noChangeShapeType="1"/>
            </p:cNvSpPr>
            <p:nvPr/>
          </p:nvSpPr>
          <p:spPr bwMode="auto">
            <a:xfrm>
              <a:off x="4499" y="3081"/>
              <a:ext cx="0" cy="136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Line 65"/>
            <p:cNvSpPr>
              <a:spLocks noChangeShapeType="1"/>
            </p:cNvSpPr>
            <p:nvPr/>
          </p:nvSpPr>
          <p:spPr bwMode="auto">
            <a:xfrm>
              <a:off x="5329" y="2511"/>
              <a:ext cx="0" cy="1315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Rectangle 66"/>
            <p:cNvSpPr>
              <a:spLocks noChangeArrowheads="1"/>
            </p:cNvSpPr>
            <p:nvPr/>
          </p:nvSpPr>
          <p:spPr bwMode="auto">
            <a:xfrm>
              <a:off x="5261" y="3022"/>
              <a:ext cx="136" cy="318"/>
            </a:xfrm>
            <a:prstGeom prst="rect">
              <a:avLst/>
            </a:prstGeom>
            <a:gradFill rotWithShape="1">
              <a:gsLst>
                <a:gs pos="0">
                  <a:srgbClr val="76762F"/>
                </a:gs>
                <a:gs pos="50000">
                  <a:srgbClr val="FFFF66"/>
                </a:gs>
                <a:gs pos="100000">
                  <a:srgbClr val="76762F"/>
                </a:gs>
              </a:gsLst>
              <a:lin ang="0" scaled="1"/>
            </a:gradFill>
            <a:ln w="381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>
                <a:solidFill>
                  <a:schemeClr val="tx1"/>
                </a:solidFill>
                <a:ea typeface="幼圆" pitchFamily="49" charset="-122"/>
              </a:endParaRPr>
            </a:p>
          </p:txBody>
        </p:sp>
        <p:sp>
          <p:nvSpPr>
            <p:cNvPr id="51" name="Oval 67"/>
            <p:cNvSpPr>
              <a:spLocks noChangeArrowheads="1"/>
            </p:cNvSpPr>
            <p:nvPr/>
          </p:nvSpPr>
          <p:spPr bwMode="auto">
            <a:xfrm>
              <a:off x="3137" y="2490"/>
              <a:ext cx="48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>
                <a:solidFill>
                  <a:schemeClr val="tx1"/>
                </a:solidFill>
                <a:ea typeface="幼圆" pitchFamily="49" charset="-122"/>
              </a:endParaRPr>
            </a:p>
          </p:txBody>
        </p:sp>
        <p:sp>
          <p:nvSpPr>
            <p:cNvPr id="52" name="Oval 68"/>
            <p:cNvSpPr>
              <a:spLocks noChangeArrowheads="1"/>
            </p:cNvSpPr>
            <p:nvPr/>
          </p:nvSpPr>
          <p:spPr bwMode="auto">
            <a:xfrm>
              <a:off x="3137" y="3799"/>
              <a:ext cx="48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>
                <a:solidFill>
                  <a:schemeClr val="tx1"/>
                </a:solidFill>
                <a:ea typeface="幼圆" pitchFamily="49" charset="-122"/>
              </a:endParaRPr>
            </a:p>
          </p:txBody>
        </p:sp>
        <p:sp>
          <p:nvSpPr>
            <p:cNvPr id="53" name="Text Box 69"/>
            <p:cNvSpPr txBox="1">
              <a:spLocks noChangeArrowheads="1"/>
            </p:cNvSpPr>
            <p:nvPr/>
          </p:nvSpPr>
          <p:spPr bwMode="auto">
            <a:xfrm>
              <a:off x="3912" y="3022"/>
              <a:ext cx="371" cy="297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800" b="0">
                  <a:solidFill>
                    <a:schemeClr val="tx1"/>
                  </a:solidFill>
                  <a:ea typeface="幼圆" pitchFamily="49" charset="-122"/>
                </a:rPr>
                <a:t>D</a:t>
              </a:r>
              <a:r>
                <a:rPr lang="en-US" altLang="zh-CN" sz="2800" b="0" baseline="-25000">
                  <a:solidFill>
                    <a:schemeClr val="tx1"/>
                  </a:solidFill>
                  <a:ea typeface="幼圆" pitchFamily="49" charset="-122"/>
                </a:rPr>
                <a:t>Z</a:t>
              </a:r>
            </a:p>
          </p:txBody>
        </p:sp>
        <p:sp>
          <p:nvSpPr>
            <p:cNvPr id="54" name="Text Box 70"/>
            <p:cNvSpPr txBox="1">
              <a:spLocks noChangeArrowheads="1"/>
            </p:cNvSpPr>
            <p:nvPr/>
          </p:nvSpPr>
          <p:spPr bwMode="auto">
            <a:xfrm>
              <a:off x="4967" y="3022"/>
              <a:ext cx="331" cy="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0" i="1">
                  <a:solidFill>
                    <a:schemeClr val="tx1"/>
                  </a:solidFill>
                </a:rPr>
                <a:t>R</a:t>
              </a:r>
              <a:r>
                <a:rPr lang="en-US" altLang="zh-CN" sz="2400" b="0" baseline="-2500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55" name="Line 71"/>
            <p:cNvSpPr>
              <a:spLocks noChangeShapeType="1"/>
            </p:cNvSpPr>
            <p:nvPr/>
          </p:nvSpPr>
          <p:spPr bwMode="auto">
            <a:xfrm>
              <a:off x="3379" y="2478"/>
              <a:ext cx="363" cy="0"/>
            </a:xfrm>
            <a:prstGeom prst="line">
              <a:avLst/>
            </a:prstGeom>
            <a:noFill/>
            <a:ln w="34925">
              <a:solidFill>
                <a:srgbClr val="FF9900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6" name="Line 72"/>
            <p:cNvSpPr>
              <a:spLocks noChangeShapeType="1"/>
            </p:cNvSpPr>
            <p:nvPr/>
          </p:nvSpPr>
          <p:spPr bwMode="auto">
            <a:xfrm>
              <a:off x="4876" y="2478"/>
              <a:ext cx="363" cy="0"/>
            </a:xfrm>
            <a:prstGeom prst="line">
              <a:avLst/>
            </a:prstGeom>
            <a:noFill/>
            <a:ln w="34925">
              <a:solidFill>
                <a:srgbClr val="FF9900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7" name="Line 73"/>
            <p:cNvSpPr>
              <a:spLocks noChangeShapeType="1"/>
            </p:cNvSpPr>
            <p:nvPr/>
          </p:nvSpPr>
          <p:spPr bwMode="auto">
            <a:xfrm>
              <a:off x="4318" y="2614"/>
              <a:ext cx="0" cy="272"/>
            </a:xfrm>
            <a:prstGeom prst="line">
              <a:avLst/>
            </a:prstGeom>
            <a:noFill/>
            <a:ln w="34925">
              <a:solidFill>
                <a:srgbClr val="FF9900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Rectangle 74"/>
            <p:cNvSpPr>
              <a:spLocks noChangeArrowheads="1"/>
            </p:cNvSpPr>
            <p:nvPr/>
          </p:nvSpPr>
          <p:spPr bwMode="auto">
            <a:xfrm>
              <a:off x="5284" y="2568"/>
              <a:ext cx="340" cy="297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0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rPr>
                <a:t>＋</a:t>
              </a:r>
            </a:p>
          </p:txBody>
        </p:sp>
        <p:sp>
          <p:nvSpPr>
            <p:cNvPr id="59" name="Rectangle 75"/>
            <p:cNvSpPr>
              <a:spLocks noChangeArrowheads="1"/>
            </p:cNvSpPr>
            <p:nvPr/>
          </p:nvSpPr>
          <p:spPr bwMode="auto">
            <a:xfrm rot="10800000">
              <a:off x="5358" y="3418"/>
              <a:ext cx="245" cy="332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3200">
                  <a:solidFill>
                    <a:schemeClr val="tx1"/>
                  </a:solidFill>
                  <a:latin typeface="隶书" pitchFamily="49" charset="-122"/>
                  <a:ea typeface="隶书" pitchFamily="49" charset="-122"/>
                </a:rPr>
                <a:t>-</a:t>
              </a:r>
            </a:p>
          </p:txBody>
        </p:sp>
        <p:sp>
          <p:nvSpPr>
            <p:cNvPr id="60" name="Text Box 76"/>
            <p:cNvSpPr txBox="1">
              <a:spLocks noChangeArrowheads="1"/>
            </p:cNvSpPr>
            <p:nvPr/>
          </p:nvSpPr>
          <p:spPr bwMode="auto">
            <a:xfrm>
              <a:off x="5359" y="3052"/>
              <a:ext cx="370" cy="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0" i="1">
                  <a:solidFill>
                    <a:schemeClr val="tx1"/>
                  </a:solidFill>
                </a:rPr>
                <a:t>U</a:t>
              </a:r>
              <a:r>
                <a:rPr lang="en-US" altLang="zh-CN" sz="2400" b="0" baseline="-2500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61" name="Text Box 77"/>
            <p:cNvSpPr txBox="1">
              <a:spLocks noChangeArrowheads="1"/>
            </p:cNvSpPr>
            <p:nvPr/>
          </p:nvSpPr>
          <p:spPr bwMode="auto">
            <a:xfrm>
              <a:off x="3424" y="2151"/>
              <a:ext cx="192" cy="299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800" i="1">
                  <a:solidFill>
                    <a:schemeClr val="tx1"/>
                  </a:solidFill>
                  <a:ea typeface="幼圆" pitchFamily="49" charset="-122"/>
                </a:rPr>
                <a:t>I</a:t>
              </a:r>
            </a:p>
          </p:txBody>
        </p:sp>
        <p:sp>
          <p:nvSpPr>
            <p:cNvPr id="62" name="Text Box 78"/>
            <p:cNvSpPr txBox="1">
              <a:spLocks noChangeArrowheads="1"/>
            </p:cNvSpPr>
            <p:nvPr/>
          </p:nvSpPr>
          <p:spPr bwMode="auto">
            <a:xfrm>
              <a:off x="4967" y="2115"/>
              <a:ext cx="284" cy="299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800" i="1">
                  <a:solidFill>
                    <a:schemeClr val="tx1"/>
                  </a:solidFill>
                  <a:ea typeface="幼圆" pitchFamily="49" charset="-122"/>
                </a:rPr>
                <a:t>I</a:t>
              </a:r>
              <a:r>
                <a:rPr lang="en-US" altLang="zh-CN" sz="2800" baseline="-25000">
                  <a:solidFill>
                    <a:schemeClr val="tx1"/>
                  </a:solidFill>
                  <a:ea typeface="幼圆" pitchFamily="49" charset="-122"/>
                </a:rPr>
                <a:t>L</a:t>
              </a:r>
            </a:p>
          </p:txBody>
        </p:sp>
        <p:sp>
          <p:nvSpPr>
            <p:cNvPr id="63" name="Text Box 79"/>
            <p:cNvSpPr txBox="1">
              <a:spLocks noChangeArrowheads="1"/>
            </p:cNvSpPr>
            <p:nvPr/>
          </p:nvSpPr>
          <p:spPr bwMode="auto">
            <a:xfrm>
              <a:off x="4014" y="2568"/>
              <a:ext cx="284" cy="299"/>
            </a:xfrm>
            <a:prstGeom prst="rect">
              <a:avLst/>
            </a:prstGeom>
            <a:noFill/>
            <a:ln w="34925" algn="ctr">
              <a:noFill/>
              <a:miter lim="800000"/>
              <a:headEnd/>
              <a:tailEnd type="none" w="sm" len="lg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800" i="1">
                  <a:solidFill>
                    <a:schemeClr val="tx1"/>
                  </a:solidFill>
                  <a:ea typeface="幼圆" pitchFamily="49" charset="-122"/>
                </a:rPr>
                <a:t>I</a:t>
              </a:r>
              <a:r>
                <a:rPr lang="en-US" altLang="zh-CN" sz="2800" baseline="-25000">
                  <a:solidFill>
                    <a:schemeClr val="tx1"/>
                  </a:solidFill>
                  <a:ea typeface="幼圆" pitchFamily="49" charset="-122"/>
                </a:rPr>
                <a:t>Z</a:t>
              </a:r>
            </a:p>
          </p:txBody>
        </p:sp>
        <p:sp>
          <p:nvSpPr>
            <p:cNvPr id="64" name="Text Box 80"/>
            <p:cNvSpPr txBox="1">
              <a:spLocks noChangeArrowheads="1"/>
            </p:cNvSpPr>
            <p:nvPr/>
          </p:nvSpPr>
          <p:spPr bwMode="auto">
            <a:xfrm>
              <a:off x="4452" y="3052"/>
              <a:ext cx="371" cy="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0" i="1">
                  <a:solidFill>
                    <a:schemeClr val="tx1"/>
                  </a:solidFill>
                </a:rPr>
                <a:t>U</a:t>
              </a:r>
              <a:r>
                <a:rPr lang="en-US" altLang="zh-CN" sz="2800" b="0" baseline="-25000">
                  <a:solidFill>
                    <a:schemeClr val="tx1"/>
                  </a:solidFill>
                </a:rPr>
                <a:t>Z</a:t>
              </a:r>
            </a:p>
          </p:txBody>
        </p:sp>
      </p:grpSp>
      <p:sp>
        <p:nvSpPr>
          <p:cNvPr id="34" name="Rectangle 83"/>
          <p:cNvSpPr>
            <a:spLocks noChangeArrowheads="1"/>
          </p:cNvSpPr>
          <p:nvPr/>
        </p:nvSpPr>
        <p:spPr bwMode="auto">
          <a:xfrm>
            <a:off x="446797" y="3025241"/>
            <a:ext cx="4523235" cy="1126462"/>
          </a:xfrm>
          <a:prstGeom prst="rect">
            <a:avLst/>
          </a:prstGeom>
          <a:noFill/>
          <a:ln w="34925" algn="ctr">
            <a:noFill/>
            <a:miter lim="800000"/>
            <a:headEnd/>
            <a:tailEnd type="none" w="sm" len="lg"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负载</a:t>
            </a:r>
            <a:r>
              <a:rPr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在一定范围内变化时，两端的电压基本保持不变。</a:t>
            </a:r>
          </a:p>
        </p:txBody>
      </p:sp>
      <p:sp>
        <p:nvSpPr>
          <p:cNvPr id="35" name="Text Box 37"/>
          <p:cNvSpPr txBox="1">
            <a:spLocks noChangeArrowheads="1"/>
          </p:cNvSpPr>
          <p:nvPr/>
        </p:nvSpPr>
        <p:spPr bwMode="auto">
          <a:xfrm>
            <a:off x="1936583" y="712191"/>
            <a:ext cx="4044669" cy="523220"/>
          </a:xfrm>
          <a:prstGeom prst="rect">
            <a:avLst/>
          </a:prstGeom>
          <a:noFill/>
          <a:ln w="34925" algn="ctr">
            <a:noFill/>
            <a:miter lim="800000"/>
            <a:headEnd/>
            <a:tailEnd type="none" w="sm" len="lg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zh-CN" altLang="en-US" sz="28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稳压管构成的稳压电路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6051" grpId="0"/>
      <p:bldP spid="3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381001"/>
            <a:ext cx="5970588" cy="573881"/>
          </a:xfrm>
        </p:spPr>
        <p:txBody>
          <a:bodyPr>
            <a:normAutofit/>
          </a:bodyPr>
          <a:lstStyle/>
          <a:p>
            <a:pPr algn="l" eaLnBrk="1" hangingPunct="1"/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）光电二极管（光敏二极管）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550507" y="1371627"/>
            <a:ext cx="7872730" cy="3006735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是一种光接收器件。</a:t>
            </a:r>
            <a:endParaRPr lang="en-US" altLang="zh-CN" b="1" dirty="0" smtClean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管壳上有一个玻璃窗接受光照</a:t>
            </a:r>
            <a:endParaRPr lang="en-US" altLang="zh-CN" b="1" dirty="0" smtClean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当光线照射于</a:t>
            </a:r>
            <a:r>
              <a:rPr lang="en-US" altLang="zh-CN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PN</a:t>
            </a:r>
            <a:r>
              <a:rPr lang="zh-CN" altLang="en-US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结时，能提高半导体的导电性</a:t>
            </a:r>
            <a:endParaRPr lang="en-US" altLang="zh-CN" b="1" dirty="0" smtClean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反向电流随光照强度的增加而上升。反向电流与照度成正比。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5843643" y="969100"/>
            <a:ext cx="2628900" cy="1158184"/>
            <a:chOff x="5789855" y="1065918"/>
            <a:chExt cx="2628900" cy="1158184"/>
          </a:xfrm>
        </p:grpSpPr>
        <p:grpSp>
          <p:nvGrpSpPr>
            <p:cNvPr id="2" name="Group 4"/>
            <p:cNvGrpSpPr>
              <a:grpSpLocks/>
            </p:cNvGrpSpPr>
            <p:nvPr/>
          </p:nvGrpSpPr>
          <p:grpSpPr bwMode="auto">
            <a:xfrm rot="5388322">
              <a:off x="6832247" y="637594"/>
              <a:ext cx="544116" cy="2628900"/>
              <a:chOff x="5040" y="2532"/>
              <a:chExt cx="290" cy="1248"/>
            </a:xfrm>
          </p:grpSpPr>
          <p:grpSp>
            <p:nvGrpSpPr>
              <p:cNvPr id="3" name="Group 5"/>
              <p:cNvGrpSpPr>
                <a:grpSpLocks/>
              </p:cNvGrpSpPr>
              <p:nvPr/>
            </p:nvGrpSpPr>
            <p:grpSpPr bwMode="auto">
              <a:xfrm flipV="1">
                <a:off x="5040" y="3000"/>
                <a:ext cx="290" cy="290"/>
                <a:chOff x="4884" y="2664"/>
                <a:chExt cx="290" cy="290"/>
              </a:xfrm>
            </p:grpSpPr>
            <p:sp>
              <p:nvSpPr>
                <p:cNvPr id="13324" name="Line 6"/>
                <p:cNvSpPr>
                  <a:spLocks noChangeShapeType="1"/>
                </p:cNvSpPr>
                <p:nvPr/>
              </p:nvSpPr>
              <p:spPr bwMode="auto">
                <a:xfrm rot="-5400000">
                  <a:off x="5029" y="2809"/>
                  <a:ext cx="0" cy="29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25" name="AutoShape 7"/>
                <p:cNvSpPr>
                  <a:spLocks noChangeArrowheads="1"/>
                </p:cNvSpPr>
                <p:nvPr/>
              </p:nvSpPr>
              <p:spPr bwMode="auto">
                <a:xfrm rot="10800000">
                  <a:off x="4904" y="2664"/>
                  <a:ext cx="240" cy="270"/>
                </a:xfrm>
                <a:prstGeom prst="triangle">
                  <a:avLst>
                    <a:gd name="adj" fmla="val 50000"/>
                  </a:avLst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zh-CN" altLang="en-US">
                    <a:ea typeface="幼圆" pitchFamily="49" charset="-122"/>
                  </a:endParaRPr>
                </a:p>
              </p:txBody>
            </p:sp>
          </p:grpSp>
          <p:sp>
            <p:nvSpPr>
              <p:cNvPr id="13323" name="Line 8"/>
              <p:cNvSpPr>
                <a:spLocks noChangeShapeType="1"/>
              </p:cNvSpPr>
              <p:nvPr/>
            </p:nvSpPr>
            <p:spPr bwMode="auto">
              <a:xfrm>
                <a:off x="5183" y="2532"/>
                <a:ext cx="0" cy="124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317" name="Line 9"/>
            <p:cNvSpPr>
              <a:spLocks noChangeShapeType="1"/>
            </p:cNvSpPr>
            <p:nvPr/>
          </p:nvSpPr>
          <p:spPr bwMode="auto">
            <a:xfrm>
              <a:off x="6613544" y="1065918"/>
              <a:ext cx="379412" cy="5857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8" name="Line 10"/>
            <p:cNvSpPr>
              <a:spLocks noChangeShapeType="1"/>
            </p:cNvSpPr>
            <p:nvPr/>
          </p:nvSpPr>
          <p:spPr bwMode="auto">
            <a:xfrm>
              <a:off x="6867077" y="1065918"/>
              <a:ext cx="379413" cy="5857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9" name="Text Box 11"/>
            <p:cNvSpPr txBox="1">
              <a:spLocks noChangeArrowheads="1"/>
            </p:cNvSpPr>
            <p:nvPr/>
          </p:nvSpPr>
          <p:spPr bwMode="auto">
            <a:xfrm>
              <a:off x="6195041" y="1402738"/>
              <a:ext cx="420911" cy="615553"/>
            </a:xfrm>
            <a:prstGeom prst="rect">
              <a:avLst/>
            </a:prstGeom>
            <a:noFill/>
            <a:ln w="44450" algn="ctr">
              <a:noFill/>
              <a:miter lim="800000"/>
              <a:headEnd/>
              <a:tailEnd type="none" w="sm" len="lg"/>
            </a:ln>
          </p:spPr>
          <p:txBody>
            <a:bodyPr wrap="square" lIns="0" tIns="0" rIns="0" bIns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dirty="0" smtClean="0">
                  <a:solidFill>
                    <a:srgbClr val="C00000"/>
                  </a:solidFill>
                  <a:ea typeface="幼圆" pitchFamily="49" charset="-122"/>
                </a:rPr>
                <a:t>-</a:t>
              </a:r>
              <a:endParaRPr lang="en-US" altLang="zh-CN" dirty="0">
                <a:solidFill>
                  <a:srgbClr val="C00000"/>
                </a:solidFill>
                <a:ea typeface="幼圆" pitchFamily="49" charset="-122"/>
              </a:endParaRPr>
            </a:p>
          </p:txBody>
        </p:sp>
        <p:sp>
          <p:nvSpPr>
            <p:cNvPr id="13320" name="Text Box 12"/>
            <p:cNvSpPr txBox="1">
              <a:spLocks noChangeArrowheads="1"/>
            </p:cNvSpPr>
            <p:nvPr/>
          </p:nvSpPr>
          <p:spPr bwMode="auto">
            <a:xfrm>
              <a:off x="7447206" y="1396072"/>
              <a:ext cx="576263" cy="707886"/>
            </a:xfrm>
            <a:prstGeom prst="rect">
              <a:avLst/>
            </a:prstGeom>
            <a:noFill/>
            <a:ln w="44450" algn="ctr">
              <a:noFill/>
              <a:miter lim="800000"/>
              <a:headEnd/>
              <a:tailEnd type="none" w="sm" len="lg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dirty="0">
                  <a:solidFill>
                    <a:srgbClr val="C00000"/>
                  </a:solidFill>
                  <a:ea typeface="幼圆" pitchFamily="49" charset="-122"/>
                </a:rPr>
                <a:t>+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25489" y="391717"/>
            <a:ext cx="3351659" cy="563165"/>
          </a:xfrm>
        </p:spPr>
        <p:txBody>
          <a:bodyPr>
            <a:normAutofit/>
          </a:bodyPr>
          <a:lstStyle/>
          <a:p>
            <a:pPr algn="l" eaLnBrk="1" hangingPunct="1"/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3</a:t>
            </a:r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）发光二极管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588928" y="962067"/>
            <a:ext cx="5478386" cy="162044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发光二极管</a:t>
            </a:r>
            <a:r>
              <a:rPr lang="zh-CN" altLang="en-US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是一种光发射器件，是一种把电能直接转换成光能的发光器件，简称</a:t>
            </a:r>
            <a:r>
              <a:rPr lang="en-US" altLang="zh-CN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LED</a:t>
            </a:r>
            <a:r>
              <a:rPr lang="zh-CN" altLang="en-US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。 </a:t>
            </a:r>
          </a:p>
          <a:p>
            <a:pPr eaLnBrk="1" hangingPunct="1">
              <a:lnSpc>
                <a:spcPct val="120000"/>
              </a:lnSpc>
            </a:pPr>
            <a:endParaRPr lang="en-US" altLang="zh-CN" dirty="0" smtClean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6161424" y="1040018"/>
            <a:ext cx="2097087" cy="1057276"/>
            <a:chOff x="6075363" y="1190625"/>
            <a:chExt cx="2097087" cy="1057276"/>
          </a:xfrm>
        </p:grpSpPr>
        <p:grpSp>
          <p:nvGrpSpPr>
            <p:cNvPr id="2" name="Group 5"/>
            <p:cNvGrpSpPr>
              <a:grpSpLocks/>
            </p:cNvGrpSpPr>
            <p:nvPr/>
          </p:nvGrpSpPr>
          <p:grpSpPr bwMode="auto">
            <a:xfrm rot="5388322" flipV="1">
              <a:off x="6903046" y="1764308"/>
              <a:ext cx="479822" cy="487363"/>
              <a:chOff x="4884" y="2664"/>
              <a:chExt cx="290" cy="290"/>
            </a:xfrm>
          </p:grpSpPr>
          <p:sp>
            <p:nvSpPr>
              <p:cNvPr id="14356" name="Line 6"/>
              <p:cNvSpPr>
                <a:spLocks noChangeShapeType="1"/>
              </p:cNvSpPr>
              <p:nvPr/>
            </p:nvSpPr>
            <p:spPr bwMode="auto">
              <a:xfrm rot="-5400000">
                <a:off x="5029" y="2809"/>
                <a:ext cx="0" cy="29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800"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357" name="AutoShape 7"/>
              <p:cNvSpPr>
                <a:spLocks noChangeArrowheads="1"/>
              </p:cNvSpPr>
              <p:nvPr/>
            </p:nvSpPr>
            <p:spPr bwMode="auto">
              <a:xfrm rot="10800000">
                <a:off x="4904" y="2664"/>
                <a:ext cx="240" cy="270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zh-CN" altLang="en-US" sz="2800"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4341" name="Line 8"/>
            <p:cNvSpPr>
              <a:spLocks noChangeShapeType="1"/>
            </p:cNvSpPr>
            <p:nvPr/>
          </p:nvSpPr>
          <p:spPr bwMode="auto">
            <a:xfrm rot="5388322">
              <a:off x="7123907" y="957660"/>
              <a:ext cx="0" cy="20970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342" name="Line 9"/>
            <p:cNvSpPr>
              <a:spLocks noChangeShapeType="1"/>
            </p:cNvSpPr>
            <p:nvPr/>
          </p:nvSpPr>
          <p:spPr bwMode="auto">
            <a:xfrm>
              <a:off x="6774367" y="1209676"/>
              <a:ext cx="303213" cy="5167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lg"/>
              <a:tailEnd type="none" w="sm" len="med"/>
            </a:ln>
          </p:spPr>
          <p:txBody>
            <a:bodyPr/>
            <a:lstStyle/>
            <a:p>
              <a:endParaRPr lang="zh-CN" altLang="en-US" sz="280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343" name="Line 10"/>
            <p:cNvSpPr>
              <a:spLocks noChangeShapeType="1"/>
            </p:cNvSpPr>
            <p:nvPr/>
          </p:nvSpPr>
          <p:spPr bwMode="auto">
            <a:xfrm>
              <a:off x="7007226" y="1190625"/>
              <a:ext cx="301625" cy="5167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lg"/>
              <a:tailEnd type="none" w="sm" len="med"/>
            </a:ln>
          </p:spPr>
          <p:txBody>
            <a:bodyPr/>
            <a:lstStyle/>
            <a:p>
              <a:endParaRPr lang="zh-CN" altLang="en-US" sz="2800"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344" name="Text Box 11"/>
            <p:cNvSpPr txBox="1">
              <a:spLocks noChangeArrowheads="1"/>
            </p:cNvSpPr>
            <p:nvPr/>
          </p:nvSpPr>
          <p:spPr bwMode="auto">
            <a:xfrm>
              <a:off x="7451726" y="1369219"/>
              <a:ext cx="576263" cy="523220"/>
            </a:xfrm>
            <a:prstGeom prst="rect">
              <a:avLst/>
            </a:prstGeom>
            <a:noFill/>
            <a:ln w="44450" algn="ctr">
              <a:noFill/>
              <a:miter lim="800000"/>
              <a:headEnd/>
              <a:tailEnd type="none" w="sm" len="lg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 dirty="0" smtClean="0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-</a:t>
              </a:r>
              <a:endParaRPr lang="en-US" altLang="zh-CN" sz="280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345" name="Text Box 12"/>
            <p:cNvSpPr txBox="1">
              <a:spLocks noChangeArrowheads="1"/>
            </p:cNvSpPr>
            <p:nvPr/>
          </p:nvSpPr>
          <p:spPr bwMode="auto">
            <a:xfrm>
              <a:off x="6329196" y="1421019"/>
              <a:ext cx="576263" cy="523220"/>
            </a:xfrm>
            <a:prstGeom prst="rect">
              <a:avLst/>
            </a:prstGeom>
            <a:noFill/>
            <a:ln w="44450" algn="ctr">
              <a:noFill/>
              <a:miter lim="800000"/>
              <a:headEnd/>
              <a:tailEnd type="none" w="sm" len="lg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</p:grpSp>
      <p:grpSp>
        <p:nvGrpSpPr>
          <p:cNvPr id="3" name="组合 19"/>
          <p:cNvGrpSpPr>
            <a:grpSpLocks/>
          </p:cNvGrpSpPr>
          <p:nvPr/>
        </p:nvGrpSpPr>
        <p:grpSpPr bwMode="auto">
          <a:xfrm>
            <a:off x="980484" y="2523830"/>
            <a:ext cx="6818811" cy="581313"/>
            <a:chOff x="1174121" y="3493552"/>
            <a:chExt cx="6818811" cy="775951"/>
          </a:xfrm>
        </p:grpSpPr>
        <p:sp>
          <p:nvSpPr>
            <p:cNvPr id="14354" name="Rectangle 4"/>
            <p:cNvSpPr>
              <a:spLocks noChangeArrowheads="1"/>
            </p:cNvSpPr>
            <p:nvPr/>
          </p:nvSpPr>
          <p:spPr bwMode="auto">
            <a:xfrm>
              <a:off x="1288920" y="3493552"/>
              <a:ext cx="6704012" cy="7759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kumimoji="0" lang="zh-CN" altLang="en-US" sz="2800" dirty="0" smtClean="0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 光</a:t>
              </a:r>
              <a:r>
                <a:rPr kumimoji="0" lang="zh-CN" altLang="en-US" sz="2800" dirty="0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的颜色</a:t>
              </a:r>
              <a:r>
                <a:rPr kumimoji="0"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主要取决于制造所用材料</a:t>
              </a:r>
              <a:r>
                <a:rPr kumimoji="0" lang="zh-CN" altLang="en-US" sz="2800" dirty="0" smtClean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。</a:t>
              </a:r>
              <a:endParaRPr kumimoji="0" lang="zh-CN" altLang="en-US" sz="2800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355" name="椭圆 16"/>
            <p:cNvSpPr>
              <a:spLocks noChangeArrowheads="1"/>
            </p:cNvSpPr>
            <p:nvPr/>
          </p:nvSpPr>
          <p:spPr bwMode="auto">
            <a:xfrm>
              <a:off x="1174121" y="3844895"/>
              <a:ext cx="108000" cy="144000"/>
            </a:xfrm>
            <a:prstGeom prst="ellipse">
              <a:avLst/>
            </a:prstGeom>
            <a:solidFill>
              <a:srgbClr val="FFFF00"/>
            </a:solidFill>
            <a:ln w="44450" algn="ctr">
              <a:solidFill>
                <a:srgbClr val="FFFF00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pPr eaLnBrk="0" hangingPunct="0"/>
              <a:endParaRPr lang="zh-CN" altLang="en-US" sz="2800"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4" name="组合 20"/>
          <p:cNvGrpSpPr>
            <a:grpSpLocks/>
          </p:cNvGrpSpPr>
          <p:nvPr/>
        </p:nvGrpSpPr>
        <p:grpSpPr bwMode="auto">
          <a:xfrm>
            <a:off x="987034" y="3071812"/>
            <a:ext cx="7027413" cy="1169551"/>
            <a:chOff x="1202151" y="4095072"/>
            <a:chExt cx="7026824" cy="1560938"/>
          </a:xfrm>
        </p:grpSpPr>
        <p:sp>
          <p:nvSpPr>
            <p:cNvPr id="14352" name="矩形 14"/>
            <p:cNvSpPr>
              <a:spLocks noChangeArrowheads="1"/>
            </p:cNvSpPr>
            <p:nvPr/>
          </p:nvSpPr>
          <p:spPr bwMode="auto">
            <a:xfrm>
              <a:off x="1202151" y="4095072"/>
              <a:ext cx="7026824" cy="15609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kumimoji="0" lang="zh-CN" altLang="en-US" sz="2800" dirty="0">
                  <a:solidFill>
                    <a:srgbClr val="FFFF00"/>
                  </a:solidFill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kumimoji="0" lang="zh-CN" altLang="en-US" sz="2800" dirty="0" smtClean="0">
                  <a:solidFill>
                    <a:srgbClr val="FFFF00"/>
                  </a:solidFill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kumimoji="0" lang="zh-CN" altLang="en-US" sz="2800" dirty="0" smtClean="0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发光强度</a:t>
              </a:r>
              <a:r>
                <a:rPr kumimoji="0"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在一定范围内与正向电流大小近似成线性关系。 </a:t>
              </a:r>
            </a:p>
          </p:txBody>
        </p:sp>
        <p:sp>
          <p:nvSpPr>
            <p:cNvPr id="14353" name="椭圆 17"/>
            <p:cNvSpPr>
              <a:spLocks noChangeArrowheads="1"/>
            </p:cNvSpPr>
            <p:nvPr/>
          </p:nvSpPr>
          <p:spPr bwMode="auto">
            <a:xfrm>
              <a:off x="1206638" y="4476246"/>
              <a:ext cx="107991" cy="144000"/>
            </a:xfrm>
            <a:prstGeom prst="ellipse">
              <a:avLst/>
            </a:prstGeom>
            <a:solidFill>
              <a:srgbClr val="FFFF00"/>
            </a:solidFill>
            <a:ln w="44450" algn="ctr">
              <a:solidFill>
                <a:srgbClr val="FFFF00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pPr eaLnBrk="0" hangingPunct="0"/>
              <a:endParaRPr lang="zh-CN" altLang="en-US" sz="2800"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5" name="组合 21"/>
          <p:cNvGrpSpPr>
            <a:grpSpLocks/>
          </p:cNvGrpSpPr>
          <p:nvPr/>
        </p:nvGrpSpPr>
        <p:grpSpPr bwMode="auto">
          <a:xfrm>
            <a:off x="868531" y="4157396"/>
            <a:ext cx="2380277" cy="630942"/>
            <a:chOff x="1051993" y="5227187"/>
            <a:chExt cx="2379238" cy="842197"/>
          </a:xfrm>
        </p:grpSpPr>
        <p:sp>
          <p:nvSpPr>
            <p:cNvPr id="14350" name="矩形 15"/>
            <p:cNvSpPr>
              <a:spLocks noChangeArrowheads="1"/>
            </p:cNvSpPr>
            <p:nvPr/>
          </p:nvSpPr>
          <p:spPr bwMode="auto">
            <a:xfrm>
              <a:off x="1051993" y="5227187"/>
              <a:ext cx="2379238" cy="8421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kumimoji="0" lang="zh-CN" altLang="en-US" sz="2800" dirty="0">
                  <a:solidFill>
                    <a:srgbClr val="FFFF00"/>
                  </a:solidFill>
                  <a:ea typeface="华文中宋" pitchFamily="2" charset="-122"/>
                  <a:cs typeface="Times New Roman" pitchFamily="18" charset="0"/>
                </a:rPr>
                <a:t>    </a:t>
              </a:r>
              <a:r>
                <a:rPr kumimoji="0" lang="zh-CN" altLang="en-US" sz="2800" dirty="0" smtClean="0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应用</a:t>
              </a:r>
              <a:r>
                <a:rPr kumimoji="0" lang="zh-CN" altLang="en-US" sz="2800" dirty="0">
                  <a:solidFill>
                    <a:schemeClr val="tx1"/>
                  </a:solidFill>
                  <a:ea typeface="华文中宋" pitchFamily="2" charset="-122"/>
                  <a:cs typeface="Times New Roman" pitchFamily="18" charset="0"/>
                </a:rPr>
                <a:t>广泛。</a:t>
              </a:r>
              <a:r>
                <a:rPr kumimoji="0" lang="zh-CN" altLang="en-US" sz="2800" dirty="0">
                  <a:solidFill>
                    <a:srgbClr val="FFFFFF"/>
                  </a:solidFill>
                  <a:ea typeface="华文中宋" pitchFamily="2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14351" name="椭圆 18"/>
            <p:cNvSpPr>
              <a:spLocks noChangeArrowheads="1"/>
            </p:cNvSpPr>
            <p:nvPr/>
          </p:nvSpPr>
          <p:spPr bwMode="auto">
            <a:xfrm>
              <a:off x="1192605" y="5565299"/>
              <a:ext cx="107953" cy="144000"/>
            </a:xfrm>
            <a:prstGeom prst="ellipse">
              <a:avLst/>
            </a:prstGeom>
            <a:solidFill>
              <a:srgbClr val="FFFF00"/>
            </a:solidFill>
            <a:ln w="44450" algn="ctr">
              <a:solidFill>
                <a:srgbClr val="FFFF00"/>
              </a:solidFill>
              <a:round/>
              <a:headEnd/>
              <a:tailEnd type="none" w="sm" len="lg"/>
            </a:ln>
          </p:spPr>
          <p:txBody>
            <a:bodyPr/>
            <a:lstStyle/>
            <a:p>
              <a:pPr eaLnBrk="0" hangingPunct="0"/>
              <a:endParaRPr lang="zh-CN" altLang="en-US" sz="2800"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62" name="Picture 4" descr="img200706121339341457副本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4" y="2407444"/>
            <a:ext cx="3095625" cy="2221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6469" name="Rectangle 5"/>
          <p:cNvSpPr>
            <a:spLocks noChangeArrowheads="1"/>
          </p:cNvSpPr>
          <p:nvPr/>
        </p:nvSpPr>
        <p:spPr bwMode="auto">
          <a:xfrm>
            <a:off x="2700339" y="1491854"/>
            <a:ext cx="324008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4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结    束</a:t>
            </a:r>
            <a:r>
              <a:rPr lang="zh-CN" altLang="en-US" sz="3600" dirty="0" smtClean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="" xmlns:p14="http://schemas.microsoft.com/office/powerpoint/2010/main" val="1824329971"/>
      </p:ext>
    </p:extLst>
  </p:cSld>
  <p:clrMapOvr>
    <a:masterClrMapping/>
  </p:clrMapOvr>
  <p:transition spd="slow">
    <p:diamond/>
    <p:sndAc>
      <p:stSnd>
        <p:snd r:embed="rId2" name="结束.wav"/>
      </p:stSnd>
    </p:sndAc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>
          <a:defRPr kumimoji="0" sz="2800" dirty="0" smtClean="0">
            <a:solidFill>
              <a:schemeClr val="tx1"/>
            </a:solidFill>
            <a:latin typeface="华文中宋" pitchFamily="2" charset="-122"/>
            <a:ea typeface="华文中宋" pitchFamily="2" charset="-122"/>
          </a:defRPr>
        </a:defPPr>
      </a:lstStyle>
    </a:sp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18723</TotalTime>
  <Words>1406</Words>
  <Application>Microsoft PowerPoint</Application>
  <PresentationFormat>全屏显示(16:9)</PresentationFormat>
  <Paragraphs>404</Paragraphs>
  <Slides>37</Slides>
  <Notes>20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39" baseType="lpstr">
      <vt:lpstr>Office 主题</vt:lpstr>
      <vt:lpstr>CorelDRAW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二极管的应用1: 限幅电路</vt:lpstr>
      <vt:lpstr>二极管的应用2: 开关电路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（2）光电二极管（光敏二极管）</vt:lpstr>
      <vt:lpstr>（3）发光二极管</vt:lpstr>
      <vt:lpstr>幻灯片 37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8-1 半导体基础知识和二极管</dc:title>
  <dc:subject/>
  <dc:creator>wgz</dc:creator>
  <cp:lastModifiedBy>Administrator</cp:lastModifiedBy>
  <cp:revision>1543</cp:revision>
  <cp:lastPrinted>1997-11-23T03:25:00Z</cp:lastPrinted>
  <dcterms:created xsi:type="dcterms:W3CDTF">1995-06-17T23:31:02Z</dcterms:created>
  <dcterms:modified xsi:type="dcterms:W3CDTF">2017-10-15T02:08:39Z</dcterms:modified>
</cp:coreProperties>
</file>