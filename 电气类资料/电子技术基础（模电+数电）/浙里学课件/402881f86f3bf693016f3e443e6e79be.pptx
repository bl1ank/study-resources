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notesSlides/notesSlide8.xml" ContentType="application/vnd.openxmlformats-officedocument.presentationml.notesSlide+xml"/>
  <Default Extension="tiff" ContentType="image/tiff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notesMasterIdLst>
    <p:notesMasterId r:id="rId42"/>
  </p:notesMasterIdLst>
  <p:handoutMasterIdLst>
    <p:handoutMasterId r:id="rId43"/>
  </p:handoutMasterIdLst>
  <p:sldIdLst>
    <p:sldId id="644" r:id="rId2"/>
    <p:sldId id="562" r:id="rId3"/>
    <p:sldId id="658" r:id="rId4"/>
    <p:sldId id="660" r:id="rId5"/>
    <p:sldId id="532" r:id="rId6"/>
    <p:sldId id="662" r:id="rId7"/>
    <p:sldId id="670" r:id="rId8"/>
    <p:sldId id="534" r:id="rId9"/>
    <p:sldId id="664" r:id="rId10"/>
    <p:sldId id="665" r:id="rId11"/>
    <p:sldId id="535" r:id="rId12"/>
    <p:sldId id="536" r:id="rId13"/>
    <p:sldId id="537" r:id="rId14"/>
    <p:sldId id="667" r:id="rId15"/>
    <p:sldId id="666" r:id="rId16"/>
    <p:sldId id="538" r:id="rId17"/>
    <p:sldId id="539" r:id="rId18"/>
    <p:sldId id="668" r:id="rId19"/>
    <p:sldId id="540" r:id="rId20"/>
    <p:sldId id="642" r:id="rId21"/>
    <p:sldId id="671" r:id="rId22"/>
    <p:sldId id="643" r:id="rId23"/>
    <p:sldId id="646" r:id="rId24"/>
    <p:sldId id="647" r:id="rId25"/>
    <p:sldId id="672" r:id="rId26"/>
    <p:sldId id="648" r:id="rId27"/>
    <p:sldId id="649" r:id="rId28"/>
    <p:sldId id="650" r:id="rId29"/>
    <p:sldId id="651" r:id="rId30"/>
    <p:sldId id="652" r:id="rId31"/>
    <p:sldId id="673" r:id="rId32"/>
    <p:sldId id="674" r:id="rId33"/>
    <p:sldId id="653" r:id="rId34"/>
    <p:sldId id="654" r:id="rId35"/>
    <p:sldId id="655" r:id="rId36"/>
    <p:sldId id="676" r:id="rId37"/>
    <p:sldId id="675" r:id="rId38"/>
    <p:sldId id="656" r:id="rId39"/>
    <p:sldId id="657" r:id="rId40"/>
    <p:sldId id="645" r:id="rId41"/>
  </p:sldIdLst>
  <p:sldSz cx="9144000" cy="5143500" type="screen16x9"/>
  <p:notesSz cx="7315200" cy="96012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5pPr>
    <a:lvl6pPr marL="2286000" algn="l" defTabSz="914400" rtl="0" eaLnBrk="1" latinLnBrk="0" hangingPunct="1"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6pPr>
    <a:lvl7pPr marL="2743200" algn="l" defTabSz="914400" rtl="0" eaLnBrk="1" latinLnBrk="0" hangingPunct="1"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7pPr>
    <a:lvl8pPr marL="3200400" algn="l" defTabSz="914400" rtl="0" eaLnBrk="1" latinLnBrk="0" hangingPunct="1"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8pPr>
    <a:lvl9pPr marL="3657600" algn="l" defTabSz="914400" rtl="0" eaLnBrk="1" latinLnBrk="0" hangingPunct="1"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542A00"/>
    <a:srgbClr val="FFCC00"/>
    <a:srgbClr val="663300"/>
    <a:srgbClr val="FFFF99"/>
    <a:srgbClr val="FFCCFF"/>
    <a:srgbClr val="FF9900"/>
    <a:srgbClr val="FF6600"/>
    <a:srgbClr val="FFCC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284" autoAdjust="0"/>
    <p:restoredTop sz="96660" autoAdjust="0"/>
  </p:normalViewPr>
  <p:slideViewPr>
    <p:cSldViewPr snapToGrid="0">
      <p:cViewPr varScale="1">
        <p:scale>
          <a:sx n="51" d="100"/>
          <a:sy n="51" d="100"/>
        </p:scale>
        <p:origin x="-108" y="-6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>
        <p:scale>
          <a:sx n="66" d="100"/>
          <a:sy n="66" d="100"/>
        </p:scale>
        <p:origin x="-1506" y="228"/>
      </p:cViewPr>
      <p:guideLst>
        <p:guide orient="horz" pos="2160"/>
        <p:guide pos="2880"/>
      </p:guideLst>
    </p:cSldViewPr>
  </p:notes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38" tIns="0" rIns="20638" bIns="0" numCol="1" anchor="t" anchorCtr="0" compatLnSpc="1">
            <a:prstTxWarp prst="textNoShape">
              <a:avLst/>
            </a:prstTxWarp>
          </a:bodyPr>
          <a:lstStyle>
            <a:lvl1pPr defTabSz="1039813">
              <a:defRPr sz="1100" b="0" i="1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38" tIns="0" rIns="20638" bIns="0" numCol="1" anchor="t" anchorCtr="0" compatLnSpc="1">
            <a:prstTxWarp prst="textNoShape">
              <a:avLst/>
            </a:prstTxWarp>
          </a:bodyPr>
          <a:lstStyle>
            <a:lvl1pPr algn="r" defTabSz="1039813">
              <a:defRPr sz="1100" b="0" i="1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9900" y="727075"/>
            <a:ext cx="6375400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425" tIns="49212" rIns="98425" bIns="492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38" tIns="0" rIns="20638" bIns="0" numCol="1" anchor="b" anchorCtr="0" compatLnSpc="1">
            <a:prstTxWarp prst="textNoShape">
              <a:avLst/>
            </a:prstTxWarp>
          </a:bodyPr>
          <a:lstStyle>
            <a:lvl1pPr defTabSz="1039813">
              <a:defRPr sz="1100" b="0" i="1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38" tIns="0" rIns="20638" bIns="0" numCol="1" anchor="b" anchorCtr="0" compatLnSpc="1">
            <a:prstTxWarp prst="textNoShape">
              <a:avLst/>
            </a:prstTxWarp>
          </a:bodyPr>
          <a:lstStyle>
            <a:lvl1pPr algn="r" defTabSz="1039813">
              <a:defRPr sz="1100" b="0" i="1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30C08E39-0222-41FA-8AAF-78F43DFA12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03981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87363" algn="l" defTabSz="103981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74725" algn="l" defTabSz="103981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463675" algn="l" defTabSz="103981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951038" algn="l" defTabSz="103981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0C08E39-0222-41FA-8AAF-78F43DFA12D6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5F55EC-15C7-4D96-ADDD-D2E48EB5B554}" type="slidenum">
              <a:rPr lang="en-US" altLang="zh-CN" smtClean="0"/>
              <a:pPr/>
              <a:t>12</a:t>
            </a:fld>
            <a:endParaRPr lang="en-US" altLang="zh-CN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14400"/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CF0814-B2CF-48E6-B709-3879BCB3936C}" type="slidenum">
              <a:rPr lang="en-US" altLang="zh-CN" smtClean="0"/>
              <a:pPr/>
              <a:t>13</a:t>
            </a:fld>
            <a:endParaRPr lang="en-US" altLang="zh-CN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14400"/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48B5CE-61D2-487C-87EC-1A98B6BF8AA3}" type="slidenum">
              <a:rPr lang="en-US" altLang="zh-CN" smtClean="0"/>
              <a:pPr/>
              <a:t>14</a:t>
            </a:fld>
            <a:endParaRPr lang="en-US" altLang="zh-CN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14400"/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48B5CE-61D2-487C-87EC-1A98B6BF8AA3}" type="slidenum">
              <a:rPr lang="en-US" altLang="zh-CN" smtClean="0"/>
              <a:pPr/>
              <a:t>15</a:t>
            </a:fld>
            <a:endParaRPr lang="en-US" altLang="zh-CN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14400"/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48B5CE-61D2-487C-87EC-1A98B6BF8AA3}" type="slidenum">
              <a:rPr lang="en-US" altLang="zh-CN" smtClean="0"/>
              <a:pPr/>
              <a:t>16</a:t>
            </a:fld>
            <a:endParaRPr lang="en-US" altLang="zh-CN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14400"/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19A8B4-A9DB-49D0-9B38-A3D46C0050FC}" type="slidenum">
              <a:rPr lang="en-US" altLang="zh-CN" smtClean="0"/>
              <a:pPr/>
              <a:t>17</a:t>
            </a:fld>
            <a:endParaRPr lang="en-US" altLang="zh-CN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14400"/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19A8B4-A9DB-49D0-9B38-A3D46C0050FC}" type="slidenum">
              <a:rPr lang="en-US" altLang="zh-CN" smtClean="0"/>
              <a:pPr/>
              <a:t>18</a:t>
            </a:fld>
            <a:endParaRPr lang="en-US" altLang="zh-CN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14400"/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2017/8/26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16545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2017/8/26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743680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2017/8/26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67227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2017/8/26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8767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7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5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5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2017/8/26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58887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2017/8/26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13310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2017/8/26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246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2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2017/8/26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6143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2"/>
            <a:ext cx="4629150" cy="365521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2017/8/26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143021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2017/8/26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870871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6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5" y="273846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2017/8/26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0833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57200"/>
            <a:ext cx="77724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12D08-0ABD-49BB-94AC-6B325CDB6D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7AB67-4EC8-4CDC-93E0-0676F739EE6E}" type="datetimeFigureOut">
              <a:rPr lang="zh-CN" altLang="en-US" smtClean="0"/>
              <a:pPr/>
              <a:t>2017/8/26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471524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10.bin"/><Relationship Id="rId18" Type="http://schemas.openxmlformats.org/officeDocument/2006/relationships/oleObject" Target="../embeddings/oleObject15.bin"/><Relationship Id="rId26" Type="http://schemas.openxmlformats.org/officeDocument/2006/relationships/oleObject" Target="../embeddings/oleObject23.bin"/><Relationship Id="rId39" Type="http://schemas.openxmlformats.org/officeDocument/2006/relationships/oleObject" Target="../embeddings/oleObject36.bin"/><Relationship Id="rId3" Type="http://schemas.openxmlformats.org/officeDocument/2006/relationships/notesSlide" Target="../notesSlides/notesSlide1.xml"/><Relationship Id="rId21" Type="http://schemas.openxmlformats.org/officeDocument/2006/relationships/oleObject" Target="../embeddings/oleObject18.bin"/><Relationship Id="rId34" Type="http://schemas.openxmlformats.org/officeDocument/2006/relationships/oleObject" Target="../embeddings/oleObject31.bin"/><Relationship Id="rId42" Type="http://schemas.openxmlformats.org/officeDocument/2006/relationships/oleObject" Target="../embeddings/oleObject39.bin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9.bin"/><Relationship Id="rId17" Type="http://schemas.openxmlformats.org/officeDocument/2006/relationships/oleObject" Target="../embeddings/oleObject14.bin"/><Relationship Id="rId25" Type="http://schemas.openxmlformats.org/officeDocument/2006/relationships/oleObject" Target="../embeddings/oleObject22.bin"/><Relationship Id="rId33" Type="http://schemas.openxmlformats.org/officeDocument/2006/relationships/oleObject" Target="../embeddings/oleObject30.bin"/><Relationship Id="rId38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7.bin"/><Relationship Id="rId29" Type="http://schemas.openxmlformats.org/officeDocument/2006/relationships/oleObject" Target="../embeddings/oleObject26.bin"/><Relationship Id="rId41" Type="http://schemas.openxmlformats.org/officeDocument/2006/relationships/oleObject" Target="../embeddings/oleObject38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8.bin"/><Relationship Id="rId24" Type="http://schemas.openxmlformats.org/officeDocument/2006/relationships/oleObject" Target="../embeddings/oleObject21.bin"/><Relationship Id="rId32" Type="http://schemas.openxmlformats.org/officeDocument/2006/relationships/oleObject" Target="../embeddings/oleObject29.bin"/><Relationship Id="rId37" Type="http://schemas.openxmlformats.org/officeDocument/2006/relationships/oleObject" Target="../embeddings/oleObject34.bin"/><Relationship Id="rId40" Type="http://schemas.openxmlformats.org/officeDocument/2006/relationships/oleObject" Target="../embeddings/oleObject37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20.bin"/><Relationship Id="rId28" Type="http://schemas.openxmlformats.org/officeDocument/2006/relationships/oleObject" Target="../embeddings/oleObject25.bin"/><Relationship Id="rId36" Type="http://schemas.openxmlformats.org/officeDocument/2006/relationships/oleObject" Target="../embeddings/oleObject33.bin"/><Relationship Id="rId10" Type="http://schemas.openxmlformats.org/officeDocument/2006/relationships/oleObject" Target="../embeddings/oleObject7.bin"/><Relationship Id="rId19" Type="http://schemas.openxmlformats.org/officeDocument/2006/relationships/oleObject" Target="../embeddings/oleObject16.bin"/><Relationship Id="rId31" Type="http://schemas.openxmlformats.org/officeDocument/2006/relationships/oleObject" Target="../embeddings/oleObject28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6.bin"/><Relationship Id="rId14" Type="http://schemas.openxmlformats.org/officeDocument/2006/relationships/oleObject" Target="../embeddings/oleObject11.bin"/><Relationship Id="rId22" Type="http://schemas.openxmlformats.org/officeDocument/2006/relationships/oleObject" Target="../embeddings/oleObject19.bin"/><Relationship Id="rId27" Type="http://schemas.openxmlformats.org/officeDocument/2006/relationships/oleObject" Target="../embeddings/oleObject24.bin"/><Relationship Id="rId30" Type="http://schemas.openxmlformats.org/officeDocument/2006/relationships/oleObject" Target="../embeddings/oleObject27.bin"/><Relationship Id="rId35" Type="http://schemas.openxmlformats.org/officeDocument/2006/relationships/oleObject" Target="../embeddings/oleObject3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40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gi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45.bin"/><Relationship Id="rId5" Type="http://schemas.openxmlformats.org/officeDocument/2006/relationships/oleObject" Target="../embeddings/oleObject44.bin"/><Relationship Id="rId4" Type="http://schemas.openxmlformats.org/officeDocument/2006/relationships/oleObject" Target="../embeddings/oleObject4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8.bin"/><Relationship Id="rId5" Type="http://schemas.openxmlformats.org/officeDocument/2006/relationships/oleObject" Target="../embeddings/oleObject47.bin"/><Relationship Id="rId4" Type="http://schemas.openxmlformats.org/officeDocument/2006/relationships/oleObject" Target="../embeddings/oleObject4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1.bin"/><Relationship Id="rId5" Type="http://schemas.openxmlformats.org/officeDocument/2006/relationships/oleObject" Target="../embeddings/oleObject50.bin"/><Relationship Id="rId4" Type="http://schemas.openxmlformats.org/officeDocument/2006/relationships/oleObject" Target="../embeddings/oleObject49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3.bin"/><Relationship Id="rId5" Type="http://schemas.openxmlformats.org/officeDocument/2006/relationships/oleObject" Target="../embeddings/oleObject52.bin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57.bin"/><Relationship Id="rId5" Type="http://schemas.openxmlformats.org/officeDocument/2006/relationships/oleObject" Target="../embeddings/oleObject56.bin"/><Relationship Id="rId4" Type="http://schemas.openxmlformats.org/officeDocument/2006/relationships/oleObject" Target="../embeddings/oleObject55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oleObject" Target="../embeddings/oleObject66.bin"/><Relationship Id="rId3" Type="http://schemas.openxmlformats.org/officeDocument/2006/relationships/image" Target="../media/image19.png"/><Relationship Id="rId7" Type="http://schemas.openxmlformats.org/officeDocument/2006/relationships/oleObject" Target="../embeddings/oleObject60.bin"/><Relationship Id="rId12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9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59.bin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8.bin"/><Relationship Id="rId10" Type="http://schemas.openxmlformats.org/officeDocument/2006/relationships/oleObject" Target="../embeddings/oleObject63.bin"/><Relationship Id="rId4" Type="http://schemas.openxmlformats.org/officeDocument/2006/relationships/image" Target="../media/image20.png"/><Relationship Id="rId9" Type="http://schemas.openxmlformats.org/officeDocument/2006/relationships/oleObject" Target="../embeddings/oleObject62.bin"/><Relationship Id="rId14" Type="http://schemas.openxmlformats.org/officeDocument/2006/relationships/oleObject" Target="../embeddings/oleObject67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9" name="Rectangle 5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2422120" y="3436427"/>
            <a:ext cx="3136852" cy="646331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  场效应管</a:t>
            </a:r>
            <a:endParaRPr lang="zh-CN" altLang="en-US" sz="3600" dirty="0">
              <a:solidFill>
                <a:srgbClr val="C00000"/>
              </a:solidFill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97671" name="Rectangle 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92408" y="2671308"/>
            <a:ext cx="3718106" cy="646331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   </a:t>
            </a:r>
            <a:r>
              <a:rPr lang="zh-CN" altLang="en-US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晶体三极管</a:t>
            </a:r>
            <a:endParaRPr lang="zh-CN" altLang="en-US" sz="3600" dirty="0">
              <a:solidFill>
                <a:srgbClr val="C00000"/>
              </a:solidFill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97672" name="Rectangle 8"/>
          <p:cNvSpPr>
            <a:spLocks noChangeArrowheads="1"/>
          </p:cNvSpPr>
          <p:nvPr/>
        </p:nvSpPr>
        <p:spPr bwMode="auto">
          <a:xfrm>
            <a:off x="1345293" y="403282"/>
            <a:ext cx="6115050" cy="1938992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6000" dirty="0" smtClean="0">
                <a:solidFill>
                  <a:schemeClr val="tx1"/>
                </a:solidFill>
                <a:ea typeface="隶书" pitchFamily="49" charset="-122"/>
                <a:cs typeface="Times New Roman" pitchFamily="18" charset="0"/>
              </a:rPr>
              <a:t>8.2 </a:t>
            </a:r>
            <a:r>
              <a:rPr lang="zh-CN" altLang="en-US" sz="6000" dirty="0" smtClean="0">
                <a:solidFill>
                  <a:schemeClr val="tx1"/>
                </a:solidFill>
                <a:ea typeface="隶书" pitchFamily="49" charset="-122"/>
                <a:cs typeface="Times New Roman" pitchFamily="18" charset="0"/>
              </a:rPr>
              <a:t>晶体三极管和场效应管</a:t>
            </a:r>
            <a:endParaRPr lang="zh-CN" altLang="en-US" sz="6000" dirty="0">
              <a:solidFill>
                <a:schemeClr val="tx1"/>
              </a:solidFill>
              <a:ea typeface="隶书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9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9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9" grpId="0"/>
      <p:bldP spid="49767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3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246190" y="1328397"/>
            <a:ext cx="297746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）基本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结构</a:t>
            </a:r>
          </a:p>
        </p:txBody>
      </p:sp>
      <p:sp>
        <p:nvSpPr>
          <p:cNvPr id="498694" name="Text Box 6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227140" y="1934426"/>
            <a:ext cx="572520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）电流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分配和电流放大原理</a:t>
            </a:r>
          </a:p>
        </p:txBody>
      </p:sp>
      <p:sp>
        <p:nvSpPr>
          <p:cNvPr id="498695" name="Rectangle 7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258889" y="2526166"/>
            <a:ext cx="3124426" cy="584775"/>
          </a:xfrm>
          <a:prstGeom prst="rect">
            <a:avLst/>
          </a:prstGeom>
          <a:noFill/>
          <a:ln w="4127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）特性曲线</a:t>
            </a:r>
            <a:endParaRPr lang="zh-CN" altLang="en-US" sz="32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98702" name="Rectangle 1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258887" y="3119097"/>
            <a:ext cx="2935741" cy="584775"/>
          </a:xfrm>
          <a:prstGeom prst="rect">
            <a:avLst/>
          </a:prstGeom>
          <a:noFill/>
          <a:ln w="4127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4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）主要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参数</a:t>
            </a:r>
          </a:p>
        </p:txBody>
      </p:sp>
      <p:sp>
        <p:nvSpPr>
          <p:cNvPr id="15" name="Rectangle 1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244600" y="3673928"/>
            <a:ext cx="3356429" cy="584775"/>
          </a:xfrm>
          <a:prstGeom prst="rect">
            <a:avLst/>
          </a:prstGeom>
          <a:noFill/>
          <a:ln w="4127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5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）特殊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三极管</a:t>
            </a:r>
          </a:p>
        </p:txBody>
      </p:sp>
      <p:sp>
        <p:nvSpPr>
          <p:cNvPr id="10" name="Rectangle 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710236" y="420914"/>
            <a:ext cx="3718106" cy="646331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   </a:t>
            </a:r>
            <a:r>
              <a:rPr lang="zh-CN" altLang="en-US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晶体三极管</a:t>
            </a:r>
            <a:endParaRPr lang="zh-CN" altLang="en-US" sz="3600" dirty="0">
              <a:solidFill>
                <a:srgbClr val="C00000"/>
              </a:solidFill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9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9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9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9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3" grpId="0"/>
      <p:bldP spid="498694" grpId="0"/>
      <p:bldP spid="498695" grpId="0"/>
      <p:bldP spid="498702" grpId="0"/>
      <p:bldP spid="15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883333" y="399483"/>
            <a:ext cx="297746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）基本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结构</a:t>
            </a:r>
          </a:p>
        </p:txBody>
      </p:sp>
      <p:sp>
        <p:nvSpPr>
          <p:cNvPr id="80" name="Text Box 4"/>
          <p:cNvSpPr txBox="1">
            <a:spLocks noChangeArrowheads="1"/>
          </p:cNvSpPr>
          <p:nvPr/>
        </p:nvSpPr>
        <p:spPr bwMode="auto">
          <a:xfrm>
            <a:off x="3815872" y="4088950"/>
            <a:ext cx="13482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NPN</a:t>
            </a:r>
            <a:r>
              <a:rPr lang="zh-CN" altLang="en-US" sz="28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型</a:t>
            </a:r>
          </a:p>
        </p:txBody>
      </p:sp>
      <p:sp>
        <p:nvSpPr>
          <p:cNvPr id="94" name="Text Box 17"/>
          <p:cNvSpPr txBox="1">
            <a:spLocks noChangeArrowheads="1"/>
          </p:cNvSpPr>
          <p:nvPr/>
        </p:nvSpPr>
        <p:spPr bwMode="auto">
          <a:xfrm>
            <a:off x="5936242" y="3393307"/>
            <a:ext cx="12945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发射区</a:t>
            </a:r>
          </a:p>
        </p:txBody>
      </p:sp>
      <p:sp>
        <p:nvSpPr>
          <p:cNvPr id="95" name="Text Box 18"/>
          <p:cNvSpPr txBox="1">
            <a:spLocks noChangeArrowheads="1"/>
          </p:cNvSpPr>
          <p:nvPr/>
        </p:nvSpPr>
        <p:spPr bwMode="auto">
          <a:xfrm>
            <a:off x="5860937" y="1423761"/>
            <a:ext cx="12622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集电区</a:t>
            </a:r>
          </a:p>
        </p:txBody>
      </p:sp>
      <p:sp>
        <p:nvSpPr>
          <p:cNvPr id="96" name="Text Box 19"/>
          <p:cNvSpPr txBox="1">
            <a:spLocks noChangeArrowheads="1"/>
          </p:cNvSpPr>
          <p:nvPr/>
        </p:nvSpPr>
        <p:spPr bwMode="auto">
          <a:xfrm>
            <a:off x="6012442" y="2250307"/>
            <a:ext cx="10354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基区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4663254" y="1891719"/>
            <a:ext cx="838200" cy="1146568"/>
            <a:chOff x="4274372" y="1839167"/>
            <a:chExt cx="838200" cy="1146568"/>
          </a:xfrm>
        </p:grpSpPr>
        <p:sp>
          <p:nvSpPr>
            <p:cNvPr id="92" name="Text Box 15"/>
            <p:cNvSpPr txBox="1">
              <a:spLocks noChangeArrowheads="1"/>
            </p:cNvSpPr>
            <p:nvPr/>
          </p:nvSpPr>
          <p:spPr bwMode="auto">
            <a:xfrm>
              <a:off x="4416014" y="1839167"/>
              <a:ext cx="3810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98" name="Text Box 21"/>
            <p:cNvSpPr txBox="1">
              <a:spLocks noChangeArrowheads="1"/>
            </p:cNvSpPr>
            <p:nvPr/>
          </p:nvSpPr>
          <p:spPr bwMode="auto">
            <a:xfrm>
              <a:off x="4274372" y="2524070"/>
              <a:ext cx="8382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基极</a:t>
              </a: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5916117" y="4130762"/>
            <a:ext cx="1783977" cy="473319"/>
            <a:chOff x="5548256" y="4025659"/>
            <a:chExt cx="1783977" cy="473319"/>
          </a:xfrm>
        </p:grpSpPr>
        <p:sp>
          <p:nvSpPr>
            <p:cNvPr id="90" name="Text Box 13"/>
            <p:cNvSpPr txBox="1">
              <a:spLocks noChangeArrowheads="1"/>
            </p:cNvSpPr>
            <p:nvPr/>
          </p:nvSpPr>
          <p:spPr bwMode="auto">
            <a:xfrm>
              <a:off x="5548256" y="4037313"/>
              <a:ext cx="3810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99" name="Text Box 22"/>
            <p:cNvSpPr txBox="1">
              <a:spLocks noChangeArrowheads="1"/>
            </p:cNvSpPr>
            <p:nvPr/>
          </p:nvSpPr>
          <p:spPr bwMode="auto">
            <a:xfrm>
              <a:off x="6113033" y="4025659"/>
              <a:ext cx="12192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发射极</a:t>
              </a: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7231642" y="1422865"/>
            <a:ext cx="1218303" cy="522642"/>
            <a:chOff x="6842760" y="1370313"/>
            <a:chExt cx="1218303" cy="522642"/>
          </a:xfrm>
        </p:grpSpPr>
        <p:sp>
          <p:nvSpPr>
            <p:cNvPr id="100" name="Text Box 23"/>
            <p:cNvSpPr txBox="1">
              <a:spLocks noChangeArrowheads="1"/>
            </p:cNvSpPr>
            <p:nvPr/>
          </p:nvSpPr>
          <p:spPr bwMode="auto">
            <a:xfrm>
              <a:off x="6918063" y="1370313"/>
              <a:ext cx="11430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集电结</a:t>
              </a:r>
            </a:p>
          </p:txBody>
        </p:sp>
        <p:sp>
          <p:nvSpPr>
            <p:cNvPr id="106" name="Line 29"/>
            <p:cNvSpPr>
              <a:spLocks noChangeShapeType="1"/>
            </p:cNvSpPr>
            <p:nvPr/>
          </p:nvSpPr>
          <p:spPr bwMode="auto">
            <a:xfrm flipV="1">
              <a:off x="6842760" y="1664355"/>
              <a:ext cx="15240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7217354" y="2540819"/>
            <a:ext cx="1347340" cy="485775"/>
            <a:chOff x="6828472" y="2488267"/>
            <a:chExt cx="1347340" cy="485775"/>
          </a:xfrm>
        </p:grpSpPr>
        <p:sp>
          <p:nvSpPr>
            <p:cNvPr id="101" name="Text Box 24"/>
            <p:cNvSpPr txBox="1">
              <a:spLocks noChangeArrowheads="1"/>
            </p:cNvSpPr>
            <p:nvPr/>
          </p:nvSpPr>
          <p:spPr bwMode="auto">
            <a:xfrm>
              <a:off x="6961822" y="2488267"/>
              <a:ext cx="121399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发射结</a:t>
              </a:r>
            </a:p>
          </p:txBody>
        </p:sp>
        <p:sp>
          <p:nvSpPr>
            <p:cNvPr id="107" name="Line 30"/>
            <p:cNvSpPr>
              <a:spLocks noChangeShapeType="1"/>
            </p:cNvSpPr>
            <p:nvPr/>
          </p:nvSpPr>
          <p:spPr bwMode="auto">
            <a:xfrm flipV="1">
              <a:off x="6828472" y="2729567"/>
              <a:ext cx="239246" cy="2444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5851665" y="313034"/>
            <a:ext cx="1778597" cy="478063"/>
            <a:chOff x="5525845" y="260482"/>
            <a:chExt cx="1778597" cy="478063"/>
          </a:xfrm>
        </p:grpSpPr>
        <p:sp>
          <p:nvSpPr>
            <p:cNvPr id="82" name="Text Box 6"/>
            <p:cNvSpPr txBox="1">
              <a:spLocks noChangeArrowheads="1"/>
            </p:cNvSpPr>
            <p:nvPr/>
          </p:nvSpPr>
          <p:spPr bwMode="auto">
            <a:xfrm>
              <a:off x="5525845" y="260482"/>
              <a:ext cx="3810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10" name="Text Box 33"/>
            <p:cNvSpPr txBox="1">
              <a:spLocks noChangeArrowheads="1"/>
            </p:cNvSpPr>
            <p:nvPr/>
          </p:nvSpPr>
          <p:spPr bwMode="auto">
            <a:xfrm>
              <a:off x="6156960" y="276880"/>
              <a:ext cx="114748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集电极</a:t>
              </a:r>
            </a:p>
          </p:txBody>
        </p:sp>
      </p:grp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2649385" y="2207812"/>
            <a:ext cx="990600" cy="1658938"/>
            <a:chOff x="2544" y="960"/>
            <a:chExt cx="624" cy="1045"/>
          </a:xfrm>
        </p:grpSpPr>
        <p:grpSp>
          <p:nvGrpSpPr>
            <p:cNvPr id="5" name="Group 41"/>
            <p:cNvGrpSpPr>
              <a:grpSpLocks/>
            </p:cNvGrpSpPr>
            <p:nvPr/>
          </p:nvGrpSpPr>
          <p:grpSpPr bwMode="auto">
            <a:xfrm>
              <a:off x="2544" y="960"/>
              <a:ext cx="624" cy="1045"/>
              <a:chOff x="2400" y="1056"/>
              <a:chExt cx="624" cy="1045"/>
            </a:xfrm>
          </p:grpSpPr>
          <p:sp>
            <p:nvSpPr>
              <p:cNvPr id="150" name="Text Box 42"/>
              <p:cNvSpPr txBox="1">
                <a:spLocks noChangeArrowheads="1"/>
              </p:cNvSpPr>
              <p:nvPr/>
            </p:nvSpPr>
            <p:spPr bwMode="auto">
              <a:xfrm>
                <a:off x="2400" y="1297"/>
                <a:ext cx="19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51" name="Text Box 43"/>
              <p:cNvSpPr txBox="1">
                <a:spLocks noChangeArrowheads="1"/>
              </p:cNvSpPr>
              <p:nvPr/>
            </p:nvSpPr>
            <p:spPr bwMode="auto">
              <a:xfrm>
                <a:off x="2712" y="1849"/>
                <a:ext cx="234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rPr>
                  <a:t>E</a:t>
                </a:r>
              </a:p>
            </p:txBody>
          </p:sp>
          <p:sp>
            <p:nvSpPr>
              <p:cNvPr id="152" name="Text Box 44"/>
              <p:cNvSpPr txBox="1">
                <a:spLocks noChangeArrowheads="1"/>
              </p:cNvSpPr>
              <p:nvPr/>
            </p:nvSpPr>
            <p:spPr bwMode="auto">
              <a:xfrm>
                <a:off x="2829" y="1435"/>
                <a:ext cx="19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rPr>
                  <a:t>T</a:t>
                </a:r>
              </a:p>
            </p:txBody>
          </p:sp>
          <p:sp>
            <p:nvSpPr>
              <p:cNvPr id="153" name="Text Box 45"/>
              <p:cNvSpPr txBox="1">
                <a:spLocks noChangeArrowheads="1"/>
              </p:cNvSpPr>
              <p:nvPr/>
            </p:nvSpPr>
            <p:spPr bwMode="auto">
              <a:xfrm>
                <a:off x="2751" y="1056"/>
                <a:ext cx="19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rPr>
                  <a:t>C</a:t>
                </a:r>
              </a:p>
            </p:txBody>
          </p:sp>
        </p:grpSp>
        <p:grpSp>
          <p:nvGrpSpPr>
            <p:cNvPr id="6" name="Group 46"/>
            <p:cNvGrpSpPr>
              <a:grpSpLocks/>
            </p:cNvGrpSpPr>
            <p:nvPr/>
          </p:nvGrpSpPr>
          <p:grpSpPr bwMode="auto">
            <a:xfrm>
              <a:off x="2592" y="1152"/>
              <a:ext cx="382" cy="621"/>
              <a:chOff x="2442" y="1228"/>
              <a:chExt cx="382" cy="621"/>
            </a:xfrm>
          </p:grpSpPr>
          <p:grpSp>
            <p:nvGrpSpPr>
              <p:cNvPr id="7" name="Group 47"/>
              <p:cNvGrpSpPr>
                <a:grpSpLocks/>
              </p:cNvGrpSpPr>
              <p:nvPr/>
            </p:nvGrpSpPr>
            <p:grpSpPr bwMode="auto">
              <a:xfrm>
                <a:off x="2442" y="1228"/>
                <a:ext cx="382" cy="566"/>
                <a:chOff x="2439" y="1228"/>
                <a:chExt cx="382" cy="566"/>
              </a:xfrm>
            </p:grpSpPr>
            <p:sp>
              <p:nvSpPr>
                <p:cNvPr id="142" name="Line 48"/>
                <p:cNvSpPr>
                  <a:spLocks noChangeShapeType="1"/>
                </p:cNvSpPr>
                <p:nvPr/>
              </p:nvSpPr>
              <p:spPr bwMode="auto">
                <a:xfrm>
                  <a:off x="2504" y="1539"/>
                  <a:ext cx="1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000">
                    <a:solidFill>
                      <a:schemeClr val="tx1"/>
                    </a:solidFill>
                    <a:cs typeface="Times New Roman" pitchFamily="18" charset="0"/>
                  </a:endParaRPr>
                </a:p>
              </p:txBody>
            </p:sp>
            <p:sp>
              <p:nvSpPr>
                <p:cNvPr id="143" name="Line 49"/>
                <p:cNvSpPr>
                  <a:spLocks noChangeShapeType="1"/>
                </p:cNvSpPr>
                <p:nvPr/>
              </p:nvSpPr>
              <p:spPr bwMode="auto">
                <a:xfrm>
                  <a:off x="2634" y="1454"/>
                  <a:ext cx="0" cy="1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000">
                    <a:solidFill>
                      <a:schemeClr val="tx1"/>
                    </a:solidFill>
                    <a:cs typeface="Times New Roman" pitchFamily="18" charset="0"/>
                  </a:endParaRPr>
                </a:p>
              </p:txBody>
            </p:sp>
            <p:sp>
              <p:nvSpPr>
                <p:cNvPr id="144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2634" y="1426"/>
                  <a:ext cx="163" cy="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000">
                    <a:solidFill>
                      <a:schemeClr val="tx1"/>
                    </a:solidFill>
                    <a:cs typeface="Times New Roman" pitchFamily="18" charset="0"/>
                  </a:endParaRPr>
                </a:p>
              </p:txBody>
            </p:sp>
            <p:sp>
              <p:nvSpPr>
                <p:cNvPr id="145" name="Line 51"/>
                <p:cNvSpPr>
                  <a:spLocks noChangeShapeType="1"/>
                </p:cNvSpPr>
                <p:nvPr/>
              </p:nvSpPr>
              <p:spPr bwMode="auto">
                <a:xfrm>
                  <a:off x="2634" y="1567"/>
                  <a:ext cx="163" cy="5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med" len="med"/>
                </a:ln>
              </p:spPr>
              <p:txBody>
                <a:bodyPr/>
                <a:lstStyle/>
                <a:p>
                  <a:endParaRPr lang="zh-CN" altLang="en-US" sz="2000">
                    <a:solidFill>
                      <a:schemeClr val="tx1"/>
                    </a:solidFill>
                    <a:cs typeface="Times New Roman" pitchFamily="18" charset="0"/>
                  </a:endParaRPr>
                </a:p>
              </p:txBody>
            </p:sp>
            <p:sp>
              <p:nvSpPr>
                <p:cNvPr id="146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2792" y="1620"/>
                  <a:ext cx="0" cy="17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000">
                    <a:solidFill>
                      <a:schemeClr val="tx1"/>
                    </a:solidFill>
                    <a:cs typeface="Times New Roman" pitchFamily="18" charset="0"/>
                  </a:endParaRPr>
                </a:p>
              </p:txBody>
            </p:sp>
            <p:sp>
              <p:nvSpPr>
                <p:cNvPr id="147" name="Line 53"/>
                <p:cNvSpPr>
                  <a:spLocks noChangeShapeType="1"/>
                </p:cNvSpPr>
                <p:nvPr/>
              </p:nvSpPr>
              <p:spPr bwMode="auto">
                <a:xfrm>
                  <a:off x="2797" y="1284"/>
                  <a:ext cx="0" cy="14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000">
                    <a:solidFill>
                      <a:schemeClr val="tx1"/>
                    </a:solidFill>
                    <a:cs typeface="Times New Roman" pitchFamily="18" charset="0"/>
                  </a:endParaRPr>
                </a:p>
              </p:txBody>
            </p:sp>
            <p:sp>
              <p:nvSpPr>
                <p:cNvPr id="148" name="Oval 54"/>
                <p:cNvSpPr>
                  <a:spLocks noChangeArrowheads="1"/>
                </p:cNvSpPr>
                <p:nvPr/>
              </p:nvSpPr>
              <p:spPr bwMode="auto">
                <a:xfrm>
                  <a:off x="2439" y="1510"/>
                  <a:ext cx="57" cy="5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000">
                    <a:solidFill>
                      <a:schemeClr val="tx1"/>
                    </a:solidFill>
                    <a:cs typeface="Times New Roman" pitchFamily="18" charset="0"/>
                  </a:endParaRPr>
                </a:p>
              </p:txBody>
            </p:sp>
            <p:sp>
              <p:nvSpPr>
                <p:cNvPr id="149" name="Oval 55"/>
                <p:cNvSpPr>
                  <a:spLocks noChangeArrowheads="1"/>
                </p:cNvSpPr>
                <p:nvPr/>
              </p:nvSpPr>
              <p:spPr bwMode="auto">
                <a:xfrm>
                  <a:off x="2764" y="1228"/>
                  <a:ext cx="57" cy="56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2000">
                    <a:solidFill>
                      <a:schemeClr val="tx1"/>
                    </a:solidFill>
                    <a:ea typeface="隶书" pitchFamily="49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41" name="Oval 56"/>
              <p:cNvSpPr>
                <a:spLocks noChangeArrowheads="1"/>
              </p:cNvSpPr>
              <p:nvPr/>
            </p:nvSpPr>
            <p:spPr bwMode="auto">
              <a:xfrm>
                <a:off x="2764" y="1793"/>
                <a:ext cx="57" cy="5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>
                  <a:solidFill>
                    <a:schemeClr val="tx1"/>
                  </a:solidFill>
                  <a:cs typeface="Times New Roman" pitchFamily="18" charset="0"/>
                </a:endParaRPr>
              </a:p>
            </p:txBody>
          </p:sp>
        </p:grpSp>
      </p:grpSp>
      <p:sp>
        <p:nvSpPr>
          <p:cNvPr id="97" name="Text Box 4"/>
          <p:cNvSpPr txBox="1">
            <a:spLocks noChangeArrowheads="1"/>
          </p:cNvSpPr>
          <p:nvPr/>
        </p:nvSpPr>
        <p:spPr bwMode="auto">
          <a:xfrm>
            <a:off x="1198795" y="1114523"/>
            <a:ext cx="33942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按内部结构，三极管分为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NPN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型和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PNP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型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4807420" y="367268"/>
            <a:ext cx="2576058" cy="4191000"/>
            <a:chOff x="8726278" y="399925"/>
            <a:chExt cx="2576058" cy="4191000"/>
          </a:xfrm>
        </p:grpSpPr>
        <p:grpSp>
          <p:nvGrpSpPr>
            <p:cNvPr id="171" name="组合 170"/>
            <p:cNvGrpSpPr/>
            <p:nvPr/>
          </p:nvGrpSpPr>
          <p:grpSpPr>
            <a:xfrm>
              <a:off x="8726278" y="399925"/>
              <a:ext cx="2576058" cy="4191000"/>
              <a:chOff x="4608513" y="952500"/>
              <a:chExt cx="2576058" cy="4191000"/>
            </a:xfrm>
          </p:grpSpPr>
          <p:sp>
            <p:nvSpPr>
              <p:cNvPr id="33795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4608513" y="952500"/>
                <a:ext cx="2576058" cy="4191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798" name="Freeform 6"/>
              <p:cNvSpPr>
                <a:spLocks/>
              </p:cNvSpPr>
              <p:nvPr/>
            </p:nvSpPr>
            <p:spPr bwMode="auto">
              <a:xfrm>
                <a:off x="6946901" y="1724025"/>
                <a:ext cx="79375" cy="2728913"/>
              </a:xfrm>
              <a:custGeom>
                <a:avLst/>
                <a:gdLst/>
                <a:ahLst/>
                <a:cxnLst>
                  <a:cxn ang="0">
                    <a:pos x="101" y="6879"/>
                  </a:cxn>
                  <a:cxn ang="0">
                    <a:pos x="201" y="6792"/>
                  </a:cxn>
                  <a:cxn ang="0">
                    <a:pos x="201" y="0"/>
                  </a:cxn>
                  <a:cxn ang="0">
                    <a:pos x="0" y="0"/>
                  </a:cxn>
                  <a:cxn ang="0">
                    <a:pos x="0" y="6792"/>
                  </a:cxn>
                  <a:cxn ang="0">
                    <a:pos x="101" y="6879"/>
                  </a:cxn>
                  <a:cxn ang="0">
                    <a:pos x="101" y="6879"/>
                  </a:cxn>
                  <a:cxn ang="0">
                    <a:pos x="201" y="6879"/>
                  </a:cxn>
                  <a:cxn ang="0">
                    <a:pos x="201" y="6792"/>
                  </a:cxn>
                  <a:cxn ang="0">
                    <a:pos x="101" y="6879"/>
                  </a:cxn>
                </a:cxnLst>
                <a:rect l="0" t="0" r="r" b="b"/>
                <a:pathLst>
                  <a:path w="201" h="6879">
                    <a:moveTo>
                      <a:pt x="101" y="6879"/>
                    </a:moveTo>
                    <a:lnTo>
                      <a:pt x="201" y="6792"/>
                    </a:lnTo>
                    <a:lnTo>
                      <a:pt x="201" y="0"/>
                    </a:lnTo>
                    <a:lnTo>
                      <a:pt x="0" y="0"/>
                    </a:lnTo>
                    <a:lnTo>
                      <a:pt x="0" y="6792"/>
                    </a:lnTo>
                    <a:lnTo>
                      <a:pt x="101" y="6879"/>
                    </a:lnTo>
                    <a:lnTo>
                      <a:pt x="101" y="6879"/>
                    </a:lnTo>
                    <a:lnTo>
                      <a:pt x="201" y="6879"/>
                    </a:lnTo>
                    <a:lnTo>
                      <a:pt x="201" y="6792"/>
                    </a:lnTo>
                    <a:lnTo>
                      <a:pt x="101" y="6879"/>
                    </a:lnTo>
                    <a:close/>
                  </a:path>
                </a:pathLst>
              </a:custGeom>
              <a:solidFill>
                <a:srgbClr val="00A6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797" name="Freeform 5"/>
              <p:cNvSpPr>
                <a:spLocks/>
              </p:cNvSpPr>
              <p:nvPr/>
            </p:nvSpPr>
            <p:spPr bwMode="auto">
              <a:xfrm>
                <a:off x="5418138" y="1689100"/>
                <a:ext cx="1608138" cy="69850"/>
              </a:xfrm>
              <a:custGeom>
                <a:avLst/>
                <a:gdLst/>
                <a:ahLst/>
                <a:cxnLst>
                  <a:cxn ang="0">
                    <a:pos x="4051" y="86"/>
                  </a:cxn>
                  <a:cxn ang="0">
                    <a:pos x="3951" y="0"/>
                  </a:cxn>
                  <a:cxn ang="0">
                    <a:pos x="0" y="0"/>
                  </a:cxn>
                  <a:cxn ang="0">
                    <a:pos x="0" y="173"/>
                  </a:cxn>
                  <a:cxn ang="0">
                    <a:pos x="3951" y="173"/>
                  </a:cxn>
                  <a:cxn ang="0">
                    <a:pos x="4051" y="86"/>
                  </a:cxn>
                  <a:cxn ang="0">
                    <a:pos x="4051" y="86"/>
                  </a:cxn>
                  <a:cxn ang="0">
                    <a:pos x="4051" y="0"/>
                  </a:cxn>
                  <a:cxn ang="0">
                    <a:pos x="3951" y="0"/>
                  </a:cxn>
                  <a:cxn ang="0">
                    <a:pos x="4051" y="86"/>
                  </a:cxn>
                </a:cxnLst>
                <a:rect l="0" t="0" r="r" b="b"/>
                <a:pathLst>
                  <a:path w="4051" h="173">
                    <a:moveTo>
                      <a:pt x="4051" y="86"/>
                    </a:moveTo>
                    <a:lnTo>
                      <a:pt x="3951" y="0"/>
                    </a:lnTo>
                    <a:lnTo>
                      <a:pt x="0" y="0"/>
                    </a:lnTo>
                    <a:lnTo>
                      <a:pt x="0" y="173"/>
                    </a:lnTo>
                    <a:lnTo>
                      <a:pt x="3951" y="173"/>
                    </a:lnTo>
                    <a:lnTo>
                      <a:pt x="4051" y="86"/>
                    </a:lnTo>
                    <a:lnTo>
                      <a:pt x="4051" y="86"/>
                    </a:lnTo>
                    <a:lnTo>
                      <a:pt x="4051" y="0"/>
                    </a:lnTo>
                    <a:lnTo>
                      <a:pt x="3951" y="0"/>
                    </a:lnTo>
                    <a:lnTo>
                      <a:pt x="4051" y="86"/>
                    </a:lnTo>
                    <a:close/>
                  </a:path>
                </a:pathLst>
              </a:custGeom>
              <a:solidFill>
                <a:srgbClr val="00A6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799" name="Freeform 7"/>
              <p:cNvSpPr>
                <a:spLocks/>
              </p:cNvSpPr>
              <p:nvPr/>
            </p:nvSpPr>
            <p:spPr bwMode="auto">
              <a:xfrm>
                <a:off x="5378451" y="4384675"/>
                <a:ext cx="1608138" cy="68263"/>
              </a:xfrm>
              <a:custGeom>
                <a:avLst/>
                <a:gdLst/>
                <a:ahLst/>
                <a:cxnLst>
                  <a:cxn ang="0">
                    <a:pos x="0" y="87"/>
                  </a:cxn>
                  <a:cxn ang="0">
                    <a:pos x="101" y="174"/>
                  </a:cxn>
                  <a:cxn ang="0">
                    <a:pos x="4052" y="174"/>
                  </a:cxn>
                  <a:cxn ang="0">
                    <a:pos x="4052" y="0"/>
                  </a:cxn>
                  <a:cxn ang="0">
                    <a:pos x="101" y="0"/>
                  </a:cxn>
                  <a:cxn ang="0">
                    <a:pos x="0" y="87"/>
                  </a:cxn>
                  <a:cxn ang="0">
                    <a:pos x="0" y="87"/>
                  </a:cxn>
                  <a:cxn ang="0">
                    <a:pos x="0" y="174"/>
                  </a:cxn>
                  <a:cxn ang="0">
                    <a:pos x="101" y="174"/>
                  </a:cxn>
                  <a:cxn ang="0">
                    <a:pos x="0" y="87"/>
                  </a:cxn>
                </a:cxnLst>
                <a:rect l="0" t="0" r="r" b="b"/>
                <a:pathLst>
                  <a:path w="4052" h="174">
                    <a:moveTo>
                      <a:pt x="0" y="87"/>
                    </a:moveTo>
                    <a:lnTo>
                      <a:pt x="101" y="174"/>
                    </a:lnTo>
                    <a:lnTo>
                      <a:pt x="4052" y="174"/>
                    </a:lnTo>
                    <a:lnTo>
                      <a:pt x="4052" y="0"/>
                    </a:lnTo>
                    <a:lnTo>
                      <a:pt x="101" y="0"/>
                    </a:lnTo>
                    <a:lnTo>
                      <a:pt x="0" y="87"/>
                    </a:lnTo>
                    <a:lnTo>
                      <a:pt x="0" y="87"/>
                    </a:lnTo>
                    <a:lnTo>
                      <a:pt x="0" y="174"/>
                    </a:lnTo>
                    <a:lnTo>
                      <a:pt x="101" y="174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00A6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00" name="Freeform 8"/>
              <p:cNvSpPr>
                <a:spLocks/>
              </p:cNvSpPr>
              <p:nvPr/>
            </p:nvSpPr>
            <p:spPr bwMode="auto">
              <a:xfrm>
                <a:off x="5378451" y="1689100"/>
                <a:ext cx="80963" cy="2730500"/>
              </a:xfrm>
              <a:custGeom>
                <a:avLst/>
                <a:gdLst/>
                <a:ahLst/>
                <a:cxnLst>
                  <a:cxn ang="0">
                    <a:pos x="101" y="0"/>
                  </a:cxn>
                  <a:cxn ang="0">
                    <a:pos x="0" y="86"/>
                  </a:cxn>
                  <a:cxn ang="0">
                    <a:pos x="0" y="6878"/>
                  </a:cxn>
                  <a:cxn ang="0">
                    <a:pos x="202" y="6878"/>
                  </a:cxn>
                  <a:cxn ang="0">
                    <a:pos x="202" y="86"/>
                  </a:cxn>
                  <a:cxn ang="0">
                    <a:pos x="101" y="0"/>
                  </a:cxn>
                  <a:cxn ang="0">
                    <a:pos x="101" y="0"/>
                  </a:cxn>
                  <a:cxn ang="0">
                    <a:pos x="0" y="0"/>
                  </a:cxn>
                  <a:cxn ang="0">
                    <a:pos x="0" y="86"/>
                  </a:cxn>
                  <a:cxn ang="0">
                    <a:pos x="101" y="0"/>
                  </a:cxn>
                </a:cxnLst>
                <a:rect l="0" t="0" r="r" b="b"/>
                <a:pathLst>
                  <a:path w="202" h="6878">
                    <a:moveTo>
                      <a:pt x="101" y="0"/>
                    </a:moveTo>
                    <a:lnTo>
                      <a:pt x="0" y="86"/>
                    </a:lnTo>
                    <a:lnTo>
                      <a:pt x="0" y="6878"/>
                    </a:lnTo>
                    <a:lnTo>
                      <a:pt x="202" y="6878"/>
                    </a:lnTo>
                    <a:lnTo>
                      <a:pt x="202" y="86"/>
                    </a:lnTo>
                    <a:lnTo>
                      <a:pt x="101" y="0"/>
                    </a:lnTo>
                    <a:lnTo>
                      <a:pt x="101" y="0"/>
                    </a:lnTo>
                    <a:lnTo>
                      <a:pt x="0" y="0"/>
                    </a:lnTo>
                    <a:lnTo>
                      <a:pt x="0" y="86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00A6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01" name="Rectangle 9"/>
              <p:cNvSpPr>
                <a:spLocks noChangeArrowheads="1"/>
              </p:cNvSpPr>
              <p:nvPr/>
            </p:nvSpPr>
            <p:spPr bwMode="auto">
              <a:xfrm>
                <a:off x="5746751" y="1536700"/>
                <a:ext cx="849313" cy="160338"/>
              </a:xfrm>
              <a:prstGeom prst="rect">
                <a:avLst/>
              </a:prstGeom>
              <a:solidFill>
                <a:srgbClr val="AACDD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03" name="Rectangle 11"/>
              <p:cNvSpPr>
                <a:spLocks noChangeArrowheads="1"/>
              </p:cNvSpPr>
              <p:nvPr/>
            </p:nvSpPr>
            <p:spPr bwMode="auto">
              <a:xfrm>
                <a:off x="5418138" y="2495550"/>
                <a:ext cx="1568450" cy="242888"/>
              </a:xfrm>
              <a:prstGeom prst="rect">
                <a:avLst/>
              </a:prstGeom>
              <a:solidFill>
                <a:srgbClr val="EBA97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04" name="Freeform 12"/>
              <p:cNvSpPr>
                <a:spLocks/>
              </p:cNvSpPr>
              <p:nvPr/>
            </p:nvSpPr>
            <p:spPr bwMode="auto">
              <a:xfrm>
                <a:off x="5418138" y="2460625"/>
                <a:ext cx="1608138" cy="69850"/>
              </a:xfrm>
              <a:custGeom>
                <a:avLst/>
                <a:gdLst/>
                <a:ahLst/>
                <a:cxnLst>
                  <a:cxn ang="0">
                    <a:pos x="4051" y="87"/>
                  </a:cxn>
                  <a:cxn ang="0">
                    <a:pos x="3951" y="0"/>
                  </a:cxn>
                  <a:cxn ang="0">
                    <a:pos x="0" y="0"/>
                  </a:cxn>
                  <a:cxn ang="0">
                    <a:pos x="0" y="174"/>
                  </a:cxn>
                  <a:cxn ang="0">
                    <a:pos x="3951" y="174"/>
                  </a:cxn>
                  <a:cxn ang="0">
                    <a:pos x="4051" y="87"/>
                  </a:cxn>
                  <a:cxn ang="0">
                    <a:pos x="4051" y="87"/>
                  </a:cxn>
                  <a:cxn ang="0">
                    <a:pos x="4051" y="0"/>
                  </a:cxn>
                  <a:cxn ang="0">
                    <a:pos x="3951" y="0"/>
                  </a:cxn>
                  <a:cxn ang="0">
                    <a:pos x="4051" y="87"/>
                  </a:cxn>
                </a:cxnLst>
                <a:rect l="0" t="0" r="r" b="b"/>
                <a:pathLst>
                  <a:path w="4051" h="174">
                    <a:moveTo>
                      <a:pt x="4051" y="87"/>
                    </a:moveTo>
                    <a:lnTo>
                      <a:pt x="3951" y="0"/>
                    </a:lnTo>
                    <a:lnTo>
                      <a:pt x="0" y="0"/>
                    </a:lnTo>
                    <a:lnTo>
                      <a:pt x="0" y="174"/>
                    </a:lnTo>
                    <a:lnTo>
                      <a:pt x="3951" y="174"/>
                    </a:lnTo>
                    <a:lnTo>
                      <a:pt x="4051" y="87"/>
                    </a:lnTo>
                    <a:lnTo>
                      <a:pt x="4051" y="87"/>
                    </a:lnTo>
                    <a:lnTo>
                      <a:pt x="4051" y="0"/>
                    </a:lnTo>
                    <a:lnTo>
                      <a:pt x="3951" y="0"/>
                    </a:lnTo>
                    <a:lnTo>
                      <a:pt x="4051" y="87"/>
                    </a:lnTo>
                    <a:close/>
                  </a:path>
                </a:pathLst>
              </a:custGeom>
              <a:solidFill>
                <a:srgbClr val="E47F5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05" name="Freeform 13"/>
              <p:cNvSpPr>
                <a:spLocks/>
              </p:cNvSpPr>
              <p:nvPr/>
            </p:nvSpPr>
            <p:spPr bwMode="auto">
              <a:xfrm>
                <a:off x="6946901" y="2495550"/>
                <a:ext cx="79375" cy="277813"/>
              </a:xfrm>
              <a:custGeom>
                <a:avLst/>
                <a:gdLst/>
                <a:ahLst/>
                <a:cxnLst>
                  <a:cxn ang="0">
                    <a:pos x="101" y="700"/>
                  </a:cxn>
                  <a:cxn ang="0">
                    <a:pos x="201" y="613"/>
                  </a:cxn>
                  <a:cxn ang="0">
                    <a:pos x="201" y="0"/>
                  </a:cxn>
                  <a:cxn ang="0">
                    <a:pos x="0" y="0"/>
                  </a:cxn>
                  <a:cxn ang="0">
                    <a:pos x="0" y="613"/>
                  </a:cxn>
                  <a:cxn ang="0">
                    <a:pos x="101" y="700"/>
                  </a:cxn>
                  <a:cxn ang="0">
                    <a:pos x="101" y="700"/>
                  </a:cxn>
                  <a:cxn ang="0">
                    <a:pos x="201" y="700"/>
                  </a:cxn>
                  <a:cxn ang="0">
                    <a:pos x="201" y="613"/>
                  </a:cxn>
                  <a:cxn ang="0">
                    <a:pos x="101" y="700"/>
                  </a:cxn>
                </a:cxnLst>
                <a:rect l="0" t="0" r="r" b="b"/>
                <a:pathLst>
                  <a:path w="201" h="700">
                    <a:moveTo>
                      <a:pt x="101" y="700"/>
                    </a:moveTo>
                    <a:lnTo>
                      <a:pt x="201" y="613"/>
                    </a:lnTo>
                    <a:lnTo>
                      <a:pt x="201" y="0"/>
                    </a:lnTo>
                    <a:lnTo>
                      <a:pt x="0" y="0"/>
                    </a:lnTo>
                    <a:lnTo>
                      <a:pt x="0" y="613"/>
                    </a:lnTo>
                    <a:lnTo>
                      <a:pt x="101" y="700"/>
                    </a:lnTo>
                    <a:lnTo>
                      <a:pt x="101" y="700"/>
                    </a:lnTo>
                    <a:lnTo>
                      <a:pt x="201" y="700"/>
                    </a:lnTo>
                    <a:lnTo>
                      <a:pt x="201" y="613"/>
                    </a:lnTo>
                    <a:lnTo>
                      <a:pt x="101" y="700"/>
                    </a:lnTo>
                    <a:close/>
                  </a:path>
                </a:pathLst>
              </a:custGeom>
              <a:solidFill>
                <a:srgbClr val="E47F5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06" name="Freeform 14"/>
              <p:cNvSpPr>
                <a:spLocks/>
              </p:cNvSpPr>
              <p:nvPr/>
            </p:nvSpPr>
            <p:spPr bwMode="auto">
              <a:xfrm>
                <a:off x="5378451" y="2705100"/>
                <a:ext cx="1608138" cy="68263"/>
              </a:xfrm>
              <a:custGeom>
                <a:avLst/>
                <a:gdLst/>
                <a:ahLst/>
                <a:cxnLst>
                  <a:cxn ang="0">
                    <a:pos x="0" y="87"/>
                  </a:cxn>
                  <a:cxn ang="0">
                    <a:pos x="101" y="174"/>
                  </a:cxn>
                  <a:cxn ang="0">
                    <a:pos x="4052" y="174"/>
                  </a:cxn>
                  <a:cxn ang="0">
                    <a:pos x="4052" y="0"/>
                  </a:cxn>
                  <a:cxn ang="0">
                    <a:pos x="101" y="0"/>
                  </a:cxn>
                  <a:cxn ang="0">
                    <a:pos x="0" y="87"/>
                  </a:cxn>
                  <a:cxn ang="0">
                    <a:pos x="0" y="87"/>
                  </a:cxn>
                  <a:cxn ang="0">
                    <a:pos x="0" y="174"/>
                  </a:cxn>
                  <a:cxn ang="0">
                    <a:pos x="101" y="174"/>
                  </a:cxn>
                  <a:cxn ang="0">
                    <a:pos x="0" y="87"/>
                  </a:cxn>
                </a:cxnLst>
                <a:rect l="0" t="0" r="r" b="b"/>
                <a:pathLst>
                  <a:path w="4052" h="174">
                    <a:moveTo>
                      <a:pt x="0" y="87"/>
                    </a:moveTo>
                    <a:lnTo>
                      <a:pt x="101" y="174"/>
                    </a:lnTo>
                    <a:lnTo>
                      <a:pt x="4052" y="174"/>
                    </a:lnTo>
                    <a:lnTo>
                      <a:pt x="4052" y="0"/>
                    </a:lnTo>
                    <a:lnTo>
                      <a:pt x="101" y="0"/>
                    </a:lnTo>
                    <a:lnTo>
                      <a:pt x="0" y="87"/>
                    </a:lnTo>
                    <a:lnTo>
                      <a:pt x="0" y="87"/>
                    </a:lnTo>
                    <a:lnTo>
                      <a:pt x="0" y="174"/>
                    </a:lnTo>
                    <a:lnTo>
                      <a:pt x="101" y="174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E47F5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07" name="Freeform 15"/>
              <p:cNvSpPr>
                <a:spLocks/>
              </p:cNvSpPr>
              <p:nvPr/>
            </p:nvSpPr>
            <p:spPr bwMode="auto">
              <a:xfrm>
                <a:off x="5378451" y="2460625"/>
                <a:ext cx="80963" cy="277813"/>
              </a:xfrm>
              <a:custGeom>
                <a:avLst/>
                <a:gdLst/>
                <a:ahLst/>
                <a:cxnLst>
                  <a:cxn ang="0">
                    <a:pos x="101" y="0"/>
                  </a:cxn>
                  <a:cxn ang="0">
                    <a:pos x="0" y="87"/>
                  </a:cxn>
                  <a:cxn ang="0">
                    <a:pos x="0" y="700"/>
                  </a:cxn>
                  <a:cxn ang="0">
                    <a:pos x="202" y="700"/>
                  </a:cxn>
                  <a:cxn ang="0">
                    <a:pos x="202" y="87"/>
                  </a:cxn>
                  <a:cxn ang="0">
                    <a:pos x="101" y="0"/>
                  </a:cxn>
                  <a:cxn ang="0">
                    <a:pos x="101" y="0"/>
                  </a:cxn>
                  <a:cxn ang="0">
                    <a:pos x="0" y="0"/>
                  </a:cxn>
                  <a:cxn ang="0">
                    <a:pos x="0" y="87"/>
                  </a:cxn>
                  <a:cxn ang="0">
                    <a:pos x="101" y="0"/>
                  </a:cxn>
                </a:cxnLst>
                <a:rect l="0" t="0" r="r" b="b"/>
                <a:pathLst>
                  <a:path w="202" h="700">
                    <a:moveTo>
                      <a:pt x="101" y="0"/>
                    </a:moveTo>
                    <a:lnTo>
                      <a:pt x="0" y="87"/>
                    </a:lnTo>
                    <a:lnTo>
                      <a:pt x="0" y="700"/>
                    </a:lnTo>
                    <a:lnTo>
                      <a:pt x="202" y="700"/>
                    </a:lnTo>
                    <a:lnTo>
                      <a:pt x="202" y="87"/>
                    </a:lnTo>
                    <a:lnTo>
                      <a:pt x="101" y="0"/>
                    </a:lnTo>
                    <a:lnTo>
                      <a:pt x="101" y="0"/>
                    </a:lnTo>
                    <a:lnTo>
                      <a:pt x="0" y="0"/>
                    </a:lnTo>
                    <a:lnTo>
                      <a:pt x="0" y="8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E47F5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13" name="Freeform 21"/>
              <p:cNvSpPr>
                <a:spLocks/>
              </p:cNvSpPr>
              <p:nvPr/>
            </p:nvSpPr>
            <p:spPr bwMode="auto">
              <a:xfrm>
                <a:off x="4830763" y="2998788"/>
                <a:ext cx="392113" cy="69850"/>
              </a:xfrm>
              <a:custGeom>
                <a:avLst/>
                <a:gdLst/>
                <a:ahLst/>
                <a:cxnLst>
                  <a:cxn ang="0">
                    <a:pos x="988" y="86"/>
                  </a:cxn>
                  <a:cxn ang="0">
                    <a:pos x="987" y="0"/>
                  </a:cxn>
                  <a:cxn ang="0">
                    <a:pos x="973" y="0"/>
                  </a:cxn>
                  <a:cxn ang="0">
                    <a:pos x="936" y="0"/>
                  </a:cxn>
                  <a:cxn ang="0">
                    <a:pos x="865" y="0"/>
                  </a:cxn>
                  <a:cxn ang="0">
                    <a:pos x="747" y="0"/>
                  </a:cxn>
                  <a:cxn ang="0">
                    <a:pos x="571" y="0"/>
                  </a:cxn>
                  <a:cxn ang="0">
                    <a:pos x="327" y="0"/>
                  </a:cxn>
                  <a:cxn ang="0">
                    <a:pos x="0" y="0"/>
                  </a:cxn>
                  <a:cxn ang="0">
                    <a:pos x="0" y="174"/>
                  </a:cxn>
                  <a:cxn ang="0">
                    <a:pos x="327" y="174"/>
                  </a:cxn>
                  <a:cxn ang="0">
                    <a:pos x="571" y="174"/>
                  </a:cxn>
                  <a:cxn ang="0">
                    <a:pos x="747" y="174"/>
                  </a:cxn>
                  <a:cxn ang="0">
                    <a:pos x="865" y="174"/>
                  </a:cxn>
                  <a:cxn ang="0">
                    <a:pos x="936" y="174"/>
                  </a:cxn>
                  <a:cxn ang="0">
                    <a:pos x="973" y="174"/>
                  </a:cxn>
                  <a:cxn ang="0">
                    <a:pos x="987" y="174"/>
                  </a:cxn>
                  <a:cxn ang="0">
                    <a:pos x="988" y="86"/>
                  </a:cxn>
                </a:cxnLst>
                <a:rect l="0" t="0" r="r" b="b"/>
                <a:pathLst>
                  <a:path w="988" h="174">
                    <a:moveTo>
                      <a:pt x="988" y="86"/>
                    </a:moveTo>
                    <a:lnTo>
                      <a:pt x="987" y="0"/>
                    </a:lnTo>
                    <a:lnTo>
                      <a:pt x="973" y="0"/>
                    </a:lnTo>
                    <a:lnTo>
                      <a:pt x="936" y="0"/>
                    </a:lnTo>
                    <a:lnTo>
                      <a:pt x="865" y="0"/>
                    </a:lnTo>
                    <a:lnTo>
                      <a:pt x="747" y="0"/>
                    </a:lnTo>
                    <a:lnTo>
                      <a:pt x="571" y="0"/>
                    </a:lnTo>
                    <a:lnTo>
                      <a:pt x="327" y="0"/>
                    </a:lnTo>
                    <a:lnTo>
                      <a:pt x="0" y="0"/>
                    </a:lnTo>
                    <a:lnTo>
                      <a:pt x="0" y="174"/>
                    </a:lnTo>
                    <a:lnTo>
                      <a:pt x="327" y="174"/>
                    </a:lnTo>
                    <a:lnTo>
                      <a:pt x="571" y="174"/>
                    </a:lnTo>
                    <a:lnTo>
                      <a:pt x="747" y="174"/>
                    </a:lnTo>
                    <a:lnTo>
                      <a:pt x="865" y="174"/>
                    </a:lnTo>
                    <a:lnTo>
                      <a:pt x="936" y="174"/>
                    </a:lnTo>
                    <a:lnTo>
                      <a:pt x="973" y="174"/>
                    </a:lnTo>
                    <a:lnTo>
                      <a:pt x="987" y="174"/>
                    </a:lnTo>
                    <a:lnTo>
                      <a:pt x="988" y="86"/>
                    </a:lnTo>
                    <a:close/>
                  </a:path>
                </a:pathLst>
              </a:custGeom>
              <a:solidFill>
                <a:srgbClr val="0DAA3B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18" name="Freeform 26"/>
              <p:cNvSpPr>
                <a:spLocks/>
              </p:cNvSpPr>
              <p:nvPr/>
            </p:nvSpPr>
            <p:spPr bwMode="auto">
              <a:xfrm>
                <a:off x="6162676" y="1143000"/>
                <a:ext cx="79375" cy="393700"/>
              </a:xfrm>
              <a:custGeom>
                <a:avLst/>
                <a:gdLst/>
                <a:ahLst/>
                <a:cxnLst>
                  <a:cxn ang="0">
                    <a:pos x="100" y="991"/>
                  </a:cxn>
                  <a:cxn ang="0">
                    <a:pos x="201" y="989"/>
                  </a:cxn>
                  <a:cxn ang="0">
                    <a:pos x="201" y="976"/>
                  </a:cxn>
                  <a:cxn ang="0">
                    <a:pos x="201" y="938"/>
                  </a:cxn>
                  <a:cxn ang="0">
                    <a:pos x="201" y="867"/>
                  </a:cxn>
                  <a:cxn ang="0">
                    <a:pos x="201" y="749"/>
                  </a:cxn>
                  <a:cxn ang="0">
                    <a:pos x="201" y="573"/>
                  </a:cxn>
                  <a:cxn ang="0">
                    <a:pos x="201" y="327"/>
                  </a:cxn>
                  <a:cxn ang="0">
                    <a:pos x="201" y="0"/>
                  </a:cxn>
                  <a:cxn ang="0">
                    <a:pos x="0" y="0"/>
                  </a:cxn>
                  <a:cxn ang="0">
                    <a:pos x="0" y="327"/>
                  </a:cxn>
                  <a:cxn ang="0">
                    <a:pos x="0" y="573"/>
                  </a:cxn>
                  <a:cxn ang="0">
                    <a:pos x="0" y="749"/>
                  </a:cxn>
                  <a:cxn ang="0">
                    <a:pos x="0" y="867"/>
                  </a:cxn>
                  <a:cxn ang="0">
                    <a:pos x="0" y="938"/>
                  </a:cxn>
                  <a:cxn ang="0">
                    <a:pos x="0" y="976"/>
                  </a:cxn>
                  <a:cxn ang="0">
                    <a:pos x="0" y="989"/>
                  </a:cxn>
                  <a:cxn ang="0">
                    <a:pos x="100" y="991"/>
                  </a:cxn>
                </a:cxnLst>
                <a:rect l="0" t="0" r="r" b="b"/>
                <a:pathLst>
                  <a:path w="201" h="991">
                    <a:moveTo>
                      <a:pt x="100" y="991"/>
                    </a:moveTo>
                    <a:lnTo>
                      <a:pt x="201" y="989"/>
                    </a:lnTo>
                    <a:lnTo>
                      <a:pt x="201" y="976"/>
                    </a:lnTo>
                    <a:lnTo>
                      <a:pt x="201" y="938"/>
                    </a:lnTo>
                    <a:lnTo>
                      <a:pt x="201" y="867"/>
                    </a:lnTo>
                    <a:lnTo>
                      <a:pt x="201" y="749"/>
                    </a:lnTo>
                    <a:lnTo>
                      <a:pt x="201" y="573"/>
                    </a:lnTo>
                    <a:lnTo>
                      <a:pt x="201" y="327"/>
                    </a:lnTo>
                    <a:lnTo>
                      <a:pt x="201" y="0"/>
                    </a:lnTo>
                    <a:lnTo>
                      <a:pt x="0" y="0"/>
                    </a:lnTo>
                    <a:lnTo>
                      <a:pt x="0" y="327"/>
                    </a:lnTo>
                    <a:lnTo>
                      <a:pt x="0" y="573"/>
                    </a:lnTo>
                    <a:lnTo>
                      <a:pt x="0" y="749"/>
                    </a:lnTo>
                    <a:lnTo>
                      <a:pt x="0" y="867"/>
                    </a:lnTo>
                    <a:lnTo>
                      <a:pt x="0" y="938"/>
                    </a:lnTo>
                    <a:lnTo>
                      <a:pt x="0" y="976"/>
                    </a:lnTo>
                    <a:lnTo>
                      <a:pt x="0" y="989"/>
                    </a:lnTo>
                    <a:lnTo>
                      <a:pt x="100" y="991"/>
                    </a:lnTo>
                    <a:close/>
                  </a:path>
                </a:pathLst>
              </a:custGeom>
              <a:solidFill>
                <a:srgbClr val="00A6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19" name="Freeform 27"/>
              <p:cNvSpPr>
                <a:spLocks/>
              </p:cNvSpPr>
              <p:nvPr/>
            </p:nvSpPr>
            <p:spPr bwMode="auto">
              <a:xfrm>
                <a:off x="6167438" y="4549775"/>
                <a:ext cx="79375" cy="393700"/>
              </a:xfrm>
              <a:custGeom>
                <a:avLst/>
                <a:gdLst/>
                <a:ahLst/>
                <a:cxnLst>
                  <a:cxn ang="0">
                    <a:pos x="100" y="991"/>
                  </a:cxn>
                  <a:cxn ang="0">
                    <a:pos x="201" y="989"/>
                  </a:cxn>
                  <a:cxn ang="0">
                    <a:pos x="201" y="976"/>
                  </a:cxn>
                  <a:cxn ang="0">
                    <a:pos x="201" y="939"/>
                  </a:cxn>
                  <a:cxn ang="0">
                    <a:pos x="201" y="868"/>
                  </a:cxn>
                  <a:cxn ang="0">
                    <a:pos x="201" y="749"/>
                  </a:cxn>
                  <a:cxn ang="0">
                    <a:pos x="201" y="572"/>
                  </a:cxn>
                  <a:cxn ang="0">
                    <a:pos x="201" y="327"/>
                  </a:cxn>
                  <a:cxn ang="0">
                    <a:pos x="201" y="0"/>
                  </a:cxn>
                  <a:cxn ang="0">
                    <a:pos x="0" y="0"/>
                  </a:cxn>
                  <a:cxn ang="0">
                    <a:pos x="0" y="327"/>
                  </a:cxn>
                  <a:cxn ang="0">
                    <a:pos x="0" y="572"/>
                  </a:cxn>
                  <a:cxn ang="0">
                    <a:pos x="0" y="749"/>
                  </a:cxn>
                  <a:cxn ang="0">
                    <a:pos x="0" y="868"/>
                  </a:cxn>
                  <a:cxn ang="0">
                    <a:pos x="0" y="939"/>
                  </a:cxn>
                  <a:cxn ang="0">
                    <a:pos x="0" y="976"/>
                  </a:cxn>
                  <a:cxn ang="0">
                    <a:pos x="0" y="989"/>
                  </a:cxn>
                  <a:cxn ang="0">
                    <a:pos x="100" y="991"/>
                  </a:cxn>
                </a:cxnLst>
                <a:rect l="0" t="0" r="r" b="b"/>
                <a:pathLst>
                  <a:path w="201" h="991">
                    <a:moveTo>
                      <a:pt x="100" y="991"/>
                    </a:moveTo>
                    <a:lnTo>
                      <a:pt x="201" y="989"/>
                    </a:lnTo>
                    <a:lnTo>
                      <a:pt x="201" y="976"/>
                    </a:lnTo>
                    <a:lnTo>
                      <a:pt x="201" y="939"/>
                    </a:lnTo>
                    <a:lnTo>
                      <a:pt x="201" y="868"/>
                    </a:lnTo>
                    <a:lnTo>
                      <a:pt x="201" y="749"/>
                    </a:lnTo>
                    <a:lnTo>
                      <a:pt x="201" y="572"/>
                    </a:lnTo>
                    <a:lnTo>
                      <a:pt x="201" y="327"/>
                    </a:lnTo>
                    <a:lnTo>
                      <a:pt x="201" y="0"/>
                    </a:lnTo>
                    <a:lnTo>
                      <a:pt x="0" y="0"/>
                    </a:lnTo>
                    <a:lnTo>
                      <a:pt x="0" y="327"/>
                    </a:lnTo>
                    <a:lnTo>
                      <a:pt x="0" y="572"/>
                    </a:lnTo>
                    <a:lnTo>
                      <a:pt x="0" y="749"/>
                    </a:lnTo>
                    <a:lnTo>
                      <a:pt x="0" y="868"/>
                    </a:lnTo>
                    <a:lnTo>
                      <a:pt x="0" y="939"/>
                    </a:lnTo>
                    <a:lnTo>
                      <a:pt x="0" y="976"/>
                    </a:lnTo>
                    <a:lnTo>
                      <a:pt x="0" y="989"/>
                    </a:lnTo>
                    <a:lnTo>
                      <a:pt x="100" y="991"/>
                    </a:lnTo>
                    <a:close/>
                  </a:path>
                </a:pathLst>
              </a:custGeom>
              <a:solidFill>
                <a:srgbClr val="00A7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24" name="Freeform 32"/>
              <p:cNvSpPr>
                <a:spLocks/>
              </p:cNvSpPr>
              <p:nvPr/>
            </p:nvSpPr>
            <p:spPr bwMode="auto">
              <a:xfrm>
                <a:off x="5657851" y="2497138"/>
                <a:ext cx="217488" cy="225425"/>
              </a:xfrm>
              <a:custGeom>
                <a:avLst/>
                <a:gdLst/>
                <a:ahLst/>
                <a:cxnLst>
                  <a:cxn ang="0">
                    <a:pos x="0" y="566"/>
                  </a:cxn>
                  <a:cxn ang="0">
                    <a:pos x="182" y="380"/>
                  </a:cxn>
                  <a:cxn ang="0">
                    <a:pos x="317" y="238"/>
                  </a:cxn>
                  <a:cxn ang="0">
                    <a:pos x="414" y="138"/>
                  </a:cxn>
                  <a:cxn ang="0">
                    <a:pos x="480" y="71"/>
                  </a:cxn>
                  <a:cxn ang="0">
                    <a:pos x="520" y="30"/>
                  </a:cxn>
                  <a:cxn ang="0">
                    <a:pos x="540" y="9"/>
                  </a:cxn>
                  <a:cxn ang="0">
                    <a:pos x="548" y="1"/>
                  </a:cxn>
                  <a:cxn ang="0">
                    <a:pos x="549" y="0"/>
                  </a:cxn>
                </a:cxnLst>
                <a:rect l="0" t="0" r="r" b="b"/>
                <a:pathLst>
                  <a:path w="549" h="566">
                    <a:moveTo>
                      <a:pt x="0" y="566"/>
                    </a:moveTo>
                    <a:lnTo>
                      <a:pt x="182" y="380"/>
                    </a:lnTo>
                    <a:lnTo>
                      <a:pt x="317" y="238"/>
                    </a:lnTo>
                    <a:lnTo>
                      <a:pt x="414" y="138"/>
                    </a:lnTo>
                    <a:lnTo>
                      <a:pt x="480" y="71"/>
                    </a:lnTo>
                    <a:lnTo>
                      <a:pt x="520" y="30"/>
                    </a:lnTo>
                    <a:lnTo>
                      <a:pt x="540" y="9"/>
                    </a:lnTo>
                    <a:lnTo>
                      <a:pt x="548" y="1"/>
                    </a:lnTo>
                    <a:lnTo>
                      <a:pt x="549" y="0"/>
                    </a:lnTo>
                  </a:path>
                </a:pathLst>
              </a:custGeom>
              <a:noFill/>
              <a:ln w="2">
                <a:solidFill>
                  <a:srgbClr val="E47F5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25" name="Freeform 33"/>
              <p:cNvSpPr>
                <a:spLocks/>
              </p:cNvSpPr>
              <p:nvPr/>
            </p:nvSpPr>
            <p:spPr bwMode="auto">
              <a:xfrm>
                <a:off x="5873751" y="2497138"/>
                <a:ext cx="217488" cy="225425"/>
              </a:xfrm>
              <a:custGeom>
                <a:avLst/>
                <a:gdLst/>
                <a:ahLst/>
                <a:cxnLst>
                  <a:cxn ang="0">
                    <a:pos x="0" y="566"/>
                  </a:cxn>
                  <a:cxn ang="0">
                    <a:pos x="182" y="380"/>
                  </a:cxn>
                  <a:cxn ang="0">
                    <a:pos x="317" y="238"/>
                  </a:cxn>
                  <a:cxn ang="0">
                    <a:pos x="414" y="138"/>
                  </a:cxn>
                  <a:cxn ang="0">
                    <a:pos x="480" y="71"/>
                  </a:cxn>
                  <a:cxn ang="0">
                    <a:pos x="520" y="30"/>
                  </a:cxn>
                  <a:cxn ang="0">
                    <a:pos x="540" y="9"/>
                  </a:cxn>
                  <a:cxn ang="0">
                    <a:pos x="548" y="1"/>
                  </a:cxn>
                  <a:cxn ang="0">
                    <a:pos x="549" y="0"/>
                  </a:cxn>
                </a:cxnLst>
                <a:rect l="0" t="0" r="r" b="b"/>
                <a:pathLst>
                  <a:path w="549" h="566">
                    <a:moveTo>
                      <a:pt x="0" y="566"/>
                    </a:moveTo>
                    <a:lnTo>
                      <a:pt x="182" y="380"/>
                    </a:lnTo>
                    <a:lnTo>
                      <a:pt x="317" y="238"/>
                    </a:lnTo>
                    <a:lnTo>
                      <a:pt x="414" y="138"/>
                    </a:lnTo>
                    <a:lnTo>
                      <a:pt x="480" y="71"/>
                    </a:lnTo>
                    <a:lnTo>
                      <a:pt x="520" y="30"/>
                    </a:lnTo>
                    <a:lnTo>
                      <a:pt x="540" y="9"/>
                    </a:lnTo>
                    <a:lnTo>
                      <a:pt x="548" y="1"/>
                    </a:lnTo>
                    <a:lnTo>
                      <a:pt x="549" y="0"/>
                    </a:lnTo>
                  </a:path>
                </a:pathLst>
              </a:custGeom>
              <a:noFill/>
              <a:ln w="2">
                <a:solidFill>
                  <a:srgbClr val="E47F5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26" name="Freeform 34"/>
              <p:cNvSpPr>
                <a:spLocks/>
              </p:cNvSpPr>
              <p:nvPr/>
            </p:nvSpPr>
            <p:spPr bwMode="auto">
              <a:xfrm>
                <a:off x="6091238" y="2497138"/>
                <a:ext cx="217488" cy="225425"/>
              </a:xfrm>
              <a:custGeom>
                <a:avLst/>
                <a:gdLst/>
                <a:ahLst/>
                <a:cxnLst>
                  <a:cxn ang="0">
                    <a:pos x="0" y="566"/>
                  </a:cxn>
                  <a:cxn ang="0">
                    <a:pos x="182" y="380"/>
                  </a:cxn>
                  <a:cxn ang="0">
                    <a:pos x="317" y="238"/>
                  </a:cxn>
                  <a:cxn ang="0">
                    <a:pos x="416" y="138"/>
                  </a:cxn>
                  <a:cxn ang="0">
                    <a:pos x="480" y="71"/>
                  </a:cxn>
                  <a:cxn ang="0">
                    <a:pos x="520" y="30"/>
                  </a:cxn>
                  <a:cxn ang="0">
                    <a:pos x="540" y="9"/>
                  </a:cxn>
                  <a:cxn ang="0">
                    <a:pos x="548" y="1"/>
                  </a:cxn>
                  <a:cxn ang="0">
                    <a:pos x="549" y="0"/>
                  </a:cxn>
                </a:cxnLst>
                <a:rect l="0" t="0" r="r" b="b"/>
                <a:pathLst>
                  <a:path w="549" h="566">
                    <a:moveTo>
                      <a:pt x="0" y="566"/>
                    </a:moveTo>
                    <a:lnTo>
                      <a:pt x="182" y="380"/>
                    </a:lnTo>
                    <a:lnTo>
                      <a:pt x="317" y="238"/>
                    </a:lnTo>
                    <a:lnTo>
                      <a:pt x="416" y="138"/>
                    </a:lnTo>
                    <a:lnTo>
                      <a:pt x="480" y="71"/>
                    </a:lnTo>
                    <a:lnTo>
                      <a:pt x="520" y="30"/>
                    </a:lnTo>
                    <a:lnTo>
                      <a:pt x="540" y="9"/>
                    </a:lnTo>
                    <a:lnTo>
                      <a:pt x="548" y="1"/>
                    </a:lnTo>
                    <a:lnTo>
                      <a:pt x="549" y="0"/>
                    </a:lnTo>
                  </a:path>
                </a:pathLst>
              </a:custGeom>
              <a:noFill/>
              <a:ln w="2">
                <a:solidFill>
                  <a:srgbClr val="E47F5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27" name="Freeform 35"/>
              <p:cNvSpPr>
                <a:spLocks/>
              </p:cNvSpPr>
              <p:nvPr/>
            </p:nvSpPr>
            <p:spPr bwMode="auto">
              <a:xfrm>
                <a:off x="6307138" y="2497138"/>
                <a:ext cx="217488" cy="225425"/>
              </a:xfrm>
              <a:custGeom>
                <a:avLst/>
                <a:gdLst/>
                <a:ahLst/>
                <a:cxnLst>
                  <a:cxn ang="0">
                    <a:pos x="0" y="566"/>
                  </a:cxn>
                  <a:cxn ang="0">
                    <a:pos x="182" y="380"/>
                  </a:cxn>
                  <a:cxn ang="0">
                    <a:pos x="317" y="238"/>
                  </a:cxn>
                  <a:cxn ang="0">
                    <a:pos x="416" y="138"/>
                  </a:cxn>
                  <a:cxn ang="0">
                    <a:pos x="480" y="71"/>
                  </a:cxn>
                  <a:cxn ang="0">
                    <a:pos x="520" y="30"/>
                  </a:cxn>
                  <a:cxn ang="0">
                    <a:pos x="540" y="9"/>
                  </a:cxn>
                  <a:cxn ang="0">
                    <a:pos x="548" y="1"/>
                  </a:cxn>
                  <a:cxn ang="0">
                    <a:pos x="549" y="0"/>
                  </a:cxn>
                </a:cxnLst>
                <a:rect l="0" t="0" r="r" b="b"/>
                <a:pathLst>
                  <a:path w="549" h="566">
                    <a:moveTo>
                      <a:pt x="0" y="566"/>
                    </a:moveTo>
                    <a:lnTo>
                      <a:pt x="182" y="380"/>
                    </a:lnTo>
                    <a:lnTo>
                      <a:pt x="317" y="238"/>
                    </a:lnTo>
                    <a:lnTo>
                      <a:pt x="416" y="138"/>
                    </a:lnTo>
                    <a:lnTo>
                      <a:pt x="480" y="71"/>
                    </a:lnTo>
                    <a:lnTo>
                      <a:pt x="520" y="30"/>
                    </a:lnTo>
                    <a:lnTo>
                      <a:pt x="540" y="9"/>
                    </a:lnTo>
                    <a:lnTo>
                      <a:pt x="548" y="1"/>
                    </a:lnTo>
                    <a:lnTo>
                      <a:pt x="549" y="0"/>
                    </a:lnTo>
                  </a:path>
                </a:pathLst>
              </a:custGeom>
              <a:noFill/>
              <a:ln w="2">
                <a:solidFill>
                  <a:srgbClr val="E47F5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28" name="Freeform 36"/>
              <p:cNvSpPr>
                <a:spLocks/>
              </p:cNvSpPr>
              <p:nvPr/>
            </p:nvSpPr>
            <p:spPr bwMode="auto">
              <a:xfrm>
                <a:off x="6524626" y="2497138"/>
                <a:ext cx="217488" cy="225425"/>
              </a:xfrm>
              <a:custGeom>
                <a:avLst/>
                <a:gdLst/>
                <a:ahLst/>
                <a:cxnLst>
                  <a:cxn ang="0">
                    <a:pos x="0" y="566"/>
                  </a:cxn>
                  <a:cxn ang="0">
                    <a:pos x="182" y="380"/>
                  </a:cxn>
                  <a:cxn ang="0">
                    <a:pos x="318" y="238"/>
                  </a:cxn>
                  <a:cxn ang="0">
                    <a:pos x="416" y="138"/>
                  </a:cxn>
                  <a:cxn ang="0">
                    <a:pos x="480" y="71"/>
                  </a:cxn>
                  <a:cxn ang="0">
                    <a:pos x="520" y="30"/>
                  </a:cxn>
                  <a:cxn ang="0">
                    <a:pos x="540" y="9"/>
                  </a:cxn>
                  <a:cxn ang="0">
                    <a:pos x="549" y="1"/>
                  </a:cxn>
                  <a:cxn ang="0">
                    <a:pos x="549" y="0"/>
                  </a:cxn>
                </a:cxnLst>
                <a:rect l="0" t="0" r="r" b="b"/>
                <a:pathLst>
                  <a:path w="549" h="566">
                    <a:moveTo>
                      <a:pt x="0" y="566"/>
                    </a:moveTo>
                    <a:lnTo>
                      <a:pt x="182" y="380"/>
                    </a:lnTo>
                    <a:lnTo>
                      <a:pt x="318" y="238"/>
                    </a:lnTo>
                    <a:lnTo>
                      <a:pt x="416" y="138"/>
                    </a:lnTo>
                    <a:lnTo>
                      <a:pt x="480" y="71"/>
                    </a:lnTo>
                    <a:lnTo>
                      <a:pt x="520" y="30"/>
                    </a:lnTo>
                    <a:lnTo>
                      <a:pt x="540" y="9"/>
                    </a:lnTo>
                    <a:lnTo>
                      <a:pt x="549" y="1"/>
                    </a:lnTo>
                    <a:lnTo>
                      <a:pt x="549" y="0"/>
                    </a:lnTo>
                  </a:path>
                </a:pathLst>
              </a:custGeom>
              <a:noFill/>
              <a:ln w="2">
                <a:solidFill>
                  <a:srgbClr val="E47F5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29" name="Freeform 37"/>
              <p:cNvSpPr>
                <a:spLocks/>
              </p:cNvSpPr>
              <p:nvPr/>
            </p:nvSpPr>
            <p:spPr bwMode="auto">
              <a:xfrm>
                <a:off x="6740526" y="2497138"/>
                <a:ext cx="219075" cy="225425"/>
              </a:xfrm>
              <a:custGeom>
                <a:avLst/>
                <a:gdLst/>
                <a:ahLst/>
                <a:cxnLst>
                  <a:cxn ang="0">
                    <a:pos x="0" y="566"/>
                  </a:cxn>
                  <a:cxn ang="0">
                    <a:pos x="182" y="380"/>
                  </a:cxn>
                  <a:cxn ang="0">
                    <a:pos x="318" y="238"/>
                  </a:cxn>
                  <a:cxn ang="0">
                    <a:pos x="416" y="138"/>
                  </a:cxn>
                  <a:cxn ang="0">
                    <a:pos x="480" y="71"/>
                  </a:cxn>
                  <a:cxn ang="0">
                    <a:pos x="520" y="30"/>
                  </a:cxn>
                  <a:cxn ang="0">
                    <a:pos x="540" y="9"/>
                  </a:cxn>
                  <a:cxn ang="0">
                    <a:pos x="549" y="1"/>
                  </a:cxn>
                  <a:cxn ang="0">
                    <a:pos x="550" y="0"/>
                  </a:cxn>
                </a:cxnLst>
                <a:rect l="0" t="0" r="r" b="b"/>
                <a:pathLst>
                  <a:path w="550" h="566">
                    <a:moveTo>
                      <a:pt x="0" y="566"/>
                    </a:moveTo>
                    <a:lnTo>
                      <a:pt x="182" y="380"/>
                    </a:lnTo>
                    <a:lnTo>
                      <a:pt x="318" y="238"/>
                    </a:lnTo>
                    <a:lnTo>
                      <a:pt x="416" y="138"/>
                    </a:lnTo>
                    <a:lnTo>
                      <a:pt x="480" y="71"/>
                    </a:lnTo>
                    <a:lnTo>
                      <a:pt x="520" y="30"/>
                    </a:lnTo>
                    <a:lnTo>
                      <a:pt x="540" y="9"/>
                    </a:lnTo>
                    <a:lnTo>
                      <a:pt x="549" y="1"/>
                    </a:lnTo>
                    <a:lnTo>
                      <a:pt x="550" y="0"/>
                    </a:lnTo>
                  </a:path>
                </a:pathLst>
              </a:custGeom>
              <a:noFill/>
              <a:ln w="2">
                <a:solidFill>
                  <a:srgbClr val="E47F5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30" name="Freeform 38"/>
              <p:cNvSpPr>
                <a:spLocks/>
              </p:cNvSpPr>
              <p:nvPr/>
            </p:nvSpPr>
            <p:spPr bwMode="auto">
              <a:xfrm>
                <a:off x="5440363" y="2497138"/>
                <a:ext cx="217488" cy="225425"/>
              </a:xfrm>
              <a:custGeom>
                <a:avLst/>
                <a:gdLst/>
                <a:ahLst/>
                <a:cxnLst>
                  <a:cxn ang="0">
                    <a:pos x="0" y="566"/>
                  </a:cxn>
                  <a:cxn ang="0">
                    <a:pos x="182" y="380"/>
                  </a:cxn>
                  <a:cxn ang="0">
                    <a:pos x="317" y="238"/>
                  </a:cxn>
                  <a:cxn ang="0">
                    <a:pos x="414" y="138"/>
                  </a:cxn>
                  <a:cxn ang="0">
                    <a:pos x="480" y="71"/>
                  </a:cxn>
                  <a:cxn ang="0">
                    <a:pos x="520" y="30"/>
                  </a:cxn>
                  <a:cxn ang="0">
                    <a:pos x="540" y="9"/>
                  </a:cxn>
                  <a:cxn ang="0">
                    <a:pos x="548" y="1"/>
                  </a:cxn>
                  <a:cxn ang="0">
                    <a:pos x="549" y="0"/>
                  </a:cxn>
                </a:cxnLst>
                <a:rect l="0" t="0" r="r" b="b"/>
                <a:pathLst>
                  <a:path w="549" h="566">
                    <a:moveTo>
                      <a:pt x="0" y="566"/>
                    </a:moveTo>
                    <a:lnTo>
                      <a:pt x="182" y="380"/>
                    </a:lnTo>
                    <a:lnTo>
                      <a:pt x="317" y="238"/>
                    </a:lnTo>
                    <a:lnTo>
                      <a:pt x="414" y="138"/>
                    </a:lnTo>
                    <a:lnTo>
                      <a:pt x="480" y="71"/>
                    </a:lnTo>
                    <a:lnTo>
                      <a:pt x="520" y="30"/>
                    </a:lnTo>
                    <a:lnTo>
                      <a:pt x="540" y="9"/>
                    </a:lnTo>
                    <a:lnTo>
                      <a:pt x="548" y="1"/>
                    </a:lnTo>
                    <a:lnTo>
                      <a:pt x="549" y="0"/>
                    </a:lnTo>
                  </a:path>
                </a:pathLst>
              </a:custGeom>
              <a:noFill/>
              <a:ln w="2">
                <a:solidFill>
                  <a:srgbClr val="E47F5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77" name="Rectangle 85"/>
              <p:cNvSpPr>
                <a:spLocks noChangeArrowheads="1"/>
              </p:cNvSpPr>
              <p:nvPr/>
            </p:nvSpPr>
            <p:spPr bwMode="auto">
              <a:xfrm>
                <a:off x="5418138" y="3427413"/>
                <a:ext cx="1568450" cy="242888"/>
              </a:xfrm>
              <a:prstGeom prst="rect">
                <a:avLst/>
              </a:prstGeom>
              <a:solidFill>
                <a:srgbClr val="007EC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78" name="Freeform 86"/>
              <p:cNvSpPr>
                <a:spLocks/>
              </p:cNvSpPr>
              <p:nvPr/>
            </p:nvSpPr>
            <p:spPr bwMode="auto">
              <a:xfrm>
                <a:off x="5418138" y="3392488"/>
                <a:ext cx="1608138" cy="69850"/>
              </a:xfrm>
              <a:custGeom>
                <a:avLst/>
                <a:gdLst/>
                <a:ahLst/>
                <a:cxnLst>
                  <a:cxn ang="0">
                    <a:pos x="4051" y="87"/>
                  </a:cxn>
                  <a:cxn ang="0">
                    <a:pos x="3951" y="0"/>
                  </a:cxn>
                  <a:cxn ang="0">
                    <a:pos x="0" y="0"/>
                  </a:cxn>
                  <a:cxn ang="0">
                    <a:pos x="0" y="174"/>
                  </a:cxn>
                  <a:cxn ang="0">
                    <a:pos x="3951" y="174"/>
                  </a:cxn>
                  <a:cxn ang="0">
                    <a:pos x="4051" y="87"/>
                  </a:cxn>
                  <a:cxn ang="0">
                    <a:pos x="4051" y="87"/>
                  </a:cxn>
                  <a:cxn ang="0">
                    <a:pos x="4051" y="0"/>
                  </a:cxn>
                  <a:cxn ang="0">
                    <a:pos x="3951" y="0"/>
                  </a:cxn>
                  <a:cxn ang="0">
                    <a:pos x="4051" y="87"/>
                  </a:cxn>
                </a:cxnLst>
                <a:rect l="0" t="0" r="r" b="b"/>
                <a:pathLst>
                  <a:path w="4051" h="174">
                    <a:moveTo>
                      <a:pt x="4051" y="87"/>
                    </a:moveTo>
                    <a:lnTo>
                      <a:pt x="3951" y="0"/>
                    </a:lnTo>
                    <a:lnTo>
                      <a:pt x="0" y="0"/>
                    </a:lnTo>
                    <a:lnTo>
                      <a:pt x="0" y="174"/>
                    </a:lnTo>
                    <a:lnTo>
                      <a:pt x="3951" y="174"/>
                    </a:lnTo>
                    <a:lnTo>
                      <a:pt x="4051" y="87"/>
                    </a:lnTo>
                    <a:lnTo>
                      <a:pt x="4051" y="87"/>
                    </a:lnTo>
                    <a:lnTo>
                      <a:pt x="4051" y="0"/>
                    </a:lnTo>
                    <a:lnTo>
                      <a:pt x="3951" y="0"/>
                    </a:lnTo>
                    <a:lnTo>
                      <a:pt x="4051" y="87"/>
                    </a:lnTo>
                    <a:close/>
                  </a:path>
                </a:pathLst>
              </a:custGeom>
              <a:solidFill>
                <a:srgbClr val="14A4E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79" name="Freeform 87"/>
              <p:cNvSpPr>
                <a:spLocks/>
              </p:cNvSpPr>
              <p:nvPr/>
            </p:nvSpPr>
            <p:spPr bwMode="auto">
              <a:xfrm>
                <a:off x="6946901" y="3427413"/>
                <a:ext cx="79375" cy="277813"/>
              </a:xfrm>
              <a:custGeom>
                <a:avLst/>
                <a:gdLst/>
                <a:ahLst/>
                <a:cxnLst>
                  <a:cxn ang="0">
                    <a:pos x="101" y="700"/>
                  </a:cxn>
                  <a:cxn ang="0">
                    <a:pos x="201" y="613"/>
                  </a:cxn>
                  <a:cxn ang="0">
                    <a:pos x="201" y="0"/>
                  </a:cxn>
                  <a:cxn ang="0">
                    <a:pos x="0" y="0"/>
                  </a:cxn>
                  <a:cxn ang="0">
                    <a:pos x="0" y="613"/>
                  </a:cxn>
                  <a:cxn ang="0">
                    <a:pos x="101" y="700"/>
                  </a:cxn>
                  <a:cxn ang="0">
                    <a:pos x="101" y="700"/>
                  </a:cxn>
                  <a:cxn ang="0">
                    <a:pos x="201" y="700"/>
                  </a:cxn>
                  <a:cxn ang="0">
                    <a:pos x="201" y="613"/>
                  </a:cxn>
                  <a:cxn ang="0">
                    <a:pos x="101" y="700"/>
                  </a:cxn>
                </a:cxnLst>
                <a:rect l="0" t="0" r="r" b="b"/>
                <a:pathLst>
                  <a:path w="201" h="700">
                    <a:moveTo>
                      <a:pt x="101" y="700"/>
                    </a:moveTo>
                    <a:lnTo>
                      <a:pt x="201" y="613"/>
                    </a:lnTo>
                    <a:lnTo>
                      <a:pt x="201" y="0"/>
                    </a:lnTo>
                    <a:lnTo>
                      <a:pt x="0" y="0"/>
                    </a:lnTo>
                    <a:lnTo>
                      <a:pt x="0" y="613"/>
                    </a:lnTo>
                    <a:lnTo>
                      <a:pt x="101" y="700"/>
                    </a:lnTo>
                    <a:lnTo>
                      <a:pt x="101" y="700"/>
                    </a:lnTo>
                    <a:lnTo>
                      <a:pt x="201" y="700"/>
                    </a:lnTo>
                    <a:lnTo>
                      <a:pt x="201" y="613"/>
                    </a:lnTo>
                    <a:lnTo>
                      <a:pt x="101" y="700"/>
                    </a:lnTo>
                    <a:close/>
                  </a:path>
                </a:pathLst>
              </a:custGeom>
              <a:solidFill>
                <a:srgbClr val="14A4E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80" name="Freeform 88"/>
              <p:cNvSpPr>
                <a:spLocks/>
              </p:cNvSpPr>
              <p:nvPr/>
            </p:nvSpPr>
            <p:spPr bwMode="auto">
              <a:xfrm>
                <a:off x="5378451" y="3635375"/>
                <a:ext cx="1608138" cy="69850"/>
              </a:xfrm>
              <a:custGeom>
                <a:avLst/>
                <a:gdLst/>
                <a:ahLst/>
                <a:cxnLst>
                  <a:cxn ang="0">
                    <a:pos x="0" y="86"/>
                  </a:cxn>
                  <a:cxn ang="0">
                    <a:pos x="101" y="173"/>
                  </a:cxn>
                  <a:cxn ang="0">
                    <a:pos x="4052" y="173"/>
                  </a:cxn>
                  <a:cxn ang="0">
                    <a:pos x="4052" y="0"/>
                  </a:cxn>
                  <a:cxn ang="0">
                    <a:pos x="101" y="0"/>
                  </a:cxn>
                  <a:cxn ang="0">
                    <a:pos x="0" y="86"/>
                  </a:cxn>
                  <a:cxn ang="0">
                    <a:pos x="0" y="86"/>
                  </a:cxn>
                  <a:cxn ang="0">
                    <a:pos x="0" y="173"/>
                  </a:cxn>
                  <a:cxn ang="0">
                    <a:pos x="101" y="173"/>
                  </a:cxn>
                  <a:cxn ang="0">
                    <a:pos x="0" y="86"/>
                  </a:cxn>
                </a:cxnLst>
                <a:rect l="0" t="0" r="r" b="b"/>
                <a:pathLst>
                  <a:path w="4052" h="173">
                    <a:moveTo>
                      <a:pt x="0" y="86"/>
                    </a:moveTo>
                    <a:lnTo>
                      <a:pt x="101" y="173"/>
                    </a:lnTo>
                    <a:lnTo>
                      <a:pt x="4052" y="173"/>
                    </a:lnTo>
                    <a:lnTo>
                      <a:pt x="4052" y="0"/>
                    </a:lnTo>
                    <a:lnTo>
                      <a:pt x="101" y="0"/>
                    </a:lnTo>
                    <a:lnTo>
                      <a:pt x="0" y="86"/>
                    </a:lnTo>
                    <a:lnTo>
                      <a:pt x="0" y="86"/>
                    </a:lnTo>
                    <a:lnTo>
                      <a:pt x="0" y="173"/>
                    </a:lnTo>
                    <a:lnTo>
                      <a:pt x="101" y="173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14A4E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81" name="Freeform 89"/>
              <p:cNvSpPr>
                <a:spLocks/>
              </p:cNvSpPr>
              <p:nvPr/>
            </p:nvSpPr>
            <p:spPr bwMode="auto">
              <a:xfrm>
                <a:off x="5378451" y="3392488"/>
                <a:ext cx="80963" cy="277813"/>
              </a:xfrm>
              <a:custGeom>
                <a:avLst/>
                <a:gdLst/>
                <a:ahLst/>
                <a:cxnLst>
                  <a:cxn ang="0">
                    <a:pos x="101" y="0"/>
                  </a:cxn>
                  <a:cxn ang="0">
                    <a:pos x="0" y="87"/>
                  </a:cxn>
                  <a:cxn ang="0">
                    <a:pos x="0" y="700"/>
                  </a:cxn>
                  <a:cxn ang="0">
                    <a:pos x="202" y="700"/>
                  </a:cxn>
                  <a:cxn ang="0">
                    <a:pos x="202" y="87"/>
                  </a:cxn>
                  <a:cxn ang="0">
                    <a:pos x="101" y="0"/>
                  </a:cxn>
                  <a:cxn ang="0">
                    <a:pos x="101" y="0"/>
                  </a:cxn>
                  <a:cxn ang="0">
                    <a:pos x="0" y="0"/>
                  </a:cxn>
                  <a:cxn ang="0">
                    <a:pos x="0" y="87"/>
                  </a:cxn>
                  <a:cxn ang="0">
                    <a:pos x="101" y="0"/>
                  </a:cxn>
                </a:cxnLst>
                <a:rect l="0" t="0" r="r" b="b"/>
                <a:pathLst>
                  <a:path w="202" h="700">
                    <a:moveTo>
                      <a:pt x="101" y="0"/>
                    </a:moveTo>
                    <a:lnTo>
                      <a:pt x="0" y="87"/>
                    </a:lnTo>
                    <a:lnTo>
                      <a:pt x="0" y="700"/>
                    </a:lnTo>
                    <a:lnTo>
                      <a:pt x="202" y="700"/>
                    </a:lnTo>
                    <a:lnTo>
                      <a:pt x="202" y="87"/>
                    </a:lnTo>
                    <a:lnTo>
                      <a:pt x="101" y="0"/>
                    </a:lnTo>
                    <a:lnTo>
                      <a:pt x="101" y="0"/>
                    </a:lnTo>
                    <a:lnTo>
                      <a:pt x="0" y="0"/>
                    </a:lnTo>
                    <a:lnTo>
                      <a:pt x="0" y="8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14A4E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82" name="Freeform 90"/>
              <p:cNvSpPr>
                <a:spLocks/>
              </p:cNvSpPr>
              <p:nvPr/>
            </p:nvSpPr>
            <p:spPr bwMode="auto">
              <a:xfrm>
                <a:off x="5648326" y="3403600"/>
                <a:ext cx="169863" cy="252413"/>
              </a:xfrm>
              <a:custGeom>
                <a:avLst/>
                <a:gdLst/>
                <a:ahLst/>
                <a:cxnLst>
                  <a:cxn ang="0">
                    <a:pos x="406" y="623"/>
                  </a:cxn>
                  <a:cxn ang="0">
                    <a:pos x="428" y="612"/>
                  </a:cxn>
                  <a:cxn ang="0">
                    <a:pos x="422" y="603"/>
                  </a:cxn>
                  <a:cxn ang="0">
                    <a:pos x="408" y="581"/>
                  </a:cxn>
                  <a:cxn ang="0">
                    <a:pos x="380" y="536"/>
                  </a:cxn>
                  <a:cxn ang="0">
                    <a:pos x="334" y="463"/>
                  </a:cxn>
                  <a:cxn ang="0">
                    <a:pos x="266" y="354"/>
                  </a:cxn>
                  <a:cxn ang="0">
                    <a:pos x="171" y="202"/>
                  </a:cxn>
                  <a:cxn ang="0">
                    <a:pos x="44" y="0"/>
                  </a:cxn>
                  <a:cxn ang="0">
                    <a:pos x="0" y="21"/>
                  </a:cxn>
                  <a:cxn ang="0">
                    <a:pos x="127" y="223"/>
                  </a:cxn>
                  <a:cxn ang="0">
                    <a:pos x="222" y="374"/>
                  </a:cxn>
                  <a:cxn ang="0">
                    <a:pos x="290" y="484"/>
                  </a:cxn>
                  <a:cxn ang="0">
                    <a:pos x="336" y="557"/>
                  </a:cxn>
                  <a:cxn ang="0">
                    <a:pos x="363" y="601"/>
                  </a:cxn>
                  <a:cxn ang="0">
                    <a:pos x="378" y="624"/>
                  </a:cxn>
                  <a:cxn ang="0">
                    <a:pos x="384" y="632"/>
                  </a:cxn>
                  <a:cxn ang="0">
                    <a:pos x="406" y="623"/>
                  </a:cxn>
                </a:cxnLst>
                <a:rect l="0" t="0" r="r" b="b"/>
                <a:pathLst>
                  <a:path w="428" h="632">
                    <a:moveTo>
                      <a:pt x="406" y="623"/>
                    </a:moveTo>
                    <a:lnTo>
                      <a:pt x="428" y="612"/>
                    </a:lnTo>
                    <a:lnTo>
                      <a:pt x="422" y="603"/>
                    </a:lnTo>
                    <a:lnTo>
                      <a:pt x="408" y="581"/>
                    </a:lnTo>
                    <a:lnTo>
                      <a:pt x="380" y="536"/>
                    </a:lnTo>
                    <a:lnTo>
                      <a:pt x="334" y="463"/>
                    </a:lnTo>
                    <a:lnTo>
                      <a:pt x="266" y="354"/>
                    </a:lnTo>
                    <a:lnTo>
                      <a:pt x="171" y="202"/>
                    </a:lnTo>
                    <a:lnTo>
                      <a:pt x="44" y="0"/>
                    </a:lnTo>
                    <a:lnTo>
                      <a:pt x="0" y="21"/>
                    </a:lnTo>
                    <a:lnTo>
                      <a:pt x="127" y="223"/>
                    </a:lnTo>
                    <a:lnTo>
                      <a:pt x="222" y="374"/>
                    </a:lnTo>
                    <a:lnTo>
                      <a:pt x="290" y="484"/>
                    </a:lnTo>
                    <a:lnTo>
                      <a:pt x="336" y="557"/>
                    </a:lnTo>
                    <a:lnTo>
                      <a:pt x="363" y="601"/>
                    </a:lnTo>
                    <a:lnTo>
                      <a:pt x="378" y="624"/>
                    </a:lnTo>
                    <a:lnTo>
                      <a:pt x="384" y="632"/>
                    </a:lnTo>
                    <a:lnTo>
                      <a:pt x="406" y="623"/>
                    </a:lnTo>
                    <a:close/>
                  </a:path>
                </a:pathLst>
              </a:custGeom>
              <a:solidFill>
                <a:srgbClr val="08A4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83" name="Freeform 91"/>
              <p:cNvSpPr>
                <a:spLocks/>
              </p:cNvSpPr>
              <p:nvPr/>
            </p:nvSpPr>
            <p:spPr bwMode="auto">
              <a:xfrm>
                <a:off x="5864226" y="3403600"/>
                <a:ext cx="171450" cy="252413"/>
              </a:xfrm>
              <a:custGeom>
                <a:avLst/>
                <a:gdLst/>
                <a:ahLst/>
                <a:cxnLst>
                  <a:cxn ang="0">
                    <a:pos x="406" y="623"/>
                  </a:cxn>
                  <a:cxn ang="0">
                    <a:pos x="428" y="612"/>
                  </a:cxn>
                  <a:cxn ang="0">
                    <a:pos x="422" y="603"/>
                  </a:cxn>
                  <a:cxn ang="0">
                    <a:pos x="409" y="581"/>
                  </a:cxn>
                  <a:cxn ang="0">
                    <a:pos x="380" y="536"/>
                  </a:cxn>
                  <a:cxn ang="0">
                    <a:pos x="334" y="463"/>
                  </a:cxn>
                  <a:cxn ang="0">
                    <a:pos x="266" y="354"/>
                  </a:cxn>
                  <a:cxn ang="0">
                    <a:pos x="171" y="202"/>
                  </a:cxn>
                  <a:cxn ang="0">
                    <a:pos x="44" y="0"/>
                  </a:cxn>
                  <a:cxn ang="0">
                    <a:pos x="0" y="21"/>
                  </a:cxn>
                  <a:cxn ang="0">
                    <a:pos x="127" y="223"/>
                  </a:cxn>
                  <a:cxn ang="0">
                    <a:pos x="222" y="374"/>
                  </a:cxn>
                  <a:cxn ang="0">
                    <a:pos x="290" y="484"/>
                  </a:cxn>
                  <a:cxn ang="0">
                    <a:pos x="336" y="557"/>
                  </a:cxn>
                  <a:cxn ang="0">
                    <a:pos x="364" y="601"/>
                  </a:cxn>
                  <a:cxn ang="0">
                    <a:pos x="378" y="624"/>
                  </a:cxn>
                  <a:cxn ang="0">
                    <a:pos x="384" y="632"/>
                  </a:cxn>
                  <a:cxn ang="0">
                    <a:pos x="406" y="623"/>
                  </a:cxn>
                </a:cxnLst>
                <a:rect l="0" t="0" r="r" b="b"/>
                <a:pathLst>
                  <a:path w="428" h="632">
                    <a:moveTo>
                      <a:pt x="406" y="623"/>
                    </a:moveTo>
                    <a:lnTo>
                      <a:pt x="428" y="612"/>
                    </a:lnTo>
                    <a:lnTo>
                      <a:pt x="422" y="603"/>
                    </a:lnTo>
                    <a:lnTo>
                      <a:pt x="409" y="581"/>
                    </a:lnTo>
                    <a:lnTo>
                      <a:pt x="380" y="536"/>
                    </a:lnTo>
                    <a:lnTo>
                      <a:pt x="334" y="463"/>
                    </a:lnTo>
                    <a:lnTo>
                      <a:pt x="266" y="354"/>
                    </a:lnTo>
                    <a:lnTo>
                      <a:pt x="171" y="202"/>
                    </a:lnTo>
                    <a:lnTo>
                      <a:pt x="44" y="0"/>
                    </a:lnTo>
                    <a:lnTo>
                      <a:pt x="0" y="21"/>
                    </a:lnTo>
                    <a:lnTo>
                      <a:pt x="127" y="223"/>
                    </a:lnTo>
                    <a:lnTo>
                      <a:pt x="222" y="374"/>
                    </a:lnTo>
                    <a:lnTo>
                      <a:pt x="290" y="484"/>
                    </a:lnTo>
                    <a:lnTo>
                      <a:pt x="336" y="557"/>
                    </a:lnTo>
                    <a:lnTo>
                      <a:pt x="364" y="601"/>
                    </a:lnTo>
                    <a:lnTo>
                      <a:pt x="378" y="624"/>
                    </a:lnTo>
                    <a:lnTo>
                      <a:pt x="384" y="632"/>
                    </a:lnTo>
                    <a:lnTo>
                      <a:pt x="406" y="623"/>
                    </a:lnTo>
                    <a:close/>
                  </a:path>
                </a:pathLst>
              </a:custGeom>
              <a:solidFill>
                <a:srgbClr val="08A4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84" name="Freeform 92"/>
              <p:cNvSpPr>
                <a:spLocks/>
              </p:cNvSpPr>
              <p:nvPr/>
            </p:nvSpPr>
            <p:spPr bwMode="auto">
              <a:xfrm>
                <a:off x="6081713" y="3403600"/>
                <a:ext cx="169863" cy="252413"/>
              </a:xfrm>
              <a:custGeom>
                <a:avLst/>
                <a:gdLst/>
                <a:ahLst/>
                <a:cxnLst>
                  <a:cxn ang="0">
                    <a:pos x="406" y="623"/>
                  </a:cxn>
                  <a:cxn ang="0">
                    <a:pos x="428" y="612"/>
                  </a:cxn>
                  <a:cxn ang="0">
                    <a:pos x="423" y="603"/>
                  </a:cxn>
                  <a:cxn ang="0">
                    <a:pos x="409" y="581"/>
                  </a:cxn>
                  <a:cxn ang="0">
                    <a:pos x="381" y="536"/>
                  </a:cxn>
                  <a:cxn ang="0">
                    <a:pos x="334" y="463"/>
                  </a:cxn>
                  <a:cxn ang="0">
                    <a:pos x="267" y="354"/>
                  </a:cxn>
                  <a:cxn ang="0">
                    <a:pos x="171" y="202"/>
                  </a:cxn>
                  <a:cxn ang="0">
                    <a:pos x="45" y="0"/>
                  </a:cxn>
                  <a:cxn ang="0">
                    <a:pos x="0" y="21"/>
                  </a:cxn>
                  <a:cxn ang="0">
                    <a:pos x="127" y="223"/>
                  </a:cxn>
                  <a:cxn ang="0">
                    <a:pos x="222" y="374"/>
                  </a:cxn>
                  <a:cxn ang="0">
                    <a:pos x="290" y="484"/>
                  </a:cxn>
                  <a:cxn ang="0">
                    <a:pos x="337" y="557"/>
                  </a:cxn>
                  <a:cxn ang="0">
                    <a:pos x="364" y="601"/>
                  </a:cxn>
                  <a:cxn ang="0">
                    <a:pos x="379" y="624"/>
                  </a:cxn>
                  <a:cxn ang="0">
                    <a:pos x="384" y="632"/>
                  </a:cxn>
                  <a:cxn ang="0">
                    <a:pos x="406" y="623"/>
                  </a:cxn>
                </a:cxnLst>
                <a:rect l="0" t="0" r="r" b="b"/>
                <a:pathLst>
                  <a:path w="428" h="632">
                    <a:moveTo>
                      <a:pt x="406" y="623"/>
                    </a:moveTo>
                    <a:lnTo>
                      <a:pt x="428" y="612"/>
                    </a:lnTo>
                    <a:lnTo>
                      <a:pt x="423" y="603"/>
                    </a:lnTo>
                    <a:lnTo>
                      <a:pt x="409" y="581"/>
                    </a:lnTo>
                    <a:lnTo>
                      <a:pt x="381" y="536"/>
                    </a:lnTo>
                    <a:lnTo>
                      <a:pt x="334" y="463"/>
                    </a:lnTo>
                    <a:lnTo>
                      <a:pt x="267" y="354"/>
                    </a:lnTo>
                    <a:lnTo>
                      <a:pt x="171" y="202"/>
                    </a:lnTo>
                    <a:lnTo>
                      <a:pt x="45" y="0"/>
                    </a:lnTo>
                    <a:lnTo>
                      <a:pt x="0" y="21"/>
                    </a:lnTo>
                    <a:lnTo>
                      <a:pt x="127" y="223"/>
                    </a:lnTo>
                    <a:lnTo>
                      <a:pt x="222" y="374"/>
                    </a:lnTo>
                    <a:lnTo>
                      <a:pt x="290" y="484"/>
                    </a:lnTo>
                    <a:lnTo>
                      <a:pt x="337" y="557"/>
                    </a:lnTo>
                    <a:lnTo>
                      <a:pt x="364" y="601"/>
                    </a:lnTo>
                    <a:lnTo>
                      <a:pt x="379" y="624"/>
                    </a:lnTo>
                    <a:lnTo>
                      <a:pt x="384" y="632"/>
                    </a:lnTo>
                    <a:lnTo>
                      <a:pt x="406" y="623"/>
                    </a:lnTo>
                    <a:close/>
                  </a:path>
                </a:pathLst>
              </a:custGeom>
              <a:solidFill>
                <a:srgbClr val="08A4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85" name="Freeform 93"/>
              <p:cNvSpPr>
                <a:spLocks/>
              </p:cNvSpPr>
              <p:nvPr/>
            </p:nvSpPr>
            <p:spPr bwMode="auto">
              <a:xfrm>
                <a:off x="6299201" y="3403600"/>
                <a:ext cx="169863" cy="252413"/>
              </a:xfrm>
              <a:custGeom>
                <a:avLst/>
                <a:gdLst/>
                <a:ahLst/>
                <a:cxnLst>
                  <a:cxn ang="0">
                    <a:pos x="405" y="623"/>
                  </a:cxn>
                  <a:cxn ang="0">
                    <a:pos x="427" y="612"/>
                  </a:cxn>
                  <a:cxn ang="0">
                    <a:pos x="422" y="603"/>
                  </a:cxn>
                  <a:cxn ang="0">
                    <a:pos x="408" y="581"/>
                  </a:cxn>
                  <a:cxn ang="0">
                    <a:pos x="380" y="536"/>
                  </a:cxn>
                  <a:cxn ang="0">
                    <a:pos x="335" y="463"/>
                  </a:cxn>
                  <a:cxn ang="0">
                    <a:pos x="266" y="354"/>
                  </a:cxn>
                  <a:cxn ang="0">
                    <a:pos x="170" y="202"/>
                  </a:cxn>
                  <a:cxn ang="0">
                    <a:pos x="44" y="0"/>
                  </a:cxn>
                  <a:cxn ang="0">
                    <a:pos x="0" y="21"/>
                  </a:cxn>
                  <a:cxn ang="0">
                    <a:pos x="126" y="223"/>
                  </a:cxn>
                  <a:cxn ang="0">
                    <a:pos x="222" y="374"/>
                  </a:cxn>
                  <a:cxn ang="0">
                    <a:pos x="289" y="484"/>
                  </a:cxn>
                  <a:cxn ang="0">
                    <a:pos x="336" y="557"/>
                  </a:cxn>
                  <a:cxn ang="0">
                    <a:pos x="363" y="601"/>
                  </a:cxn>
                  <a:cxn ang="0">
                    <a:pos x="378" y="624"/>
                  </a:cxn>
                  <a:cxn ang="0">
                    <a:pos x="383" y="632"/>
                  </a:cxn>
                  <a:cxn ang="0">
                    <a:pos x="405" y="623"/>
                  </a:cxn>
                </a:cxnLst>
                <a:rect l="0" t="0" r="r" b="b"/>
                <a:pathLst>
                  <a:path w="427" h="632">
                    <a:moveTo>
                      <a:pt x="405" y="623"/>
                    </a:moveTo>
                    <a:lnTo>
                      <a:pt x="427" y="612"/>
                    </a:lnTo>
                    <a:lnTo>
                      <a:pt x="422" y="603"/>
                    </a:lnTo>
                    <a:lnTo>
                      <a:pt x="408" y="581"/>
                    </a:lnTo>
                    <a:lnTo>
                      <a:pt x="380" y="536"/>
                    </a:lnTo>
                    <a:lnTo>
                      <a:pt x="335" y="463"/>
                    </a:lnTo>
                    <a:lnTo>
                      <a:pt x="266" y="354"/>
                    </a:lnTo>
                    <a:lnTo>
                      <a:pt x="170" y="202"/>
                    </a:lnTo>
                    <a:lnTo>
                      <a:pt x="44" y="0"/>
                    </a:lnTo>
                    <a:lnTo>
                      <a:pt x="0" y="21"/>
                    </a:lnTo>
                    <a:lnTo>
                      <a:pt x="126" y="223"/>
                    </a:lnTo>
                    <a:lnTo>
                      <a:pt x="222" y="374"/>
                    </a:lnTo>
                    <a:lnTo>
                      <a:pt x="289" y="484"/>
                    </a:lnTo>
                    <a:lnTo>
                      <a:pt x="336" y="557"/>
                    </a:lnTo>
                    <a:lnTo>
                      <a:pt x="363" y="601"/>
                    </a:lnTo>
                    <a:lnTo>
                      <a:pt x="378" y="624"/>
                    </a:lnTo>
                    <a:lnTo>
                      <a:pt x="383" y="632"/>
                    </a:lnTo>
                    <a:lnTo>
                      <a:pt x="405" y="623"/>
                    </a:lnTo>
                    <a:close/>
                  </a:path>
                </a:pathLst>
              </a:custGeom>
              <a:solidFill>
                <a:srgbClr val="08A4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86" name="Freeform 94"/>
              <p:cNvSpPr>
                <a:spLocks/>
              </p:cNvSpPr>
              <p:nvPr/>
            </p:nvSpPr>
            <p:spPr bwMode="auto">
              <a:xfrm>
                <a:off x="6515101" y="3403600"/>
                <a:ext cx="169863" cy="252413"/>
              </a:xfrm>
              <a:custGeom>
                <a:avLst/>
                <a:gdLst/>
                <a:ahLst/>
                <a:cxnLst>
                  <a:cxn ang="0">
                    <a:pos x="405" y="623"/>
                  </a:cxn>
                  <a:cxn ang="0">
                    <a:pos x="427" y="612"/>
                  </a:cxn>
                  <a:cxn ang="0">
                    <a:pos x="422" y="603"/>
                  </a:cxn>
                  <a:cxn ang="0">
                    <a:pos x="408" y="581"/>
                  </a:cxn>
                  <a:cxn ang="0">
                    <a:pos x="380" y="536"/>
                  </a:cxn>
                  <a:cxn ang="0">
                    <a:pos x="335" y="463"/>
                  </a:cxn>
                  <a:cxn ang="0">
                    <a:pos x="266" y="354"/>
                  </a:cxn>
                  <a:cxn ang="0">
                    <a:pos x="170" y="202"/>
                  </a:cxn>
                  <a:cxn ang="0">
                    <a:pos x="44" y="0"/>
                  </a:cxn>
                  <a:cxn ang="0">
                    <a:pos x="0" y="21"/>
                  </a:cxn>
                  <a:cxn ang="0">
                    <a:pos x="126" y="223"/>
                  </a:cxn>
                  <a:cxn ang="0">
                    <a:pos x="222" y="374"/>
                  </a:cxn>
                  <a:cxn ang="0">
                    <a:pos x="290" y="484"/>
                  </a:cxn>
                  <a:cxn ang="0">
                    <a:pos x="336" y="557"/>
                  </a:cxn>
                  <a:cxn ang="0">
                    <a:pos x="363" y="601"/>
                  </a:cxn>
                  <a:cxn ang="0">
                    <a:pos x="378" y="624"/>
                  </a:cxn>
                  <a:cxn ang="0">
                    <a:pos x="383" y="632"/>
                  </a:cxn>
                  <a:cxn ang="0">
                    <a:pos x="405" y="623"/>
                  </a:cxn>
                </a:cxnLst>
                <a:rect l="0" t="0" r="r" b="b"/>
                <a:pathLst>
                  <a:path w="427" h="632">
                    <a:moveTo>
                      <a:pt x="405" y="623"/>
                    </a:moveTo>
                    <a:lnTo>
                      <a:pt x="427" y="612"/>
                    </a:lnTo>
                    <a:lnTo>
                      <a:pt x="422" y="603"/>
                    </a:lnTo>
                    <a:lnTo>
                      <a:pt x="408" y="581"/>
                    </a:lnTo>
                    <a:lnTo>
                      <a:pt x="380" y="536"/>
                    </a:lnTo>
                    <a:lnTo>
                      <a:pt x="335" y="463"/>
                    </a:lnTo>
                    <a:lnTo>
                      <a:pt x="266" y="354"/>
                    </a:lnTo>
                    <a:lnTo>
                      <a:pt x="170" y="202"/>
                    </a:lnTo>
                    <a:lnTo>
                      <a:pt x="44" y="0"/>
                    </a:lnTo>
                    <a:lnTo>
                      <a:pt x="0" y="21"/>
                    </a:lnTo>
                    <a:lnTo>
                      <a:pt x="126" y="223"/>
                    </a:lnTo>
                    <a:lnTo>
                      <a:pt x="222" y="374"/>
                    </a:lnTo>
                    <a:lnTo>
                      <a:pt x="290" y="484"/>
                    </a:lnTo>
                    <a:lnTo>
                      <a:pt x="336" y="557"/>
                    </a:lnTo>
                    <a:lnTo>
                      <a:pt x="363" y="601"/>
                    </a:lnTo>
                    <a:lnTo>
                      <a:pt x="378" y="624"/>
                    </a:lnTo>
                    <a:lnTo>
                      <a:pt x="383" y="632"/>
                    </a:lnTo>
                    <a:lnTo>
                      <a:pt x="405" y="623"/>
                    </a:lnTo>
                    <a:close/>
                  </a:path>
                </a:pathLst>
              </a:custGeom>
              <a:solidFill>
                <a:srgbClr val="08A4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87" name="Freeform 95"/>
              <p:cNvSpPr>
                <a:spLocks/>
              </p:cNvSpPr>
              <p:nvPr/>
            </p:nvSpPr>
            <p:spPr bwMode="auto">
              <a:xfrm>
                <a:off x="6732588" y="3403600"/>
                <a:ext cx="169863" cy="252413"/>
              </a:xfrm>
              <a:custGeom>
                <a:avLst/>
                <a:gdLst/>
                <a:ahLst/>
                <a:cxnLst>
                  <a:cxn ang="0">
                    <a:pos x="405" y="623"/>
                  </a:cxn>
                  <a:cxn ang="0">
                    <a:pos x="427" y="612"/>
                  </a:cxn>
                  <a:cxn ang="0">
                    <a:pos x="422" y="603"/>
                  </a:cxn>
                  <a:cxn ang="0">
                    <a:pos x="408" y="581"/>
                  </a:cxn>
                  <a:cxn ang="0">
                    <a:pos x="380" y="536"/>
                  </a:cxn>
                  <a:cxn ang="0">
                    <a:pos x="335" y="463"/>
                  </a:cxn>
                  <a:cxn ang="0">
                    <a:pos x="266" y="354"/>
                  </a:cxn>
                  <a:cxn ang="0">
                    <a:pos x="171" y="202"/>
                  </a:cxn>
                  <a:cxn ang="0">
                    <a:pos x="44" y="0"/>
                  </a:cxn>
                  <a:cxn ang="0">
                    <a:pos x="0" y="21"/>
                  </a:cxn>
                  <a:cxn ang="0">
                    <a:pos x="126" y="223"/>
                  </a:cxn>
                  <a:cxn ang="0">
                    <a:pos x="222" y="374"/>
                  </a:cxn>
                  <a:cxn ang="0">
                    <a:pos x="290" y="484"/>
                  </a:cxn>
                  <a:cxn ang="0">
                    <a:pos x="336" y="557"/>
                  </a:cxn>
                  <a:cxn ang="0">
                    <a:pos x="363" y="601"/>
                  </a:cxn>
                  <a:cxn ang="0">
                    <a:pos x="378" y="624"/>
                  </a:cxn>
                  <a:cxn ang="0">
                    <a:pos x="383" y="632"/>
                  </a:cxn>
                  <a:cxn ang="0">
                    <a:pos x="405" y="623"/>
                  </a:cxn>
                </a:cxnLst>
                <a:rect l="0" t="0" r="r" b="b"/>
                <a:pathLst>
                  <a:path w="427" h="632">
                    <a:moveTo>
                      <a:pt x="405" y="623"/>
                    </a:moveTo>
                    <a:lnTo>
                      <a:pt x="427" y="612"/>
                    </a:lnTo>
                    <a:lnTo>
                      <a:pt x="422" y="603"/>
                    </a:lnTo>
                    <a:lnTo>
                      <a:pt x="408" y="581"/>
                    </a:lnTo>
                    <a:lnTo>
                      <a:pt x="380" y="536"/>
                    </a:lnTo>
                    <a:lnTo>
                      <a:pt x="335" y="463"/>
                    </a:lnTo>
                    <a:lnTo>
                      <a:pt x="266" y="354"/>
                    </a:lnTo>
                    <a:lnTo>
                      <a:pt x="171" y="202"/>
                    </a:lnTo>
                    <a:lnTo>
                      <a:pt x="44" y="0"/>
                    </a:lnTo>
                    <a:lnTo>
                      <a:pt x="0" y="21"/>
                    </a:lnTo>
                    <a:lnTo>
                      <a:pt x="126" y="223"/>
                    </a:lnTo>
                    <a:lnTo>
                      <a:pt x="222" y="374"/>
                    </a:lnTo>
                    <a:lnTo>
                      <a:pt x="290" y="484"/>
                    </a:lnTo>
                    <a:lnTo>
                      <a:pt x="336" y="557"/>
                    </a:lnTo>
                    <a:lnTo>
                      <a:pt x="363" y="601"/>
                    </a:lnTo>
                    <a:lnTo>
                      <a:pt x="378" y="624"/>
                    </a:lnTo>
                    <a:lnTo>
                      <a:pt x="383" y="632"/>
                    </a:lnTo>
                    <a:lnTo>
                      <a:pt x="405" y="623"/>
                    </a:lnTo>
                    <a:close/>
                  </a:path>
                </a:pathLst>
              </a:custGeom>
              <a:solidFill>
                <a:srgbClr val="08A4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88" name="Freeform 96"/>
              <p:cNvSpPr>
                <a:spLocks/>
              </p:cNvSpPr>
              <p:nvPr/>
            </p:nvSpPr>
            <p:spPr bwMode="auto">
              <a:xfrm>
                <a:off x="5430838" y="3403600"/>
                <a:ext cx="171450" cy="252413"/>
              </a:xfrm>
              <a:custGeom>
                <a:avLst/>
                <a:gdLst/>
                <a:ahLst/>
                <a:cxnLst>
                  <a:cxn ang="0">
                    <a:pos x="406" y="623"/>
                  </a:cxn>
                  <a:cxn ang="0">
                    <a:pos x="428" y="612"/>
                  </a:cxn>
                  <a:cxn ang="0">
                    <a:pos x="422" y="603"/>
                  </a:cxn>
                  <a:cxn ang="0">
                    <a:pos x="408" y="581"/>
                  </a:cxn>
                  <a:cxn ang="0">
                    <a:pos x="380" y="536"/>
                  </a:cxn>
                  <a:cxn ang="0">
                    <a:pos x="334" y="463"/>
                  </a:cxn>
                  <a:cxn ang="0">
                    <a:pos x="266" y="354"/>
                  </a:cxn>
                  <a:cxn ang="0">
                    <a:pos x="171" y="202"/>
                  </a:cxn>
                  <a:cxn ang="0">
                    <a:pos x="44" y="0"/>
                  </a:cxn>
                  <a:cxn ang="0">
                    <a:pos x="0" y="21"/>
                  </a:cxn>
                  <a:cxn ang="0">
                    <a:pos x="127" y="223"/>
                  </a:cxn>
                  <a:cxn ang="0">
                    <a:pos x="222" y="374"/>
                  </a:cxn>
                  <a:cxn ang="0">
                    <a:pos x="290" y="484"/>
                  </a:cxn>
                  <a:cxn ang="0">
                    <a:pos x="336" y="557"/>
                  </a:cxn>
                  <a:cxn ang="0">
                    <a:pos x="363" y="601"/>
                  </a:cxn>
                  <a:cxn ang="0">
                    <a:pos x="378" y="624"/>
                  </a:cxn>
                  <a:cxn ang="0">
                    <a:pos x="384" y="632"/>
                  </a:cxn>
                  <a:cxn ang="0">
                    <a:pos x="406" y="623"/>
                  </a:cxn>
                </a:cxnLst>
                <a:rect l="0" t="0" r="r" b="b"/>
                <a:pathLst>
                  <a:path w="428" h="632">
                    <a:moveTo>
                      <a:pt x="406" y="623"/>
                    </a:moveTo>
                    <a:lnTo>
                      <a:pt x="428" y="612"/>
                    </a:lnTo>
                    <a:lnTo>
                      <a:pt x="422" y="603"/>
                    </a:lnTo>
                    <a:lnTo>
                      <a:pt x="408" y="581"/>
                    </a:lnTo>
                    <a:lnTo>
                      <a:pt x="380" y="536"/>
                    </a:lnTo>
                    <a:lnTo>
                      <a:pt x="334" y="463"/>
                    </a:lnTo>
                    <a:lnTo>
                      <a:pt x="266" y="354"/>
                    </a:lnTo>
                    <a:lnTo>
                      <a:pt x="171" y="202"/>
                    </a:lnTo>
                    <a:lnTo>
                      <a:pt x="44" y="0"/>
                    </a:lnTo>
                    <a:lnTo>
                      <a:pt x="0" y="21"/>
                    </a:lnTo>
                    <a:lnTo>
                      <a:pt x="127" y="223"/>
                    </a:lnTo>
                    <a:lnTo>
                      <a:pt x="222" y="374"/>
                    </a:lnTo>
                    <a:lnTo>
                      <a:pt x="290" y="484"/>
                    </a:lnTo>
                    <a:lnTo>
                      <a:pt x="336" y="557"/>
                    </a:lnTo>
                    <a:lnTo>
                      <a:pt x="363" y="601"/>
                    </a:lnTo>
                    <a:lnTo>
                      <a:pt x="378" y="624"/>
                    </a:lnTo>
                    <a:lnTo>
                      <a:pt x="384" y="632"/>
                    </a:lnTo>
                    <a:lnTo>
                      <a:pt x="406" y="623"/>
                    </a:lnTo>
                    <a:close/>
                  </a:path>
                </a:pathLst>
              </a:custGeom>
              <a:solidFill>
                <a:srgbClr val="08A4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02" name="Rectangle 10"/>
              <p:cNvSpPr>
                <a:spLocks noChangeArrowheads="1"/>
              </p:cNvSpPr>
              <p:nvPr/>
            </p:nvSpPr>
            <p:spPr bwMode="auto">
              <a:xfrm>
                <a:off x="5810251" y="4456113"/>
                <a:ext cx="849313" cy="187325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3808" name="Rectangle 16"/>
              <p:cNvSpPr>
                <a:spLocks noChangeArrowheads="1"/>
              </p:cNvSpPr>
              <p:nvPr/>
            </p:nvSpPr>
            <p:spPr bwMode="auto">
              <a:xfrm>
                <a:off x="5149851" y="2846388"/>
                <a:ext cx="220663" cy="412750"/>
              </a:xfrm>
              <a:prstGeom prst="rect">
                <a:avLst/>
              </a:prstGeom>
              <a:solidFill>
                <a:srgbClr val="67625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</p:grpSp>
        <p:sp>
          <p:nvSpPr>
            <p:cNvPr id="83" name="Text Box 7"/>
            <p:cNvSpPr txBox="1">
              <a:spLocks noChangeArrowheads="1"/>
            </p:cNvSpPr>
            <p:nvPr/>
          </p:nvSpPr>
          <p:spPr bwMode="auto">
            <a:xfrm>
              <a:off x="9634757" y="2282589"/>
              <a:ext cx="304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P</a:t>
              </a:r>
            </a:p>
          </p:txBody>
        </p:sp>
        <p:sp>
          <p:nvSpPr>
            <p:cNvPr id="85" name="Text Box 8"/>
            <p:cNvSpPr txBox="1">
              <a:spLocks noChangeArrowheads="1"/>
            </p:cNvSpPr>
            <p:nvPr/>
          </p:nvSpPr>
          <p:spPr bwMode="auto">
            <a:xfrm>
              <a:off x="10125126" y="1172759"/>
              <a:ext cx="5334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N</a:t>
              </a:r>
            </a:p>
          </p:txBody>
        </p:sp>
        <p:sp>
          <p:nvSpPr>
            <p:cNvPr id="86" name="Text Box 9"/>
            <p:cNvSpPr txBox="1">
              <a:spLocks noChangeArrowheads="1"/>
            </p:cNvSpPr>
            <p:nvPr/>
          </p:nvSpPr>
          <p:spPr bwMode="auto">
            <a:xfrm>
              <a:off x="10125126" y="3138084"/>
              <a:ext cx="5334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N</a:t>
              </a:r>
            </a:p>
          </p:txBody>
        </p:sp>
        <p:sp>
          <p:nvSpPr>
            <p:cNvPr id="103" name="椭圆 102"/>
            <p:cNvSpPr/>
            <p:nvPr/>
          </p:nvSpPr>
          <p:spPr>
            <a:xfrm>
              <a:off x="8784771" y="2405741"/>
              <a:ext cx="144000" cy="144000"/>
            </a:xfrm>
            <a:prstGeom prst="ellipse">
              <a:avLst/>
            </a:prstGeom>
            <a:noFill/>
            <a:ln w="50800">
              <a:solidFill>
                <a:srgbClr val="00B05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104" name="椭圆 103"/>
            <p:cNvSpPr/>
            <p:nvPr/>
          </p:nvSpPr>
          <p:spPr>
            <a:xfrm>
              <a:off x="10243457" y="4386941"/>
              <a:ext cx="144000" cy="144000"/>
            </a:xfrm>
            <a:prstGeom prst="ellipse">
              <a:avLst/>
            </a:prstGeom>
            <a:noFill/>
            <a:ln w="50800">
              <a:solidFill>
                <a:srgbClr val="00B05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105" name="椭圆 104"/>
            <p:cNvSpPr/>
            <p:nvPr/>
          </p:nvSpPr>
          <p:spPr>
            <a:xfrm>
              <a:off x="10243457" y="435426"/>
              <a:ext cx="144000" cy="144000"/>
            </a:xfrm>
            <a:prstGeom prst="ellipse">
              <a:avLst/>
            </a:prstGeom>
            <a:noFill/>
            <a:ln w="50800">
              <a:solidFill>
                <a:srgbClr val="00B05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5" presetClass="emph" presetSubtype="0" repeatCount="3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80" grpId="0"/>
      <p:bldP spid="94" grpId="0"/>
      <p:bldP spid="94" grpId="1"/>
      <p:bldP spid="95" grpId="1"/>
      <p:bldP spid="95" grpId="2"/>
      <p:bldP spid="96" grpId="0"/>
      <p:bldP spid="96" grpId="1"/>
      <p:bldP spid="9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883333" y="399483"/>
            <a:ext cx="297746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）基本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结构</a:t>
            </a:r>
          </a:p>
        </p:txBody>
      </p:sp>
      <p:sp>
        <p:nvSpPr>
          <p:cNvPr id="81" name="Text Box 5"/>
          <p:cNvSpPr txBox="1">
            <a:spLocks noChangeArrowheads="1"/>
          </p:cNvSpPr>
          <p:nvPr/>
        </p:nvSpPr>
        <p:spPr bwMode="auto">
          <a:xfrm>
            <a:off x="2904564" y="3918052"/>
            <a:ext cx="13339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PNP</a:t>
            </a:r>
            <a:r>
              <a:rPr lang="zh-CN" altLang="en-US" sz="28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型</a:t>
            </a:r>
          </a:p>
        </p:txBody>
      </p:sp>
      <p:grpSp>
        <p:nvGrpSpPr>
          <p:cNvPr id="9" name="Group 59"/>
          <p:cNvGrpSpPr>
            <a:grpSpLocks noChangeAspect="1"/>
          </p:cNvGrpSpPr>
          <p:nvPr/>
        </p:nvGrpSpPr>
        <p:grpSpPr bwMode="auto">
          <a:xfrm>
            <a:off x="1727499" y="1608483"/>
            <a:ext cx="914400" cy="1570038"/>
            <a:chOff x="2592" y="2448"/>
            <a:chExt cx="576" cy="989"/>
          </a:xfrm>
        </p:grpSpPr>
        <p:grpSp>
          <p:nvGrpSpPr>
            <p:cNvPr id="10" name="Group 60"/>
            <p:cNvGrpSpPr>
              <a:grpSpLocks/>
            </p:cNvGrpSpPr>
            <p:nvPr/>
          </p:nvGrpSpPr>
          <p:grpSpPr bwMode="auto">
            <a:xfrm>
              <a:off x="2592" y="2448"/>
              <a:ext cx="576" cy="989"/>
              <a:chOff x="2496" y="2544"/>
              <a:chExt cx="576" cy="989"/>
            </a:xfrm>
          </p:grpSpPr>
          <p:sp>
            <p:nvSpPr>
              <p:cNvPr id="132" name="Text Box 61"/>
              <p:cNvSpPr txBox="1">
                <a:spLocks noChangeArrowheads="1"/>
              </p:cNvSpPr>
              <p:nvPr/>
            </p:nvSpPr>
            <p:spPr bwMode="auto">
              <a:xfrm>
                <a:off x="2496" y="2775"/>
                <a:ext cx="1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ea typeface="宋体" pitchFamily="2" charset="-122"/>
                  </a:rPr>
                  <a:t>B</a:t>
                </a:r>
              </a:p>
            </p:txBody>
          </p:sp>
          <p:sp>
            <p:nvSpPr>
              <p:cNvPr id="133" name="Text Box 62"/>
              <p:cNvSpPr txBox="1">
                <a:spLocks noChangeArrowheads="1"/>
              </p:cNvSpPr>
              <p:nvPr/>
            </p:nvSpPr>
            <p:spPr bwMode="auto">
              <a:xfrm>
                <a:off x="2784" y="3302"/>
                <a:ext cx="21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ea typeface="宋体" pitchFamily="2" charset="-122"/>
                  </a:rPr>
                  <a:t>E</a:t>
                </a:r>
              </a:p>
            </p:txBody>
          </p:sp>
          <p:sp>
            <p:nvSpPr>
              <p:cNvPr id="134" name="Text Box 63"/>
              <p:cNvSpPr txBox="1">
                <a:spLocks noChangeArrowheads="1"/>
              </p:cNvSpPr>
              <p:nvPr/>
            </p:nvSpPr>
            <p:spPr bwMode="auto">
              <a:xfrm>
                <a:off x="2892" y="2906"/>
                <a:ext cx="1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ea typeface="宋体" pitchFamily="2" charset="-122"/>
                  </a:rPr>
                  <a:t>T</a:t>
                </a:r>
              </a:p>
            </p:txBody>
          </p:sp>
          <p:sp>
            <p:nvSpPr>
              <p:cNvPr id="135" name="Text Box 64"/>
              <p:cNvSpPr txBox="1">
                <a:spLocks noChangeArrowheads="1"/>
              </p:cNvSpPr>
              <p:nvPr/>
            </p:nvSpPr>
            <p:spPr bwMode="auto">
              <a:xfrm>
                <a:off x="2820" y="2544"/>
                <a:ext cx="1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ea typeface="宋体" pitchFamily="2" charset="-122"/>
                  </a:rPr>
                  <a:t>C</a:t>
                </a:r>
              </a:p>
            </p:txBody>
          </p:sp>
        </p:grpSp>
        <p:grpSp>
          <p:nvGrpSpPr>
            <p:cNvPr id="11" name="Group 65"/>
            <p:cNvGrpSpPr>
              <a:grpSpLocks/>
            </p:cNvGrpSpPr>
            <p:nvPr/>
          </p:nvGrpSpPr>
          <p:grpSpPr bwMode="auto">
            <a:xfrm>
              <a:off x="2661" y="2640"/>
              <a:ext cx="363" cy="597"/>
              <a:chOff x="2661" y="2640"/>
              <a:chExt cx="363" cy="597"/>
            </a:xfrm>
          </p:grpSpPr>
          <p:grpSp>
            <p:nvGrpSpPr>
              <p:cNvPr id="12" name="Group 66"/>
              <p:cNvGrpSpPr>
                <a:grpSpLocks/>
              </p:cNvGrpSpPr>
              <p:nvPr/>
            </p:nvGrpSpPr>
            <p:grpSpPr bwMode="auto">
              <a:xfrm>
                <a:off x="2661" y="2640"/>
                <a:ext cx="363" cy="555"/>
                <a:chOff x="2661" y="2640"/>
                <a:chExt cx="363" cy="555"/>
              </a:xfrm>
            </p:grpSpPr>
            <p:sp>
              <p:nvSpPr>
                <p:cNvPr id="124" name="Line 67"/>
                <p:cNvSpPr>
                  <a:spLocks noChangeShapeType="1"/>
                </p:cNvSpPr>
                <p:nvPr/>
              </p:nvSpPr>
              <p:spPr bwMode="auto">
                <a:xfrm>
                  <a:off x="2712" y="2928"/>
                  <a:ext cx="12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5" name="Line 68"/>
                <p:cNvSpPr>
                  <a:spLocks noChangeShapeType="1"/>
                </p:cNvSpPr>
                <p:nvPr/>
              </p:nvSpPr>
              <p:spPr bwMode="auto">
                <a:xfrm>
                  <a:off x="2832" y="2832"/>
                  <a:ext cx="0" cy="18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6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2833" y="2829"/>
                  <a:ext cx="161" cy="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Line 70"/>
                <p:cNvSpPr>
                  <a:spLocks noChangeShapeType="1"/>
                </p:cNvSpPr>
                <p:nvPr/>
              </p:nvSpPr>
              <p:spPr bwMode="auto">
                <a:xfrm>
                  <a:off x="2830" y="2950"/>
                  <a:ext cx="164" cy="6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stealth" w="med" len="med"/>
                  <a:tailEnd/>
                </a:ln>
              </p:spPr>
              <p:txBody>
                <a:bodyPr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Line 71"/>
                <p:cNvSpPr>
                  <a:spLocks noChangeShapeType="1"/>
                </p:cNvSpPr>
                <p:nvPr/>
              </p:nvSpPr>
              <p:spPr bwMode="auto">
                <a:xfrm>
                  <a:off x="2994" y="3018"/>
                  <a:ext cx="0" cy="17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9" name="Line 72"/>
                <p:cNvSpPr>
                  <a:spLocks noChangeShapeType="1"/>
                </p:cNvSpPr>
                <p:nvPr/>
              </p:nvSpPr>
              <p:spPr bwMode="auto">
                <a:xfrm>
                  <a:off x="2994" y="2694"/>
                  <a:ext cx="0" cy="13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0" name="Oval 73"/>
                <p:cNvSpPr>
                  <a:spLocks noChangeArrowheads="1"/>
                </p:cNvSpPr>
                <p:nvPr/>
              </p:nvSpPr>
              <p:spPr bwMode="auto">
                <a:xfrm>
                  <a:off x="2661" y="2901"/>
                  <a:ext cx="60" cy="5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1" name="Oval 74"/>
                <p:cNvSpPr>
                  <a:spLocks noChangeArrowheads="1"/>
                </p:cNvSpPr>
                <p:nvPr/>
              </p:nvSpPr>
              <p:spPr bwMode="auto">
                <a:xfrm>
                  <a:off x="2964" y="2640"/>
                  <a:ext cx="60" cy="5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23" name="Oval 75"/>
              <p:cNvSpPr>
                <a:spLocks noChangeArrowheads="1"/>
              </p:cNvSpPr>
              <p:nvPr/>
            </p:nvSpPr>
            <p:spPr bwMode="auto">
              <a:xfrm>
                <a:off x="2964" y="3183"/>
                <a:ext cx="60" cy="5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7" name="Text Box 20"/>
          <p:cNvSpPr txBox="1">
            <a:spLocks noChangeArrowheads="1"/>
          </p:cNvSpPr>
          <p:nvPr/>
        </p:nvSpPr>
        <p:spPr bwMode="auto">
          <a:xfrm>
            <a:off x="5734105" y="2215545"/>
            <a:ext cx="9529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基区</a:t>
            </a:r>
          </a:p>
        </p:txBody>
      </p:sp>
      <p:sp>
        <p:nvSpPr>
          <p:cNvPr id="104" name="Text Box 27"/>
          <p:cNvSpPr txBox="1">
            <a:spLocks noChangeArrowheads="1"/>
          </p:cNvSpPr>
          <p:nvPr/>
        </p:nvSpPr>
        <p:spPr bwMode="auto">
          <a:xfrm>
            <a:off x="5523898" y="1411395"/>
            <a:ext cx="12434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集电区</a:t>
            </a:r>
          </a:p>
        </p:txBody>
      </p:sp>
      <p:sp>
        <p:nvSpPr>
          <p:cNvPr id="105" name="Text Box 28"/>
          <p:cNvSpPr txBox="1">
            <a:spLocks noChangeArrowheads="1"/>
          </p:cNvSpPr>
          <p:nvPr/>
        </p:nvSpPr>
        <p:spPr bwMode="auto">
          <a:xfrm>
            <a:off x="5458610" y="3300381"/>
            <a:ext cx="12326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发射区</a:t>
            </a:r>
          </a:p>
        </p:txBody>
      </p:sp>
      <p:grpSp>
        <p:nvGrpSpPr>
          <p:cNvPr id="90" name="组合 89"/>
          <p:cNvGrpSpPr/>
          <p:nvPr/>
        </p:nvGrpSpPr>
        <p:grpSpPr>
          <a:xfrm>
            <a:off x="6841863" y="2197461"/>
            <a:ext cx="1301676" cy="664071"/>
            <a:chOff x="6841863" y="2197461"/>
            <a:chExt cx="1301676" cy="664071"/>
          </a:xfrm>
        </p:grpSpPr>
        <p:sp>
          <p:nvSpPr>
            <p:cNvPr id="102" name="Text Box 25"/>
            <p:cNvSpPr txBox="1">
              <a:spLocks noChangeArrowheads="1"/>
            </p:cNvSpPr>
            <p:nvPr/>
          </p:nvSpPr>
          <p:spPr bwMode="auto">
            <a:xfrm>
              <a:off x="6915375" y="2197461"/>
              <a:ext cx="122816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发射结</a:t>
              </a:r>
            </a:p>
          </p:txBody>
        </p:sp>
        <p:sp>
          <p:nvSpPr>
            <p:cNvPr id="108" name="Line 31"/>
            <p:cNvSpPr>
              <a:spLocks noChangeShapeType="1"/>
            </p:cNvSpPr>
            <p:nvPr/>
          </p:nvSpPr>
          <p:spPr bwMode="auto">
            <a:xfrm flipV="1">
              <a:off x="6841863" y="2609837"/>
              <a:ext cx="268045" cy="2516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6826625" y="1235548"/>
            <a:ext cx="1263126" cy="641874"/>
            <a:chOff x="6826625" y="1235548"/>
            <a:chExt cx="1263126" cy="641874"/>
          </a:xfrm>
        </p:grpSpPr>
        <p:sp>
          <p:nvSpPr>
            <p:cNvPr id="103" name="Text Box 26"/>
            <p:cNvSpPr txBox="1">
              <a:spLocks noChangeArrowheads="1"/>
            </p:cNvSpPr>
            <p:nvPr/>
          </p:nvSpPr>
          <p:spPr bwMode="auto">
            <a:xfrm>
              <a:off x="6903721" y="1235548"/>
              <a:ext cx="11860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集电结</a:t>
              </a:r>
            </a:p>
          </p:txBody>
        </p:sp>
        <p:sp>
          <p:nvSpPr>
            <p:cNvPr id="109" name="Line 32"/>
            <p:cNvSpPr>
              <a:spLocks noChangeShapeType="1"/>
            </p:cNvSpPr>
            <p:nvPr/>
          </p:nvSpPr>
          <p:spPr bwMode="auto">
            <a:xfrm flipV="1">
              <a:off x="6826625" y="1648822"/>
              <a:ext cx="30480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5563312" y="307808"/>
            <a:ext cx="1803698" cy="477540"/>
            <a:chOff x="5479229" y="339339"/>
            <a:chExt cx="1803698" cy="477540"/>
          </a:xfrm>
        </p:grpSpPr>
        <p:sp>
          <p:nvSpPr>
            <p:cNvPr id="111" name="Text Box 34"/>
            <p:cNvSpPr txBox="1">
              <a:spLocks noChangeArrowheads="1"/>
            </p:cNvSpPr>
            <p:nvPr/>
          </p:nvSpPr>
          <p:spPr bwMode="auto">
            <a:xfrm>
              <a:off x="6088829" y="355214"/>
              <a:ext cx="119409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集电极</a:t>
              </a:r>
            </a:p>
          </p:txBody>
        </p:sp>
        <p:sp>
          <p:nvSpPr>
            <p:cNvPr id="112" name="Text Box 35"/>
            <p:cNvSpPr txBox="1">
              <a:spLocks noChangeArrowheads="1"/>
            </p:cNvSpPr>
            <p:nvPr/>
          </p:nvSpPr>
          <p:spPr bwMode="auto">
            <a:xfrm>
              <a:off x="5479229" y="339339"/>
              <a:ext cx="3810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5537037" y="4096897"/>
            <a:ext cx="1752600" cy="461665"/>
            <a:chOff x="5631629" y="4012814"/>
            <a:chExt cx="1752600" cy="461665"/>
          </a:xfrm>
        </p:grpSpPr>
        <p:sp>
          <p:nvSpPr>
            <p:cNvPr id="91" name="Text Box 14"/>
            <p:cNvSpPr txBox="1">
              <a:spLocks noChangeArrowheads="1"/>
            </p:cNvSpPr>
            <p:nvPr/>
          </p:nvSpPr>
          <p:spPr bwMode="auto">
            <a:xfrm>
              <a:off x="5631629" y="4012814"/>
              <a:ext cx="3810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13" name="Text Box 36"/>
            <p:cNvSpPr txBox="1">
              <a:spLocks noChangeArrowheads="1"/>
            </p:cNvSpPr>
            <p:nvPr/>
          </p:nvSpPr>
          <p:spPr bwMode="auto">
            <a:xfrm>
              <a:off x="6165029" y="4012814"/>
              <a:ext cx="12192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发射极</a:t>
              </a: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4303956" y="1879214"/>
            <a:ext cx="838200" cy="1146568"/>
            <a:chOff x="4303956" y="1879214"/>
            <a:chExt cx="838200" cy="1146568"/>
          </a:xfrm>
        </p:grpSpPr>
        <p:sp>
          <p:nvSpPr>
            <p:cNvPr id="93" name="Text Box 16"/>
            <p:cNvSpPr txBox="1">
              <a:spLocks noChangeArrowheads="1"/>
            </p:cNvSpPr>
            <p:nvPr/>
          </p:nvSpPr>
          <p:spPr bwMode="auto">
            <a:xfrm>
              <a:off x="4412429" y="1879214"/>
              <a:ext cx="3810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14" name="Text Box 37"/>
            <p:cNvSpPr txBox="1">
              <a:spLocks noChangeArrowheads="1"/>
            </p:cNvSpPr>
            <p:nvPr/>
          </p:nvSpPr>
          <p:spPr bwMode="auto">
            <a:xfrm>
              <a:off x="4303956" y="2564117"/>
              <a:ext cx="8382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基极</a:t>
              </a: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4439559" y="356758"/>
            <a:ext cx="2576058" cy="4191000"/>
            <a:chOff x="8726278" y="399925"/>
            <a:chExt cx="2576058" cy="4191000"/>
          </a:xfrm>
        </p:grpSpPr>
        <p:grpSp>
          <p:nvGrpSpPr>
            <p:cNvPr id="98" name="组合 170"/>
            <p:cNvGrpSpPr/>
            <p:nvPr/>
          </p:nvGrpSpPr>
          <p:grpSpPr>
            <a:xfrm>
              <a:off x="8726278" y="399925"/>
              <a:ext cx="2576058" cy="4191000"/>
              <a:chOff x="4608513" y="952500"/>
              <a:chExt cx="2576058" cy="4191000"/>
            </a:xfrm>
          </p:grpSpPr>
          <p:sp>
            <p:nvSpPr>
              <p:cNvPr id="115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4608513" y="952500"/>
                <a:ext cx="2576058" cy="4191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16" name="Freeform 6"/>
              <p:cNvSpPr>
                <a:spLocks/>
              </p:cNvSpPr>
              <p:nvPr/>
            </p:nvSpPr>
            <p:spPr bwMode="auto">
              <a:xfrm>
                <a:off x="6946901" y="1724025"/>
                <a:ext cx="79375" cy="2728913"/>
              </a:xfrm>
              <a:custGeom>
                <a:avLst/>
                <a:gdLst/>
                <a:ahLst/>
                <a:cxnLst>
                  <a:cxn ang="0">
                    <a:pos x="101" y="6879"/>
                  </a:cxn>
                  <a:cxn ang="0">
                    <a:pos x="201" y="6792"/>
                  </a:cxn>
                  <a:cxn ang="0">
                    <a:pos x="201" y="0"/>
                  </a:cxn>
                  <a:cxn ang="0">
                    <a:pos x="0" y="0"/>
                  </a:cxn>
                  <a:cxn ang="0">
                    <a:pos x="0" y="6792"/>
                  </a:cxn>
                  <a:cxn ang="0">
                    <a:pos x="101" y="6879"/>
                  </a:cxn>
                  <a:cxn ang="0">
                    <a:pos x="101" y="6879"/>
                  </a:cxn>
                  <a:cxn ang="0">
                    <a:pos x="201" y="6879"/>
                  </a:cxn>
                  <a:cxn ang="0">
                    <a:pos x="201" y="6792"/>
                  </a:cxn>
                  <a:cxn ang="0">
                    <a:pos x="101" y="6879"/>
                  </a:cxn>
                </a:cxnLst>
                <a:rect l="0" t="0" r="r" b="b"/>
                <a:pathLst>
                  <a:path w="201" h="6879">
                    <a:moveTo>
                      <a:pt x="101" y="6879"/>
                    </a:moveTo>
                    <a:lnTo>
                      <a:pt x="201" y="6792"/>
                    </a:lnTo>
                    <a:lnTo>
                      <a:pt x="201" y="0"/>
                    </a:lnTo>
                    <a:lnTo>
                      <a:pt x="0" y="0"/>
                    </a:lnTo>
                    <a:lnTo>
                      <a:pt x="0" y="6792"/>
                    </a:lnTo>
                    <a:lnTo>
                      <a:pt x="101" y="6879"/>
                    </a:lnTo>
                    <a:lnTo>
                      <a:pt x="101" y="6879"/>
                    </a:lnTo>
                    <a:lnTo>
                      <a:pt x="201" y="6879"/>
                    </a:lnTo>
                    <a:lnTo>
                      <a:pt x="201" y="6792"/>
                    </a:lnTo>
                    <a:lnTo>
                      <a:pt x="101" y="6879"/>
                    </a:lnTo>
                    <a:close/>
                  </a:path>
                </a:pathLst>
              </a:custGeom>
              <a:solidFill>
                <a:srgbClr val="00A6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17" name="Freeform 5"/>
              <p:cNvSpPr>
                <a:spLocks/>
              </p:cNvSpPr>
              <p:nvPr/>
            </p:nvSpPr>
            <p:spPr bwMode="auto">
              <a:xfrm>
                <a:off x="5418138" y="1689100"/>
                <a:ext cx="1608138" cy="69850"/>
              </a:xfrm>
              <a:custGeom>
                <a:avLst/>
                <a:gdLst/>
                <a:ahLst/>
                <a:cxnLst>
                  <a:cxn ang="0">
                    <a:pos x="4051" y="86"/>
                  </a:cxn>
                  <a:cxn ang="0">
                    <a:pos x="3951" y="0"/>
                  </a:cxn>
                  <a:cxn ang="0">
                    <a:pos x="0" y="0"/>
                  </a:cxn>
                  <a:cxn ang="0">
                    <a:pos x="0" y="173"/>
                  </a:cxn>
                  <a:cxn ang="0">
                    <a:pos x="3951" y="173"/>
                  </a:cxn>
                  <a:cxn ang="0">
                    <a:pos x="4051" y="86"/>
                  </a:cxn>
                  <a:cxn ang="0">
                    <a:pos x="4051" y="86"/>
                  </a:cxn>
                  <a:cxn ang="0">
                    <a:pos x="4051" y="0"/>
                  </a:cxn>
                  <a:cxn ang="0">
                    <a:pos x="3951" y="0"/>
                  </a:cxn>
                  <a:cxn ang="0">
                    <a:pos x="4051" y="86"/>
                  </a:cxn>
                </a:cxnLst>
                <a:rect l="0" t="0" r="r" b="b"/>
                <a:pathLst>
                  <a:path w="4051" h="173">
                    <a:moveTo>
                      <a:pt x="4051" y="86"/>
                    </a:moveTo>
                    <a:lnTo>
                      <a:pt x="3951" y="0"/>
                    </a:lnTo>
                    <a:lnTo>
                      <a:pt x="0" y="0"/>
                    </a:lnTo>
                    <a:lnTo>
                      <a:pt x="0" y="173"/>
                    </a:lnTo>
                    <a:lnTo>
                      <a:pt x="3951" y="173"/>
                    </a:lnTo>
                    <a:lnTo>
                      <a:pt x="4051" y="86"/>
                    </a:lnTo>
                    <a:lnTo>
                      <a:pt x="4051" y="86"/>
                    </a:lnTo>
                    <a:lnTo>
                      <a:pt x="4051" y="0"/>
                    </a:lnTo>
                    <a:lnTo>
                      <a:pt x="3951" y="0"/>
                    </a:lnTo>
                    <a:lnTo>
                      <a:pt x="4051" y="86"/>
                    </a:lnTo>
                    <a:close/>
                  </a:path>
                </a:pathLst>
              </a:custGeom>
              <a:solidFill>
                <a:srgbClr val="00A6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18" name="Freeform 7"/>
              <p:cNvSpPr>
                <a:spLocks/>
              </p:cNvSpPr>
              <p:nvPr/>
            </p:nvSpPr>
            <p:spPr bwMode="auto">
              <a:xfrm>
                <a:off x="5378451" y="4384675"/>
                <a:ext cx="1608138" cy="68263"/>
              </a:xfrm>
              <a:custGeom>
                <a:avLst/>
                <a:gdLst/>
                <a:ahLst/>
                <a:cxnLst>
                  <a:cxn ang="0">
                    <a:pos x="0" y="87"/>
                  </a:cxn>
                  <a:cxn ang="0">
                    <a:pos x="101" y="174"/>
                  </a:cxn>
                  <a:cxn ang="0">
                    <a:pos x="4052" y="174"/>
                  </a:cxn>
                  <a:cxn ang="0">
                    <a:pos x="4052" y="0"/>
                  </a:cxn>
                  <a:cxn ang="0">
                    <a:pos x="101" y="0"/>
                  </a:cxn>
                  <a:cxn ang="0">
                    <a:pos x="0" y="87"/>
                  </a:cxn>
                  <a:cxn ang="0">
                    <a:pos x="0" y="87"/>
                  </a:cxn>
                  <a:cxn ang="0">
                    <a:pos x="0" y="174"/>
                  </a:cxn>
                  <a:cxn ang="0">
                    <a:pos x="101" y="174"/>
                  </a:cxn>
                  <a:cxn ang="0">
                    <a:pos x="0" y="87"/>
                  </a:cxn>
                </a:cxnLst>
                <a:rect l="0" t="0" r="r" b="b"/>
                <a:pathLst>
                  <a:path w="4052" h="174">
                    <a:moveTo>
                      <a:pt x="0" y="87"/>
                    </a:moveTo>
                    <a:lnTo>
                      <a:pt x="101" y="174"/>
                    </a:lnTo>
                    <a:lnTo>
                      <a:pt x="4052" y="174"/>
                    </a:lnTo>
                    <a:lnTo>
                      <a:pt x="4052" y="0"/>
                    </a:lnTo>
                    <a:lnTo>
                      <a:pt x="101" y="0"/>
                    </a:lnTo>
                    <a:lnTo>
                      <a:pt x="0" y="87"/>
                    </a:lnTo>
                    <a:lnTo>
                      <a:pt x="0" y="87"/>
                    </a:lnTo>
                    <a:lnTo>
                      <a:pt x="0" y="174"/>
                    </a:lnTo>
                    <a:lnTo>
                      <a:pt x="101" y="174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00A6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19" name="Freeform 8"/>
              <p:cNvSpPr>
                <a:spLocks/>
              </p:cNvSpPr>
              <p:nvPr/>
            </p:nvSpPr>
            <p:spPr bwMode="auto">
              <a:xfrm>
                <a:off x="5378451" y="1689100"/>
                <a:ext cx="80963" cy="2730500"/>
              </a:xfrm>
              <a:custGeom>
                <a:avLst/>
                <a:gdLst/>
                <a:ahLst/>
                <a:cxnLst>
                  <a:cxn ang="0">
                    <a:pos x="101" y="0"/>
                  </a:cxn>
                  <a:cxn ang="0">
                    <a:pos x="0" y="86"/>
                  </a:cxn>
                  <a:cxn ang="0">
                    <a:pos x="0" y="6878"/>
                  </a:cxn>
                  <a:cxn ang="0">
                    <a:pos x="202" y="6878"/>
                  </a:cxn>
                  <a:cxn ang="0">
                    <a:pos x="202" y="86"/>
                  </a:cxn>
                  <a:cxn ang="0">
                    <a:pos x="101" y="0"/>
                  </a:cxn>
                  <a:cxn ang="0">
                    <a:pos x="101" y="0"/>
                  </a:cxn>
                  <a:cxn ang="0">
                    <a:pos x="0" y="0"/>
                  </a:cxn>
                  <a:cxn ang="0">
                    <a:pos x="0" y="86"/>
                  </a:cxn>
                  <a:cxn ang="0">
                    <a:pos x="101" y="0"/>
                  </a:cxn>
                </a:cxnLst>
                <a:rect l="0" t="0" r="r" b="b"/>
                <a:pathLst>
                  <a:path w="202" h="6878">
                    <a:moveTo>
                      <a:pt x="101" y="0"/>
                    </a:moveTo>
                    <a:lnTo>
                      <a:pt x="0" y="86"/>
                    </a:lnTo>
                    <a:lnTo>
                      <a:pt x="0" y="6878"/>
                    </a:lnTo>
                    <a:lnTo>
                      <a:pt x="202" y="6878"/>
                    </a:lnTo>
                    <a:lnTo>
                      <a:pt x="202" y="86"/>
                    </a:lnTo>
                    <a:lnTo>
                      <a:pt x="101" y="0"/>
                    </a:lnTo>
                    <a:lnTo>
                      <a:pt x="101" y="0"/>
                    </a:lnTo>
                    <a:lnTo>
                      <a:pt x="0" y="0"/>
                    </a:lnTo>
                    <a:lnTo>
                      <a:pt x="0" y="86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00A6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20" name="Rectangle 9"/>
              <p:cNvSpPr>
                <a:spLocks noChangeArrowheads="1"/>
              </p:cNvSpPr>
              <p:nvPr/>
            </p:nvSpPr>
            <p:spPr bwMode="auto">
              <a:xfrm>
                <a:off x="5746751" y="1536700"/>
                <a:ext cx="849313" cy="160338"/>
              </a:xfrm>
              <a:prstGeom prst="rect">
                <a:avLst/>
              </a:prstGeom>
              <a:solidFill>
                <a:srgbClr val="AACDD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21" name="Rectangle 11"/>
              <p:cNvSpPr>
                <a:spLocks noChangeArrowheads="1"/>
              </p:cNvSpPr>
              <p:nvPr/>
            </p:nvSpPr>
            <p:spPr bwMode="auto">
              <a:xfrm>
                <a:off x="5418138" y="2495550"/>
                <a:ext cx="1568450" cy="242888"/>
              </a:xfrm>
              <a:prstGeom prst="rect">
                <a:avLst/>
              </a:prstGeom>
              <a:solidFill>
                <a:srgbClr val="EBA97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22" name="Freeform 12"/>
              <p:cNvSpPr>
                <a:spLocks/>
              </p:cNvSpPr>
              <p:nvPr/>
            </p:nvSpPr>
            <p:spPr bwMode="auto">
              <a:xfrm>
                <a:off x="5418138" y="2460625"/>
                <a:ext cx="1608138" cy="69850"/>
              </a:xfrm>
              <a:custGeom>
                <a:avLst/>
                <a:gdLst/>
                <a:ahLst/>
                <a:cxnLst>
                  <a:cxn ang="0">
                    <a:pos x="4051" y="87"/>
                  </a:cxn>
                  <a:cxn ang="0">
                    <a:pos x="3951" y="0"/>
                  </a:cxn>
                  <a:cxn ang="0">
                    <a:pos x="0" y="0"/>
                  </a:cxn>
                  <a:cxn ang="0">
                    <a:pos x="0" y="174"/>
                  </a:cxn>
                  <a:cxn ang="0">
                    <a:pos x="3951" y="174"/>
                  </a:cxn>
                  <a:cxn ang="0">
                    <a:pos x="4051" y="87"/>
                  </a:cxn>
                  <a:cxn ang="0">
                    <a:pos x="4051" y="87"/>
                  </a:cxn>
                  <a:cxn ang="0">
                    <a:pos x="4051" y="0"/>
                  </a:cxn>
                  <a:cxn ang="0">
                    <a:pos x="3951" y="0"/>
                  </a:cxn>
                  <a:cxn ang="0">
                    <a:pos x="4051" y="87"/>
                  </a:cxn>
                </a:cxnLst>
                <a:rect l="0" t="0" r="r" b="b"/>
                <a:pathLst>
                  <a:path w="4051" h="174">
                    <a:moveTo>
                      <a:pt x="4051" y="87"/>
                    </a:moveTo>
                    <a:lnTo>
                      <a:pt x="3951" y="0"/>
                    </a:lnTo>
                    <a:lnTo>
                      <a:pt x="0" y="0"/>
                    </a:lnTo>
                    <a:lnTo>
                      <a:pt x="0" y="174"/>
                    </a:lnTo>
                    <a:lnTo>
                      <a:pt x="3951" y="174"/>
                    </a:lnTo>
                    <a:lnTo>
                      <a:pt x="4051" y="87"/>
                    </a:lnTo>
                    <a:lnTo>
                      <a:pt x="4051" y="87"/>
                    </a:lnTo>
                    <a:lnTo>
                      <a:pt x="4051" y="0"/>
                    </a:lnTo>
                    <a:lnTo>
                      <a:pt x="3951" y="0"/>
                    </a:lnTo>
                    <a:lnTo>
                      <a:pt x="4051" y="87"/>
                    </a:lnTo>
                    <a:close/>
                  </a:path>
                </a:pathLst>
              </a:custGeom>
              <a:solidFill>
                <a:srgbClr val="E47F5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36" name="Freeform 13"/>
              <p:cNvSpPr>
                <a:spLocks/>
              </p:cNvSpPr>
              <p:nvPr/>
            </p:nvSpPr>
            <p:spPr bwMode="auto">
              <a:xfrm>
                <a:off x="6946901" y="2495550"/>
                <a:ext cx="79375" cy="277813"/>
              </a:xfrm>
              <a:custGeom>
                <a:avLst/>
                <a:gdLst/>
                <a:ahLst/>
                <a:cxnLst>
                  <a:cxn ang="0">
                    <a:pos x="101" y="700"/>
                  </a:cxn>
                  <a:cxn ang="0">
                    <a:pos x="201" y="613"/>
                  </a:cxn>
                  <a:cxn ang="0">
                    <a:pos x="201" y="0"/>
                  </a:cxn>
                  <a:cxn ang="0">
                    <a:pos x="0" y="0"/>
                  </a:cxn>
                  <a:cxn ang="0">
                    <a:pos x="0" y="613"/>
                  </a:cxn>
                  <a:cxn ang="0">
                    <a:pos x="101" y="700"/>
                  </a:cxn>
                  <a:cxn ang="0">
                    <a:pos x="101" y="700"/>
                  </a:cxn>
                  <a:cxn ang="0">
                    <a:pos x="201" y="700"/>
                  </a:cxn>
                  <a:cxn ang="0">
                    <a:pos x="201" y="613"/>
                  </a:cxn>
                  <a:cxn ang="0">
                    <a:pos x="101" y="700"/>
                  </a:cxn>
                </a:cxnLst>
                <a:rect l="0" t="0" r="r" b="b"/>
                <a:pathLst>
                  <a:path w="201" h="700">
                    <a:moveTo>
                      <a:pt x="101" y="700"/>
                    </a:moveTo>
                    <a:lnTo>
                      <a:pt x="201" y="613"/>
                    </a:lnTo>
                    <a:lnTo>
                      <a:pt x="201" y="0"/>
                    </a:lnTo>
                    <a:lnTo>
                      <a:pt x="0" y="0"/>
                    </a:lnTo>
                    <a:lnTo>
                      <a:pt x="0" y="613"/>
                    </a:lnTo>
                    <a:lnTo>
                      <a:pt x="101" y="700"/>
                    </a:lnTo>
                    <a:lnTo>
                      <a:pt x="101" y="700"/>
                    </a:lnTo>
                    <a:lnTo>
                      <a:pt x="201" y="700"/>
                    </a:lnTo>
                    <a:lnTo>
                      <a:pt x="201" y="613"/>
                    </a:lnTo>
                    <a:lnTo>
                      <a:pt x="101" y="700"/>
                    </a:lnTo>
                    <a:close/>
                  </a:path>
                </a:pathLst>
              </a:custGeom>
              <a:solidFill>
                <a:srgbClr val="E47F5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37" name="Freeform 14"/>
              <p:cNvSpPr>
                <a:spLocks/>
              </p:cNvSpPr>
              <p:nvPr/>
            </p:nvSpPr>
            <p:spPr bwMode="auto">
              <a:xfrm>
                <a:off x="5378451" y="2705100"/>
                <a:ext cx="1608138" cy="68263"/>
              </a:xfrm>
              <a:custGeom>
                <a:avLst/>
                <a:gdLst/>
                <a:ahLst/>
                <a:cxnLst>
                  <a:cxn ang="0">
                    <a:pos x="0" y="87"/>
                  </a:cxn>
                  <a:cxn ang="0">
                    <a:pos x="101" y="174"/>
                  </a:cxn>
                  <a:cxn ang="0">
                    <a:pos x="4052" y="174"/>
                  </a:cxn>
                  <a:cxn ang="0">
                    <a:pos x="4052" y="0"/>
                  </a:cxn>
                  <a:cxn ang="0">
                    <a:pos x="101" y="0"/>
                  </a:cxn>
                  <a:cxn ang="0">
                    <a:pos x="0" y="87"/>
                  </a:cxn>
                  <a:cxn ang="0">
                    <a:pos x="0" y="87"/>
                  </a:cxn>
                  <a:cxn ang="0">
                    <a:pos x="0" y="174"/>
                  </a:cxn>
                  <a:cxn ang="0">
                    <a:pos x="101" y="174"/>
                  </a:cxn>
                  <a:cxn ang="0">
                    <a:pos x="0" y="87"/>
                  </a:cxn>
                </a:cxnLst>
                <a:rect l="0" t="0" r="r" b="b"/>
                <a:pathLst>
                  <a:path w="4052" h="174">
                    <a:moveTo>
                      <a:pt x="0" y="87"/>
                    </a:moveTo>
                    <a:lnTo>
                      <a:pt x="101" y="174"/>
                    </a:lnTo>
                    <a:lnTo>
                      <a:pt x="4052" y="174"/>
                    </a:lnTo>
                    <a:lnTo>
                      <a:pt x="4052" y="0"/>
                    </a:lnTo>
                    <a:lnTo>
                      <a:pt x="101" y="0"/>
                    </a:lnTo>
                    <a:lnTo>
                      <a:pt x="0" y="87"/>
                    </a:lnTo>
                    <a:lnTo>
                      <a:pt x="0" y="87"/>
                    </a:lnTo>
                    <a:lnTo>
                      <a:pt x="0" y="174"/>
                    </a:lnTo>
                    <a:lnTo>
                      <a:pt x="101" y="174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E47F5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38" name="Freeform 15"/>
              <p:cNvSpPr>
                <a:spLocks/>
              </p:cNvSpPr>
              <p:nvPr/>
            </p:nvSpPr>
            <p:spPr bwMode="auto">
              <a:xfrm>
                <a:off x="5378451" y="2460625"/>
                <a:ext cx="80963" cy="277813"/>
              </a:xfrm>
              <a:custGeom>
                <a:avLst/>
                <a:gdLst/>
                <a:ahLst/>
                <a:cxnLst>
                  <a:cxn ang="0">
                    <a:pos x="101" y="0"/>
                  </a:cxn>
                  <a:cxn ang="0">
                    <a:pos x="0" y="87"/>
                  </a:cxn>
                  <a:cxn ang="0">
                    <a:pos x="0" y="700"/>
                  </a:cxn>
                  <a:cxn ang="0">
                    <a:pos x="202" y="700"/>
                  </a:cxn>
                  <a:cxn ang="0">
                    <a:pos x="202" y="87"/>
                  </a:cxn>
                  <a:cxn ang="0">
                    <a:pos x="101" y="0"/>
                  </a:cxn>
                  <a:cxn ang="0">
                    <a:pos x="101" y="0"/>
                  </a:cxn>
                  <a:cxn ang="0">
                    <a:pos x="0" y="0"/>
                  </a:cxn>
                  <a:cxn ang="0">
                    <a:pos x="0" y="87"/>
                  </a:cxn>
                  <a:cxn ang="0">
                    <a:pos x="101" y="0"/>
                  </a:cxn>
                </a:cxnLst>
                <a:rect l="0" t="0" r="r" b="b"/>
                <a:pathLst>
                  <a:path w="202" h="700">
                    <a:moveTo>
                      <a:pt x="101" y="0"/>
                    </a:moveTo>
                    <a:lnTo>
                      <a:pt x="0" y="87"/>
                    </a:lnTo>
                    <a:lnTo>
                      <a:pt x="0" y="700"/>
                    </a:lnTo>
                    <a:lnTo>
                      <a:pt x="202" y="700"/>
                    </a:lnTo>
                    <a:lnTo>
                      <a:pt x="202" y="87"/>
                    </a:lnTo>
                    <a:lnTo>
                      <a:pt x="101" y="0"/>
                    </a:lnTo>
                    <a:lnTo>
                      <a:pt x="101" y="0"/>
                    </a:lnTo>
                    <a:lnTo>
                      <a:pt x="0" y="0"/>
                    </a:lnTo>
                    <a:lnTo>
                      <a:pt x="0" y="8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E47F5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39" name="Freeform 21"/>
              <p:cNvSpPr>
                <a:spLocks/>
              </p:cNvSpPr>
              <p:nvPr/>
            </p:nvSpPr>
            <p:spPr bwMode="auto">
              <a:xfrm>
                <a:off x="4830763" y="2998788"/>
                <a:ext cx="392113" cy="69850"/>
              </a:xfrm>
              <a:custGeom>
                <a:avLst/>
                <a:gdLst/>
                <a:ahLst/>
                <a:cxnLst>
                  <a:cxn ang="0">
                    <a:pos x="988" y="86"/>
                  </a:cxn>
                  <a:cxn ang="0">
                    <a:pos x="987" y="0"/>
                  </a:cxn>
                  <a:cxn ang="0">
                    <a:pos x="973" y="0"/>
                  </a:cxn>
                  <a:cxn ang="0">
                    <a:pos x="936" y="0"/>
                  </a:cxn>
                  <a:cxn ang="0">
                    <a:pos x="865" y="0"/>
                  </a:cxn>
                  <a:cxn ang="0">
                    <a:pos x="747" y="0"/>
                  </a:cxn>
                  <a:cxn ang="0">
                    <a:pos x="571" y="0"/>
                  </a:cxn>
                  <a:cxn ang="0">
                    <a:pos x="327" y="0"/>
                  </a:cxn>
                  <a:cxn ang="0">
                    <a:pos x="0" y="0"/>
                  </a:cxn>
                  <a:cxn ang="0">
                    <a:pos x="0" y="174"/>
                  </a:cxn>
                  <a:cxn ang="0">
                    <a:pos x="327" y="174"/>
                  </a:cxn>
                  <a:cxn ang="0">
                    <a:pos x="571" y="174"/>
                  </a:cxn>
                  <a:cxn ang="0">
                    <a:pos x="747" y="174"/>
                  </a:cxn>
                  <a:cxn ang="0">
                    <a:pos x="865" y="174"/>
                  </a:cxn>
                  <a:cxn ang="0">
                    <a:pos x="936" y="174"/>
                  </a:cxn>
                  <a:cxn ang="0">
                    <a:pos x="973" y="174"/>
                  </a:cxn>
                  <a:cxn ang="0">
                    <a:pos x="987" y="174"/>
                  </a:cxn>
                  <a:cxn ang="0">
                    <a:pos x="988" y="86"/>
                  </a:cxn>
                </a:cxnLst>
                <a:rect l="0" t="0" r="r" b="b"/>
                <a:pathLst>
                  <a:path w="988" h="174">
                    <a:moveTo>
                      <a:pt x="988" y="86"/>
                    </a:moveTo>
                    <a:lnTo>
                      <a:pt x="987" y="0"/>
                    </a:lnTo>
                    <a:lnTo>
                      <a:pt x="973" y="0"/>
                    </a:lnTo>
                    <a:lnTo>
                      <a:pt x="936" y="0"/>
                    </a:lnTo>
                    <a:lnTo>
                      <a:pt x="865" y="0"/>
                    </a:lnTo>
                    <a:lnTo>
                      <a:pt x="747" y="0"/>
                    </a:lnTo>
                    <a:lnTo>
                      <a:pt x="571" y="0"/>
                    </a:lnTo>
                    <a:lnTo>
                      <a:pt x="327" y="0"/>
                    </a:lnTo>
                    <a:lnTo>
                      <a:pt x="0" y="0"/>
                    </a:lnTo>
                    <a:lnTo>
                      <a:pt x="0" y="174"/>
                    </a:lnTo>
                    <a:lnTo>
                      <a:pt x="327" y="174"/>
                    </a:lnTo>
                    <a:lnTo>
                      <a:pt x="571" y="174"/>
                    </a:lnTo>
                    <a:lnTo>
                      <a:pt x="747" y="174"/>
                    </a:lnTo>
                    <a:lnTo>
                      <a:pt x="865" y="174"/>
                    </a:lnTo>
                    <a:lnTo>
                      <a:pt x="936" y="174"/>
                    </a:lnTo>
                    <a:lnTo>
                      <a:pt x="973" y="174"/>
                    </a:lnTo>
                    <a:lnTo>
                      <a:pt x="987" y="174"/>
                    </a:lnTo>
                    <a:lnTo>
                      <a:pt x="988" y="86"/>
                    </a:lnTo>
                    <a:close/>
                  </a:path>
                </a:pathLst>
              </a:custGeom>
              <a:solidFill>
                <a:srgbClr val="0DAA3B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40" name="Freeform 26"/>
              <p:cNvSpPr>
                <a:spLocks/>
              </p:cNvSpPr>
              <p:nvPr/>
            </p:nvSpPr>
            <p:spPr bwMode="auto">
              <a:xfrm>
                <a:off x="6162676" y="1143000"/>
                <a:ext cx="79375" cy="393700"/>
              </a:xfrm>
              <a:custGeom>
                <a:avLst/>
                <a:gdLst/>
                <a:ahLst/>
                <a:cxnLst>
                  <a:cxn ang="0">
                    <a:pos x="100" y="991"/>
                  </a:cxn>
                  <a:cxn ang="0">
                    <a:pos x="201" y="989"/>
                  </a:cxn>
                  <a:cxn ang="0">
                    <a:pos x="201" y="976"/>
                  </a:cxn>
                  <a:cxn ang="0">
                    <a:pos x="201" y="938"/>
                  </a:cxn>
                  <a:cxn ang="0">
                    <a:pos x="201" y="867"/>
                  </a:cxn>
                  <a:cxn ang="0">
                    <a:pos x="201" y="749"/>
                  </a:cxn>
                  <a:cxn ang="0">
                    <a:pos x="201" y="573"/>
                  </a:cxn>
                  <a:cxn ang="0">
                    <a:pos x="201" y="327"/>
                  </a:cxn>
                  <a:cxn ang="0">
                    <a:pos x="201" y="0"/>
                  </a:cxn>
                  <a:cxn ang="0">
                    <a:pos x="0" y="0"/>
                  </a:cxn>
                  <a:cxn ang="0">
                    <a:pos x="0" y="327"/>
                  </a:cxn>
                  <a:cxn ang="0">
                    <a:pos x="0" y="573"/>
                  </a:cxn>
                  <a:cxn ang="0">
                    <a:pos x="0" y="749"/>
                  </a:cxn>
                  <a:cxn ang="0">
                    <a:pos x="0" y="867"/>
                  </a:cxn>
                  <a:cxn ang="0">
                    <a:pos x="0" y="938"/>
                  </a:cxn>
                  <a:cxn ang="0">
                    <a:pos x="0" y="976"/>
                  </a:cxn>
                  <a:cxn ang="0">
                    <a:pos x="0" y="989"/>
                  </a:cxn>
                  <a:cxn ang="0">
                    <a:pos x="100" y="991"/>
                  </a:cxn>
                </a:cxnLst>
                <a:rect l="0" t="0" r="r" b="b"/>
                <a:pathLst>
                  <a:path w="201" h="991">
                    <a:moveTo>
                      <a:pt x="100" y="991"/>
                    </a:moveTo>
                    <a:lnTo>
                      <a:pt x="201" y="989"/>
                    </a:lnTo>
                    <a:lnTo>
                      <a:pt x="201" y="976"/>
                    </a:lnTo>
                    <a:lnTo>
                      <a:pt x="201" y="938"/>
                    </a:lnTo>
                    <a:lnTo>
                      <a:pt x="201" y="867"/>
                    </a:lnTo>
                    <a:lnTo>
                      <a:pt x="201" y="749"/>
                    </a:lnTo>
                    <a:lnTo>
                      <a:pt x="201" y="573"/>
                    </a:lnTo>
                    <a:lnTo>
                      <a:pt x="201" y="327"/>
                    </a:lnTo>
                    <a:lnTo>
                      <a:pt x="201" y="0"/>
                    </a:lnTo>
                    <a:lnTo>
                      <a:pt x="0" y="0"/>
                    </a:lnTo>
                    <a:lnTo>
                      <a:pt x="0" y="327"/>
                    </a:lnTo>
                    <a:lnTo>
                      <a:pt x="0" y="573"/>
                    </a:lnTo>
                    <a:lnTo>
                      <a:pt x="0" y="749"/>
                    </a:lnTo>
                    <a:lnTo>
                      <a:pt x="0" y="867"/>
                    </a:lnTo>
                    <a:lnTo>
                      <a:pt x="0" y="938"/>
                    </a:lnTo>
                    <a:lnTo>
                      <a:pt x="0" y="976"/>
                    </a:lnTo>
                    <a:lnTo>
                      <a:pt x="0" y="989"/>
                    </a:lnTo>
                    <a:lnTo>
                      <a:pt x="100" y="991"/>
                    </a:lnTo>
                    <a:close/>
                  </a:path>
                </a:pathLst>
              </a:custGeom>
              <a:solidFill>
                <a:srgbClr val="00A6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41" name="Freeform 27"/>
              <p:cNvSpPr>
                <a:spLocks/>
              </p:cNvSpPr>
              <p:nvPr/>
            </p:nvSpPr>
            <p:spPr bwMode="auto">
              <a:xfrm>
                <a:off x="6167438" y="4549775"/>
                <a:ext cx="79375" cy="393700"/>
              </a:xfrm>
              <a:custGeom>
                <a:avLst/>
                <a:gdLst/>
                <a:ahLst/>
                <a:cxnLst>
                  <a:cxn ang="0">
                    <a:pos x="100" y="991"/>
                  </a:cxn>
                  <a:cxn ang="0">
                    <a:pos x="201" y="989"/>
                  </a:cxn>
                  <a:cxn ang="0">
                    <a:pos x="201" y="976"/>
                  </a:cxn>
                  <a:cxn ang="0">
                    <a:pos x="201" y="939"/>
                  </a:cxn>
                  <a:cxn ang="0">
                    <a:pos x="201" y="868"/>
                  </a:cxn>
                  <a:cxn ang="0">
                    <a:pos x="201" y="749"/>
                  </a:cxn>
                  <a:cxn ang="0">
                    <a:pos x="201" y="572"/>
                  </a:cxn>
                  <a:cxn ang="0">
                    <a:pos x="201" y="327"/>
                  </a:cxn>
                  <a:cxn ang="0">
                    <a:pos x="201" y="0"/>
                  </a:cxn>
                  <a:cxn ang="0">
                    <a:pos x="0" y="0"/>
                  </a:cxn>
                  <a:cxn ang="0">
                    <a:pos x="0" y="327"/>
                  </a:cxn>
                  <a:cxn ang="0">
                    <a:pos x="0" y="572"/>
                  </a:cxn>
                  <a:cxn ang="0">
                    <a:pos x="0" y="749"/>
                  </a:cxn>
                  <a:cxn ang="0">
                    <a:pos x="0" y="868"/>
                  </a:cxn>
                  <a:cxn ang="0">
                    <a:pos x="0" y="939"/>
                  </a:cxn>
                  <a:cxn ang="0">
                    <a:pos x="0" y="976"/>
                  </a:cxn>
                  <a:cxn ang="0">
                    <a:pos x="0" y="989"/>
                  </a:cxn>
                  <a:cxn ang="0">
                    <a:pos x="100" y="991"/>
                  </a:cxn>
                </a:cxnLst>
                <a:rect l="0" t="0" r="r" b="b"/>
                <a:pathLst>
                  <a:path w="201" h="991">
                    <a:moveTo>
                      <a:pt x="100" y="991"/>
                    </a:moveTo>
                    <a:lnTo>
                      <a:pt x="201" y="989"/>
                    </a:lnTo>
                    <a:lnTo>
                      <a:pt x="201" y="976"/>
                    </a:lnTo>
                    <a:lnTo>
                      <a:pt x="201" y="939"/>
                    </a:lnTo>
                    <a:lnTo>
                      <a:pt x="201" y="868"/>
                    </a:lnTo>
                    <a:lnTo>
                      <a:pt x="201" y="749"/>
                    </a:lnTo>
                    <a:lnTo>
                      <a:pt x="201" y="572"/>
                    </a:lnTo>
                    <a:lnTo>
                      <a:pt x="201" y="327"/>
                    </a:lnTo>
                    <a:lnTo>
                      <a:pt x="201" y="0"/>
                    </a:lnTo>
                    <a:lnTo>
                      <a:pt x="0" y="0"/>
                    </a:lnTo>
                    <a:lnTo>
                      <a:pt x="0" y="327"/>
                    </a:lnTo>
                    <a:lnTo>
                      <a:pt x="0" y="572"/>
                    </a:lnTo>
                    <a:lnTo>
                      <a:pt x="0" y="749"/>
                    </a:lnTo>
                    <a:lnTo>
                      <a:pt x="0" y="868"/>
                    </a:lnTo>
                    <a:lnTo>
                      <a:pt x="0" y="939"/>
                    </a:lnTo>
                    <a:lnTo>
                      <a:pt x="0" y="976"/>
                    </a:lnTo>
                    <a:lnTo>
                      <a:pt x="0" y="989"/>
                    </a:lnTo>
                    <a:lnTo>
                      <a:pt x="100" y="991"/>
                    </a:lnTo>
                    <a:close/>
                  </a:path>
                </a:pathLst>
              </a:custGeom>
              <a:solidFill>
                <a:srgbClr val="00A7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42" name="Freeform 32"/>
              <p:cNvSpPr>
                <a:spLocks/>
              </p:cNvSpPr>
              <p:nvPr/>
            </p:nvSpPr>
            <p:spPr bwMode="auto">
              <a:xfrm>
                <a:off x="5657851" y="2497138"/>
                <a:ext cx="217488" cy="225425"/>
              </a:xfrm>
              <a:custGeom>
                <a:avLst/>
                <a:gdLst/>
                <a:ahLst/>
                <a:cxnLst>
                  <a:cxn ang="0">
                    <a:pos x="0" y="566"/>
                  </a:cxn>
                  <a:cxn ang="0">
                    <a:pos x="182" y="380"/>
                  </a:cxn>
                  <a:cxn ang="0">
                    <a:pos x="317" y="238"/>
                  </a:cxn>
                  <a:cxn ang="0">
                    <a:pos x="414" y="138"/>
                  </a:cxn>
                  <a:cxn ang="0">
                    <a:pos x="480" y="71"/>
                  </a:cxn>
                  <a:cxn ang="0">
                    <a:pos x="520" y="30"/>
                  </a:cxn>
                  <a:cxn ang="0">
                    <a:pos x="540" y="9"/>
                  </a:cxn>
                  <a:cxn ang="0">
                    <a:pos x="548" y="1"/>
                  </a:cxn>
                  <a:cxn ang="0">
                    <a:pos x="549" y="0"/>
                  </a:cxn>
                </a:cxnLst>
                <a:rect l="0" t="0" r="r" b="b"/>
                <a:pathLst>
                  <a:path w="549" h="566">
                    <a:moveTo>
                      <a:pt x="0" y="566"/>
                    </a:moveTo>
                    <a:lnTo>
                      <a:pt x="182" y="380"/>
                    </a:lnTo>
                    <a:lnTo>
                      <a:pt x="317" y="238"/>
                    </a:lnTo>
                    <a:lnTo>
                      <a:pt x="414" y="138"/>
                    </a:lnTo>
                    <a:lnTo>
                      <a:pt x="480" y="71"/>
                    </a:lnTo>
                    <a:lnTo>
                      <a:pt x="520" y="30"/>
                    </a:lnTo>
                    <a:lnTo>
                      <a:pt x="540" y="9"/>
                    </a:lnTo>
                    <a:lnTo>
                      <a:pt x="548" y="1"/>
                    </a:lnTo>
                    <a:lnTo>
                      <a:pt x="549" y="0"/>
                    </a:lnTo>
                  </a:path>
                </a:pathLst>
              </a:custGeom>
              <a:noFill/>
              <a:ln w="2">
                <a:solidFill>
                  <a:srgbClr val="E47F5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43" name="Freeform 33"/>
              <p:cNvSpPr>
                <a:spLocks/>
              </p:cNvSpPr>
              <p:nvPr/>
            </p:nvSpPr>
            <p:spPr bwMode="auto">
              <a:xfrm>
                <a:off x="5873751" y="2497138"/>
                <a:ext cx="217488" cy="225425"/>
              </a:xfrm>
              <a:custGeom>
                <a:avLst/>
                <a:gdLst/>
                <a:ahLst/>
                <a:cxnLst>
                  <a:cxn ang="0">
                    <a:pos x="0" y="566"/>
                  </a:cxn>
                  <a:cxn ang="0">
                    <a:pos x="182" y="380"/>
                  </a:cxn>
                  <a:cxn ang="0">
                    <a:pos x="317" y="238"/>
                  </a:cxn>
                  <a:cxn ang="0">
                    <a:pos x="414" y="138"/>
                  </a:cxn>
                  <a:cxn ang="0">
                    <a:pos x="480" y="71"/>
                  </a:cxn>
                  <a:cxn ang="0">
                    <a:pos x="520" y="30"/>
                  </a:cxn>
                  <a:cxn ang="0">
                    <a:pos x="540" y="9"/>
                  </a:cxn>
                  <a:cxn ang="0">
                    <a:pos x="548" y="1"/>
                  </a:cxn>
                  <a:cxn ang="0">
                    <a:pos x="549" y="0"/>
                  </a:cxn>
                </a:cxnLst>
                <a:rect l="0" t="0" r="r" b="b"/>
                <a:pathLst>
                  <a:path w="549" h="566">
                    <a:moveTo>
                      <a:pt x="0" y="566"/>
                    </a:moveTo>
                    <a:lnTo>
                      <a:pt x="182" y="380"/>
                    </a:lnTo>
                    <a:lnTo>
                      <a:pt x="317" y="238"/>
                    </a:lnTo>
                    <a:lnTo>
                      <a:pt x="414" y="138"/>
                    </a:lnTo>
                    <a:lnTo>
                      <a:pt x="480" y="71"/>
                    </a:lnTo>
                    <a:lnTo>
                      <a:pt x="520" y="30"/>
                    </a:lnTo>
                    <a:lnTo>
                      <a:pt x="540" y="9"/>
                    </a:lnTo>
                    <a:lnTo>
                      <a:pt x="548" y="1"/>
                    </a:lnTo>
                    <a:lnTo>
                      <a:pt x="549" y="0"/>
                    </a:lnTo>
                  </a:path>
                </a:pathLst>
              </a:custGeom>
              <a:noFill/>
              <a:ln w="2">
                <a:solidFill>
                  <a:srgbClr val="E47F5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44" name="Freeform 34"/>
              <p:cNvSpPr>
                <a:spLocks/>
              </p:cNvSpPr>
              <p:nvPr/>
            </p:nvSpPr>
            <p:spPr bwMode="auto">
              <a:xfrm>
                <a:off x="6091238" y="2497138"/>
                <a:ext cx="217488" cy="225425"/>
              </a:xfrm>
              <a:custGeom>
                <a:avLst/>
                <a:gdLst/>
                <a:ahLst/>
                <a:cxnLst>
                  <a:cxn ang="0">
                    <a:pos x="0" y="566"/>
                  </a:cxn>
                  <a:cxn ang="0">
                    <a:pos x="182" y="380"/>
                  </a:cxn>
                  <a:cxn ang="0">
                    <a:pos x="317" y="238"/>
                  </a:cxn>
                  <a:cxn ang="0">
                    <a:pos x="416" y="138"/>
                  </a:cxn>
                  <a:cxn ang="0">
                    <a:pos x="480" y="71"/>
                  </a:cxn>
                  <a:cxn ang="0">
                    <a:pos x="520" y="30"/>
                  </a:cxn>
                  <a:cxn ang="0">
                    <a:pos x="540" y="9"/>
                  </a:cxn>
                  <a:cxn ang="0">
                    <a:pos x="548" y="1"/>
                  </a:cxn>
                  <a:cxn ang="0">
                    <a:pos x="549" y="0"/>
                  </a:cxn>
                </a:cxnLst>
                <a:rect l="0" t="0" r="r" b="b"/>
                <a:pathLst>
                  <a:path w="549" h="566">
                    <a:moveTo>
                      <a:pt x="0" y="566"/>
                    </a:moveTo>
                    <a:lnTo>
                      <a:pt x="182" y="380"/>
                    </a:lnTo>
                    <a:lnTo>
                      <a:pt x="317" y="238"/>
                    </a:lnTo>
                    <a:lnTo>
                      <a:pt x="416" y="138"/>
                    </a:lnTo>
                    <a:lnTo>
                      <a:pt x="480" y="71"/>
                    </a:lnTo>
                    <a:lnTo>
                      <a:pt x="520" y="30"/>
                    </a:lnTo>
                    <a:lnTo>
                      <a:pt x="540" y="9"/>
                    </a:lnTo>
                    <a:lnTo>
                      <a:pt x="548" y="1"/>
                    </a:lnTo>
                    <a:lnTo>
                      <a:pt x="549" y="0"/>
                    </a:lnTo>
                  </a:path>
                </a:pathLst>
              </a:custGeom>
              <a:noFill/>
              <a:ln w="2">
                <a:solidFill>
                  <a:srgbClr val="E47F5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45" name="Freeform 35"/>
              <p:cNvSpPr>
                <a:spLocks/>
              </p:cNvSpPr>
              <p:nvPr/>
            </p:nvSpPr>
            <p:spPr bwMode="auto">
              <a:xfrm>
                <a:off x="6307138" y="2497138"/>
                <a:ext cx="217488" cy="225425"/>
              </a:xfrm>
              <a:custGeom>
                <a:avLst/>
                <a:gdLst/>
                <a:ahLst/>
                <a:cxnLst>
                  <a:cxn ang="0">
                    <a:pos x="0" y="566"/>
                  </a:cxn>
                  <a:cxn ang="0">
                    <a:pos x="182" y="380"/>
                  </a:cxn>
                  <a:cxn ang="0">
                    <a:pos x="317" y="238"/>
                  </a:cxn>
                  <a:cxn ang="0">
                    <a:pos x="416" y="138"/>
                  </a:cxn>
                  <a:cxn ang="0">
                    <a:pos x="480" y="71"/>
                  </a:cxn>
                  <a:cxn ang="0">
                    <a:pos x="520" y="30"/>
                  </a:cxn>
                  <a:cxn ang="0">
                    <a:pos x="540" y="9"/>
                  </a:cxn>
                  <a:cxn ang="0">
                    <a:pos x="548" y="1"/>
                  </a:cxn>
                  <a:cxn ang="0">
                    <a:pos x="549" y="0"/>
                  </a:cxn>
                </a:cxnLst>
                <a:rect l="0" t="0" r="r" b="b"/>
                <a:pathLst>
                  <a:path w="549" h="566">
                    <a:moveTo>
                      <a:pt x="0" y="566"/>
                    </a:moveTo>
                    <a:lnTo>
                      <a:pt x="182" y="380"/>
                    </a:lnTo>
                    <a:lnTo>
                      <a:pt x="317" y="238"/>
                    </a:lnTo>
                    <a:lnTo>
                      <a:pt x="416" y="138"/>
                    </a:lnTo>
                    <a:lnTo>
                      <a:pt x="480" y="71"/>
                    </a:lnTo>
                    <a:lnTo>
                      <a:pt x="520" y="30"/>
                    </a:lnTo>
                    <a:lnTo>
                      <a:pt x="540" y="9"/>
                    </a:lnTo>
                    <a:lnTo>
                      <a:pt x="548" y="1"/>
                    </a:lnTo>
                    <a:lnTo>
                      <a:pt x="549" y="0"/>
                    </a:lnTo>
                  </a:path>
                </a:pathLst>
              </a:custGeom>
              <a:noFill/>
              <a:ln w="2">
                <a:solidFill>
                  <a:srgbClr val="E47F5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46" name="Freeform 36"/>
              <p:cNvSpPr>
                <a:spLocks/>
              </p:cNvSpPr>
              <p:nvPr/>
            </p:nvSpPr>
            <p:spPr bwMode="auto">
              <a:xfrm>
                <a:off x="6524626" y="2497138"/>
                <a:ext cx="217488" cy="225425"/>
              </a:xfrm>
              <a:custGeom>
                <a:avLst/>
                <a:gdLst/>
                <a:ahLst/>
                <a:cxnLst>
                  <a:cxn ang="0">
                    <a:pos x="0" y="566"/>
                  </a:cxn>
                  <a:cxn ang="0">
                    <a:pos x="182" y="380"/>
                  </a:cxn>
                  <a:cxn ang="0">
                    <a:pos x="318" y="238"/>
                  </a:cxn>
                  <a:cxn ang="0">
                    <a:pos x="416" y="138"/>
                  </a:cxn>
                  <a:cxn ang="0">
                    <a:pos x="480" y="71"/>
                  </a:cxn>
                  <a:cxn ang="0">
                    <a:pos x="520" y="30"/>
                  </a:cxn>
                  <a:cxn ang="0">
                    <a:pos x="540" y="9"/>
                  </a:cxn>
                  <a:cxn ang="0">
                    <a:pos x="549" y="1"/>
                  </a:cxn>
                  <a:cxn ang="0">
                    <a:pos x="549" y="0"/>
                  </a:cxn>
                </a:cxnLst>
                <a:rect l="0" t="0" r="r" b="b"/>
                <a:pathLst>
                  <a:path w="549" h="566">
                    <a:moveTo>
                      <a:pt x="0" y="566"/>
                    </a:moveTo>
                    <a:lnTo>
                      <a:pt x="182" y="380"/>
                    </a:lnTo>
                    <a:lnTo>
                      <a:pt x="318" y="238"/>
                    </a:lnTo>
                    <a:lnTo>
                      <a:pt x="416" y="138"/>
                    </a:lnTo>
                    <a:lnTo>
                      <a:pt x="480" y="71"/>
                    </a:lnTo>
                    <a:lnTo>
                      <a:pt x="520" y="30"/>
                    </a:lnTo>
                    <a:lnTo>
                      <a:pt x="540" y="9"/>
                    </a:lnTo>
                    <a:lnTo>
                      <a:pt x="549" y="1"/>
                    </a:lnTo>
                    <a:lnTo>
                      <a:pt x="549" y="0"/>
                    </a:lnTo>
                  </a:path>
                </a:pathLst>
              </a:custGeom>
              <a:noFill/>
              <a:ln w="2">
                <a:solidFill>
                  <a:srgbClr val="E47F5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47" name="Freeform 37"/>
              <p:cNvSpPr>
                <a:spLocks/>
              </p:cNvSpPr>
              <p:nvPr/>
            </p:nvSpPr>
            <p:spPr bwMode="auto">
              <a:xfrm>
                <a:off x="6740526" y="2497138"/>
                <a:ext cx="219075" cy="225425"/>
              </a:xfrm>
              <a:custGeom>
                <a:avLst/>
                <a:gdLst/>
                <a:ahLst/>
                <a:cxnLst>
                  <a:cxn ang="0">
                    <a:pos x="0" y="566"/>
                  </a:cxn>
                  <a:cxn ang="0">
                    <a:pos x="182" y="380"/>
                  </a:cxn>
                  <a:cxn ang="0">
                    <a:pos x="318" y="238"/>
                  </a:cxn>
                  <a:cxn ang="0">
                    <a:pos x="416" y="138"/>
                  </a:cxn>
                  <a:cxn ang="0">
                    <a:pos x="480" y="71"/>
                  </a:cxn>
                  <a:cxn ang="0">
                    <a:pos x="520" y="30"/>
                  </a:cxn>
                  <a:cxn ang="0">
                    <a:pos x="540" y="9"/>
                  </a:cxn>
                  <a:cxn ang="0">
                    <a:pos x="549" y="1"/>
                  </a:cxn>
                  <a:cxn ang="0">
                    <a:pos x="550" y="0"/>
                  </a:cxn>
                </a:cxnLst>
                <a:rect l="0" t="0" r="r" b="b"/>
                <a:pathLst>
                  <a:path w="550" h="566">
                    <a:moveTo>
                      <a:pt x="0" y="566"/>
                    </a:moveTo>
                    <a:lnTo>
                      <a:pt x="182" y="380"/>
                    </a:lnTo>
                    <a:lnTo>
                      <a:pt x="318" y="238"/>
                    </a:lnTo>
                    <a:lnTo>
                      <a:pt x="416" y="138"/>
                    </a:lnTo>
                    <a:lnTo>
                      <a:pt x="480" y="71"/>
                    </a:lnTo>
                    <a:lnTo>
                      <a:pt x="520" y="30"/>
                    </a:lnTo>
                    <a:lnTo>
                      <a:pt x="540" y="9"/>
                    </a:lnTo>
                    <a:lnTo>
                      <a:pt x="549" y="1"/>
                    </a:lnTo>
                    <a:lnTo>
                      <a:pt x="550" y="0"/>
                    </a:lnTo>
                  </a:path>
                </a:pathLst>
              </a:custGeom>
              <a:noFill/>
              <a:ln w="2">
                <a:solidFill>
                  <a:srgbClr val="E47F5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48" name="Freeform 38"/>
              <p:cNvSpPr>
                <a:spLocks/>
              </p:cNvSpPr>
              <p:nvPr/>
            </p:nvSpPr>
            <p:spPr bwMode="auto">
              <a:xfrm>
                <a:off x="5440363" y="2497138"/>
                <a:ext cx="217488" cy="225425"/>
              </a:xfrm>
              <a:custGeom>
                <a:avLst/>
                <a:gdLst/>
                <a:ahLst/>
                <a:cxnLst>
                  <a:cxn ang="0">
                    <a:pos x="0" y="566"/>
                  </a:cxn>
                  <a:cxn ang="0">
                    <a:pos x="182" y="380"/>
                  </a:cxn>
                  <a:cxn ang="0">
                    <a:pos x="317" y="238"/>
                  </a:cxn>
                  <a:cxn ang="0">
                    <a:pos x="414" y="138"/>
                  </a:cxn>
                  <a:cxn ang="0">
                    <a:pos x="480" y="71"/>
                  </a:cxn>
                  <a:cxn ang="0">
                    <a:pos x="520" y="30"/>
                  </a:cxn>
                  <a:cxn ang="0">
                    <a:pos x="540" y="9"/>
                  </a:cxn>
                  <a:cxn ang="0">
                    <a:pos x="548" y="1"/>
                  </a:cxn>
                  <a:cxn ang="0">
                    <a:pos x="549" y="0"/>
                  </a:cxn>
                </a:cxnLst>
                <a:rect l="0" t="0" r="r" b="b"/>
                <a:pathLst>
                  <a:path w="549" h="566">
                    <a:moveTo>
                      <a:pt x="0" y="566"/>
                    </a:moveTo>
                    <a:lnTo>
                      <a:pt x="182" y="380"/>
                    </a:lnTo>
                    <a:lnTo>
                      <a:pt x="317" y="238"/>
                    </a:lnTo>
                    <a:lnTo>
                      <a:pt x="414" y="138"/>
                    </a:lnTo>
                    <a:lnTo>
                      <a:pt x="480" y="71"/>
                    </a:lnTo>
                    <a:lnTo>
                      <a:pt x="520" y="30"/>
                    </a:lnTo>
                    <a:lnTo>
                      <a:pt x="540" y="9"/>
                    </a:lnTo>
                    <a:lnTo>
                      <a:pt x="548" y="1"/>
                    </a:lnTo>
                    <a:lnTo>
                      <a:pt x="549" y="0"/>
                    </a:lnTo>
                  </a:path>
                </a:pathLst>
              </a:custGeom>
              <a:noFill/>
              <a:ln w="2">
                <a:solidFill>
                  <a:srgbClr val="E47F5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49" name="Rectangle 85"/>
              <p:cNvSpPr>
                <a:spLocks noChangeArrowheads="1"/>
              </p:cNvSpPr>
              <p:nvPr/>
            </p:nvSpPr>
            <p:spPr bwMode="auto">
              <a:xfrm>
                <a:off x="5418138" y="3427413"/>
                <a:ext cx="1568450" cy="242888"/>
              </a:xfrm>
              <a:prstGeom prst="rect">
                <a:avLst/>
              </a:prstGeom>
              <a:solidFill>
                <a:srgbClr val="007EC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50" name="Freeform 86"/>
              <p:cNvSpPr>
                <a:spLocks/>
              </p:cNvSpPr>
              <p:nvPr/>
            </p:nvSpPr>
            <p:spPr bwMode="auto">
              <a:xfrm>
                <a:off x="5418138" y="3392488"/>
                <a:ext cx="1608138" cy="69850"/>
              </a:xfrm>
              <a:custGeom>
                <a:avLst/>
                <a:gdLst/>
                <a:ahLst/>
                <a:cxnLst>
                  <a:cxn ang="0">
                    <a:pos x="4051" y="87"/>
                  </a:cxn>
                  <a:cxn ang="0">
                    <a:pos x="3951" y="0"/>
                  </a:cxn>
                  <a:cxn ang="0">
                    <a:pos x="0" y="0"/>
                  </a:cxn>
                  <a:cxn ang="0">
                    <a:pos x="0" y="174"/>
                  </a:cxn>
                  <a:cxn ang="0">
                    <a:pos x="3951" y="174"/>
                  </a:cxn>
                  <a:cxn ang="0">
                    <a:pos x="4051" y="87"/>
                  </a:cxn>
                  <a:cxn ang="0">
                    <a:pos x="4051" y="87"/>
                  </a:cxn>
                  <a:cxn ang="0">
                    <a:pos x="4051" y="0"/>
                  </a:cxn>
                  <a:cxn ang="0">
                    <a:pos x="3951" y="0"/>
                  </a:cxn>
                  <a:cxn ang="0">
                    <a:pos x="4051" y="87"/>
                  </a:cxn>
                </a:cxnLst>
                <a:rect l="0" t="0" r="r" b="b"/>
                <a:pathLst>
                  <a:path w="4051" h="174">
                    <a:moveTo>
                      <a:pt x="4051" y="87"/>
                    </a:moveTo>
                    <a:lnTo>
                      <a:pt x="3951" y="0"/>
                    </a:lnTo>
                    <a:lnTo>
                      <a:pt x="0" y="0"/>
                    </a:lnTo>
                    <a:lnTo>
                      <a:pt x="0" y="174"/>
                    </a:lnTo>
                    <a:lnTo>
                      <a:pt x="3951" y="174"/>
                    </a:lnTo>
                    <a:lnTo>
                      <a:pt x="4051" y="87"/>
                    </a:lnTo>
                    <a:lnTo>
                      <a:pt x="4051" y="87"/>
                    </a:lnTo>
                    <a:lnTo>
                      <a:pt x="4051" y="0"/>
                    </a:lnTo>
                    <a:lnTo>
                      <a:pt x="3951" y="0"/>
                    </a:lnTo>
                    <a:lnTo>
                      <a:pt x="4051" y="87"/>
                    </a:lnTo>
                    <a:close/>
                  </a:path>
                </a:pathLst>
              </a:custGeom>
              <a:solidFill>
                <a:srgbClr val="14A4E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51" name="Freeform 87"/>
              <p:cNvSpPr>
                <a:spLocks/>
              </p:cNvSpPr>
              <p:nvPr/>
            </p:nvSpPr>
            <p:spPr bwMode="auto">
              <a:xfrm>
                <a:off x="6946901" y="3427413"/>
                <a:ext cx="79375" cy="277813"/>
              </a:xfrm>
              <a:custGeom>
                <a:avLst/>
                <a:gdLst/>
                <a:ahLst/>
                <a:cxnLst>
                  <a:cxn ang="0">
                    <a:pos x="101" y="700"/>
                  </a:cxn>
                  <a:cxn ang="0">
                    <a:pos x="201" y="613"/>
                  </a:cxn>
                  <a:cxn ang="0">
                    <a:pos x="201" y="0"/>
                  </a:cxn>
                  <a:cxn ang="0">
                    <a:pos x="0" y="0"/>
                  </a:cxn>
                  <a:cxn ang="0">
                    <a:pos x="0" y="613"/>
                  </a:cxn>
                  <a:cxn ang="0">
                    <a:pos x="101" y="700"/>
                  </a:cxn>
                  <a:cxn ang="0">
                    <a:pos x="101" y="700"/>
                  </a:cxn>
                  <a:cxn ang="0">
                    <a:pos x="201" y="700"/>
                  </a:cxn>
                  <a:cxn ang="0">
                    <a:pos x="201" y="613"/>
                  </a:cxn>
                  <a:cxn ang="0">
                    <a:pos x="101" y="700"/>
                  </a:cxn>
                </a:cxnLst>
                <a:rect l="0" t="0" r="r" b="b"/>
                <a:pathLst>
                  <a:path w="201" h="700">
                    <a:moveTo>
                      <a:pt x="101" y="700"/>
                    </a:moveTo>
                    <a:lnTo>
                      <a:pt x="201" y="613"/>
                    </a:lnTo>
                    <a:lnTo>
                      <a:pt x="201" y="0"/>
                    </a:lnTo>
                    <a:lnTo>
                      <a:pt x="0" y="0"/>
                    </a:lnTo>
                    <a:lnTo>
                      <a:pt x="0" y="613"/>
                    </a:lnTo>
                    <a:lnTo>
                      <a:pt x="101" y="700"/>
                    </a:lnTo>
                    <a:lnTo>
                      <a:pt x="101" y="700"/>
                    </a:lnTo>
                    <a:lnTo>
                      <a:pt x="201" y="700"/>
                    </a:lnTo>
                    <a:lnTo>
                      <a:pt x="201" y="613"/>
                    </a:lnTo>
                    <a:lnTo>
                      <a:pt x="101" y="700"/>
                    </a:lnTo>
                    <a:close/>
                  </a:path>
                </a:pathLst>
              </a:custGeom>
              <a:solidFill>
                <a:srgbClr val="14A4E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52" name="Freeform 88"/>
              <p:cNvSpPr>
                <a:spLocks/>
              </p:cNvSpPr>
              <p:nvPr/>
            </p:nvSpPr>
            <p:spPr bwMode="auto">
              <a:xfrm>
                <a:off x="5378451" y="3635375"/>
                <a:ext cx="1608138" cy="69850"/>
              </a:xfrm>
              <a:custGeom>
                <a:avLst/>
                <a:gdLst/>
                <a:ahLst/>
                <a:cxnLst>
                  <a:cxn ang="0">
                    <a:pos x="0" y="86"/>
                  </a:cxn>
                  <a:cxn ang="0">
                    <a:pos x="101" y="173"/>
                  </a:cxn>
                  <a:cxn ang="0">
                    <a:pos x="4052" y="173"/>
                  </a:cxn>
                  <a:cxn ang="0">
                    <a:pos x="4052" y="0"/>
                  </a:cxn>
                  <a:cxn ang="0">
                    <a:pos x="101" y="0"/>
                  </a:cxn>
                  <a:cxn ang="0">
                    <a:pos x="0" y="86"/>
                  </a:cxn>
                  <a:cxn ang="0">
                    <a:pos x="0" y="86"/>
                  </a:cxn>
                  <a:cxn ang="0">
                    <a:pos x="0" y="173"/>
                  </a:cxn>
                  <a:cxn ang="0">
                    <a:pos x="101" y="173"/>
                  </a:cxn>
                  <a:cxn ang="0">
                    <a:pos x="0" y="86"/>
                  </a:cxn>
                </a:cxnLst>
                <a:rect l="0" t="0" r="r" b="b"/>
                <a:pathLst>
                  <a:path w="4052" h="173">
                    <a:moveTo>
                      <a:pt x="0" y="86"/>
                    </a:moveTo>
                    <a:lnTo>
                      <a:pt x="101" y="173"/>
                    </a:lnTo>
                    <a:lnTo>
                      <a:pt x="4052" y="173"/>
                    </a:lnTo>
                    <a:lnTo>
                      <a:pt x="4052" y="0"/>
                    </a:lnTo>
                    <a:lnTo>
                      <a:pt x="101" y="0"/>
                    </a:lnTo>
                    <a:lnTo>
                      <a:pt x="0" y="86"/>
                    </a:lnTo>
                    <a:lnTo>
                      <a:pt x="0" y="86"/>
                    </a:lnTo>
                    <a:lnTo>
                      <a:pt x="0" y="173"/>
                    </a:lnTo>
                    <a:lnTo>
                      <a:pt x="101" y="173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14A4E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53" name="Freeform 89"/>
              <p:cNvSpPr>
                <a:spLocks/>
              </p:cNvSpPr>
              <p:nvPr/>
            </p:nvSpPr>
            <p:spPr bwMode="auto">
              <a:xfrm>
                <a:off x="5378451" y="3392488"/>
                <a:ext cx="80963" cy="277813"/>
              </a:xfrm>
              <a:custGeom>
                <a:avLst/>
                <a:gdLst/>
                <a:ahLst/>
                <a:cxnLst>
                  <a:cxn ang="0">
                    <a:pos x="101" y="0"/>
                  </a:cxn>
                  <a:cxn ang="0">
                    <a:pos x="0" y="87"/>
                  </a:cxn>
                  <a:cxn ang="0">
                    <a:pos x="0" y="700"/>
                  </a:cxn>
                  <a:cxn ang="0">
                    <a:pos x="202" y="700"/>
                  </a:cxn>
                  <a:cxn ang="0">
                    <a:pos x="202" y="87"/>
                  </a:cxn>
                  <a:cxn ang="0">
                    <a:pos x="101" y="0"/>
                  </a:cxn>
                  <a:cxn ang="0">
                    <a:pos x="101" y="0"/>
                  </a:cxn>
                  <a:cxn ang="0">
                    <a:pos x="0" y="0"/>
                  </a:cxn>
                  <a:cxn ang="0">
                    <a:pos x="0" y="87"/>
                  </a:cxn>
                  <a:cxn ang="0">
                    <a:pos x="101" y="0"/>
                  </a:cxn>
                </a:cxnLst>
                <a:rect l="0" t="0" r="r" b="b"/>
                <a:pathLst>
                  <a:path w="202" h="700">
                    <a:moveTo>
                      <a:pt x="101" y="0"/>
                    </a:moveTo>
                    <a:lnTo>
                      <a:pt x="0" y="87"/>
                    </a:lnTo>
                    <a:lnTo>
                      <a:pt x="0" y="700"/>
                    </a:lnTo>
                    <a:lnTo>
                      <a:pt x="202" y="700"/>
                    </a:lnTo>
                    <a:lnTo>
                      <a:pt x="202" y="87"/>
                    </a:lnTo>
                    <a:lnTo>
                      <a:pt x="101" y="0"/>
                    </a:lnTo>
                    <a:lnTo>
                      <a:pt x="101" y="0"/>
                    </a:lnTo>
                    <a:lnTo>
                      <a:pt x="0" y="0"/>
                    </a:lnTo>
                    <a:lnTo>
                      <a:pt x="0" y="8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14A4E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54" name="Freeform 90"/>
              <p:cNvSpPr>
                <a:spLocks/>
              </p:cNvSpPr>
              <p:nvPr/>
            </p:nvSpPr>
            <p:spPr bwMode="auto">
              <a:xfrm>
                <a:off x="5648326" y="3403600"/>
                <a:ext cx="169863" cy="252413"/>
              </a:xfrm>
              <a:custGeom>
                <a:avLst/>
                <a:gdLst/>
                <a:ahLst/>
                <a:cxnLst>
                  <a:cxn ang="0">
                    <a:pos x="406" y="623"/>
                  </a:cxn>
                  <a:cxn ang="0">
                    <a:pos x="428" y="612"/>
                  </a:cxn>
                  <a:cxn ang="0">
                    <a:pos x="422" y="603"/>
                  </a:cxn>
                  <a:cxn ang="0">
                    <a:pos x="408" y="581"/>
                  </a:cxn>
                  <a:cxn ang="0">
                    <a:pos x="380" y="536"/>
                  </a:cxn>
                  <a:cxn ang="0">
                    <a:pos x="334" y="463"/>
                  </a:cxn>
                  <a:cxn ang="0">
                    <a:pos x="266" y="354"/>
                  </a:cxn>
                  <a:cxn ang="0">
                    <a:pos x="171" y="202"/>
                  </a:cxn>
                  <a:cxn ang="0">
                    <a:pos x="44" y="0"/>
                  </a:cxn>
                  <a:cxn ang="0">
                    <a:pos x="0" y="21"/>
                  </a:cxn>
                  <a:cxn ang="0">
                    <a:pos x="127" y="223"/>
                  </a:cxn>
                  <a:cxn ang="0">
                    <a:pos x="222" y="374"/>
                  </a:cxn>
                  <a:cxn ang="0">
                    <a:pos x="290" y="484"/>
                  </a:cxn>
                  <a:cxn ang="0">
                    <a:pos x="336" y="557"/>
                  </a:cxn>
                  <a:cxn ang="0">
                    <a:pos x="363" y="601"/>
                  </a:cxn>
                  <a:cxn ang="0">
                    <a:pos x="378" y="624"/>
                  </a:cxn>
                  <a:cxn ang="0">
                    <a:pos x="384" y="632"/>
                  </a:cxn>
                  <a:cxn ang="0">
                    <a:pos x="406" y="623"/>
                  </a:cxn>
                </a:cxnLst>
                <a:rect l="0" t="0" r="r" b="b"/>
                <a:pathLst>
                  <a:path w="428" h="632">
                    <a:moveTo>
                      <a:pt x="406" y="623"/>
                    </a:moveTo>
                    <a:lnTo>
                      <a:pt x="428" y="612"/>
                    </a:lnTo>
                    <a:lnTo>
                      <a:pt x="422" y="603"/>
                    </a:lnTo>
                    <a:lnTo>
                      <a:pt x="408" y="581"/>
                    </a:lnTo>
                    <a:lnTo>
                      <a:pt x="380" y="536"/>
                    </a:lnTo>
                    <a:lnTo>
                      <a:pt x="334" y="463"/>
                    </a:lnTo>
                    <a:lnTo>
                      <a:pt x="266" y="354"/>
                    </a:lnTo>
                    <a:lnTo>
                      <a:pt x="171" y="202"/>
                    </a:lnTo>
                    <a:lnTo>
                      <a:pt x="44" y="0"/>
                    </a:lnTo>
                    <a:lnTo>
                      <a:pt x="0" y="21"/>
                    </a:lnTo>
                    <a:lnTo>
                      <a:pt x="127" y="223"/>
                    </a:lnTo>
                    <a:lnTo>
                      <a:pt x="222" y="374"/>
                    </a:lnTo>
                    <a:lnTo>
                      <a:pt x="290" y="484"/>
                    </a:lnTo>
                    <a:lnTo>
                      <a:pt x="336" y="557"/>
                    </a:lnTo>
                    <a:lnTo>
                      <a:pt x="363" y="601"/>
                    </a:lnTo>
                    <a:lnTo>
                      <a:pt x="378" y="624"/>
                    </a:lnTo>
                    <a:lnTo>
                      <a:pt x="384" y="632"/>
                    </a:lnTo>
                    <a:lnTo>
                      <a:pt x="406" y="623"/>
                    </a:lnTo>
                    <a:close/>
                  </a:path>
                </a:pathLst>
              </a:custGeom>
              <a:solidFill>
                <a:srgbClr val="08A4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55" name="Freeform 91"/>
              <p:cNvSpPr>
                <a:spLocks/>
              </p:cNvSpPr>
              <p:nvPr/>
            </p:nvSpPr>
            <p:spPr bwMode="auto">
              <a:xfrm>
                <a:off x="5864226" y="3403600"/>
                <a:ext cx="171450" cy="252413"/>
              </a:xfrm>
              <a:custGeom>
                <a:avLst/>
                <a:gdLst/>
                <a:ahLst/>
                <a:cxnLst>
                  <a:cxn ang="0">
                    <a:pos x="406" y="623"/>
                  </a:cxn>
                  <a:cxn ang="0">
                    <a:pos x="428" y="612"/>
                  </a:cxn>
                  <a:cxn ang="0">
                    <a:pos x="422" y="603"/>
                  </a:cxn>
                  <a:cxn ang="0">
                    <a:pos x="409" y="581"/>
                  </a:cxn>
                  <a:cxn ang="0">
                    <a:pos x="380" y="536"/>
                  </a:cxn>
                  <a:cxn ang="0">
                    <a:pos x="334" y="463"/>
                  </a:cxn>
                  <a:cxn ang="0">
                    <a:pos x="266" y="354"/>
                  </a:cxn>
                  <a:cxn ang="0">
                    <a:pos x="171" y="202"/>
                  </a:cxn>
                  <a:cxn ang="0">
                    <a:pos x="44" y="0"/>
                  </a:cxn>
                  <a:cxn ang="0">
                    <a:pos x="0" y="21"/>
                  </a:cxn>
                  <a:cxn ang="0">
                    <a:pos x="127" y="223"/>
                  </a:cxn>
                  <a:cxn ang="0">
                    <a:pos x="222" y="374"/>
                  </a:cxn>
                  <a:cxn ang="0">
                    <a:pos x="290" y="484"/>
                  </a:cxn>
                  <a:cxn ang="0">
                    <a:pos x="336" y="557"/>
                  </a:cxn>
                  <a:cxn ang="0">
                    <a:pos x="364" y="601"/>
                  </a:cxn>
                  <a:cxn ang="0">
                    <a:pos x="378" y="624"/>
                  </a:cxn>
                  <a:cxn ang="0">
                    <a:pos x="384" y="632"/>
                  </a:cxn>
                  <a:cxn ang="0">
                    <a:pos x="406" y="623"/>
                  </a:cxn>
                </a:cxnLst>
                <a:rect l="0" t="0" r="r" b="b"/>
                <a:pathLst>
                  <a:path w="428" h="632">
                    <a:moveTo>
                      <a:pt x="406" y="623"/>
                    </a:moveTo>
                    <a:lnTo>
                      <a:pt x="428" y="612"/>
                    </a:lnTo>
                    <a:lnTo>
                      <a:pt x="422" y="603"/>
                    </a:lnTo>
                    <a:lnTo>
                      <a:pt x="409" y="581"/>
                    </a:lnTo>
                    <a:lnTo>
                      <a:pt x="380" y="536"/>
                    </a:lnTo>
                    <a:lnTo>
                      <a:pt x="334" y="463"/>
                    </a:lnTo>
                    <a:lnTo>
                      <a:pt x="266" y="354"/>
                    </a:lnTo>
                    <a:lnTo>
                      <a:pt x="171" y="202"/>
                    </a:lnTo>
                    <a:lnTo>
                      <a:pt x="44" y="0"/>
                    </a:lnTo>
                    <a:lnTo>
                      <a:pt x="0" y="21"/>
                    </a:lnTo>
                    <a:lnTo>
                      <a:pt x="127" y="223"/>
                    </a:lnTo>
                    <a:lnTo>
                      <a:pt x="222" y="374"/>
                    </a:lnTo>
                    <a:lnTo>
                      <a:pt x="290" y="484"/>
                    </a:lnTo>
                    <a:lnTo>
                      <a:pt x="336" y="557"/>
                    </a:lnTo>
                    <a:lnTo>
                      <a:pt x="364" y="601"/>
                    </a:lnTo>
                    <a:lnTo>
                      <a:pt x="378" y="624"/>
                    </a:lnTo>
                    <a:lnTo>
                      <a:pt x="384" y="632"/>
                    </a:lnTo>
                    <a:lnTo>
                      <a:pt x="406" y="623"/>
                    </a:lnTo>
                    <a:close/>
                  </a:path>
                </a:pathLst>
              </a:custGeom>
              <a:solidFill>
                <a:srgbClr val="08A4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56" name="Freeform 92"/>
              <p:cNvSpPr>
                <a:spLocks/>
              </p:cNvSpPr>
              <p:nvPr/>
            </p:nvSpPr>
            <p:spPr bwMode="auto">
              <a:xfrm>
                <a:off x="6081713" y="3403600"/>
                <a:ext cx="169863" cy="252413"/>
              </a:xfrm>
              <a:custGeom>
                <a:avLst/>
                <a:gdLst/>
                <a:ahLst/>
                <a:cxnLst>
                  <a:cxn ang="0">
                    <a:pos x="406" y="623"/>
                  </a:cxn>
                  <a:cxn ang="0">
                    <a:pos x="428" y="612"/>
                  </a:cxn>
                  <a:cxn ang="0">
                    <a:pos x="423" y="603"/>
                  </a:cxn>
                  <a:cxn ang="0">
                    <a:pos x="409" y="581"/>
                  </a:cxn>
                  <a:cxn ang="0">
                    <a:pos x="381" y="536"/>
                  </a:cxn>
                  <a:cxn ang="0">
                    <a:pos x="334" y="463"/>
                  </a:cxn>
                  <a:cxn ang="0">
                    <a:pos x="267" y="354"/>
                  </a:cxn>
                  <a:cxn ang="0">
                    <a:pos x="171" y="202"/>
                  </a:cxn>
                  <a:cxn ang="0">
                    <a:pos x="45" y="0"/>
                  </a:cxn>
                  <a:cxn ang="0">
                    <a:pos x="0" y="21"/>
                  </a:cxn>
                  <a:cxn ang="0">
                    <a:pos x="127" y="223"/>
                  </a:cxn>
                  <a:cxn ang="0">
                    <a:pos x="222" y="374"/>
                  </a:cxn>
                  <a:cxn ang="0">
                    <a:pos x="290" y="484"/>
                  </a:cxn>
                  <a:cxn ang="0">
                    <a:pos x="337" y="557"/>
                  </a:cxn>
                  <a:cxn ang="0">
                    <a:pos x="364" y="601"/>
                  </a:cxn>
                  <a:cxn ang="0">
                    <a:pos x="379" y="624"/>
                  </a:cxn>
                  <a:cxn ang="0">
                    <a:pos x="384" y="632"/>
                  </a:cxn>
                  <a:cxn ang="0">
                    <a:pos x="406" y="623"/>
                  </a:cxn>
                </a:cxnLst>
                <a:rect l="0" t="0" r="r" b="b"/>
                <a:pathLst>
                  <a:path w="428" h="632">
                    <a:moveTo>
                      <a:pt x="406" y="623"/>
                    </a:moveTo>
                    <a:lnTo>
                      <a:pt x="428" y="612"/>
                    </a:lnTo>
                    <a:lnTo>
                      <a:pt x="423" y="603"/>
                    </a:lnTo>
                    <a:lnTo>
                      <a:pt x="409" y="581"/>
                    </a:lnTo>
                    <a:lnTo>
                      <a:pt x="381" y="536"/>
                    </a:lnTo>
                    <a:lnTo>
                      <a:pt x="334" y="463"/>
                    </a:lnTo>
                    <a:lnTo>
                      <a:pt x="267" y="354"/>
                    </a:lnTo>
                    <a:lnTo>
                      <a:pt x="171" y="202"/>
                    </a:lnTo>
                    <a:lnTo>
                      <a:pt x="45" y="0"/>
                    </a:lnTo>
                    <a:lnTo>
                      <a:pt x="0" y="21"/>
                    </a:lnTo>
                    <a:lnTo>
                      <a:pt x="127" y="223"/>
                    </a:lnTo>
                    <a:lnTo>
                      <a:pt x="222" y="374"/>
                    </a:lnTo>
                    <a:lnTo>
                      <a:pt x="290" y="484"/>
                    </a:lnTo>
                    <a:lnTo>
                      <a:pt x="337" y="557"/>
                    </a:lnTo>
                    <a:lnTo>
                      <a:pt x="364" y="601"/>
                    </a:lnTo>
                    <a:lnTo>
                      <a:pt x="379" y="624"/>
                    </a:lnTo>
                    <a:lnTo>
                      <a:pt x="384" y="632"/>
                    </a:lnTo>
                    <a:lnTo>
                      <a:pt x="406" y="623"/>
                    </a:lnTo>
                    <a:close/>
                  </a:path>
                </a:pathLst>
              </a:custGeom>
              <a:solidFill>
                <a:srgbClr val="08A4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57" name="Freeform 93"/>
              <p:cNvSpPr>
                <a:spLocks/>
              </p:cNvSpPr>
              <p:nvPr/>
            </p:nvSpPr>
            <p:spPr bwMode="auto">
              <a:xfrm>
                <a:off x="6299201" y="3403600"/>
                <a:ext cx="169863" cy="252413"/>
              </a:xfrm>
              <a:custGeom>
                <a:avLst/>
                <a:gdLst/>
                <a:ahLst/>
                <a:cxnLst>
                  <a:cxn ang="0">
                    <a:pos x="405" y="623"/>
                  </a:cxn>
                  <a:cxn ang="0">
                    <a:pos x="427" y="612"/>
                  </a:cxn>
                  <a:cxn ang="0">
                    <a:pos x="422" y="603"/>
                  </a:cxn>
                  <a:cxn ang="0">
                    <a:pos x="408" y="581"/>
                  </a:cxn>
                  <a:cxn ang="0">
                    <a:pos x="380" y="536"/>
                  </a:cxn>
                  <a:cxn ang="0">
                    <a:pos x="335" y="463"/>
                  </a:cxn>
                  <a:cxn ang="0">
                    <a:pos x="266" y="354"/>
                  </a:cxn>
                  <a:cxn ang="0">
                    <a:pos x="170" y="202"/>
                  </a:cxn>
                  <a:cxn ang="0">
                    <a:pos x="44" y="0"/>
                  </a:cxn>
                  <a:cxn ang="0">
                    <a:pos x="0" y="21"/>
                  </a:cxn>
                  <a:cxn ang="0">
                    <a:pos x="126" y="223"/>
                  </a:cxn>
                  <a:cxn ang="0">
                    <a:pos x="222" y="374"/>
                  </a:cxn>
                  <a:cxn ang="0">
                    <a:pos x="289" y="484"/>
                  </a:cxn>
                  <a:cxn ang="0">
                    <a:pos x="336" y="557"/>
                  </a:cxn>
                  <a:cxn ang="0">
                    <a:pos x="363" y="601"/>
                  </a:cxn>
                  <a:cxn ang="0">
                    <a:pos x="378" y="624"/>
                  </a:cxn>
                  <a:cxn ang="0">
                    <a:pos x="383" y="632"/>
                  </a:cxn>
                  <a:cxn ang="0">
                    <a:pos x="405" y="623"/>
                  </a:cxn>
                </a:cxnLst>
                <a:rect l="0" t="0" r="r" b="b"/>
                <a:pathLst>
                  <a:path w="427" h="632">
                    <a:moveTo>
                      <a:pt x="405" y="623"/>
                    </a:moveTo>
                    <a:lnTo>
                      <a:pt x="427" y="612"/>
                    </a:lnTo>
                    <a:lnTo>
                      <a:pt x="422" y="603"/>
                    </a:lnTo>
                    <a:lnTo>
                      <a:pt x="408" y="581"/>
                    </a:lnTo>
                    <a:lnTo>
                      <a:pt x="380" y="536"/>
                    </a:lnTo>
                    <a:lnTo>
                      <a:pt x="335" y="463"/>
                    </a:lnTo>
                    <a:lnTo>
                      <a:pt x="266" y="354"/>
                    </a:lnTo>
                    <a:lnTo>
                      <a:pt x="170" y="202"/>
                    </a:lnTo>
                    <a:lnTo>
                      <a:pt x="44" y="0"/>
                    </a:lnTo>
                    <a:lnTo>
                      <a:pt x="0" y="21"/>
                    </a:lnTo>
                    <a:lnTo>
                      <a:pt x="126" y="223"/>
                    </a:lnTo>
                    <a:lnTo>
                      <a:pt x="222" y="374"/>
                    </a:lnTo>
                    <a:lnTo>
                      <a:pt x="289" y="484"/>
                    </a:lnTo>
                    <a:lnTo>
                      <a:pt x="336" y="557"/>
                    </a:lnTo>
                    <a:lnTo>
                      <a:pt x="363" y="601"/>
                    </a:lnTo>
                    <a:lnTo>
                      <a:pt x="378" y="624"/>
                    </a:lnTo>
                    <a:lnTo>
                      <a:pt x="383" y="632"/>
                    </a:lnTo>
                    <a:lnTo>
                      <a:pt x="405" y="623"/>
                    </a:lnTo>
                    <a:close/>
                  </a:path>
                </a:pathLst>
              </a:custGeom>
              <a:solidFill>
                <a:srgbClr val="08A4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58" name="Freeform 94"/>
              <p:cNvSpPr>
                <a:spLocks/>
              </p:cNvSpPr>
              <p:nvPr/>
            </p:nvSpPr>
            <p:spPr bwMode="auto">
              <a:xfrm>
                <a:off x="6515101" y="3403600"/>
                <a:ext cx="169863" cy="252413"/>
              </a:xfrm>
              <a:custGeom>
                <a:avLst/>
                <a:gdLst/>
                <a:ahLst/>
                <a:cxnLst>
                  <a:cxn ang="0">
                    <a:pos x="405" y="623"/>
                  </a:cxn>
                  <a:cxn ang="0">
                    <a:pos x="427" y="612"/>
                  </a:cxn>
                  <a:cxn ang="0">
                    <a:pos x="422" y="603"/>
                  </a:cxn>
                  <a:cxn ang="0">
                    <a:pos x="408" y="581"/>
                  </a:cxn>
                  <a:cxn ang="0">
                    <a:pos x="380" y="536"/>
                  </a:cxn>
                  <a:cxn ang="0">
                    <a:pos x="335" y="463"/>
                  </a:cxn>
                  <a:cxn ang="0">
                    <a:pos x="266" y="354"/>
                  </a:cxn>
                  <a:cxn ang="0">
                    <a:pos x="170" y="202"/>
                  </a:cxn>
                  <a:cxn ang="0">
                    <a:pos x="44" y="0"/>
                  </a:cxn>
                  <a:cxn ang="0">
                    <a:pos x="0" y="21"/>
                  </a:cxn>
                  <a:cxn ang="0">
                    <a:pos x="126" y="223"/>
                  </a:cxn>
                  <a:cxn ang="0">
                    <a:pos x="222" y="374"/>
                  </a:cxn>
                  <a:cxn ang="0">
                    <a:pos x="290" y="484"/>
                  </a:cxn>
                  <a:cxn ang="0">
                    <a:pos x="336" y="557"/>
                  </a:cxn>
                  <a:cxn ang="0">
                    <a:pos x="363" y="601"/>
                  </a:cxn>
                  <a:cxn ang="0">
                    <a:pos x="378" y="624"/>
                  </a:cxn>
                  <a:cxn ang="0">
                    <a:pos x="383" y="632"/>
                  </a:cxn>
                  <a:cxn ang="0">
                    <a:pos x="405" y="623"/>
                  </a:cxn>
                </a:cxnLst>
                <a:rect l="0" t="0" r="r" b="b"/>
                <a:pathLst>
                  <a:path w="427" h="632">
                    <a:moveTo>
                      <a:pt x="405" y="623"/>
                    </a:moveTo>
                    <a:lnTo>
                      <a:pt x="427" y="612"/>
                    </a:lnTo>
                    <a:lnTo>
                      <a:pt x="422" y="603"/>
                    </a:lnTo>
                    <a:lnTo>
                      <a:pt x="408" y="581"/>
                    </a:lnTo>
                    <a:lnTo>
                      <a:pt x="380" y="536"/>
                    </a:lnTo>
                    <a:lnTo>
                      <a:pt x="335" y="463"/>
                    </a:lnTo>
                    <a:lnTo>
                      <a:pt x="266" y="354"/>
                    </a:lnTo>
                    <a:lnTo>
                      <a:pt x="170" y="202"/>
                    </a:lnTo>
                    <a:lnTo>
                      <a:pt x="44" y="0"/>
                    </a:lnTo>
                    <a:lnTo>
                      <a:pt x="0" y="21"/>
                    </a:lnTo>
                    <a:lnTo>
                      <a:pt x="126" y="223"/>
                    </a:lnTo>
                    <a:lnTo>
                      <a:pt x="222" y="374"/>
                    </a:lnTo>
                    <a:lnTo>
                      <a:pt x="290" y="484"/>
                    </a:lnTo>
                    <a:lnTo>
                      <a:pt x="336" y="557"/>
                    </a:lnTo>
                    <a:lnTo>
                      <a:pt x="363" y="601"/>
                    </a:lnTo>
                    <a:lnTo>
                      <a:pt x="378" y="624"/>
                    </a:lnTo>
                    <a:lnTo>
                      <a:pt x="383" y="632"/>
                    </a:lnTo>
                    <a:lnTo>
                      <a:pt x="405" y="623"/>
                    </a:lnTo>
                    <a:close/>
                  </a:path>
                </a:pathLst>
              </a:custGeom>
              <a:solidFill>
                <a:srgbClr val="08A4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59" name="Freeform 95"/>
              <p:cNvSpPr>
                <a:spLocks/>
              </p:cNvSpPr>
              <p:nvPr/>
            </p:nvSpPr>
            <p:spPr bwMode="auto">
              <a:xfrm>
                <a:off x="6732588" y="3403600"/>
                <a:ext cx="169863" cy="252413"/>
              </a:xfrm>
              <a:custGeom>
                <a:avLst/>
                <a:gdLst/>
                <a:ahLst/>
                <a:cxnLst>
                  <a:cxn ang="0">
                    <a:pos x="405" y="623"/>
                  </a:cxn>
                  <a:cxn ang="0">
                    <a:pos x="427" y="612"/>
                  </a:cxn>
                  <a:cxn ang="0">
                    <a:pos x="422" y="603"/>
                  </a:cxn>
                  <a:cxn ang="0">
                    <a:pos x="408" y="581"/>
                  </a:cxn>
                  <a:cxn ang="0">
                    <a:pos x="380" y="536"/>
                  </a:cxn>
                  <a:cxn ang="0">
                    <a:pos x="335" y="463"/>
                  </a:cxn>
                  <a:cxn ang="0">
                    <a:pos x="266" y="354"/>
                  </a:cxn>
                  <a:cxn ang="0">
                    <a:pos x="171" y="202"/>
                  </a:cxn>
                  <a:cxn ang="0">
                    <a:pos x="44" y="0"/>
                  </a:cxn>
                  <a:cxn ang="0">
                    <a:pos x="0" y="21"/>
                  </a:cxn>
                  <a:cxn ang="0">
                    <a:pos x="126" y="223"/>
                  </a:cxn>
                  <a:cxn ang="0">
                    <a:pos x="222" y="374"/>
                  </a:cxn>
                  <a:cxn ang="0">
                    <a:pos x="290" y="484"/>
                  </a:cxn>
                  <a:cxn ang="0">
                    <a:pos x="336" y="557"/>
                  </a:cxn>
                  <a:cxn ang="0">
                    <a:pos x="363" y="601"/>
                  </a:cxn>
                  <a:cxn ang="0">
                    <a:pos x="378" y="624"/>
                  </a:cxn>
                  <a:cxn ang="0">
                    <a:pos x="383" y="632"/>
                  </a:cxn>
                  <a:cxn ang="0">
                    <a:pos x="405" y="623"/>
                  </a:cxn>
                </a:cxnLst>
                <a:rect l="0" t="0" r="r" b="b"/>
                <a:pathLst>
                  <a:path w="427" h="632">
                    <a:moveTo>
                      <a:pt x="405" y="623"/>
                    </a:moveTo>
                    <a:lnTo>
                      <a:pt x="427" y="612"/>
                    </a:lnTo>
                    <a:lnTo>
                      <a:pt x="422" y="603"/>
                    </a:lnTo>
                    <a:lnTo>
                      <a:pt x="408" y="581"/>
                    </a:lnTo>
                    <a:lnTo>
                      <a:pt x="380" y="536"/>
                    </a:lnTo>
                    <a:lnTo>
                      <a:pt x="335" y="463"/>
                    </a:lnTo>
                    <a:lnTo>
                      <a:pt x="266" y="354"/>
                    </a:lnTo>
                    <a:lnTo>
                      <a:pt x="171" y="202"/>
                    </a:lnTo>
                    <a:lnTo>
                      <a:pt x="44" y="0"/>
                    </a:lnTo>
                    <a:lnTo>
                      <a:pt x="0" y="21"/>
                    </a:lnTo>
                    <a:lnTo>
                      <a:pt x="126" y="223"/>
                    </a:lnTo>
                    <a:lnTo>
                      <a:pt x="222" y="374"/>
                    </a:lnTo>
                    <a:lnTo>
                      <a:pt x="290" y="484"/>
                    </a:lnTo>
                    <a:lnTo>
                      <a:pt x="336" y="557"/>
                    </a:lnTo>
                    <a:lnTo>
                      <a:pt x="363" y="601"/>
                    </a:lnTo>
                    <a:lnTo>
                      <a:pt x="378" y="624"/>
                    </a:lnTo>
                    <a:lnTo>
                      <a:pt x="383" y="632"/>
                    </a:lnTo>
                    <a:lnTo>
                      <a:pt x="405" y="623"/>
                    </a:lnTo>
                    <a:close/>
                  </a:path>
                </a:pathLst>
              </a:custGeom>
              <a:solidFill>
                <a:srgbClr val="08A4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60" name="Freeform 96"/>
              <p:cNvSpPr>
                <a:spLocks/>
              </p:cNvSpPr>
              <p:nvPr/>
            </p:nvSpPr>
            <p:spPr bwMode="auto">
              <a:xfrm>
                <a:off x="5430838" y="3403600"/>
                <a:ext cx="171450" cy="252413"/>
              </a:xfrm>
              <a:custGeom>
                <a:avLst/>
                <a:gdLst/>
                <a:ahLst/>
                <a:cxnLst>
                  <a:cxn ang="0">
                    <a:pos x="406" y="623"/>
                  </a:cxn>
                  <a:cxn ang="0">
                    <a:pos x="428" y="612"/>
                  </a:cxn>
                  <a:cxn ang="0">
                    <a:pos x="422" y="603"/>
                  </a:cxn>
                  <a:cxn ang="0">
                    <a:pos x="408" y="581"/>
                  </a:cxn>
                  <a:cxn ang="0">
                    <a:pos x="380" y="536"/>
                  </a:cxn>
                  <a:cxn ang="0">
                    <a:pos x="334" y="463"/>
                  </a:cxn>
                  <a:cxn ang="0">
                    <a:pos x="266" y="354"/>
                  </a:cxn>
                  <a:cxn ang="0">
                    <a:pos x="171" y="202"/>
                  </a:cxn>
                  <a:cxn ang="0">
                    <a:pos x="44" y="0"/>
                  </a:cxn>
                  <a:cxn ang="0">
                    <a:pos x="0" y="21"/>
                  </a:cxn>
                  <a:cxn ang="0">
                    <a:pos x="127" y="223"/>
                  </a:cxn>
                  <a:cxn ang="0">
                    <a:pos x="222" y="374"/>
                  </a:cxn>
                  <a:cxn ang="0">
                    <a:pos x="290" y="484"/>
                  </a:cxn>
                  <a:cxn ang="0">
                    <a:pos x="336" y="557"/>
                  </a:cxn>
                  <a:cxn ang="0">
                    <a:pos x="363" y="601"/>
                  </a:cxn>
                  <a:cxn ang="0">
                    <a:pos x="378" y="624"/>
                  </a:cxn>
                  <a:cxn ang="0">
                    <a:pos x="384" y="632"/>
                  </a:cxn>
                  <a:cxn ang="0">
                    <a:pos x="406" y="623"/>
                  </a:cxn>
                </a:cxnLst>
                <a:rect l="0" t="0" r="r" b="b"/>
                <a:pathLst>
                  <a:path w="428" h="632">
                    <a:moveTo>
                      <a:pt x="406" y="623"/>
                    </a:moveTo>
                    <a:lnTo>
                      <a:pt x="428" y="612"/>
                    </a:lnTo>
                    <a:lnTo>
                      <a:pt x="422" y="603"/>
                    </a:lnTo>
                    <a:lnTo>
                      <a:pt x="408" y="581"/>
                    </a:lnTo>
                    <a:lnTo>
                      <a:pt x="380" y="536"/>
                    </a:lnTo>
                    <a:lnTo>
                      <a:pt x="334" y="463"/>
                    </a:lnTo>
                    <a:lnTo>
                      <a:pt x="266" y="354"/>
                    </a:lnTo>
                    <a:lnTo>
                      <a:pt x="171" y="202"/>
                    </a:lnTo>
                    <a:lnTo>
                      <a:pt x="44" y="0"/>
                    </a:lnTo>
                    <a:lnTo>
                      <a:pt x="0" y="21"/>
                    </a:lnTo>
                    <a:lnTo>
                      <a:pt x="127" y="223"/>
                    </a:lnTo>
                    <a:lnTo>
                      <a:pt x="222" y="374"/>
                    </a:lnTo>
                    <a:lnTo>
                      <a:pt x="290" y="484"/>
                    </a:lnTo>
                    <a:lnTo>
                      <a:pt x="336" y="557"/>
                    </a:lnTo>
                    <a:lnTo>
                      <a:pt x="363" y="601"/>
                    </a:lnTo>
                    <a:lnTo>
                      <a:pt x="378" y="624"/>
                    </a:lnTo>
                    <a:lnTo>
                      <a:pt x="384" y="632"/>
                    </a:lnTo>
                    <a:lnTo>
                      <a:pt x="406" y="623"/>
                    </a:lnTo>
                    <a:close/>
                  </a:path>
                </a:pathLst>
              </a:custGeom>
              <a:solidFill>
                <a:srgbClr val="08A4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61" name="Rectangle 10"/>
              <p:cNvSpPr>
                <a:spLocks noChangeArrowheads="1"/>
              </p:cNvSpPr>
              <p:nvPr/>
            </p:nvSpPr>
            <p:spPr bwMode="auto">
              <a:xfrm>
                <a:off x="5810251" y="4456113"/>
                <a:ext cx="849313" cy="187325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62" name="Rectangle 16"/>
              <p:cNvSpPr>
                <a:spLocks noChangeArrowheads="1"/>
              </p:cNvSpPr>
              <p:nvPr/>
            </p:nvSpPr>
            <p:spPr bwMode="auto">
              <a:xfrm>
                <a:off x="5149851" y="2846388"/>
                <a:ext cx="220663" cy="412750"/>
              </a:xfrm>
              <a:prstGeom prst="rect">
                <a:avLst/>
              </a:prstGeom>
              <a:solidFill>
                <a:srgbClr val="67625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latin typeface="华文中宋" pitchFamily="2" charset="-122"/>
                  <a:ea typeface="华文中宋" pitchFamily="2" charset="-122"/>
                </a:endParaRPr>
              </a:p>
            </p:txBody>
          </p:sp>
        </p:grpSp>
        <p:sp>
          <p:nvSpPr>
            <p:cNvPr id="99" name="Text Box 7"/>
            <p:cNvSpPr txBox="1">
              <a:spLocks noChangeArrowheads="1"/>
            </p:cNvSpPr>
            <p:nvPr/>
          </p:nvSpPr>
          <p:spPr bwMode="auto">
            <a:xfrm>
              <a:off x="9634757" y="2282589"/>
              <a:ext cx="304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N</a:t>
              </a:r>
              <a:endPara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Text Box 8"/>
            <p:cNvSpPr txBox="1">
              <a:spLocks noChangeArrowheads="1"/>
            </p:cNvSpPr>
            <p:nvPr/>
          </p:nvSpPr>
          <p:spPr bwMode="auto">
            <a:xfrm>
              <a:off x="10125126" y="1172759"/>
              <a:ext cx="5334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P</a:t>
              </a:r>
              <a:endPara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1" name="Text Box 9"/>
            <p:cNvSpPr txBox="1">
              <a:spLocks noChangeArrowheads="1"/>
            </p:cNvSpPr>
            <p:nvPr/>
          </p:nvSpPr>
          <p:spPr bwMode="auto">
            <a:xfrm>
              <a:off x="10114615" y="3064512"/>
              <a:ext cx="5334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P</a:t>
              </a:r>
              <a:endPara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椭圆 105"/>
            <p:cNvSpPr/>
            <p:nvPr/>
          </p:nvSpPr>
          <p:spPr>
            <a:xfrm>
              <a:off x="8784771" y="2405741"/>
              <a:ext cx="144000" cy="144000"/>
            </a:xfrm>
            <a:prstGeom prst="ellipse">
              <a:avLst/>
            </a:prstGeom>
            <a:noFill/>
            <a:ln w="50800">
              <a:solidFill>
                <a:srgbClr val="00B05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107" name="椭圆 106"/>
            <p:cNvSpPr/>
            <p:nvPr/>
          </p:nvSpPr>
          <p:spPr>
            <a:xfrm>
              <a:off x="10243457" y="4386941"/>
              <a:ext cx="144000" cy="144000"/>
            </a:xfrm>
            <a:prstGeom prst="ellipse">
              <a:avLst/>
            </a:prstGeom>
            <a:noFill/>
            <a:ln w="50800">
              <a:solidFill>
                <a:srgbClr val="00B05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10243457" y="435426"/>
              <a:ext cx="144000" cy="144000"/>
            </a:xfrm>
            <a:prstGeom prst="ellipse">
              <a:avLst/>
            </a:prstGeom>
            <a:noFill/>
            <a:ln w="50800">
              <a:solidFill>
                <a:srgbClr val="00B05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97" grpId="0"/>
      <p:bldP spid="97" grpId="1"/>
      <p:bldP spid="104" grpId="0"/>
      <p:bldP spid="104" grpId="1"/>
      <p:bldP spid="105" grpId="0"/>
      <p:bldP spid="10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84862" y="277748"/>
            <a:ext cx="572520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）电流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分配和电流放大原理</a:t>
            </a:r>
          </a:p>
        </p:txBody>
      </p:sp>
      <p:sp>
        <p:nvSpPr>
          <p:cNvPr id="134" name="Line 3"/>
          <p:cNvSpPr>
            <a:spLocks noChangeShapeType="1"/>
          </p:cNvSpPr>
          <p:nvPr/>
        </p:nvSpPr>
        <p:spPr bwMode="auto">
          <a:xfrm>
            <a:off x="6825167" y="2761896"/>
            <a:ext cx="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Text Box 4"/>
          <p:cNvSpPr txBox="1">
            <a:spLocks noChangeArrowheads="1"/>
          </p:cNvSpPr>
          <p:nvPr/>
        </p:nvSpPr>
        <p:spPr bwMode="auto">
          <a:xfrm>
            <a:off x="6823934" y="2888727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E</a:t>
            </a:r>
          </a:p>
        </p:txBody>
      </p:sp>
      <p:sp>
        <p:nvSpPr>
          <p:cNvPr id="136" name="Text Box 5"/>
          <p:cNvSpPr txBox="1">
            <a:spLocks noChangeArrowheads="1"/>
          </p:cNvSpPr>
          <p:nvPr/>
        </p:nvSpPr>
        <p:spPr bwMode="auto">
          <a:xfrm>
            <a:off x="5342274" y="1095375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</a:p>
        </p:txBody>
      </p:sp>
      <p:sp>
        <p:nvSpPr>
          <p:cNvPr id="137" name="Text Box 6"/>
          <p:cNvSpPr txBox="1">
            <a:spLocks noChangeArrowheads="1"/>
          </p:cNvSpPr>
          <p:nvPr/>
        </p:nvSpPr>
        <p:spPr bwMode="auto">
          <a:xfrm>
            <a:off x="5269249" y="2540000"/>
            <a:ext cx="625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</a:p>
        </p:txBody>
      </p:sp>
      <p:sp>
        <p:nvSpPr>
          <p:cNvPr id="138" name="Text Box 7"/>
          <p:cNvSpPr txBox="1">
            <a:spLocks noChangeArrowheads="1"/>
          </p:cNvSpPr>
          <p:nvPr/>
        </p:nvSpPr>
        <p:spPr bwMode="auto">
          <a:xfrm>
            <a:off x="5199399" y="3302000"/>
            <a:ext cx="790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aseline="-25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BB</a:t>
            </a:r>
          </a:p>
        </p:txBody>
      </p:sp>
      <p:sp>
        <p:nvSpPr>
          <p:cNvPr id="139" name="Line 9"/>
          <p:cNvSpPr>
            <a:spLocks noChangeShapeType="1"/>
          </p:cNvSpPr>
          <p:nvPr/>
        </p:nvSpPr>
        <p:spPr bwMode="auto">
          <a:xfrm>
            <a:off x="6867861" y="635000"/>
            <a:ext cx="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Text Box 10"/>
          <p:cNvSpPr txBox="1">
            <a:spLocks noChangeArrowheads="1"/>
          </p:cNvSpPr>
          <p:nvPr/>
        </p:nvSpPr>
        <p:spPr bwMode="auto">
          <a:xfrm>
            <a:off x="6944061" y="6350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</a:t>
            </a:r>
          </a:p>
        </p:txBody>
      </p:sp>
      <p:sp>
        <p:nvSpPr>
          <p:cNvPr id="141" name="Text Box 11"/>
          <p:cNvSpPr txBox="1">
            <a:spLocks noChangeArrowheads="1"/>
          </p:cNvSpPr>
          <p:nvPr/>
        </p:nvSpPr>
        <p:spPr bwMode="auto">
          <a:xfrm>
            <a:off x="7501274" y="1671638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aseline="-25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CC</a:t>
            </a:r>
          </a:p>
        </p:txBody>
      </p:sp>
      <p:sp>
        <p:nvSpPr>
          <p:cNvPr id="146" name="Text Box 22"/>
          <p:cNvSpPr txBox="1">
            <a:spLocks noChangeArrowheads="1"/>
          </p:cNvSpPr>
          <p:nvPr/>
        </p:nvSpPr>
        <p:spPr bwMode="auto">
          <a:xfrm>
            <a:off x="6029661" y="5588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aseline="-25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</a:t>
            </a:r>
          </a:p>
        </p:txBody>
      </p:sp>
      <p:sp>
        <p:nvSpPr>
          <p:cNvPr id="147" name="Line 23"/>
          <p:cNvSpPr>
            <a:spLocks noChangeShapeType="1"/>
          </p:cNvSpPr>
          <p:nvPr/>
        </p:nvSpPr>
        <p:spPr bwMode="auto">
          <a:xfrm>
            <a:off x="5342274" y="1563688"/>
            <a:ext cx="533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Line 26"/>
          <p:cNvSpPr>
            <a:spLocks noChangeShapeType="1"/>
          </p:cNvSpPr>
          <p:nvPr/>
        </p:nvSpPr>
        <p:spPr bwMode="auto">
          <a:xfrm>
            <a:off x="6353511" y="1366838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" name="Line 27"/>
          <p:cNvSpPr>
            <a:spLocks noChangeShapeType="1"/>
          </p:cNvSpPr>
          <p:nvPr/>
        </p:nvSpPr>
        <p:spPr bwMode="auto">
          <a:xfrm flipV="1">
            <a:off x="6353511" y="1290638"/>
            <a:ext cx="3048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Line 28"/>
          <p:cNvSpPr>
            <a:spLocks noChangeShapeType="1"/>
          </p:cNvSpPr>
          <p:nvPr/>
        </p:nvSpPr>
        <p:spPr bwMode="auto">
          <a:xfrm>
            <a:off x="6350336" y="1743075"/>
            <a:ext cx="43180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Line 29"/>
          <p:cNvSpPr>
            <a:spLocks noChangeShapeType="1"/>
          </p:cNvSpPr>
          <p:nvPr/>
        </p:nvSpPr>
        <p:spPr bwMode="auto">
          <a:xfrm>
            <a:off x="6658311" y="376238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Line 30"/>
          <p:cNvSpPr>
            <a:spLocks noChangeShapeType="1"/>
          </p:cNvSpPr>
          <p:nvPr/>
        </p:nvSpPr>
        <p:spPr bwMode="auto">
          <a:xfrm>
            <a:off x="6734511" y="1976438"/>
            <a:ext cx="0" cy="2514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Line 31"/>
          <p:cNvSpPr>
            <a:spLocks noChangeShapeType="1"/>
          </p:cNvSpPr>
          <p:nvPr/>
        </p:nvSpPr>
        <p:spPr bwMode="auto">
          <a:xfrm>
            <a:off x="5210511" y="1671638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Line 32"/>
          <p:cNvSpPr>
            <a:spLocks noChangeShapeType="1"/>
          </p:cNvSpPr>
          <p:nvPr/>
        </p:nvSpPr>
        <p:spPr bwMode="auto">
          <a:xfrm>
            <a:off x="5210511" y="1671638"/>
            <a:ext cx="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5" name="Line 33"/>
          <p:cNvSpPr>
            <a:spLocks noChangeShapeType="1"/>
          </p:cNvSpPr>
          <p:nvPr/>
        </p:nvSpPr>
        <p:spPr bwMode="auto">
          <a:xfrm>
            <a:off x="4981911" y="3195638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6" name="Line 34"/>
          <p:cNvSpPr>
            <a:spLocks noChangeShapeType="1"/>
          </p:cNvSpPr>
          <p:nvPr/>
        </p:nvSpPr>
        <p:spPr bwMode="auto">
          <a:xfrm flipV="1">
            <a:off x="5134311" y="3271838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7" name="Line 35"/>
          <p:cNvSpPr>
            <a:spLocks noChangeShapeType="1"/>
          </p:cNvSpPr>
          <p:nvPr/>
        </p:nvSpPr>
        <p:spPr bwMode="auto">
          <a:xfrm>
            <a:off x="5210511" y="327183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Line 36"/>
          <p:cNvSpPr>
            <a:spLocks noChangeShapeType="1"/>
          </p:cNvSpPr>
          <p:nvPr/>
        </p:nvSpPr>
        <p:spPr bwMode="auto">
          <a:xfrm>
            <a:off x="6582111" y="4491038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9" name="Line 37"/>
          <p:cNvSpPr>
            <a:spLocks noChangeShapeType="1"/>
          </p:cNvSpPr>
          <p:nvPr/>
        </p:nvSpPr>
        <p:spPr bwMode="auto">
          <a:xfrm>
            <a:off x="5210511" y="3957638"/>
            <a:ext cx="3200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Line 38"/>
          <p:cNvSpPr>
            <a:spLocks noChangeShapeType="1"/>
          </p:cNvSpPr>
          <p:nvPr/>
        </p:nvSpPr>
        <p:spPr bwMode="auto">
          <a:xfrm>
            <a:off x="6658311" y="376238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1" name="Line 39"/>
          <p:cNvSpPr>
            <a:spLocks noChangeShapeType="1"/>
          </p:cNvSpPr>
          <p:nvPr/>
        </p:nvSpPr>
        <p:spPr bwMode="auto">
          <a:xfrm>
            <a:off x="8410911" y="376238"/>
            <a:ext cx="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2" name="Line 40"/>
          <p:cNvSpPr>
            <a:spLocks noChangeShapeType="1"/>
          </p:cNvSpPr>
          <p:nvPr/>
        </p:nvSpPr>
        <p:spPr bwMode="auto">
          <a:xfrm>
            <a:off x="8410911" y="2128838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Line 41"/>
          <p:cNvSpPr>
            <a:spLocks noChangeShapeType="1"/>
          </p:cNvSpPr>
          <p:nvPr/>
        </p:nvSpPr>
        <p:spPr bwMode="auto">
          <a:xfrm>
            <a:off x="8106111" y="1900238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" name="Line 42"/>
          <p:cNvSpPr>
            <a:spLocks noChangeShapeType="1"/>
          </p:cNvSpPr>
          <p:nvPr/>
        </p:nvSpPr>
        <p:spPr bwMode="auto">
          <a:xfrm>
            <a:off x="8182311" y="1976438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Line 43"/>
          <p:cNvSpPr>
            <a:spLocks noChangeShapeType="1"/>
          </p:cNvSpPr>
          <p:nvPr/>
        </p:nvSpPr>
        <p:spPr bwMode="auto">
          <a:xfrm>
            <a:off x="8106111" y="2052638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6" name="Line 44"/>
          <p:cNvSpPr>
            <a:spLocks noChangeShapeType="1"/>
          </p:cNvSpPr>
          <p:nvPr/>
        </p:nvSpPr>
        <p:spPr bwMode="auto">
          <a:xfrm>
            <a:off x="8258511" y="2128838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7" name="Oval 45"/>
          <p:cNvSpPr>
            <a:spLocks noChangeArrowheads="1"/>
          </p:cNvSpPr>
          <p:nvPr/>
        </p:nvSpPr>
        <p:spPr bwMode="auto">
          <a:xfrm>
            <a:off x="6658311" y="3881438"/>
            <a:ext cx="108000" cy="10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" name="Line 49"/>
          <p:cNvSpPr>
            <a:spLocks noChangeShapeType="1"/>
          </p:cNvSpPr>
          <p:nvPr/>
        </p:nvSpPr>
        <p:spPr bwMode="auto">
          <a:xfrm>
            <a:off x="5210511" y="1824038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Line 50"/>
          <p:cNvSpPr>
            <a:spLocks noChangeShapeType="1"/>
          </p:cNvSpPr>
          <p:nvPr/>
        </p:nvSpPr>
        <p:spPr bwMode="auto">
          <a:xfrm>
            <a:off x="5591511" y="1824038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Line 51"/>
          <p:cNvSpPr>
            <a:spLocks noChangeShapeType="1"/>
          </p:cNvSpPr>
          <p:nvPr/>
        </p:nvSpPr>
        <p:spPr bwMode="auto">
          <a:xfrm flipH="1">
            <a:off x="5286711" y="2128838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Text Box 54"/>
          <p:cNvSpPr txBox="1">
            <a:spLocks noChangeArrowheads="1"/>
          </p:cNvSpPr>
          <p:nvPr/>
        </p:nvSpPr>
        <p:spPr bwMode="auto">
          <a:xfrm>
            <a:off x="5972511" y="1214438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C00000"/>
                </a:solidFill>
                <a:ea typeface="宋体" pitchFamily="2" charset="-122"/>
              </a:rPr>
              <a:t>B</a:t>
            </a:r>
          </a:p>
        </p:txBody>
      </p:sp>
      <p:sp>
        <p:nvSpPr>
          <p:cNvPr id="172" name="Text Box 55"/>
          <p:cNvSpPr txBox="1">
            <a:spLocks noChangeArrowheads="1"/>
          </p:cNvSpPr>
          <p:nvPr/>
        </p:nvSpPr>
        <p:spPr bwMode="auto">
          <a:xfrm>
            <a:off x="6646657" y="974184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C00000"/>
                </a:solidFill>
                <a:ea typeface="宋体" pitchFamily="2" charset="-122"/>
              </a:rPr>
              <a:t>C</a:t>
            </a:r>
          </a:p>
        </p:txBody>
      </p:sp>
      <p:sp>
        <p:nvSpPr>
          <p:cNvPr id="173" name="Text Box 56"/>
          <p:cNvSpPr txBox="1">
            <a:spLocks noChangeArrowheads="1"/>
          </p:cNvSpPr>
          <p:nvPr/>
        </p:nvSpPr>
        <p:spPr bwMode="auto">
          <a:xfrm>
            <a:off x="6733615" y="182403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C00000"/>
                </a:solidFill>
                <a:ea typeface="宋体" pitchFamily="2" charset="-122"/>
              </a:rPr>
              <a:t>E</a:t>
            </a:r>
          </a:p>
        </p:txBody>
      </p:sp>
      <p:sp>
        <p:nvSpPr>
          <p:cNvPr id="175" name="Rectangle 83"/>
          <p:cNvSpPr>
            <a:spLocks noChangeArrowheads="1"/>
          </p:cNvSpPr>
          <p:nvPr/>
        </p:nvSpPr>
        <p:spPr bwMode="auto">
          <a:xfrm>
            <a:off x="8293436" y="950913"/>
            <a:ext cx="215900" cy="555625"/>
          </a:xfrm>
          <a:prstGeom prst="rect">
            <a:avLst/>
          </a:prstGeom>
          <a:gradFill rotWithShape="1">
            <a:gsLst>
              <a:gs pos="0">
                <a:srgbClr val="765E2F"/>
              </a:gs>
              <a:gs pos="50000">
                <a:srgbClr val="FFCC66"/>
              </a:gs>
              <a:gs pos="100000">
                <a:srgbClr val="765E2F"/>
              </a:gs>
            </a:gsLst>
            <a:lin ang="0" scaled="1"/>
          </a:gradFill>
          <a:ln w="349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" name="Rectangle 84"/>
          <p:cNvSpPr>
            <a:spLocks noChangeArrowheads="1"/>
          </p:cNvSpPr>
          <p:nvPr/>
        </p:nvSpPr>
        <p:spPr bwMode="auto">
          <a:xfrm>
            <a:off x="5089861" y="1958975"/>
            <a:ext cx="215900" cy="431800"/>
          </a:xfrm>
          <a:prstGeom prst="rect">
            <a:avLst/>
          </a:prstGeom>
          <a:gradFill rotWithShape="1">
            <a:gsLst>
              <a:gs pos="0">
                <a:srgbClr val="765E2F"/>
              </a:gs>
              <a:gs pos="50000">
                <a:srgbClr val="FFCC66"/>
              </a:gs>
              <a:gs pos="100000">
                <a:srgbClr val="765E2F"/>
              </a:gs>
            </a:gsLst>
            <a:lin ang="0" scaled="1"/>
          </a:gradFill>
          <a:ln w="349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77" name="Rectangle 85"/>
          <p:cNvSpPr>
            <a:spLocks noChangeArrowheads="1"/>
          </p:cNvSpPr>
          <p:nvPr/>
        </p:nvSpPr>
        <p:spPr bwMode="auto">
          <a:xfrm>
            <a:off x="5089861" y="2608263"/>
            <a:ext cx="215900" cy="431800"/>
          </a:xfrm>
          <a:prstGeom prst="rect">
            <a:avLst/>
          </a:prstGeom>
          <a:gradFill rotWithShape="1">
            <a:gsLst>
              <a:gs pos="0">
                <a:srgbClr val="765E2F"/>
              </a:gs>
              <a:gs pos="50000">
                <a:srgbClr val="FFCC66"/>
              </a:gs>
              <a:gs pos="100000">
                <a:srgbClr val="765E2F"/>
              </a:gs>
            </a:gsLst>
            <a:lin ang="0" scaled="1"/>
          </a:gradFill>
          <a:ln w="349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78" name="Text Box 16"/>
          <p:cNvSpPr txBox="1">
            <a:spLocks noChangeArrowheads="1"/>
          </p:cNvSpPr>
          <p:nvPr/>
        </p:nvSpPr>
        <p:spPr bwMode="auto">
          <a:xfrm>
            <a:off x="693887" y="1332212"/>
            <a:ext cx="4136297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     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三极管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具有电流放大作用的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外部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条件：</a:t>
            </a:r>
          </a:p>
        </p:txBody>
      </p:sp>
      <p:sp>
        <p:nvSpPr>
          <p:cNvPr id="179" name="Text Box 17"/>
          <p:cNvSpPr txBox="1">
            <a:spLocks noChangeArrowheads="1"/>
          </p:cNvSpPr>
          <p:nvPr/>
        </p:nvSpPr>
        <p:spPr bwMode="auto">
          <a:xfrm>
            <a:off x="1409307" y="2623073"/>
            <a:ext cx="306587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发射结正向偏置</a:t>
            </a:r>
          </a:p>
        </p:txBody>
      </p:sp>
      <p:sp>
        <p:nvSpPr>
          <p:cNvPr id="180" name="Text Box 18"/>
          <p:cNvSpPr txBox="1">
            <a:spLocks noChangeArrowheads="1"/>
          </p:cNvSpPr>
          <p:nvPr/>
        </p:nvSpPr>
        <p:spPr bwMode="auto">
          <a:xfrm>
            <a:off x="1485507" y="3232673"/>
            <a:ext cx="2895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集电结反向偏置</a:t>
            </a:r>
          </a:p>
        </p:txBody>
      </p:sp>
      <p:sp>
        <p:nvSpPr>
          <p:cNvPr id="181" name="AutoShape 19"/>
          <p:cNvSpPr>
            <a:spLocks/>
          </p:cNvSpPr>
          <p:nvPr/>
        </p:nvSpPr>
        <p:spPr bwMode="auto">
          <a:xfrm>
            <a:off x="1333107" y="2851673"/>
            <a:ext cx="76200" cy="762000"/>
          </a:xfrm>
          <a:prstGeom prst="leftBrace">
            <a:avLst>
              <a:gd name="adj1" fmla="val 8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134" grpId="0" animBg="1"/>
      <p:bldP spid="135" grpId="0" autoUpdateAnimBg="0"/>
      <p:bldP spid="136" grpId="0" autoUpdateAnimBg="0"/>
      <p:bldP spid="137" grpId="0" autoUpdateAnimBg="0"/>
      <p:bldP spid="138" grpId="0" autoUpdateAnimBg="0"/>
      <p:bldP spid="139" grpId="0" animBg="1"/>
      <p:bldP spid="140" grpId="0" autoUpdateAnimBg="0"/>
      <p:bldP spid="141" grpId="0" autoUpdateAnimBg="0"/>
      <p:bldP spid="146" grpId="0" autoUpdateAnimBg="0"/>
      <p:bldP spid="147" grpId="0" animBg="1"/>
      <p:bldP spid="178" grpId="0" autoUpdateAnimBg="0"/>
      <p:bldP spid="179" grpId="0" autoUpdateAnimBg="0"/>
      <p:bldP spid="180" grpId="0" autoUpdateAnimBg="0"/>
      <p:bldP spid="18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Box 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84862" y="277748"/>
            <a:ext cx="572520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）电流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分配和电流放大原理</a:t>
            </a:r>
          </a:p>
        </p:txBody>
      </p:sp>
      <p:sp>
        <p:nvSpPr>
          <p:cNvPr id="134" name="Line 3"/>
          <p:cNvSpPr>
            <a:spLocks noChangeShapeType="1"/>
          </p:cNvSpPr>
          <p:nvPr/>
        </p:nvSpPr>
        <p:spPr bwMode="auto">
          <a:xfrm>
            <a:off x="6825167" y="2761896"/>
            <a:ext cx="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Text Box 4"/>
          <p:cNvSpPr txBox="1">
            <a:spLocks noChangeArrowheads="1"/>
          </p:cNvSpPr>
          <p:nvPr/>
        </p:nvSpPr>
        <p:spPr bwMode="auto">
          <a:xfrm>
            <a:off x="6823934" y="2888727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E</a:t>
            </a:r>
          </a:p>
        </p:txBody>
      </p:sp>
      <p:sp>
        <p:nvSpPr>
          <p:cNvPr id="136" name="Text Box 5"/>
          <p:cNvSpPr txBox="1">
            <a:spLocks noChangeArrowheads="1"/>
          </p:cNvSpPr>
          <p:nvPr/>
        </p:nvSpPr>
        <p:spPr bwMode="auto">
          <a:xfrm>
            <a:off x="5342274" y="1095375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</a:p>
        </p:txBody>
      </p:sp>
      <p:sp>
        <p:nvSpPr>
          <p:cNvPr id="137" name="Text Box 6"/>
          <p:cNvSpPr txBox="1">
            <a:spLocks noChangeArrowheads="1"/>
          </p:cNvSpPr>
          <p:nvPr/>
        </p:nvSpPr>
        <p:spPr bwMode="auto">
          <a:xfrm>
            <a:off x="5269249" y="2540000"/>
            <a:ext cx="625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</a:p>
        </p:txBody>
      </p:sp>
      <p:sp>
        <p:nvSpPr>
          <p:cNvPr id="138" name="Text Box 7"/>
          <p:cNvSpPr txBox="1">
            <a:spLocks noChangeArrowheads="1"/>
          </p:cNvSpPr>
          <p:nvPr/>
        </p:nvSpPr>
        <p:spPr bwMode="auto">
          <a:xfrm>
            <a:off x="5199399" y="3302000"/>
            <a:ext cx="790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aseline="-25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BB</a:t>
            </a:r>
          </a:p>
        </p:txBody>
      </p:sp>
      <p:sp>
        <p:nvSpPr>
          <p:cNvPr id="139" name="Line 9"/>
          <p:cNvSpPr>
            <a:spLocks noChangeShapeType="1"/>
          </p:cNvSpPr>
          <p:nvPr/>
        </p:nvSpPr>
        <p:spPr bwMode="auto">
          <a:xfrm>
            <a:off x="6867861" y="635000"/>
            <a:ext cx="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Text Box 10"/>
          <p:cNvSpPr txBox="1">
            <a:spLocks noChangeArrowheads="1"/>
          </p:cNvSpPr>
          <p:nvPr/>
        </p:nvSpPr>
        <p:spPr bwMode="auto">
          <a:xfrm>
            <a:off x="6944061" y="6350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</a:t>
            </a:r>
          </a:p>
        </p:txBody>
      </p:sp>
      <p:sp>
        <p:nvSpPr>
          <p:cNvPr id="141" name="Text Box 11"/>
          <p:cNvSpPr txBox="1">
            <a:spLocks noChangeArrowheads="1"/>
          </p:cNvSpPr>
          <p:nvPr/>
        </p:nvSpPr>
        <p:spPr bwMode="auto">
          <a:xfrm>
            <a:off x="7574846" y="141939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CC</a:t>
            </a:r>
          </a:p>
        </p:txBody>
      </p:sp>
      <p:sp>
        <p:nvSpPr>
          <p:cNvPr id="146" name="Text Box 22"/>
          <p:cNvSpPr txBox="1">
            <a:spLocks noChangeArrowheads="1"/>
          </p:cNvSpPr>
          <p:nvPr/>
        </p:nvSpPr>
        <p:spPr bwMode="auto">
          <a:xfrm>
            <a:off x="6029661" y="5588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aseline="-25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</a:t>
            </a:r>
          </a:p>
        </p:txBody>
      </p:sp>
      <p:sp>
        <p:nvSpPr>
          <p:cNvPr id="147" name="Line 23"/>
          <p:cNvSpPr>
            <a:spLocks noChangeShapeType="1"/>
          </p:cNvSpPr>
          <p:nvPr/>
        </p:nvSpPr>
        <p:spPr bwMode="auto">
          <a:xfrm>
            <a:off x="5342274" y="1563688"/>
            <a:ext cx="533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Line 26"/>
          <p:cNvSpPr>
            <a:spLocks noChangeShapeType="1"/>
          </p:cNvSpPr>
          <p:nvPr/>
        </p:nvSpPr>
        <p:spPr bwMode="auto">
          <a:xfrm>
            <a:off x="6353511" y="1366838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" name="Line 27"/>
          <p:cNvSpPr>
            <a:spLocks noChangeShapeType="1"/>
          </p:cNvSpPr>
          <p:nvPr/>
        </p:nvSpPr>
        <p:spPr bwMode="auto">
          <a:xfrm flipV="1">
            <a:off x="6353511" y="1290638"/>
            <a:ext cx="3048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Line 28"/>
          <p:cNvSpPr>
            <a:spLocks noChangeShapeType="1"/>
          </p:cNvSpPr>
          <p:nvPr/>
        </p:nvSpPr>
        <p:spPr bwMode="auto">
          <a:xfrm>
            <a:off x="6350336" y="1743075"/>
            <a:ext cx="431800" cy="288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Line 29"/>
          <p:cNvSpPr>
            <a:spLocks noChangeShapeType="1"/>
          </p:cNvSpPr>
          <p:nvPr/>
        </p:nvSpPr>
        <p:spPr bwMode="auto">
          <a:xfrm>
            <a:off x="6658311" y="376238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Line 30"/>
          <p:cNvSpPr>
            <a:spLocks noChangeShapeType="1"/>
          </p:cNvSpPr>
          <p:nvPr/>
        </p:nvSpPr>
        <p:spPr bwMode="auto">
          <a:xfrm>
            <a:off x="6734511" y="1976438"/>
            <a:ext cx="0" cy="2514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Line 31"/>
          <p:cNvSpPr>
            <a:spLocks noChangeShapeType="1"/>
          </p:cNvSpPr>
          <p:nvPr/>
        </p:nvSpPr>
        <p:spPr bwMode="auto">
          <a:xfrm>
            <a:off x="5210511" y="1671638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Line 32"/>
          <p:cNvSpPr>
            <a:spLocks noChangeShapeType="1"/>
          </p:cNvSpPr>
          <p:nvPr/>
        </p:nvSpPr>
        <p:spPr bwMode="auto">
          <a:xfrm>
            <a:off x="5210511" y="1671638"/>
            <a:ext cx="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5" name="Line 33"/>
          <p:cNvSpPr>
            <a:spLocks noChangeShapeType="1"/>
          </p:cNvSpPr>
          <p:nvPr/>
        </p:nvSpPr>
        <p:spPr bwMode="auto">
          <a:xfrm>
            <a:off x="4981911" y="3195638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6" name="Line 34"/>
          <p:cNvSpPr>
            <a:spLocks noChangeShapeType="1"/>
          </p:cNvSpPr>
          <p:nvPr/>
        </p:nvSpPr>
        <p:spPr bwMode="auto">
          <a:xfrm flipV="1">
            <a:off x="5134311" y="3271838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7" name="Line 35"/>
          <p:cNvSpPr>
            <a:spLocks noChangeShapeType="1"/>
          </p:cNvSpPr>
          <p:nvPr/>
        </p:nvSpPr>
        <p:spPr bwMode="auto">
          <a:xfrm>
            <a:off x="5210511" y="327183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Line 36"/>
          <p:cNvSpPr>
            <a:spLocks noChangeShapeType="1"/>
          </p:cNvSpPr>
          <p:nvPr/>
        </p:nvSpPr>
        <p:spPr bwMode="auto">
          <a:xfrm>
            <a:off x="6582111" y="4491038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9" name="Line 37"/>
          <p:cNvSpPr>
            <a:spLocks noChangeShapeType="1"/>
          </p:cNvSpPr>
          <p:nvPr/>
        </p:nvSpPr>
        <p:spPr bwMode="auto">
          <a:xfrm>
            <a:off x="5210511" y="3957638"/>
            <a:ext cx="3200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Line 38"/>
          <p:cNvSpPr>
            <a:spLocks noChangeShapeType="1"/>
          </p:cNvSpPr>
          <p:nvPr/>
        </p:nvSpPr>
        <p:spPr bwMode="auto">
          <a:xfrm>
            <a:off x="6658311" y="376238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1" name="Line 39"/>
          <p:cNvSpPr>
            <a:spLocks noChangeShapeType="1"/>
          </p:cNvSpPr>
          <p:nvPr/>
        </p:nvSpPr>
        <p:spPr bwMode="auto">
          <a:xfrm>
            <a:off x="8410911" y="376238"/>
            <a:ext cx="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2" name="Line 40"/>
          <p:cNvSpPr>
            <a:spLocks noChangeShapeType="1"/>
          </p:cNvSpPr>
          <p:nvPr/>
        </p:nvSpPr>
        <p:spPr bwMode="auto">
          <a:xfrm>
            <a:off x="8410911" y="2128838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Line 41"/>
          <p:cNvSpPr>
            <a:spLocks noChangeShapeType="1"/>
          </p:cNvSpPr>
          <p:nvPr/>
        </p:nvSpPr>
        <p:spPr bwMode="auto">
          <a:xfrm>
            <a:off x="8106111" y="1900238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" name="Line 42"/>
          <p:cNvSpPr>
            <a:spLocks noChangeShapeType="1"/>
          </p:cNvSpPr>
          <p:nvPr/>
        </p:nvSpPr>
        <p:spPr bwMode="auto">
          <a:xfrm>
            <a:off x="8182311" y="1976438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Line 43"/>
          <p:cNvSpPr>
            <a:spLocks noChangeShapeType="1"/>
          </p:cNvSpPr>
          <p:nvPr/>
        </p:nvSpPr>
        <p:spPr bwMode="auto">
          <a:xfrm>
            <a:off x="8106111" y="2052638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6" name="Line 44"/>
          <p:cNvSpPr>
            <a:spLocks noChangeShapeType="1"/>
          </p:cNvSpPr>
          <p:nvPr/>
        </p:nvSpPr>
        <p:spPr bwMode="auto">
          <a:xfrm>
            <a:off x="8258511" y="2128838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7" name="Oval 45"/>
          <p:cNvSpPr>
            <a:spLocks noChangeArrowheads="1"/>
          </p:cNvSpPr>
          <p:nvPr/>
        </p:nvSpPr>
        <p:spPr bwMode="auto">
          <a:xfrm>
            <a:off x="6658311" y="3881438"/>
            <a:ext cx="108000" cy="10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" name="Line 49"/>
          <p:cNvSpPr>
            <a:spLocks noChangeShapeType="1"/>
          </p:cNvSpPr>
          <p:nvPr/>
        </p:nvSpPr>
        <p:spPr bwMode="auto">
          <a:xfrm>
            <a:off x="5210511" y="1824038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Line 50"/>
          <p:cNvSpPr>
            <a:spLocks noChangeShapeType="1"/>
          </p:cNvSpPr>
          <p:nvPr/>
        </p:nvSpPr>
        <p:spPr bwMode="auto">
          <a:xfrm>
            <a:off x="5591511" y="1824038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Line 51"/>
          <p:cNvSpPr>
            <a:spLocks noChangeShapeType="1"/>
          </p:cNvSpPr>
          <p:nvPr/>
        </p:nvSpPr>
        <p:spPr bwMode="auto">
          <a:xfrm flipH="1">
            <a:off x="5286711" y="2128838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Text Box 54"/>
          <p:cNvSpPr txBox="1">
            <a:spLocks noChangeArrowheads="1"/>
          </p:cNvSpPr>
          <p:nvPr/>
        </p:nvSpPr>
        <p:spPr bwMode="auto">
          <a:xfrm>
            <a:off x="5972511" y="1214438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C00000"/>
                </a:solidFill>
                <a:ea typeface="宋体" pitchFamily="2" charset="-122"/>
              </a:rPr>
              <a:t>B</a:t>
            </a:r>
          </a:p>
        </p:txBody>
      </p:sp>
      <p:sp>
        <p:nvSpPr>
          <p:cNvPr id="172" name="Text Box 55"/>
          <p:cNvSpPr txBox="1">
            <a:spLocks noChangeArrowheads="1"/>
          </p:cNvSpPr>
          <p:nvPr/>
        </p:nvSpPr>
        <p:spPr bwMode="auto">
          <a:xfrm>
            <a:off x="6646657" y="974184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C00000"/>
                </a:solidFill>
                <a:ea typeface="宋体" pitchFamily="2" charset="-122"/>
              </a:rPr>
              <a:t>C</a:t>
            </a:r>
          </a:p>
        </p:txBody>
      </p:sp>
      <p:sp>
        <p:nvSpPr>
          <p:cNvPr id="173" name="Text Box 56"/>
          <p:cNvSpPr txBox="1">
            <a:spLocks noChangeArrowheads="1"/>
          </p:cNvSpPr>
          <p:nvPr/>
        </p:nvSpPr>
        <p:spPr bwMode="auto">
          <a:xfrm>
            <a:off x="6733615" y="1824038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C00000"/>
                </a:solidFill>
                <a:ea typeface="宋体" pitchFamily="2" charset="-122"/>
              </a:rPr>
              <a:t>E</a:t>
            </a:r>
          </a:p>
        </p:txBody>
      </p:sp>
      <p:sp>
        <p:nvSpPr>
          <p:cNvPr id="175" name="Rectangle 83"/>
          <p:cNvSpPr>
            <a:spLocks noChangeArrowheads="1"/>
          </p:cNvSpPr>
          <p:nvPr/>
        </p:nvSpPr>
        <p:spPr bwMode="auto">
          <a:xfrm>
            <a:off x="8293436" y="950913"/>
            <a:ext cx="215900" cy="555625"/>
          </a:xfrm>
          <a:prstGeom prst="rect">
            <a:avLst/>
          </a:prstGeom>
          <a:gradFill rotWithShape="1">
            <a:gsLst>
              <a:gs pos="0">
                <a:srgbClr val="765E2F"/>
              </a:gs>
              <a:gs pos="50000">
                <a:srgbClr val="FFCC66"/>
              </a:gs>
              <a:gs pos="100000">
                <a:srgbClr val="765E2F"/>
              </a:gs>
            </a:gsLst>
            <a:lin ang="0" scaled="1"/>
          </a:gradFill>
          <a:ln w="349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" name="Rectangle 84"/>
          <p:cNvSpPr>
            <a:spLocks noChangeArrowheads="1"/>
          </p:cNvSpPr>
          <p:nvPr/>
        </p:nvSpPr>
        <p:spPr bwMode="auto">
          <a:xfrm>
            <a:off x="5089861" y="1958975"/>
            <a:ext cx="215900" cy="431800"/>
          </a:xfrm>
          <a:prstGeom prst="rect">
            <a:avLst/>
          </a:prstGeom>
          <a:gradFill rotWithShape="1">
            <a:gsLst>
              <a:gs pos="0">
                <a:srgbClr val="765E2F"/>
              </a:gs>
              <a:gs pos="50000">
                <a:srgbClr val="FFCC66"/>
              </a:gs>
              <a:gs pos="100000">
                <a:srgbClr val="765E2F"/>
              </a:gs>
            </a:gsLst>
            <a:lin ang="0" scaled="1"/>
          </a:gradFill>
          <a:ln w="349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77" name="Rectangle 85"/>
          <p:cNvSpPr>
            <a:spLocks noChangeArrowheads="1"/>
          </p:cNvSpPr>
          <p:nvPr/>
        </p:nvSpPr>
        <p:spPr bwMode="auto">
          <a:xfrm>
            <a:off x="5089861" y="2608263"/>
            <a:ext cx="215900" cy="431800"/>
          </a:xfrm>
          <a:prstGeom prst="rect">
            <a:avLst/>
          </a:prstGeom>
          <a:gradFill rotWithShape="1">
            <a:gsLst>
              <a:gs pos="0">
                <a:srgbClr val="765E2F"/>
              </a:gs>
              <a:gs pos="50000">
                <a:srgbClr val="FFCC66"/>
              </a:gs>
              <a:gs pos="100000">
                <a:srgbClr val="765E2F"/>
              </a:gs>
            </a:gsLst>
            <a:lin ang="0" scaled="1"/>
          </a:gradFill>
          <a:ln w="349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47" name="Rectangle 12"/>
          <p:cNvSpPr>
            <a:spLocks noChangeArrowheads="1"/>
          </p:cNvSpPr>
          <p:nvPr/>
        </p:nvSpPr>
        <p:spPr bwMode="auto">
          <a:xfrm>
            <a:off x="5970607" y="2252711"/>
            <a:ext cx="4572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输入回路</a:t>
            </a:r>
            <a:endParaRPr lang="zh-CN" altLang="en-US" sz="2400" dirty="0">
              <a:solidFill>
                <a:srgbClr val="C0000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8" name="Rectangle 13"/>
          <p:cNvSpPr>
            <a:spLocks noChangeArrowheads="1"/>
          </p:cNvSpPr>
          <p:nvPr/>
        </p:nvSpPr>
        <p:spPr bwMode="auto">
          <a:xfrm>
            <a:off x="7360326" y="1908442"/>
            <a:ext cx="609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输出回路</a:t>
            </a:r>
            <a:endParaRPr lang="zh-CN" altLang="en-US" sz="2400" dirty="0">
              <a:solidFill>
                <a:srgbClr val="C0000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9" name="Line 14"/>
          <p:cNvSpPr>
            <a:spLocks noChangeShapeType="1"/>
          </p:cNvSpPr>
          <p:nvPr/>
        </p:nvSpPr>
        <p:spPr bwMode="auto">
          <a:xfrm flipH="1" flipV="1">
            <a:off x="6800494" y="4040403"/>
            <a:ext cx="396371" cy="25189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zh-CN" altLang="en-US" sz="2400">
              <a:solidFill>
                <a:srgbClr val="C0000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0" name="Text Box 15"/>
          <p:cNvSpPr txBox="1">
            <a:spLocks noChangeArrowheads="1"/>
          </p:cNvSpPr>
          <p:nvPr/>
        </p:nvSpPr>
        <p:spPr bwMode="auto">
          <a:xfrm>
            <a:off x="7126811" y="4127361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公共端</a:t>
            </a:r>
          </a:p>
        </p:txBody>
      </p:sp>
      <p:sp>
        <p:nvSpPr>
          <p:cNvPr id="52" name="Rectangle 58"/>
          <p:cNvSpPr>
            <a:spLocks noChangeArrowheads="1"/>
          </p:cNvSpPr>
          <p:nvPr/>
        </p:nvSpPr>
        <p:spPr bwMode="auto">
          <a:xfrm>
            <a:off x="178566" y="1350552"/>
            <a:ext cx="2209800" cy="2743200"/>
          </a:xfrm>
          <a:prstGeom prst="rect">
            <a:avLst/>
          </a:prstGeom>
          <a:noFill/>
          <a:ln w="57150" cap="rnd" cmpd="thinThick">
            <a:solidFill>
              <a:srgbClr val="FF9933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53" name="Group 80"/>
          <p:cNvGrpSpPr>
            <a:grpSpLocks/>
          </p:cNvGrpSpPr>
          <p:nvPr/>
        </p:nvGrpSpPr>
        <p:grpSpPr bwMode="auto">
          <a:xfrm>
            <a:off x="2575691" y="1350552"/>
            <a:ext cx="2327275" cy="2743200"/>
            <a:chOff x="4150" y="1968"/>
            <a:chExt cx="1466" cy="1728"/>
          </a:xfrm>
        </p:grpSpPr>
        <p:sp>
          <p:nvSpPr>
            <p:cNvPr id="54" name="Text Box 21"/>
            <p:cNvSpPr txBox="1">
              <a:spLocks noChangeArrowheads="1"/>
            </p:cNvSpPr>
            <p:nvPr/>
          </p:nvSpPr>
          <p:spPr bwMode="auto">
            <a:xfrm>
              <a:off x="4224" y="2016"/>
              <a:ext cx="1392" cy="16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PNP 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管：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    </a:t>
              </a: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     </a:t>
              </a:r>
              <a:r>
                <a:rPr lang="en-US" altLang="zh-CN" sz="2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&lt;0  </a:t>
              </a:r>
              <a:endPara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    </a:t>
              </a:r>
              <a:r>
                <a:rPr lang="en-US" altLang="zh-CN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     </a:t>
              </a:r>
              <a:r>
                <a:rPr lang="en-US" altLang="zh-CN" sz="2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BC</a:t>
              </a:r>
              <a:r>
                <a:rPr lang="en-US" altLang="zh-CN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&gt;0</a:t>
              </a:r>
              <a:endPara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  <a:p>
              <a:pPr eaLnBrk="1" hangingPunct="1">
                <a:spcBef>
                  <a:spcPts val="3000"/>
                </a:spcBef>
              </a:pP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即 </a:t>
              </a:r>
              <a:r>
                <a:rPr lang="en-US" altLang="zh-CN" sz="2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8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&lt;</a:t>
              </a:r>
              <a:r>
                <a:rPr lang="en-US" altLang="zh-CN" sz="2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8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&lt;</a:t>
              </a:r>
              <a:r>
                <a:rPr lang="en-US" altLang="zh-CN" sz="2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8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800" b="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5" name="Rectangle 59"/>
            <p:cNvSpPr>
              <a:spLocks noChangeArrowheads="1"/>
            </p:cNvSpPr>
            <p:nvPr/>
          </p:nvSpPr>
          <p:spPr bwMode="auto">
            <a:xfrm>
              <a:off x="4224" y="1968"/>
              <a:ext cx="1392" cy="1728"/>
            </a:xfrm>
            <a:prstGeom prst="rect">
              <a:avLst/>
            </a:prstGeom>
            <a:noFill/>
            <a:ln w="57150" cap="rnd" cmpd="thinThick">
              <a:solidFill>
                <a:srgbClr val="FF9933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zh-CN" altLang="zh-CN" sz="2400" b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56" name="Group 79"/>
            <p:cNvGrpSpPr>
              <a:grpSpLocks/>
            </p:cNvGrpSpPr>
            <p:nvPr/>
          </p:nvGrpSpPr>
          <p:grpSpPr bwMode="auto">
            <a:xfrm>
              <a:off x="4150" y="2478"/>
              <a:ext cx="677" cy="699"/>
              <a:chOff x="5045" y="1195"/>
              <a:chExt cx="677" cy="699"/>
            </a:xfrm>
          </p:grpSpPr>
          <p:sp>
            <p:nvSpPr>
              <p:cNvPr id="57" name="Text Box 69"/>
              <p:cNvSpPr txBox="1">
                <a:spLocks noChangeArrowheads="1"/>
              </p:cNvSpPr>
              <p:nvPr/>
            </p:nvSpPr>
            <p:spPr bwMode="auto">
              <a:xfrm>
                <a:off x="5215" y="1368"/>
                <a:ext cx="116" cy="365"/>
              </a:xfrm>
              <a:prstGeom prst="rect">
                <a:avLst/>
              </a:prstGeom>
              <a:noFill/>
              <a:ln w="349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zh-CN" altLang="zh-CN" sz="32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8" name="Line 70"/>
              <p:cNvSpPr>
                <a:spLocks noChangeShapeType="1"/>
              </p:cNvSpPr>
              <p:nvPr/>
            </p:nvSpPr>
            <p:spPr bwMode="auto">
              <a:xfrm>
                <a:off x="5284" y="1434"/>
                <a:ext cx="0" cy="227"/>
              </a:xfrm>
              <a:prstGeom prst="line">
                <a:avLst/>
              </a:prstGeom>
              <a:noFill/>
              <a:ln w="34925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9" name="Line 71"/>
              <p:cNvSpPr>
                <a:spLocks noChangeShapeType="1"/>
              </p:cNvSpPr>
              <p:nvPr/>
            </p:nvSpPr>
            <p:spPr bwMode="auto">
              <a:xfrm flipH="1" flipV="1">
                <a:off x="5284" y="1570"/>
                <a:ext cx="181" cy="91"/>
              </a:xfrm>
              <a:prstGeom prst="line">
                <a:avLst/>
              </a:prstGeom>
              <a:noFill/>
              <a:ln w="34925">
                <a:solidFill>
                  <a:srgbClr val="993366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0" name="Line 72"/>
              <p:cNvSpPr>
                <a:spLocks noChangeShapeType="1"/>
              </p:cNvSpPr>
              <p:nvPr/>
            </p:nvSpPr>
            <p:spPr bwMode="auto">
              <a:xfrm flipV="1">
                <a:off x="5284" y="1434"/>
                <a:ext cx="181" cy="91"/>
              </a:xfrm>
              <a:prstGeom prst="line">
                <a:avLst/>
              </a:prstGeom>
              <a:noFill/>
              <a:ln w="34925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1" name="Line 73"/>
              <p:cNvSpPr>
                <a:spLocks noChangeShapeType="1"/>
              </p:cNvSpPr>
              <p:nvPr/>
            </p:nvSpPr>
            <p:spPr bwMode="auto">
              <a:xfrm flipV="1">
                <a:off x="5465" y="1253"/>
                <a:ext cx="0" cy="181"/>
              </a:xfrm>
              <a:prstGeom prst="line">
                <a:avLst/>
              </a:prstGeom>
              <a:noFill/>
              <a:ln w="34925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2" name="Line 74"/>
              <p:cNvSpPr>
                <a:spLocks noChangeShapeType="1"/>
              </p:cNvSpPr>
              <p:nvPr/>
            </p:nvSpPr>
            <p:spPr bwMode="auto">
              <a:xfrm>
                <a:off x="5465" y="1661"/>
                <a:ext cx="0" cy="136"/>
              </a:xfrm>
              <a:prstGeom prst="line">
                <a:avLst/>
              </a:prstGeom>
              <a:noFill/>
              <a:ln w="34925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3" name="Line 75"/>
              <p:cNvSpPr>
                <a:spLocks noChangeShapeType="1"/>
              </p:cNvSpPr>
              <p:nvPr/>
            </p:nvSpPr>
            <p:spPr bwMode="auto">
              <a:xfrm>
                <a:off x="5103" y="1570"/>
                <a:ext cx="181" cy="0"/>
              </a:xfrm>
              <a:prstGeom prst="line">
                <a:avLst/>
              </a:prstGeom>
              <a:noFill/>
              <a:ln w="34925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4" name="Text Box 76"/>
              <p:cNvSpPr txBox="1">
                <a:spLocks noChangeArrowheads="1"/>
              </p:cNvSpPr>
              <p:nvPr/>
            </p:nvSpPr>
            <p:spPr bwMode="auto">
              <a:xfrm>
                <a:off x="5498" y="1195"/>
                <a:ext cx="224" cy="252"/>
              </a:xfrm>
              <a:prstGeom prst="rect">
                <a:avLst/>
              </a:prstGeom>
              <a:noFill/>
              <a:ln w="349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65" name="Text Box 77"/>
              <p:cNvSpPr txBox="1">
                <a:spLocks noChangeArrowheads="1"/>
              </p:cNvSpPr>
              <p:nvPr/>
            </p:nvSpPr>
            <p:spPr bwMode="auto">
              <a:xfrm>
                <a:off x="5420" y="1661"/>
                <a:ext cx="205" cy="233"/>
              </a:xfrm>
              <a:prstGeom prst="rect">
                <a:avLst/>
              </a:prstGeom>
              <a:noFill/>
              <a:ln w="349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E</a:t>
                </a:r>
              </a:p>
            </p:txBody>
          </p:sp>
          <p:sp>
            <p:nvSpPr>
              <p:cNvPr id="66" name="Text Box 78"/>
              <p:cNvSpPr txBox="1">
                <a:spLocks noChangeArrowheads="1"/>
              </p:cNvSpPr>
              <p:nvPr/>
            </p:nvSpPr>
            <p:spPr bwMode="auto">
              <a:xfrm>
                <a:off x="5045" y="1347"/>
                <a:ext cx="213" cy="233"/>
              </a:xfrm>
              <a:prstGeom prst="rect">
                <a:avLst/>
              </a:prstGeom>
              <a:noFill/>
              <a:ln w="349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</p:grpSp>
      </p:grpSp>
      <p:grpSp>
        <p:nvGrpSpPr>
          <p:cNvPr id="78" name="组合 77"/>
          <p:cNvGrpSpPr/>
          <p:nvPr/>
        </p:nvGrpSpPr>
        <p:grpSpPr>
          <a:xfrm>
            <a:off x="129092" y="1372777"/>
            <a:ext cx="2716474" cy="2631490"/>
            <a:chOff x="129092" y="1372777"/>
            <a:chExt cx="2716474" cy="2631490"/>
          </a:xfrm>
        </p:grpSpPr>
        <p:sp>
          <p:nvSpPr>
            <p:cNvPr id="51" name="Text Box 20"/>
            <p:cNvSpPr txBox="1">
              <a:spLocks noChangeArrowheads="1"/>
            </p:cNvSpPr>
            <p:nvPr/>
          </p:nvSpPr>
          <p:spPr bwMode="auto">
            <a:xfrm>
              <a:off x="254766" y="1372777"/>
              <a:ext cx="2590800" cy="2631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NPN 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管：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   </a:t>
              </a: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     </a:t>
              </a:r>
              <a:r>
                <a:rPr lang="en-US" altLang="zh-CN" sz="2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&gt;0  </a:t>
              </a:r>
              <a:endPara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       </a:t>
              </a:r>
              <a:r>
                <a:rPr lang="en-US" altLang="zh-CN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 </a:t>
              </a:r>
              <a:r>
                <a:rPr lang="en-US" altLang="zh-CN" sz="2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BC</a:t>
              </a:r>
              <a:r>
                <a:rPr lang="en-US" altLang="zh-CN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&lt;0</a:t>
              </a:r>
              <a:endPara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  <a:p>
              <a:pPr eaLnBrk="1" hangingPunct="1">
                <a:spcBef>
                  <a:spcPts val="3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即 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&gt;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&gt;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129092" y="2106309"/>
              <a:ext cx="1075326" cy="1090057"/>
              <a:chOff x="1222020" y="4313499"/>
              <a:chExt cx="1075326" cy="1090057"/>
            </a:xfrm>
          </p:grpSpPr>
          <p:sp>
            <p:nvSpPr>
              <p:cNvPr id="67" name="Line 70"/>
              <p:cNvSpPr>
                <a:spLocks noChangeShapeType="1"/>
              </p:cNvSpPr>
              <p:nvPr/>
            </p:nvSpPr>
            <p:spPr bwMode="auto">
              <a:xfrm>
                <a:off x="1601433" y="4692912"/>
                <a:ext cx="0" cy="360363"/>
              </a:xfrm>
              <a:prstGeom prst="line">
                <a:avLst/>
              </a:prstGeom>
              <a:noFill/>
              <a:ln w="34925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9" name="Line 71"/>
              <p:cNvSpPr>
                <a:spLocks noChangeShapeType="1"/>
              </p:cNvSpPr>
              <p:nvPr/>
            </p:nvSpPr>
            <p:spPr bwMode="auto">
              <a:xfrm>
                <a:off x="1603019" y="4919925"/>
                <a:ext cx="297217" cy="214050"/>
              </a:xfrm>
              <a:prstGeom prst="line">
                <a:avLst/>
              </a:prstGeom>
              <a:noFill/>
              <a:ln w="34925">
                <a:solidFill>
                  <a:srgbClr val="993366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0" name="Line 72"/>
              <p:cNvSpPr>
                <a:spLocks noChangeShapeType="1"/>
              </p:cNvSpPr>
              <p:nvPr/>
            </p:nvSpPr>
            <p:spPr bwMode="auto">
              <a:xfrm flipV="1">
                <a:off x="1601433" y="4692912"/>
                <a:ext cx="287338" cy="144463"/>
              </a:xfrm>
              <a:prstGeom prst="line">
                <a:avLst/>
              </a:prstGeom>
              <a:noFill/>
              <a:ln w="34925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1" name="Line 73"/>
              <p:cNvSpPr>
                <a:spLocks noChangeShapeType="1"/>
              </p:cNvSpPr>
              <p:nvPr/>
            </p:nvSpPr>
            <p:spPr bwMode="auto">
              <a:xfrm flipV="1">
                <a:off x="1888770" y="4405574"/>
                <a:ext cx="0" cy="287338"/>
              </a:xfrm>
              <a:prstGeom prst="line">
                <a:avLst/>
              </a:prstGeom>
              <a:noFill/>
              <a:ln w="34925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2" name="Line 74"/>
              <p:cNvSpPr>
                <a:spLocks noChangeShapeType="1"/>
              </p:cNvSpPr>
              <p:nvPr/>
            </p:nvSpPr>
            <p:spPr bwMode="auto">
              <a:xfrm>
                <a:off x="1888770" y="5115187"/>
                <a:ext cx="0" cy="215900"/>
              </a:xfrm>
              <a:prstGeom prst="line">
                <a:avLst/>
              </a:prstGeom>
              <a:noFill/>
              <a:ln w="34925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3" name="Line 75"/>
              <p:cNvSpPr>
                <a:spLocks noChangeShapeType="1"/>
              </p:cNvSpPr>
              <p:nvPr/>
            </p:nvSpPr>
            <p:spPr bwMode="auto">
              <a:xfrm>
                <a:off x="1314095" y="4875474"/>
                <a:ext cx="287338" cy="0"/>
              </a:xfrm>
              <a:prstGeom prst="line">
                <a:avLst/>
              </a:prstGeom>
              <a:noFill/>
              <a:ln w="34925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4" name="Text Box 76"/>
              <p:cNvSpPr txBox="1">
                <a:spLocks noChangeArrowheads="1"/>
              </p:cNvSpPr>
              <p:nvPr/>
            </p:nvSpPr>
            <p:spPr bwMode="auto">
              <a:xfrm>
                <a:off x="1941158" y="4313499"/>
                <a:ext cx="356188" cy="400110"/>
              </a:xfrm>
              <a:prstGeom prst="rect">
                <a:avLst/>
              </a:prstGeom>
              <a:noFill/>
              <a:ln w="349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75" name="Text Box 77"/>
              <p:cNvSpPr txBox="1">
                <a:spLocks noChangeArrowheads="1"/>
              </p:cNvSpPr>
              <p:nvPr/>
            </p:nvSpPr>
            <p:spPr bwMode="auto">
              <a:xfrm>
                <a:off x="1950682" y="5034224"/>
                <a:ext cx="325730" cy="369332"/>
              </a:xfrm>
              <a:prstGeom prst="rect">
                <a:avLst/>
              </a:prstGeom>
              <a:noFill/>
              <a:ln w="349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E</a:t>
                </a:r>
              </a:p>
            </p:txBody>
          </p:sp>
          <p:sp>
            <p:nvSpPr>
              <p:cNvPr id="76" name="Text Box 78"/>
              <p:cNvSpPr txBox="1">
                <a:spLocks noChangeArrowheads="1"/>
              </p:cNvSpPr>
              <p:nvPr/>
            </p:nvSpPr>
            <p:spPr bwMode="auto">
              <a:xfrm>
                <a:off x="1222020" y="4554799"/>
                <a:ext cx="338554" cy="369332"/>
              </a:xfrm>
              <a:prstGeom prst="rect">
                <a:avLst/>
              </a:prstGeom>
              <a:noFill/>
              <a:ln w="349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</p:grpSp>
      </p:grpSp>
      <p:sp>
        <p:nvSpPr>
          <p:cNvPr id="79" name="Text Box 57"/>
          <p:cNvSpPr txBox="1">
            <a:spLocks noChangeArrowheads="1"/>
          </p:cNvSpPr>
          <p:nvPr/>
        </p:nvSpPr>
        <p:spPr bwMode="auto">
          <a:xfrm>
            <a:off x="3032405" y="4290901"/>
            <a:ext cx="30416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共发射极放大电路</a:t>
            </a:r>
            <a:endParaRPr lang="zh-CN" altLang="en-US" sz="2800" b="0" dirty="0">
              <a:solidFill>
                <a:srgbClr val="0070C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1" name="任意多边形 80"/>
          <p:cNvSpPr/>
          <p:nvPr/>
        </p:nvSpPr>
        <p:spPr>
          <a:xfrm rot="156024">
            <a:off x="5670331" y="1975945"/>
            <a:ext cx="846083" cy="1387366"/>
          </a:xfrm>
          <a:custGeom>
            <a:avLst/>
            <a:gdLst>
              <a:gd name="connsiteX0" fmla="*/ 68318 w 846083"/>
              <a:gd name="connsiteY0" fmla="*/ 1250731 h 1250731"/>
              <a:gd name="connsiteX1" fmla="*/ 57807 w 846083"/>
              <a:gd name="connsiteY1" fmla="*/ 241738 h 1250731"/>
              <a:gd name="connsiteX2" fmla="*/ 415159 w 846083"/>
              <a:gd name="connsiteY2" fmla="*/ 0 h 1250731"/>
              <a:gd name="connsiteX3" fmla="*/ 762000 w 846083"/>
              <a:gd name="connsiteY3" fmla="*/ 241738 h 1250731"/>
              <a:gd name="connsiteX4" fmla="*/ 846083 w 846083"/>
              <a:gd name="connsiteY4" fmla="*/ 1240221 h 1250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6083" h="1250731">
                <a:moveTo>
                  <a:pt x="68318" y="1250731"/>
                </a:moveTo>
                <a:cubicBezTo>
                  <a:pt x="34159" y="850462"/>
                  <a:pt x="0" y="450193"/>
                  <a:pt x="57807" y="241738"/>
                </a:cubicBezTo>
                <a:cubicBezTo>
                  <a:pt x="115614" y="33283"/>
                  <a:pt x="297794" y="0"/>
                  <a:pt x="415159" y="0"/>
                </a:cubicBezTo>
                <a:cubicBezTo>
                  <a:pt x="532524" y="0"/>
                  <a:pt x="690179" y="35034"/>
                  <a:pt x="762000" y="241738"/>
                </a:cubicBezTo>
                <a:cubicBezTo>
                  <a:pt x="833821" y="448442"/>
                  <a:pt x="839952" y="844331"/>
                  <a:pt x="846083" y="1240221"/>
                </a:cubicBezTo>
              </a:path>
            </a:pathLst>
          </a:custGeom>
          <a:ln w="34925">
            <a:solidFill>
              <a:srgbClr val="C0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任意多边形 81"/>
          <p:cNvSpPr/>
          <p:nvPr/>
        </p:nvSpPr>
        <p:spPr>
          <a:xfrm rot="21424176" flipH="1">
            <a:off x="7157545" y="966952"/>
            <a:ext cx="909144" cy="2312276"/>
          </a:xfrm>
          <a:custGeom>
            <a:avLst/>
            <a:gdLst>
              <a:gd name="connsiteX0" fmla="*/ 68318 w 846083"/>
              <a:gd name="connsiteY0" fmla="*/ 1250731 h 1250731"/>
              <a:gd name="connsiteX1" fmla="*/ 57807 w 846083"/>
              <a:gd name="connsiteY1" fmla="*/ 241738 h 1250731"/>
              <a:gd name="connsiteX2" fmla="*/ 415159 w 846083"/>
              <a:gd name="connsiteY2" fmla="*/ 0 h 1250731"/>
              <a:gd name="connsiteX3" fmla="*/ 762000 w 846083"/>
              <a:gd name="connsiteY3" fmla="*/ 241738 h 1250731"/>
              <a:gd name="connsiteX4" fmla="*/ 846083 w 846083"/>
              <a:gd name="connsiteY4" fmla="*/ 1240221 h 1250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6083" h="1250731">
                <a:moveTo>
                  <a:pt x="68318" y="1250731"/>
                </a:moveTo>
                <a:cubicBezTo>
                  <a:pt x="34159" y="850462"/>
                  <a:pt x="0" y="450193"/>
                  <a:pt x="57807" y="241738"/>
                </a:cubicBezTo>
                <a:cubicBezTo>
                  <a:pt x="115614" y="33283"/>
                  <a:pt x="297794" y="0"/>
                  <a:pt x="415159" y="0"/>
                </a:cubicBezTo>
                <a:cubicBezTo>
                  <a:pt x="532524" y="0"/>
                  <a:pt x="690179" y="35034"/>
                  <a:pt x="762000" y="241738"/>
                </a:cubicBezTo>
                <a:cubicBezTo>
                  <a:pt x="833821" y="448442"/>
                  <a:pt x="839952" y="844331"/>
                  <a:pt x="846083" y="1240221"/>
                </a:cubicBezTo>
              </a:path>
            </a:pathLst>
          </a:custGeom>
          <a:ln w="34925">
            <a:solidFill>
              <a:srgbClr val="C0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utoUpdateAnimBg="0"/>
      <p:bldP spid="48" grpId="0" autoUpdateAnimBg="0"/>
      <p:bldP spid="49" grpId="0" animBg="1"/>
      <p:bldP spid="50" grpId="0" autoUpdateAnimBg="0"/>
      <p:bldP spid="52" grpId="0" animBg="1"/>
      <p:bldP spid="79" grpId="0" autoUpdateAnimBg="0"/>
      <p:bldP spid="81" grpId="0" animBg="1"/>
      <p:bldP spid="8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Text Box 2"/>
          <p:cNvSpPr txBox="1">
            <a:spLocks noChangeArrowheads="1"/>
          </p:cNvSpPr>
          <p:nvPr/>
        </p:nvSpPr>
        <p:spPr bwMode="auto">
          <a:xfrm>
            <a:off x="172123" y="225912"/>
            <a:ext cx="46223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三极管的电流控制原理</a:t>
            </a:r>
          </a:p>
        </p:txBody>
      </p:sp>
      <p:sp>
        <p:nvSpPr>
          <p:cNvPr id="104" name="Line 3"/>
          <p:cNvSpPr>
            <a:spLocks noChangeShapeType="1"/>
          </p:cNvSpPr>
          <p:nvPr/>
        </p:nvSpPr>
        <p:spPr bwMode="auto">
          <a:xfrm>
            <a:off x="4665569" y="883192"/>
            <a:ext cx="533400" cy="0"/>
          </a:xfrm>
          <a:prstGeom prst="line">
            <a:avLst/>
          </a:prstGeom>
          <a:noFill/>
          <a:ln w="76200">
            <a:solidFill>
              <a:srgbClr val="00CCFF"/>
            </a:solidFill>
            <a:round/>
            <a:headEnd/>
            <a:tailEnd/>
          </a:ln>
          <a:scene3d>
            <a:camera prst="legacyObliqueFront"/>
            <a:lightRig rig="legacyFlat1" dir="t"/>
          </a:scene3d>
          <a:sp3d extrusionH="11100" prstMaterial="legacyMatte">
            <a:bevelT w="13500" h="13500" prst="angle"/>
            <a:bevelB w="13500" h="13500" prst="angle"/>
            <a:extrusionClr>
              <a:srgbClr val="FFCC99"/>
            </a:extrusionClr>
          </a:sp3d>
        </p:spPr>
        <p:txBody>
          <a:bodyPr>
            <a:flatTx/>
          </a:bodyPr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5" name="Line 4"/>
          <p:cNvSpPr>
            <a:spLocks noChangeShapeType="1"/>
          </p:cNvSpPr>
          <p:nvPr/>
        </p:nvSpPr>
        <p:spPr bwMode="auto">
          <a:xfrm>
            <a:off x="4770344" y="4269330"/>
            <a:ext cx="533400" cy="0"/>
          </a:xfrm>
          <a:prstGeom prst="line">
            <a:avLst/>
          </a:prstGeom>
          <a:noFill/>
          <a:ln w="76200">
            <a:solidFill>
              <a:srgbClr val="00CCFF"/>
            </a:solidFill>
            <a:round/>
            <a:headEnd/>
            <a:tailEnd/>
          </a:ln>
          <a:scene3d>
            <a:camera prst="legacyObliqueFront">
              <a:rot lat="300000" lon="0" rev="0"/>
            </a:camera>
            <a:lightRig rig="legacyFlat1" dir="t"/>
          </a:scene3d>
          <a:sp3d extrusionH="11100" prstMaterial="legacyMatte">
            <a:bevelT w="13500" h="13500" prst="angle"/>
            <a:bevelB w="13500" h="13500" prst="angle"/>
            <a:extrusionClr>
              <a:srgbClr val="FFCC99"/>
            </a:extrusionClr>
          </a:sp3d>
        </p:spPr>
        <p:txBody>
          <a:bodyPr>
            <a:flatTx/>
          </a:bodyPr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6" name="Line 5"/>
          <p:cNvSpPr>
            <a:spLocks noChangeShapeType="1"/>
          </p:cNvSpPr>
          <p:nvPr/>
        </p:nvSpPr>
        <p:spPr bwMode="auto">
          <a:xfrm>
            <a:off x="4908457" y="46885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scene3d>
            <a:camera prst="legacyObliqueFront"/>
            <a:lightRig rig="legacyFlat1" dir="t"/>
          </a:scene3d>
          <a:sp3d extrusionH="49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  <p:txBody>
          <a:bodyPr>
            <a:flatTx/>
          </a:bodyPr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7" name="Line 6"/>
          <p:cNvSpPr>
            <a:spLocks noChangeShapeType="1"/>
          </p:cNvSpPr>
          <p:nvPr/>
        </p:nvSpPr>
        <p:spPr bwMode="auto">
          <a:xfrm>
            <a:off x="4908457" y="468855"/>
            <a:ext cx="3733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8" name="Line 7"/>
          <p:cNvSpPr>
            <a:spLocks noChangeShapeType="1"/>
          </p:cNvSpPr>
          <p:nvPr/>
        </p:nvSpPr>
        <p:spPr bwMode="auto">
          <a:xfrm>
            <a:off x="8634637" y="454567"/>
            <a:ext cx="0" cy="1409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9" name="Line 9"/>
          <p:cNvSpPr>
            <a:spLocks noChangeShapeType="1"/>
          </p:cNvSpPr>
          <p:nvPr/>
        </p:nvSpPr>
        <p:spPr bwMode="auto">
          <a:xfrm>
            <a:off x="2362199" y="4995135"/>
            <a:ext cx="627053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1" name="Line 10"/>
          <p:cNvSpPr>
            <a:spLocks noChangeShapeType="1"/>
          </p:cNvSpPr>
          <p:nvPr/>
        </p:nvSpPr>
        <p:spPr bwMode="auto">
          <a:xfrm>
            <a:off x="8637494" y="2488155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2" name="Line 11"/>
          <p:cNvSpPr>
            <a:spLocks noChangeShapeType="1"/>
          </p:cNvSpPr>
          <p:nvPr/>
        </p:nvSpPr>
        <p:spPr bwMode="auto">
          <a:xfrm flipH="1">
            <a:off x="8629875" y="3707355"/>
            <a:ext cx="0" cy="1304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3" name="Line 12"/>
          <p:cNvSpPr>
            <a:spLocks noChangeShapeType="1"/>
          </p:cNvSpPr>
          <p:nvPr/>
        </p:nvSpPr>
        <p:spPr bwMode="auto">
          <a:xfrm>
            <a:off x="8332694" y="3250155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4" name="Line 13"/>
          <p:cNvSpPr>
            <a:spLocks noChangeShapeType="1"/>
          </p:cNvSpPr>
          <p:nvPr/>
        </p:nvSpPr>
        <p:spPr bwMode="auto">
          <a:xfrm>
            <a:off x="8485094" y="3402555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5" name="Line 14"/>
          <p:cNvSpPr>
            <a:spLocks noChangeShapeType="1"/>
          </p:cNvSpPr>
          <p:nvPr/>
        </p:nvSpPr>
        <p:spPr bwMode="auto">
          <a:xfrm>
            <a:off x="8408894" y="355495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6" name="Line 15"/>
          <p:cNvSpPr>
            <a:spLocks noChangeShapeType="1"/>
          </p:cNvSpPr>
          <p:nvPr/>
        </p:nvSpPr>
        <p:spPr bwMode="auto">
          <a:xfrm>
            <a:off x="8485094" y="3707355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7" name="Line 16"/>
          <p:cNvSpPr>
            <a:spLocks noChangeShapeType="1"/>
          </p:cNvSpPr>
          <p:nvPr/>
        </p:nvSpPr>
        <p:spPr bwMode="auto">
          <a:xfrm>
            <a:off x="5046569" y="4302668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8" name="Line 17"/>
          <p:cNvSpPr>
            <a:spLocks noChangeShapeType="1"/>
          </p:cNvSpPr>
          <p:nvPr/>
        </p:nvSpPr>
        <p:spPr bwMode="auto">
          <a:xfrm flipH="1">
            <a:off x="2357662" y="3769268"/>
            <a:ext cx="0" cy="1228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9" name="Line 18"/>
          <p:cNvSpPr>
            <a:spLocks noChangeShapeType="1"/>
          </p:cNvSpPr>
          <p:nvPr/>
        </p:nvSpPr>
        <p:spPr bwMode="auto">
          <a:xfrm>
            <a:off x="3760694" y="2107155"/>
            <a:ext cx="0" cy="457200"/>
          </a:xfrm>
          <a:prstGeom prst="line">
            <a:avLst/>
          </a:prstGeom>
          <a:noFill/>
          <a:ln w="76200">
            <a:solidFill>
              <a:srgbClr val="00CCFF"/>
            </a:solidFill>
            <a:round/>
            <a:headEnd/>
            <a:tailEnd/>
          </a:ln>
          <a:scene3d>
            <a:camera prst="legacyObliqueTopRight"/>
            <a:lightRig rig="legacyFlat3" dir="b"/>
          </a:scene3d>
          <a:sp3d extrusionH="49200" prstMaterial="legacyMatte">
            <a:bevelT w="13500" h="13500" prst="angle"/>
            <a:bevelB w="13500" h="13500" prst="angle"/>
            <a:extrusionClr>
              <a:schemeClr val="bg1"/>
            </a:extrusionClr>
          </a:sp3d>
        </p:spPr>
        <p:txBody>
          <a:bodyPr>
            <a:flatTx/>
          </a:bodyPr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0" name="Line 19"/>
          <p:cNvSpPr>
            <a:spLocks noChangeShapeType="1"/>
          </p:cNvSpPr>
          <p:nvPr/>
        </p:nvSpPr>
        <p:spPr bwMode="auto">
          <a:xfrm>
            <a:off x="2208119" y="377403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1" name="Line 20"/>
          <p:cNvSpPr>
            <a:spLocks noChangeShapeType="1"/>
          </p:cNvSpPr>
          <p:nvPr/>
        </p:nvSpPr>
        <p:spPr bwMode="auto">
          <a:xfrm>
            <a:off x="2055719" y="362163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2" name="Line 21"/>
          <p:cNvSpPr>
            <a:spLocks noChangeShapeType="1"/>
          </p:cNvSpPr>
          <p:nvPr/>
        </p:nvSpPr>
        <p:spPr bwMode="auto">
          <a:xfrm>
            <a:off x="2360519" y="301203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3" name="Line 22"/>
          <p:cNvSpPr>
            <a:spLocks noChangeShapeType="1"/>
          </p:cNvSpPr>
          <p:nvPr/>
        </p:nvSpPr>
        <p:spPr bwMode="auto">
          <a:xfrm flipV="1">
            <a:off x="2366962" y="2335754"/>
            <a:ext cx="139373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4" name="Line 23"/>
          <p:cNvSpPr>
            <a:spLocks noChangeShapeType="1"/>
          </p:cNvSpPr>
          <p:nvPr/>
        </p:nvSpPr>
        <p:spPr bwMode="auto">
          <a:xfrm flipV="1">
            <a:off x="2360519" y="2326230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5" name="Rectangle 25"/>
          <p:cNvSpPr>
            <a:spLocks noChangeArrowheads="1"/>
          </p:cNvSpPr>
          <p:nvPr/>
        </p:nvSpPr>
        <p:spPr bwMode="auto">
          <a:xfrm>
            <a:off x="3836894" y="940343"/>
            <a:ext cx="2286000" cy="3271837"/>
          </a:xfrm>
          <a:prstGeom prst="rect">
            <a:avLst/>
          </a:prstGeom>
          <a:solidFill>
            <a:srgbClr val="3366FF"/>
          </a:solidFill>
          <a:ln w="381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6" name="Line 26"/>
          <p:cNvSpPr>
            <a:spLocks noChangeShapeType="1"/>
          </p:cNvSpPr>
          <p:nvPr/>
        </p:nvSpPr>
        <p:spPr bwMode="auto">
          <a:xfrm>
            <a:off x="3832131" y="1859505"/>
            <a:ext cx="2286000" cy="0"/>
          </a:xfrm>
          <a:prstGeom prst="line">
            <a:avLst/>
          </a:prstGeom>
          <a:noFill/>
          <a:ln w="76200" cmpd="tri">
            <a:solidFill>
              <a:srgbClr val="D77BA7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8" name="Line 28"/>
          <p:cNvSpPr>
            <a:spLocks noChangeShapeType="1"/>
          </p:cNvSpPr>
          <p:nvPr/>
        </p:nvSpPr>
        <p:spPr bwMode="auto">
          <a:xfrm flipV="1">
            <a:off x="2433638" y="2183354"/>
            <a:ext cx="86985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9" name="Line 29"/>
          <p:cNvSpPr>
            <a:spLocks noChangeShapeType="1"/>
          </p:cNvSpPr>
          <p:nvPr/>
        </p:nvSpPr>
        <p:spPr bwMode="auto">
          <a:xfrm flipH="1">
            <a:off x="5713320" y="53553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30" name="Line 30"/>
          <p:cNvSpPr>
            <a:spLocks noChangeShapeType="1"/>
          </p:cNvSpPr>
          <p:nvPr/>
        </p:nvSpPr>
        <p:spPr bwMode="auto">
          <a:xfrm>
            <a:off x="5260881" y="439791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31" name="Text Box 31"/>
          <p:cNvSpPr txBox="1">
            <a:spLocks noChangeArrowheads="1"/>
          </p:cNvSpPr>
          <p:nvPr/>
        </p:nvSpPr>
        <p:spPr bwMode="auto">
          <a:xfrm>
            <a:off x="2493869" y="3631155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BB</a:t>
            </a:r>
          </a:p>
        </p:txBody>
      </p:sp>
      <p:sp>
        <p:nvSpPr>
          <p:cNvPr id="132" name="Text Box 32"/>
          <p:cNvSpPr txBox="1">
            <a:spLocks noChangeArrowheads="1"/>
          </p:cNvSpPr>
          <p:nvPr/>
        </p:nvSpPr>
        <p:spPr bwMode="auto">
          <a:xfrm>
            <a:off x="2531969" y="2731042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</a:p>
        </p:txBody>
      </p:sp>
      <p:sp>
        <p:nvSpPr>
          <p:cNvPr id="133" name="Text Box 33"/>
          <p:cNvSpPr txBox="1">
            <a:spLocks noChangeArrowheads="1"/>
          </p:cNvSpPr>
          <p:nvPr/>
        </p:nvSpPr>
        <p:spPr bwMode="auto">
          <a:xfrm>
            <a:off x="2541494" y="1726155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</a:p>
        </p:txBody>
      </p:sp>
      <p:sp>
        <p:nvSpPr>
          <p:cNvPr id="134" name="Text Box 34"/>
          <p:cNvSpPr txBox="1">
            <a:spLocks noChangeArrowheads="1"/>
          </p:cNvSpPr>
          <p:nvPr/>
        </p:nvSpPr>
        <p:spPr bwMode="auto">
          <a:xfrm>
            <a:off x="6037169" y="435519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en-US" altLang="zh-CN" sz="2400" baseline="-25000" dirty="0">
                <a:solidFill>
                  <a:schemeClr val="tx1"/>
                </a:solidFill>
                <a:ea typeface="宋体" pitchFamily="2" charset="-122"/>
              </a:rPr>
              <a:t>C</a:t>
            </a:r>
          </a:p>
        </p:txBody>
      </p:sp>
      <p:sp>
        <p:nvSpPr>
          <p:cNvPr id="135" name="Text Box 35"/>
          <p:cNvSpPr txBox="1">
            <a:spLocks noChangeArrowheads="1"/>
          </p:cNvSpPr>
          <p:nvPr/>
        </p:nvSpPr>
        <p:spPr bwMode="auto">
          <a:xfrm>
            <a:off x="7780244" y="329778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CC</a:t>
            </a:r>
          </a:p>
        </p:txBody>
      </p:sp>
      <p:sp>
        <p:nvSpPr>
          <p:cNvPr id="136" name="Text Box 36"/>
          <p:cNvSpPr txBox="1">
            <a:spLocks noChangeArrowheads="1"/>
          </p:cNvSpPr>
          <p:nvPr/>
        </p:nvSpPr>
        <p:spPr bwMode="auto">
          <a:xfrm>
            <a:off x="8104094" y="220240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</a:t>
            </a:r>
          </a:p>
        </p:txBody>
      </p:sp>
      <p:sp>
        <p:nvSpPr>
          <p:cNvPr id="137" name="Text Box 37"/>
          <p:cNvSpPr txBox="1">
            <a:spLocks noChangeArrowheads="1"/>
          </p:cNvSpPr>
          <p:nvPr/>
        </p:nvSpPr>
        <p:spPr bwMode="auto">
          <a:xfrm>
            <a:off x="3423621" y="819824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</a:t>
            </a:r>
          </a:p>
        </p:txBody>
      </p:sp>
      <p:sp>
        <p:nvSpPr>
          <p:cNvPr id="138" name="Text Box 38"/>
          <p:cNvSpPr txBox="1">
            <a:spLocks noChangeArrowheads="1"/>
          </p:cNvSpPr>
          <p:nvPr/>
        </p:nvSpPr>
        <p:spPr bwMode="auto">
          <a:xfrm>
            <a:off x="3455894" y="1726155"/>
            <a:ext cx="48017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</a:t>
            </a:r>
          </a:p>
        </p:txBody>
      </p:sp>
      <p:sp>
        <p:nvSpPr>
          <p:cNvPr id="139" name="Text Box 39"/>
          <p:cNvSpPr txBox="1">
            <a:spLocks noChangeArrowheads="1"/>
          </p:cNvSpPr>
          <p:nvPr/>
        </p:nvSpPr>
        <p:spPr bwMode="auto">
          <a:xfrm>
            <a:off x="5267231" y="4423318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E</a:t>
            </a:r>
          </a:p>
        </p:txBody>
      </p:sp>
      <p:sp>
        <p:nvSpPr>
          <p:cNvPr id="140" name="Text Box 40"/>
          <p:cNvSpPr txBox="1">
            <a:spLocks noChangeArrowheads="1"/>
          </p:cNvSpPr>
          <p:nvPr/>
        </p:nvSpPr>
        <p:spPr bwMode="auto">
          <a:xfrm>
            <a:off x="3466652" y="3732456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</a:t>
            </a:r>
          </a:p>
        </p:txBody>
      </p:sp>
      <p:graphicFrame>
        <p:nvGraphicFramePr>
          <p:cNvPr id="141" name="Object 41"/>
          <p:cNvGraphicFramePr>
            <a:graphicFrameLocks noChangeAspect="1"/>
          </p:cNvGraphicFramePr>
          <p:nvPr/>
        </p:nvGraphicFramePr>
        <p:xfrm>
          <a:off x="4065494" y="3045368"/>
          <a:ext cx="304800" cy="303213"/>
        </p:xfrm>
        <a:graphic>
          <a:graphicData uri="http://schemas.openxmlformats.org/presentationml/2006/ole">
            <p:oleObj spid="_x0000_s106498" name="CorelDRAW" r:id="rId4" imgW="1020240" imgH="1011960" progId="">
              <p:embed/>
            </p:oleObj>
          </a:graphicData>
        </a:graphic>
      </p:graphicFrame>
      <p:graphicFrame>
        <p:nvGraphicFramePr>
          <p:cNvPr id="142" name="Object 42"/>
          <p:cNvGraphicFramePr>
            <a:graphicFrameLocks noChangeAspect="1"/>
          </p:cNvGraphicFramePr>
          <p:nvPr/>
        </p:nvGraphicFramePr>
        <p:xfrm>
          <a:off x="3989294" y="2183355"/>
          <a:ext cx="304800" cy="292100"/>
        </p:xfrm>
        <a:graphic>
          <a:graphicData uri="http://schemas.openxmlformats.org/presentationml/2006/ole">
            <p:oleObj spid="_x0000_s106499" name="CorelDRAW" r:id="rId5" imgW="1190160" imgH="1137960" progId="">
              <p:embed/>
            </p:oleObj>
          </a:graphicData>
        </a:graphic>
      </p:graphicFrame>
      <p:graphicFrame>
        <p:nvGraphicFramePr>
          <p:cNvPr id="143" name="Object 43"/>
          <p:cNvGraphicFramePr>
            <a:graphicFrameLocks noChangeAspect="1"/>
          </p:cNvGraphicFramePr>
          <p:nvPr/>
        </p:nvGraphicFramePr>
        <p:xfrm>
          <a:off x="4598894" y="3045368"/>
          <a:ext cx="304800" cy="301625"/>
        </p:xfrm>
        <a:graphic>
          <a:graphicData uri="http://schemas.openxmlformats.org/presentationml/2006/ole">
            <p:oleObj spid="_x0000_s106500" name="CorelDRAW" r:id="rId6" imgW="1020240" imgH="1011960" progId="">
              <p:embed/>
            </p:oleObj>
          </a:graphicData>
        </a:graphic>
      </p:graphicFrame>
      <p:graphicFrame>
        <p:nvGraphicFramePr>
          <p:cNvPr id="144" name="Object 44"/>
          <p:cNvGraphicFramePr>
            <a:graphicFrameLocks noChangeAspect="1"/>
          </p:cNvGraphicFramePr>
          <p:nvPr/>
        </p:nvGraphicFramePr>
        <p:xfrm>
          <a:off x="5437094" y="3788318"/>
          <a:ext cx="304800" cy="301625"/>
        </p:xfrm>
        <a:graphic>
          <a:graphicData uri="http://schemas.openxmlformats.org/presentationml/2006/ole">
            <p:oleObj spid="_x0000_s106501" name="CorelDRAW" r:id="rId7" imgW="1020240" imgH="1011960" progId="">
              <p:embed/>
            </p:oleObj>
          </a:graphicData>
        </a:graphic>
      </p:graphicFrame>
      <p:graphicFrame>
        <p:nvGraphicFramePr>
          <p:cNvPr id="145" name="Object 45"/>
          <p:cNvGraphicFramePr>
            <a:graphicFrameLocks noChangeAspect="1"/>
          </p:cNvGraphicFramePr>
          <p:nvPr/>
        </p:nvGraphicFramePr>
        <p:xfrm>
          <a:off x="4294094" y="3502568"/>
          <a:ext cx="304800" cy="301625"/>
        </p:xfrm>
        <a:graphic>
          <a:graphicData uri="http://schemas.openxmlformats.org/presentationml/2006/ole">
            <p:oleObj spid="_x0000_s106502" name="CorelDRAW" r:id="rId8" imgW="1020240" imgH="1011960" progId="">
              <p:embed/>
            </p:oleObj>
          </a:graphicData>
        </a:graphic>
      </p:graphicFrame>
      <p:graphicFrame>
        <p:nvGraphicFramePr>
          <p:cNvPr id="146" name="Object 46"/>
          <p:cNvGraphicFramePr>
            <a:graphicFrameLocks noChangeAspect="1"/>
          </p:cNvGraphicFramePr>
          <p:nvPr/>
        </p:nvGraphicFramePr>
        <p:xfrm>
          <a:off x="4008344" y="3778793"/>
          <a:ext cx="304800" cy="301625"/>
        </p:xfrm>
        <a:graphic>
          <a:graphicData uri="http://schemas.openxmlformats.org/presentationml/2006/ole">
            <p:oleObj spid="_x0000_s106503" name="CorelDRAW" r:id="rId9" imgW="1020240" imgH="1011960" progId="">
              <p:embed/>
            </p:oleObj>
          </a:graphicData>
        </a:graphic>
      </p:graphicFrame>
      <p:graphicFrame>
        <p:nvGraphicFramePr>
          <p:cNvPr id="147" name="Object 47"/>
          <p:cNvGraphicFramePr>
            <a:graphicFrameLocks noChangeAspect="1"/>
          </p:cNvGraphicFramePr>
          <p:nvPr/>
        </p:nvGraphicFramePr>
        <p:xfrm>
          <a:off x="5056094" y="3067593"/>
          <a:ext cx="304800" cy="303212"/>
        </p:xfrm>
        <a:graphic>
          <a:graphicData uri="http://schemas.openxmlformats.org/presentationml/2006/ole">
            <p:oleObj spid="_x0000_s106504" name="CorelDRAW" r:id="rId10" imgW="1020240" imgH="1011960" progId="">
              <p:embed/>
            </p:oleObj>
          </a:graphicData>
        </a:graphic>
      </p:graphicFrame>
      <p:graphicFrame>
        <p:nvGraphicFramePr>
          <p:cNvPr id="148" name="Object 48"/>
          <p:cNvGraphicFramePr>
            <a:graphicFrameLocks noChangeAspect="1"/>
          </p:cNvGraphicFramePr>
          <p:nvPr/>
        </p:nvGraphicFramePr>
        <p:xfrm>
          <a:off x="5589494" y="3069180"/>
          <a:ext cx="304800" cy="301625"/>
        </p:xfrm>
        <a:graphic>
          <a:graphicData uri="http://schemas.openxmlformats.org/presentationml/2006/ole">
            <p:oleObj spid="_x0000_s106505" name="CorelDRAW" r:id="rId11" imgW="1020240" imgH="1011960" progId="">
              <p:embed/>
            </p:oleObj>
          </a:graphicData>
        </a:graphic>
      </p:graphicFrame>
      <p:graphicFrame>
        <p:nvGraphicFramePr>
          <p:cNvPr id="149" name="Object 49"/>
          <p:cNvGraphicFramePr>
            <a:graphicFrameLocks noChangeAspect="1"/>
          </p:cNvGraphicFramePr>
          <p:nvPr/>
        </p:nvGraphicFramePr>
        <p:xfrm>
          <a:off x="5284694" y="3426368"/>
          <a:ext cx="304800" cy="303213"/>
        </p:xfrm>
        <a:graphic>
          <a:graphicData uri="http://schemas.openxmlformats.org/presentationml/2006/ole">
            <p:oleObj spid="_x0000_s106506" name="CorelDRAW" r:id="rId12" imgW="1020240" imgH="1011960" progId="">
              <p:embed/>
            </p:oleObj>
          </a:graphicData>
        </a:graphic>
      </p:graphicFrame>
      <p:graphicFrame>
        <p:nvGraphicFramePr>
          <p:cNvPr id="150" name="Object 50"/>
          <p:cNvGraphicFramePr>
            <a:graphicFrameLocks noChangeAspect="1"/>
          </p:cNvGraphicFramePr>
          <p:nvPr/>
        </p:nvGraphicFramePr>
        <p:xfrm>
          <a:off x="5741894" y="2334168"/>
          <a:ext cx="304800" cy="303212"/>
        </p:xfrm>
        <a:graphic>
          <a:graphicData uri="http://schemas.openxmlformats.org/presentationml/2006/ole">
            <p:oleObj spid="_x0000_s106507" name="CorelDRAW" r:id="rId13" imgW="1020240" imgH="1011960" progId="">
              <p:embed/>
            </p:oleObj>
          </a:graphicData>
        </a:graphic>
      </p:graphicFrame>
      <p:graphicFrame>
        <p:nvGraphicFramePr>
          <p:cNvPr id="151" name="Object 51"/>
          <p:cNvGraphicFramePr>
            <a:graphicFrameLocks noChangeAspect="1"/>
          </p:cNvGraphicFramePr>
          <p:nvPr/>
        </p:nvGraphicFramePr>
        <p:xfrm>
          <a:off x="5284694" y="2335755"/>
          <a:ext cx="304800" cy="301625"/>
        </p:xfrm>
        <a:graphic>
          <a:graphicData uri="http://schemas.openxmlformats.org/presentationml/2006/ole">
            <p:oleObj spid="_x0000_s106508" name="CorelDRAW" r:id="rId14" imgW="1020240" imgH="1011960" progId="">
              <p:embed/>
            </p:oleObj>
          </a:graphicData>
        </a:graphic>
      </p:graphicFrame>
      <p:graphicFrame>
        <p:nvGraphicFramePr>
          <p:cNvPr id="152" name="Object 52"/>
          <p:cNvGraphicFramePr>
            <a:graphicFrameLocks noChangeAspect="1"/>
          </p:cNvGraphicFramePr>
          <p:nvPr/>
        </p:nvGraphicFramePr>
        <p:xfrm>
          <a:off x="4827494" y="2183355"/>
          <a:ext cx="304800" cy="301625"/>
        </p:xfrm>
        <a:graphic>
          <a:graphicData uri="http://schemas.openxmlformats.org/presentationml/2006/ole">
            <p:oleObj spid="_x0000_s106509" name="CorelDRAW" r:id="rId15" imgW="1020240" imgH="1011960" progId="">
              <p:embed/>
            </p:oleObj>
          </a:graphicData>
        </a:graphic>
      </p:graphicFrame>
      <p:graphicFrame>
        <p:nvGraphicFramePr>
          <p:cNvPr id="153" name="Object 53"/>
          <p:cNvGraphicFramePr>
            <a:graphicFrameLocks noChangeAspect="1"/>
          </p:cNvGraphicFramePr>
          <p:nvPr/>
        </p:nvGraphicFramePr>
        <p:xfrm>
          <a:off x="3255869" y="2216693"/>
          <a:ext cx="304800" cy="301625"/>
        </p:xfrm>
        <a:graphic>
          <a:graphicData uri="http://schemas.openxmlformats.org/presentationml/2006/ole">
            <p:oleObj spid="_x0000_s106510" name="CorelDRAW" r:id="rId16" imgW="1020240" imgH="1011960" progId="">
              <p:embed/>
            </p:oleObj>
          </a:graphicData>
        </a:graphic>
      </p:graphicFrame>
      <p:graphicFrame>
        <p:nvGraphicFramePr>
          <p:cNvPr id="154" name="Object 54"/>
          <p:cNvGraphicFramePr>
            <a:graphicFrameLocks noChangeAspect="1"/>
          </p:cNvGraphicFramePr>
          <p:nvPr/>
        </p:nvGraphicFramePr>
        <p:xfrm>
          <a:off x="4870357" y="4288381"/>
          <a:ext cx="304800" cy="301625"/>
        </p:xfrm>
        <a:graphic>
          <a:graphicData uri="http://schemas.openxmlformats.org/presentationml/2006/ole">
            <p:oleObj spid="_x0000_s106511" name="CorelDRAW" r:id="rId17" imgW="1020240" imgH="1011960" progId="">
              <p:embed/>
            </p:oleObj>
          </a:graphicData>
        </a:graphic>
      </p:graphicFrame>
      <p:graphicFrame>
        <p:nvGraphicFramePr>
          <p:cNvPr id="155" name="Object 55"/>
          <p:cNvGraphicFramePr>
            <a:graphicFrameLocks noChangeAspect="1"/>
          </p:cNvGraphicFramePr>
          <p:nvPr/>
        </p:nvGraphicFramePr>
        <p:xfrm>
          <a:off x="4827494" y="3426368"/>
          <a:ext cx="304800" cy="301625"/>
        </p:xfrm>
        <a:graphic>
          <a:graphicData uri="http://schemas.openxmlformats.org/presentationml/2006/ole">
            <p:oleObj spid="_x0000_s106512" name="CorelDRAW" r:id="rId18" imgW="1020240" imgH="1011960" progId="">
              <p:embed/>
            </p:oleObj>
          </a:graphicData>
        </a:graphic>
      </p:graphicFrame>
      <p:graphicFrame>
        <p:nvGraphicFramePr>
          <p:cNvPr id="156" name="Object 56"/>
          <p:cNvGraphicFramePr>
            <a:graphicFrameLocks noChangeAspect="1"/>
          </p:cNvGraphicFramePr>
          <p:nvPr/>
        </p:nvGraphicFramePr>
        <p:xfrm>
          <a:off x="4875119" y="4570955"/>
          <a:ext cx="304800" cy="303213"/>
        </p:xfrm>
        <a:graphic>
          <a:graphicData uri="http://schemas.openxmlformats.org/presentationml/2006/ole">
            <p:oleObj spid="_x0000_s106513" name="CorelDRAW" r:id="rId19" imgW="1020240" imgH="1011960" progId="">
              <p:embed/>
            </p:oleObj>
          </a:graphicData>
        </a:graphic>
      </p:graphicFrame>
      <p:graphicFrame>
        <p:nvGraphicFramePr>
          <p:cNvPr id="157" name="Object 57"/>
          <p:cNvGraphicFramePr>
            <a:graphicFrameLocks noChangeAspect="1"/>
          </p:cNvGraphicFramePr>
          <p:nvPr/>
        </p:nvGraphicFramePr>
        <p:xfrm>
          <a:off x="4470306" y="3797843"/>
          <a:ext cx="304800" cy="303213"/>
        </p:xfrm>
        <a:graphic>
          <a:graphicData uri="http://schemas.openxmlformats.org/presentationml/2006/ole">
            <p:oleObj spid="_x0000_s106514" name="CorelDRAW" r:id="rId20" imgW="1020240" imgH="1011960" progId="">
              <p:embed/>
            </p:oleObj>
          </a:graphicData>
        </a:graphic>
      </p:graphicFrame>
      <p:graphicFrame>
        <p:nvGraphicFramePr>
          <p:cNvPr id="158" name="Object 58"/>
          <p:cNvGraphicFramePr>
            <a:graphicFrameLocks noChangeAspect="1"/>
          </p:cNvGraphicFramePr>
          <p:nvPr/>
        </p:nvGraphicFramePr>
        <p:xfrm>
          <a:off x="3989294" y="1459455"/>
          <a:ext cx="304800" cy="301625"/>
        </p:xfrm>
        <a:graphic>
          <a:graphicData uri="http://schemas.openxmlformats.org/presentationml/2006/ole">
            <p:oleObj spid="_x0000_s106515" name="CorelDRAW" r:id="rId21" imgW="1020240" imgH="1011960" progId="">
              <p:embed/>
            </p:oleObj>
          </a:graphicData>
        </a:graphic>
      </p:graphicFrame>
      <p:graphicFrame>
        <p:nvGraphicFramePr>
          <p:cNvPr id="159" name="Object 59"/>
          <p:cNvGraphicFramePr>
            <a:graphicFrameLocks noChangeAspect="1"/>
          </p:cNvGraphicFramePr>
          <p:nvPr/>
        </p:nvGraphicFramePr>
        <p:xfrm>
          <a:off x="4822731" y="1097505"/>
          <a:ext cx="304800" cy="301625"/>
        </p:xfrm>
        <a:graphic>
          <a:graphicData uri="http://schemas.openxmlformats.org/presentationml/2006/ole">
            <p:oleObj spid="_x0000_s106516" name="CorelDRAW" r:id="rId22" imgW="1020240" imgH="1011960" progId="">
              <p:embed/>
            </p:oleObj>
          </a:graphicData>
        </a:graphic>
      </p:graphicFrame>
      <p:graphicFrame>
        <p:nvGraphicFramePr>
          <p:cNvPr id="160" name="Object 60"/>
          <p:cNvGraphicFramePr>
            <a:graphicFrameLocks noChangeAspect="1"/>
          </p:cNvGraphicFramePr>
          <p:nvPr/>
        </p:nvGraphicFramePr>
        <p:xfrm>
          <a:off x="4060731" y="1097505"/>
          <a:ext cx="304800" cy="301625"/>
        </p:xfrm>
        <a:graphic>
          <a:graphicData uri="http://schemas.openxmlformats.org/presentationml/2006/ole">
            <p:oleObj spid="_x0000_s106517" name="CorelDRAW" r:id="rId23" imgW="1020240" imgH="1011960" progId="">
              <p:embed/>
            </p:oleObj>
          </a:graphicData>
        </a:graphic>
      </p:graphicFrame>
      <p:graphicFrame>
        <p:nvGraphicFramePr>
          <p:cNvPr id="161" name="Object 61"/>
          <p:cNvGraphicFramePr>
            <a:graphicFrameLocks noChangeAspect="1"/>
          </p:cNvGraphicFramePr>
          <p:nvPr/>
        </p:nvGraphicFramePr>
        <p:xfrm>
          <a:off x="5660931" y="1097505"/>
          <a:ext cx="304800" cy="301625"/>
        </p:xfrm>
        <a:graphic>
          <a:graphicData uri="http://schemas.openxmlformats.org/presentationml/2006/ole">
            <p:oleObj spid="_x0000_s106518" name="CorelDRAW" r:id="rId24" imgW="1020240" imgH="1011960" progId="">
              <p:embed/>
            </p:oleObj>
          </a:graphicData>
        </a:graphic>
      </p:graphicFrame>
      <p:graphicFrame>
        <p:nvGraphicFramePr>
          <p:cNvPr id="162" name="Object 62"/>
          <p:cNvGraphicFramePr>
            <a:graphicFrameLocks noChangeAspect="1"/>
          </p:cNvGraphicFramePr>
          <p:nvPr/>
        </p:nvGraphicFramePr>
        <p:xfrm>
          <a:off x="2841531" y="2216693"/>
          <a:ext cx="304800" cy="301625"/>
        </p:xfrm>
        <a:graphic>
          <a:graphicData uri="http://schemas.openxmlformats.org/presentationml/2006/ole">
            <p:oleObj spid="_x0000_s106519" name="CorelDRAW" r:id="rId25" imgW="1020240" imgH="1011960" progId="">
              <p:embed/>
            </p:oleObj>
          </a:graphicData>
        </a:graphic>
      </p:graphicFrame>
      <p:graphicFrame>
        <p:nvGraphicFramePr>
          <p:cNvPr id="163" name="Object 63"/>
          <p:cNvGraphicFramePr>
            <a:graphicFrameLocks noChangeAspect="1"/>
          </p:cNvGraphicFramePr>
          <p:nvPr/>
        </p:nvGraphicFramePr>
        <p:xfrm>
          <a:off x="4903694" y="3807368"/>
          <a:ext cx="304800" cy="301625"/>
        </p:xfrm>
        <a:graphic>
          <a:graphicData uri="http://schemas.openxmlformats.org/presentationml/2006/ole">
            <p:oleObj spid="_x0000_s106520" name="CorelDRAW" r:id="rId26" imgW="1020240" imgH="1011960" progId="">
              <p:embed/>
            </p:oleObj>
          </a:graphicData>
        </a:graphic>
      </p:graphicFrame>
      <p:graphicFrame>
        <p:nvGraphicFramePr>
          <p:cNvPr id="164" name="Object 64"/>
          <p:cNvGraphicFramePr>
            <a:graphicFrameLocks noChangeAspect="1"/>
          </p:cNvGraphicFramePr>
          <p:nvPr/>
        </p:nvGraphicFramePr>
        <p:xfrm>
          <a:off x="4675094" y="1459455"/>
          <a:ext cx="304800" cy="301625"/>
        </p:xfrm>
        <a:graphic>
          <a:graphicData uri="http://schemas.openxmlformats.org/presentationml/2006/ole">
            <p:oleObj spid="_x0000_s106521" name="CorelDRAW" r:id="rId27" imgW="1020240" imgH="1011960" progId="">
              <p:embed/>
            </p:oleObj>
          </a:graphicData>
        </a:graphic>
      </p:graphicFrame>
      <p:graphicFrame>
        <p:nvGraphicFramePr>
          <p:cNvPr id="165" name="Object 65"/>
          <p:cNvGraphicFramePr>
            <a:graphicFrameLocks noChangeAspect="1"/>
          </p:cNvGraphicFramePr>
          <p:nvPr/>
        </p:nvGraphicFramePr>
        <p:xfrm>
          <a:off x="5589494" y="1457868"/>
          <a:ext cx="304800" cy="303212"/>
        </p:xfrm>
        <a:graphic>
          <a:graphicData uri="http://schemas.openxmlformats.org/presentationml/2006/ole">
            <p:oleObj spid="_x0000_s106522" name="CorelDRAW" r:id="rId28" imgW="1020240" imgH="1011960" progId="">
              <p:embed/>
            </p:oleObj>
          </a:graphicData>
        </a:graphic>
      </p:graphicFrame>
      <p:graphicFrame>
        <p:nvGraphicFramePr>
          <p:cNvPr id="166" name="Object 66"/>
          <p:cNvGraphicFramePr>
            <a:graphicFrameLocks noChangeAspect="1"/>
          </p:cNvGraphicFramePr>
          <p:nvPr/>
        </p:nvGraphicFramePr>
        <p:xfrm>
          <a:off x="5132294" y="1459455"/>
          <a:ext cx="304800" cy="301625"/>
        </p:xfrm>
        <a:graphic>
          <a:graphicData uri="http://schemas.openxmlformats.org/presentationml/2006/ole">
            <p:oleObj spid="_x0000_s106523" name="CorelDRAW" r:id="rId29" imgW="1020240" imgH="1011960" progId="">
              <p:embed/>
            </p:oleObj>
          </a:graphicData>
        </a:graphic>
      </p:graphicFrame>
      <p:sp>
        <p:nvSpPr>
          <p:cNvPr id="167" name="Oval 67"/>
          <p:cNvSpPr>
            <a:spLocks noChangeArrowheads="1"/>
          </p:cNvSpPr>
          <p:nvPr/>
        </p:nvSpPr>
        <p:spPr bwMode="auto">
          <a:xfrm>
            <a:off x="3989294" y="2969168"/>
            <a:ext cx="457200" cy="3810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168" name="Object 68"/>
          <p:cNvGraphicFramePr>
            <a:graphicFrameLocks noChangeAspect="1"/>
          </p:cNvGraphicFramePr>
          <p:nvPr/>
        </p:nvGraphicFramePr>
        <p:xfrm>
          <a:off x="4294094" y="2562768"/>
          <a:ext cx="304800" cy="303212"/>
        </p:xfrm>
        <a:graphic>
          <a:graphicData uri="http://schemas.openxmlformats.org/presentationml/2006/ole">
            <p:oleObj spid="_x0000_s106524" name="CorelDRAW" r:id="rId30" imgW="1020240" imgH="1011960" progId="">
              <p:embed/>
            </p:oleObj>
          </a:graphicData>
        </a:graphic>
      </p:graphicFrame>
      <p:graphicFrame>
        <p:nvGraphicFramePr>
          <p:cNvPr id="169" name="Object 69"/>
          <p:cNvGraphicFramePr>
            <a:graphicFrameLocks noChangeAspect="1"/>
          </p:cNvGraphicFramePr>
          <p:nvPr/>
        </p:nvGraphicFramePr>
        <p:xfrm>
          <a:off x="5289456" y="2597693"/>
          <a:ext cx="304800" cy="303213"/>
        </p:xfrm>
        <a:graphic>
          <a:graphicData uri="http://schemas.openxmlformats.org/presentationml/2006/ole">
            <p:oleObj spid="_x0000_s106525" name="CorelDRAW" r:id="rId31" imgW="1020240" imgH="1011960" progId="">
              <p:embed/>
            </p:oleObj>
          </a:graphicData>
        </a:graphic>
      </p:graphicFrame>
      <p:graphicFrame>
        <p:nvGraphicFramePr>
          <p:cNvPr id="170" name="Object 70"/>
          <p:cNvGraphicFramePr>
            <a:graphicFrameLocks noChangeAspect="1"/>
          </p:cNvGraphicFramePr>
          <p:nvPr/>
        </p:nvGraphicFramePr>
        <p:xfrm>
          <a:off x="5132294" y="1957930"/>
          <a:ext cx="304800" cy="301625"/>
        </p:xfrm>
        <a:graphic>
          <a:graphicData uri="http://schemas.openxmlformats.org/presentationml/2006/ole">
            <p:oleObj spid="_x0000_s106526" name="CorelDRAW" r:id="rId32" imgW="1020240" imgH="1011960" progId="">
              <p:embed/>
            </p:oleObj>
          </a:graphicData>
        </a:graphic>
      </p:graphicFrame>
      <p:graphicFrame>
        <p:nvGraphicFramePr>
          <p:cNvPr id="171" name="Object 71"/>
          <p:cNvGraphicFramePr>
            <a:graphicFrameLocks noChangeAspect="1"/>
          </p:cNvGraphicFramePr>
          <p:nvPr/>
        </p:nvGraphicFramePr>
        <p:xfrm>
          <a:off x="5589494" y="1992855"/>
          <a:ext cx="304800" cy="303213"/>
        </p:xfrm>
        <a:graphic>
          <a:graphicData uri="http://schemas.openxmlformats.org/presentationml/2006/ole">
            <p:oleObj spid="_x0000_s106527" name="CorelDRAW" r:id="rId33" imgW="1020240" imgH="1011960" progId="">
              <p:embed/>
            </p:oleObj>
          </a:graphicData>
        </a:graphic>
      </p:graphicFrame>
      <p:sp>
        <p:nvSpPr>
          <p:cNvPr id="172" name="Oval 72"/>
          <p:cNvSpPr>
            <a:spLocks noChangeArrowheads="1"/>
          </p:cNvSpPr>
          <p:nvPr/>
        </p:nvSpPr>
        <p:spPr bwMode="auto">
          <a:xfrm>
            <a:off x="4979894" y="3069180"/>
            <a:ext cx="457200" cy="3810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173" name="Object 73"/>
          <p:cNvGraphicFramePr>
            <a:graphicFrameLocks noChangeAspect="1"/>
          </p:cNvGraphicFramePr>
          <p:nvPr/>
        </p:nvGraphicFramePr>
        <p:xfrm>
          <a:off x="4817969" y="2588168"/>
          <a:ext cx="327772" cy="301625"/>
        </p:xfrm>
        <a:graphic>
          <a:graphicData uri="http://schemas.openxmlformats.org/presentationml/2006/ole">
            <p:oleObj spid="_x0000_s106528" name="CorelDRAW" r:id="rId34" imgW="1020240" imgH="1011960" progId="">
              <p:embed/>
            </p:oleObj>
          </a:graphicData>
        </a:graphic>
      </p:graphicFrame>
      <p:graphicFrame>
        <p:nvGraphicFramePr>
          <p:cNvPr id="174" name="Object 74"/>
          <p:cNvGraphicFramePr>
            <a:graphicFrameLocks noChangeAspect="1"/>
          </p:cNvGraphicFramePr>
          <p:nvPr/>
        </p:nvGraphicFramePr>
        <p:xfrm>
          <a:off x="5379944" y="273593"/>
          <a:ext cx="304800" cy="303213"/>
        </p:xfrm>
        <a:graphic>
          <a:graphicData uri="http://schemas.openxmlformats.org/presentationml/2006/ole">
            <p:oleObj spid="_x0000_s106529" name="CorelDRAW" r:id="rId35" imgW="1020240" imgH="1011960" progId="">
              <p:embed/>
            </p:oleObj>
          </a:graphicData>
        </a:graphic>
      </p:graphicFrame>
      <p:graphicFrame>
        <p:nvGraphicFramePr>
          <p:cNvPr id="175" name="Object 75"/>
          <p:cNvGraphicFramePr>
            <a:graphicFrameLocks noChangeAspect="1"/>
          </p:cNvGraphicFramePr>
          <p:nvPr/>
        </p:nvGraphicFramePr>
        <p:xfrm>
          <a:off x="4741769" y="514893"/>
          <a:ext cx="304800" cy="303212"/>
        </p:xfrm>
        <a:graphic>
          <a:graphicData uri="http://schemas.openxmlformats.org/presentationml/2006/ole">
            <p:oleObj spid="_x0000_s106530" name="CorelDRAW" r:id="rId36" imgW="1020240" imgH="1011960" progId="">
              <p:embed/>
            </p:oleObj>
          </a:graphicData>
        </a:graphic>
      </p:graphicFrame>
      <p:graphicFrame>
        <p:nvGraphicFramePr>
          <p:cNvPr id="176" name="Object 76"/>
          <p:cNvGraphicFramePr>
            <a:graphicFrameLocks noChangeAspect="1"/>
          </p:cNvGraphicFramePr>
          <p:nvPr/>
        </p:nvGraphicFramePr>
        <p:xfrm>
          <a:off x="4922744" y="272006"/>
          <a:ext cx="304800" cy="303212"/>
        </p:xfrm>
        <a:graphic>
          <a:graphicData uri="http://schemas.openxmlformats.org/presentationml/2006/ole">
            <p:oleObj spid="_x0000_s106531" name="CorelDRAW" r:id="rId37" imgW="1020240" imgH="1011960" progId="">
              <p:embed/>
            </p:oleObj>
          </a:graphicData>
        </a:graphic>
      </p:graphicFrame>
      <p:graphicFrame>
        <p:nvGraphicFramePr>
          <p:cNvPr id="177" name="Object 77"/>
          <p:cNvGraphicFramePr>
            <a:graphicFrameLocks noChangeAspect="1"/>
          </p:cNvGraphicFramePr>
          <p:nvPr/>
        </p:nvGraphicFramePr>
        <p:xfrm>
          <a:off x="4346482" y="1973805"/>
          <a:ext cx="304800" cy="301625"/>
        </p:xfrm>
        <a:graphic>
          <a:graphicData uri="http://schemas.openxmlformats.org/presentationml/2006/ole">
            <p:oleObj spid="_x0000_s106532" name="CorelDRAW" r:id="rId38" imgW="1020240" imgH="1011960" progId="">
              <p:embed/>
            </p:oleObj>
          </a:graphicData>
        </a:graphic>
      </p:graphicFrame>
      <p:sp>
        <p:nvSpPr>
          <p:cNvPr id="178" name="Oval 78"/>
          <p:cNvSpPr>
            <a:spLocks noChangeArrowheads="1"/>
          </p:cNvSpPr>
          <p:nvPr/>
        </p:nvSpPr>
        <p:spPr bwMode="auto">
          <a:xfrm>
            <a:off x="4522694" y="2969168"/>
            <a:ext cx="381000" cy="4572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9" name="Oval 79"/>
          <p:cNvSpPr>
            <a:spLocks noChangeArrowheads="1"/>
          </p:cNvSpPr>
          <p:nvPr/>
        </p:nvSpPr>
        <p:spPr bwMode="auto">
          <a:xfrm>
            <a:off x="4827494" y="2107155"/>
            <a:ext cx="381000" cy="4572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0" name="Oval 80"/>
          <p:cNvSpPr>
            <a:spLocks noChangeArrowheads="1"/>
          </p:cNvSpPr>
          <p:nvPr/>
        </p:nvSpPr>
        <p:spPr bwMode="auto">
          <a:xfrm>
            <a:off x="5208494" y="2259555"/>
            <a:ext cx="457200" cy="3810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1" name="Oval 81"/>
          <p:cNvSpPr>
            <a:spLocks noChangeArrowheads="1"/>
          </p:cNvSpPr>
          <p:nvPr/>
        </p:nvSpPr>
        <p:spPr bwMode="auto">
          <a:xfrm>
            <a:off x="5665694" y="2259555"/>
            <a:ext cx="381000" cy="4572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2" name="Oval 82"/>
          <p:cNvSpPr>
            <a:spLocks noChangeArrowheads="1"/>
          </p:cNvSpPr>
          <p:nvPr/>
        </p:nvSpPr>
        <p:spPr bwMode="auto">
          <a:xfrm>
            <a:off x="3913094" y="2107155"/>
            <a:ext cx="381000" cy="4572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183" name="Object 83"/>
          <p:cNvGraphicFramePr>
            <a:graphicFrameLocks noChangeAspect="1"/>
          </p:cNvGraphicFramePr>
          <p:nvPr/>
        </p:nvGraphicFramePr>
        <p:xfrm>
          <a:off x="3989294" y="2183355"/>
          <a:ext cx="304800" cy="292100"/>
        </p:xfrm>
        <a:graphic>
          <a:graphicData uri="http://schemas.openxmlformats.org/presentationml/2006/ole">
            <p:oleObj spid="_x0000_s106533" name="CorelDRAW" r:id="rId39" imgW="1190160" imgH="1137960" progId="">
              <p:embed/>
            </p:oleObj>
          </a:graphicData>
        </a:graphic>
      </p:graphicFrame>
      <p:sp>
        <p:nvSpPr>
          <p:cNvPr id="184" name="Oval 84"/>
          <p:cNvSpPr>
            <a:spLocks noChangeArrowheads="1"/>
          </p:cNvSpPr>
          <p:nvPr/>
        </p:nvSpPr>
        <p:spPr bwMode="auto">
          <a:xfrm>
            <a:off x="5513294" y="1916655"/>
            <a:ext cx="457200" cy="4572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5" name="Oval 85"/>
          <p:cNvSpPr>
            <a:spLocks noChangeArrowheads="1"/>
          </p:cNvSpPr>
          <p:nvPr/>
        </p:nvSpPr>
        <p:spPr bwMode="auto">
          <a:xfrm>
            <a:off x="5056094" y="1954755"/>
            <a:ext cx="457200" cy="3810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6" name="Oval 86"/>
          <p:cNvSpPr>
            <a:spLocks noChangeArrowheads="1"/>
          </p:cNvSpPr>
          <p:nvPr/>
        </p:nvSpPr>
        <p:spPr bwMode="auto">
          <a:xfrm>
            <a:off x="4746531" y="1021305"/>
            <a:ext cx="457200" cy="3810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7" name="Oval 87"/>
          <p:cNvSpPr>
            <a:spLocks noChangeArrowheads="1"/>
          </p:cNvSpPr>
          <p:nvPr/>
        </p:nvSpPr>
        <p:spPr bwMode="auto">
          <a:xfrm>
            <a:off x="3984531" y="1021305"/>
            <a:ext cx="457200" cy="3810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188" name="Object 88"/>
          <p:cNvGraphicFramePr>
            <a:graphicFrameLocks noChangeAspect="1"/>
          </p:cNvGraphicFramePr>
          <p:nvPr/>
        </p:nvGraphicFramePr>
        <p:xfrm>
          <a:off x="4870357" y="4288381"/>
          <a:ext cx="304800" cy="301625"/>
        </p:xfrm>
        <a:graphic>
          <a:graphicData uri="http://schemas.openxmlformats.org/presentationml/2006/ole">
            <p:oleObj spid="_x0000_s106534" name="CorelDRAW" r:id="rId40" imgW="1020240" imgH="1011960" progId="">
              <p:embed/>
            </p:oleObj>
          </a:graphicData>
        </a:graphic>
      </p:graphicFrame>
      <p:graphicFrame>
        <p:nvGraphicFramePr>
          <p:cNvPr id="189" name="Object 89"/>
          <p:cNvGraphicFramePr>
            <a:graphicFrameLocks noChangeAspect="1"/>
          </p:cNvGraphicFramePr>
          <p:nvPr/>
        </p:nvGraphicFramePr>
        <p:xfrm>
          <a:off x="4741769" y="516480"/>
          <a:ext cx="304800" cy="303213"/>
        </p:xfrm>
        <a:graphic>
          <a:graphicData uri="http://schemas.openxmlformats.org/presentationml/2006/ole">
            <p:oleObj spid="_x0000_s106535" name="CorelDRAW" r:id="rId41" imgW="1020240" imgH="1011960" progId="">
              <p:embed/>
            </p:oleObj>
          </a:graphicData>
        </a:graphic>
      </p:graphicFrame>
      <p:graphicFrame>
        <p:nvGraphicFramePr>
          <p:cNvPr id="190" name="Object 90"/>
          <p:cNvGraphicFramePr>
            <a:graphicFrameLocks noChangeAspect="1"/>
          </p:cNvGraphicFramePr>
          <p:nvPr/>
        </p:nvGraphicFramePr>
        <p:xfrm>
          <a:off x="4875119" y="4570955"/>
          <a:ext cx="304800" cy="301625"/>
        </p:xfrm>
        <a:graphic>
          <a:graphicData uri="http://schemas.openxmlformats.org/presentationml/2006/ole">
            <p:oleObj spid="_x0000_s106536" name="CorelDRAW" r:id="rId42" imgW="1020240" imgH="1011960" progId="">
              <p:embed/>
            </p:oleObj>
          </a:graphicData>
        </a:graphic>
      </p:graphicFrame>
      <p:sp>
        <p:nvSpPr>
          <p:cNvPr id="191" name="Line 91"/>
          <p:cNvSpPr>
            <a:spLocks noChangeShapeType="1"/>
          </p:cNvSpPr>
          <p:nvPr/>
        </p:nvSpPr>
        <p:spPr bwMode="auto">
          <a:xfrm flipV="1">
            <a:off x="6275294" y="2640555"/>
            <a:ext cx="0" cy="838200"/>
          </a:xfrm>
          <a:prstGeom prst="line">
            <a:avLst/>
          </a:prstGeom>
          <a:noFill/>
          <a:ln w="38100">
            <a:solidFill>
              <a:srgbClr val="FF9966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2" name="Text Box 92"/>
          <p:cNvSpPr txBox="1">
            <a:spLocks noChangeArrowheads="1"/>
          </p:cNvSpPr>
          <p:nvPr/>
        </p:nvSpPr>
        <p:spPr bwMode="auto">
          <a:xfrm>
            <a:off x="6275294" y="2777080"/>
            <a:ext cx="1524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发射区向基区扩散电子</a:t>
            </a:r>
          </a:p>
        </p:txBody>
      </p:sp>
      <p:sp>
        <p:nvSpPr>
          <p:cNvPr id="193" name="Line 93"/>
          <p:cNvSpPr>
            <a:spLocks noChangeShapeType="1"/>
          </p:cNvSpPr>
          <p:nvPr/>
        </p:nvSpPr>
        <p:spPr bwMode="auto">
          <a:xfrm flipH="1">
            <a:off x="5584730" y="4374105"/>
            <a:ext cx="727823" cy="247650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4" name="Text Box 94"/>
          <p:cNvSpPr txBox="1">
            <a:spLocks noChangeArrowheads="1"/>
          </p:cNvSpPr>
          <p:nvPr/>
        </p:nvSpPr>
        <p:spPr bwMode="auto">
          <a:xfrm>
            <a:off x="6270531" y="3920080"/>
            <a:ext cx="19812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电源负极向发射区补充电子形成发射极电流</a:t>
            </a:r>
            <a:r>
              <a:rPr lang="en-US" altLang="zh-CN" sz="2000" i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000" baseline="-25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E</a:t>
            </a:r>
          </a:p>
        </p:txBody>
      </p:sp>
      <p:sp>
        <p:nvSpPr>
          <p:cNvPr id="195" name="Text Box 95"/>
          <p:cNvSpPr txBox="1">
            <a:spLocks noChangeArrowheads="1"/>
          </p:cNvSpPr>
          <p:nvPr/>
        </p:nvSpPr>
        <p:spPr bwMode="auto">
          <a:xfrm>
            <a:off x="6632482" y="1816643"/>
            <a:ext cx="1752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电子在基区的扩散与复合</a:t>
            </a:r>
          </a:p>
        </p:txBody>
      </p:sp>
      <p:sp>
        <p:nvSpPr>
          <p:cNvPr id="196" name="AutoShape 96"/>
          <p:cNvSpPr>
            <a:spLocks noChangeArrowheads="1"/>
          </p:cNvSpPr>
          <p:nvPr/>
        </p:nvSpPr>
        <p:spPr bwMode="auto">
          <a:xfrm rot="10800000">
            <a:off x="5970494" y="2030955"/>
            <a:ext cx="609600" cy="304800"/>
          </a:xfrm>
          <a:prstGeom prst="notchedRightArrow">
            <a:avLst>
              <a:gd name="adj1" fmla="val 48963"/>
              <a:gd name="adj2" fmla="val 100000"/>
            </a:avLst>
          </a:prstGeom>
          <a:noFill/>
          <a:ln w="38100">
            <a:solidFill>
              <a:srgbClr val="FF99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7" name="Line 97"/>
          <p:cNvSpPr>
            <a:spLocks noChangeShapeType="1"/>
          </p:cNvSpPr>
          <p:nvPr/>
        </p:nvSpPr>
        <p:spPr bwMode="auto">
          <a:xfrm flipV="1">
            <a:off x="6275294" y="1345155"/>
            <a:ext cx="0" cy="533400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8" name="Text Box 98"/>
          <p:cNvSpPr txBox="1">
            <a:spLocks noChangeArrowheads="1"/>
          </p:cNvSpPr>
          <p:nvPr/>
        </p:nvSpPr>
        <p:spPr bwMode="auto">
          <a:xfrm>
            <a:off x="6275294" y="1345155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集电区收集电子</a:t>
            </a:r>
          </a:p>
        </p:txBody>
      </p:sp>
      <p:sp>
        <p:nvSpPr>
          <p:cNvPr id="199" name="Line 99"/>
          <p:cNvSpPr>
            <a:spLocks noChangeShapeType="1"/>
          </p:cNvSpPr>
          <p:nvPr/>
        </p:nvSpPr>
        <p:spPr bwMode="auto">
          <a:xfrm>
            <a:off x="6365782" y="616493"/>
            <a:ext cx="213471" cy="185738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 type="stealth" w="med" len="med"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00" name="Text Box 100"/>
          <p:cNvSpPr txBox="1">
            <a:spLocks noChangeArrowheads="1"/>
          </p:cNvSpPr>
          <p:nvPr/>
        </p:nvSpPr>
        <p:spPr bwMode="auto">
          <a:xfrm>
            <a:off x="6389595" y="683168"/>
            <a:ext cx="2133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电子流向电源正极形成</a:t>
            </a:r>
            <a:r>
              <a:rPr lang="en-US" altLang="zh-CN" sz="20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0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</a:t>
            </a:r>
          </a:p>
        </p:txBody>
      </p:sp>
      <p:sp>
        <p:nvSpPr>
          <p:cNvPr id="201" name="Text Box 101"/>
          <p:cNvSpPr txBox="1">
            <a:spLocks noChangeArrowheads="1"/>
          </p:cNvSpPr>
          <p:nvPr/>
        </p:nvSpPr>
        <p:spPr bwMode="auto">
          <a:xfrm>
            <a:off x="840124" y="1000556"/>
            <a:ext cx="2217737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i="1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000" baseline="-250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BB</a:t>
            </a:r>
            <a:r>
              <a:rPr lang="zh-CN" altLang="en-US" sz="20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正极拉走电子，补充被复合的空穴，形成 </a:t>
            </a:r>
            <a:r>
              <a:rPr lang="en-US" altLang="zh-CN" sz="2000" i="1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000" baseline="-250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B</a:t>
            </a:r>
          </a:p>
        </p:txBody>
      </p:sp>
      <p:sp>
        <p:nvSpPr>
          <p:cNvPr id="202" name="Line 102"/>
          <p:cNvSpPr>
            <a:spLocks noChangeShapeType="1"/>
          </p:cNvSpPr>
          <p:nvPr/>
        </p:nvSpPr>
        <p:spPr bwMode="auto">
          <a:xfrm>
            <a:off x="2151529" y="1656678"/>
            <a:ext cx="430306" cy="290457"/>
          </a:xfrm>
          <a:prstGeom prst="line">
            <a:avLst/>
          </a:prstGeom>
          <a:noFill/>
          <a:ln w="38100">
            <a:solidFill>
              <a:srgbClr val="FF9966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03" name="Rectangle 111"/>
          <p:cNvSpPr>
            <a:spLocks noChangeArrowheads="1"/>
          </p:cNvSpPr>
          <p:nvPr/>
        </p:nvSpPr>
        <p:spPr bwMode="auto">
          <a:xfrm>
            <a:off x="8548594" y="1843630"/>
            <a:ext cx="215900" cy="649288"/>
          </a:xfrm>
          <a:prstGeom prst="rect">
            <a:avLst/>
          </a:pr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0" scaled="1"/>
          </a:gradFill>
          <a:ln w="349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04" name="Rectangle 112"/>
          <p:cNvSpPr>
            <a:spLocks noChangeArrowheads="1"/>
          </p:cNvSpPr>
          <p:nvPr/>
        </p:nvSpPr>
        <p:spPr bwMode="auto">
          <a:xfrm>
            <a:off x="2257332" y="2554830"/>
            <a:ext cx="215900" cy="504825"/>
          </a:xfrm>
          <a:prstGeom prst="rect">
            <a:avLst/>
          </a:pr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0" scaled="1"/>
          </a:gradFill>
          <a:ln w="349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7" name="Line 27"/>
          <p:cNvSpPr>
            <a:spLocks noChangeShapeType="1"/>
          </p:cNvSpPr>
          <p:nvPr/>
        </p:nvSpPr>
        <p:spPr bwMode="auto">
          <a:xfrm>
            <a:off x="3836894" y="2945354"/>
            <a:ext cx="2285160" cy="0"/>
          </a:xfrm>
          <a:prstGeom prst="line">
            <a:avLst/>
          </a:prstGeom>
          <a:noFill/>
          <a:ln w="76200" cmpd="tri">
            <a:solidFill>
              <a:srgbClr val="D77BA7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3" name="Text Box 13"/>
          <p:cNvSpPr txBox="1">
            <a:spLocks noChangeArrowheads="1"/>
          </p:cNvSpPr>
          <p:nvPr/>
        </p:nvSpPr>
        <p:spPr bwMode="auto">
          <a:xfrm>
            <a:off x="400221" y="4050401"/>
            <a:ext cx="193658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200" i="1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3200" baseline="-25000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E</a:t>
            </a:r>
            <a:r>
              <a:rPr lang="en-US" altLang="zh-CN" sz="3200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sz="3200" i="1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3200" baseline="-25000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3200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+</a:t>
            </a:r>
            <a:r>
              <a:rPr lang="en-US" altLang="zh-CN" sz="3200" i="1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3200" baseline="-25000" dirty="0" smtClean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C</a:t>
            </a:r>
            <a:endParaRPr lang="en-US" altLang="zh-CN" sz="3200" baseline="-25000" dirty="0">
              <a:solidFill>
                <a:srgbClr val="C00000"/>
              </a:solidFill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0"/>
                            </p:stCondLst>
                            <p:childTnLst>
                              <p:par>
                                <p:cTn id="3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0"/>
                            </p:stCondLst>
                            <p:childTnLst>
                              <p:par>
                                <p:cTn id="76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500"/>
                            </p:stCondLst>
                            <p:childTnLst>
                              <p:par>
                                <p:cTn id="8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5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000"/>
                            </p:stCondLst>
                            <p:childTnLst>
                              <p:par>
                                <p:cTn id="109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1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500"/>
                            </p:stCondLst>
                            <p:childTnLst>
                              <p:par>
                                <p:cTn id="13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00"/>
                            </p:stCondLst>
                            <p:childTnLst>
                              <p:par>
                                <p:cTn id="14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3500"/>
                            </p:stCondLst>
                            <p:childTnLst>
                              <p:par>
                                <p:cTn id="1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500"/>
                            </p:stCondLst>
                            <p:childTnLst>
                              <p:par>
                                <p:cTn id="1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6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500"/>
                            </p:stCondLst>
                            <p:childTnLst>
                              <p:par>
                                <p:cTn id="1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500"/>
                            </p:stCondLst>
                            <p:childTnLst>
                              <p:par>
                                <p:cTn id="184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2500"/>
                            </p:stCondLst>
                            <p:childTnLst>
                              <p:par>
                                <p:cTn id="1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3000"/>
                            </p:stCondLst>
                            <p:childTnLst>
                              <p:par>
                                <p:cTn id="1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500"/>
                            </p:stCondLst>
                            <p:childTnLst>
                              <p:par>
                                <p:cTn id="1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4000"/>
                            </p:stCondLst>
                            <p:childTnLst>
                              <p:par>
                                <p:cTn id="196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4500"/>
                            </p:stCondLst>
                            <p:childTnLst>
                              <p:par>
                                <p:cTn id="20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0"/>
                            </p:stCondLst>
                            <p:childTnLst>
                              <p:par>
                                <p:cTn id="2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3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29" grpId="0" animBg="1"/>
      <p:bldP spid="130" grpId="0" animBg="1"/>
      <p:bldP spid="133" grpId="0" autoUpdateAnimBg="0"/>
      <p:bldP spid="134" grpId="0" autoUpdateAnimBg="0"/>
      <p:bldP spid="139" grpId="0" autoUpdateAnimBg="0"/>
      <p:bldP spid="167" grpId="0" animBg="1"/>
      <p:bldP spid="172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4" grpId="0" animBg="1"/>
      <p:bldP spid="185" grpId="0" animBg="1"/>
      <p:bldP spid="186" grpId="0" animBg="1"/>
      <p:bldP spid="187" grpId="0" animBg="1"/>
      <p:bldP spid="191" grpId="0" animBg="1"/>
      <p:bldP spid="192" grpId="0" autoUpdateAnimBg="0"/>
      <p:bldP spid="193" grpId="0" animBg="1"/>
      <p:bldP spid="194" grpId="0" autoUpdateAnimBg="0"/>
      <p:bldP spid="195" grpId="0" autoUpdateAnimBg="0"/>
      <p:bldP spid="196" grpId="0" animBg="1"/>
      <p:bldP spid="197" grpId="0" animBg="1"/>
      <p:bldP spid="198" grpId="0" autoUpdateAnimBg="0"/>
      <p:bldP spid="199" grpId="0" animBg="1"/>
      <p:bldP spid="200" grpId="0" autoUpdateAnimBg="0"/>
      <p:bldP spid="201" grpId="0" autoUpdateAnimBg="0"/>
      <p:bldP spid="202" grpId="0" animBg="1"/>
      <p:bldP spid="103" grpId="0"/>
      <p:bldP spid="10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682" name="Picture 2" descr="line14"/>
          <p:cNvPicPr>
            <a:picLocks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4253" y="787494"/>
            <a:ext cx="32004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5683" name="Text Box 3"/>
          <p:cNvSpPr txBox="1">
            <a:spLocks noChangeArrowheads="1"/>
          </p:cNvSpPr>
          <p:nvPr/>
        </p:nvSpPr>
        <p:spPr bwMode="auto">
          <a:xfrm>
            <a:off x="1601657" y="647855"/>
            <a:ext cx="321776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由上所述可知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:</a:t>
            </a:r>
          </a:p>
        </p:txBody>
      </p:sp>
      <p:graphicFrame>
        <p:nvGraphicFramePr>
          <p:cNvPr id="455685" name="Object 5"/>
          <p:cNvGraphicFramePr>
            <a:graphicFrameLocks noChangeAspect="1"/>
          </p:cNvGraphicFramePr>
          <p:nvPr/>
        </p:nvGraphicFramePr>
        <p:xfrm>
          <a:off x="871370" y="1829443"/>
          <a:ext cx="381000" cy="342900"/>
        </p:xfrm>
        <a:graphic>
          <a:graphicData uri="http://schemas.openxmlformats.org/presentationml/2006/ole">
            <p:oleObj spid="_x0000_s2050" name="CorelDRAW" r:id="rId4" imgW="805320" imgH="837000" progId="">
              <p:embed/>
            </p:oleObj>
          </a:graphicData>
        </a:graphic>
      </p:graphicFrame>
      <p:sp>
        <p:nvSpPr>
          <p:cNvPr id="455687" name="Text Box 7"/>
          <p:cNvSpPr txBox="1">
            <a:spLocks noChangeArrowheads="1"/>
          </p:cNvSpPr>
          <p:nvPr/>
        </p:nvSpPr>
        <p:spPr bwMode="auto">
          <a:xfrm>
            <a:off x="1459454" y="1683935"/>
            <a:ext cx="6608781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由于基区很薄且掺杂浓度小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电子在基区扩散的数量远远大于复合的数量。即：</a:t>
            </a:r>
          </a:p>
        </p:txBody>
      </p:sp>
      <p:sp>
        <p:nvSpPr>
          <p:cNvPr id="455693" name="Text Box 13"/>
          <p:cNvSpPr txBox="1">
            <a:spLocks noChangeArrowheads="1"/>
          </p:cNvSpPr>
          <p:nvPr/>
        </p:nvSpPr>
        <p:spPr bwMode="auto">
          <a:xfrm>
            <a:off x="1721020" y="3092459"/>
            <a:ext cx="44215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i="1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&gt;&gt;</a:t>
            </a:r>
            <a:r>
              <a:rPr lang="en-US" altLang="zh-CN" sz="2800" i="1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8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      </a:t>
            </a:r>
            <a:r>
              <a:rPr lang="zh-CN" altLang="en-US" sz="28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或  △</a:t>
            </a:r>
            <a:r>
              <a:rPr lang="en-US" altLang="zh-CN" sz="2800" i="1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&gt;&gt;△</a:t>
            </a:r>
            <a:r>
              <a:rPr lang="en-US" altLang="zh-CN" sz="2800" i="1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B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5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55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455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7" grpId="0" autoUpdateAnimBg="0"/>
      <p:bldP spid="45569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938212" y="1859266"/>
            <a:ext cx="6796088" cy="1716881"/>
            <a:chOff x="591" y="2202"/>
            <a:chExt cx="4281" cy="1442"/>
          </a:xfrm>
        </p:grpSpPr>
        <p:graphicFrame>
          <p:nvGraphicFramePr>
            <p:cNvPr id="2051" name="Object 4"/>
            <p:cNvGraphicFramePr>
              <a:graphicFrameLocks noChangeAspect="1"/>
            </p:cNvGraphicFramePr>
            <p:nvPr/>
          </p:nvGraphicFramePr>
          <p:xfrm>
            <a:off x="591" y="2312"/>
            <a:ext cx="216" cy="288"/>
          </p:xfrm>
          <a:graphic>
            <a:graphicData uri="http://schemas.openxmlformats.org/presentationml/2006/ole">
              <p:oleObj spid="_x0000_s50179" name="CorelDRAW" r:id="rId3" imgW="772200" imgH="871200" progId="">
                <p:embed/>
              </p:oleObj>
            </a:graphicData>
          </a:graphic>
        </p:graphicFrame>
        <p:sp>
          <p:nvSpPr>
            <p:cNvPr id="2063" name="Text Box 34"/>
            <p:cNvSpPr txBox="1">
              <a:spLocks noChangeArrowheads="1"/>
            </p:cNvSpPr>
            <p:nvPr/>
          </p:nvSpPr>
          <p:spPr bwMode="auto">
            <a:xfrm>
              <a:off x="975" y="2202"/>
              <a:ext cx="3897" cy="1442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基极电流</a:t>
              </a:r>
              <a:r>
                <a:rPr lang="en-US" altLang="zh-CN" sz="32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的微小</a:t>
              </a: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变化，会使</a:t>
              </a:r>
              <a:r>
                <a:rPr lang="en-US" altLang="zh-CN" sz="32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发生较大的变化。即三极管的基极电流对集电极电流具有控制作用</a:t>
              </a:r>
            </a:p>
          </p:txBody>
        </p:sp>
      </p:grpSp>
      <p:sp>
        <p:nvSpPr>
          <p:cNvPr id="455717" name="Line 37"/>
          <p:cNvSpPr>
            <a:spLocks noChangeShapeType="1"/>
          </p:cNvSpPr>
          <p:nvPr/>
        </p:nvSpPr>
        <p:spPr bwMode="auto">
          <a:xfrm flipV="1">
            <a:off x="3827099" y="2957297"/>
            <a:ext cx="3520706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none" w="sm" len="lg"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pic>
        <p:nvPicPr>
          <p:cNvPr id="18" name="Picture 2" descr="line14"/>
          <p:cNvPicPr>
            <a:picLocks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4253" y="787494"/>
            <a:ext cx="32004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1601657" y="647855"/>
            <a:ext cx="321776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由上所述可知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:</a:t>
            </a:r>
          </a:p>
        </p:txBody>
      </p:sp>
      <p:sp>
        <p:nvSpPr>
          <p:cNvPr id="20" name="Line 37"/>
          <p:cNvSpPr>
            <a:spLocks noChangeShapeType="1"/>
          </p:cNvSpPr>
          <p:nvPr/>
        </p:nvSpPr>
        <p:spPr bwMode="auto">
          <a:xfrm flipV="1">
            <a:off x="1653529" y="3502465"/>
            <a:ext cx="3528071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none" w="sm" len="lg"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98516" y="3794359"/>
            <a:ext cx="39980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ea typeface="华文中宋" pitchFamily="2" charset="-122"/>
                <a:cs typeface="Times New Roman" pitchFamily="18" charset="0"/>
              </a:rPr>
              <a:t>在放大状态下：</a:t>
            </a:r>
            <a:r>
              <a:rPr lang="en-US" altLang="zh-CN" sz="2800" i="1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sz="2800" i="1" dirty="0" err="1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βI</a:t>
            </a:r>
            <a:r>
              <a:rPr lang="en-US" altLang="zh-CN" sz="2800" baseline="-25000" dirty="0" err="1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  <a:endParaRPr lang="en-US" altLang="zh-CN" sz="2800" baseline="-25000" dirty="0" smtClean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1000"/>
                                        <p:tgtEl>
                                          <p:spTgt spid="45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717" grpId="0" animBg="1"/>
      <p:bldP spid="20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915987" y="1734784"/>
            <a:ext cx="6775450" cy="1212057"/>
            <a:chOff x="586" y="3203"/>
            <a:chExt cx="4268" cy="1018"/>
          </a:xfrm>
        </p:grpSpPr>
        <p:sp>
          <p:nvSpPr>
            <p:cNvPr id="2064" name="Text Box 9"/>
            <p:cNvSpPr txBox="1">
              <a:spLocks noChangeArrowheads="1"/>
            </p:cNvSpPr>
            <p:nvPr/>
          </p:nvSpPr>
          <p:spPr bwMode="auto">
            <a:xfrm>
              <a:off x="930" y="3203"/>
              <a:ext cx="3924" cy="10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三极管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起电流放大作用，必须满足发射结正偏，集电结反偏的条件。</a:t>
              </a:r>
            </a:p>
          </p:txBody>
        </p:sp>
        <p:grpSp>
          <p:nvGrpSpPr>
            <p:cNvPr id="3" name="Group 30"/>
            <p:cNvGrpSpPr>
              <a:grpSpLocks/>
            </p:cNvGrpSpPr>
            <p:nvPr/>
          </p:nvGrpSpPr>
          <p:grpSpPr bwMode="auto">
            <a:xfrm>
              <a:off x="586" y="3285"/>
              <a:ext cx="389" cy="388"/>
              <a:chOff x="586" y="3113"/>
              <a:chExt cx="389" cy="388"/>
            </a:xfrm>
          </p:grpSpPr>
          <p:graphicFrame>
            <p:nvGraphicFramePr>
              <p:cNvPr id="2052" name="Object 25"/>
              <p:cNvGraphicFramePr>
                <a:graphicFrameLocks noChangeAspect="1"/>
              </p:cNvGraphicFramePr>
              <p:nvPr/>
            </p:nvGraphicFramePr>
            <p:xfrm>
              <a:off x="591" y="3186"/>
              <a:ext cx="204" cy="259"/>
            </p:xfrm>
            <a:graphic>
              <a:graphicData uri="http://schemas.openxmlformats.org/presentationml/2006/ole">
                <p:oleObj spid="_x0000_s51204" name="CorelDRAW" r:id="rId3" imgW="798120" imgH="824760" progId="">
                  <p:embed/>
                </p:oleObj>
              </a:graphicData>
            </a:graphic>
          </p:graphicFrame>
          <p:sp>
            <p:nvSpPr>
              <p:cNvPr id="2066" name="Text Box 28"/>
              <p:cNvSpPr txBox="1">
                <a:spLocks noChangeArrowheads="1"/>
              </p:cNvSpPr>
              <p:nvPr/>
            </p:nvSpPr>
            <p:spPr bwMode="auto">
              <a:xfrm>
                <a:off x="586" y="3113"/>
                <a:ext cx="389" cy="388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 type="none" w="sm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3</a:t>
                </a:r>
              </a:p>
            </p:txBody>
          </p:sp>
        </p:grpSp>
      </p:grpSp>
      <p:sp>
        <p:nvSpPr>
          <p:cNvPr id="455718" name="Line 38"/>
          <p:cNvSpPr>
            <a:spLocks noChangeShapeType="1"/>
          </p:cNvSpPr>
          <p:nvPr/>
        </p:nvSpPr>
        <p:spPr bwMode="auto">
          <a:xfrm>
            <a:off x="6930332" y="2318567"/>
            <a:ext cx="664566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none" w="sm" len="lg"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55719" name="Line 39"/>
          <p:cNvSpPr>
            <a:spLocks noChangeShapeType="1"/>
          </p:cNvSpPr>
          <p:nvPr/>
        </p:nvSpPr>
        <p:spPr bwMode="auto">
          <a:xfrm flipV="1">
            <a:off x="1544282" y="2865429"/>
            <a:ext cx="3221356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none" w="sm" len="lg"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pic>
        <p:nvPicPr>
          <p:cNvPr id="18" name="Picture 2" descr="line14"/>
          <p:cNvPicPr>
            <a:picLocks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4253" y="787494"/>
            <a:ext cx="32004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1601657" y="647855"/>
            <a:ext cx="321776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由上所述可知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5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5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718" grpId="0" animBg="1"/>
      <p:bldP spid="4557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7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677976" y="256303"/>
            <a:ext cx="3124426" cy="584775"/>
          </a:xfrm>
          <a:prstGeom prst="rect">
            <a:avLst/>
          </a:prstGeom>
          <a:noFill/>
          <a:ln w="4127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）特性曲线</a:t>
            </a:r>
            <a:endParaRPr lang="zh-CN" altLang="en-US" sz="32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3" name="Text Box 4"/>
          <p:cNvSpPr txBox="1">
            <a:spLocks noChangeArrowheads="1"/>
          </p:cNvSpPr>
          <p:nvPr/>
        </p:nvSpPr>
        <p:spPr bwMode="auto">
          <a:xfrm>
            <a:off x="874265" y="859771"/>
            <a:ext cx="32367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）输入</a:t>
            </a:r>
            <a:r>
              <a:rPr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特性曲线</a:t>
            </a:r>
          </a:p>
        </p:txBody>
      </p:sp>
      <p:grpSp>
        <p:nvGrpSpPr>
          <p:cNvPr id="64" name="组合 68"/>
          <p:cNvGrpSpPr>
            <a:grpSpLocks/>
          </p:cNvGrpSpPr>
          <p:nvPr/>
        </p:nvGrpSpPr>
        <p:grpSpPr bwMode="auto">
          <a:xfrm>
            <a:off x="4197693" y="820166"/>
            <a:ext cx="3295804" cy="630871"/>
            <a:chOff x="4484914" y="1153433"/>
            <a:chExt cx="3295350" cy="631785"/>
          </a:xfrm>
        </p:grpSpPr>
        <p:sp>
          <p:nvSpPr>
            <p:cNvPr id="65" name="Rectangle 5"/>
            <p:cNvSpPr>
              <a:spLocks noChangeArrowheads="1"/>
            </p:cNvSpPr>
            <p:nvPr/>
          </p:nvSpPr>
          <p:spPr bwMode="auto">
            <a:xfrm>
              <a:off x="4484914" y="1153433"/>
              <a:ext cx="1832300" cy="462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400" b="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= </a:t>
              </a:r>
              <a:r>
                <a:rPr lang="en-US" altLang="zh-CN" sz="24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f</a:t>
              </a:r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(</a:t>
              </a:r>
              <a:r>
                <a:rPr lang="en-US" altLang="zh-CN" sz="24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 )</a:t>
              </a:r>
            </a:p>
          </p:txBody>
        </p:sp>
        <p:sp>
          <p:nvSpPr>
            <p:cNvPr id="67" name="Rectangle 6"/>
            <p:cNvSpPr>
              <a:spLocks noChangeArrowheads="1"/>
            </p:cNvSpPr>
            <p:nvPr/>
          </p:nvSpPr>
          <p:spPr bwMode="auto">
            <a:xfrm>
              <a:off x="6298972" y="1384528"/>
              <a:ext cx="1481292" cy="4006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0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 E</a:t>
              </a:r>
              <a:r>
                <a: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 = </a:t>
              </a:r>
              <a:r>
                <a:rPr lang="zh-CN" altLang="en-US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常数</a:t>
              </a:r>
            </a:p>
          </p:txBody>
        </p:sp>
        <p:sp>
          <p:nvSpPr>
            <p:cNvPr id="68" name="Line 7"/>
            <p:cNvSpPr>
              <a:spLocks noChangeShapeType="1"/>
            </p:cNvSpPr>
            <p:nvPr/>
          </p:nvSpPr>
          <p:spPr bwMode="auto">
            <a:xfrm>
              <a:off x="6284005" y="1183595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69" name="Text Box 8"/>
          <p:cNvSpPr txBox="1">
            <a:spLocks noChangeArrowheads="1"/>
          </p:cNvSpPr>
          <p:nvPr/>
        </p:nvSpPr>
        <p:spPr bwMode="auto">
          <a:xfrm>
            <a:off x="6369236" y="2773269"/>
            <a:ext cx="12137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CE</a:t>
            </a:r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≥1V</a:t>
            </a:r>
          </a:p>
        </p:txBody>
      </p:sp>
      <p:grpSp>
        <p:nvGrpSpPr>
          <p:cNvPr id="70" name="Group 88"/>
          <p:cNvGrpSpPr>
            <a:grpSpLocks/>
          </p:cNvGrpSpPr>
          <p:nvPr/>
        </p:nvGrpSpPr>
        <p:grpSpPr bwMode="auto">
          <a:xfrm>
            <a:off x="630425" y="1543050"/>
            <a:ext cx="4294187" cy="3119691"/>
            <a:chOff x="431" y="1525"/>
            <a:chExt cx="2705" cy="2083"/>
          </a:xfrm>
        </p:grpSpPr>
        <p:sp>
          <p:nvSpPr>
            <p:cNvPr id="71" name="Line 20"/>
            <p:cNvSpPr>
              <a:spLocks noChangeShapeType="1"/>
            </p:cNvSpPr>
            <p:nvPr/>
          </p:nvSpPr>
          <p:spPr bwMode="auto">
            <a:xfrm>
              <a:off x="1610" y="2745"/>
              <a:ext cx="0" cy="316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2" name="Text Box 21"/>
            <p:cNvSpPr txBox="1">
              <a:spLocks noChangeArrowheads="1"/>
            </p:cNvSpPr>
            <p:nvPr/>
          </p:nvSpPr>
          <p:spPr bwMode="auto">
            <a:xfrm>
              <a:off x="1656" y="2703"/>
              <a:ext cx="336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73" name="Text Box 22"/>
            <p:cNvSpPr txBox="1">
              <a:spLocks noChangeArrowheads="1"/>
            </p:cNvSpPr>
            <p:nvPr/>
          </p:nvSpPr>
          <p:spPr bwMode="auto">
            <a:xfrm>
              <a:off x="664" y="1920"/>
              <a:ext cx="336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74" name="Text Box 23"/>
            <p:cNvSpPr txBox="1">
              <a:spLocks noChangeArrowheads="1"/>
            </p:cNvSpPr>
            <p:nvPr/>
          </p:nvSpPr>
          <p:spPr bwMode="auto">
            <a:xfrm>
              <a:off x="658" y="2618"/>
              <a:ext cx="394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75" name="Text Box 24"/>
            <p:cNvSpPr txBox="1">
              <a:spLocks noChangeArrowheads="1"/>
            </p:cNvSpPr>
            <p:nvPr/>
          </p:nvSpPr>
          <p:spPr bwMode="auto">
            <a:xfrm>
              <a:off x="659" y="3101"/>
              <a:ext cx="384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76" name="Line 25"/>
            <p:cNvSpPr>
              <a:spLocks noChangeShapeType="1"/>
            </p:cNvSpPr>
            <p:nvPr/>
          </p:nvSpPr>
          <p:spPr bwMode="auto">
            <a:xfrm>
              <a:off x="1565" y="1616"/>
              <a:ext cx="0" cy="22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Text Box 26"/>
            <p:cNvSpPr txBox="1">
              <a:spLocks noChangeArrowheads="1"/>
            </p:cNvSpPr>
            <p:nvPr/>
          </p:nvSpPr>
          <p:spPr bwMode="auto">
            <a:xfrm>
              <a:off x="1610" y="1525"/>
              <a:ext cx="336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78" name="Text Box 27"/>
            <p:cNvSpPr txBox="1">
              <a:spLocks noChangeArrowheads="1"/>
            </p:cNvSpPr>
            <p:nvPr/>
          </p:nvSpPr>
          <p:spPr bwMode="auto">
            <a:xfrm>
              <a:off x="2608" y="2523"/>
              <a:ext cx="528" cy="3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79" name="Line 29"/>
            <p:cNvSpPr>
              <a:spLocks noChangeShapeType="1"/>
            </p:cNvSpPr>
            <p:nvPr/>
          </p:nvSpPr>
          <p:spPr bwMode="auto">
            <a:xfrm>
              <a:off x="658" y="2219"/>
              <a:ext cx="336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0" name="Line 30"/>
            <p:cNvSpPr>
              <a:spLocks noChangeShapeType="1"/>
            </p:cNvSpPr>
            <p:nvPr/>
          </p:nvSpPr>
          <p:spPr bwMode="auto">
            <a:xfrm>
              <a:off x="1295" y="2104"/>
              <a:ext cx="0" cy="3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Line 31"/>
            <p:cNvSpPr>
              <a:spLocks noChangeShapeType="1"/>
            </p:cNvSpPr>
            <p:nvPr/>
          </p:nvSpPr>
          <p:spPr bwMode="auto">
            <a:xfrm flipV="1">
              <a:off x="1295" y="2059"/>
              <a:ext cx="192" cy="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2" name="Line 32"/>
            <p:cNvSpPr>
              <a:spLocks noChangeShapeType="1"/>
            </p:cNvSpPr>
            <p:nvPr/>
          </p:nvSpPr>
          <p:spPr bwMode="auto">
            <a:xfrm>
              <a:off x="1293" y="2324"/>
              <a:ext cx="272" cy="1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3" name="Line 33"/>
            <p:cNvSpPr>
              <a:spLocks noChangeShapeType="1"/>
            </p:cNvSpPr>
            <p:nvPr/>
          </p:nvSpPr>
          <p:spPr bwMode="auto">
            <a:xfrm>
              <a:off x="1487" y="1525"/>
              <a:ext cx="0" cy="5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4" name="Line 34"/>
            <p:cNvSpPr>
              <a:spLocks noChangeShapeType="1"/>
            </p:cNvSpPr>
            <p:nvPr/>
          </p:nvSpPr>
          <p:spPr bwMode="auto">
            <a:xfrm>
              <a:off x="1535" y="2460"/>
              <a:ext cx="0" cy="11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5" name="Line 35"/>
            <p:cNvSpPr>
              <a:spLocks noChangeShapeType="1"/>
            </p:cNvSpPr>
            <p:nvPr/>
          </p:nvSpPr>
          <p:spPr bwMode="auto">
            <a:xfrm>
              <a:off x="575" y="2282"/>
              <a:ext cx="7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6" name="Line 36"/>
            <p:cNvSpPr>
              <a:spLocks noChangeShapeType="1"/>
            </p:cNvSpPr>
            <p:nvPr/>
          </p:nvSpPr>
          <p:spPr bwMode="auto">
            <a:xfrm>
              <a:off x="575" y="2282"/>
              <a:ext cx="0" cy="8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7" name="Line 37"/>
            <p:cNvSpPr>
              <a:spLocks noChangeShapeType="1"/>
            </p:cNvSpPr>
            <p:nvPr/>
          </p:nvSpPr>
          <p:spPr bwMode="auto">
            <a:xfrm>
              <a:off x="431" y="317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Line 38"/>
            <p:cNvSpPr>
              <a:spLocks noChangeShapeType="1"/>
            </p:cNvSpPr>
            <p:nvPr/>
          </p:nvSpPr>
          <p:spPr bwMode="auto">
            <a:xfrm flipV="1">
              <a:off x="509" y="321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9" name="Line 39"/>
            <p:cNvSpPr>
              <a:spLocks noChangeShapeType="1"/>
            </p:cNvSpPr>
            <p:nvPr/>
          </p:nvSpPr>
          <p:spPr bwMode="auto">
            <a:xfrm flipH="1">
              <a:off x="576" y="3227"/>
              <a:ext cx="0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0" name="Line 40"/>
            <p:cNvSpPr>
              <a:spLocks noChangeShapeType="1"/>
            </p:cNvSpPr>
            <p:nvPr/>
          </p:nvSpPr>
          <p:spPr bwMode="auto">
            <a:xfrm>
              <a:off x="1442" y="3605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Line 41"/>
            <p:cNvSpPr>
              <a:spLocks noChangeShapeType="1"/>
            </p:cNvSpPr>
            <p:nvPr/>
          </p:nvSpPr>
          <p:spPr bwMode="auto">
            <a:xfrm>
              <a:off x="569" y="3452"/>
              <a:ext cx="20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Line 42"/>
            <p:cNvSpPr>
              <a:spLocks noChangeShapeType="1"/>
            </p:cNvSpPr>
            <p:nvPr/>
          </p:nvSpPr>
          <p:spPr bwMode="auto">
            <a:xfrm>
              <a:off x="1487" y="1525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3" name="Line 43"/>
            <p:cNvSpPr>
              <a:spLocks noChangeShapeType="1"/>
            </p:cNvSpPr>
            <p:nvPr/>
          </p:nvSpPr>
          <p:spPr bwMode="auto">
            <a:xfrm>
              <a:off x="2591" y="1525"/>
              <a:ext cx="0" cy="8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4" name="Line 44"/>
            <p:cNvSpPr>
              <a:spLocks noChangeShapeType="1"/>
            </p:cNvSpPr>
            <p:nvPr/>
          </p:nvSpPr>
          <p:spPr bwMode="auto">
            <a:xfrm>
              <a:off x="2591" y="2549"/>
              <a:ext cx="0" cy="9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5" name="Line 45"/>
            <p:cNvSpPr>
              <a:spLocks noChangeShapeType="1"/>
            </p:cNvSpPr>
            <p:nvPr/>
          </p:nvSpPr>
          <p:spPr bwMode="auto">
            <a:xfrm>
              <a:off x="2399" y="2415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Line 46"/>
            <p:cNvSpPr>
              <a:spLocks noChangeShapeType="1"/>
            </p:cNvSpPr>
            <p:nvPr/>
          </p:nvSpPr>
          <p:spPr bwMode="auto">
            <a:xfrm>
              <a:off x="2447" y="246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7" name="Line 47"/>
            <p:cNvSpPr>
              <a:spLocks noChangeShapeType="1"/>
            </p:cNvSpPr>
            <p:nvPr/>
          </p:nvSpPr>
          <p:spPr bwMode="auto">
            <a:xfrm>
              <a:off x="2399" y="2504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Line 48"/>
            <p:cNvSpPr>
              <a:spLocks noChangeShapeType="1"/>
            </p:cNvSpPr>
            <p:nvPr/>
          </p:nvSpPr>
          <p:spPr bwMode="auto">
            <a:xfrm>
              <a:off x="2495" y="2549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9" name="Oval 49"/>
            <p:cNvSpPr>
              <a:spLocks noChangeArrowheads="1"/>
            </p:cNvSpPr>
            <p:nvPr/>
          </p:nvSpPr>
          <p:spPr bwMode="auto">
            <a:xfrm>
              <a:off x="1505" y="3414"/>
              <a:ext cx="68" cy="7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Line 50"/>
            <p:cNvSpPr>
              <a:spLocks noChangeShapeType="1"/>
            </p:cNvSpPr>
            <p:nvPr/>
          </p:nvSpPr>
          <p:spPr bwMode="auto">
            <a:xfrm>
              <a:off x="575" y="2371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1" name="Line 51"/>
            <p:cNvSpPr>
              <a:spLocks noChangeShapeType="1"/>
            </p:cNvSpPr>
            <p:nvPr/>
          </p:nvSpPr>
          <p:spPr bwMode="auto">
            <a:xfrm>
              <a:off x="815" y="2371"/>
              <a:ext cx="0" cy="1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2" name="Line 52"/>
            <p:cNvSpPr>
              <a:spLocks noChangeShapeType="1"/>
            </p:cNvSpPr>
            <p:nvPr/>
          </p:nvSpPr>
          <p:spPr bwMode="auto">
            <a:xfrm flipH="1">
              <a:off x="623" y="2549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3" name="Rectangle 53"/>
            <p:cNvSpPr>
              <a:spLocks noChangeArrowheads="1"/>
            </p:cNvSpPr>
            <p:nvPr/>
          </p:nvSpPr>
          <p:spPr bwMode="auto">
            <a:xfrm>
              <a:off x="2517" y="1861"/>
              <a:ext cx="136" cy="324"/>
            </a:xfrm>
            <a:prstGeom prst="rect">
              <a:avLst/>
            </a:prstGeom>
            <a:gradFill rotWithShape="1">
              <a:gsLst>
                <a:gs pos="0">
                  <a:srgbClr val="765E2F"/>
                </a:gs>
                <a:gs pos="50000">
                  <a:srgbClr val="FFCC66"/>
                </a:gs>
                <a:gs pos="100000">
                  <a:srgbClr val="765E2F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4" name="Rectangle 54"/>
            <p:cNvSpPr>
              <a:spLocks noChangeArrowheads="1"/>
            </p:cNvSpPr>
            <p:nvPr/>
          </p:nvSpPr>
          <p:spPr bwMode="auto">
            <a:xfrm>
              <a:off x="499" y="2450"/>
              <a:ext cx="136" cy="252"/>
            </a:xfrm>
            <a:prstGeom prst="rect">
              <a:avLst/>
            </a:prstGeom>
            <a:gradFill rotWithShape="1">
              <a:gsLst>
                <a:gs pos="0">
                  <a:srgbClr val="765E2F"/>
                </a:gs>
                <a:gs pos="50000">
                  <a:srgbClr val="FFCC66"/>
                </a:gs>
                <a:gs pos="100000">
                  <a:srgbClr val="765E2F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5" name="Rectangle 55"/>
            <p:cNvSpPr>
              <a:spLocks noChangeArrowheads="1"/>
            </p:cNvSpPr>
            <p:nvPr/>
          </p:nvSpPr>
          <p:spPr bwMode="auto">
            <a:xfrm>
              <a:off x="499" y="2829"/>
              <a:ext cx="136" cy="252"/>
            </a:xfrm>
            <a:prstGeom prst="rect">
              <a:avLst/>
            </a:prstGeom>
            <a:gradFill rotWithShape="1">
              <a:gsLst>
                <a:gs pos="0">
                  <a:srgbClr val="765E2F"/>
                </a:gs>
                <a:gs pos="50000">
                  <a:srgbClr val="FFCC66"/>
                </a:gs>
                <a:gs pos="100000">
                  <a:srgbClr val="765E2F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Text Box 56"/>
            <p:cNvSpPr txBox="1">
              <a:spLocks noChangeArrowheads="1"/>
            </p:cNvSpPr>
            <p:nvPr/>
          </p:nvSpPr>
          <p:spPr bwMode="auto">
            <a:xfrm>
              <a:off x="2608" y="1888"/>
              <a:ext cx="394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07" name="Rectangle 58"/>
            <p:cNvSpPr>
              <a:spLocks noChangeArrowheads="1"/>
            </p:cNvSpPr>
            <p:nvPr/>
          </p:nvSpPr>
          <p:spPr bwMode="auto">
            <a:xfrm>
              <a:off x="930" y="2271"/>
              <a:ext cx="276" cy="265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＋</a:t>
              </a:r>
            </a:p>
          </p:txBody>
        </p:sp>
        <p:sp>
          <p:nvSpPr>
            <p:cNvPr id="108" name="Rectangle 59"/>
            <p:cNvSpPr>
              <a:spLocks noChangeArrowheads="1"/>
            </p:cNvSpPr>
            <p:nvPr/>
          </p:nvSpPr>
          <p:spPr bwMode="auto">
            <a:xfrm>
              <a:off x="1247" y="2849"/>
              <a:ext cx="170" cy="26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-</a:t>
              </a:r>
            </a:p>
          </p:txBody>
        </p:sp>
        <p:sp>
          <p:nvSpPr>
            <p:cNvPr id="109" name="Rectangle 60"/>
            <p:cNvSpPr>
              <a:spLocks noChangeArrowheads="1"/>
            </p:cNvSpPr>
            <p:nvPr/>
          </p:nvSpPr>
          <p:spPr bwMode="auto">
            <a:xfrm>
              <a:off x="1565" y="2440"/>
              <a:ext cx="170" cy="26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-</a:t>
              </a:r>
            </a:p>
          </p:txBody>
        </p:sp>
        <p:sp>
          <p:nvSpPr>
            <p:cNvPr id="110" name="Rectangle 62"/>
            <p:cNvSpPr>
              <a:spLocks noChangeArrowheads="1"/>
            </p:cNvSpPr>
            <p:nvPr/>
          </p:nvSpPr>
          <p:spPr bwMode="auto">
            <a:xfrm>
              <a:off x="1519" y="1888"/>
              <a:ext cx="278" cy="26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＋</a:t>
              </a:r>
            </a:p>
          </p:txBody>
        </p:sp>
        <p:sp>
          <p:nvSpPr>
            <p:cNvPr id="111" name="Rectangle 64"/>
            <p:cNvSpPr>
              <a:spLocks noChangeArrowheads="1"/>
            </p:cNvSpPr>
            <p:nvPr/>
          </p:nvSpPr>
          <p:spPr bwMode="auto">
            <a:xfrm>
              <a:off x="1066" y="2523"/>
              <a:ext cx="421" cy="308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112" name="Rectangle 66"/>
            <p:cNvSpPr>
              <a:spLocks noChangeArrowheads="1"/>
            </p:cNvSpPr>
            <p:nvPr/>
          </p:nvSpPr>
          <p:spPr bwMode="auto">
            <a:xfrm>
              <a:off x="1519" y="2115"/>
              <a:ext cx="421" cy="308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CE</a:t>
              </a:r>
            </a:p>
          </p:txBody>
        </p:sp>
      </p:grpSp>
      <p:sp>
        <p:nvSpPr>
          <p:cNvPr id="113" name="Freeform 70"/>
          <p:cNvSpPr>
            <a:spLocks/>
          </p:cNvSpPr>
          <p:nvPr/>
        </p:nvSpPr>
        <p:spPr bwMode="auto">
          <a:xfrm>
            <a:off x="5413561" y="1882587"/>
            <a:ext cx="1105572" cy="2427381"/>
          </a:xfrm>
          <a:custGeom>
            <a:avLst/>
            <a:gdLst>
              <a:gd name="T0" fmla="*/ 2147483647 w 528"/>
              <a:gd name="T1" fmla="*/ 0 h 1496"/>
              <a:gd name="T2" fmla="*/ 2147483647 w 528"/>
              <a:gd name="T3" fmla="*/ 2147483647 h 1496"/>
              <a:gd name="T4" fmla="*/ 0 w 528"/>
              <a:gd name="T5" fmla="*/ 2147483647 h 1496"/>
              <a:gd name="T6" fmla="*/ 0 60000 65536"/>
              <a:gd name="T7" fmla="*/ 0 60000 65536"/>
              <a:gd name="T8" fmla="*/ 0 60000 65536"/>
              <a:gd name="T9" fmla="*/ 0 w 528"/>
              <a:gd name="T10" fmla="*/ 0 h 1496"/>
              <a:gd name="T11" fmla="*/ 528 w 528"/>
              <a:gd name="T12" fmla="*/ 1496 h 14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8" h="1496">
                <a:moveTo>
                  <a:pt x="528" y="0"/>
                </a:moveTo>
                <a:cubicBezTo>
                  <a:pt x="476" y="500"/>
                  <a:pt x="424" y="1000"/>
                  <a:pt x="336" y="1248"/>
                </a:cubicBezTo>
                <a:cubicBezTo>
                  <a:pt x="248" y="1496"/>
                  <a:pt x="56" y="1448"/>
                  <a:pt x="0" y="1488"/>
                </a:cubicBezTo>
              </a:path>
            </a:pathLst>
          </a:custGeom>
          <a:noFill/>
          <a:ln w="508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14" name="组合 67"/>
          <p:cNvGrpSpPr>
            <a:grpSpLocks/>
          </p:cNvGrpSpPr>
          <p:nvPr/>
        </p:nvGrpSpPr>
        <p:grpSpPr bwMode="auto">
          <a:xfrm>
            <a:off x="4934136" y="1529360"/>
            <a:ext cx="3166072" cy="3189172"/>
            <a:chOff x="5148263" y="2880417"/>
            <a:chExt cx="3166072" cy="3189171"/>
          </a:xfrm>
        </p:grpSpPr>
        <p:sp>
          <p:nvSpPr>
            <p:cNvPr id="115" name="Line 68"/>
            <p:cNvSpPr>
              <a:spLocks noChangeShapeType="1"/>
            </p:cNvSpPr>
            <p:nvPr/>
          </p:nvSpPr>
          <p:spPr bwMode="auto">
            <a:xfrm flipV="1">
              <a:off x="5614987" y="5652137"/>
              <a:ext cx="216198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6" name="Line 69"/>
            <p:cNvSpPr>
              <a:spLocks noChangeShapeType="1"/>
            </p:cNvSpPr>
            <p:nvPr/>
          </p:nvSpPr>
          <p:spPr bwMode="auto">
            <a:xfrm flipV="1">
              <a:off x="5624512" y="2963863"/>
              <a:ext cx="0" cy="268446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7" name="Rectangle 72"/>
            <p:cNvSpPr>
              <a:spLocks noChangeArrowheads="1"/>
            </p:cNvSpPr>
            <p:nvPr/>
          </p:nvSpPr>
          <p:spPr bwMode="auto">
            <a:xfrm>
              <a:off x="7235825" y="5589588"/>
              <a:ext cx="863600" cy="457200"/>
            </a:xfrm>
            <a:prstGeom prst="rect">
              <a:avLst/>
            </a:prstGeom>
            <a:noFill/>
            <a:ln w="22225" algn="ctr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118" name="Text Box 86"/>
            <p:cNvSpPr txBox="1">
              <a:spLocks noChangeArrowheads="1"/>
            </p:cNvSpPr>
            <p:nvPr/>
          </p:nvSpPr>
          <p:spPr bwMode="auto">
            <a:xfrm>
              <a:off x="7793038" y="5484813"/>
              <a:ext cx="521297" cy="584775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/</a:t>
              </a:r>
              <a:r>
                <a:rPr lang="en-US" altLang="zh-CN" sz="2400" b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V</a:t>
              </a:r>
            </a:p>
          </p:txBody>
        </p:sp>
        <p:sp>
          <p:nvSpPr>
            <p:cNvPr id="119" name="Text Box 87"/>
            <p:cNvSpPr txBox="1">
              <a:spLocks noChangeArrowheads="1"/>
            </p:cNvSpPr>
            <p:nvPr/>
          </p:nvSpPr>
          <p:spPr bwMode="auto">
            <a:xfrm>
              <a:off x="5675313" y="2880417"/>
              <a:ext cx="10810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4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/</a:t>
              </a:r>
              <a:endParaRPr lang="en-US" altLang="zh-CN" sz="1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0" name="Rectangle 90"/>
            <p:cNvSpPr>
              <a:spLocks noChangeArrowheads="1"/>
            </p:cNvSpPr>
            <p:nvPr/>
          </p:nvSpPr>
          <p:spPr bwMode="auto">
            <a:xfrm>
              <a:off x="6048898" y="2916573"/>
              <a:ext cx="534121" cy="400110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µA</a:t>
              </a:r>
            </a:p>
          </p:txBody>
        </p:sp>
        <p:sp>
          <p:nvSpPr>
            <p:cNvPr id="121" name="Text Box 91"/>
            <p:cNvSpPr txBox="1">
              <a:spLocks noChangeArrowheads="1"/>
            </p:cNvSpPr>
            <p:nvPr/>
          </p:nvSpPr>
          <p:spPr bwMode="auto">
            <a:xfrm>
              <a:off x="5148263" y="5370513"/>
              <a:ext cx="576262" cy="457200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O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 autoUpdateAnimBg="0"/>
      <p:bldP spid="69" grpId="0" autoUpdateAnimBg="0"/>
      <p:bldP spid="1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Text Box 2"/>
          <p:cNvSpPr txBox="1">
            <a:spLocks noChangeArrowheads="1"/>
          </p:cNvSpPr>
          <p:nvPr/>
        </p:nvSpPr>
        <p:spPr bwMode="auto">
          <a:xfrm>
            <a:off x="377508" y="367904"/>
            <a:ext cx="47001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）输出特性</a:t>
            </a:r>
            <a:r>
              <a:rPr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曲线</a:t>
            </a:r>
          </a:p>
        </p:txBody>
      </p:sp>
      <p:sp>
        <p:nvSpPr>
          <p:cNvPr id="79" name="Rectangle 11"/>
          <p:cNvSpPr>
            <a:spLocks noChangeArrowheads="1"/>
          </p:cNvSpPr>
          <p:nvPr/>
        </p:nvSpPr>
        <p:spPr bwMode="auto">
          <a:xfrm>
            <a:off x="6171734" y="2581256"/>
            <a:ext cx="11160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i="1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400" i="1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减小</a:t>
            </a:r>
          </a:p>
        </p:txBody>
      </p:sp>
      <p:sp>
        <p:nvSpPr>
          <p:cNvPr id="80" name="Rectangle 12"/>
          <p:cNvSpPr>
            <a:spLocks noChangeArrowheads="1"/>
          </p:cNvSpPr>
          <p:nvPr/>
        </p:nvSpPr>
        <p:spPr bwMode="auto">
          <a:xfrm>
            <a:off x="6171733" y="1378454"/>
            <a:ext cx="103906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i="1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zh-CN" altLang="en-US" sz="24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增加</a:t>
            </a:r>
          </a:p>
        </p:txBody>
      </p:sp>
      <p:sp>
        <p:nvSpPr>
          <p:cNvPr id="81" name="Rectangle 13"/>
          <p:cNvSpPr>
            <a:spLocks noChangeArrowheads="1"/>
          </p:cNvSpPr>
          <p:nvPr/>
        </p:nvSpPr>
        <p:spPr bwMode="auto">
          <a:xfrm>
            <a:off x="8042816" y="4420813"/>
            <a:ext cx="668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CE</a:t>
            </a:r>
          </a:p>
        </p:txBody>
      </p:sp>
      <p:sp>
        <p:nvSpPr>
          <p:cNvPr id="82" name="Rectangle 14"/>
          <p:cNvSpPr>
            <a:spLocks noChangeArrowheads="1"/>
          </p:cNvSpPr>
          <p:nvPr/>
        </p:nvSpPr>
        <p:spPr bwMode="auto">
          <a:xfrm>
            <a:off x="5275617" y="545726"/>
            <a:ext cx="4235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</a:t>
            </a:r>
          </a:p>
        </p:txBody>
      </p:sp>
      <p:sp>
        <p:nvSpPr>
          <p:cNvPr id="83" name="Line 15"/>
          <p:cNvSpPr>
            <a:spLocks noChangeShapeType="1"/>
          </p:cNvSpPr>
          <p:nvPr/>
        </p:nvSpPr>
        <p:spPr bwMode="auto">
          <a:xfrm flipV="1">
            <a:off x="7225983" y="1285856"/>
            <a:ext cx="0" cy="68580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sz="240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4" name="Line 16"/>
          <p:cNvSpPr>
            <a:spLocks noChangeShapeType="1"/>
          </p:cNvSpPr>
          <p:nvPr/>
        </p:nvSpPr>
        <p:spPr bwMode="auto">
          <a:xfrm>
            <a:off x="7225983" y="2581256"/>
            <a:ext cx="0" cy="60960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sz="240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5" name="Rectangle 17"/>
          <p:cNvSpPr>
            <a:spLocks noChangeArrowheads="1"/>
          </p:cNvSpPr>
          <p:nvPr/>
        </p:nvSpPr>
        <p:spPr bwMode="auto">
          <a:xfrm>
            <a:off x="7297065" y="3430213"/>
            <a:ext cx="15359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 20µA</a:t>
            </a:r>
          </a:p>
        </p:txBody>
      </p:sp>
      <p:sp>
        <p:nvSpPr>
          <p:cNvPr id="86" name="Rectangle 18"/>
          <p:cNvSpPr>
            <a:spLocks noChangeArrowheads="1"/>
          </p:cNvSpPr>
          <p:nvPr/>
        </p:nvSpPr>
        <p:spPr bwMode="auto">
          <a:xfrm>
            <a:off x="7312940" y="1128338"/>
            <a:ext cx="13821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60µA</a:t>
            </a:r>
          </a:p>
        </p:txBody>
      </p:sp>
      <p:sp>
        <p:nvSpPr>
          <p:cNvPr id="87" name="Rectangle 19"/>
          <p:cNvSpPr>
            <a:spLocks noChangeArrowheads="1"/>
          </p:cNvSpPr>
          <p:nvPr/>
        </p:nvSpPr>
        <p:spPr bwMode="auto">
          <a:xfrm>
            <a:off x="7389140" y="2211013"/>
            <a:ext cx="1382110" cy="469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40µA</a:t>
            </a:r>
          </a:p>
        </p:txBody>
      </p:sp>
      <p:grpSp>
        <p:nvGrpSpPr>
          <p:cNvPr id="134" name="组合 75"/>
          <p:cNvGrpSpPr>
            <a:grpSpLocks/>
          </p:cNvGrpSpPr>
          <p:nvPr/>
        </p:nvGrpSpPr>
        <p:grpSpPr bwMode="auto">
          <a:xfrm>
            <a:off x="1269272" y="999098"/>
            <a:ext cx="3360713" cy="660693"/>
            <a:chOff x="4454097" y="1120653"/>
            <a:chExt cx="3360600" cy="661089"/>
          </a:xfrm>
        </p:grpSpPr>
        <p:sp>
          <p:nvSpPr>
            <p:cNvPr id="135" name="Rectangle 4"/>
            <p:cNvSpPr>
              <a:spLocks noChangeArrowheads="1"/>
            </p:cNvSpPr>
            <p:nvPr/>
          </p:nvSpPr>
          <p:spPr bwMode="auto">
            <a:xfrm>
              <a:off x="4454097" y="1120653"/>
              <a:ext cx="2433863" cy="585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= </a:t>
              </a:r>
              <a:r>
                <a:rPr lang="en-US" altLang="zh-CN" sz="2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f</a:t>
              </a:r>
              <a:r>
                <a:rPr lang="en-US" altLang="zh-CN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(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CE</a:t>
              </a:r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) </a:t>
              </a:r>
              <a:r>
                <a:rPr lang="en-US" altLang="zh-CN" sz="32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|</a:t>
              </a:r>
              <a:endPara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6" name="矩形 74"/>
            <p:cNvSpPr>
              <a:spLocks noChangeArrowheads="1"/>
            </p:cNvSpPr>
            <p:nvPr/>
          </p:nvSpPr>
          <p:spPr bwMode="auto">
            <a:xfrm>
              <a:off x="6371722" y="1319801"/>
              <a:ext cx="1442975" cy="4619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=  </a:t>
              </a:r>
              <a:r>
                <a:rPr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常数</a:t>
              </a:r>
            </a:p>
          </p:txBody>
        </p:sp>
      </p:grpSp>
      <p:grpSp>
        <p:nvGrpSpPr>
          <p:cNvPr id="137" name="Group 88"/>
          <p:cNvGrpSpPr>
            <a:grpSpLocks/>
          </p:cNvGrpSpPr>
          <p:nvPr/>
        </p:nvGrpSpPr>
        <p:grpSpPr bwMode="auto">
          <a:xfrm>
            <a:off x="630425" y="1725930"/>
            <a:ext cx="4294187" cy="3119691"/>
            <a:chOff x="431" y="1525"/>
            <a:chExt cx="2705" cy="2083"/>
          </a:xfrm>
        </p:grpSpPr>
        <p:sp>
          <p:nvSpPr>
            <p:cNvPr id="138" name="Line 20"/>
            <p:cNvSpPr>
              <a:spLocks noChangeShapeType="1"/>
            </p:cNvSpPr>
            <p:nvPr/>
          </p:nvSpPr>
          <p:spPr bwMode="auto">
            <a:xfrm>
              <a:off x="1610" y="2745"/>
              <a:ext cx="0" cy="316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9" name="Text Box 21"/>
            <p:cNvSpPr txBox="1">
              <a:spLocks noChangeArrowheads="1"/>
            </p:cNvSpPr>
            <p:nvPr/>
          </p:nvSpPr>
          <p:spPr bwMode="auto">
            <a:xfrm>
              <a:off x="1656" y="2703"/>
              <a:ext cx="336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40" name="Text Box 22"/>
            <p:cNvSpPr txBox="1">
              <a:spLocks noChangeArrowheads="1"/>
            </p:cNvSpPr>
            <p:nvPr/>
          </p:nvSpPr>
          <p:spPr bwMode="auto">
            <a:xfrm>
              <a:off x="664" y="1920"/>
              <a:ext cx="336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41" name="Text Box 23"/>
            <p:cNvSpPr txBox="1">
              <a:spLocks noChangeArrowheads="1"/>
            </p:cNvSpPr>
            <p:nvPr/>
          </p:nvSpPr>
          <p:spPr bwMode="auto">
            <a:xfrm>
              <a:off x="658" y="2618"/>
              <a:ext cx="394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42" name="Text Box 24"/>
            <p:cNvSpPr txBox="1">
              <a:spLocks noChangeArrowheads="1"/>
            </p:cNvSpPr>
            <p:nvPr/>
          </p:nvSpPr>
          <p:spPr bwMode="auto">
            <a:xfrm>
              <a:off x="659" y="3101"/>
              <a:ext cx="384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43" name="Line 25"/>
            <p:cNvSpPr>
              <a:spLocks noChangeShapeType="1"/>
            </p:cNvSpPr>
            <p:nvPr/>
          </p:nvSpPr>
          <p:spPr bwMode="auto">
            <a:xfrm>
              <a:off x="1565" y="1616"/>
              <a:ext cx="0" cy="22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4" name="Text Box 26"/>
            <p:cNvSpPr txBox="1">
              <a:spLocks noChangeArrowheads="1"/>
            </p:cNvSpPr>
            <p:nvPr/>
          </p:nvSpPr>
          <p:spPr bwMode="auto">
            <a:xfrm>
              <a:off x="1610" y="1525"/>
              <a:ext cx="336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45" name="Text Box 27"/>
            <p:cNvSpPr txBox="1">
              <a:spLocks noChangeArrowheads="1"/>
            </p:cNvSpPr>
            <p:nvPr/>
          </p:nvSpPr>
          <p:spPr bwMode="auto">
            <a:xfrm>
              <a:off x="2608" y="2523"/>
              <a:ext cx="528" cy="3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146" name="Line 29"/>
            <p:cNvSpPr>
              <a:spLocks noChangeShapeType="1"/>
            </p:cNvSpPr>
            <p:nvPr/>
          </p:nvSpPr>
          <p:spPr bwMode="auto">
            <a:xfrm>
              <a:off x="658" y="2219"/>
              <a:ext cx="336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7" name="Line 30"/>
            <p:cNvSpPr>
              <a:spLocks noChangeShapeType="1"/>
            </p:cNvSpPr>
            <p:nvPr/>
          </p:nvSpPr>
          <p:spPr bwMode="auto">
            <a:xfrm>
              <a:off x="1295" y="2104"/>
              <a:ext cx="0" cy="3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8" name="Line 31"/>
            <p:cNvSpPr>
              <a:spLocks noChangeShapeType="1"/>
            </p:cNvSpPr>
            <p:nvPr/>
          </p:nvSpPr>
          <p:spPr bwMode="auto">
            <a:xfrm flipV="1">
              <a:off x="1295" y="2059"/>
              <a:ext cx="192" cy="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9" name="Line 32"/>
            <p:cNvSpPr>
              <a:spLocks noChangeShapeType="1"/>
            </p:cNvSpPr>
            <p:nvPr/>
          </p:nvSpPr>
          <p:spPr bwMode="auto">
            <a:xfrm>
              <a:off x="1293" y="2324"/>
              <a:ext cx="272" cy="1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0" name="Line 33"/>
            <p:cNvSpPr>
              <a:spLocks noChangeShapeType="1"/>
            </p:cNvSpPr>
            <p:nvPr/>
          </p:nvSpPr>
          <p:spPr bwMode="auto">
            <a:xfrm>
              <a:off x="1487" y="1525"/>
              <a:ext cx="0" cy="53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1" name="Line 34"/>
            <p:cNvSpPr>
              <a:spLocks noChangeShapeType="1"/>
            </p:cNvSpPr>
            <p:nvPr/>
          </p:nvSpPr>
          <p:spPr bwMode="auto">
            <a:xfrm>
              <a:off x="1535" y="2460"/>
              <a:ext cx="0" cy="11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2" name="Line 35"/>
            <p:cNvSpPr>
              <a:spLocks noChangeShapeType="1"/>
            </p:cNvSpPr>
            <p:nvPr/>
          </p:nvSpPr>
          <p:spPr bwMode="auto">
            <a:xfrm>
              <a:off x="575" y="2282"/>
              <a:ext cx="7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3" name="Line 36"/>
            <p:cNvSpPr>
              <a:spLocks noChangeShapeType="1"/>
            </p:cNvSpPr>
            <p:nvPr/>
          </p:nvSpPr>
          <p:spPr bwMode="auto">
            <a:xfrm>
              <a:off x="575" y="2282"/>
              <a:ext cx="0" cy="8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4" name="Line 37"/>
            <p:cNvSpPr>
              <a:spLocks noChangeShapeType="1"/>
            </p:cNvSpPr>
            <p:nvPr/>
          </p:nvSpPr>
          <p:spPr bwMode="auto">
            <a:xfrm>
              <a:off x="431" y="317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5" name="Line 38"/>
            <p:cNvSpPr>
              <a:spLocks noChangeShapeType="1"/>
            </p:cNvSpPr>
            <p:nvPr/>
          </p:nvSpPr>
          <p:spPr bwMode="auto">
            <a:xfrm flipV="1">
              <a:off x="509" y="321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6" name="Line 39"/>
            <p:cNvSpPr>
              <a:spLocks noChangeShapeType="1"/>
            </p:cNvSpPr>
            <p:nvPr/>
          </p:nvSpPr>
          <p:spPr bwMode="auto">
            <a:xfrm flipH="1">
              <a:off x="576" y="3227"/>
              <a:ext cx="0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7" name="Line 40"/>
            <p:cNvSpPr>
              <a:spLocks noChangeShapeType="1"/>
            </p:cNvSpPr>
            <p:nvPr/>
          </p:nvSpPr>
          <p:spPr bwMode="auto">
            <a:xfrm>
              <a:off x="1442" y="3605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8" name="Line 41"/>
            <p:cNvSpPr>
              <a:spLocks noChangeShapeType="1"/>
            </p:cNvSpPr>
            <p:nvPr/>
          </p:nvSpPr>
          <p:spPr bwMode="auto">
            <a:xfrm>
              <a:off x="569" y="3452"/>
              <a:ext cx="20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9" name="Line 42"/>
            <p:cNvSpPr>
              <a:spLocks noChangeShapeType="1"/>
            </p:cNvSpPr>
            <p:nvPr/>
          </p:nvSpPr>
          <p:spPr bwMode="auto">
            <a:xfrm>
              <a:off x="1487" y="1525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0" name="Line 43"/>
            <p:cNvSpPr>
              <a:spLocks noChangeShapeType="1"/>
            </p:cNvSpPr>
            <p:nvPr/>
          </p:nvSpPr>
          <p:spPr bwMode="auto">
            <a:xfrm>
              <a:off x="2591" y="1525"/>
              <a:ext cx="0" cy="8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1" name="Line 44"/>
            <p:cNvSpPr>
              <a:spLocks noChangeShapeType="1"/>
            </p:cNvSpPr>
            <p:nvPr/>
          </p:nvSpPr>
          <p:spPr bwMode="auto">
            <a:xfrm>
              <a:off x="2591" y="2549"/>
              <a:ext cx="0" cy="9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2" name="Line 45"/>
            <p:cNvSpPr>
              <a:spLocks noChangeShapeType="1"/>
            </p:cNvSpPr>
            <p:nvPr/>
          </p:nvSpPr>
          <p:spPr bwMode="auto">
            <a:xfrm>
              <a:off x="2399" y="2415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3" name="Line 46"/>
            <p:cNvSpPr>
              <a:spLocks noChangeShapeType="1"/>
            </p:cNvSpPr>
            <p:nvPr/>
          </p:nvSpPr>
          <p:spPr bwMode="auto">
            <a:xfrm>
              <a:off x="2447" y="246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4" name="Line 47"/>
            <p:cNvSpPr>
              <a:spLocks noChangeShapeType="1"/>
            </p:cNvSpPr>
            <p:nvPr/>
          </p:nvSpPr>
          <p:spPr bwMode="auto">
            <a:xfrm>
              <a:off x="2399" y="2504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5" name="Line 48"/>
            <p:cNvSpPr>
              <a:spLocks noChangeShapeType="1"/>
            </p:cNvSpPr>
            <p:nvPr/>
          </p:nvSpPr>
          <p:spPr bwMode="auto">
            <a:xfrm>
              <a:off x="2495" y="2549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6" name="Oval 49"/>
            <p:cNvSpPr>
              <a:spLocks noChangeArrowheads="1"/>
            </p:cNvSpPr>
            <p:nvPr/>
          </p:nvSpPr>
          <p:spPr bwMode="auto">
            <a:xfrm>
              <a:off x="1505" y="3414"/>
              <a:ext cx="68" cy="7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7" name="Line 50"/>
            <p:cNvSpPr>
              <a:spLocks noChangeShapeType="1"/>
            </p:cNvSpPr>
            <p:nvPr/>
          </p:nvSpPr>
          <p:spPr bwMode="auto">
            <a:xfrm>
              <a:off x="575" y="2371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8" name="Line 51"/>
            <p:cNvSpPr>
              <a:spLocks noChangeShapeType="1"/>
            </p:cNvSpPr>
            <p:nvPr/>
          </p:nvSpPr>
          <p:spPr bwMode="auto">
            <a:xfrm>
              <a:off x="815" y="2371"/>
              <a:ext cx="0" cy="1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9" name="Line 52"/>
            <p:cNvSpPr>
              <a:spLocks noChangeShapeType="1"/>
            </p:cNvSpPr>
            <p:nvPr/>
          </p:nvSpPr>
          <p:spPr bwMode="auto">
            <a:xfrm flipH="1">
              <a:off x="623" y="2549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0" name="Rectangle 53"/>
            <p:cNvSpPr>
              <a:spLocks noChangeArrowheads="1"/>
            </p:cNvSpPr>
            <p:nvPr/>
          </p:nvSpPr>
          <p:spPr bwMode="auto">
            <a:xfrm>
              <a:off x="2517" y="1861"/>
              <a:ext cx="136" cy="324"/>
            </a:xfrm>
            <a:prstGeom prst="rect">
              <a:avLst/>
            </a:prstGeom>
            <a:gradFill rotWithShape="1">
              <a:gsLst>
                <a:gs pos="0">
                  <a:srgbClr val="765E2F"/>
                </a:gs>
                <a:gs pos="50000">
                  <a:srgbClr val="FFCC66"/>
                </a:gs>
                <a:gs pos="100000">
                  <a:srgbClr val="765E2F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1" name="Rectangle 54"/>
            <p:cNvSpPr>
              <a:spLocks noChangeArrowheads="1"/>
            </p:cNvSpPr>
            <p:nvPr/>
          </p:nvSpPr>
          <p:spPr bwMode="auto">
            <a:xfrm>
              <a:off x="499" y="2450"/>
              <a:ext cx="136" cy="252"/>
            </a:xfrm>
            <a:prstGeom prst="rect">
              <a:avLst/>
            </a:prstGeom>
            <a:gradFill rotWithShape="1">
              <a:gsLst>
                <a:gs pos="0">
                  <a:srgbClr val="765E2F"/>
                </a:gs>
                <a:gs pos="50000">
                  <a:srgbClr val="FFCC66"/>
                </a:gs>
                <a:gs pos="100000">
                  <a:srgbClr val="765E2F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2" name="Rectangle 55"/>
            <p:cNvSpPr>
              <a:spLocks noChangeArrowheads="1"/>
            </p:cNvSpPr>
            <p:nvPr/>
          </p:nvSpPr>
          <p:spPr bwMode="auto">
            <a:xfrm>
              <a:off x="499" y="2829"/>
              <a:ext cx="136" cy="252"/>
            </a:xfrm>
            <a:prstGeom prst="rect">
              <a:avLst/>
            </a:prstGeom>
            <a:gradFill rotWithShape="1">
              <a:gsLst>
                <a:gs pos="0">
                  <a:srgbClr val="765E2F"/>
                </a:gs>
                <a:gs pos="50000">
                  <a:srgbClr val="FFCC66"/>
                </a:gs>
                <a:gs pos="100000">
                  <a:srgbClr val="765E2F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3" name="Text Box 56"/>
            <p:cNvSpPr txBox="1">
              <a:spLocks noChangeArrowheads="1"/>
            </p:cNvSpPr>
            <p:nvPr/>
          </p:nvSpPr>
          <p:spPr bwMode="auto">
            <a:xfrm>
              <a:off x="2608" y="1888"/>
              <a:ext cx="394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74" name="Rectangle 58"/>
            <p:cNvSpPr>
              <a:spLocks noChangeArrowheads="1"/>
            </p:cNvSpPr>
            <p:nvPr/>
          </p:nvSpPr>
          <p:spPr bwMode="auto">
            <a:xfrm>
              <a:off x="930" y="2271"/>
              <a:ext cx="276" cy="265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＋</a:t>
              </a:r>
            </a:p>
          </p:txBody>
        </p:sp>
        <p:sp>
          <p:nvSpPr>
            <p:cNvPr id="175" name="Rectangle 59"/>
            <p:cNvSpPr>
              <a:spLocks noChangeArrowheads="1"/>
            </p:cNvSpPr>
            <p:nvPr/>
          </p:nvSpPr>
          <p:spPr bwMode="auto">
            <a:xfrm>
              <a:off x="1247" y="2849"/>
              <a:ext cx="170" cy="26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-</a:t>
              </a:r>
            </a:p>
          </p:txBody>
        </p:sp>
        <p:sp>
          <p:nvSpPr>
            <p:cNvPr id="176" name="Rectangle 60"/>
            <p:cNvSpPr>
              <a:spLocks noChangeArrowheads="1"/>
            </p:cNvSpPr>
            <p:nvPr/>
          </p:nvSpPr>
          <p:spPr bwMode="auto">
            <a:xfrm>
              <a:off x="1565" y="2440"/>
              <a:ext cx="170" cy="26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-</a:t>
              </a:r>
            </a:p>
          </p:txBody>
        </p:sp>
        <p:sp>
          <p:nvSpPr>
            <p:cNvPr id="177" name="Rectangle 62"/>
            <p:cNvSpPr>
              <a:spLocks noChangeArrowheads="1"/>
            </p:cNvSpPr>
            <p:nvPr/>
          </p:nvSpPr>
          <p:spPr bwMode="auto">
            <a:xfrm>
              <a:off x="1519" y="1888"/>
              <a:ext cx="278" cy="26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＋</a:t>
              </a:r>
            </a:p>
          </p:txBody>
        </p:sp>
        <p:sp>
          <p:nvSpPr>
            <p:cNvPr id="178" name="Rectangle 64"/>
            <p:cNvSpPr>
              <a:spLocks noChangeArrowheads="1"/>
            </p:cNvSpPr>
            <p:nvPr/>
          </p:nvSpPr>
          <p:spPr bwMode="auto">
            <a:xfrm>
              <a:off x="1066" y="2523"/>
              <a:ext cx="421" cy="308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179" name="Rectangle 66"/>
            <p:cNvSpPr>
              <a:spLocks noChangeArrowheads="1"/>
            </p:cNvSpPr>
            <p:nvPr/>
          </p:nvSpPr>
          <p:spPr bwMode="auto">
            <a:xfrm>
              <a:off x="1519" y="2115"/>
              <a:ext cx="421" cy="308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CE</a:t>
              </a:r>
            </a:p>
          </p:txBody>
        </p:sp>
      </p:grpSp>
      <p:grpSp>
        <p:nvGrpSpPr>
          <p:cNvPr id="202" name="组合 201"/>
          <p:cNvGrpSpPr/>
          <p:nvPr/>
        </p:nvGrpSpPr>
        <p:grpSpPr>
          <a:xfrm>
            <a:off x="5306320" y="3379413"/>
            <a:ext cx="2633664" cy="200026"/>
            <a:chOff x="5381624" y="3271837"/>
            <a:chExt cx="2633664" cy="200026"/>
          </a:xfrm>
        </p:grpSpPr>
        <p:sp>
          <p:nvSpPr>
            <p:cNvPr id="182" name="任意多边形 181"/>
            <p:cNvSpPr/>
            <p:nvPr/>
          </p:nvSpPr>
          <p:spPr>
            <a:xfrm>
              <a:off x="5381624" y="3309938"/>
              <a:ext cx="200025" cy="161925"/>
            </a:xfrm>
            <a:custGeom>
              <a:avLst/>
              <a:gdLst>
                <a:gd name="connsiteX0" fmla="*/ 0 w 209550"/>
                <a:gd name="connsiteY0" fmla="*/ 161925 h 161925"/>
                <a:gd name="connsiteX1" fmla="*/ 47625 w 209550"/>
                <a:gd name="connsiteY1" fmla="*/ 47625 h 161925"/>
                <a:gd name="connsiteX2" fmla="*/ 209550 w 209550"/>
                <a:gd name="connsiteY2" fmla="*/ 0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9550" h="161925">
                  <a:moveTo>
                    <a:pt x="0" y="161925"/>
                  </a:moveTo>
                  <a:cubicBezTo>
                    <a:pt x="6350" y="118269"/>
                    <a:pt x="12700" y="74613"/>
                    <a:pt x="47625" y="47625"/>
                  </a:cubicBezTo>
                  <a:cubicBezTo>
                    <a:pt x="82550" y="20638"/>
                    <a:pt x="146050" y="10319"/>
                    <a:pt x="209550" y="0"/>
                  </a:cubicBezTo>
                </a:path>
              </a:pathLst>
            </a:cu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cxnSp>
          <p:nvCxnSpPr>
            <p:cNvPr id="184" name="直接连接符 183"/>
            <p:cNvCxnSpPr/>
            <p:nvPr/>
          </p:nvCxnSpPr>
          <p:spPr>
            <a:xfrm flipV="1">
              <a:off x="5567363" y="3271837"/>
              <a:ext cx="2447925" cy="381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组合 71"/>
          <p:cNvGrpSpPr/>
          <p:nvPr/>
        </p:nvGrpSpPr>
        <p:grpSpPr>
          <a:xfrm>
            <a:off x="5192021" y="2145926"/>
            <a:ext cx="2847975" cy="2300290"/>
            <a:chOff x="5192021" y="2145926"/>
            <a:chExt cx="2847975" cy="2300290"/>
          </a:xfrm>
        </p:grpSpPr>
        <p:cxnSp>
          <p:nvCxnSpPr>
            <p:cNvPr id="188" name="直接连接符 187"/>
            <p:cNvCxnSpPr/>
            <p:nvPr/>
          </p:nvCxnSpPr>
          <p:spPr>
            <a:xfrm rot="5400000" flipH="1" flipV="1">
              <a:off x="4332389" y="3338934"/>
              <a:ext cx="1966914" cy="247649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1" name="组合 200"/>
            <p:cNvGrpSpPr/>
            <p:nvPr/>
          </p:nvGrpSpPr>
          <p:grpSpPr>
            <a:xfrm>
              <a:off x="5439671" y="2145926"/>
              <a:ext cx="2600325" cy="333375"/>
              <a:chOff x="5514975" y="2038350"/>
              <a:chExt cx="2600325" cy="333375"/>
            </a:xfrm>
          </p:grpSpPr>
          <p:sp>
            <p:nvSpPr>
              <p:cNvPr id="190" name="任意多边形 189"/>
              <p:cNvSpPr/>
              <p:nvPr/>
            </p:nvSpPr>
            <p:spPr>
              <a:xfrm>
                <a:off x="5514975" y="2128838"/>
                <a:ext cx="376238" cy="242887"/>
              </a:xfrm>
              <a:custGeom>
                <a:avLst/>
                <a:gdLst>
                  <a:gd name="connsiteX0" fmla="*/ 0 w 376238"/>
                  <a:gd name="connsiteY0" fmla="*/ 242887 h 242887"/>
                  <a:gd name="connsiteX1" fmla="*/ 128588 w 376238"/>
                  <a:gd name="connsiteY1" fmla="*/ 76200 h 242887"/>
                  <a:gd name="connsiteX2" fmla="*/ 376238 w 376238"/>
                  <a:gd name="connsiteY2" fmla="*/ 0 h 242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238" h="242887">
                    <a:moveTo>
                      <a:pt x="0" y="242887"/>
                    </a:moveTo>
                    <a:cubicBezTo>
                      <a:pt x="32941" y="179784"/>
                      <a:pt x="65882" y="116681"/>
                      <a:pt x="128588" y="76200"/>
                    </a:cubicBezTo>
                    <a:cubicBezTo>
                      <a:pt x="191294" y="35719"/>
                      <a:pt x="283766" y="17859"/>
                      <a:pt x="376238" y="0"/>
                    </a:cubicBezTo>
                  </a:path>
                </a:pathLst>
              </a:cu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92" name="直接连接符 191"/>
              <p:cNvCxnSpPr>
                <a:stCxn id="190" idx="2"/>
              </p:cNvCxnSpPr>
              <p:nvPr/>
            </p:nvCxnSpPr>
            <p:spPr>
              <a:xfrm flipV="1">
                <a:off x="5891213" y="2038350"/>
                <a:ext cx="2224087" cy="904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0" name="组合 199"/>
          <p:cNvGrpSpPr/>
          <p:nvPr/>
        </p:nvGrpSpPr>
        <p:grpSpPr>
          <a:xfrm>
            <a:off x="5440567" y="1098176"/>
            <a:ext cx="2666104" cy="1393451"/>
            <a:chOff x="5515871" y="990600"/>
            <a:chExt cx="2666104" cy="1393451"/>
          </a:xfrm>
        </p:grpSpPr>
        <p:cxnSp>
          <p:nvCxnSpPr>
            <p:cNvPr id="196" name="直接连接符 195"/>
            <p:cNvCxnSpPr/>
            <p:nvPr/>
          </p:nvCxnSpPr>
          <p:spPr>
            <a:xfrm flipV="1">
              <a:off x="5515871" y="1312489"/>
              <a:ext cx="176213" cy="107156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任意多边形 197"/>
            <p:cNvSpPr/>
            <p:nvPr/>
          </p:nvSpPr>
          <p:spPr>
            <a:xfrm>
              <a:off x="5686425" y="1076325"/>
              <a:ext cx="280988" cy="238125"/>
            </a:xfrm>
            <a:custGeom>
              <a:avLst/>
              <a:gdLst>
                <a:gd name="connsiteX0" fmla="*/ 0 w 376238"/>
                <a:gd name="connsiteY0" fmla="*/ 242887 h 242887"/>
                <a:gd name="connsiteX1" fmla="*/ 128588 w 376238"/>
                <a:gd name="connsiteY1" fmla="*/ 76200 h 242887"/>
                <a:gd name="connsiteX2" fmla="*/ 376238 w 376238"/>
                <a:gd name="connsiteY2" fmla="*/ 0 h 242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238" h="242887">
                  <a:moveTo>
                    <a:pt x="0" y="242887"/>
                  </a:moveTo>
                  <a:cubicBezTo>
                    <a:pt x="32941" y="179784"/>
                    <a:pt x="65882" y="116681"/>
                    <a:pt x="128588" y="76200"/>
                  </a:cubicBezTo>
                  <a:cubicBezTo>
                    <a:pt x="191294" y="35719"/>
                    <a:pt x="283766" y="17859"/>
                    <a:pt x="376238" y="0"/>
                  </a:cubicBezTo>
                </a:path>
              </a:pathLst>
            </a:cu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>
            <a:xfrm flipV="1">
              <a:off x="5957888" y="990600"/>
              <a:ext cx="2224087" cy="904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组合 70"/>
          <p:cNvGrpSpPr/>
          <p:nvPr/>
        </p:nvGrpSpPr>
        <p:grpSpPr>
          <a:xfrm>
            <a:off x="5182496" y="793376"/>
            <a:ext cx="3203034" cy="3660774"/>
            <a:chOff x="5182496" y="793376"/>
            <a:chExt cx="3203034" cy="3660774"/>
          </a:xfrm>
        </p:grpSpPr>
        <p:cxnSp>
          <p:nvCxnSpPr>
            <p:cNvPr id="204" name="直接箭头连接符 203"/>
            <p:cNvCxnSpPr/>
            <p:nvPr/>
          </p:nvCxnSpPr>
          <p:spPr>
            <a:xfrm flipV="1">
              <a:off x="5182496" y="4449388"/>
              <a:ext cx="320303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箭头连接符 204"/>
            <p:cNvCxnSpPr/>
            <p:nvPr/>
          </p:nvCxnSpPr>
          <p:spPr>
            <a:xfrm rot="5400000" flipH="1" flipV="1">
              <a:off x="3361634" y="2623763"/>
              <a:ext cx="366077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utoUpdateAnimBg="0"/>
      <p:bldP spid="80" grpId="0" autoUpdateAnimBg="0"/>
      <p:bldP spid="81" grpId="0" autoUpdateAnimBg="0"/>
      <p:bldP spid="82" grpId="0" autoUpdateAnimBg="0"/>
      <p:bldP spid="83" grpId="0" animBg="1"/>
      <p:bldP spid="84" grpId="0" animBg="1"/>
      <p:bldP spid="85" grpId="0" autoUpdateAnimBg="0"/>
      <p:bldP spid="86" grpId="0" autoUpdateAnimBg="0"/>
      <p:bldP spid="8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组合 190"/>
          <p:cNvGrpSpPr/>
          <p:nvPr/>
        </p:nvGrpSpPr>
        <p:grpSpPr>
          <a:xfrm>
            <a:off x="3944001" y="1171351"/>
            <a:ext cx="4575936" cy="3762829"/>
            <a:chOff x="3944001" y="1171351"/>
            <a:chExt cx="4575936" cy="3762829"/>
          </a:xfrm>
        </p:grpSpPr>
        <p:sp>
          <p:nvSpPr>
            <p:cNvPr id="164" name="Rectangle 13"/>
            <p:cNvSpPr>
              <a:spLocks noChangeArrowheads="1"/>
            </p:cNvSpPr>
            <p:nvPr/>
          </p:nvSpPr>
          <p:spPr bwMode="auto">
            <a:xfrm>
              <a:off x="7292632" y="4472515"/>
              <a:ext cx="66877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165" name="Rectangle 14"/>
            <p:cNvSpPr>
              <a:spLocks noChangeArrowheads="1"/>
            </p:cNvSpPr>
            <p:nvPr/>
          </p:nvSpPr>
          <p:spPr bwMode="auto">
            <a:xfrm>
              <a:off x="3944001" y="1194801"/>
              <a:ext cx="42351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68" name="Rectangle 17"/>
            <p:cNvSpPr>
              <a:spLocks noChangeArrowheads="1"/>
            </p:cNvSpPr>
            <p:nvPr/>
          </p:nvSpPr>
          <p:spPr bwMode="auto">
            <a:xfrm>
              <a:off x="7192080" y="3529612"/>
              <a:ext cx="111761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=20µA</a:t>
              </a:r>
              <a:endPara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9" name="Rectangle 18"/>
            <p:cNvSpPr>
              <a:spLocks noChangeArrowheads="1"/>
            </p:cNvSpPr>
            <p:nvPr/>
          </p:nvSpPr>
          <p:spPr bwMode="auto">
            <a:xfrm>
              <a:off x="7262522" y="1316908"/>
              <a:ext cx="118173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0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000" b="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lang="en-US" altLang="zh-CN" sz="2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80µA</a:t>
              </a:r>
              <a:endPara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0" name="Rectangle 19"/>
            <p:cNvSpPr>
              <a:spLocks noChangeArrowheads="1"/>
            </p:cNvSpPr>
            <p:nvPr/>
          </p:nvSpPr>
          <p:spPr bwMode="auto">
            <a:xfrm>
              <a:off x="7338203" y="2003235"/>
              <a:ext cx="1181734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110000"/>
                </a:lnSpc>
              </a:pPr>
              <a:r>
                <a:rPr lang="en-US" altLang="zh-CN" sz="20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0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000" b="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lang="en-US" altLang="zh-CN" sz="2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60µA</a:t>
              </a:r>
              <a:endPara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71" name="组合 170"/>
            <p:cNvGrpSpPr/>
            <p:nvPr/>
          </p:nvGrpSpPr>
          <p:grpSpPr>
            <a:xfrm>
              <a:off x="4519613" y="3695520"/>
              <a:ext cx="2626120" cy="200026"/>
              <a:chOff x="5389168" y="3271837"/>
              <a:chExt cx="2626120" cy="200026"/>
            </a:xfrm>
          </p:grpSpPr>
          <p:sp>
            <p:nvSpPr>
              <p:cNvPr id="172" name="任意多边形 171"/>
              <p:cNvSpPr/>
              <p:nvPr/>
            </p:nvSpPr>
            <p:spPr>
              <a:xfrm>
                <a:off x="5389168" y="3309938"/>
                <a:ext cx="192481" cy="161925"/>
              </a:xfrm>
              <a:custGeom>
                <a:avLst/>
                <a:gdLst>
                  <a:gd name="connsiteX0" fmla="*/ 0 w 209550"/>
                  <a:gd name="connsiteY0" fmla="*/ 161925 h 161925"/>
                  <a:gd name="connsiteX1" fmla="*/ 47625 w 209550"/>
                  <a:gd name="connsiteY1" fmla="*/ 47625 h 161925"/>
                  <a:gd name="connsiteX2" fmla="*/ 209550 w 209550"/>
                  <a:gd name="connsiteY2" fmla="*/ 0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550" h="161925">
                    <a:moveTo>
                      <a:pt x="0" y="161925"/>
                    </a:moveTo>
                    <a:cubicBezTo>
                      <a:pt x="6350" y="118269"/>
                      <a:pt x="12700" y="74613"/>
                      <a:pt x="47625" y="47625"/>
                    </a:cubicBezTo>
                    <a:cubicBezTo>
                      <a:pt x="82550" y="20638"/>
                      <a:pt x="146050" y="10319"/>
                      <a:pt x="209550" y="0"/>
                    </a:cubicBezTo>
                  </a:path>
                </a:pathLst>
              </a:cu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73" name="直接连接符 172"/>
              <p:cNvCxnSpPr/>
              <p:nvPr/>
            </p:nvCxnSpPr>
            <p:spPr>
              <a:xfrm flipV="1">
                <a:off x="5567363" y="3271837"/>
                <a:ext cx="2447925" cy="381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4" name="组合 173"/>
            <p:cNvGrpSpPr/>
            <p:nvPr/>
          </p:nvGrpSpPr>
          <p:grpSpPr>
            <a:xfrm>
              <a:off x="4441837" y="2197628"/>
              <a:ext cx="2847975" cy="2300290"/>
              <a:chOff x="5192021" y="2145926"/>
              <a:chExt cx="2847975" cy="2300290"/>
            </a:xfrm>
          </p:grpSpPr>
          <p:cxnSp>
            <p:nvCxnSpPr>
              <p:cNvPr id="175" name="直接连接符 174"/>
              <p:cNvCxnSpPr/>
              <p:nvPr/>
            </p:nvCxnSpPr>
            <p:spPr>
              <a:xfrm rot="5400000" flipH="1" flipV="1">
                <a:off x="4332389" y="3338934"/>
                <a:ext cx="1966914" cy="247649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组合 200"/>
              <p:cNvGrpSpPr/>
              <p:nvPr/>
            </p:nvGrpSpPr>
            <p:grpSpPr>
              <a:xfrm>
                <a:off x="5439671" y="2145926"/>
                <a:ext cx="2600325" cy="333375"/>
                <a:chOff x="5514975" y="2038350"/>
                <a:chExt cx="2600325" cy="333375"/>
              </a:xfrm>
            </p:grpSpPr>
            <p:sp>
              <p:nvSpPr>
                <p:cNvPr id="177" name="任意多边形 176"/>
                <p:cNvSpPr/>
                <p:nvPr/>
              </p:nvSpPr>
              <p:spPr>
                <a:xfrm>
                  <a:off x="5514975" y="2128838"/>
                  <a:ext cx="376238" cy="242887"/>
                </a:xfrm>
                <a:custGeom>
                  <a:avLst/>
                  <a:gdLst>
                    <a:gd name="connsiteX0" fmla="*/ 0 w 376238"/>
                    <a:gd name="connsiteY0" fmla="*/ 242887 h 242887"/>
                    <a:gd name="connsiteX1" fmla="*/ 128588 w 376238"/>
                    <a:gd name="connsiteY1" fmla="*/ 76200 h 242887"/>
                    <a:gd name="connsiteX2" fmla="*/ 376238 w 376238"/>
                    <a:gd name="connsiteY2" fmla="*/ 0 h 242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76238" h="242887">
                      <a:moveTo>
                        <a:pt x="0" y="242887"/>
                      </a:moveTo>
                      <a:cubicBezTo>
                        <a:pt x="32941" y="179784"/>
                        <a:pt x="65882" y="116681"/>
                        <a:pt x="128588" y="76200"/>
                      </a:cubicBezTo>
                      <a:cubicBezTo>
                        <a:pt x="191294" y="35719"/>
                        <a:pt x="283766" y="17859"/>
                        <a:pt x="376238" y="0"/>
                      </a:cubicBezTo>
                    </a:path>
                  </a:pathLst>
                </a:cu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178" name="直接连接符 177"/>
                <p:cNvCxnSpPr>
                  <a:stCxn id="177" idx="2"/>
                </p:cNvCxnSpPr>
                <p:nvPr/>
              </p:nvCxnSpPr>
              <p:spPr>
                <a:xfrm flipV="1">
                  <a:off x="5891213" y="2038350"/>
                  <a:ext cx="2224087" cy="904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9" name="组合 178"/>
            <p:cNvGrpSpPr/>
            <p:nvPr/>
          </p:nvGrpSpPr>
          <p:grpSpPr>
            <a:xfrm>
              <a:off x="4652963" y="1476260"/>
              <a:ext cx="2648440" cy="1352666"/>
              <a:chOff x="5533535" y="990600"/>
              <a:chExt cx="2648440" cy="1370278"/>
            </a:xfrm>
          </p:grpSpPr>
          <p:cxnSp>
            <p:nvCxnSpPr>
              <p:cNvPr id="180" name="直接连接符 179"/>
              <p:cNvCxnSpPr/>
              <p:nvPr/>
            </p:nvCxnSpPr>
            <p:spPr>
              <a:xfrm rot="5400000" flipH="1" flipV="1">
                <a:off x="5088616" y="1757410"/>
                <a:ext cx="1048387" cy="158549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任意多边形 180"/>
              <p:cNvSpPr/>
              <p:nvPr/>
            </p:nvSpPr>
            <p:spPr>
              <a:xfrm>
                <a:off x="5686425" y="1076325"/>
                <a:ext cx="280988" cy="238125"/>
              </a:xfrm>
              <a:custGeom>
                <a:avLst/>
                <a:gdLst>
                  <a:gd name="connsiteX0" fmla="*/ 0 w 376238"/>
                  <a:gd name="connsiteY0" fmla="*/ 242887 h 242887"/>
                  <a:gd name="connsiteX1" fmla="*/ 128588 w 376238"/>
                  <a:gd name="connsiteY1" fmla="*/ 76200 h 242887"/>
                  <a:gd name="connsiteX2" fmla="*/ 376238 w 376238"/>
                  <a:gd name="connsiteY2" fmla="*/ 0 h 242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238" h="242887">
                    <a:moveTo>
                      <a:pt x="0" y="242887"/>
                    </a:moveTo>
                    <a:cubicBezTo>
                      <a:pt x="32941" y="179784"/>
                      <a:pt x="65882" y="116681"/>
                      <a:pt x="128588" y="76200"/>
                    </a:cubicBezTo>
                    <a:cubicBezTo>
                      <a:pt x="191294" y="35719"/>
                      <a:pt x="283766" y="17859"/>
                      <a:pt x="376238" y="0"/>
                    </a:cubicBezTo>
                  </a:path>
                </a:pathLst>
              </a:cu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82" name="直接连接符 181"/>
              <p:cNvCxnSpPr/>
              <p:nvPr/>
            </p:nvCxnSpPr>
            <p:spPr>
              <a:xfrm flipV="1">
                <a:off x="5957888" y="990600"/>
                <a:ext cx="2224087" cy="904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3" name="组合 182"/>
            <p:cNvGrpSpPr/>
            <p:nvPr/>
          </p:nvGrpSpPr>
          <p:grpSpPr>
            <a:xfrm>
              <a:off x="4432312" y="1171351"/>
              <a:ext cx="3203034" cy="3344026"/>
              <a:chOff x="5182496" y="1119649"/>
              <a:chExt cx="3203034" cy="3344026"/>
            </a:xfrm>
          </p:grpSpPr>
          <p:cxnSp>
            <p:nvCxnSpPr>
              <p:cNvPr id="184" name="直接箭头连接符 183"/>
              <p:cNvCxnSpPr/>
              <p:nvPr/>
            </p:nvCxnSpPr>
            <p:spPr>
              <a:xfrm flipV="1">
                <a:off x="5182496" y="4449388"/>
                <a:ext cx="3203034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箭头连接符 184"/>
              <p:cNvCxnSpPr/>
              <p:nvPr/>
            </p:nvCxnSpPr>
            <p:spPr>
              <a:xfrm rot="5400000" flipH="1" flipV="1">
                <a:off x="3517549" y="2791662"/>
                <a:ext cx="334402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7" name="组合 186"/>
            <p:cNvGrpSpPr/>
            <p:nvPr/>
          </p:nvGrpSpPr>
          <p:grpSpPr>
            <a:xfrm>
              <a:off x="4614491" y="2990440"/>
              <a:ext cx="2619377" cy="200026"/>
              <a:chOff x="5395911" y="3271837"/>
              <a:chExt cx="2619377" cy="200026"/>
            </a:xfrm>
          </p:grpSpPr>
          <p:sp>
            <p:nvSpPr>
              <p:cNvPr id="188" name="任意多边形 187"/>
              <p:cNvSpPr/>
              <p:nvPr/>
            </p:nvSpPr>
            <p:spPr>
              <a:xfrm>
                <a:off x="5395911" y="3309938"/>
                <a:ext cx="200025" cy="161925"/>
              </a:xfrm>
              <a:custGeom>
                <a:avLst/>
                <a:gdLst>
                  <a:gd name="connsiteX0" fmla="*/ 0 w 209550"/>
                  <a:gd name="connsiteY0" fmla="*/ 161925 h 161925"/>
                  <a:gd name="connsiteX1" fmla="*/ 47625 w 209550"/>
                  <a:gd name="connsiteY1" fmla="*/ 47625 h 161925"/>
                  <a:gd name="connsiteX2" fmla="*/ 209550 w 209550"/>
                  <a:gd name="connsiteY2" fmla="*/ 0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550" h="161925">
                    <a:moveTo>
                      <a:pt x="0" y="161925"/>
                    </a:moveTo>
                    <a:cubicBezTo>
                      <a:pt x="6350" y="118269"/>
                      <a:pt x="12700" y="74613"/>
                      <a:pt x="47625" y="47625"/>
                    </a:cubicBezTo>
                    <a:cubicBezTo>
                      <a:pt x="82550" y="20638"/>
                      <a:pt x="146050" y="10319"/>
                      <a:pt x="209550" y="0"/>
                    </a:cubicBezTo>
                  </a:path>
                </a:pathLst>
              </a:cu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89" name="直接连接符 188"/>
              <p:cNvCxnSpPr/>
              <p:nvPr/>
            </p:nvCxnSpPr>
            <p:spPr>
              <a:xfrm flipV="1">
                <a:off x="5567363" y="3271837"/>
                <a:ext cx="2447925" cy="381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0" name="Rectangle 19"/>
            <p:cNvSpPr>
              <a:spLocks noChangeArrowheads="1"/>
            </p:cNvSpPr>
            <p:nvPr/>
          </p:nvSpPr>
          <p:spPr bwMode="auto">
            <a:xfrm>
              <a:off x="7294655" y="2807467"/>
              <a:ext cx="1117614" cy="406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110000"/>
                </a:lnSpc>
              </a:pPr>
              <a:r>
                <a:rPr lang="en-US" altLang="zh-CN" sz="20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000" b="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lang="en-US" altLang="zh-CN" sz="2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40µA</a:t>
              </a:r>
              <a:endPara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cxnSp>
          <p:nvCxnSpPr>
            <p:cNvPr id="192" name="直接连接符 191"/>
            <p:cNvCxnSpPr/>
            <p:nvPr/>
          </p:nvCxnSpPr>
          <p:spPr>
            <a:xfrm flipV="1">
              <a:off x="4423227" y="4329629"/>
              <a:ext cx="3065521" cy="141575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Rectangle 17"/>
            <p:cNvSpPr>
              <a:spLocks noChangeArrowheads="1"/>
            </p:cNvSpPr>
            <p:nvPr/>
          </p:nvSpPr>
          <p:spPr bwMode="auto">
            <a:xfrm>
              <a:off x="7482536" y="4045979"/>
              <a:ext cx="65594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=0</a:t>
              </a:r>
              <a:endPara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44488" y="260580"/>
            <a:ext cx="634019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三极管</a:t>
            </a:r>
            <a:r>
              <a:rPr lang="zh-CN" altLang="en-US" sz="32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输出特性</a:t>
            </a:r>
            <a:r>
              <a:rPr lang="zh-CN" altLang="en-US" sz="32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曲线的三</a:t>
            </a:r>
            <a:r>
              <a:rPr lang="zh-CN" altLang="en-US" sz="32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个工作区</a:t>
            </a:r>
          </a:p>
        </p:txBody>
      </p:sp>
      <p:sp>
        <p:nvSpPr>
          <p:cNvPr id="142" name="Text Box 62"/>
          <p:cNvSpPr txBox="1">
            <a:spLocks noChangeArrowheads="1"/>
          </p:cNvSpPr>
          <p:nvPr/>
        </p:nvSpPr>
        <p:spPr bwMode="auto">
          <a:xfrm>
            <a:off x="5308439" y="2289711"/>
            <a:ext cx="12666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放大区</a:t>
            </a:r>
          </a:p>
        </p:txBody>
      </p:sp>
      <p:grpSp>
        <p:nvGrpSpPr>
          <p:cNvPr id="143" name="组合 107"/>
          <p:cNvGrpSpPr>
            <a:grpSpLocks/>
          </p:cNvGrpSpPr>
          <p:nvPr/>
        </p:nvGrpSpPr>
        <p:grpSpPr bwMode="auto">
          <a:xfrm>
            <a:off x="672229" y="2005678"/>
            <a:ext cx="1946337" cy="1841908"/>
            <a:chOff x="7225506" y="824367"/>
            <a:chExt cx="2283079" cy="2533225"/>
          </a:xfrm>
        </p:grpSpPr>
        <p:sp>
          <p:nvSpPr>
            <p:cNvPr id="144" name="Line 20"/>
            <p:cNvSpPr>
              <a:spLocks noChangeShapeType="1"/>
            </p:cNvSpPr>
            <p:nvPr/>
          </p:nvSpPr>
          <p:spPr bwMode="auto">
            <a:xfrm>
              <a:off x="8868568" y="2651550"/>
              <a:ext cx="0" cy="47327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5" name="Text Box 21"/>
            <p:cNvSpPr txBox="1">
              <a:spLocks noChangeArrowheads="1"/>
            </p:cNvSpPr>
            <p:nvPr/>
          </p:nvSpPr>
          <p:spPr bwMode="auto">
            <a:xfrm>
              <a:off x="8941593" y="2588647"/>
              <a:ext cx="533400" cy="6349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宋体" charset="-122"/>
                </a:rPr>
                <a:t>I</a:t>
              </a:r>
              <a:r>
                <a:rPr lang="en-US" altLang="zh-CN" sz="2400" baseline="-25000">
                  <a:solidFill>
                    <a:schemeClr val="tx1"/>
                  </a:solidFill>
                  <a:ea typeface="宋体" charset="-122"/>
                </a:rPr>
                <a:t>E</a:t>
              </a:r>
            </a:p>
          </p:txBody>
        </p:sp>
        <p:sp>
          <p:nvSpPr>
            <p:cNvPr id="146" name="Text Box 22"/>
            <p:cNvSpPr txBox="1">
              <a:spLocks noChangeArrowheads="1"/>
            </p:cNvSpPr>
            <p:nvPr/>
          </p:nvSpPr>
          <p:spPr bwMode="auto">
            <a:xfrm>
              <a:off x="7379050" y="1121506"/>
              <a:ext cx="533400" cy="6350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  <a:ea typeface="宋体" charset="-122"/>
                </a:rPr>
                <a:t>I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宋体" charset="-122"/>
                </a:rPr>
                <a:t>B</a:t>
              </a:r>
            </a:p>
          </p:txBody>
        </p:sp>
        <p:sp>
          <p:nvSpPr>
            <p:cNvPr id="147" name="Line 25"/>
            <p:cNvSpPr>
              <a:spLocks noChangeShapeType="1"/>
            </p:cNvSpPr>
            <p:nvPr/>
          </p:nvSpPr>
          <p:spPr bwMode="auto">
            <a:xfrm flipH="1">
              <a:off x="8768740" y="1005042"/>
              <a:ext cx="0" cy="50816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8" name="Text Box 26"/>
            <p:cNvSpPr txBox="1">
              <a:spLocks noChangeArrowheads="1"/>
            </p:cNvSpPr>
            <p:nvPr/>
          </p:nvSpPr>
          <p:spPr bwMode="auto">
            <a:xfrm>
              <a:off x="8868568" y="824367"/>
              <a:ext cx="533400" cy="6349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ea typeface="宋体" charset="-122"/>
                </a:rPr>
                <a:t>I</a:t>
              </a:r>
              <a:r>
                <a:rPr lang="en-US" altLang="zh-CN" sz="2400" baseline="-25000">
                  <a:solidFill>
                    <a:schemeClr val="tx1"/>
                  </a:solidFill>
                  <a:ea typeface="宋体" charset="-122"/>
                </a:rPr>
                <a:t>C</a:t>
              </a:r>
            </a:p>
          </p:txBody>
        </p:sp>
        <p:sp>
          <p:nvSpPr>
            <p:cNvPr id="149" name="Line 29"/>
            <p:cNvSpPr>
              <a:spLocks noChangeShapeType="1"/>
            </p:cNvSpPr>
            <p:nvPr/>
          </p:nvSpPr>
          <p:spPr bwMode="auto">
            <a:xfrm>
              <a:off x="7354742" y="1834174"/>
              <a:ext cx="533400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0" name="Line 30"/>
            <p:cNvSpPr>
              <a:spLocks noChangeShapeType="1"/>
            </p:cNvSpPr>
            <p:nvPr/>
          </p:nvSpPr>
          <p:spPr bwMode="auto">
            <a:xfrm>
              <a:off x="8368506" y="1691530"/>
              <a:ext cx="0" cy="533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1" name="Line 31"/>
            <p:cNvSpPr>
              <a:spLocks noChangeShapeType="1"/>
            </p:cNvSpPr>
            <p:nvPr/>
          </p:nvSpPr>
          <p:spPr bwMode="auto">
            <a:xfrm flipV="1">
              <a:off x="8368506" y="1624134"/>
              <a:ext cx="304800" cy="2665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2" name="Line 32"/>
            <p:cNvSpPr>
              <a:spLocks noChangeShapeType="1"/>
            </p:cNvSpPr>
            <p:nvPr/>
          </p:nvSpPr>
          <p:spPr bwMode="auto">
            <a:xfrm>
              <a:off x="8365331" y="2021022"/>
              <a:ext cx="431800" cy="2516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3" name="Line 33"/>
            <p:cNvSpPr>
              <a:spLocks noChangeShapeType="1"/>
            </p:cNvSpPr>
            <p:nvPr/>
          </p:nvSpPr>
          <p:spPr bwMode="auto">
            <a:xfrm>
              <a:off x="8673306" y="824367"/>
              <a:ext cx="0" cy="799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4" name="Line 34"/>
            <p:cNvSpPr>
              <a:spLocks noChangeShapeType="1"/>
            </p:cNvSpPr>
            <p:nvPr/>
          </p:nvSpPr>
          <p:spPr bwMode="auto">
            <a:xfrm>
              <a:off x="8749505" y="2224709"/>
              <a:ext cx="0" cy="9090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5" name="Line 35"/>
            <p:cNvSpPr>
              <a:spLocks noChangeShapeType="1"/>
            </p:cNvSpPr>
            <p:nvPr/>
          </p:nvSpPr>
          <p:spPr bwMode="auto">
            <a:xfrm>
              <a:off x="7225506" y="1958119"/>
              <a:ext cx="114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6" name="Rectangle 58"/>
            <p:cNvSpPr>
              <a:spLocks noChangeArrowheads="1"/>
            </p:cNvSpPr>
            <p:nvPr/>
          </p:nvSpPr>
          <p:spPr bwMode="auto">
            <a:xfrm>
              <a:off x="7789070" y="1941645"/>
              <a:ext cx="517470" cy="550282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＋</a:t>
              </a:r>
            </a:p>
          </p:txBody>
        </p:sp>
        <p:sp>
          <p:nvSpPr>
            <p:cNvPr id="157" name="Rectangle 59"/>
            <p:cNvSpPr>
              <a:spLocks noChangeArrowheads="1"/>
            </p:cNvSpPr>
            <p:nvPr/>
          </p:nvSpPr>
          <p:spPr bwMode="auto">
            <a:xfrm>
              <a:off x="8292306" y="2807310"/>
              <a:ext cx="368924" cy="550282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-</a:t>
              </a:r>
            </a:p>
          </p:txBody>
        </p:sp>
        <p:sp>
          <p:nvSpPr>
            <p:cNvPr id="158" name="Rectangle 60"/>
            <p:cNvSpPr>
              <a:spLocks noChangeArrowheads="1"/>
            </p:cNvSpPr>
            <p:nvPr/>
          </p:nvSpPr>
          <p:spPr bwMode="auto">
            <a:xfrm>
              <a:off x="8797131" y="2194755"/>
              <a:ext cx="368924" cy="550282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-</a:t>
              </a:r>
            </a:p>
          </p:txBody>
        </p:sp>
        <p:sp>
          <p:nvSpPr>
            <p:cNvPr id="159" name="Rectangle 62"/>
            <p:cNvSpPr>
              <a:spLocks noChangeArrowheads="1"/>
            </p:cNvSpPr>
            <p:nvPr/>
          </p:nvSpPr>
          <p:spPr bwMode="auto">
            <a:xfrm>
              <a:off x="8724106" y="1368029"/>
              <a:ext cx="517470" cy="550282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0" dirty="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＋</a:t>
              </a:r>
            </a:p>
          </p:txBody>
        </p:sp>
        <p:sp>
          <p:nvSpPr>
            <p:cNvPr id="160" name="Rectangle 64"/>
            <p:cNvSpPr>
              <a:spLocks noChangeArrowheads="1"/>
            </p:cNvSpPr>
            <p:nvPr/>
          </p:nvSpPr>
          <p:spPr bwMode="auto">
            <a:xfrm>
              <a:off x="7888141" y="2319062"/>
              <a:ext cx="784480" cy="634940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chemeClr val="tx1"/>
                  </a:solidFill>
                  <a:ea typeface="宋体" charset="-122"/>
                </a:rPr>
                <a:t>U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宋体" charset="-122"/>
                </a:rPr>
                <a:t>BE</a:t>
              </a:r>
            </a:p>
          </p:txBody>
        </p:sp>
        <p:sp>
          <p:nvSpPr>
            <p:cNvPr id="161" name="Rectangle 66"/>
            <p:cNvSpPr>
              <a:spLocks noChangeArrowheads="1"/>
            </p:cNvSpPr>
            <p:nvPr/>
          </p:nvSpPr>
          <p:spPr bwMode="auto">
            <a:xfrm>
              <a:off x="8724106" y="1708005"/>
              <a:ext cx="784479" cy="634940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 dirty="0">
                  <a:solidFill>
                    <a:schemeClr val="tx1"/>
                  </a:solidFill>
                  <a:ea typeface="宋体" charset="-122"/>
                </a:rPr>
                <a:t>U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宋体" charset="-122"/>
                </a:rPr>
                <a:t>CE</a:t>
              </a:r>
            </a:p>
          </p:txBody>
        </p:sp>
      </p:grpSp>
      <p:sp>
        <p:nvSpPr>
          <p:cNvPr id="200" name="任意多边形 199"/>
          <p:cNvSpPr/>
          <p:nvPr/>
        </p:nvSpPr>
        <p:spPr>
          <a:xfrm>
            <a:off x="4437076" y="1366092"/>
            <a:ext cx="627961" cy="3106757"/>
          </a:xfrm>
          <a:custGeom>
            <a:avLst/>
            <a:gdLst>
              <a:gd name="connsiteX0" fmla="*/ 0 w 627961"/>
              <a:gd name="connsiteY0" fmla="*/ 3106757 h 3106757"/>
              <a:gd name="connsiteX1" fmla="*/ 418641 w 627961"/>
              <a:gd name="connsiteY1" fmla="*/ 1443210 h 3106757"/>
              <a:gd name="connsiteX2" fmla="*/ 627961 w 627961"/>
              <a:gd name="connsiteY2" fmla="*/ 0 h 3106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7961" h="3106757">
                <a:moveTo>
                  <a:pt x="0" y="3106757"/>
                </a:moveTo>
                <a:cubicBezTo>
                  <a:pt x="156990" y="2533880"/>
                  <a:pt x="313981" y="1961003"/>
                  <a:pt x="418641" y="1443210"/>
                </a:cubicBezTo>
                <a:cubicBezTo>
                  <a:pt x="523301" y="925417"/>
                  <a:pt x="575631" y="462708"/>
                  <a:pt x="627961" y="0"/>
                </a:cubicBezTo>
              </a:path>
            </a:pathLst>
          </a:cu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6" name="组合 195"/>
          <p:cNvGrpSpPr/>
          <p:nvPr/>
        </p:nvGrpSpPr>
        <p:grpSpPr>
          <a:xfrm>
            <a:off x="4453716" y="4348393"/>
            <a:ext cx="3038475" cy="795107"/>
            <a:chOff x="4453716" y="4348393"/>
            <a:chExt cx="3038475" cy="795107"/>
          </a:xfrm>
        </p:grpSpPr>
        <p:sp>
          <p:nvSpPr>
            <p:cNvPr id="139" name="Text Box 59"/>
            <p:cNvSpPr txBox="1">
              <a:spLocks noChangeArrowheads="1"/>
            </p:cNvSpPr>
            <p:nvPr/>
          </p:nvSpPr>
          <p:spPr bwMode="auto">
            <a:xfrm>
              <a:off x="5906460" y="4620280"/>
              <a:ext cx="126669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dirty="0">
                  <a:solidFill>
                    <a:srgbClr val="00B0F0"/>
                  </a:solidFill>
                  <a:ea typeface="华文中宋" pitchFamily="2" charset="-122"/>
                  <a:cs typeface="Times New Roman" pitchFamily="18" charset="0"/>
                </a:rPr>
                <a:t>截止区</a:t>
              </a:r>
            </a:p>
          </p:txBody>
        </p:sp>
        <p:sp>
          <p:nvSpPr>
            <p:cNvPr id="163" name="任意多边形 162"/>
            <p:cNvSpPr/>
            <p:nvPr/>
          </p:nvSpPr>
          <p:spPr>
            <a:xfrm>
              <a:off x="4453716" y="4348393"/>
              <a:ext cx="3038475" cy="142875"/>
            </a:xfrm>
            <a:custGeom>
              <a:avLst/>
              <a:gdLst>
                <a:gd name="connsiteX0" fmla="*/ 0 w 3100388"/>
                <a:gd name="connsiteY0" fmla="*/ 161925 h 171450"/>
                <a:gd name="connsiteX1" fmla="*/ 3100388 w 3100388"/>
                <a:gd name="connsiteY1" fmla="*/ 171450 h 171450"/>
                <a:gd name="connsiteX2" fmla="*/ 3024188 w 3100388"/>
                <a:gd name="connsiteY2" fmla="*/ 0 h 171450"/>
                <a:gd name="connsiteX3" fmla="*/ 0 w 3100388"/>
                <a:gd name="connsiteY3" fmla="*/ 1619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0388" h="171450">
                  <a:moveTo>
                    <a:pt x="0" y="161925"/>
                  </a:moveTo>
                  <a:lnTo>
                    <a:pt x="3100388" y="171450"/>
                  </a:lnTo>
                  <a:lnTo>
                    <a:pt x="3024188" y="0"/>
                  </a:lnTo>
                  <a:lnTo>
                    <a:pt x="0" y="16192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3D4A8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path path="rect">
                <a:fillToRect l="100000" t="100000"/>
              </a:path>
              <a:tileRect r="-100000" b="-100000"/>
            </a:gradFill>
            <a:ln w="222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5" name="组合 194"/>
          <p:cNvGrpSpPr/>
          <p:nvPr/>
        </p:nvGrpSpPr>
        <p:grpSpPr>
          <a:xfrm>
            <a:off x="3115213" y="1395642"/>
            <a:ext cx="1960802" cy="2990850"/>
            <a:chOff x="3115213" y="1395642"/>
            <a:chExt cx="1960802" cy="2990850"/>
          </a:xfrm>
        </p:grpSpPr>
        <p:sp>
          <p:nvSpPr>
            <p:cNvPr id="141" name="Text Box 61"/>
            <p:cNvSpPr txBox="1">
              <a:spLocks noChangeArrowheads="1"/>
            </p:cNvSpPr>
            <p:nvPr/>
          </p:nvSpPr>
          <p:spPr bwMode="auto">
            <a:xfrm>
              <a:off x="3115213" y="2186412"/>
              <a:ext cx="126669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dirty="0">
                  <a:solidFill>
                    <a:srgbClr val="0070C0"/>
                  </a:solidFill>
                  <a:ea typeface="华文中宋" pitchFamily="2" charset="-122"/>
                  <a:cs typeface="Times New Roman" pitchFamily="18" charset="0"/>
                </a:rPr>
                <a:t>饱和区</a:t>
              </a:r>
            </a:p>
          </p:txBody>
        </p:sp>
        <p:sp>
          <p:nvSpPr>
            <p:cNvPr id="167" name="任意多边形 166"/>
            <p:cNvSpPr/>
            <p:nvPr/>
          </p:nvSpPr>
          <p:spPr>
            <a:xfrm>
              <a:off x="4460065" y="1395642"/>
              <a:ext cx="615950" cy="2990850"/>
            </a:xfrm>
            <a:custGeom>
              <a:avLst/>
              <a:gdLst>
                <a:gd name="connsiteX0" fmla="*/ 6350 w 615950"/>
                <a:gd name="connsiteY0" fmla="*/ 2990850 h 2990850"/>
                <a:gd name="connsiteX1" fmla="*/ 419100 w 615950"/>
                <a:gd name="connsiteY1" fmla="*/ 1352550 h 2990850"/>
                <a:gd name="connsiteX2" fmla="*/ 615950 w 615950"/>
                <a:gd name="connsiteY2" fmla="*/ 0 h 2990850"/>
                <a:gd name="connsiteX3" fmla="*/ 0 w 615950"/>
                <a:gd name="connsiteY3" fmla="*/ 6350 h 2990850"/>
                <a:gd name="connsiteX4" fmla="*/ 6350 w 615950"/>
                <a:gd name="connsiteY4" fmla="*/ 2990850 h 2990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5950" h="2990850">
                  <a:moveTo>
                    <a:pt x="6350" y="2990850"/>
                  </a:moveTo>
                  <a:lnTo>
                    <a:pt x="419100" y="1352550"/>
                  </a:lnTo>
                  <a:lnTo>
                    <a:pt x="615950" y="0"/>
                  </a:lnTo>
                  <a:lnTo>
                    <a:pt x="0" y="6350"/>
                  </a:lnTo>
                  <a:cubicBezTo>
                    <a:pt x="2117" y="1001183"/>
                    <a:pt x="4233" y="1996017"/>
                    <a:pt x="6350" y="299085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222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491413" y="533400"/>
            <a:ext cx="525690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三极</a:t>
            </a:r>
            <a:r>
              <a:rPr lang="zh-CN" altLang="en-US" sz="32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管</a:t>
            </a:r>
            <a:r>
              <a:rPr lang="zh-CN" altLang="en-US" sz="32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三个工作区的</a:t>
            </a:r>
            <a:r>
              <a:rPr lang="zh-CN" altLang="en-US" sz="32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特点</a:t>
            </a:r>
            <a:endParaRPr lang="en-US" altLang="zh-CN" sz="3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631115" y="1515034"/>
            <a:ext cx="1295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截止区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:</a:t>
            </a:r>
          </a:p>
        </p:txBody>
      </p:sp>
      <p:graphicFrame>
        <p:nvGraphicFramePr>
          <p:cNvPr id="35" name="Object 8"/>
          <p:cNvGraphicFramePr>
            <a:graphicFrameLocks noChangeAspect="1"/>
          </p:cNvGraphicFramePr>
          <p:nvPr/>
        </p:nvGraphicFramePr>
        <p:xfrm>
          <a:off x="1503783" y="3374949"/>
          <a:ext cx="222250" cy="228600"/>
        </p:xfrm>
        <a:graphic>
          <a:graphicData uri="http://schemas.openxmlformats.org/presentationml/2006/ole">
            <p:oleObj spid="_x0000_s86020" name="CorelDRAW" r:id="rId4" imgW="798120" imgH="824760" progId="">
              <p:embed/>
            </p:oleObj>
          </a:graphicData>
        </a:graphic>
      </p:graphicFrame>
      <p:graphicFrame>
        <p:nvGraphicFramePr>
          <p:cNvPr id="36" name="Object 9"/>
          <p:cNvGraphicFramePr>
            <a:graphicFrameLocks noChangeAspect="1"/>
          </p:cNvGraphicFramePr>
          <p:nvPr/>
        </p:nvGraphicFramePr>
        <p:xfrm>
          <a:off x="1511721" y="2191608"/>
          <a:ext cx="220662" cy="228600"/>
        </p:xfrm>
        <a:graphic>
          <a:graphicData uri="http://schemas.openxmlformats.org/presentationml/2006/ole">
            <p:oleObj spid="_x0000_s86021" name="CorelDRAW" r:id="rId5" imgW="798120" imgH="824760" progId="">
              <p:embed/>
            </p:oleObj>
          </a:graphicData>
        </a:graphic>
      </p:graphicFrame>
      <p:graphicFrame>
        <p:nvGraphicFramePr>
          <p:cNvPr id="38" name="Object 11"/>
          <p:cNvGraphicFramePr>
            <a:graphicFrameLocks noChangeAspect="1"/>
          </p:cNvGraphicFramePr>
          <p:nvPr/>
        </p:nvGraphicFramePr>
        <p:xfrm>
          <a:off x="1493025" y="2788657"/>
          <a:ext cx="222250" cy="228600"/>
        </p:xfrm>
        <a:graphic>
          <a:graphicData uri="http://schemas.openxmlformats.org/presentationml/2006/ole">
            <p:oleObj spid="_x0000_s86023" name="CorelDRAW" r:id="rId6" imgW="798120" imgH="824760" progId="">
              <p:embed/>
            </p:oleObj>
          </a:graphicData>
        </a:graphic>
      </p:graphicFrame>
      <p:sp>
        <p:nvSpPr>
          <p:cNvPr id="45" name="Text Box 18"/>
          <p:cNvSpPr txBox="1">
            <a:spLocks noChangeArrowheads="1"/>
          </p:cNvSpPr>
          <p:nvPr/>
        </p:nvSpPr>
        <p:spPr bwMode="auto">
          <a:xfrm>
            <a:off x="1863268" y="1985420"/>
            <a:ext cx="46625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发射结、集电结处于反偏</a:t>
            </a:r>
          </a:p>
        </p:txBody>
      </p:sp>
      <p:sp>
        <p:nvSpPr>
          <p:cNvPr id="46" name="Text Box 19"/>
          <p:cNvSpPr txBox="1">
            <a:spLocks noChangeArrowheads="1"/>
          </p:cNvSpPr>
          <p:nvPr/>
        </p:nvSpPr>
        <p:spPr bwMode="auto">
          <a:xfrm>
            <a:off x="1852510" y="2594123"/>
            <a:ext cx="44258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失去电流放大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作用，</a:t>
            </a:r>
            <a:r>
              <a:rPr lang="en-US" altLang="zh-CN" sz="2800" i="1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≈0</a:t>
            </a:r>
          </a:p>
        </p:txBody>
      </p:sp>
      <p:sp>
        <p:nvSpPr>
          <p:cNvPr id="47" name="Text Box 20"/>
          <p:cNvSpPr txBox="1">
            <a:spLocks noChangeArrowheads="1"/>
          </p:cNvSpPr>
          <p:nvPr/>
        </p:nvSpPr>
        <p:spPr bwMode="auto">
          <a:xfrm>
            <a:off x="1830995" y="3212688"/>
            <a:ext cx="48346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三极管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E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之间相当于开路</a:t>
            </a:r>
          </a:p>
        </p:txBody>
      </p:sp>
      <p:grpSp>
        <p:nvGrpSpPr>
          <p:cNvPr id="3" name="组合 107"/>
          <p:cNvGrpSpPr>
            <a:grpSpLocks/>
          </p:cNvGrpSpPr>
          <p:nvPr/>
        </p:nvGrpSpPr>
        <p:grpSpPr bwMode="auto">
          <a:xfrm>
            <a:off x="7003228" y="1069764"/>
            <a:ext cx="1358369" cy="1679134"/>
            <a:chOff x="7635765" y="824367"/>
            <a:chExt cx="1593385" cy="2309358"/>
          </a:xfrm>
        </p:grpSpPr>
        <p:sp>
          <p:nvSpPr>
            <p:cNvPr id="76" name="Text Box 22"/>
            <p:cNvSpPr txBox="1">
              <a:spLocks noChangeArrowheads="1"/>
            </p:cNvSpPr>
            <p:nvPr/>
          </p:nvSpPr>
          <p:spPr bwMode="auto">
            <a:xfrm>
              <a:off x="7888968" y="1491699"/>
              <a:ext cx="409748" cy="507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  <a:ea typeface="宋体" charset="-122"/>
                </a:rPr>
                <a:t>B</a:t>
              </a:r>
              <a:endParaRPr lang="en-US" altLang="zh-CN" sz="1800" baseline="-25000" dirty="0">
                <a:solidFill>
                  <a:schemeClr val="tx1"/>
                </a:solidFill>
                <a:ea typeface="宋体" charset="-122"/>
              </a:endParaRPr>
            </a:p>
          </p:txBody>
        </p:sp>
        <p:sp>
          <p:nvSpPr>
            <p:cNvPr id="80" name="Line 30"/>
            <p:cNvSpPr>
              <a:spLocks noChangeShapeType="1"/>
            </p:cNvSpPr>
            <p:nvPr/>
          </p:nvSpPr>
          <p:spPr bwMode="auto">
            <a:xfrm>
              <a:off x="8368506" y="1691530"/>
              <a:ext cx="0" cy="533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Line 31"/>
            <p:cNvSpPr>
              <a:spLocks noChangeShapeType="1"/>
            </p:cNvSpPr>
            <p:nvPr/>
          </p:nvSpPr>
          <p:spPr bwMode="auto">
            <a:xfrm flipV="1">
              <a:off x="8368506" y="1624134"/>
              <a:ext cx="304800" cy="2665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Line 32"/>
            <p:cNvSpPr>
              <a:spLocks noChangeShapeType="1"/>
            </p:cNvSpPr>
            <p:nvPr/>
          </p:nvSpPr>
          <p:spPr bwMode="auto">
            <a:xfrm>
              <a:off x="8365331" y="2021022"/>
              <a:ext cx="431800" cy="2516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Line 33"/>
            <p:cNvSpPr>
              <a:spLocks noChangeShapeType="1"/>
            </p:cNvSpPr>
            <p:nvPr/>
          </p:nvSpPr>
          <p:spPr bwMode="auto">
            <a:xfrm>
              <a:off x="8673306" y="824367"/>
              <a:ext cx="0" cy="799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Line 34"/>
            <p:cNvSpPr>
              <a:spLocks noChangeShapeType="1"/>
            </p:cNvSpPr>
            <p:nvPr/>
          </p:nvSpPr>
          <p:spPr bwMode="auto">
            <a:xfrm>
              <a:off x="8749505" y="2224709"/>
              <a:ext cx="0" cy="9090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5" name="Line 35"/>
            <p:cNvSpPr>
              <a:spLocks noChangeShapeType="1"/>
            </p:cNvSpPr>
            <p:nvPr/>
          </p:nvSpPr>
          <p:spPr bwMode="auto">
            <a:xfrm flipV="1">
              <a:off x="7635765" y="1958118"/>
              <a:ext cx="7327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 Box 22"/>
            <p:cNvSpPr txBox="1">
              <a:spLocks noChangeArrowheads="1"/>
            </p:cNvSpPr>
            <p:nvPr/>
          </p:nvSpPr>
          <p:spPr bwMode="auto">
            <a:xfrm>
              <a:off x="8695749" y="2363953"/>
              <a:ext cx="533400" cy="507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  <a:ea typeface="宋体" charset="-122"/>
                </a:rPr>
                <a:t>E</a:t>
              </a:r>
              <a:endParaRPr lang="en-US" altLang="zh-CN" sz="1800" baseline="-25000" dirty="0">
                <a:solidFill>
                  <a:schemeClr val="tx1"/>
                </a:solidFill>
                <a:ea typeface="宋体" charset="-122"/>
              </a:endParaRPr>
            </a:p>
          </p:txBody>
        </p:sp>
        <p:sp>
          <p:nvSpPr>
            <p:cNvPr id="93" name="Text Box 22"/>
            <p:cNvSpPr txBox="1">
              <a:spLocks noChangeArrowheads="1"/>
            </p:cNvSpPr>
            <p:nvPr/>
          </p:nvSpPr>
          <p:spPr bwMode="auto">
            <a:xfrm>
              <a:off x="8695750" y="982109"/>
              <a:ext cx="533400" cy="507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  <a:ea typeface="宋体" charset="-122"/>
                </a:rPr>
                <a:t>C</a:t>
              </a:r>
              <a:endParaRPr lang="en-US" altLang="zh-CN" sz="1800" baseline="-25000" dirty="0">
                <a:solidFill>
                  <a:schemeClr val="tx1"/>
                </a:solidFill>
                <a:ea typeface="宋体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6946111" y="1907013"/>
            <a:ext cx="882095" cy="834377"/>
            <a:chOff x="6946111" y="1907013"/>
            <a:chExt cx="882095" cy="834377"/>
          </a:xfrm>
        </p:grpSpPr>
        <p:grpSp>
          <p:nvGrpSpPr>
            <p:cNvPr id="4" name="组合 98"/>
            <p:cNvGrpSpPr/>
            <p:nvPr/>
          </p:nvGrpSpPr>
          <p:grpSpPr>
            <a:xfrm>
              <a:off x="6971122" y="1993863"/>
              <a:ext cx="857084" cy="747527"/>
              <a:chOff x="7437063" y="2002155"/>
              <a:chExt cx="857084" cy="747527"/>
            </a:xfrm>
          </p:grpSpPr>
          <p:sp>
            <p:nvSpPr>
              <p:cNvPr id="94" name="椭圆 93"/>
              <p:cNvSpPr/>
              <p:nvPr/>
            </p:nvSpPr>
            <p:spPr>
              <a:xfrm>
                <a:off x="7437063" y="2002155"/>
                <a:ext cx="252000" cy="252000"/>
              </a:xfrm>
              <a:prstGeom prst="ellips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Text Box 22"/>
              <p:cNvSpPr txBox="1">
                <a:spLocks noChangeArrowheads="1"/>
              </p:cNvSpPr>
              <p:nvPr/>
            </p:nvSpPr>
            <p:spPr bwMode="auto">
              <a:xfrm>
                <a:off x="7978845" y="2380350"/>
                <a:ext cx="3153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 smtClean="0">
                    <a:solidFill>
                      <a:schemeClr val="tx1"/>
                    </a:solidFill>
                    <a:ea typeface="宋体" charset="-122"/>
                  </a:rPr>
                  <a:t>+</a:t>
                </a:r>
                <a:endParaRPr lang="en-US" altLang="zh-CN" sz="1800" baseline="-25000" dirty="0">
                  <a:solidFill>
                    <a:schemeClr val="tx1"/>
                  </a:solidFill>
                  <a:ea typeface="宋体" charset="-122"/>
                </a:endParaRPr>
              </a:p>
            </p:txBody>
          </p:sp>
        </p:grpSp>
        <p:sp>
          <p:nvSpPr>
            <p:cNvPr id="96" name="Text Box 22"/>
            <p:cNvSpPr txBox="1">
              <a:spLocks noChangeArrowheads="1"/>
            </p:cNvSpPr>
            <p:nvPr/>
          </p:nvSpPr>
          <p:spPr bwMode="auto">
            <a:xfrm>
              <a:off x="6946111" y="1907013"/>
              <a:ext cx="31530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  <a:ea typeface="宋体" charset="-122"/>
                </a:rPr>
                <a:t>-</a:t>
              </a:r>
              <a:endParaRPr lang="en-US" altLang="zh-CN" sz="1800" baseline="-25000" dirty="0">
                <a:solidFill>
                  <a:schemeClr val="tx1"/>
                </a:solidFill>
                <a:ea typeface="宋体" charset="-122"/>
              </a:endParaRPr>
            </a:p>
          </p:txBody>
        </p:sp>
        <p:sp>
          <p:nvSpPr>
            <p:cNvPr id="98" name="椭圆 97"/>
            <p:cNvSpPr/>
            <p:nvPr/>
          </p:nvSpPr>
          <p:spPr>
            <a:xfrm>
              <a:off x="7551868" y="2441986"/>
              <a:ext cx="252000" cy="252000"/>
            </a:xfrm>
            <a:prstGeom prst="ellips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951994" y="1035644"/>
            <a:ext cx="895374" cy="830510"/>
            <a:chOff x="6951994" y="1035644"/>
            <a:chExt cx="895374" cy="830510"/>
          </a:xfrm>
        </p:grpSpPr>
        <p:grpSp>
          <p:nvGrpSpPr>
            <p:cNvPr id="6" name="组合 100"/>
            <p:cNvGrpSpPr/>
            <p:nvPr/>
          </p:nvGrpSpPr>
          <p:grpSpPr>
            <a:xfrm>
              <a:off x="6951994" y="1496822"/>
              <a:ext cx="315302" cy="369332"/>
              <a:chOff x="7946572" y="2348076"/>
              <a:chExt cx="315302" cy="369332"/>
            </a:xfrm>
          </p:grpSpPr>
          <p:sp>
            <p:nvSpPr>
              <p:cNvPr id="102" name="Text Box 22"/>
              <p:cNvSpPr txBox="1">
                <a:spLocks noChangeArrowheads="1"/>
              </p:cNvSpPr>
              <p:nvPr/>
            </p:nvSpPr>
            <p:spPr bwMode="auto">
              <a:xfrm>
                <a:off x="7946572" y="2348076"/>
                <a:ext cx="3153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 smtClean="0">
                    <a:solidFill>
                      <a:schemeClr val="tx1"/>
                    </a:solidFill>
                    <a:ea typeface="宋体" charset="-122"/>
                  </a:rPr>
                  <a:t>-</a:t>
                </a:r>
                <a:endParaRPr lang="en-US" altLang="zh-CN" sz="1800" baseline="-25000" dirty="0">
                  <a:solidFill>
                    <a:schemeClr val="tx1"/>
                  </a:solidFill>
                  <a:ea typeface="宋体" charset="-122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7960659" y="2431228"/>
                <a:ext cx="252000" cy="252000"/>
              </a:xfrm>
              <a:prstGeom prst="ellips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103"/>
            <p:cNvGrpSpPr/>
            <p:nvPr/>
          </p:nvGrpSpPr>
          <p:grpSpPr>
            <a:xfrm>
              <a:off x="7532066" y="1035644"/>
              <a:ext cx="315302" cy="369332"/>
              <a:chOff x="7397932" y="1939286"/>
              <a:chExt cx="315302" cy="369332"/>
            </a:xfrm>
          </p:grpSpPr>
          <p:sp>
            <p:nvSpPr>
              <p:cNvPr id="105" name="椭圆 104"/>
              <p:cNvSpPr/>
              <p:nvPr/>
            </p:nvSpPr>
            <p:spPr>
              <a:xfrm>
                <a:off x="7437063" y="2002155"/>
                <a:ext cx="252000" cy="252000"/>
              </a:xfrm>
              <a:prstGeom prst="ellips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Text Box 22"/>
              <p:cNvSpPr txBox="1">
                <a:spLocks noChangeArrowheads="1"/>
              </p:cNvSpPr>
              <p:nvPr/>
            </p:nvSpPr>
            <p:spPr bwMode="auto">
              <a:xfrm>
                <a:off x="7397932" y="1939286"/>
                <a:ext cx="3153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 smtClean="0">
                    <a:solidFill>
                      <a:schemeClr val="tx1"/>
                    </a:solidFill>
                    <a:ea typeface="宋体" charset="-122"/>
                  </a:rPr>
                  <a:t>+</a:t>
                </a:r>
                <a:endParaRPr lang="en-US" altLang="zh-CN" sz="1800" baseline="-25000" dirty="0">
                  <a:solidFill>
                    <a:schemeClr val="tx1"/>
                  </a:solidFill>
                  <a:ea typeface="宋体" charset="-122"/>
                </a:endParaRPr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7968140" y="757789"/>
            <a:ext cx="454726" cy="533127"/>
            <a:chOff x="7968140" y="757789"/>
            <a:chExt cx="454726" cy="533127"/>
          </a:xfrm>
        </p:grpSpPr>
        <p:sp>
          <p:nvSpPr>
            <p:cNvPr id="37" name="Line 25"/>
            <p:cNvSpPr>
              <a:spLocks noChangeShapeType="1"/>
            </p:cNvSpPr>
            <p:nvPr/>
          </p:nvSpPr>
          <p:spPr bwMode="auto">
            <a:xfrm flipH="1">
              <a:off x="7969098" y="921431"/>
              <a:ext cx="0" cy="369485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 Box 26"/>
            <p:cNvSpPr txBox="1">
              <a:spLocks noChangeArrowheads="1"/>
            </p:cNvSpPr>
            <p:nvPr/>
          </p:nvSpPr>
          <p:spPr bwMode="auto">
            <a:xfrm>
              <a:off x="7968140" y="757789"/>
              <a:ext cx="45472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  <a:ea typeface="宋体" charset="-122"/>
                </a:rPr>
                <a:t>I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宋体" charset="-122"/>
                </a:rPr>
                <a:t>C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6772837" y="2866754"/>
            <a:ext cx="2240965" cy="1959771"/>
            <a:chOff x="6772837" y="2866754"/>
            <a:chExt cx="2240965" cy="1959771"/>
          </a:xfrm>
        </p:grpSpPr>
        <p:grpSp>
          <p:nvGrpSpPr>
            <p:cNvPr id="86" name="组合 33"/>
            <p:cNvGrpSpPr/>
            <p:nvPr/>
          </p:nvGrpSpPr>
          <p:grpSpPr>
            <a:xfrm>
              <a:off x="6772837" y="2866754"/>
              <a:ext cx="2240965" cy="1959771"/>
              <a:chOff x="3750530" y="1171351"/>
              <a:chExt cx="4478100" cy="3916192"/>
            </a:xfrm>
          </p:grpSpPr>
          <p:sp>
            <p:nvSpPr>
              <p:cNvPr id="101" name="Rectangle 13"/>
              <p:cNvSpPr>
                <a:spLocks noChangeArrowheads="1"/>
              </p:cNvSpPr>
              <p:nvPr/>
            </p:nvSpPr>
            <p:spPr bwMode="auto">
              <a:xfrm>
                <a:off x="7292635" y="4472515"/>
                <a:ext cx="935995" cy="6150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400" i="1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CE</a:t>
                </a:r>
              </a:p>
            </p:txBody>
          </p:sp>
          <p:sp>
            <p:nvSpPr>
              <p:cNvPr id="104" name="Rectangle 14"/>
              <p:cNvSpPr>
                <a:spLocks noChangeArrowheads="1"/>
              </p:cNvSpPr>
              <p:nvPr/>
            </p:nvSpPr>
            <p:spPr bwMode="auto">
              <a:xfrm>
                <a:off x="3750530" y="1194801"/>
                <a:ext cx="647702" cy="6150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400" i="1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  <p:grpSp>
            <p:nvGrpSpPr>
              <p:cNvPr id="107" name="组合 170"/>
              <p:cNvGrpSpPr/>
              <p:nvPr/>
            </p:nvGrpSpPr>
            <p:grpSpPr>
              <a:xfrm>
                <a:off x="4519613" y="3695520"/>
                <a:ext cx="2626120" cy="200026"/>
                <a:chOff x="5389168" y="3271837"/>
                <a:chExt cx="2626120" cy="200026"/>
              </a:xfrm>
            </p:grpSpPr>
            <p:sp>
              <p:nvSpPr>
                <p:cNvPr id="124" name="任意多边形 123"/>
                <p:cNvSpPr/>
                <p:nvPr/>
              </p:nvSpPr>
              <p:spPr>
                <a:xfrm>
                  <a:off x="5389168" y="3309938"/>
                  <a:ext cx="192481" cy="161925"/>
                </a:xfrm>
                <a:custGeom>
                  <a:avLst/>
                  <a:gdLst>
                    <a:gd name="connsiteX0" fmla="*/ 0 w 209550"/>
                    <a:gd name="connsiteY0" fmla="*/ 161925 h 161925"/>
                    <a:gd name="connsiteX1" fmla="*/ 47625 w 209550"/>
                    <a:gd name="connsiteY1" fmla="*/ 47625 h 161925"/>
                    <a:gd name="connsiteX2" fmla="*/ 209550 w 209550"/>
                    <a:gd name="connsiteY2" fmla="*/ 0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9550" h="161925">
                      <a:moveTo>
                        <a:pt x="0" y="161925"/>
                      </a:moveTo>
                      <a:cubicBezTo>
                        <a:pt x="6350" y="118269"/>
                        <a:pt x="12700" y="74613"/>
                        <a:pt x="47625" y="47625"/>
                      </a:cubicBezTo>
                      <a:cubicBezTo>
                        <a:pt x="82550" y="20638"/>
                        <a:pt x="146050" y="10319"/>
                        <a:pt x="209550" y="0"/>
                      </a:cubicBezTo>
                    </a:path>
                  </a:pathLst>
                </a:cu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125" name="直接连接符 124"/>
                <p:cNvCxnSpPr/>
                <p:nvPr/>
              </p:nvCxnSpPr>
              <p:spPr>
                <a:xfrm flipV="1">
                  <a:off x="5567363" y="3271837"/>
                  <a:ext cx="2447925" cy="381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8" name="组合 173"/>
              <p:cNvGrpSpPr/>
              <p:nvPr/>
            </p:nvGrpSpPr>
            <p:grpSpPr>
              <a:xfrm>
                <a:off x="4441837" y="2197628"/>
                <a:ext cx="2847975" cy="2300290"/>
                <a:chOff x="5192021" y="2145926"/>
                <a:chExt cx="2847975" cy="2300290"/>
              </a:xfrm>
            </p:grpSpPr>
            <p:cxnSp>
              <p:nvCxnSpPr>
                <p:cNvPr id="120" name="直接连接符 119"/>
                <p:cNvCxnSpPr/>
                <p:nvPr/>
              </p:nvCxnSpPr>
              <p:spPr>
                <a:xfrm rot="5400000" flipH="1" flipV="1">
                  <a:off x="4332389" y="3338934"/>
                  <a:ext cx="1966914" cy="247649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1" name="组合 200"/>
                <p:cNvGrpSpPr/>
                <p:nvPr/>
              </p:nvGrpSpPr>
              <p:grpSpPr>
                <a:xfrm>
                  <a:off x="5439671" y="2145926"/>
                  <a:ext cx="2600325" cy="333375"/>
                  <a:chOff x="5514975" y="2038350"/>
                  <a:chExt cx="2600325" cy="333375"/>
                </a:xfrm>
              </p:grpSpPr>
              <p:sp>
                <p:nvSpPr>
                  <p:cNvPr id="122" name="任意多边形 121"/>
                  <p:cNvSpPr/>
                  <p:nvPr/>
                </p:nvSpPr>
                <p:spPr>
                  <a:xfrm>
                    <a:off x="5514975" y="2128838"/>
                    <a:ext cx="376238" cy="242887"/>
                  </a:xfrm>
                  <a:custGeom>
                    <a:avLst/>
                    <a:gdLst>
                      <a:gd name="connsiteX0" fmla="*/ 0 w 376238"/>
                      <a:gd name="connsiteY0" fmla="*/ 242887 h 242887"/>
                      <a:gd name="connsiteX1" fmla="*/ 128588 w 376238"/>
                      <a:gd name="connsiteY1" fmla="*/ 76200 h 242887"/>
                      <a:gd name="connsiteX2" fmla="*/ 376238 w 376238"/>
                      <a:gd name="connsiteY2" fmla="*/ 0 h 242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76238" h="242887">
                        <a:moveTo>
                          <a:pt x="0" y="242887"/>
                        </a:moveTo>
                        <a:cubicBezTo>
                          <a:pt x="32941" y="179784"/>
                          <a:pt x="65882" y="116681"/>
                          <a:pt x="128588" y="76200"/>
                        </a:cubicBezTo>
                        <a:cubicBezTo>
                          <a:pt x="191294" y="35719"/>
                          <a:pt x="283766" y="17859"/>
                          <a:pt x="376238" y="0"/>
                        </a:cubicBezTo>
                      </a:path>
                    </a:pathLst>
                  </a:cu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123" name="直接连接符 122"/>
                  <p:cNvCxnSpPr>
                    <a:stCxn id="122" idx="2"/>
                  </p:cNvCxnSpPr>
                  <p:nvPr/>
                </p:nvCxnSpPr>
                <p:spPr>
                  <a:xfrm flipV="1">
                    <a:off x="5891213" y="2038350"/>
                    <a:ext cx="2224087" cy="90488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09" name="组合 178"/>
              <p:cNvGrpSpPr/>
              <p:nvPr/>
            </p:nvGrpSpPr>
            <p:grpSpPr>
              <a:xfrm>
                <a:off x="4652963" y="1476266"/>
                <a:ext cx="2648440" cy="1352666"/>
                <a:chOff x="5533535" y="990600"/>
                <a:chExt cx="2648440" cy="1370278"/>
              </a:xfrm>
            </p:grpSpPr>
            <p:cxnSp>
              <p:nvCxnSpPr>
                <p:cNvPr id="117" name="直接连接符 116"/>
                <p:cNvCxnSpPr/>
                <p:nvPr/>
              </p:nvCxnSpPr>
              <p:spPr>
                <a:xfrm rot="5400000" flipH="1" flipV="1">
                  <a:off x="5088616" y="1757410"/>
                  <a:ext cx="1048387" cy="158549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8" name="任意多边形 117"/>
                <p:cNvSpPr/>
                <p:nvPr/>
              </p:nvSpPr>
              <p:spPr>
                <a:xfrm>
                  <a:off x="5686425" y="1076325"/>
                  <a:ext cx="280988" cy="238125"/>
                </a:xfrm>
                <a:custGeom>
                  <a:avLst/>
                  <a:gdLst>
                    <a:gd name="connsiteX0" fmla="*/ 0 w 376238"/>
                    <a:gd name="connsiteY0" fmla="*/ 242887 h 242887"/>
                    <a:gd name="connsiteX1" fmla="*/ 128588 w 376238"/>
                    <a:gd name="connsiteY1" fmla="*/ 76200 h 242887"/>
                    <a:gd name="connsiteX2" fmla="*/ 376238 w 376238"/>
                    <a:gd name="connsiteY2" fmla="*/ 0 h 242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76238" h="242887">
                      <a:moveTo>
                        <a:pt x="0" y="242887"/>
                      </a:moveTo>
                      <a:cubicBezTo>
                        <a:pt x="32941" y="179784"/>
                        <a:pt x="65882" y="116681"/>
                        <a:pt x="128588" y="76200"/>
                      </a:cubicBezTo>
                      <a:cubicBezTo>
                        <a:pt x="191294" y="35719"/>
                        <a:pt x="283766" y="17859"/>
                        <a:pt x="376238" y="0"/>
                      </a:cubicBezTo>
                    </a:path>
                  </a:pathLst>
                </a:cu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119" name="直接连接符 118"/>
                <p:cNvCxnSpPr/>
                <p:nvPr/>
              </p:nvCxnSpPr>
              <p:spPr>
                <a:xfrm flipV="1">
                  <a:off x="5957888" y="990600"/>
                  <a:ext cx="2224087" cy="904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0" name="组合 182"/>
              <p:cNvGrpSpPr/>
              <p:nvPr/>
            </p:nvGrpSpPr>
            <p:grpSpPr>
              <a:xfrm>
                <a:off x="4432312" y="1171351"/>
                <a:ext cx="3203034" cy="3344026"/>
                <a:chOff x="5182496" y="1119649"/>
                <a:chExt cx="3203034" cy="3344026"/>
              </a:xfrm>
            </p:grpSpPr>
            <p:cxnSp>
              <p:nvCxnSpPr>
                <p:cNvPr id="115" name="直接箭头连接符 114"/>
                <p:cNvCxnSpPr/>
                <p:nvPr/>
              </p:nvCxnSpPr>
              <p:spPr>
                <a:xfrm flipV="1">
                  <a:off x="5182496" y="4449388"/>
                  <a:ext cx="3203034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箭头连接符 115"/>
                <p:cNvCxnSpPr/>
                <p:nvPr/>
              </p:nvCxnSpPr>
              <p:spPr>
                <a:xfrm rot="5400000" flipH="1" flipV="1">
                  <a:off x="3517549" y="2791662"/>
                  <a:ext cx="3344026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1" name="组合 186"/>
              <p:cNvGrpSpPr/>
              <p:nvPr/>
            </p:nvGrpSpPr>
            <p:grpSpPr>
              <a:xfrm>
                <a:off x="4614491" y="2990440"/>
                <a:ext cx="2619377" cy="200026"/>
                <a:chOff x="5395911" y="3271837"/>
                <a:chExt cx="2619377" cy="200026"/>
              </a:xfrm>
            </p:grpSpPr>
            <p:sp>
              <p:nvSpPr>
                <p:cNvPr id="113" name="任意多边形 112"/>
                <p:cNvSpPr/>
                <p:nvPr/>
              </p:nvSpPr>
              <p:spPr>
                <a:xfrm>
                  <a:off x="5395911" y="3309938"/>
                  <a:ext cx="200025" cy="161925"/>
                </a:xfrm>
                <a:custGeom>
                  <a:avLst/>
                  <a:gdLst>
                    <a:gd name="connsiteX0" fmla="*/ 0 w 209550"/>
                    <a:gd name="connsiteY0" fmla="*/ 161925 h 161925"/>
                    <a:gd name="connsiteX1" fmla="*/ 47625 w 209550"/>
                    <a:gd name="connsiteY1" fmla="*/ 47625 h 161925"/>
                    <a:gd name="connsiteX2" fmla="*/ 209550 w 209550"/>
                    <a:gd name="connsiteY2" fmla="*/ 0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9550" h="161925">
                      <a:moveTo>
                        <a:pt x="0" y="161925"/>
                      </a:moveTo>
                      <a:cubicBezTo>
                        <a:pt x="6350" y="118269"/>
                        <a:pt x="12700" y="74613"/>
                        <a:pt x="47625" y="47625"/>
                      </a:cubicBezTo>
                      <a:cubicBezTo>
                        <a:pt x="82550" y="20638"/>
                        <a:pt x="146050" y="10319"/>
                        <a:pt x="209550" y="0"/>
                      </a:cubicBezTo>
                    </a:path>
                  </a:pathLst>
                </a:cu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114" name="直接连接符 113"/>
                <p:cNvCxnSpPr/>
                <p:nvPr/>
              </p:nvCxnSpPr>
              <p:spPr>
                <a:xfrm flipV="1">
                  <a:off x="5567363" y="3271837"/>
                  <a:ext cx="2447925" cy="381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2" name="直接连接符 111"/>
              <p:cNvCxnSpPr/>
              <p:nvPr/>
            </p:nvCxnSpPr>
            <p:spPr>
              <a:xfrm flipV="1">
                <a:off x="4423227" y="4329629"/>
                <a:ext cx="3065521" cy="141575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任意多边形 87"/>
            <p:cNvSpPr/>
            <p:nvPr/>
          </p:nvSpPr>
          <p:spPr>
            <a:xfrm>
              <a:off x="7116404" y="2964208"/>
              <a:ext cx="314249" cy="1554708"/>
            </a:xfrm>
            <a:custGeom>
              <a:avLst/>
              <a:gdLst>
                <a:gd name="connsiteX0" fmla="*/ 0 w 627961"/>
                <a:gd name="connsiteY0" fmla="*/ 3106757 h 3106757"/>
                <a:gd name="connsiteX1" fmla="*/ 418641 w 627961"/>
                <a:gd name="connsiteY1" fmla="*/ 1443210 h 3106757"/>
                <a:gd name="connsiteX2" fmla="*/ 627961 w 627961"/>
                <a:gd name="connsiteY2" fmla="*/ 0 h 310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7961" h="3106757">
                  <a:moveTo>
                    <a:pt x="0" y="3106757"/>
                  </a:moveTo>
                  <a:cubicBezTo>
                    <a:pt x="156990" y="2533880"/>
                    <a:pt x="313981" y="1961003"/>
                    <a:pt x="418641" y="1443210"/>
                  </a:cubicBezTo>
                  <a:cubicBezTo>
                    <a:pt x="523301" y="925417"/>
                    <a:pt x="575631" y="462708"/>
                    <a:pt x="627961" y="0"/>
                  </a:cubicBezTo>
                </a:path>
              </a:pathLst>
            </a:cu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" name="组合 66"/>
          <p:cNvGrpSpPr/>
          <p:nvPr/>
        </p:nvGrpSpPr>
        <p:grpSpPr>
          <a:xfrm>
            <a:off x="7124731" y="4456634"/>
            <a:ext cx="1527212" cy="474614"/>
            <a:chOff x="4453716" y="4348393"/>
            <a:chExt cx="3051813" cy="948416"/>
          </a:xfrm>
        </p:grpSpPr>
        <p:sp>
          <p:nvSpPr>
            <p:cNvPr id="99" name="Text Box 59"/>
            <p:cNvSpPr txBox="1">
              <a:spLocks noChangeArrowheads="1"/>
            </p:cNvSpPr>
            <p:nvPr/>
          </p:nvSpPr>
          <p:spPr bwMode="auto">
            <a:xfrm>
              <a:off x="5906459" y="4620280"/>
              <a:ext cx="1599070" cy="6765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600" dirty="0">
                  <a:solidFill>
                    <a:srgbClr val="00B0F0"/>
                  </a:solidFill>
                  <a:ea typeface="华文中宋" pitchFamily="2" charset="-122"/>
                  <a:cs typeface="Times New Roman" pitchFamily="18" charset="0"/>
                </a:rPr>
                <a:t>截止区</a:t>
              </a:r>
            </a:p>
          </p:txBody>
        </p:sp>
        <p:sp>
          <p:nvSpPr>
            <p:cNvPr id="100" name="任意多边形 99"/>
            <p:cNvSpPr/>
            <p:nvPr/>
          </p:nvSpPr>
          <p:spPr>
            <a:xfrm>
              <a:off x="4453716" y="4348393"/>
              <a:ext cx="3038475" cy="142875"/>
            </a:xfrm>
            <a:custGeom>
              <a:avLst/>
              <a:gdLst>
                <a:gd name="connsiteX0" fmla="*/ 0 w 3100388"/>
                <a:gd name="connsiteY0" fmla="*/ 161925 h 171450"/>
                <a:gd name="connsiteX1" fmla="*/ 3100388 w 3100388"/>
                <a:gd name="connsiteY1" fmla="*/ 171450 h 171450"/>
                <a:gd name="connsiteX2" fmla="*/ 3024188 w 3100388"/>
                <a:gd name="connsiteY2" fmla="*/ 0 h 171450"/>
                <a:gd name="connsiteX3" fmla="*/ 0 w 3100388"/>
                <a:gd name="connsiteY3" fmla="*/ 1619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0388" h="171450">
                  <a:moveTo>
                    <a:pt x="0" y="161925"/>
                  </a:moveTo>
                  <a:lnTo>
                    <a:pt x="3100388" y="171450"/>
                  </a:lnTo>
                  <a:lnTo>
                    <a:pt x="3024188" y="0"/>
                  </a:lnTo>
                  <a:lnTo>
                    <a:pt x="0" y="16192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3D4A8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path path="rect">
                <a:fillToRect l="100000" t="100000"/>
              </a:path>
              <a:tileRect r="-100000" b="-100000"/>
            </a:gradFill>
            <a:ln w="222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45" grpId="0" autoUpdateAnimBg="0"/>
      <p:bldP spid="46" grpId="0" autoUpdateAnimBg="0"/>
      <p:bldP spid="4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664976" y="1527847"/>
            <a:ext cx="1295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饱和区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:</a:t>
            </a:r>
          </a:p>
        </p:txBody>
      </p:sp>
      <p:graphicFrame>
        <p:nvGraphicFramePr>
          <p:cNvPr id="37" name="Object 10"/>
          <p:cNvGraphicFramePr>
            <a:graphicFrameLocks noChangeAspect="1"/>
          </p:cNvGraphicFramePr>
          <p:nvPr/>
        </p:nvGraphicFramePr>
        <p:xfrm>
          <a:off x="1518003" y="2196121"/>
          <a:ext cx="220663" cy="228600"/>
        </p:xfrm>
        <a:graphic>
          <a:graphicData uri="http://schemas.openxmlformats.org/presentationml/2006/ole">
            <p:oleObj spid="_x0000_s84998" name="CorelDRAW" r:id="rId4" imgW="798120" imgH="824760" progId="">
              <p:embed/>
            </p:oleObj>
          </a:graphicData>
        </a:graphic>
      </p:graphicFrame>
      <p:graphicFrame>
        <p:nvGraphicFramePr>
          <p:cNvPr id="39" name="Object 12"/>
          <p:cNvGraphicFramePr>
            <a:graphicFrameLocks noChangeAspect="1"/>
          </p:cNvGraphicFramePr>
          <p:nvPr/>
        </p:nvGraphicFramePr>
        <p:xfrm>
          <a:off x="1507245" y="2771655"/>
          <a:ext cx="222250" cy="228600"/>
        </p:xfrm>
        <a:graphic>
          <a:graphicData uri="http://schemas.openxmlformats.org/presentationml/2006/ole">
            <p:oleObj spid="_x0000_s85000" name="CorelDRAW" r:id="rId5" imgW="798120" imgH="824760" progId="">
              <p:embed/>
            </p:oleObj>
          </a:graphicData>
        </a:graphic>
      </p:graphicFrame>
      <p:graphicFrame>
        <p:nvGraphicFramePr>
          <p:cNvPr id="40" name="Object 13"/>
          <p:cNvGraphicFramePr>
            <a:graphicFrameLocks noChangeAspect="1"/>
          </p:cNvGraphicFramePr>
          <p:nvPr/>
        </p:nvGraphicFramePr>
        <p:xfrm>
          <a:off x="1507245" y="3369246"/>
          <a:ext cx="222250" cy="228600"/>
        </p:xfrm>
        <a:graphic>
          <a:graphicData uri="http://schemas.openxmlformats.org/presentationml/2006/ole">
            <p:oleObj spid="_x0000_s85001" name="CorelDRAW" r:id="rId6" imgW="798120" imgH="824760" progId="">
              <p:embed/>
            </p:oleObj>
          </a:graphicData>
        </a:graphic>
      </p:graphicFrame>
      <p:sp>
        <p:nvSpPr>
          <p:cNvPr id="48" name="Text Box 21"/>
          <p:cNvSpPr txBox="1">
            <a:spLocks noChangeArrowheads="1"/>
          </p:cNvSpPr>
          <p:nvPr/>
        </p:nvSpPr>
        <p:spPr bwMode="auto">
          <a:xfrm>
            <a:off x="1899002" y="2032608"/>
            <a:ext cx="44473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发射结、集电结处于正偏</a:t>
            </a:r>
          </a:p>
        </p:txBody>
      </p:sp>
      <p:sp>
        <p:nvSpPr>
          <p:cNvPr id="49" name="Text Box 22"/>
          <p:cNvSpPr txBox="1">
            <a:spLocks noChangeArrowheads="1"/>
          </p:cNvSpPr>
          <p:nvPr/>
        </p:nvSpPr>
        <p:spPr bwMode="auto">
          <a:xfrm>
            <a:off x="1932172" y="2608497"/>
            <a:ext cx="45842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失去放大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作用，</a:t>
            </a:r>
            <a:r>
              <a:rPr lang="en-US" altLang="zh-CN" sz="2800" i="1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≠ </a:t>
            </a:r>
            <a:r>
              <a:rPr lang="en-US" altLang="zh-CN" sz="2800" i="1" dirty="0" err="1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βI</a:t>
            </a:r>
            <a:r>
              <a:rPr lang="en-US" altLang="zh-CN" sz="2800" baseline="-25000" dirty="0" err="1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  <a:endParaRPr lang="en-US" altLang="zh-CN" sz="2800" baseline="-25000" dirty="0" smtClean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0" name="Text Box 23"/>
          <p:cNvSpPr txBox="1">
            <a:spLocks noChangeArrowheads="1"/>
          </p:cNvSpPr>
          <p:nvPr/>
        </p:nvSpPr>
        <p:spPr bwMode="auto">
          <a:xfrm>
            <a:off x="1932171" y="3216846"/>
            <a:ext cx="48014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三极管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E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之间相当于短路</a:t>
            </a:r>
          </a:p>
        </p:txBody>
      </p:sp>
      <p:grpSp>
        <p:nvGrpSpPr>
          <p:cNvPr id="3" name="组合 107"/>
          <p:cNvGrpSpPr>
            <a:grpSpLocks/>
          </p:cNvGrpSpPr>
          <p:nvPr/>
        </p:nvGrpSpPr>
        <p:grpSpPr bwMode="auto">
          <a:xfrm>
            <a:off x="7003228" y="1069764"/>
            <a:ext cx="1358369" cy="1679134"/>
            <a:chOff x="7635765" y="824367"/>
            <a:chExt cx="1593385" cy="2309358"/>
          </a:xfrm>
        </p:grpSpPr>
        <p:sp>
          <p:nvSpPr>
            <p:cNvPr id="76" name="Text Box 22"/>
            <p:cNvSpPr txBox="1">
              <a:spLocks noChangeArrowheads="1"/>
            </p:cNvSpPr>
            <p:nvPr/>
          </p:nvSpPr>
          <p:spPr bwMode="auto">
            <a:xfrm>
              <a:off x="7888968" y="1491699"/>
              <a:ext cx="409748" cy="507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  <a:ea typeface="宋体" charset="-122"/>
                </a:rPr>
                <a:t>B</a:t>
              </a:r>
              <a:endParaRPr lang="en-US" altLang="zh-CN" sz="1800" baseline="-25000" dirty="0">
                <a:solidFill>
                  <a:schemeClr val="tx1"/>
                </a:solidFill>
                <a:ea typeface="宋体" charset="-122"/>
              </a:endParaRPr>
            </a:p>
          </p:txBody>
        </p:sp>
        <p:sp>
          <p:nvSpPr>
            <p:cNvPr id="80" name="Line 30"/>
            <p:cNvSpPr>
              <a:spLocks noChangeShapeType="1"/>
            </p:cNvSpPr>
            <p:nvPr/>
          </p:nvSpPr>
          <p:spPr bwMode="auto">
            <a:xfrm>
              <a:off x="8368506" y="1691530"/>
              <a:ext cx="0" cy="533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Line 31"/>
            <p:cNvSpPr>
              <a:spLocks noChangeShapeType="1"/>
            </p:cNvSpPr>
            <p:nvPr/>
          </p:nvSpPr>
          <p:spPr bwMode="auto">
            <a:xfrm flipV="1">
              <a:off x="8368506" y="1624134"/>
              <a:ext cx="304800" cy="2665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Line 32"/>
            <p:cNvSpPr>
              <a:spLocks noChangeShapeType="1"/>
            </p:cNvSpPr>
            <p:nvPr/>
          </p:nvSpPr>
          <p:spPr bwMode="auto">
            <a:xfrm>
              <a:off x="8365331" y="2021022"/>
              <a:ext cx="431800" cy="2516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Line 33"/>
            <p:cNvSpPr>
              <a:spLocks noChangeShapeType="1"/>
            </p:cNvSpPr>
            <p:nvPr/>
          </p:nvSpPr>
          <p:spPr bwMode="auto">
            <a:xfrm>
              <a:off x="8673306" y="824367"/>
              <a:ext cx="0" cy="799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Line 34"/>
            <p:cNvSpPr>
              <a:spLocks noChangeShapeType="1"/>
            </p:cNvSpPr>
            <p:nvPr/>
          </p:nvSpPr>
          <p:spPr bwMode="auto">
            <a:xfrm>
              <a:off x="8749505" y="2224709"/>
              <a:ext cx="0" cy="9090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5" name="Line 35"/>
            <p:cNvSpPr>
              <a:spLocks noChangeShapeType="1"/>
            </p:cNvSpPr>
            <p:nvPr/>
          </p:nvSpPr>
          <p:spPr bwMode="auto">
            <a:xfrm flipV="1">
              <a:off x="7635765" y="1958118"/>
              <a:ext cx="7327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 Box 22"/>
            <p:cNvSpPr txBox="1">
              <a:spLocks noChangeArrowheads="1"/>
            </p:cNvSpPr>
            <p:nvPr/>
          </p:nvSpPr>
          <p:spPr bwMode="auto">
            <a:xfrm>
              <a:off x="8695749" y="2363953"/>
              <a:ext cx="533400" cy="507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  <a:ea typeface="宋体" charset="-122"/>
                </a:rPr>
                <a:t>E</a:t>
              </a:r>
              <a:endParaRPr lang="en-US" altLang="zh-CN" sz="1800" baseline="-25000" dirty="0">
                <a:solidFill>
                  <a:schemeClr val="tx1"/>
                </a:solidFill>
                <a:ea typeface="宋体" charset="-122"/>
              </a:endParaRPr>
            </a:p>
          </p:txBody>
        </p:sp>
        <p:sp>
          <p:nvSpPr>
            <p:cNvPr id="93" name="Text Box 22"/>
            <p:cNvSpPr txBox="1">
              <a:spLocks noChangeArrowheads="1"/>
            </p:cNvSpPr>
            <p:nvPr/>
          </p:nvSpPr>
          <p:spPr bwMode="auto">
            <a:xfrm>
              <a:off x="8695750" y="982109"/>
              <a:ext cx="533400" cy="507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  <a:ea typeface="宋体" charset="-122"/>
                </a:rPr>
                <a:t>C</a:t>
              </a:r>
              <a:endParaRPr lang="en-US" altLang="zh-CN" sz="1800" baseline="-25000" dirty="0">
                <a:solidFill>
                  <a:schemeClr val="tx1"/>
                </a:solidFill>
                <a:ea typeface="宋体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918881" y="1023486"/>
            <a:ext cx="950843" cy="1704680"/>
            <a:chOff x="6918881" y="1023486"/>
            <a:chExt cx="950843" cy="1704680"/>
          </a:xfrm>
        </p:grpSpPr>
        <p:grpSp>
          <p:nvGrpSpPr>
            <p:cNvPr id="4" name="组合 98"/>
            <p:cNvGrpSpPr/>
            <p:nvPr/>
          </p:nvGrpSpPr>
          <p:grpSpPr>
            <a:xfrm>
              <a:off x="6931991" y="1930994"/>
              <a:ext cx="315302" cy="369332"/>
              <a:chOff x="7397932" y="1939286"/>
              <a:chExt cx="315302" cy="369332"/>
            </a:xfrm>
          </p:grpSpPr>
          <p:sp>
            <p:nvSpPr>
              <p:cNvPr id="94" name="椭圆 93"/>
              <p:cNvSpPr/>
              <p:nvPr/>
            </p:nvSpPr>
            <p:spPr>
              <a:xfrm>
                <a:off x="7432301" y="1992630"/>
                <a:ext cx="252000" cy="252000"/>
              </a:xfrm>
              <a:prstGeom prst="ellips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Text Box 22"/>
              <p:cNvSpPr txBox="1">
                <a:spLocks noChangeArrowheads="1"/>
              </p:cNvSpPr>
              <p:nvPr/>
            </p:nvSpPr>
            <p:spPr bwMode="auto">
              <a:xfrm>
                <a:off x="7397932" y="1939286"/>
                <a:ext cx="3153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 smtClean="0">
                    <a:solidFill>
                      <a:schemeClr val="tx1"/>
                    </a:solidFill>
                    <a:ea typeface="宋体" charset="-122"/>
                  </a:rPr>
                  <a:t>+</a:t>
                </a:r>
                <a:endParaRPr lang="en-US" altLang="zh-CN" sz="1800" baseline="-25000" dirty="0">
                  <a:solidFill>
                    <a:schemeClr val="tx1"/>
                  </a:solidFill>
                  <a:ea typeface="宋体" charset="-122"/>
                </a:endParaRPr>
              </a:p>
            </p:txBody>
          </p:sp>
        </p:grpSp>
        <p:grpSp>
          <p:nvGrpSpPr>
            <p:cNvPr id="5" name="组合 99"/>
            <p:cNvGrpSpPr/>
            <p:nvPr/>
          </p:nvGrpSpPr>
          <p:grpSpPr>
            <a:xfrm>
              <a:off x="7537781" y="2358834"/>
              <a:ext cx="315302" cy="369332"/>
              <a:chOff x="7946572" y="2348076"/>
              <a:chExt cx="315302" cy="369332"/>
            </a:xfrm>
          </p:grpSpPr>
          <p:sp>
            <p:nvSpPr>
              <p:cNvPr id="96" name="Text Box 22"/>
              <p:cNvSpPr txBox="1">
                <a:spLocks noChangeArrowheads="1"/>
              </p:cNvSpPr>
              <p:nvPr/>
            </p:nvSpPr>
            <p:spPr bwMode="auto">
              <a:xfrm>
                <a:off x="7946572" y="2348076"/>
                <a:ext cx="3153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 smtClean="0">
                    <a:solidFill>
                      <a:schemeClr val="tx1"/>
                    </a:solidFill>
                    <a:ea typeface="宋体" charset="-122"/>
                  </a:rPr>
                  <a:t>-</a:t>
                </a:r>
                <a:endParaRPr lang="en-US" altLang="zh-CN" sz="1800" baseline="-25000" dirty="0">
                  <a:solidFill>
                    <a:schemeClr val="tx1"/>
                  </a:solidFill>
                  <a:ea typeface="宋体" charset="-122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7960659" y="2431228"/>
                <a:ext cx="252000" cy="252000"/>
              </a:xfrm>
              <a:prstGeom prst="ellips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100"/>
            <p:cNvGrpSpPr/>
            <p:nvPr/>
          </p:nvGrpSpPr>
          <p:grpSpPr>
            <a:xfrm>
              <a:off x="6956556" y="1023486"/>
              <a:ext cx="913168" cy="794201"/>
              <a:chOff x="7951134" y="1874740"/>
              <a:chExt cx="913168" cy="794201"/>
            </a:xfrm>
          </p:grpSpPr>
          <p:sp>
            <p:nvSpPr>
              <p:cNvPr id="102" name="Text Box 22"/>
              <p:cNvSpPr txBox="1">
                <a:spLocks noChangeArrowheads="1"/>
              </p:cNvSpPr>
              <p:nvPr/>
            </p:nvSpPr>
            <p:spPr bwMode="auto">
              <a:xfrm>
                <a:off x="8549000" y="1874740"/>
                <a:ext cx="3153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 smtClean="0">
                    <a:solidFill>
                      <a:schemeClr val="tx1"/>
                    </a:solidFill>
                    <a:ea typeface="宋体" charset="-122"/>
                  </a:rPr>
                  <a:t>-</a:t>
                </a:r>
                <a:endParaRPr lang="en-US" altLang="zh-CN" sz="1800" baseline="-25000" dirty="0">
                  <a:solidFill>
                    <a:schemeClr val="tx1"/>
                  </a:solidFill>
                  <a:ea typeface="宋体" charset="-122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7951134" y="2416941"/>
                <a:ext cx="252000" cy="252000"/>
              </a:xfrm>
              <a:prstGeom prst="ellips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103"/>
            <p:cNvGrpSpPr/>
            <p:nvPr/>
          </p:nvGrpSpPr>
          <p:grpSpPr>
            <a:xfrm>
              <a:off x="6918881" y="1098513"/>
              <a:ext cx="904316" cy="779799"/>
              <a:chOff x="6784747" y="2002155"/>
              <a:chExt cx="904316" cy="779799"/>
            </a:xfrm>
          </p:grpSpPr>
          <p:sp>
            <p:nvSpPr>
              <p:cNvPr id="105" name="椭圆 104"/>
              <p:cNvSpPr/>
              <p:nvPr/>
            </p:nvSpPr>
            <p:spPr>
              <a:xfrm>
                <a:off x="7437063" y="2002155"/>
                <a:ext cx="252000" cy="252000"/>
              </a:xfrm>
              <a:prstGeom prst="ellips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Text Box 22"/>
              <p:cNvSpPr txBox="1">
                <a:spLocks noChangeArrowheads="1"/>
              </p:cNvSpPr>
              <p:nvPr/>
            </p:nvSpPr>
            <p:spPr bwMode="auto">
              <a:xfrm>
                <a:off x="6784747" y="2412622"/>
                <a:ext cx="3153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 smtClean="0">
                    <a:solidFill>
                      <a:schemeClr val="tx1"/>
                    </a:solidFill>
                    <a:ea typeface="宋体" charset="-122"/>
                  </a:rPr>
                  <a:t>+</a:t>
                </a:r>
                <a:endParaRPr lang="en-US" altLang="zh-CN" sz="1800" baseline="-25000" dirty="0">
                  <a:solidFill>
                    <a:schemeClr val="tx1"/>
                  </a:solidFill>
                  <a:ea typeface="宋体" charset="-122"/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6881618" y="757789"/>
            <a:ext cx="1541248" cy="1046807"/>
            <a:chOff x="5913429" y="650213"/>
            <a:chExt cx="1541248" cy="1046807"/>
          </a:xfrm>
        </p:grpSpPr>
        <p:sp>
          <p:nvSpPr>
            <p:cNvPr id="35" name="Line 25"/>
            <p:cNvSpPr>
              <a:spLocks noChangeShapeType="1"/>
            </p:cNvSpPr>
            <p:nvPr/>
          </p:nvSpPr>
          <p:spPr bwMode="auto">
            <a:xfrm flipH="1">
              <a:off x="7000909" y="813855"/>
              <a:ext cx="0" cy="369485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 Box 26"/>
            <p:cNvSpPr txBox="1">
              <a:spLocks noChangeArrowheads="1"/>
            </p:cNvSpPr>
            <p:nvPr/>
          </p:nvSpPr>
          <p:spPr bwMode="auto">
            <a:xfrm>
              <a:off x="6999951" y="650213"/>
              <a:ext cx="45472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  <a:ea typeface="宋体" charset="-122"/>
                </a:rPr>
                <a:t>I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宋体" charset="-122"/>
                </a:rPr>
                <a:t>C</a:t>
              </a:r>
            </a:p>
          </p:txBody>
        </p:sp>
        <p:sp>
          <p:nvSpPr>
            <p:cNvPr id="38" name="Line 25"/>
            <p:cNvSpPr>
              <a:spLocks noChangeShapeType="1"/>
            </p:cNvSpPr>
            <p:nvPr/>
          </p:nvSpPr>
          <p:spPr bwMode="auto">
            <a:xfrm>
              <a:off x="5959736" y="1697020"/>
              <a:ext cx="417229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 Box 26"/>
            <p:cNvSpPr txBox="1">
              <a:spLocks noChangeArrowheads="1"/>
            </p:cNvSpPr>
            <p:nvPr/>
          </p:nvSpPr>
          <p:spPr bwMode="auto">
            <a:xfrm>
              <a:off x="5913429" y="1209612"/>
              <a:ext cx="45472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 dirty="0" smtClean="0">
                  <a:solidFill>
                    <a:schemeClr val="tx1"/>
                  </a:solidFill>
                  <a:ea typeface="宋体" charset="-122"/>
                </a:rPr>
                <a:t>I</a:t>
              </a:r>
              <a:r>
                <a:rPr lang="en-US" altLang="zh-CN" sz="2400" baseline="-25000" dirty="0" smtClean="0">
                  <a:solidFill>
                    <a:schemeClr val="tx1"/>
                  </a:solidFill>
                  <a:ea typeface="宋体" charset="-122"/>
                </a:rPr>
                <a:t>B</a:t>
              </a:r>
              <a:endParaRPr lang="en-US" altLang="zh-CN" sz="2400" baseline="-25000" dirty="0">
                <a:solidFill>
                  <a:schemeClr val="tx1"/>
                </a:solidFill>
                <a:ea typeface="宋体" charset="-122"/>
              </a:endParaRPr>
            </a:p>
          </p:txBody>
        </p:sp>
      </p:grpSp>
      <p:grpSp>
        <p:nvGrpSpPr>
          <p:cNvPr id="47" name="组合 69"/>
          <p:cNvGrpSpPr/>
          <p:nvPr/>
        </p:nvGrpSpPr>
        <p:grpSpPr>
          <a:xfrm>
            <a:off x="6337561" y="2976612"/>
            <a:ext cx="1093819" cy="1496705"/>
            <a:chOff x="2880722" y="1390880"/>
            <a:chExt cx="2185769" cy="2990850"/>
          </a:xfrm>
        </p:grpSpPr>
        <p:sp>
          <p:nvSpPr>
            <p:cNvPr id="51" name="Text Box 61"/>
            <p:cNvSpPr txBox="1">
              <a:spLocks noChangeArrowheads="1"/>
            </p:cNvSpPr>
            <p:nvPr/>
          </p:nvSpPr>
          <p:spPr bwMode="auto">
            <a:xfrm>
              <a:off x="2880722" y="2710984"/>
              <a:ext cx="1599071" cy="6765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600" dirty="0">
                  <a:solidFill>
                    <a:srgbClr val="0070C0"/>
                  </a:solidFill>
                  <a:ea typeface="华文中宋" pitchFamily="2" charset="-122"/>
                  <a:cs typeface="Times New Roman" pitchFamily="18" charset="0"/>
                </a:rPr>
                <a:t>饱和区</a:t>
              </a:r>
            </a:p>
          </p:txBody>
        </p:sp>
        <p:sp>
          <p:nvSpPr>
            <p:cNvPr id="52" name="任意多边形 51"/>
            <p:cNvSpPr/>
            <p:nvPr/>
          </p:nvSpPr>
          <p:spPr>
            <a:xfrm>
              <a:off x="4450541" y="1390880"/>
              <a:ext cx="615950" cy="2990850"/>
            </a:xfrm>
            <a:custGeom>
              <a:avLst/>
              <a:gdLst>
                <a:gd name="connsiteX0" fmla="*/ 6350 w 615950"/>
                <a:gd name="connsiteY0" fmla="*/ 2990850 h 2990850"/>
                <a:gd name="connsiteX1" fmla="*/ 419100 w 615950"/>
                <a:gd name="connsiteY1" fmla="*/ 1352550 h 2990850"/>
                <a:gd name="connsiteX2" fmla="*/ 615950 w 615950"/>
                <a:gd name="connsiteY2" fmla="*/ 0 h 2990850"/>
                <a:gd name="connsiteX3" fmla="*/ 0 w 615950"/>
                <a:gd name="connsiteY3" fmla="*/ 6350 h 2990850"/>
                <a:gd name="connsiteX4" fmla="*/ 6350 w 615950"/>
                <a:gd name="connsiteY4" fmla="*/ 2990850 h 2990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5950" h="2990850">
                  <a:moveTo>
                    <a:pt x="6350" y="2990850"/>
                  </a:moveTo>
                  <a:lnTo>
                    <a:pt x="419100" y="1352550"/>
                  </a:lnTo>
                  <a:lnTo>
                    <a:pt x="615950" y="0"/>
                  </a:lnTo>
                  <a:lnTo>
                    <a:pt x="0" y="6350"/>
                  </a:lnTo>
                  <a:cubicBezTo>
                    <a:pt x="2117" y="1001183"/>
                    <a:pt x="4233" y="1996017"/>
                    <a:pt x="6350" y="299085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222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6772837" y="2866754"/>
            <a:ext cx="2240965" cy="1959771"/>
            <a:chOff x="6772837" y="2866754"/>
            <a:chExt cx="2240965" cy="1959771"/>
          </a:xfrm>
        </p:grpSpPr>
        <p:sp>
          <p:nvSpPr>
            <p:cNvPr id="45" name="任意多边形 44"/>
            <p:cNvSpPr/>
            <p:nvPr/>
          </p:nvSpPr>
          <p:spPr>
            <a:xfrm>
              <a:off x="7116404" y="2964208"/>
              <a:ext cx="314249" cy="1554708"/>
            </a:xfrm>
            <a:custGeom>
              <a:avLst/>
              <a:gdLst>
                <a:gd name="connsiteX0" fmla="*/ 0 w 627961"/>
                <a:gd name="connsiteY0" fmla="*/ 3106757 h 3106757"/>
                <a:gd name="connsiteX1" fmla="*/ 418641 w 627961"/>
                <a:gd name="connsiteY1" fmla="*/ 1443210 h 3106757"/>
                <a:gd name="connsiteX2" fmla="*/ 627961 w 627961"/>
                <a:gd name="connsiteY2" fmla="*/ 0 h 310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7961" h="3106757">
                  <a:moveTo>
                    <a:pt x="0" y="3106757"/>
                  </a:moveTo>
                  <a:cubicBezTo>
                    <a:pt x="156990" y="2533880"/>
                    <a:pt x="313981" y="1961003"/>
                    <a:pt x="418641" y="1443210"/>
                  </a:cubicBezTo>
                  <a:cubicBezTo>
                    <a:pt x="523301" y="925417"/>
                    <a:pt x="575631" y="462708"/>
                    <a:pt x="627961" y="0"/>
                  </a:cubicBezTo>
                </a:path>
              </a:pathLst>
            </a:cu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6772837" y="2866754"/>
              <a:ext cx="2240965" cy="1959771"/>
              <a:chOff x="6772837" y="2866754"/>
              <a:chExt cx="2240965" cy="1959771"/>
            </a:xfrm>
          </p:grpSpPr>
          <p:sp>
            <p:nvSpPr>
              <p:cNvPr id="44" name="Text Box 62"/>
              <p:cNvSpPr txBox="1">
                <a:spLocks noChangeArrowheads="1"/>
              </p:cNvSpPr>
              <p:nvPr/>
            </p:nvSpPr>
            <p:spPr bwMode="auto">
              <a:xfrm>
                <a:off x="7552458" y="3426412"/>
                <a:ext cx="800219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16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放大区</a:t>
                </a:r>
              </a:p>
            </p:txBody>
          </p:sp>
          <p:grpSp>
            <p:nvGrpSpPr>
              <p:cNvPr id="43" name="组合 33"/>
              <p:cNvGrpSpPr/>
              <p:nvPr/>
            </p:nvGrpSpPr>
            <p:grpSpPr>
              <a:xfrm>
                <a:off x="6772837" y="2866754"/>
                <a:ext cx="2240965" cy="1959771"/>
                <a:chOff x="3750530" y="1171351"/>
                <a:chExt cx="4478100" cy="3916192"/>
              </a:xfrm>
            </p:grpSpPr>
            <p:sp>
              <p:nvSpPr>
                <p:cNvPr id="55" name="Rectangle 13"/>
                <p:cNvSpPr>
                  <a:spLocks noChangeArrowheads="1"/>
                </p:cNvSpPr>
                <p:nvPr/>
              </p:nvSpPr>
              <p:spPr bwMode="auto">
                <a:xfrm>
                  <a:off x="7292635" y="4472515"/>
                  <a:ext cx="935995" cy="6150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400" i="1" dirty="0">
                      <a:solidFill>
                        <a:schemeClr val="tx1"/>
                      </a:solidFill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1400" baseline="-25000" dirty="0">
                      <a:solidFill>
                        <a:schemeClr val="tx1"/>
                      </a:solidFill>
                      <a:ea typeface="华文中宋" pitchFamily="2" charset="-122"/>
                      <a:cs typeface="Times New Roman" pitchFamily="18" charset="0"/>
                    </a:rPr>
                    <a:t>CE</a:t>
                  </a:r>
                </a:p>
              </p:txBody>
            </p:sp>
            <p:sp>
              <p:nvSpPr>
                <p:cNvPr id="56" name="Rectangle 14"/>
                <p:cNvSpPr>
                  <a:spLocks noChangeArrowheads="1"/>
                </p:cNvSpPr>
                <p:nvPr/>
              </p:nvSpPr>
              <p:spPr bwMode="auto">
                <a:xfrm>
                  <a:off x="3750530" y="1194801"/>
                  <a:ext cx="647702" cy="6150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400" i="1" dirty="0">
                      <a:solidFill>
                        <a:schemeClr val="tx1"/>
                      </a:solidFill>
                      <a:ea typeface="华文中宋" pitchFamily="2" charset="-122"/>
                      <a:cs typeface="Times New Roman" pitchFamily="18" charset="0"/>
                    </a:rPr>
                    <a:t>I</a:t>
                  </a:r>
                  <a:r>
                    <a:rPr lang="en-US" altLang="zh-CN" sz="1400" baseline="-25000" dirty="0">
                      <a:solidFill>
                        <a:schemeClr val="tx1"/>
                      </a:solidFill>
                      <a:ea typeface="华文中宋" pitchFamily="2" charset="-122"/>
                      <a:cs typeface="Times New Roman" pitchFamily="18" charset="0"/>
                    </a:rPr>
                    <a:t>C</a:t>
                  </a:r>
                </a:p>
              </p:txBody>
            </p:sp>
            <p:grpSp>
              <p:nvGrpSpPr>
                <p:cNvPr id="57" name="组合 170"/>
                <p:cNvGrpSpPr/>
                <p:nvPr/>
              </p:nvGrpSpPr>
              <p:grpSpPr>
                <a:xfrm>
                  <a:off x="4519613" y="3695520"/>
                  <a:ext cx="2626120" cy="200026"/>
                  <a:chOff x="5389168" y="3271837"/>
                  <a:chExt cx="2626120" cy="200026"/>
                </a:xfrm>
              </p:grpSpPr>
              <p:sp>
                <p:nvSpPr>
                  <p:cNvPr id="74" name="任意多边形 73"/>
                  <p:cNvSpPr/>
                  <p:nvPr/>
                </p:nvSpPr>
                <p:spPr>
                  <a:xfrm>
                    <a:off x="5389168" y="3309938"/>
                    <a:ext cx="192481" cy="161925"/>
                  </a:xfrm>
                  <a:custGeom>
                    <a:avLst/>
                    <a:gdLst>
                      <a:gd name="connsiteX0" fmla="*/ 0 w 209550"/>
                      <a:gd name="connsiteY0" fmla="*/ 161925 h 161925"/>
                      <a:gd name="connsiteX1" fmla="*/ 47625 w 209550"/>
                      <a:gd name="connsiteY1" fmla="*/ 47625 h 161925"/>
                      <a:gd name="connsiteX2" fmla="*/ 209550 w 209550"/>
                      <a:gd name="connsiteY2" fmla="*/ 0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09550" h="161925">
                        <a:moveTo>
                          <a:pt x="0" y="161925"/>
                        </a:moveTo>
                        <a:cubicBezTo>
                          <a:pt x="6350" y="118269"/>
                          <a:pt x="12700" y="74613"/>
                          <a:pt x="47625" y="47625"/>
                        </a:cubicBezTo>
                        <a:cubicBezTo>
                          <a:pt x="82550" y="20638"/>
                          <a:pt x="146050" y="10319"/>
                          <a:pt x="209550" y="0"/>
                        </a:cubicBezTo>
                      </a:path>
                    </a:pathLst>
                  </a:cu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75" name="直接连接符 74"/>
                  <p:cNvCxnSpPr/>
                  <p:nvPr/>
                </p:nvCxnSpPr>
                <p:spPr>
                  <a:xfrm flipV="1">
                    <a:off x="5567363" y="3271837"/>
                    <a:ext cx="2447925" cy="3810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" name="组合 173"/>
                <p:cNvGrpSpPr/>
                <p:nvPr/>
              </p:nvGrpSpPr>
              <p:grpSpPr>
                <a:xfrm>
                  <a:off x="4441837" y="2197628"/>
                  <a:ext cx="2847975" cy="2300290"/>
                  <a:chOff x="5192021" y="2145926"/>
                  <a:chExt cx="2847975" cy="2300290"/>
                </a:xfrm>
              </p:grpSpPr>
              <p:cxnSp>
                <p:nvCxnSpPr>
                  <p:cNvPr id="70" name="直接连接符 69"/>
                  <p:cNvCxnSpPr/>
                  <p:nvPr/>
                </p:nvCxnSpPr>
                <p:spPr>
                  <a:xfrm rot="5400000" flipH="1" flipV="1">
                    <a:off x="4332389" y="3338934"/>
                    <a:ext cx="1966914" cy="247649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1" name="组合 200"/>
                  <p:cNvGrpSpPr/>
                  <p:nvPr/>
                </p:nvGrpSpPr>
                <p:grpSpPr>
                  <a:xfrm>
                    <a:off x="5439671" y="2145926"/>
                    <a:ext cx="2600325" cy="333375"/>
                    <a:chOff x="5514975" y="2038350"/>
                    <a:chExt cx="2600325" cy="333375"/>
                  </a:xfrm>
                </p:grpSpPr>
                <p:sp>
                  <p:nvSpPr>
                    <p:cNvPr id="72" name="任意多边形 71"/>
                    <p:cNvSpPr/>
                    <p:nvPr/>
                  </p:nvSpPr>
                  <p:spPr>
                    <a:xfrm>
                      <a:off x="5514975" y="2128838"/>
                      <a:ext cx="376238" cy="242887"/>
                    </a:xfrm>
                    <a:custGeom>
                      <a:avLst/>
                      <a:gdLst>
                        <a:gd name="connsiteX0" fmla="*/ 0 w 376238"/>
                        <a:gd name="connsiteY0" fmla="*/ 242887 h 242887"/>
                        <a:gd name="connsiteX1" fmla="*/ 128588 w 376238"/>
                        <a:gd name="connsiteY1" fmla="*/ 76200 h 242887"/>
                        <a:gd name="connsiteX2" fmla="*/ 376238 w 376238"/>
                        <a:gd name="connsiteY2" fmla="*/ 0 h 2428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376238" h="242887">
                          <a:moveTo>
                            <a:pt x="0" y="242887"/>
                          </a:moveTo>
                          <a:cubicBezTo>
                            <a:pt x="32941" y="179784"/>
                            <a:pt x="65882" y="116681"/>
                            <a:pt x="128588" y="76200"/>
                          </a:cubicBezTo>
                          <a:cubicBezTo>
                            <a:pt x="191294" y="35719"/>
                            <a:pt x="283766" y="17859"/>
                            <a:pt x="376238" y="0"/>
                          </a:cubicBezTo>
                        </a:path>
                      </a:pathLst>
                    </a:custGeom>
                    <a:ln w="2222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p:txBody>
                </p:sp>
                <p:cxnSp>
                  <p:nvCxnSpPr>
                    <p:cNvPr id="73" name="直接连接符 72"/>
                    <p:cNvCxnSpPr>
                      <a:stCxn id="72" idx="2"/>
                    </p:cNvCxnSpPr>
                    <p:nvPr/>
                  </p:nvCxnSpPr>
                  <p:spPr>
                    <a:xfrm flipV="1">
                      <a:off x="5891213" y="2038350"/>
                      <a:ext cx="2224087" cy="90488"/>
                    </a:xfrm>
                    <a:prstGeom prst="line">
                      <a:avLst/>
                    </a:prstGeom>
                    <a:ln w="2222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59" name="组合 178"/>
                <p:cNvGrpSpPr/>
                <p:nvPr/>
              </p:nvGrpSpPr>
              <p:grpSpPr>
                <a:xfrm>
                  <a:off x="4652963" y="1476264"/>
                  <a:ext cx="2648440" cy="1352666"/>
                  <a:chOff x="5533535" y="990600"/>
                  <a:chExt cx="2648440" cy="1370278"/>
                </a:xfrm>
              </p:grpSpPr>
              <p:cxnSp>
                <p:nvCxnSpPr>
                  <p:cNvPr id="67" name="直接连接符 66"/>
                  <p:cNvCxnSpPr/>
                  <p:nvPr/>
                </p:nvCxnSpPr>
                <p:spPr>
                  <a:xfrm rot="5400000" flipH="1" flipV="1">
                    <a:off x="5088616" y="1757410"/>
                    <a:ext cx="1048387" cy="158549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8" name="任意多边形 67"/>
                  <p:cNvSpPr/>
                  <p:nvPr/>
                </p:nvSpPr>
                <p:spPr>
                  <a:xfrm>
                    <a:off x="5686425" y="1076325"/>
                    <a:ext cx="280988" cy="238125"/>
                  </a:xfrm>
                  <a:custGeom>
                    <a:avLst/>
                    <a:gdLst>
                      <a:gd name="connsiteX0" fmla="*/ 0 w 376238"/>
                      <a:gd name="connsiteY0" fmla="*/ 242887 h 242887"/>
                      <a:gd name="connsiteX1" fmla="*/ 128588 w 376238"/>
                      <a:gd name="connsiteY1" fmla="*/ 76200 h 242887"/>
                      <a:gd name="connsiteX2" fmla="*/ 376238 w 376238"/>
                      <a:gd name="connsiteY2" fmla="*/ 0 h 242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76238" h="242887">
                        <a:moveTo>
                          <a:pt x="0" y="242887"/>
                        </a:moveTo>
                        <a:cubicBezTo>
                          <a:pt x="32941" y="179784"/>
                          <a:pt x="65882" y="116681"/>
                          <a:pt x="128588" y="76200"/>
                        </a:cubicBezTo>
                        <a:cubicBezTo>
                          <a:pt x="191294" y="35719"/>
                          <a:pt x="283766" y="17859"/>
                          <a:pt x="376238" y="0"/>
                        </a:cubicBezTo>
                      </a:path>
                    </a:pathLst>
                  </a:cu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69" name="直接连接符 68"/>
                  <p:cNvCxnSpPr/>
                  <p:nvPr/>
                </p:nvCxnSpPr>
                <p:spPr>
                  <a:xfrm flipV="1">
                    <a:off x="5957888" y="990600"/>
                    <a:ext cx="2224087" cy="90488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0" name="组合 182"/>
                <p:cNvGrpSpPr/>
                <p:nvPr/>
              </p:nvGrpSpPr>
              <p:grpSpPr>
                <a:xfrm>
                  <a:off x="4432312" y="1171351"/>
                  <a:ext cx="3203034" cy="3344026"/>
                  <a:chOff x="5182496" y="1119649"/>
                  <a:chExt cx="3203034" cy="3344026"/>
                </a:xfrm>
              </p:grpSpPr>
              <p:cxnSp>
                <p:nvCxnSpPr>
                  <p:cNvPr id="65" name="直接箭头连接符 64"/>
                  <p:cNvCxnSpPr/>
                  <p:nvPr/>
                </p:nvCxnSpPr>
                <p:spPr>
                  <a:xfrm flipV="1">
                    <a:off x="5182496" y="4449388"/>
                    <a:ext cx="3203034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直接箭头连接符 65"/>
                  <p:cNvCxnSpPr/>
                  <p:nvPr/>
                </p:nvCxnSpPr>
                <p:spPr>
                  <a:xfrm rot="5400000" flipH="1" flipV="1">
                    <a:off x="3517549" y="2791662"/>
                    <a:ext cx="3344026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 w="med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1" name="组合 186"/>
                <p:cNvGrpSpPr/>
                <p:nvPr/>
              </p:nvGrpSpPr>
              <p:grpSpPr>
                <a:xfrm>
                  <a:off x="4614491" y="2990440"/>
                  <a:ext cx="2619377" cy="200026"/>
                  <a:chOff x="5395911" y="3271837"/>
                  <a:chExt cx="2619377" cy="200026"/>
                </a:xfrm>
              </p:grpSpPr>
              <p:sp>
                <p:nvSpPr>
                  <p:cNvPr id="63" name="任意多边形 62"/>
                  <p:cNvSpPr/>
                  <p:nvPr/>
                </p:nvSpPr>
                <p:spPr>
                  <a:xfrm>
                    <a:off x="5395911" y="3309938"/>
                    <a:ext cx="200025" cy="161925"/>
                  </a:xfrm>
                  <a:custGeom>
                    <a:avLst/>
                    <a:gdLst>
                      <a:gd name="connsiteX0" fmla="*/ 0 w 209550"/>
                      <a:gd name="connsiteY0" fmla="*/ 161925 h 161925"/>
                      <a:gd name="connsiteX1" fmla="*/ 47625 w 209550"/>
                      <a:gd name="connsiteY1" fmla="*/ 47625 h 161925"/>
                      <a:gd name="connsiteX2" fmla="*/ 209550 w 209550"/>
                      <a:gd name="connsiteY2" fmla="*/ 0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09550" h="161925">
                        <a:moveTo>
                          <a:pt x="0" y="161925"/>
                        </a:moveTo>
                        <a:cubicBezTo>
                          <a:pt x="6350" y="118269"/>
                          <a:pt x="12700" y="74613"/>
                          <a:pt x="47625" y="47625"/>
                        </a:cubicBezTo>
                        <a:cubicBezTo>
                          <a:pt x="82550" y="20638"/>
                          <a:pt x="146050" y="10319"/>
                          <a:pt x="209550" y="0"/>
                        </a:cubicBezTo>
                      </a:path>
                    </a:pathLst>
                  </a:cu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64" name="直接连接符 63"/>
                  <p:cNvCxnSpPr/>
                  <p:nvPr/>
                </p:nvCxnSpPr>
                <p:spPr>
                  <a:xfrm flipV="1">
                    <a:off x="5567363" y="3271837"/>
                    <a:ext cx="2447925" cy="3810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2" name="直接连接符 61"/>
                <p:cNvCxnSpPr/>
                <p:nvPr/>
              </p:nvCxnSpPr>
              <p:spPr>
                <a:xfrm flipV="1">
                  <a:off x="4423227" y="4329629"/>
                  <a:ext cx="3065521" cy="141575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78" name="Text Box 2"/>
          <p:cNvSpPr txBox="1">
            <a:spLocks noChangeArrowheads="1"/>
          </p:cNvSpPr>
          <p:nvPr/>
        </p:nvSpPr>
        <p:spPr bwMode="auto">
          <a:xfrm>
            <a:off x="491413" y="533400"/>
            <a:ext cx="525690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三极</a:t>
            </a:r>
            <a:r>
              <a:rPr lang="zh-CN" altLang="en-US" sz="32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管</a:t>
            </a:r>
            <a:r>
              <a:rPr lang="zh-CN" altLang="en-US" sz="32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三个工作区的</a:t>
            </a:r>
            <a:r>
              <a:rPr lang="zh-CN" altLang="en-US" sz="32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特点</a:t>
            </a:r>
            <a:endParaRPr lang="en-US" altLang="zh-CN" sz="3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utoUpdateAnimBg="0"/>
      <p:bldP spid="48" grpId="0" autoUpdateAnimBg="0"/>
      <p:bldP spid="49" grpId="0" autoUpdateAnimBg="0"/>
      <p:bldP spid="5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631115" y="1526690"/>
            <a:ext cx="15849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放大区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:</a:t>
            </a:r>
          </a:p>
        </p:txBody>
      </p:sp>
      <p:graphicFrame>
        <p:nvGraphicFramePr>
          <p:cNvPr id="32" name="Object 6"/>
          <p:cNvGraphicFramePr>
            <a:graphicFrameLocks noChangeAspect="1"/>
          </p:cNvGraphicFramePr>
          <p:nvPr/>
        </p:nvGraphicFramePr>
        <p:xfrm>
          <a:off x="1526287" y="2211052"/>
          <a:ext cx="220663" cy="228600"/>
        </p:xfrm>
        <a:graphic>
          <a:graphicData uri="http://schemas.openxmlformats.org/presentationml/2006/ole">
            <p:oleObj spid="_x0000_s3086" name="CorelDRAW" r:id="rId4" imgW="798120" imgH="824760" progId="">
              <p:embed/>
            </p:oleObj>
          </a:graphicData>
        </a:graphic>
      </p:graphicFrame>
      <p:graphicFrame>
        <p:nvGraphicFramePr>
          <p:cNvPr id="33" name="Object 7"/>
          <p:cNvGraphicFramePr>
            <a:graphicFrameLocks noChangeAspect="1"/>
          </p:cNvGraphicFramePr>
          <p:nvPr/>
        </p:nvGraphicFramePr>
        <p:xfrm>
          <a:off x="1526287" y="2754313"/>
          <a:ext cx="222250" cy="228600"/>
        </p:xfrm>
        <a:graphic>
          <a:graphicData uri="http://schemas.openxmlformats.org/presentationml/2006/ole">
            <p:oleObj spid="_x0000_s3087" name="CorelDRAW" r:id="rId5" imgW="798120" imgH="824760" progId="">
              <p:embed/>
            </p:oleObj>
          </a:graphicData>
        </a:graphic>
      </p:graphicFrame>
      <p:graphicFrame>
        <p:nvGraphicFramePr>
          <p:cNvPr id="41" name="Object 14"/>
          <p:cNvGraphicFramePr>
            <a:graphicFrameLocks noChangeAspect="1"/>
          </p:cNvGraphicFramePr>
          <p:nvPr/>
        </p:nvGraphicFramePr>
        <p:xfrm>
          <a:off x="1515530" y="3291765"/>
          <a:ext cx="222250" cy="228600"/>
        </p:xfrm>
        <a:graphic>
          <a:graphicData uri="http://schemas.openxmlformats.org/presentationml/2006/ole">
            <p:oleObj spid="_x0000_s3094" name="CorelDRAW" r:id="rId6" imgW="798120" imgH="824760" progId="">
              <p:embed/>
            </p:oleObj>
          </a:graphicData>
        </a:graphic>
      </p:graphicFrame>
      <p:sp>
        <p:nvSpPr>
          <p:cNvPr id="42" name="Text Box 15"/>
          <p:cNvSpPr txBox="1">
            <a:spLocks noChangeArrowheads="1"/>
          </p:cNvSpPr>
          <p:nvPr/>
        </p:nvSpPr>
        <p:spPr bwMode="auto">
          <a:xfrm>
            <a:off x="1841845" y="2059548"/>
            <a:ext cx="431919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发射结正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偏，集电结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反偏</a:t>
            </a:r>
          </a:p>
        </p:txBody>
      </p:sp>
      <p:sp>
        <p:nvSpPr>
          <p:cNvPr id="43" name="Text Box 16"/>
          <p:cNvSpPr txBox="1">
            <a:spLocks noChangeArrowheads="1"/>
          </p:cNvSpPr>
          <p:nvPr/>
        </p:nvSpPr>
        <p:spPr bwMode="auto">
          <a:xfrm>
            <a:off x="1831086" y="2592052"/>
            <a:ext cx="43837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有电流放大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作用，</a:t>
            </a:r>
            <a:r>
              <a:rPr lang="en-US" altLang="zh-CN" sz="2800" i="1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sz="2800" i="1" dirty="0" err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βI</a:t>
            </a:r>
            <a:r>
              <a:rPr lang="en-US" altLang="zh-CN" sz="2800" baseline="-25000" dirty="0" err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  <a:endParaRPr lang="en-US" altLang="zh-CN" sz="2800" baseline="-250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4" name="Text Box 17"/>
          <p:cNvSpPr txBox="1">
            <a:spLocks noChangeArrowheads="1"/>
          </p:cNvSpPr>
          <p:nvPr/>
        </p:nvSpPr>
        <p:spPr bwMode="auto">
          <a:xfrm>
            <a:off x="1896530" y="3139365"/>
            <a:ext cx="3962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输出曲线具有恒流特性</a:t>
            </a:r>
          </a:p>
        </p:txBody>
      </p:sp>
      <p:grpSp>
        <p:nvGrpSpPr>
          <p:cNvPr id="73" name="组合 107"/>
          <p:cNvGrpSpPr>
            <a:grpSpLocks/>
          </p:cNvGrpSpPr>
          <p:nvPr/>
        </p:nvGrpSpPr>
        <p:grpSpPr bwMode="auto">
          <a:xfrm>
            <a:off x="7003228" y="1069764"/>
            <a:ext cx="1358369" cy="1679134"/>
            <a:chOff x="7635765" y="824367"/>
            <a:chExt cx="1593385" cy="2309358"/>
          </a:xfrm>
        </p:grpSpPr>
        <p:sp>
          <p:nvSpPr>
            <p:cNvPr id="76" name="Text Box 22"/>
            <p:cNvSpPr txBox="1">
              <a:spLocks noChangeArrowheads="1"/>
            </p:cNvSpPr>
            <p:nvPr/>
          </p:nvSpPr>
          <p:spPr bwMode="auto">
            <a:xfrm>
              <a:off x="7888968" y="1491699"/>
              <a:ext cx="409748" cy="507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  <a:ea typeface="宋体" charset="-122"/>
                </a:rPr>
                <a:t>B</a:t>
              </a:r>
              <a:endParaRPr lang="en-US" altLang="zh-CN" sz="1800" baseline="-25000" dirty="0">
                <a:solidFill>
                  <a:schemeClr val="tx1"/>
                </a:solidFill>
                <a:ea typeface="宋体" charset="-122"/>
              </a:endParaRPr>
            </a:p>
          </p:txBody>
        </p:sp>
        <p:sp>
          <p:nvSpPr>
            <p:cNvPr id="80" name="Line 30"/>
            <p:cNvSpPr>
              <a:spLocks noChangeShapeType="1"/>
            </p:cNvSpPr>
            <p:nvPr/>
          </p:nvSpPr>
          <p:spPr bwMode="auto">
            <a:xfrm>
              <a:off x="8368506" y="1691530"/>
              <a:ext cx="0" cy="533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Line 31"/>
            <p:cNvSpPr>
              <a:spLocks noChangeShapeType="1"/>
            </p:cNvSpPr>
            <p:nvPr/>
          </p:nvSpPr>
          <p:spPr bwMode="auto">
            <a:xfrm flipV="1">
              <a:off x="8368506" y="1624134"/>
              <a:ext cx="304800" cy="2665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Line 32"/>
            <p:cNvSpPr>
              <a:spLocks noChangeShapeType="1"/>
            </p:cNvSpPr>
            <p:nvPr/>
          </p:nvSpPr>
          <p:spPr bwMode="auto">
            <a:xfrm>
              <a:off x="8365331" y="2021022"/>
              <a:ext cx="431800" cy="2516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Line 33"/>
            <p:cNvSpPr>
              <a:spLocks noChangeShapeType="1"/>
            </p:cNvSpPr>
            <p:nvPr/>
          </p:nvSpPr>
          <p:spPr bwMode="auto">
            <a:xfrm>
              <a:off x="8673306" y="824367"/>
              <a:ext cx="0" cy="799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Line 34"/>
            <p:cNvSpPr>
              <a:spLocks noChangeShapeType="1"/>
            </p:cNvSpPr>
            <p:nvPr/>
          </p:nvSpPr>
          <p:spPr bwMode="auto">
            <a:xfrm>
              <a:off x="8749505" y="2224709"/>
              <a:ext cx="0" cy="9090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5" name="Line 35"/>
            <p:cNvSpPr>
              <a:spLocks noChangeShapeType="1"/>
            </p:cNvSpPr>
            <p:nvPr/>
          </p:nvSpPr>
          <p:spPr bwMode="auto">
            <a:xfrm flipV="1">
              <a:off x="7635765" y="1958118"/>
              <a:ext cx="7327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 Box 22"/>
            <p:cNvSpPr txBox="1">
              <a:spLocks noChangeArrowheads="1"/>
            </p:cNvSpPr>
            <p:nvPr/>
          </p:nvSpPr>
          <p:spPr bwMode="auto">
            <a:xfrm>
              <a:off x="8695749" y="2363953"/>
              <a:ext cx="533400" cy="507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  <a:ea typeface="宋体" charset="-122"/>
                </a:rPr>
                <a:t>E</a:t>
              </a:r>
              <a:endParaRPr lang="en-US" altLang="zh-CN" sz="1800" baseline="-25000" dirty="0">
                <a:solidFill>
                  <a:schemeClr val="tx1"/>
                </a:solidFill>
                <a:ea typeface="宋体" charset="-122"/>
              </a:endParaRPr>
            </a:p>
          </p:txBody>
        </p:sp>
        <p:sp>
          <p:nvSpPr>
            <p:cNvPr id="93" name="Text Box 22"/>
            <p:cNvSpPr txBox="1">
              <a:spLocks noChangeArrowheads="1"/>
            </p:cNvSpPr>
            <p:nvPr/>
          </p:nvSpPr>
          <p:spPr bwMode="auto">
            <a:xfrm>
              <a:off x="8695750" y="982109"/>
              <a:ext cx="533400" cy="507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 smtClean="0">
                  <a:solidFill>
                    <a:schemeClr val="tx1"/>
                  </a:solidFill>
                  <a:ea typeface="宋体" charset="-122"/>
                </a:rPr>
                <a:t>C</a:t>
              </a:r>
              <a:endParaRPr lang="en-US" altLang="zh-CN" sz="1800" baseline="-25000" dirty="0">
                <a:solidFill>
                  <a:schemeClr val="tx1"/>
                </a:solidFill>
                <a:ea typeface="宋体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6931991" y="1035644"/>
            <a:ext cx="921092" cy="1692522"/>
            <a:chOff x="6931991" y="1035644"/>
            <a:chExt cx="921092" cy="1692522"/>
          </a:xfrm>
        </p:grpSpPr>
        <p:grpSp>
          <p:nvGrpSpPr>
            <p:cNvPr id="99" name="组合 98"/>
            <p:cNvGrpSpPr/>
            <p:nvPr/>
          </p:nvGrpSpPr>
          <p:grpSpPr>
            <a:xfrm>
              <a:off x="6931991" y="1930994"/>
              <a:ext cx="315302" cy="369332"/>
              <a:chOff x="7397932" y="1939286"/>
              <a:chExt cx="315302" cy="369332"/>
            </a:xfrm>
          </p:grpSpPr>
          <p:sp>
            <p:nvSpPr>
              <p:cNvPr id="94" name="椭圆 93"/>
              <p:cNvSpPr/>
              <p:nvPr/>
            </p:nvSpPr>
            <p:spPr>
              <a:xfrm>
                <a:off x="7437063" y="2002155"/>
                <a:ext cx="252000" cy="252000"/>
              </a:xfrm>
              <a:prstGeom prst="ellips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Text Box 22"/>
              <p:cNvSpPr txBox="1">
                <a:spLocks noChangeArrowheads="1"/>
              </p:cNvSpPr>
              <p:nvPr/>
            </p:nvSpPr>
            <p:spPr bwMode="auto">
              <a:xfrm>
                <a:off x="7397932" y="1939286"/>
                <a:ext cx="3153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 smtClean="0">
                    <a:solidFill>
                      <a:schemeClr val="tx1"/>
                    </a:solidFill>
                    <a:ea typeface="宋体" charset="-122"/>
                  </a:rPr>
                  <a:t>+</a:t>
                </a:r>
                <a:endParaRPr lang="en-US" altLang="zh-CN" sz="1800" baseline="-25000" dirty="0">
                  <a:solidFill>
                    <a:schemeClr val="tx1"/>
                  </a:solidFill>
                  <a:ea typeface="宋体" charset="-122"/>
                </a:endParaRPr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7537781" y="2358834"/>
              <a:ext cx="315302" cy="369332"/>
              <a:chOff x="7946572" y="2348076"/>
              <a:chExt cx="315302" cy="369332"/>
            </a:xfrm>
          </p:grpSpPr>
          <p:sp>
            <p:nvSpPr>
              <p:cNvPr id="96" name="Text Box 22"/>
              <p:cNvSpPr txBox="1">
                <a:spLocks noChangeArrowheads="1"/>
              </p:cNvSpPr>
              <p:nvPr/>
            </p:nvSpPr>
            <p:spPr bwMode="auto">
              <a:xfrm>
                <a:off x="7946572" y="2348076"/>
                <a:ext cx="3153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 smtClean="0">
                    <a:solidFill>
                      <a:schemeClr val="tx1"/>
                    </a:solidFill>
                    <a:ea typeface="宋体" charset="-122"/>
                  </a:rPr>
                  <a:t>-</a:t>
                </a:r>
                <a:endParaRPr lang="en-US" altLang="zh-CN" sz="1800" baseline="-25000" dirty="0">
                  <a:solidFill>
                    <a:schemeClr val="tx1"/>
                  </a:solidFill>
                  <a:ea typeface="宋体" charset="-122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7960659" y="2431228"/>
                <a:ext cx="252000" cy="252000"/>
              </a:xfrm>
              <a:prstGeom prst="ellips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1" name="组合 100"/>
            <p:cNvGrpSpPr/>
            <p:nvPr/>
          </p:nvGrpSpPr>
          <p:grpSpPr>
            <a:xfrm>
              <a:off x="6951994" y="1496822"/>
              <a:ext cx="315302" cy="369332"/>
              <a:chOff x="7946572" y="2348076"/>
              <a:chExt cx="315302" cy="369332"/>
            </a:xfrm>
          </p:grpSpPr>
          <p:sp>
            <p:nvSpPr>
              <p:cNvPr id="102" name="Text Box 22"/>
              <p:cNvSpPr txBox="1">
                <a:spLocks noChangeArrowheads="1"/>
              </p:cNvSpPr>
              <p:nvPr/>
            </p:nvSpPr>
            <p:spPr bwMode="auto">
              <a:xfrm>
                <a:off x="7946572" y="2348076"/>
                <a:ext cx="3153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 smtClean="0">
                    <a:solidFill>
                      <a:schemeClr val="tx1"/>
                    </a:solidFill>
                    <a:ea typeface="宋体" charset="-122"/>
                  </a:rPr>
                  <a:t>-</a:t>
                </a:r>
                <a:endParaRPr lang="en-US" altLang="zh-CN" sz="1800" baseline="-25000" dirty="0">
                  <a:solidFill>
                    <a:schemeClr val="tx1"/>
                  </a:solidFill>
                  <a:ea typeface="宋体" charset="-122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7960659" y="2431228"/>
                <a:ext cx="252000" cy="252000"/>
              </a:xfrm>
              <a:prstGeom prst="ellips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" name="组合 103"/>
            <p:cNvGrpSpPr/>
            <p:nvPr/>
          </p:nvGrpSpPr>
          <p:grpSpPr>
            <a:xfrm>
              <a:off x="7532066" y="1035644"/>
              <a:ext cx="315302" cy="369332"/>
              <a:chOff x="7397932" y="1939286"/>
              <a:chExt cx="315302" cy="369332"/>
            </a:xfrm>
          </p:grpSpPr>
          <p:sp>
            <p:nvSpPr>
              <p:cNvPr id="105" name="椭圆 104"/>
              <p:cNvSpPr/>
              <p:nvPr/>
            </p:nvSpPr>
            <p:spPr>
              <a:xfrm>
                <a:off x="7437063" y="2002155"/>
                <a:ext cx="252000" cy="252000"/>
              </a:xfrm>
              <a:prstGeom prst="ellips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Text Box 22"/>
              <p:cNvSpPr txBox="1">
                <a:spLocks noChangeArrowheads="1"/>
              </p:cNvSpPr>
              <p:nvPr/>
            </p:nvSpPr>
            <p:spPr bwMode="auto">
              <a:xfrm>
                <a:off x="7397932" y="1939286"/>
                <a:ext cx="3153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 smtClean="0">
                    <a:solidFill>
                      <a:schemeClr val="tx1"/>
                    </a:solidFill>
                    <a:ea typeface="宋体" charset="-122"/>
                  </a:rPr>
                  <a:t>+</a:t>
                </a:r>
                <a:endParaRPr lang="en-US" altLang="zh-CN" sz="1800" baseline="-25000" dirty="0">
                  <a:solidFill>
                    <a:schemeClr val="tx1"/>
                  </a:solidFill>
                  <a:ea typeface="宋体" charset="-122"/>
                </a:endParaRPr>
              </a:p>
            </p:txBody>
          </p:sp>
        </p:grpSp>
      </p:grpSp>
      <p:grpSp>
        <p:nvGrpSpPr>
          <p:cNvPr id="87" name="组合 86"/>
          <p:cNvGrpSpPr/>
          <p:nvPr/>
        </p:nvGrpSpPr>
        <p:grpSpPr>
          <a:xfrm>
            <a:off x="6881618" y="757789"/>
            <a:ext cx="1541248" cy="1046807"/>
            <a:chOff x="5913429" y="650213"/>
            <a:chExt cx="1541248" cy="1046807"/>
          </a:xfrm>
        </p:grpSpPr>
        <p:sp>
          <p:nvSpPr>
            <p:cNvPr id="75" name="Line 25"/>
            <p:cNvSpPr>
              <a:spLocks noChangeShapeType="1"/>
            </p:cNvSpPr>
            <p:nvPr/>
          </p:nvSpPr>
          <p:spPr bwMode="auto">
            <a:xfrm flipH="1">
              <a:off x="7000909" y="813855"/>
              <a:ext cx="0" cy="369485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Text Box 26"/>
            <p:cNvSpPr txBox="1">
              <a:spLocks noChangeArrowheads="1"/>
            </p:cNvSpPr>
            <p:nvPr/>
          </p:nvSpPr>
          <p:spPr bwMode="auto">
            <a:xfrm>
              <a:off x="6999951" y="650213"/>
              <a:ext cx="45472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  <a:ea typeface="宋体" charset="-122"/>
                </a:rPr>
                <a:t>I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宋体" charset="-122"/>
                </a:rPr>
                <a:t>C</a:t>
              </a:r>
            </a:p>
          </p:txBody>
        </p:sp>
        <p:sp>
          <p:nvSpPr>
            <p:cNvPr id="78" name="Line 25"/>
            <p:cNvSpPr>
              <a:spLocks noChangeShapeType="1"/>
            </p:cNvSpPr>
            <p:nvPr/>
          </p:nvSpPr>
          <p:spPr bwMode="auto">
            <a:xfrm>
              <a:off x="5959736" y="1697020"/>
              <a:ext cx="417229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Text Box 26"/>
            <p:cNvSpPr txBox="1">
              <a:spLocks noChangeArrowheads="1"/>
            </p:cNvSpPr>
            <p:nvPr/>
          </p:nvSpPr>
          <p:spPr bwMode="auto">
            <a:xfrm>
              <a:off x="5913429" y="1209612"/>
              <a:ext cx="45472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 dirty="0" smtClean="0">
                  <a:solidFill>
                    <a:schemeClr val="tx1"/>
                  </a:solidFill>
                  <a:ea typeface="宋体" charset="-122"/>
                </a:rPr>
                <a:t>I</a:t>
              </a:r>
              <a:r>
                <a:rPr lang="en-US" altLang="zh-CN" sz="2400" baseline="-25000" dirty="0" smtClean="0">
                  <a:solidFill>
                    <a:schemeClr val="tx1"/>
                  </a:solidFill>
                  <a:ea typeface="宋体" charset="-122"/>
                </a:rPr>
                <a:t>B</a:t>
              </a:r>
              <a:endParaRPr lang="en-US" altLang="zh-CN" sz="2400" baseline="-25000" dirty="0">
                <a:solidFill>
                  <a:schemeClr val="tx1"/>
                </a:solidFill>
                <a:ea typeface="宋体" charset="-122"/>
              </a:endParaRPr>
            </a:p>
          </p:txBody>
        </p:sp>
      </p:grpSp>
      <p:grpSp>
        <p:nvGrpSpPr>
          <p:cNvPr id="88" name="组合 87"/>
          <p:cNvGrpSpPr>
            <a:grpSpLocks noChangeAspect="1"/>
          </p:cNvGrpSpPr>
          <p:nvPr/>
        </p:nvGrpSpPr>
        <p:grpSpPr>
          <a:xfrm>
            <a:off x="6772837" y="2866754"/>
            <a:ext cx="2240965" cy="1959771"/>
            <a:chOff x="3750530" y="1171351"/>
            <a:chExt cx="4478100" cy="3916192"/>
          </a:xfrm>
        </p:grpSpPr>
        <p:grpSp>
          <p:nvGrpSpPr>
            <p:cNvPr id="107" name="组合 33"/>
            <p:cNvGrpSpPr/>
            <p:nvPr/>
          </p:nvGrpSpPr>
          <p:grpSpPr>
            <a:xfrm>
              <a:off x="3750530" y="1171351"/>
              <a:ext cx="4478100" cy="3916192"/>
              <a:chOff x="3750530" y="1171351"/>
              <a:chExt cx="4478100" cy="3916192"/>
            </a:xfrm>
          </p:grpSpPr>
          <p:sp>
            <p:nvSpPr>
              <p:cNvPr id="117" name="Rectangle 13"/>
              <p:cNvSpPr>
                <a:spLocks noChangeArrowheads="1"/>
              </p:cNvSpPr>
              <p:nvPr/>
            </p:nvSpPr>
            <p:spPr bwMode="auto">
              <a:xfrm>
                <a:off x="7292635" y="4472515"/>
                <a:ext cx="935995" cy="6150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400" i="1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CE</a:t>
                </a:r>
              </a:p>
            </p:txBody>
          </p:sp>
          <p:sp>
            <p:nvSpPr>
              <p:cNvPr id="118" name="Rectangle 14"/>
              <p:cNvSpPr>
                <a:spLocks noChangeArrowheads="1"/>
              </p:cNvSpPr>
              <p:nvPr/>
            </p:nvSpPr>
            <p:spPr bwMode="auto">
              <a:xfrm>
                <a:off x="3750530" y="1194801"/>
                <a:ext cx="647702" cy="6150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400" i="1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  <p:grpSp>
            <p:nvGrpSpPr>
              <p:cNvPr id="119" name="组合 170"/>
              <p:cNvGrpSpPr/>
              <p:nvPr/>
            </p:nvGrpSpPr>
            <p:grpSpPr>
              <a:xfrm>
                <a:off x="4519613" y="3695520"/>
                <a:ext cx="2626120" cy="200026"/>
                <a:chOff x="5389168" y="3271837"/>
                <a:chExt cx="2626120" cy="200026"/>
              </a:xfrm>
            </p:grpSpPr>
            <p:sp>
              <p:nvSpPr>
                <p:cNvPr id="136" name="任意多边形 135"/>
                <p:cNvSpPr/>
                <p:nvPr/>
              </p:nvSpPr>
              <p:spPr>
                <a:xfrm>
                  <a:off x="5389168" y="3309938"/>
                  <a:ext cx="192481" cy="161925"/>
                </a:xfrm>
                <a:custGeom>
                  <a:avLst/>
                  <a:gdLst>
                    <a:gd name="connsiteX0" fmla="*/ 0 w 209550"/>
                    <a:gd name="connsiteY0" fmla="*/ 161925 h 161925"/>
                    <a:gd name="connsiteX1" fmla="*/ 47625 w 209550"/>
                    <a:gd name="connsiteY1" fmla="*/ 47625 h 161925"/>
                    <a:gd name="connsiteX2" fmla="*/ 209550 w 209550"/>
                    <a:gd name="connsiteY2" fmla="*/ 0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9550" h="161925">
                      <a:moveTo>
                        <a:pt x="0" y="161925"/>
                      </a:moveTo>
                      <a:cubicBezTo>
                        <a:pt x="6350" y="118269"/>
                        <a:pt x="12700" y="74613"/>
                        <a:pt x="47625" y="47625"/>
                      </a:cubicBezTo>
                      <a:cubicBezTo>
                        <a:pt x="82550" y="20638"/>
                        <a:pt x="146050" y="10319"/>
                        <a:pt x="209550" y="0"/>
                      </a:cubicBezTo>
                    </a:path>
                  </a:pathLst>
                </a:cu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137" name="直接连接符 136"/>
                <p:cNvCxnSpPr/>
                <p:nvPr/>
              </p:nvCxnSpPr>
              <p:spPr>
                <a:xfrm flipV="1">
                  <a:off x="5567363" y="3271837"/>
                  <a:ext cx="2447925" cy="381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0" name="组合 173"/>
              <p:cNvGrpSpPr/>
              <p:nvPr/>
            </p:nvGrpSpPr>
            <p:grpSpPr>
              <a:xfrm>
                <a:off x="4441837" y="2197628"/>
                <a:ext cx="2847975" cy="2300290"/>
                <a:chOff x="5192021" y="2145926"/>
                <a:chExt cx="2847975" cy="2300290"/>
              </a:xfrm>
            </p:grpSpPr>
            <p:cxnSp>
              <p:nvCxnSpPr>
                <p:cNvPr id="132" name="直接连接符 131"/>
                <p:cNvCxnSpPr/>
                <p:nvPr/>
              </p:nvCxnSpPr>
              <p:spPr>
                <a:xfrm rot="5400000" flipH="1" flipV="1">
                  <a:off x="4332389" y="3338934"/>
                  <a:ext cx="1966914" cy="247649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3" name="组合 200"/>
                <p:cNvGrpSpPr/>
                <p:nvPr/>
              </p:nvGrpSpPr>
              <p:grpSpPr>
                <a:xfrm>
                  <a:off x="5439671" y="2145926"/>
                  <a:ext cx="2600325" cy="333375"/>
                  <a:chOff x="5514975" y="2038350"/>
                  <a:chExt cx="2600325" cy="333375"/>
                </a:xfrm>
              </p:grpSpPr>
              <p:sp>
                <p:nvSpPr>
                  <p:cNvPr id="134" name="任意多边形 133"/>
                  <p:cNvSpPr/>
                  <p:nvPr/>
                </p:nvSpPr>
                <p:spPr>
                  <a:xfrm>
                    <a:off x="5514975" y="2128838"/>
                    <a:ext cx="376238" cy="242887"/>
                  </a:xfrm>
                  <a:custGeom>
                    <a:avLst/>
                    <a:gdLst>
                      <a:gd name="connsiteX0" fmla="*/ 0 w 376238"/>
                      <a:gd name="connsiteY0" fmla="*/ 242887 h 242887"/>
                      <a:gd name="connsiteX1" fmla="*/ 128588 w 376238"/>
                      <a:gd name="connsiteY1" fmla="*/ 76200 h 242887"/>
                      <a:gd name="connsiteX2" fmla="*/ 376238 w 376238"/>
                      <a:gd name="connsiteY2" fmla="*/ 0 h 242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76238" h="242887">
                        <a:moveTo>
                          <a:pt x="0" y="242887"/>
                        </a:moveTo>
                        <a:cubicBezTo>
                          <a:pt x="32941" y="179784"/>
                          <a:pt x="65882" y="116681"/>
                          <a:pt x="128588" y="76200"/>
                        </a:cubicBezTo>
                        <a:cubicBezTo>
                          <a:pt x="191294" y="35719"/>
                          <a:pt x="283766" y="17859"/>
                          <a:pt x="376238" y="0"/>
                        </a:cubicBezTo>
                      </a:path>
                    </a:pathLst>
                  </a:cu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135" name="直接连接符 134"/>
                  <p:cNvCxnSpPr>
                    <a:stCxn id="134" idx="2"/>
                  </p:cNvCxnSpPr>
                  <p:nvPr/>
                </p:nvCxnSpPr>
                <p:spPr>
                  <a:xfrm flipV="1">
                    <a:off x="5891213" y="2038350"/>
                    <a:ext cx="2224087" cy="90488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21" name="组合 178"/>
              <p:cNvGrpSpPr/>
              <p:nvPr/>
            </p:nvGrpSpPr>
            <p:grpSpPr>
              <a:xfrm>
                <a:off x="4652963" y="1476266"/>
                <a:ext cx="2648440" cy="1352666"/>
                <a:chOff x="5533535" y="990600"/>
                <a:chExt cx="2648440" cy="1370278"/>
              </a:xfrm>
            </p:grpSpPr>
            <p:cxnSp>
              <p:nvCxnSpPr>
                <p:cNvPr id="129" name="直接连接符 128"/>
                <p:cNvCxnSpPr/>
                <p:nvPr/>
              </p:nvCxnSpPr>
              <p:spPr>
                <a:xfrm rot="5400000" flipH="1" flipV="1">
                  <a:off x="5088616" y="1757410"/>
                  <a:ext cx="1048387" cy="158549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0" name="任意多边形 129"/>
                <p:cNvSpPr/>
                <p:nvPr/>
              </p:nvSpPr>
              <p:spPr>
                <a:xfrm>
                  <a:off x="5686425" y="1076325"/>
                  <a:ext cx="280988" cy="238125"/>
                </a:xfrm>
                <a:custGeom>
                  <a:avLst/>
                  <a:gdLst>
                    <a:gd name="connsiteX0" fmla="*/ 0 w 376238"/>
                    <a:gd name="connsiteY0" fmla="*/ 242887 h 242887"/>
                    <a:gd name="connsiteX1" fmla="*/ 128588 w 376238"/>
                    <a:gd name="connsiteY1" fmla="*/ 76200 h 242887"/>
                    <a:gd name="connsiteX2" fmla="*/ 376238 w 376238"/>
                    <a:gd name="connsiteY2" fmla="*/ 0 h 242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76238" h="242887">
                      <a:moveTo>
                        <a:pt x="0" y="242887"/>
                      </a:moveTo>
                      <a:cubicBezTo>
                        <a:pt x="32941" y="179784"/>
                        <a:pt x="65882" y="116681"/>
                        <a:pt x="128588" y="76200"/>
                      </a:cubicBezTo>
                      <a:cubicBezTo>
                        <a:pt x="191294" y="35719"/>
                        <a:pt x="283766" y="17859"/>
                        <a:pt x="376238" y="0"/>
                      </a:cubicBezTo>
                    </a:path>
                  </a:pathLst>
                </a:cu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131" name="直接连接符 130"/>
                <p:cNvCxnSpPr/>
                <p:nvPr/>
              </p:nvCxnSpPr>
              <p:spPr>
                <a:xfrm flipV="1">
                  <a:off x="5957888" y="990600"/>
                  <a:ext cx="2224087" cy="904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组合 182"/>
              <p:cNvGrpSpPr/>
              <p:nvPr/>
            </p:nvGrpSpPr>
            <p:grpSpPr>
              <a:xfrm>
                <a:off x="4432312" y="1171351"/>
                <a:ext cx="3203034" cy="3344026"/>
                <a:chOff x="5182496" y="1119649"/>
                <a:chExt cx="3203034" cy="3344026"/>
              </a:xfrm>
            </p:grpSpPr>
            <p:cxnSp>
              <p:nvCxnSpPr>
                <p:cNvPr id="127" name="直接箭头连接符 126"/>
                <p:cNvCxnSpPr/>
                <p:nvPr/>
              </p:nvCxnSpPr>
              <p:spPr>
                <a:xfrm flipV="1">
                  <a:off x="5182496" y="4449388"/>
                  <a:ext cx="3203034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箭头连接符 127"/>
                <p:cNvCxnSpPr/>
                <p:nvPr/>
              </p:nvCxnSpPr>
              <p:spPr>
                <a:xfrm rot="5400000" flipH="1" flipV="1">
                  <a:off x="3517549" y="2791662"/>
                  <a:ext cx="3344026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3" name="组合 186"/>
              <p:cNvGrpSpPr/>
              <p:nvPr/>
            </p:nvGrpSpPr>
            <p:grpSpPr>
              <a:xfrm>
                <a:off x="4614491" y="2990440"/>
                <a:ext cx="2619377" cy="200026"/>
                <a:chOff x="5395911" y="3271837"/>
                <a:chExt cx="2619377" cy="200026"/>
              </a:xfrm>
            </p:grpSpPr>
            <p:sp>
              <p:nvSpPr>
                <p:cNvPr id="125" name="任意多边形 124"/>
                <p:cNvSpPr/>
                <p:nvPr/>
              </p:nvSpPr>
              <p:spPr>
                <a:xfrm>
                  <a:off x="5395911" y="3309938"/>
                  <a:ext cx="200025" cy="161925"/>
                </a:xfrm>
                <a:custGeom>
                  <a:avLst/>
                  <a:gdLst>
                    <a:gd name="connsiteX0" fmla="*/ 0 w 209550"/>
                    <a:gd name="connsiteY0" fmla="*/ 161925 h 161925"/>
                    <a:gd name="connsiteX1" fmla="*/ 47625 w 209550"/>
                    <a:gd name="connsiteY1" fmla="*/ 47625 h 161925"/>
                    <a:gd name="connsiteX2" fmla="*/ 209550 w 209550"/>
                    <a:gd name="connsiteY2" fmla="*/ 0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9550" h="161925">
                      <a:moveTo>
                        <a:pt x="0" y="161925"/>
                      </a:moveTo>
                      <a:cubicBezTo>
                        <a:pt x="6350" y="118269"/>
                        <a:pt x="12700" y="74613"/>
                        <a:pt x="47625" y="47625"/>
                      </a:cubicBezTo>
                      <a:cubicBezTo>
                        <a:pt x="82550" y="20638"/>
                        <a:pt x="146050" y="10319"/>
                        <a:pt x="209550" y="0"/>
                      </a:cubicBezTo>
                    </a:path>
                  </a:pathLst>
                </a:cu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126" name="直接连接符 125"/>
                <p:cNvCxnSpPr/>
                <p:nvPr/>
              </p:nvCxnSpPr>
              <p:spPr>
                <a:xfrm flipV="1">
                  <a:off x="5567363" y="3271837"/>
                  <a:ext cx="2447925" cy="381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4" name="直接连接符 123"/>
              <p:cNvCxnSpPr/>
              <p:nvPr/>
            </p:nvCxnSpPr>
            <p:spPr>
              <a:xfrm flipV="1">
                <a:off x="4423227" y="4329629"/>
                <a:ext cx="3065521" cy="141575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9" name="Text Box 62"/>
            <p:cNvSpPr txBox="1">
              <a:spLocks noChangeArrowheads="1"/>
            </p:cNvSpPr>
            <p:nvPr/>
          </p:nvSpPr>
          <p:spPr bwMode="auto">
            <a:xfrm>
              <a:off x="5308440" y="2289710"/>
              <a:ext cx="1599071" cy="6765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6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放大区</a:t>
              </a:r>
            </a:p>
          </p:txBody>
        </p:sp>
        <p:sp>
          <p:nvSpPr>
            <p:cNvPr id="110" name="任意多边形 109"/>
            <p:cNvSpPr/>
            <p:nvPr/>
          </p:nvSpPr>
          <p:spPr>
            <a:xfrm>
              <a:off x="4437077" y="1366092"/>
              <a:ext cx="627961" cy="3106759"/>
            </a:xfrm>
            <a:custGeom>
              <a:avLst/>
              <a:gdLst>
                <a:gd name="connsiteX0" fmla="*/ 0 w 627961"/>
                <a:gd name="connsiteY0" fmla="*/ 3106757 h 3106757"/>
                <a:gd name="connsiteX1" fmla="*/ 418641 w 627961"/>
                <a:gd name="connsiteY1" fmla="*/ 1443210 h 3106757"/>
                <a:gd name="connsiteX2" fmla="*/ 627961 w 627961"/>
                <a:gd name="connsiteY2" fmla="*/ 0 h 310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7961" h="3106757">
                  <a:moveTo>
                    <a:pt x="0" y="3106757"/>
                  </a:moveTo>
                  <a:cubicBezTo>
                    <a:pt x="156990" y="2533880"/>
                    <a:pt x="313981" y="1961003"/>
                    <a:pt x="418641" y="1443210"/>
                  </a:cubicBezTo>
                  <a:cubicBezTo>
                    <a:pt x="523301" y="925417"/>
                    <a:pt x="575631" y="462708"/>
                    <a:pt x="627961" y="0"/>
                  </a:cubicBezTo>
                </a:path>
              </a:pathLst>
            </a:cu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8" name="任意多边形 137"/>
          <p:cNvSpPr/>
          <p:nvPr/>
        </p:nvSpPr>
        <p:spPr>
          <a:xfrm>
            <a:off x="7124537" y="3027801"/>
            <a:ext cx="1490662" cy="1481137"/>
          </a:xfrm>
          <a:custGeom>
            <a:avLst/>
            <a:gdLst>
              <a:gd name="connsiteX0" fmla="*/ 0 w 1490662"/>
              <a:gd name="connsiteY0" fmla="*/ 1481137 h 1481137"/>
              <a:gd name="connsiteX1" fmla="*/ 1328737 w 1490662"/>
              <a:gd name="connsiteY1" fmla="*/ 1419225 h 1481137"/>
              <a:gd name="connsiteX2" fmla="*/ 1490662 w 1490662"/>
              <a:gd name="connsiteY2" fmla="*/ 0 h 1481137"/>
              <a:gd name="connsiteX3" fmla="*/ 300037 w 1490662"/>
              <a:gd name="connsiteY3" fmla="*/ 42862 h 1481137"/>
              <a:gd name="connsiteX4" fmla="*/ 190500 w 1490662"/>
              <a:gd name="connsiteY4" fmla="*/ 766762 h 1481137"/>
              <a:gd name="connsiteX5" fmla="*/ 0 w 1490662"/>
              <a:gd name="connsiteY5" fmla="*/ 1481137 h 1481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0662" h="1481137">
                <a:moveTo>
                  <a:pt x="0" y="1481137"/>
                </a:moveTo>
                <a:lnTo>
                  <a:pt x="1328737" y="1419225"/>
                </a:lnTo>
                <a:lnTo>
                  <a:pt x="1490662" y="0"/>
                </a:lnTo>
                <a:lnTo>
                  <a:pt x="300037" y="42862"/>
                </a:lnTo>
                <a:lnTo>
                  <a:pt x="190500" y="766762"/>
                </a:lnTo>
                <a:lnTo>
                  <a:pt x="0" y="1481137"/>
                </a:lnTo>
                <a:close/>
              </a:path>
            </a:pathLst>
          </a:custGeom>
          <a:solidFill>
            <a:schemeClr val="accent6">
              <a:lumMod val="75000"/>
              <a:alpha val="46000"/>
            </a:schemeClr>
          </a:solidFill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Text Box 2"/>
          <p:cNvSpPr txBox="1">
            <a:spLocks noChangeArrowheads="1"/>
          </p:cNvSpPr>
          <p:nvPr/>
        </p:nvSpPr>
        <p:spPr bwMode="auto">
          <a:xfrm>
            <a:off x="491413" y="533400"/>
            <a:ext cx="525690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三极</a:t>
            </a:r>
            <a:r>
              <a:rPr lang="zh-CN" altLang="en-US" sz="32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管</a:t>
            </a:r>
            <a:r>
              <a:rPr lang="zh-CN" altLang="en-US" sz="32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三个工作区的</a:t>
            </a:r>
            <a:r>
              <a:rPr lang="zh-CN" altLang="en-US" sz="32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特点</a:t>
            </a:r>
            <a:endParaRPr lang="en-US" altLang="zh-CN" sz="3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5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42" grpId="0" autoUpdateAnimBg="0"/>
      <p:bldP spid="43" grpId="0" autoUpdateAnimBg="0"/>
      <p:bldP spid="44" grpId="0" autoUpdateAnimBg="0"/>
      <p:bldP spid="138" grpId="0" animBg="1"/>
      <p:bldP spid="138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30"/>
          <p:cNvGrpSpPr>
            <a:grpSpLocks/>
          </p:cNvGrpSpPr>
          <p:nvPr/>
        </p:nvGrpSpPr>
        <p:grpSpPr bwMode="auto">
          <a:xfrm>
            <a:off x="1051528" y="1691729"/>
            <a:ext cx="4983760" cy="1169988"/>
            <a:chOff x="476" y="1048"/>
            <a:chExt cx="2666" cy="737"/>
          </a:xfrm>
        </p:grpSpPr>
        <p:grpSp>
          <p:nvGrpSpPr>
            <p:cNvPr id="92" name="Group 8"/>
            <p:cNvGrpSpPr>
              <a:grpSpLocks/>
            </p:cNvGrpSpPr>
            <p:nvPr/>
          </p:nvGrpSpPr>
          <p:grpSpPr bwMode="auto">
            <a:xfrm>
              <a:off x="476" y="1048"/>
              <a:ext cx="2666" cy="737"/>
              <a:chOff x="532" y="1056"/>
              <a:chExt cx="2666" cy="737"/>
            </a:xfrm>
          </p:grpSpPr>
          <p:sp>
            <p:nvSpPr>
              <p:cNvPr id="94" name="Text Box 9"/>
              <p:cNvSpPr txBox="1">
                <a:spLocks noChangeArrowheads="1"/>
              </p:cNvSpPr>
              <p:nvPr/>
            </p:nvSpPr>
            <p:spPr bwMode="auto">
              <a:xfrm>
                <a:off x="720" y="1056"/>
                <a:ext cx="2478" cy="7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静态电流放大</a:t>
                </a:r>
                <a:r>
                  <a:rPr lang="zh-CN" altLang="en-US" sz="28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系数</a:t>
                </a:r>
                <a:endParaRPr lang="en-US" altLang="zh-CN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zh-CN" altLang="en-US" sz="28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sz="2800" i="1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β</a:t>
                </a:r>
                <a:r>
                  <a:rPr lang="en-US" altLang="zh-CN" sz="28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=</a:t>
                </a:r>
                <a:r>
                  <a:rPr lang="en-US" altLang="zh-CN" sz="2800" i="1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800" baseline="-25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C</a:t>
                </a:r>
                <a:r>
                  <a:rPr lang="en-US" altLang="zh-CN" sz="28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 / </a:t>
                </a:r>
                <a:r>
                  <a:rPr lang="en-US" altLang="zh-CN" sz="2800" i="1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800" baseline="-25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pic>
            <p:nvPicPr>
              <p:cNvPr id="95" name="Picture 10" descr="BD21300_"/>
              <p:cNvPicPr preferRelativeResize="0">
                <a:picLocks noChangeArrowheads="1"/>
              </p:cNvPicPr>
              <p:nvPr/>
            </p:nvPicPr>
            <p:blipFill>
              <a:blip r:embed="rId4">
                <a:lum bright="40000" contrast="40000"/>
              </a:blip>
              <a:srcRect/>
              <a:stretch>
                <a:fillRect/>
              </a:stretch>
            </p:blipFill>
            <p:spPr bwMode="auto">
              <a:xfrm>
                <a:off x="532" y="1142"/>
                <a:ext cx="13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93" name="Line 22"/>
            <p:cNvSpPr>
              <a:spLocks noChangeShapeType="1"/>
            </p:cNvSpPr>
            <p:nvPr/>
          </p:nvSpPr>
          <p:spPr bwMode="auto">
            <a:xfrm>
              <a:off x="1028" y="1495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96" name="Group 31"/>
          <p:cNvGrpSpPr>
            <a:grpSpLocks/>
          </p:cNvGrpSpPr>
          <p:nvPr/>
        </p:nvGrpSpPr>
        <p:grpSpPr bwMode="auto">
          <a:xfrm>
            <a:off x="702661" y="1040470"/>
            <a:ext cx="4114800" cy="523875"/>
            <a:chOff x="288" y="720"/>
            <a:chExt cx="2592" cy="330"/>
          </a:xfrm>
        </p:grpSpPr>
        <p:sp>
          <p:nvSpPr>
            <p:cNvPr id="97" name="Text Box 21"/>
            <p:cNvSpPr txBox="1">
              <a:spLocks noChangeArrowheads="1"/>
            </p:cNvSpPr>
            <p:nvPr/>
          </p:nvSpPr>
          <p:spPr bwMode="auto">
            <a:xfrm>
              <a:off x="288" y="720"/>
              <a:ext cx="259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8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      </a:t>
              </a:r>
              <a:r>
                <a:rPr lang="zh-CN" altLang="en-US" sz="28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电流放大系数</a:t>
              </a:r>
            </a:p>
          </p:txBody>
        </p:sp>
        <p:sp>
          <p:nvSpPr>
            <p:cNvPr id="98" name="AutoShape 23"/>
            <p:cNvSpPr>
              <a:spLocks noChangeArrowheads="1"/>
            </p:cNvSpPr>
            <p:nvPr/>
          </p:nvSpPr>
          <p:spPr bwMode="auto">
            <a:xfrm>
              <a:off x="438" y="772"/>
              <a:ext cx="159" cy="204"/>
            </a:xfrm>
            <a:prstGeom prst="flowChartExtract">
              <a:avLst/>
            </a:prstGeom>
            <a:solidFill>
              <a:srgbClr val="FF9933"/>
            </a:solidFill>
            <a:ln w="41275">
              <a:solidFill>
                <a:srgbClr val="FFFF66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58" name="Rectangle 1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22972" y="225290"/>
            <a:ext cx="2935741" cy="584775"/>
          </a:xfrm>
          <a:prstGeom prst="rect">
            <a:avLst/>
          </a:prstGeom>
          <a:noFill/>
          <a:ln w="4127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4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）主要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参数</a:t>
            </a:r>
          </a:p>
        </p:txBody>
      </p:sp>
      <p:grpSp>
        <p:nvGrpSpPr>
          <p:cNvPr id="74" name="组合 73"/>
          <p:cNvGrpSpPr/>
          <p:nvPr/>
        </p:nvGrpSpPr>
        <p:grpSpPr>
          <a:xfrm>
            <a:off x="5454529" y="1350761"/>
            <a:ext cx="3174465" cy="2764186"/>
            <a:chOff x="4897480" y="1413823"/>
            <a:chExt cx="3174465" cy="2764186"/>
          </a:xfrm>
        </p:grpSpPr>
        <p:grpSp>
          <p:nvGrpSpPr>
            <p:cNvPr id="43" name="组合 42"/>
            <p:cNvGrpSpPr>
              <a:grpSpLocks noChangeAspect="1"/>
            </p:cNvGrpSpPr>
            <p:nvPr/>
          </p:nvGrpSpPr>
          <p:grpSpPr>
            <a:xfrm>
              <a:off x="4897480" y="1413823"/>
              <a:ext cx="3174465" cy="2764186"/>
              <a:chOff x="3661442" y="1086611"/>
              <a:chExt cx="4668115" cy="4064792"/>
            </a:xfrm>
          </p:grpSpPr>
          <p:sp>
            <p:nvSpPr>
              <p:cNvPr id="44" name="Rectangle 13"/>
              <p:cNvSpPr>
                <a:spLocks noChangeArrowheads="1"/>
              </p:cNvSpPr>
              <p:nvPr/>
            </p:nvSpPr>
            <p:spPr bwMode="auto">
              <a:xfrm>
                <a:off x="7292631" y="4472515"/>
                <a:ext cx="1036926" cy="678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CN" sz="2400" i="1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aseline="-25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CE</a:t>
                </a:r>
              </a:p>
            </p:txBody>
          </p:sp>
          <p:sp>
            <p:nvSpPr>
              <p:cNvPr id="45" name="Rectangle 14"/>
              <p:cNvSpPr>
                <a:spLocks noChangeArrowheads="1"/>
              </p:cNvSpPr>
              <p:nvPr/>
            </p:nvSpPr>
            <p:spPr bwMode="auto">
              <a:xfrm>
                <a:off x="3770136" y="1086611"/>
                <a:ext cx="751939" cy="678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CN" sz="2400" i="1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aseline="-25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46" name="Rectangle 17"/>
              <p:cNvSpPr>
                <a:spLocks noChangeArrowheads="1"/>
              </p:cNvSpPr>
              <p:nvPr/>
            </p:nvSpPr>
            <p:spPr bwMode="auto">
              <a:xfrm>
                <a:off x="7192079" y="3529613"/>
                <a:ext cx="718000" cy="5883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CN" sz="2000" i="1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000" baseline="-25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B1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7" name="Rectangle 18"/>
              <p:cNvSpPr>
                <a:spLocks noChangeArrowheads="1"/>
              </p:cNvSpPr>
              <p:nvPr/>
            </p:nvSpPr>
            <p:spPr bwMode="auto">
              <a:xfrm>
                <a:off x="7262520" y="1316908"/>
                <a:ext cx="948703" cy="5883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CN" sz="2000" i="1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000" baseline="-25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B4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8" name="Rectangle 19"/>
              <p:cNvSpPr>
                <a:spLocks noChangeArrowheads="1"/>
              </p:cNvSpPr>
              <p:nvPr/>
            </p:nvSpPr>
            <p:spPr bwMode="auto">
              <a:xfrm>
                <a:off x="7338202" y="2003235"/>
                <a:ext cx="831003" cy="6336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10000"/>
                  </a:lnSpc>
                </a:pPr>
                <a:r>
                  <a:rPr lang="en-US" altLang="zh-CN" sz="2000" i="1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000" baseline="-25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B3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49" name="组合 170"/>
              <p:cNvGrpSpPr/>
              <p:nvPr/>
            </p:nvGrpSpPr>
            <p:grpSpPr>
              <a:xfrm>
                <a:off x="4519613" y="3695520"/>
                <a:ext cx="2626120" cy="200026"/>
                <a:chOff x="5389168" y="3271837"/>
                <a:chExt cx="2626120" cy="200026"/>
              </a:xfrm>
            </p:grpSpPr>
            <p:sp>
              <p:nvSpPr>
                <p:cNvPr id="68" name="任意多边形 67"/>
                <p:cNvSpPr/>
                <p:nvPr/>
              </p:nvSpPr>
              <p:spPr>
                <a:xfrm>
                  <a:off x="5389168" y="3309938"/>
                  <a:ext cx="192481" cy="161925"/>
                </a:xfrm>
                <a:custGeom>
                  <a:avLst/>
                  <a:gdLst>
                    <a:gd name="connsiteX0" fmla="*/ 0 w 209550"/>
                    <a:gd name="connsiteY0" fmla="*/ 161925 h 161925"/>
                    <a:gd name="connsiteX1" fmla="*/ 47625 w 209550"/>
                    <a:gd name="connsiteY1" fmla="*/ 47625 h 161925"/>
                    <a:gd name="connsiteX2" fmla="*/ 209550 w 209550"/>
                    <a:gd name="connsiteY2" fmla="*/ 0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9550" h="161925">
                      <a:moveTo>
                        <a:pt x="0" y="161925"/>
                      </a:moveTo>
                      <a:cubicBezTo>
                        <a:pt x="6350" y="118269"/>
                        <a:pt x="12700" y="74613"/>
                        <a:pt x="47625" y="47625"/>
                      </a:cubicBezTo>
                      <a:cubicBezTo>
                        <a:pt x="82550" y="20638"/>
                        <a:pt x="146050" y="10319"/>
                        <a:pt x="209550" y="0"/>
                      </a:cubicBezTo>
                    </a:path>
                  </a:pathLst>
                </a:cu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69" name="直接连接符 68"/>
                <p:cNvCxnSpPr/>
                <p:nvPr/>
              </p:nvCxnSpPr>
              <p:spPr>
                <a:xfrm flipV="1">
                  <a:off x="5567363" y="3271837"/>
                  <a:ext cx="2447925" cy="381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组合 173"/>
              <p:cNvGrpSpPr/>
              <p:nvPr/>
            </p:nvGrpSpPr>
            <p:grpSpPr>
              <a:xfrm>
                <a:off x="4441837" y="2197628"/>
                <a:ext cx="2847975" cy="2300290"/>
                <a:chOff x="5192021" y="2145926"/>
                <a:chExt cx="2847975" cy="2300290"/>
              </a:xfrm>
            </p:grpSpPr>
            <p:cxnSp>
              <p:nvCxnSpPr>
                <p:cNvPr id="64" name="直接连接符 63"/>
                <p:cNvCxnSpPr/>
                <p:nvPr/>
              </p:nvCxnSpPr>
              <p:spPr>
                <a:xfrm rot="5400000" flipH="1" flipV="1">
                  <a:off x="4332389" y="3338934"/>
                  <a:ext cx="1966914" cy="247649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5" name="组合 200"/>
                <p:cNvGrpSpPr/>
                <p:nvPr/>
              </p:nvGrpSpPr>
              <p:grpSpPr>
                <a:xfrm>
                  <a:off x="5439671" y="2145926"/>
                  <a:ext cx="2600325" cy="333375"/>
                  <a:chOff x="5514975" y="2038350"/>
                  <a:chExt cx="2600325" cy="333375"/>
                </a:xfrm>
              </p:grpSpPr>
              <p:sp>
                <p:nvSpPr>
                  <p:cNvPr id="66" name="任意多边形 65"/>
                  <p:cNvSpPr/>
                  <p:nvPr/>
                </p:nvSpPr>
                <p:spPr>
                  <a:xfrm>
                    <a:off x="5514975" y="2128838"/>
                    <a:ext cx="376238" cy="242887"/>
                  </a:xfrm>
                  <a:custGeom>
                    <a:avLst/>
                    <a:gdLst>
                      <a:gd name="connsiteX0" fmla="*/ 0 w 376238"/>
                      <a:gd name="connsiteY0" fmla="*/ 242887 h 242887"/>
                      <a:gd name="connsiteX1" fmla="*/ 128588 w 376238"/>
                      <a:gd name="connsiteY1" fmla="*/ 76200 h 242887"/>
                      <a:gd name="connsiteX2" fmla="*/ 376238 w 376238"/>
                      <a:gd name="connsiteY2" fmla="*/ 0 h 242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76238" h="242887">
                        <a:moveTo>
                          <a:pt x="0" y="242887"/>
                        </a:moveTo>
                        <a:cubicBezTo>
                          <a:pt x="32941" y="179784"/>
                          <a:pt x="65882" y="116681"/>
                          <a:pt x="128588" y="76200"/>
                        </a:cubicBezTo>
                        <a:cubicBezTo>
                          <a:pt x="191294" y="35719"/>
                          <a:pt x="283766" y="17859"/>
                          <a:pt x="376238" y="0"/>
                        </a:cubicBezTo>
                      </a:path>
                    </a:pathLst>
                  </a:cu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67" name="直接连接符 66"/>
                  <p:cNvCxnSpPr>
                    <a:stCxn id="66" idx="2"/>
                  </p:cNvCxnSpPr>
                  <p:nvPr/>
                </p:nvCxnSpPr>
                <p:spPr>
                  <a:xfrm flipV="1">
                    <a:off x="5891213" y="2038350"/>
                    <a:ext cx="2224087" cy="90488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51" name="组合 178"/>
              <p:cNvGrpSpPr/>
              <p:nvPr/>
            </p:nvGrpSpPr>
            <p:grpSpPr>
              <a:xfrm>
                <a:off x="4652963" y="1476262"/>
                <a:ext cx="2648440" cy="1352666"/>
                <a:chOff x="5533535" y="990600"/>
                <a:chExt cx="2648440" cy="1370278"/>
              </a:xfrm>
            </p:grpSpPr>
            <p:cxnSp>
              <p:nvCxnSpPr>
                <p:cNvPr id="61" name="直接连接符 60"/>
                <p:cNvCxnSpPr/>
                <p:nvPr/>
              </p:nvCxnSpPr>
              <p:spPr>
                <a:xfrm rot="5400000" flipH="1" flipV="1">
                  <a:off x="5088616" y="1757410"/>
                  <a:ext cx="1048387" cy="158549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任意多边形 61"/>
                <p:cNvSpPr/>
                <p:nvPr/>
              </p:nvSpPr>
              <p:spPr>
                <a:xfrm>
                  <a:off x="5686425" y="1076325"/>
                  <a:ext cx="280988" cy="238125"/>
                </a:xfrm>
                <a:custGeom>
                  <a:avLst/>
                  <a:gdLst>
                    <a:gd name="connsiteX0" fmla="*/ 0 w 376238"/>
                    <a:gd name="connsiteY0" fmla="*/ 242887 h 242887"/>
                    <a:gd name="connsiteX1" fmla="*/ 128588 w 376238"/>
                    <a:gd name="connsiteY1" fmla="*/ 76200 h 242887"/>
                    <a:gd name="connsiteX2" fmla="*/ 376238 w 376238"/>
                    <a:gd name="connsiteY2" fmla="*/ 0 h 242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76238" h="242887">
                      <a:moveTo>
                        <a:pt x="0" y="242887"/>
                      </a:moveTo>
                      <a:cubicBezTo>
                        <a:pt x="32941" y="179784"/>
                        <a:pt x="65882" y="116681"/>
                        <a:pt x="128588" y="76200"/>
                      </a:cubicBezTo>
                      <a:cubicBezTo>
                        <a:pt x="191294" y="35719"/>
                        <a:pt x="283766" y="17859"/>
                        <a:pt x="376238" y="0"/>
                      </a:cubicBezTo>
                    </a:path>
                  </a:pathLst>
                </a:cu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63" name="直接连接符 62"/>
                <p:cNvCxnSpPr/>
                <p:nvPr/>
              </p:nvCxnSpPr>
              <p:spPr>
                <a:xfrm flipV="1">
                  <a:off x="5957888" y="990600"/>
                  <a:ext cx="2224087" cy="904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" name="组合 182"/>
              <p:cNvGrpSpPr/>
              <p:nvPr/>
            </p:nvGrpSpPr>
            <p:grpSpPr>
              <a:xfrm>
                <a:off x="4432312" y="1171351"/>
                <a:ext cx="3203034" cy="3344026"/>
                <a:chOff x="5182496" y="1119649"/>
                <a:chExt cx="3203034" cy="3344026"/>
              </a:xfrm>
            </p:grpSpPr>
            <p:cxnSp>
              <p:nvCxnSpPr>
                <p:cNvPr id="59" name="直接箭头连接符 58"/>
                <p:cNvCxnSpPr/>
                <p:nvPr/>
              </p:nvCxnSpPr>
              <p:spPr>
                <a:xfrm flipV="1">
                  <a:off x="5182496" y="4449388"/>
                  <a:ext cx="3203034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箭头连接符 59"/>
                <p:cNvCxnSpPr/>
                <p:nvPr/>
              </p:nvCxnSpPr>
              <p:spPr>
                <a:xfrm rot="5400000" flipH="1" flipV="1">
                  <a:off x="3517549" y="2791662"/>
                  <a:ext cx="3344026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组合 186"/>
              <p:cNvGrpSpPr/>
              <p:nvPr/>
            </p:nvGrpSpPr>
            <p:grpSpPr>
              <a:xfrm>
                <a:off x="4614491" y="2990440"/>
                <a:ext cx="2619377" cy="200026"/>
                <a:chOff x="5395911" y="3271837"/>
                <a:chExt cx="2619377" cy="200026"/>
              </a:xfrm>
            </p:grpSpPr>
            <p:sp>
              <p:nvSpPr>
                <p:cNvPr id="57" name="任意多边形 56"/>
                <p:cNvSpPr/>
                <p:nvPr/>
              </p:nvSpPr>
              <p:spPr>
                <a:xfrm>
                  <a:off x="5395911" y="3309938"/>
                  <a:ext cx="200025" cy="161925"/>
                </a:xfrm>
                <a:custGeom>
                  <a:avLst/>
                  <a:gdLst>
                    <a:gd name="connsiteX0" fmla="*/ 0 w 209550"/>
                    <a:gd name="connsiteY0" fmla="*/ 161925 h 161925"/>
                    <a:gd name="connsiteX1" fmla="*/ 47625 w 209550"/>
                    <a:gd name="connsiteY1" fmla="*/ 47625 h 161925"/>
                    <a:gd name="connsiteX2" fmla="*/ 209550 w 209550"/>
                    <a:gd name="connsiteY2" fmla="*/ 0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9550" h="161925">
                      <a:moveTo>
                        <a:pt x="0" y="161925"/>
                      </a:moveTo>
                      <a:cubicBezTo>
                        <a:pt x="6350" y="118269"/>
                        <a:pt x="12700" y="74613"/>
                        <a:pt x="47625" y="47625"/>
                      </a:cubicBezTo>
                      <a:cubicBezTo>
                        <a:pt x="82550" y="20638"/>
                        <a:pt x="146050" y="10319"/>
                        <a:pt x="209550" y="0"/>
                      </a:cubicBezTo>
                    </a:path>
                  </a:pathLst>
                </a:cu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58" name="直接连接符 57"/>
                <p:cNvCxnSpPr/>
                <p:nvPr/>
              </p:nvCxnSpPr>
              <p:spPr>
                <a:xfrm flipV="1">
                  <a:off x="5567363" y="3271837"/>
                  <a:ext cx="2447925" cy="381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4" name="Rectangle 19"/>
              <p:cNvSpPr>
                <a:spLocks noChangeArrowheads="1"/>
              </p:cNvSpPr>
              <p:nvPr/>
            </p:nvSpPr>
            <p:spPr bwMode="auto">
              <a:xfrm>
                <a:off x="7294653" y="2807467"/>
                <a:ext cx="790509" cy="6336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10000"/>
                  </a:lnSpc>
                </a:pPr>
                <a:r>
                  <a:rPr lang="en-US" altLang="zh-CN" sz="2000" i="1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000" baseline="-25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B2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55" name="直接连接符 54"/>
              <p:cNvCxnSpPr/>
              <p:nvPr/>
            </p:nvCxnSpPr>
            <p:spPr>
              <a:xfrm flipV="1">
                <a:off x="4423227" y="4329629"/>
                <a:ext cx="3065521" cy="141575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Rectangle 17"/>
              <p:cNvSpPr>
                <a:spLocks noChangeArrowheads="1"/>
              </p:cNvSpPr>
              <p:nvPr/>
            </p:nvSpPr>
            <p:spPr bwMode="auto">
              <a:xfrm>
                <a:off x="7482534" y="4045979"/>
                <a:ext cx="756702" cy="5883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CN" sz="2000" i="1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000" baseline="-25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B0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1" name="Rectangle 19"/>
              <p:cNvSpPr>
                <a:spLocks noChangeArrowheads="1"/>
              </p:cNvSpPr>
              <p:nvPr/>
            </p:nvSpPr>
            <p:spPr bwMode="auto">
              <a:xfrm>
                <a:off x="3696458" y="1933201"/>
                <a:ext cx="831003" cy="5975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10000"/>
                  </a:lnSpc>
                </a:pPr>
                <a:r>
                  <a:rPr lang="en-US" altLang="zh-CN" sz="2000" i="1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000" baseline="-25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C3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2" name="Rectangle 19"/>
              <p:cNvSpPr>
                <a:spLocks noChangeArrowheads="1"/>
              </p:cNvSpPr>
              <p:nvPr/>
            </p:nvSpPr>
            <p:spPr bwMode="auto">
              <a:xfrm>
                <a:off x="3661442" y="2640539"/>
                <a:ext cx="831003" cy="5975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10000"/>
                  </a:lnSpc>
                </a:pPr>
                <a:r>
                  <a:rPr lang="en-US" altLang="zh-CN" sz="2000" i="1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000" baseline="-25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C2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cxnSp>
          <p:nvCxnSpPr>
            <p:cNvPr id="42" name="直接连接符 41"/>
            <p:cNvCxnSpPr/>
            <p:nvPr/>
          </p:nvCxnSpPr>
          <p:spPr>
            <a:xfrm rot="10800000">
              <a:off x="5414964" y="2195513"/>
              <a:ext cx="1323975" cy="1588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rot="10800000">
              <a:off x="5400676" y="2719388"/>
              <a:ext cx="1323975" cy="1588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组合 78"/>
          <p:cNvGrpSpPr/>
          <p:nvPr/>
        </p:nvGrpSpPr>
        <p:grpSpPr>
          <a:xfrm>
            <a:off x="863818" y="3209951"/>
            <a:ext cx="3592568" cy="1626120"/>
            <a:chOff x="863818" y="3209951"/>
            <a:chExt cx="3592568" cy="1626120"/>
          </a:xfrm>
        </p:grpSpPr>
        <p:sp>
          <p:nvSpPr>
            <p:cNvPr id="87" name="Text Box 3"/>
            <p:cNvSpPr txBox="1">
              <a:spLocks noChangeArrowheads="1"/>
            </p:cNvSpPr>
            <p:nvPr/>
          </p:nvSpPr>
          <p:spPr bwMode="auto">
            <a:xfrm>
              <a:off x="1179730" y="3209951"/>
              <a:ext cx="327665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动态电流放大系数 </a:t>
              </a:r>
            </a:p>
          </p:txBody>
        </p:sp>
        <p:pic>
          <p:nvPicPr>
            <p:cNvPr id="88" name="Picture 11" descr="BD21300_"/>
            <p:cNvPicPr preferRelativeResize="0">
              <a:picLocks noChangeArrowheads="1"/>
            </p:cNvPicPr>
            <p:nvPr/>
          </p:nvPicPr>
          <p:blipFill>
            <a:blip r:embed="rId4">
              <a:lum bright="40000" contrast="40000"/>
            </a:blip>
            <a:srcRect/>
            <a:stretch>
              <a:fillRect/>
            </a:stretch>
          </p:blipFill>
          <p:spPr bwMode="auto">
            <a:xfrm>
              <a:off x="863818" y="3349651"/>
              <a:ext cx="252412" cy="179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144385" name="Object 1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969869" y="3823246"/>
            <a:ext cx="1281112" cy="1012825"/>
          </p:xfrm>
          <a:graphic>
            <a:graphicData uri="http://schemas.openxmlformats.org/presentationml/2006/ole">
              <p:oleObj spid="_x0000_s144385" name="Equation" r:id="rId5" imgW="558720" imgH="431640" progId="Equation.DSMT4">
                <p:embed/>
              </p:oleObj>
            </a:graphicData>
          </a:graphic>
        </p:graphicFrame>
      </p:grpSp>
      <p:graphicFrame>
        <p:nvGraphicFramePr>
          <p:cNvPr id="78" name="Object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561967" y="3821825"/>
          <a:ext cx="1630362" cy="1012825"/>
        </p:xfrm>
        <a:graphic>
          <a:graphicData uri="http://schemas.openxmlformats.org/presentationml/2006/ole">
            <p:oleObj spid="_x0000_s144387" name="Equation" r:id="rId6" imgW="711000" imgH="431640" progId="Equation.DSMT4">
              <p:embed/>
            </p:oleObj>
          </a:graphicData>
        </a:graphic>
      </p:graphicFrame>
      <p:graphicFrame>
        <p:nvGraphicFramePr>
          <p:cNvPr id="80" name="Object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802720" y="2182047"/>
          <a:ext cx="873125" cy="1012825"/>
        </p:xfrm>
        <a:graphic>
          <a:graphicData uri="http://schemas.openxmlformats.org/presentationml/2006/ole">
            <p:oleObj spid="_x0000_s144388" name="Equation" r:id="rId7" imgW="380880" imgH="431640" progId="Equation.DSMT4">
              <p:embed/>
            </p:oleObj>
          </a:graphicData>
        </a:graphic>
      </p:graphicFrame>
      <p:grpSp>
        <p:nvGrpSpPr>
          <p:cNvPr id="76" name="组合 75"/>
          <p:cNvGrpSpPr/>
          <p:nvPr/>
        </p:nvGrpSpPr>
        <p:grpSpPr>
          <a:xfrm>
            <a:off x="6975420" y="2119313"/>
            <a:ext cx="55050" cy="550349"/>
            <a:chOff x="6975420" y="2119313"/>
            <a:chExt cx="55050" cy="550349"/>
          </a:xfrm>
        </p:grpSpPr>
        <p:sp>
          <p:nvSpPr>
            <p:cNvPr id="73" name="椭圆 72"/>
            <p:cNvSpPr/>
            <p:nvPr/>
          </p:nvSpPr>
          <p:spPr>
            <a:xfrm>
              <a:off x="6975420" y="2633662"/>
              <a:ext cx="36000" cy="36000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6994470" y="2119313"/>
              <a:ext cx="36000" cy="36000"/>
            </a:xfrm>
            <a:prstGeom prst="ellipse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"/>
          <p:cNvSpPr txBox="1">
            <a:spLocks noChangeArrowheads="1"/>
          </p:cNvSpPr>
          <p:nvPr/>
        </p:nvSpPr>
        <p:spPr bwMode="auto">
          <a:xfrm>
            <a:off x="1107823" y="1794085"/>
            <a:ext cx="52448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集电极基极间反向饱和电流 </a:t>
            </a:r>
            <a:r>
              <a:rPr lang="en-US" altLang="zh-CN" sz="28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CBO</a:t>
            </a:r>
          </a:p>
        </p:txBody>
      </p:sp>
      <p:sp>
        <p:nvSpPr>
          <p:cNvPr id="82" name="Text Box 5"/>
          <p:cNvSpPr txBox="1">
            <a:spLocks noChangeArrowheads="1"/>
          </p:cNvSpPr>
          <p:nvPr/>
        </p:nvSpPr>
        <p:spPr bwMode="auto">
          <a:xfrm>
            <a:off x="1107823" y="2370348"/>
            <a:ext cx="5638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集电极发射极间穿透电流 </a:t>
            </a:r>
            <a:r>
              <a:rPr lang="en-US" altLang="zh-CN" sz="28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CEO</a:t>
            </a:r>
          </a:p>
        </p:txBody>
      </p:sp>
      <p:sp>
        <p:nvSpPr>
          <p:cNvPr id="83" name="Text Box 6"/>
          <p:cNvSpPr txBox="1">
            <a:spLocks noChangeArrowheads="1"/>
          </p:cNvSpPr>
          <p:nvPr/>
        </p:nvSpPr>
        <p:spPr bwMode="auto">
          <a:xfrm>
            <a:off x="1539623" y="3233948"/>
            <a:ext cx="2971800" cy="523220"/>
          </a:xfrm>
          <a:prstGeom prst="rect">
            <a:avLst/>
          </a:prstGeom>
          <a:noFill/>
          <a:ln w="38100">
            <a:noFill/>
            <a:prstDash val="sysDot"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CEO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=(1+</a:t>
            </a:r>
            <a:r>
              <a:rPr lang="en-US" altLang="zh-CN" sz="28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β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)</a:t>
            </a:r>
            <a:r>
              <a:rPr lang="en-US" altLang="zh-CN" sz="28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CBO</a:t>
            </a:r>
          </a:p>
        </p:txBody>
      </p:sp>
      <p:sp>
        <p:nvSpPr>
          <p:cNvPr id="84" name="Rectangle 7"/>
          <p:cNvSpPr>
            <a:spLocks noChangeArrowheads="1"/>
          </p:cNvSpPr>
          <p:nvPr/>
        </p:nvSpPr>
        <p:spPr bwMode="auto">
          <a:xfrm>
            <a:off x="1234823" y="3157748"/>
            <a:ext cx="2971800" cy="762000"/>
          </a:xfrm>
          <a:prstGeom prst="rect">
            <a:avLst/>
          </a:prstGeom>
          <a:noFill/>
          <a:ln w="57150">
            <a:solidFill>
              <a:schemeClr val="accent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800">
              <a:ea typeface="华文中宋" pitchFamily="2" charset="-122"/>
              <a:cs typeface="Times New Roman" pitchFamily="18" charset="0"/>
            </a:endParaRPr>
          </a:p>
        </p:txBody>
      </p:sp>
      <p:pic>
        <p:nvPicPr>
          <p:cNvPr id="89" name="Picture 12" descr="BD21300_"/>
          <p:cNvPicPr preferRelativeResize="0">
            <a:picLocks noChangeArrowheads="1"/>
          </p:cNvPicPr>
          <p:nvPr/>
        </p:nvPicPr>
        <p:blipFill>
          <a:blip r:embed="rId3">
            <a:lum bright="40000" contrast="40000"/>
          </a:blip>
          <a:srcRect/>
          <a:stretch>
            <a:fillRect/>
          </a:stretch>
        </p:blipFill>
        <p:spPr bwMode="auto">
          <a:xfrm>
            <a:off x="766511" y="1930609"/>
            <a:ext cx="2520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" name="Picture 13" descr="BD21300_"/>
          <p:cNvPicPr preferRelativeResize="0">
            <a:picLocks noChangeArrowheads="1"/>
          </p:cNvPicPr>
          <p:nvPr/>
        </p:nvPicPr>
        <p:blipFill>
          <a:blip r:embed="rId3">
            <a:lum bright="40000" contrast="40000"/>
          </a:blip>
          <a:srcRect/>
          <a:stretch>
            <a:fillRect/>
          </a:stretch>
        </p:blipFill>
        <p:spPr bwMode="auto">
          <a:xfrm>
            <a:off x="783973" y="2532272"/>
            <a:ext cx="252000" cy="1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320423" y="1176548"/>
            <a:ext cx="4114800" cy="523875"/>
            <a:chOff x="240" y="1776"/>
            <a:chExt cx="2592" cy="330"/>
          </a:xfrm>
        </p:grpSpPr>
        <p:sp>
          <p:nvSpPr>
            <p:cNvPr id="100" name="Text Box 25"/>
            <p:cNvSpPr txBox="1">
              <a:spLocks noChangeArrowheads="1"/>
            </p:cNvSpPr>
            <p:nvPr/>
          </p:nvSpPr>
          <p:spPr bwMode="auto">
            <a:xfrm>
              <a:off x="240" y="1776"/>
              <a:ext cx="259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8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      </a:t>
              </a:r>
              <a:r>
                <a:rPr lang="zh-CN" altLang="en-US" sz="28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极间反向饱和电流</a:t>
              </a:r>
            </a:p>
          </p:txBody>
        </p:sp>
        <p:sp>
          <p:nvSpPr>
            <p:cNvPr id="101" name="AutoShape 26"/>
            <p:cNvSpPr>
              <a:spLocks noChangeArrowheads="1"/>
            </p:cNvSpPr>
            <p:nvPr/>
          </p:nvSpPr>
          <p:spPr bwMode="auto">
            <a:xfrm>
              <a:off x="364" y="1835"/>
              <a:ext cx="159" cy="204"/>
            </a:xfrm>
            <a:prstGeom prst="flowChartExtract">
              <a:avLst/>
            </a:prstGeom>
            <a:solidFill>
              <a:schemeClr val="accent1"/>
            </a:solidFill>
            <a:ln w="41275">
              <a:solidFill>
                <a:srgbClr val="FFFF66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6250313" y="485512"/>
            <a:ext cx="2478087" cy="2238374"/>
            <a:chOff x="1791" y="2202"/>
            <a:chExt cx="1561" cy="1410"/>
          </a:xfrm>
        </p:grpSpPr>
        <p:grpSp>
          <p:nvGrpSpPr>
            <p:cNvPr id="8" name="Group 39"/>
            <p:cNvGrpSpPr>
              <a:grpSpLocks/>
            </p:cNvGrpSpPr>
            <p:nvPr/>
          </p:nvGrpSpPr>
          <p:grpSpPr bwMode="auto">
            <a:xfrm>
              <a:off x="1846" y="2202"/>
              <a:ext cx="501" cy="1408"/>
              <a:chOff x="1165" y="2021"/>
              <a:chExt cx="501" cy="1408"/>
            </a:xfrm>
          </p:grpSpPr>
          <p:grpSp>
            <p:nvGrpSpPr>
              <p:cNvPr id="9" name="Group 40"/>
              <p:cNvGrpSpPr>
                <a:grpSpLocks/>
              </p:cNvGrpSpPr>
              <p:nvPr/>
            </p:nvGrpSpPr>
            <p:grpSpPr bwMode="auto">
              <a:xfrm>
                <a:off x="1165" y="2560"/>
                <a:ext cx="501" cy="465"/>
                <a:chOff x="4348" y="2114"/>
                <a:chExt cx="579" cy="465"/>
              </a:xfrm>
            </p:grpSpPr>
            <p:sp>
              <p:nvSpPr>
                <p:cNvPr id="125" name="Line 41"/>
                <p:cNvSpPr>
                  <a:spLocks noChangeShapeType="1"/>
                </p:cNvSpPr>
                <p:nvPr/>
              </p:nvSpPr>
              <p:spPr bwMode="auto">
                <a:xfrm>
                  <a:off x="4348" y="2352"/>
                  <a:ext cx="336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26" name="Line 42"/>
                <p:cNvSpPr>
                  <a:spLocks noChangeShapeType="1"/>
                </p:cNvSpPr>
                <p:nvPr/>
              </p:nvSpPr>
              <p:spPr bwMode="auto">
                <a:xfrm>
                  <a:off x="4685" y="2159"/>
                  <a:ext cx="0" cy="385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none" w="sm" len="lg"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27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4685" y="2114"/>
                  <a:ext cx="224" cy="163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none" w="sm" len="lg"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28" name="Line 44"/>
                <p:cNvSpPr>
                  <a:spLocks noChangeShapeType="1"/>
                </p:cNvSpPr>
                <p:nvPr/>
              </p:nvSpPr>
              <p:spPr bwMode="auto">
                <a:xfrm>
                  <a:off x="4703" y="2420"/>
                  <a:ext cx="224" cy="159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23" name="Line 45"/>
              <p:cNvSpPr>
                <a:spLocks noChangeShapeType="1"/>
              </p:cNvSpPr>
              <p:nvPr/>
            </p:nvSpPr>
            <p:spPr bwMode="auto">
              <a:xfrm flipH="1">
                <a:off x="1650" y="2021"/>
                <a:ext cx="0" cy="548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/>
              <a:lstStyle/>
              <a:p>
                <a:endParaRPr lang="zh-CN" altLang="en-US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4" name="Line 46"/>
              <p:cNvSpPr>
                <a:spLocks noChangeShapeType="1"/>
              </p:cNvSpPr>
              <p:nvPr/>
            </p:nvSpPr>
            <p:spPr bwMode="auto">
              <a:xfrm flipH="1">
                <a:off x="1654" y="2998"/>
                <a:ext cx="0" cy="431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/>
              <a:lstStyle/>
              <a:p>
                <a:endParaRPr lang="zh-CN" altLang="en-US"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04" name="Line 47"/>
            <p:cNvSpPr>
              <a:spLocks noChangeShapeType="1"/>
            </p:cNvSpPr>
            <p:nvPr/>
          </p:nvSpPr>
          <p:spPr bwMode="auto">
            <a:xfrm>
              <a:off x="2336" y="2205"/>
              <a:ext cx="816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5" name="Line 48"/>
            <p:cNvSpPr>
              <a:spLocks noChangeShapeType="1"/>
            </p:cNvSpPr>
            <p:nvPr/>
          </p:nvSpPr>
          <p:spPr bwMode="auto">
            <a:xfrm>
              <a:off x="3152" y="2205"/>
              <a:ext cx="0" cy="95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0" name="Group 49"/>
            <p:cNvGrpSpPr>
              <a:grpSpLocks/>
            </p:cNvGrpSpPr>
            <p:nvPr/>
          </p:nvGrpSpPr>
          <p:grpSpPr bwMode="auto">
            <a:xfrm>
              <a:off x="3016" y="3158"/>
              <a:ext cx="272" cy="136"/>
              <a:chOff x="3016" y="3158"/>
              <a:chExt cx="272" cy="136"/>
            </a:xfrm>
          </p:grpSpPr>
          <p:sp>
            <p:nvSpPr>
              <p:cNvPr id="118" name="Line 50"/>
              <p:cNvSpPr>
                <a:spLocks noChangeShapeType="1"/>
              </p:cNvSpPr>
              <p:nvPr/>
            </p:nvSpPr>
            <p:spPr bwMode="auto">
              <a:xfrm>
                <a:off x="3016" y="3158"/>
                <a:ext cx="272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/>
              <a:lstStyle/>
              <a:p>
                <a:endParaRPr lang="zh-CN" altLang="en-US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9" name="Line 51"/>
              <p:cNvSpPr>
                <a:spLocks noChangeShapeType="1"/>
              </p:cNvSpPr>
              <p:nvPr/>
            </p:nvSpPr>
            <p:spPr bwMode="auto">
              <a:xfrm>
                <a:off x="3083" y="3203"/>
                <a:ext cx="136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/>
              <a:lstStyle/>
              <a:p>
                <a:endParaRPr lang="zh-CN" altLang="en-US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0" name="Line 52"/>
              <p:cNvSpPr>
                <a:spLocks noChangeShapeType="1"/>
              </p:cNvSpPr>
              <p:nvPr/>
            </p:nvSpPr>
            <p:spPr bwMode="auto">
              <a:xfrm>
                <a:off x="3016" y="3249"/>
                <a:ext cx="272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/>
              <a:lstStyle/>
              <a:p>
                <a:endParaRPr lang="zh-CN" altLang="en-US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1" name="Line 53"/>
              <p:cNvSpPr>
                <a:spLocks noChangeShapeType="1"/>
              </p:cNvSpPr>
              <p:nvPr/>
            </p:nvSpPr>
            <p:spPr bwMode="auto">
              <a:xfrm>
                <a:off x="3083" y="3294"/>
                <a:ext cx="136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/>
              <a:lstStyle/>
              <a:p>
                <a:endParaRPr lang="zh-CN" altLang="en-US"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07" name="Line 54"/>
            <p:cNvSpPr>
              <a:spLocks noChangeShapeType="1"/>
            </p:cNvSpPr>
            <p:nvPr/>
          </p:nvSpPr>
          <p:spPr bwMode="auto">
            <a:xfrm>
              <a:off x="3152" y="3294"/>
              <a:ext cx="0" cy="318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8" name="Line 55"/>
            <p:cNvSpPr>
              <a:spLocks noChangeShapeType="1"/>
            </p:cNvSpPr>
            <p:nvPr/>
          </p:nvSpPr>
          <p:spPr bwMode="auto">
            <a:xfrm>
              <a:off x="2336" y="3612"/>
              <a:ext cx="816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9" name="Line 56"/>
            <p:cNvSpPr>
              <a:spLocks noChangeShapeType="1"/>
            </p:cNvSpPr>
            <p:nvPr/>
          </p:nvSpPr>
          <p:spPr bwMode="auto">
            <a:xfrm>
              <a:off x="2270" y="2289"/>
              <a:ext cx="0" cy="318"/>
            </a:xfrm>
            <a:prstGeom prst="line">
              <a:avLst/>
            </a:prstGeom>
            <a:noFill/>
            <a:ln w="44450">
              <a:solidFill>
                <a:srgbClr val="C000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0" name="Rectangle 57"/>
            <p:cNvSpPr>
              <a:spLocks noChangeArrowheads="1"/>
            </p:cNvSpPr>
            <p:nvPr/>
          </p:nvSpPr>
          <p:spPr bwMode="auto">
            <a:xfrm>
              <a:off x="1833" y="2265"/>
              <a:ext cx="396" cy="291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aseline="-2500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CEO</a:t>
              </a:r>
            </a:p>
          </p:txBody>
        </p:sp>
        <p:sp>
          <p:nvSpPr>
            <p:cNvPr id="111" name="Text Box 58"/>
            <p:cNvSpPr txBox="1">
              <a:spLocks noChangeArrowheads="1"/>
            </p:cNvSpPr>
            <p:nvPr/>
          </p:nvSpPr>
          <p:spPr bwMode="auto">
            <a:xfrm>
              <a:off x="2336" y="2604"/>
              <a:ext cx="246" cy="291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12" name="Rectangle 59"/>
            <p:cNvSpPr>
              <a:spLocks noChangeArrowheads="1"/>
            </p:cNvSpPr>
            <p:nvPr/>
          </p:nvSpPr>
          <p:spPr bwMode="auto">
            <a:xfrm>
              <a:off x="1791" y="2688"/>
              <a:ext cx="246" cy="291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13" name="Rectangle 60"/>
            <p:cNvSpPr>
              <a:spLocks noChangeArrowheads="1"/>
            </p:cNvSpPr>
            <p:nvPr/>
          </p:nvSpPr>
          <p:spPr bwMode="auto">
            <a:xfrm>
              <a:off x="2336" y="3051"/>
              <a:ext cx="234" cy="291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14" name="Oval 61"/>
            <p:cNvSpPr>
              <a:spLocks noChangeArrowheads="1"/>
            </p:cNvSpPr>
            <p:nvPr/>
          </p:nvSpPr>
          <p:spPr bwMode="auto">
            <a:xfrm>
              <a:off x="1791" y="2953"/>
              <a:ext cx="46" cy="4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1" name="Group 62"/>
            <p:cNvGrpSpPr>
              <a:grpSpLocks/>
            </p:cNvGrpSpPr>
            <p:nvPr/>
          </p:nvGrpSpPr>
          <p:grpSpPr bwMode="auto">
            <a:xfrm>
              <a:off x="3016" y="2523"/>
              <a:ext cx="336" cy="277"/>
              <a:chOff x="3010" y="2568"/>
              <a:chExt cx="336" cy="277"/>
            </a:xfrm>
          </p:grpSpPr>
          <p:sp>
            <p:nvSpPr>
              <p:cNvPr id="116" name="Oval 63"/>
              <p:cNvSpPr>
                <a:spLocks noChangeArrowheads="1"/>
              </p:cNvSpPr>
              <p:nvPr/>
            </p:nvSpPr>
            <p:spPr bwMode="auto">
              <a:xfrm rot="5400000">
                <a:off x="3021" y="2563"/>
                <a:ext cx="277" cy="288"/>
              </a:xfrm>
              <a:prstGeom prst="ellipse">
                <a:avLst/>
              </a:prstGeom>
              <a:gradFill rotWithShape="1">
                <a:gsLst>
                  <a:gs pos="0">
                    <a:srgbClr val="2F765E"/>
                  </a:gs>
                  <a:gs pos="50000">
                    <a:srgbClr val="66FFCC"/>
                  </a:gs>
                  <a:gs pos="100000">
                    <a:srgbClr val="2F765E"/>
                  </a:gs>
                </a:gsLst>
                <a:lin ang="18900000" scaled="1"/>
              </a:gra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 vert="eaVert" wrap="none" anchor="ctr"/>
              <a:lstStyle/>
              <a:p>
                <a:pPr algn="ctr"/>
                <a:endParaRPr lang="zh-CN" altLang="zh-CN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7" name="Rectangle 64"/>
              <p:cNvSpPr>
                <a:spLocks noChangeArrowheads="1"/>
              </p:cNvSpPr>
              <p:nvPr/>
            </p:nvSpPr>
            <p:spPr bwMode="auto">
              <a:xfrm>
                <a:off x="3010" y="2568"/>
                <a:ext cx="336" cy="252"/>
              </a:xfrm>
              <a:prstGeom prst="rect">
                <a:avLst/>
              </a:prstGeom>
              <a:noFill/>
              <a:ln w="44450" algn="ctr">
                <a:noFill/>
                <a:miter lim="800000"/>
                <a:headEnd/>
                <a:tailEnd type="none" w="sm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rgbClr val="FF6600"/>
                    </a:solidFill>
                    <a:ea typeface="华文中宋" pitchFamily="2" charset="-122"/>
                    <a:cs typeface="Times New Roman" pitchFamily="18" charset="0"/>
                  </a:rPr>
                  <a:t>µA</a:t>
                </a:r>
              </a:p>
            </p:txBody>
          </p:sp>
        </p:grpSp>
      </p:grpSp>
      <p:sp>
        <p:nvSpPr>
          <p:cNvPr id="158" name="Rectangle 1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22972" y="225290"/>
            <a:ext cx="2935741" cy="584775"/>
          </a:xfrm>
          <a:prstGeom prst="rect">
            <a:avLst/>
          </a:prstGeom>
          <a:noFill/>
          <a:ln w="4127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4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）主要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参数</a:t>
            </a:r>
          </a:p>
        </p:txBody>
      </p:sp>
      <p:grpSp>
        <p:nvGrpSpPr>
          <p:cNvPr id="79" name="Group 94"/>
          <p:cNvGrpSpPr>
            <a:grpSpLocks/>
          </p:cNvGrpSpPr>
          <p:nvPr/>
        </p:nvGrpSpPr>
        <p:grpSpPr bwMode="auto">
          <a:xfrm>
            <a:off x="5696761" y="2837945"/>
            <a:ext cx="2879725" cy="1943100"/>
            <a:chOff x="3742" y="618"/>
            <a:chExt cx="1814" cy="1224"/>
          </a:xfrm>
        </p:grpSpPr>
        <p:grpSp>
          <p:nvGrpSpPr>
            <p:cNvPr id="80" name="Group 66"/>
            <p:cNvGrpSpPr>
              <a:grpSpLocks/>
            </p:cNvGrpSpPr>
            <p:nvPr/>
          </p:nvGrpSpPr>
          <p:grpSpPr bwMode="auto">
            <a:xfrm>
              <a:off x="4252" y="1010"/>
              <a:ext cx="500" cy="440"/>
              <a:chOff x="4356" y="2106"/>
              <a:chExt cx="579" cy="440"/>
            </a:xfrm>
          </p:grpSpPr>
          <p:sp>
            <p:nvSpPr>
              <p:cNvPr id="166" name="Line 67"/>
              <p:cNvSpPr>
                <a:spLocks noChangeShapeType="1"/>
              </p:cNvSpPr>
              <p:nvPr/>
            </p:nvSpPr>
            <p:spPr bwMode="auto">
              <a:xfrm>
                <a:off x="4356" y="2344"/>
                <a:ext cx="336" cy="0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/>
              <a:lstStyle/>
              <a:p>
                <a:endParaRPr lang="zh-CN" altLang="en-US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7" name="Line 68"/>
              <p:cNvSpPr>
                <a:spLocks noChangeShapeType="1"/>
              </p:cNvSpPr>
              <p:nvPr/>
            </p:nvSpPr>
            <p:spPr bwMode="auto">
              <a:xfrm>
                <a:off x="4693" y="2151"/>
                <a:ext cx="0" cy="38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/>
              <a:lstStyle/>
              <a:p>
                <a:endParaRPr lang="zh-CN" altLang="en-US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8" name="Line 69"/>
              <p:cNvSpPr>
                <a:spLocks noChangeShapeType="1"/>
              </p:cNvSpPr>
              <p:nvPr/>
            </p:nvSpPr>
            <p:spPr bwMode="auto">
              <a:xfrm flipV="1">
                <a:off x="4693" y="2106"/>
                <a:ext cx="224" cy="163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/>
              <a:lstStyle/>
              <a:p>
                <a:endParaRPr lang="zh-CN" altLang="en-US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9" name="Line 70"/>
              <p:cNvSpPr>
                <a:spLocks noChangeShapeType="1"/>
              </p:cNvSpPr>
              <p:nvPr/>
            </p:nvSpPr>
            <p:spPr bwMode="auto">
              <a:xfrm>
                <a:off x="4690" y="2391"/>
                <a:ext cx="245" cy="15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85" name="Line 71"/>
            <p:cNvSpPr>
              <a:spLocks noChangeShapeType="1"/>
            </p:cNvSpPr>
            <p:nvPr/>
          </p:nvSpPr>
          <p:spPr bwMode="auto">
            <a:xfrm flipH="1">
              <a:off x="4739" y="691"/>
              <a:ext cx="0" cy="336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6" name="Line 72"/>
            <p:cNvSpPr>
              <a:spLocks noChangeShapeType="1"/>
            </p:cNvSpPr>
            <p:nvPr/>
          </p:nvSpPr>
          <p:spPr bwMode="auto">
            <a:xfrm>
              <a:off x="4739" y="1434"/>
              <a:ext cx="1" cy="227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91" name="Group 73"/>
            <p:cNvGrpSpPr>
              <a:grpSpLocks/>
            </p:cNvGrpSpPr>
            <p:nvPr/>
          </p:nvGrpSpPr>
          <p:grpSpPr bwMode="auto">
            <a:xfrm>
              <a:off x="3969" y="1117"/>
              <a:ext cx="336" cy="277"/>
              <a:chOff x="3010" y="2568"/>
              <a:chExt cx="336" cy="277"/>
            </a:xfrm>
          </p:grpSpPr>
          <p:sp>
            <p:nvSpPr>
              <p:cNvPr id="164" name="Oval 74"/>
              <p:cNvSpPr>
                <a:spLocks noChangeArrowheads="1"/>
              </p:cNvSpPr>
              <p:nvPr/>
            </p:nvSpPr>
            <p:spPr bwMode="auto">
              <a:xfrm rot="5400000">
                <a:off x="3021" y="2563"/>
                <a:ext cx="277" cy="288"/>
              </a:xfrm>
              <a:prstGeom prst="ellipse">
                <a:avLst/>
              </a:prstGeom>
              <a:gradFill rotWithShape="1">
                <a:gsLst>
                  <a:gs pos="0">
                    <a:srgbClr val="2F765E"/>
                  </a:gs>
                  <a:gs pos="50000">
                    <a:srgbClr val="66FFCC"/>
                  </a:gs>
                  <a:gs pos="100000">
                    <a:srgbClr val="2F765E"/>
                  </a:gs>
                </a:gsLst>
                <a:lin ang="18900000" scaled="1"/>
              </a:gra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 vert="eaVert" wrap="none" anchor="ctr"/>
              <a:lstStyle/>
              <a:p>
                <a:pPr algn="ctr"/>
                <a:endParaRPr lang="zh-CN" altLang="zh-CN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5" name="Rectangle 75"/>
              <p:cNvSpPr>
                <a:spLocks noChangeArrowheads="1"/>
              </p:cNvSpPr>
              <p:nvPr/>
            </p:nvSpPr>
            <p:spPr bwMode="auto">
              <a:xfrm>
                <a:off x="3010" y="2568"/>
                <a:ext cx="336" cy="252"/>
              </a:xfrm>
              <a:prstGeom prst="rect">
                <a:avLst/>
              </a:prstGeom>
              <a:noFill/>
              <a:ln w="44450" algn="ctr">
                <a:noFill/>
                <a:miter lim="800000"/>
                <a:headEnd/>
                <a:tailEnd type="none" w="sm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rgbClr val="FF6600"/>
                    </a:solidFill>
                    <a:ea typeface="华文中宋" pitchFamily="2" charset="-122"/>
                    <a:cs typeface="Times New Roman" pitchFamily="18" charset="0"/>
                  </a:rPr>
                  <a:t>µA</a:t>
                </a:r>
              </a:p>
            </p:txBody>
          </p:sp>
        </p:grpSp>
        <p:sp>
          <p:nvSpPr>
            <p:cNvPr id="92" name="Rectangle 76"/>
            <p:cNvSpPr>
              <a:spLocks noChangeArrowheads="1"/>
            </p:cNvSpPr>
            <p:nvPr/>
          </p:nvSpPr>
          <p:spPr bwMode="auto">
            <a:xfrm>
              <a:off x="4150" y="618"/>
              <a:ext cx="447" cy="291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i="1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CBO</a:t>
              </a:r>
            </a:p>
          </p:txBody>
        </p:sp>
        <p:sp>
          <p:nvSpPr>
            <p:cNvPr id="96" name="Text Box 77"/>
            <p:cNvSpPr txBox="1">
              <a:spLocks noChangeArrowheads="1"/>
            </p:cNvSpPr>
            <p:nvPr/>
          </p:nvSpPr>
          <p:spPr bwMode="auto">
            <a:xfrm>
              <a:off x="4785" y="890"/>
              <a:ext cx="246" cy="291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99" name="Rectangle 78"/>
            <p:cNvSpPr>
              <a:spLocks noChangeArrowheads="1"/>
            </p:cNvSpPr>
            <p:nvPr/>
          </p:nvSpPr>
          <p:spPr bwMode="auto">
            <a:xfrm>
              <a:off x="4785" y="1298"/>
              <a:ext cx="234" cy="291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02" name="Rectangle 79"/>
            <p:cNvSpPr>
              <a:spLocks noChangeArrowheads="1"/>
            </p:cNvSpPr>
            <p:nvPr/>
          </p:nvSpPr>
          <p:spPr bwMode="auto">
            <a:xfrm>
              <a:off x="4241" y="1010"/>
              <a:ext cx="246" cy="291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03" name="Line 80"/>
            <p:cNvSpPr>
              <a:spLocks noChangeShapeType="1"/>
            </p:cNvSpPr>
            <p:nvPr/>
          </p:nvSpPr>
          <p:spPr bwMode="auto">
            <a:xfrm>
              <a:off x="3742" y="1253"/>
              <a:ext cx="227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Line 81"/>
            <p:cNvSpPr>
              <a:spLocks noChangeShapeType="1"/>
            </p:cNvSpPr>
            <p:nvPr/>
          </p:nvSpPr>
          <p:spPr bwMode="auto">
            <a:xfrm>
              <a:off x="3742" y="1253"/>
              <a:ext cx="0" cy="589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5" name="Line 82"/>
            <p:cNvSpPr>
              <a:spLocks noChangeShapeType="1"/>
            </p:cNvSpPr>
            <p:nvPr/>
          </p:nvSpPr>
          <p:spPr bwMode="auto">
            <a:xfrm>
              <a:off x="3742" y="1842"/>
              <a:ext cx="1678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2" name="Line 83"/>
            <p:cNvSpPr>
              <a:spLocks noChangeShapeType="1"/>
            </p:cNvSpPr>
            <p:nvPr/>
          </p:nvSpPr>
          <p:spPr bwMode="auto">
            <a:xfrm>
              <a:off x="4737" y="698"/>
              <a:ext cx="680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29" name="Group 93"/>
            <p:cNvGrpSpPr>
              <a:grpSpLocks/>
            </p:cNvGrpSpPr>
            <p:nvPr/>
          </p:nvGrpSpPr>
          <p:grpSpPr bwMode="auto">
            <a:xfrm>
              <a:off x="5284" y="688"/>
              <a:ext cx="272" cy="1154"/>
              <a:chOff x="5375" y="688"/>
              <a:chExt cx="272" cy="1154"/>
            </a:xfrm>
          </p:grpSpPr>
          <p:sp>
            <p:nvSpPr>
              <p:cNvPr id="142" name="Line 84"/>
              <p:cNvSpPr>
                <a:spLocks noChangeShapeType="1"/>
              </p:cNvSpPr>
              <p:nvPr/>
            </p:nvSpPr>
            <p:spPr bwMode="auto">
              <a:xfrm>
                <a:off x="5512" y="688"/>
                <a:ext cx="0" cy="377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/>
              <a:lstStyle/>
              <a:p>
                <a:endParaRPr lang="zh-CN" altLang="en-US"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146" name="Group 85"/>
              <p:cNvGrpSpPr>
                <a:grpSpLocks/>
              </p:cNvGrpSpPr>
              <p:nvPr/>
            </p:nvGrpSpPr>
            <p:grpSpPr bwMode="auto">
              <a:xfrm>
                <a:off x="5375" y="1071"/>
                <a:ext cx="272" cy="136"/>
                <a:chOff x="3016" y="3158"/>
                <a:chExt cx="272" cy="136"/>
              </a:xfrm>
            </p:grpSpPr>
            <p:sp>
              <p:nvSpPr>
                <p:cNvPr id="160" name="Line 86"/>
                <p:cNvSpPr>
                  <a:spLocks noChangeShapeType="1"/>
                </p:cNvSpPr>
                <p:nvPr/>
              </p:nvSpPr>
              <p:spPr bwMode="auto">
                <a:xfrm>
                  <a:off x="3016" y="3158"/>
                  <a:ext cx="272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none" w="sm" len="lg"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61" name="Line 87"/>
                <p:cNvSpPr>
                  <a:spLocks noChangeShapeType="1"/>
                </p:cNvSpPr>
                <p:nvPr/>
              </p:nvSpPr>
              <p:spPr bwMode="auto">
                <a:xfrm>
                  <a:off x="3083" y="3203"/>
                  <a:ext cx="136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none" w="sm" len="lg"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62" name="Line 88"/>
                <p:cNvSpPr>
                  <a:spLocks noChangeShapeType="1"/>
                </p:cNvSpPr>
                <p:nvPr/>
              </p:nvSpPr>
              <p:spPr bwMode="auto">
                <a:xfrm>
                  <a:off x="3016" y="3249"/>
                  <a:ext cx="272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none" w="sm" len="lg"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63" name="Line 89"/>
                <p:cNvSpPr>
                  <a:spLocks noChangeShapeType="1"/>
                </p:cNvSpPr>
                <p:nvPr/>
              </p:nvSpPr>
              <p:spPr bwMode="auto">
                <a:xfrm>
                  <a:off x="3083" y="3294"/>
                  <a:ext cx="136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none" w="sm" len="lg"/>
                </a:ln>
              </p:spPr>
              <p:txBody>
                <a:bodyPr/>
                <a:lstStyle/>
                <a:p>
                  <a:endParaRPr lang="zh-CN" altLang="en-US"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59" name="Line 90"/>
              <p:cNvSpPr>
                <a:spLocks noChangeShapeType="1"/>
              </p:cNvSpPr>
              <p:nvPr/>
            </p:nvSpPr>
            <p:spPr bwMode="auto">
              <a:xfrm>
                <a:off x="5511" y="1207"/>
                <a:ext cx="0" cy="635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/>
              <a:lstStyle/>
              <a:p>
                <a:endParaRPr lang="zh-CN" altLang="en-US"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30" name="Oval 91"/>
            <p:cNvSpPr>
              <a:spLocks noChangeArrowheads="1"/>
            </p:cNvSpPr>
            <p:nvPr/>
          </p:nvSpPr>
          <p:spPr bwMode="auto">
            <a:xfrm>
              <a:off x="4716" y="1660"/>
              <a:ext cx="46" cy="4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3" name="Line 92"/>
            <p:cNvSpPr>
              <a:spLocks noChangeShapeType="1"/>
            </p:cNvSpPr>
            <p:nvPr/>
          </p:nvSpPr>
          <p:spPr bwMode="auto">
            <a:xfrm flipH="1">
              <a:off x="4422" y="845"/>
              <a:ext cx="272" cy="272"/>
            </a:xfrm>
            <a:prstGeom prst="line">
              <a:avLst/>
            </a:prstGeom>
            <a:noFill/>
            <a:ln w="44450">
              <a:solidFill>
                <a:srgbClr val="C000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3" presetClass="entr" presetSubtype="3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utoUpdateAnimBg="0"/>
      <p:bldP spid="82" grpId="0" autoUpdateAnimBg="0"/>
      <p:bldP spid="83" grpId="0" autoUpdateAnimBg="0"/>
      <p:bldP spid="8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Box 4"/>
          <p:cNvSpPr txBox="1">
            <a:spLocks noChangeArrowheads="1"/>
          </p:cNvSpPr>
          <p:nvPr/>
        </p:nvSpPr>
        <p:spPr bwMode="auto">
          <a:xfrm>
            <a:off x="4343962" y="989261"/>
            <a:ext cx="40243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集电极最大允许电流 </a:t>
            </a:r>
            <a:r>
              <a:rPr lang="en-US" altLang="zh-CN" sz="28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CM</a:t>
            </a:r>
            <a:endParaRPr lang="en-US" altLang="zh-CN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4343961" y="1903661"/>
            <a:ext cx="45594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集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-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射反向击穿电压 </a:t>
            </a:r>
            <a:r>
              <a:rPr lang="en-US" altLang="zh-CN" sz="28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(BR)CEO</a:t>
            </a:r>
          </a:p>
        </p:txBody>
      </p:sp>
      <p:sp>
        <p:nvSpPr>
          <p:cNvPr id="34" name="Text Box 6"/>
          <p:cNvSpPr txBox="1">
            <a:spLocks noChangeArrowheads="1"/>
          </p:cNvSpPr>
          <p:nvPr/>
        </p:nvSpPr>
        <p:spPr bwMode="auto">
          <a:xfrm>
            <a:off x="4343962" y="2818061"/>
            <a:ext cx="49144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集电极最大允许耗散功率 </a:t>
            </a:r>
            <a:r>
              <a:rPr lang="en-US" altLang="zh-CN" sz="28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</a:t>
            </a:r>
            <a:r>
              <a:rPr lang="en-US" altLang="zh-CN" sz="28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CM</a:t>
            </a:r>
          </a:p>
        </p:txBody>
      </p:sp>
      <p:sp>
        <p:nvSpPr>
          <p:cNvPr id="35" name="Line 7"/>
          <p:cNvSpPr>
            <a:spLocks noChangeShapeType="1"/>
          </p:cNvSpPr>
          <p:nvPr/>
        </p:nvSpPr>
        <p:spPr bwMode="auto">
          <a:xfrm>
            <a:off x="676855" y="1810588"/>
            <a:ext cx="16764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6" name="Line 8"/>
          <p:cNvSpPr>
            <a:spLocks noChangeShapeType="1"/>
          </p:cNvSpPr>
          <p:nvPr/>
        </p:nvSpPr>
        <p:spPr bwMode="auto">
          <a:xfrm>
            <a:off x="3435728" y="3043204"/>
            <a:ext cx="0" cy="13716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8" name="Text Box 9"/>
          <p:cNvSpPr txBox="1">
            <a:spLocks noChangeArrowheads="1"/>
          </p:cNvSpPr>
          <p:nvPr/>
        </p:nvSpPr>
        <p:spPr bwMode="auto">
          <a:xfrm>
            <a:off x="3447641" y="2907146"/>
            <a:ext cx="381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过压区</a:t>
            </a:r>
          </a:p>
        </p:txBody>
      </p:sp>
      <p:sp>
        <p:nvSpPr>
          <p:cNvPr id="39" name="Text Box 10"/>
          <p:cNvSpPr txBox="1">
            <a:spLocks noChangeArrowheads="1"/>
          </p:cNvSpPr>
          <p:nvPr/>
        </p:nvSpPr>
        <p:spPr bwMode="auto">
          <a:xfrm>
            <a:off x="1588566" y="1244915"/>
            <a:ext cx="124250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过流区</a:t>
            </a: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1243424" y="2389709"/>
            <a:ext cx="6096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安全工作区</a:t>
            </a:r>
          </a:p>
        </p:txBody>
      </p:sp>
      <p:sp>
        <p:nvSpPr>
          <p:cNvPr id="41" name="Text Box 12"/>
          <p:cNvSpPr txBox="1">
            <a:spLocks noChangeArrowheads="1"/>
          </p:cNvSpPr>
          <p:nvPr/>
        </p:nvSpPr>
        <p:spPr bwMode="auto">
          <a:xfrm>
            <a:off x="2343395" y="2945520"/>
            <a:ext cx="11976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过损区</a:t>
            </a:r>
          </a:p>
        </p:txBody>
      </p:sp>
      <p:sp>
        <p:nvSpPr>
          <p:cNvPr id="42" name="Text Box 13"/>
          <p:cNvSpPr txBox="1">
            <a:spLocks noChangeArrowheads="1"/>
          </p:cNvSpPr>
          <p:nvPr/>
        </p:nvSpPr>
        <p:spPr bwMode="auto">
          <a:xfrm>
            <a:off x="2395390" y="2268684"/>
            <a:ext cx="158675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</a:t>
            </a:r>
            <a:r>
              <a:rPr lang="en-US" altLang="zh-CN" sz="20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CM</a:t>
            </a:r>
            <a:r>
              <a: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sz="20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0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0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0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CE</a:t>
            </a:r>
          </a:p>
        </p:txBody>
      </p:sp>
      <p:sp>
        <p:nvSpPr>
          <p:cNvPr id="43" name="Line 14"/>
          <p:cNvSpPr>
            <a:spLocks noChangeShapeType="1"/>
          </p:cNvSpPr>
          <p:nvPr/>
        </p:nvSpPr>
        <p:spPr bwMode="auto">
          <a:xfrm flipH="1">
            <a:off x="2237590" y="2633549"/>
            <a:ext cx="346057" cy="5291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5" name="Text Box 16"/>
          <p:cNvSpPr txBox="1">
            <a:spLocks noChangeArrowheads="1"/>
          </p:cNvSpPr>
          <p:nvPr/>
        </p:nvSpPr>
        <p:spPr bwMode="auto">
          <a:xfrm>
            <a:off x="2896517" y="4346517"/>
            <a:ext cx="119320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0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(BR)CEO</a:t>
            </a:r>
          </a:p>
        </p:txBody>
      </p:sp>
      <p:sp>
        <p:nvSpPr>
          <p:cNvPr id="47" name="Text Box 18"/>
          <p:cNvSpPr txBox="1">
            <a:spLocks noChangeArrowheads="1"/>
          </p:cNvSpPr>
          <p:nvPr/>
        </p:nvSpPr>
        <p:spPr bwMode="auto">
          <a:xfrm>
            <a:off x="152420" y="1699426"/>
            <a:ext cx="65621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0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CM</a:t>
            </a:r>
          </a:p>
        </p:txBody>
      </p:sp>
      <p:sp>
        <p:nvSpPr>
          <p:cNvPr id="48" name="Text Box 19"/>
          <p:cNvSpPr txBox="1">
            <a:spLocks noChangeArrowheads="1"/>
          </p:cNvSpPr>
          <p:nvPr/>
        </p:nvSpPr>
        <p:spPr bwMode="auto">
          <a:xfrm>
            <a:off x="547408" y="4429727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O</a:t>
            </a:r>
          </a:p>
        </p:txBody>
      </p:sp>
      <p:pic>
        <p:nvPicPr>
          <p:cNvPr id="49" name="Picture 20" descr="7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700000">
            <a:off x="8176373" y="3344923"/>
            <a:ext cx="533400" cy="63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" name="Picture 21" descr="7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700000">
            <a:off x="7664488" y="2576014"/>
            <a:ext cx="5984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" name="Picture 22" descr="7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700000">
            <a:off x="7545258" y="1580669"/>
            <a:ext cx="53181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2" name="Object 23"/>
          <p:cNvGraphicFramePr>
            <a:graphicFrameLocks noChangeAspect="1"/>
          </p:cNvGraphicFramePr>
          <p:nvPr/>
        </p:nvGraphicFramePr>
        <p:xfrm>
          <a:off x="4135084" y="1152419"/>
          <a:ext cx="220663" cy="228600"/>
        </p:xfrm>
        <a:graphic>
          <a:graphicData uri="http://schemas.openxmlformats.org/presentationml/2006/ole">
            <p:oleObj spid="_x0000_s4101" name="CorelDRAW" r:id="rId4" imgW="798120" imgH="824760" progId="">
              <p:embed/>
            </p:oleObj>
          </a:graphicData>
        </a:graphic>
      </p:graphicFrame>
      <p:graphicFrame>
        <p:nvGraphicFramePr>
          <p:cNvPr id="53" name="Object 24"/>
          <p:cNvGraphicFramePr>
            <a:graphicFrameLocks noChangeAspect="1"/>
          </p:cNvGraphicFramePr>
          <p:nvPr/>
        </p:nvGraphicFramePr>
        <p:xfrm>
          <a:off x="4141434" y="2066819"/>
          <a:ext cx="222250" cy="228600"/>
        </p:xfrm>
        <a:graphic>
          <a:graphicData uri="http://schemas.openxmlformats.org/presentationml/2006/ole">
            <p:oleObj spid="_x0000_s4102" name="CorelDRAW" r:id="rId5" imgW="798120" imgH="824760" progId="">
              <p:embed/>
            </p:oleObj>
          </a:graphicData>
        </a:graphic>
      </p:graphicFrame>
      <p:graphicFrame>
        <p:nvGraphicFramePr>
          <p:cNvPr id="54" name="Object 25"/>
          <p:cNvGraphicFramePr>
            <a:graphicFrameLocks noChangeAspect="1"/>
          </p:cNvGraphicFramePr>
          <p:nvPr/>
        </p:nvGraphicFramePr>
        <p:xfrm>
          <a:off x="4135084" y="2981219"/>
          <a:ext cx="222250" cy="228600"/>
        </p:xfrm>
        <a:graphic>
          <a:graphicData uri="http://schemas.openxmlformats.org/presentationml/2006/ole">
            <p:oleObj spid="_x0000_s4103" name="CorelDRAW" r:id="rId6" imgW="798120" imgH="824760" progId="">
              <p:embed/>
            </p:oleObj>
          </a:graphicData>
        </a:graphic>
      </p:graphicFrame>
      <p:sp>
        <p:nvSpPr>
          <p:cNvPr id="55" name="Text Box 26"/>
          <p:cNvSpPr txBox="1">
            <a:spLocks noChangeArrowheads="1"/>
          </p:cNvSpPr>
          <p:nvPr/>
        </p:nvSpPr>
        <p:spPr bwMode="auto">
          <a:xfrm>
            <a:off x="4943139" y="3641464"/>
            <a:ext cx="372921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使用时不允许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超过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这些极限参数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.</a:t>
            </a:r>
          </a:p>
        </p:txBody>
      </p:sp>
      <p:sp>
        <p:nvSpPr>
          <p:cNvPr id="56" name="Oval 27"/>
          <p:cNvSpPr>
            <a:spLocks noChangeArrowheads="1"/>
          </p:cNvSpPr>
          <p:nvPr/>
        </p:nvSpPr>
        <p:spPr bwMode="auto">
          <a:xfrm>
            <a:off x="4860511" y="3512934"/>
            <a:ext cx="3536415" cy="1333500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ash"/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57" name="Group 34"/>
          <p:cNvGrpSpPr>
            <a:grpSpLocks/>
          </p:cNvGrpSpPr>
          <p:nvPr/>
        </p:nvGrpSpPr>
        <p:grpSpPr bwMode="auto">
          <a:xfrm>
            <a:off x="701862" y="280334"/>
            <a:ext cx="2827338" cy="584201"/>
            <a:chOff x="476" y="391"/>
            <a:chExt cx="1781" cy="368"/>
          </a:xfrm>
        </p:grpSpPr>
        <p:sp>
          <p:nvSpPr>
            <p:cNvPr id="58" name="Text Box 3"/>
            <p:cNvSpPr txBox="1">
              <a:spLocks noChangeArrowheads="1"/>
            </p:cNvSpPr>
            <p:nvPr/>
          </p:nvSpPr>
          <p:spPr bwMode="auto">
            <a:xfrm>
              <a:off x="476" y="391"/>
              <a:ext cx="1781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32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   </a:t>
              </a:r>
              <a:r>
                <a:rPr lang="zh-CN" altLang="en-US" sz="32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极限参数</a:t>
              </a:r>
            </a:p>
          </p:txBody>
        </p:sp>
        <p:sp>
          <p:nvSpPr>
            <p:cNvPr id="59" name="AutoShape 33"/>
            <p:cNvSpPr>
              <a:spLocks noChangeArrowheads="1"/>
            </p:cNvSpPr>
            <p:nvPr/>
          </p:nvSpPr>
          <p:spPr bwMode="auto">
            <a:xfrm>
              <a:off x="521" y="482"/>
              <a:ext cx="181" cy="181"/>
            </a:xfrm>
            <a:prstGeom prst="flowChartExtract">
              <a:avLst/>
            </a:prstGeom>
            <a:solidFill>
              <a:schemeClr val="accent2">
                <a:lumMod val="75000"/>
              </a:schemeClr>
            </a:solidFill>
            <a:ln w="412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0" name="组合 59"/>
          <p:cNvGrpSpPr>
            <a:grpSpLocks noChangeAspect="1"/>
          </p:cNvGrpSpPr>
          <p:nvPr/>
        </p:nvGrpSpPr>
        <p:grpSpPr>
          <a:xfrm>
            <a:off x="206209" y="1246225"/>
            <a:ext cx="4267061" cy="3572470"/>
            <a:chOff x="3932496" y="1102761"/>
            <a:chExt cx="4563507" cy="3820661"/>
          </a:xfrm>
        </p:grpSpPr>
        <p:sp>
          <p:nvSpPr>
            <p:cNvPr id="61" name="Rectangle 13"/>
            <p:cNvSpPr>
              <a:spLocks noChangeArrowheads="1"/>
            </p:cNvSpPr>
            <p:nvPr/>
          </p:nvSpPr>
          <p:spPr bwMode="auto">
            <a:xfrm>
              <a:off x="7827230" y="4461757"/>
              <a:ext cx="66877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62" name="Rectangle 14"/>
            <p:cNvSpPr>
              <a:spLocks noChangeArrowheads="1"/>
            </p:cNvSpPr>
            <p:nvPr/>
          </p:nvSpPr>
          <p:spPr bwMode="auto">
            <a:xfrm>
              <a:off x="3932496" y="1102761"/>
              <a:ext cx="42351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grpSp>
          <p:nvGrpSpPr>
            <p:cNvPr id="66" name="组合 170"/>
            <p:cNvGrpSpPr/>
            <p:nvPr/>
          </p:nvGrpSpPr>
          <p:grpSpPr>
            <a:xfrm>
              <a:off x="4519613" y="3695520"/>
              <a:ext cx="2626120" cy="200026"/>
              <a:chOff x="5389168" y="3271837"/>
              <a:chExt cx="2626120" cy="200026"/>
            </a:xfrm>
          </p:grpSpPr>
          <p:sp>
            <p:nvSpPr>
              <p:cNvPr id="85" name="任意多边形 84"/>
              <p:cNvSpPr/>
              <p:nvPr/>
            </p:nvSpPr>
            <p:spPr>
              <a:xfrm>
                <a:off x="5389168" y="3309938"/>
                <a:ext cx="192481" cy="161925"/>
              </a:xfrm>
              <a:custGeom>
                <a:avLst/>
                <a:gdLst>
                  <a:gd name="connsiteX0" fmla="*/ 0 w 209550"/>
                  <a:gd name="connsiteY0" fmla="*/ 161925 h 161925"/>
                  <a:gd name="connsiteX1" fmla="*/ 47625 w 209550"/>
                  <a:gd name="connsiteY1" fmla="*/ 47625 h 161925"/>
                  <a:gd name="connsiteX2" fmla="*/ 209550 w 209550"/>
                  <a:gd name="connsiteY2" fmla="*/ 0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550" h="161925">
                    <a:moveTo>
                      <a:pt x="0" y="161925"/>
                    </a:moveTo>
                    <a:cubicBezTo>
                      <a:pt x="6350" y="118269"/>
                      <a:pt x="12700" y="74613"/>
                      <a:pt x="47625" y="47625"/>
                    </a:cubicBezTo>
                    <a:cubicBezTo>
                      <a:pt x="82550" y="20638"/>
                      <a:pt x="146050" y="10319"/>
                      <a:pt x="209550" y="0"/>
                    </a:cubicBezTo>
                  </a:path>
                </a:pathLst>
              </a:cu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86" name="直接连接符 85"/>
              <p:cNvCxnSpPr/>
              <p:nvPr/>
            </p:nvCxnSpPr>
            <p:spPr>
              <a:xfrm flipV="1">
                <a:off x="5567363" y="3271837"/>
                <a:ext cx="2447925" cy="381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组合 173"/>
            <p:cNvGrpSpPr/>
            <p:nvPr/>
          </p:nvGrpSpPr>
          <p:grpSpPr>
            <a:xfrm>
              <a:off x="4441837" y="2197628"/>
              <a:ext cx="2847975" cy="2300290"/>
              <a:chOff x="5192021" y="2145926"/>
              <a:chExt cx="2847975" cy="2300290"/>
            </a:xfrm>
          </p:grpSpPr>
          <p:cxnSp>
            <p:nvCxnSpPr>
              <p:cNvPr id="81" name="直接连接符 80"/>
              <p:cNvCxnSpPr/>
              <p:nvPr/>
            </p:nvCxnSpPr>
            <p:spPr>
              <a:xfrm rot="5400000" flipH="1" flipV="1">
                <a:off x="4332389" y="3338934"/>
                <a:ext cx="1966914" cy="247649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2" name="组合 200"/>
              <p:cNvGrpSpPr/>
              <p:nvPr/>
            </p:nvGrpSpPr>
            <p:grpSpPr>
              <a:xfrm>
                <a:off x="5439671" y="2145926"/>
                <a:ext cx="2600325" cy="333375"/>
                <a:chOff x="5514975" y="2038350"/>
                <a:chExt cx="2600325" cy="333375"/>
              </a:xfrm>
            </p:grpSpPr>
            <p:sp>
              <p:nvSpPr>
                <p:cNvPr id="83" name="任意多边形 82"/>
                <p:cNvSpPr/>
                <p:nvPr/>
              </p:nvSpPr>
              <p:spPr>
                <a:xfrm>
                  <a:off x="5514975" y="2128838"/>
                  <a:ext cx="376238" cy="242887"/>
                </a:xfrm>
                <a:custGeom>
                  <a:avLst/>
                  <a:gdLst>
                    <a:gd name="connsiteX0" fmla="*/ 0 w 376238"/>
                    <a:gd name="connsiteY0" fmla="*/ 242887 h 242887"/>
                    <a:gd name="connsiteX1" fmla="*/ 128588 w 376238"/>
                    <a:gd name="connsiteY1" fmla="*/ 76200 h 242887"/>
                    <a:gd name="connsiteX2" fmla="*/ 376238 w 376238"/>
                    <a:gd name="connsiteY2" fmla="*/ 0 h 242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76238" h="242887">
                      <a:moveTo>
                        <a:pt x="0" y="242887"/>
                      </a:moveTo>
                      <a:cubicBezTo>
                        <a:pt x="32941" y="179784"/>
                        <a:pt x="65882" y="116681"/>
                        <a:pt x="128588" y="76200"/>
                      </a:cubicBezTo>
                      <a:cubicBezTo>
                        <a:pt x="191294" y="35719"/>
                        <a:pt x="283766" y="17859"/>
                        <a:pt x="376238" y="0"/>
                      </a:cubicBezTo>
                    </a:path>
                  </a:pathLst>
                </a:cu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cxnSp>
              <p:nvCxnSpPr>
                <p:cNvPr id="84" name="直接连接符 83"/>
                <p:cNvCxnSpPr>
                  <a:stCxn id="83" idx="2"/>
                </p:cNvCxnSpPr>
                <p:nvPr/>
              </p:nvCxnSpPr>
              <p:spPr>
                <a:xfrm flipV="1">
                  <a:off x="5891213" y="2038350"/>
                  <a:ext cx="2224087" cy="904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8" name="组合 178"/>
            <p:cNvGrpSpPr/>
            <p:nvPr/>
          </p:nvGrpSpPr>
          <p:grpSpPr>
            <a:xfrm>
              <a:off x="4652963" y="1476262"/>
              <a:ext cx="2648440" cy="1352666"/>
              <a:chOff x="5533535" y="990600"/>
              <a:chExt cx="2648440" cy="1370278"/>
            </a:xfrm>
          </p:grpSpPr>
          <p:cxnSp>
            <p:nvCxnSpPr>
              <p:cNvPr id="78" name="直接连接符 77"/>
              <p:cNvCxnSpPr/>
              <p:nvPr/>
            </p:nvCxnSpPr>
            <p:spPr>
              <a:xfrm rot="5400000" flipH="1" flipV="1">
                <a:off x="5088616" y="1757410"/>
                <a:ext cx="1048387" cy="158549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任意多边形 78"/>
              <p:cNvSpPr/>
              <p:nvPr/>
            </p:nvSpPr>
            <p:spPr>
              <a:xfrm>
                <a:off x="5686425" y="1076325"/>
                <a:ext cx="280988" cy="238125"/>
              </a:xfrm>
              <a:custGeom>
                <a:avLst/>
                <a:gdLst>
                  <a:gd name="connsiteX0" fmla="*/ 0 w 376238"/>
                  <a:gd name="connsiteY0" fmla="*/ 242887 h 242887"/>
                  <a:gd name="connsiteX1" fmla="*/ 128588 w 376238"/>
                  <a:gd name="connsiteY1" fmla="*/ 76200 h 242887"/>
                  <a:gd name="connsiteX2" fmla="*/ 376238 w 376238"/>
                  <a:gd name="connsiteY2" fmla="*/ 0 h 242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238" h="242887">
                    <a:moveTo>
                      <a:pt x="0" y="242887"/>
                    </a:moveTo>
                    <a:cubicBezTo>
                      <a:pt x="32941" y="179784"/>
                      <a:pt x="65882" y="116681"/>
                      <a:pt x="128588" y="76200"/>
                    </a:cubicBezTo>
                    <a:cubicBezTo>
                      <a:pt x="191294" y="35719"/>
                      <a:pt x="283766" y="17859"/>
                      <a:pt x="376238" y="0"/>
                    </a:cubicBezTo>
                  </a:path>
                </a:pathLst>
              </a:cu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80" name="直接连接符 79"/>
              <p:cNvCxnSpPr/>
              <p:nvPr/>
            </p:nvCxnSpPr>
            <p:spPr>
              <a:xfrm flipV="1">
                <a:off x="5957888" y="990600"/>
                <a:ext cx="2224087" cy="904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组合 182"/>
            <p:cNvGrpSpPr/>
            <p:nvPr/>
          </p:nvGrpSpPr>
          <p:grpSpPr>
            <a:xfrm>
              <a:off x="4432312" y="1171351"/>
              <a:ext cx="3653383" cy="3344026"/>
              <a:chOff x="5182496" y="1119649"/>
              <a:chExt cx="3653383" cy="3344026"/>
            </a:xfrm>
          </p:grpSpPr>
          <p:cxnSp>
            <p:nvCxnSpPr>
              <p:cNvPr id="76" name="直接箭头连接符 75"/>
              <p:cNvCxnSpPr/>
              <p:nvPr/>
            </p:nvCxnSpPr>
            <p:spPr>
              <a:xfrm>
                <a:off x="5182496" y="4449388"/>
                <a:ext cx="3653383" cy="144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箭头连接符 76"/>
              <p:cNvCxnSpPr/>
              <p:nvPr/>
            </p:nvCxnSpPr>
            <p:spPr>
              <a:xfrm rot="5400000" flipH="1" flipV="1">
                <a:off x="3517549" y="2791662"/>
                <a:ext cx="334402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组合 186"/>
            <p:cNvGrpSpPr/>
            <p:nvPr/>
          </p:nvGrpSpPr>
          <p:grpSpPr>
            <a:xfrm>
              <a:off x="4614491" y="2990440"/>
              <a:ext cx="2619377" cy="200026"/>
              <a:chOff x="5395911" y="3271837"/>
              <a:chExt cx="2619377" cy="200026"/>
            </a:xfrm>
          </p:grpSpPr>
          <p:sp>
            <p:nvSpPr>
              <p:cNvPr id="74" name="任意多边形 73"/>
              <p:cNvSpPr/>
              <p:nvPr/>
            </p:nvSpPr>
            <p:spPr>
              <a:xfrm>
                <a:off x="5395911" y="3309938"/>
                <a:ext cx="200025" cy="161925"/>
              </a:xfrm>
              <a:custGeom>
                <a:avLst/>
                <a:gdLst>
                  <a:gd name="connsiteX0" fmla="*/ 0 w 209550"/>
                  <a:gd name="connsiteY0" fmla="*/ 161925 h 161925"/>
                  <a:gd name="connsiteX1" fmla="*/ 47625 w 209550"/>
                  <a:gd name="connsiteY1" fmla="*/ 47625 h 161925"/>
                  <a:gd name="connsiteX2" fmla="*/ 209550 w 209550"/>
                  <a:gd name="connsiteY2" fmla="*/ 0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550" h="161925">
                    <a:moveTo>
                      <a:pt x="0" y="161925"/>
                    </a:moveTo>
                    <a:cubicBezTo>
                      <a:pt x="6350" y="118269"/>
                      <a:pt x="12700" y="74613"/>
                      <a:pt x="47625" y="47625"/>
                    </a:cubicBezTo>
                    <a:cubicBezTo>
                      <a:pt x="82550" y="20638"/>
                      <a:pt x="146050" y="10319"/>
                      <a:pt x="209550" y="0"/>
                    </a:cubicBezTo>
                  </a:path>
                </a:pathLst>
              </a:cu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75" name="直接连接符 74"/>
              <p:cNvCxnSpPr/>
              <p:nvPr/>
            </p:nvCxnSpPr>
            <p:spPr>
              <a:xfrm flipV="1">
                <a:off x="5567363" y="3271837"/>
                <a:ext cx="2447925" cy="381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2" name="直接连接符 71"/>
            <p:cNvCxnSpPr/>
            <p:nvPr/>
          </p:nvCxnSpPr>
          <p:spPr>
            <a:xfrm flipV="1">
              <a:off x="4423227" y="4329629"/>
              <a:ext cx="3065521" cy="141575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任意多边形 63"/>
          <p:cNvSpPr/>
          <p:nvPr/>
        </p:nvSpPr>
        <p:spPr>
          <a:xfrm>
            <a:off x="1615459" y="1751422"/>
            <a:ext cx="1979408" cy="2323652"/>
          </a:xfrm>
          <a:custGeom>
            <a:avLst/>
            <a:gdLst>
              <a:gd name="connsiteX0" fmla="*/ 0 w 1818043"/>
              <a:gd name="connsiteY0" fmla="*/ 0 h 2323652"/>
              <a:gd name="connsiteX1" fmla="*/ 516368 w 1818043"/>
              <a:gd name="connsiteY1" fmla="*/ 1409252 h 2323652"/>
              <a:gd name="connsiteX2" fmla="*/ 1818043 w 1818043"/>
              <a:gd name="connsiteY2" fmla="*/ 2323652 h 2323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8043" h="2323652">
                <a:moveTo>
                  <a:pt x="0" y="0"/>
                </a:moveTo>
                <a:cubicBezTo>
                  <a:pt x="106680" y="510988"/>
                  <a:pt x="213361" y="1021977"/>
                  <a:pt x="516368" y="1409252"/>
                </a:cubicBezTo>
                <a:cubicBezTo>
                  <a:pt x="819375" y="1796527"/>
                  <a:pt x="1318709" y="2060089"/>
                  <a:pt x="1818043" y="2323652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utoUpdateAnimBg="0"/>
      <p:bldP spid="33" grpId="0" autoUpdateAnimBg="0"/>
      <p:bldP spid="34" grpId="0" autoUpdateAnimBg="0"/>
      <p:bldP spid="35" grpId="0" animBg="1"/>
      <p:bldP spid="36" grpId="0" animBg="1"/>
      <p:bldP spid="38" grpId="0" autoUpdateAnimBg="0"/>
      <p:bldP spid="39" grpId="0" autoUpdateAnimBg="0"/>
      <p:bldP spid="40" grpId="0" autoUpdateAnimBg="0"/>
      <p:bldP spid="41" grpId="0" autoUpdateAnimBg="0"/>
      <p:bldP spid="42" grpId="0" autoUpdateAnimBg="0"/>
      <p:bldP spid="43" grpId="0" animBg="1"/>
      <p:bldP spid="45" grpId="0" autoUpdateAnimBg="0"/>
      <p:bldP spid="47" grpId="0" autoUpdateAnimBg="0"/>
      <p:bldP spid="48" grpId="0" autoUpdateAnimBg="0"/>
      <p:bldP spid="55" grpId="0" autoUpdateAnimBg="0"/>
      <p:bldP spid="56" grpId="0" animBg="1"/>
      <p:bldP spid="6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507479" y="1208933"/>
            <a:ext cx="2891938" cy="61986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b="1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1)  </a:t>
            </a:r>
            <a:r>
              <a:rPr lang="zh-CN" altLang="en-US" b="1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光敏三极管</a:t>
            </a:r>
            <a:endParaRPr lang="zh-CN" altLang="en-US" b="1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2" name="Rectangle 1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523838" y="484094"/>
            <a:ext cx="3356429" cy="584775"/>
          </a:xfrm>
          <a:prstGeom prst="rect">
            <a:avLst/>
          </a:prstGeom>
          <a:noFill/>
          <a:ln w="4127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5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）特殊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三极管</a:t>
            </a:r>
          </a:p>
        </p:txBody>
      </p:sp>
      <p:sp>
        <p:nvSpPr>
          <p:cNvPr id="65" name="Rectangle 3"/>
          <p:cNvSpPr txBox="1">
            <a:spLocks noChangeArrowheads="1"/>
          </p:cNvSpPr>
          <p:nvPr/>
        </p:nvSpPr>
        <p:spPr>
          <a:xfrm>
            <a:off x="647330" y="1897423"/>
            <a:ext cx="6409688" cy="59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由光敏二极管与三极管结合而构成。</a:t>
            </a:r>
          </a:p>
        </p:txBody>
      </p:sp>
      <p:sp>
        <p:nvSpPr>
          <p:cNvPr id="66" name="Rectangle 3"/>
          <p:cNvSpPr txBox="1">
            <a:spLocks noChangeArrowheads="1"/>
          </p:cNvSpPr>
          <p:nvPr/>
        </p:nvSpPr>
        <p:spPr>
          <a:xfrm>
            <a:off x="647329" y="2499851"/>
            <a:ext cx="7711363" cy="6736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电流受外部光照控制，是一种半导体光电器件</a:t>
            </a:r>
          </a:p>
        </p:txBody>
      </p:sp>
      <p:sp>
        <p:nvSpPr>
          <p:cNvPr id="67" name="Rectangle 3"/>
          <p:cNvSpPr txBox="1">
            <a:spLocks noChangeArrowheads="1"/>
          </p:cNvSpPr>
          <p:nvPr/>
        </p:nvSpPr>
        <p:spPr>
          <a:xfrm>
            <a:off x="668845" y="3123794"/>
            <a:ext cx="7711363" cy="11254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灵敏度比光电二极管提高</a:t>
            </a: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β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倍，但响应时间也相应增加。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  <p:bldP spid="62" grpId="0"/>
      <p:bldP spid="65" grpId="0" build="p"/>
      <p:bldP spid="66" grpId="0" build="p"/>
      <p:bldP spid="6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/>
          <p:cNvGrpSpPr/>
          <p:nvPr/>
        </p:nvGrpSpPr>
        <p:grpSpPr>
          <a:xfrm>
            <a:off x="891634" y="1140632"/>
            <a:ext cx="2131266" cy="2828939"/>
            <a:chOff x="891634" y="1140632"/>
            <a:chExt cx="2131266" cy="2828939"/>
          </a:xfrm>
        </p:grpSpPr>
        <p:sp>
          <p:nvSpPr>
            <p:cNvPr id="25604" name="Line 4"/>
            <p:cNvSpPr>
              <a:spLocks noChangeShapeType="1"/>
            </p:cNvSpPr>
            <p:nvPr/>
          </p:nvSpPr>
          <p:spPr bwMode="auto">
            <a:xfrm>
              <a:off x="2120359" y="1486586"/>
              <a:ext cx="0" cy="5762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2" name="Group 5"/>
            <p:cNvGrpSpPr>
              <a:grpSpLocks/>
            </p:cNvGrpSpPr>
            <p:nvPr/>
          </p:nvGrpSpPr>
          <p:grpSpPr bwMode="auto">
            <a:xfrm>
              <a:off x="1928272" y="2062849"/>
              <a:ext cx="212725" cy="347663"/>
              <a:chOff x="4247" y="6759"/>
              <a:chExt cx="225" cy="500"/>
            </a:xfrm>
          </p:grpSpPr>
          <p:sp>
            <p:nvSpPr>
              <p:cNvPr id="25658" name="AutoShape 6"/>
              <p:cNvSpPr>
                <a:spLocks noChangeArrowheads="1"/>
              </p:cNvSpPr>
              <p:nvPr/>
            </p:nvSpPr>
            <p:spPr bwMode="auto">
              <a:xfrm rot="7826645">
                <a:off x="4372" y="7160"/>
                <a:ext cx="57" cy="142"/>
              </a:xfrm>
              <a:prstGeom prst="triangle">
                <a:avLst>
                  <a:gd name="adj" fmla="val 77190"/>
                </a:avLst>
              </a:prstGeom>
              <a:solidFill>
                <a:srgbClr val="0000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659" name="Line 7"/>
              <p:cNvSpPr>
                <a:spLocks noChangeShapeType="1"/>
              </p:cNvSpPr>
              <p:nvPr/>
            </p:nvSpPr>
            <p:spPr bwMode="auto">
              <a:xfrm flipV="1">
                <a:off x="4247" y="6759"/>
                <a:ext cx="197" cy="19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660" name="Line 8"/>
              <p:cNvSpPr>
                <a:spLocks noChangeShapeType="1"/>
              </p:cNvSpPr>
              <p:nvPr/>
            </p:nvSpPr>
            <p:spPr bwMode="auto">
              <a:xfrm>
                <a:off x="4249" y="7089"/>
                <a:ext cx="123" cy="1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661" name="Line 9"/>
              <p:cNvSpPr>
                <a:spLocks noChangeShapeType="1"/>
              </p:cNvSpPr>
              <p:nvPr/>
            </p:nvSpPr>
            <p:spPr bwMode="auto">
              <a:xfrm>
                <a:off x="4247" y="6797"/>
                <a:ext cx="0" cy="4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1486947" y="1680658"/>
              <a:ext cx="612775" cy="563166"/>
              <a:chOff x="3149" y="3675"/>
              <a:chExt cx="690" cy="645"/>
            </a:xfrm>
          </p:grpSpPr>
          <p:sp>
            <p:nvSpPr>
              <p:cNvPr id="25656" name="Line 11"/>
              <p:cNvSpPr>
                <a:spLocks noChangeShapeType="1"/>
              </p:cNvSpPr>
              <p:nvPr/>
            </p:nvSpPr>
            <p:spPr bwMode="auto">
              <a:xfrm>
                <a:off x="3149" y="3675"/>
                <a:ext cx="6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657" name="Line 12"/>
              <p:cNvSpPr>
                <a:spLocks noChangeShapeType="1"/>
              </p:cNvSpPr>
              <p:nvPr/>
            </p:nvSpPr>
            <p:spPr bwMode="auto">
              <a:xfrm>
                <a:off x="3149" y="3688"/>
                <a:ext cx="0" cy="6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25607" name="Line 13"/>
            <p:cNvSpPr>
              <a:spLocks noChangeShapeType="1"/>
            </p:cNvSpPr>
            <p:nvPr/>
          </p:nvSpPr>
          <p:spPr bwMode="auto">
            <a:xfrm>
              <a:off x="1483771" y="2243824"/>
              <a:ext cx="4381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08" name="Line 14"/>
            <p:cNvSpPr>
              <a:spLocks noChangeShapeType="1"/>
            </p:cNvSpPr>
            <p:nvPr/>
          </p:nvSpPr>
          <p:spPr bwMode="auto">
            <a:xfrm>
              <a:off x="2112421" y="2436705"/>
              <a:ext cx="0" cy="3714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1342484" y="1880683"/>
              <a:ext cx="273050" cy="188119"/>
              <a:chOff x="2993" y="3915"/>
              <a:chExt cx="290" cy="270"/>
            </a:xfrm>
          </p:grpSpPr>
          <p:sp>
            <p:nvSpPr>
              <p:cNvPr id="25654" name="Line 16"/>
              <p:cNvSpPr>
                <a:spLocks noChangeShapeType="1"/>
              </p:cNvSpPr>
              <p:nvPr/>
            </p:nvSpPr>
            <p:spPr bwMode="auto">
              <a:xfrm rot="5400000">
                <a:off x="3138" y="3794"/>
                <a:ext cx="0" cy="29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655" name="AutoShape 17"/>
              <p:cNvSpPr>
                <a:spLocks noChangeArrowheads="1"/>
              </p:cNvSpPr>
              <p:nvPr/>
            </p:nvSpPr>
            <p:spPr bwMode="auto">
              <a:xfrm>
                <a:off x="3023" y="3915"/>
                <a:ext cx="240" cy="270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25610" name="Line 18"/>
            <p:cNvSpPr>
              <a:spLocks noChangeShapeType="1"/>
            </p:cNvSpPr>
            <p:nvPr/>
          </p:nvSpPr>
          <p:spPr bwMode="auto">
            <a:xfrm>
              <a:off x="1107534" y="1824725"/>
              <a:ext cx="184150" cy="1250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11" name="Line 19"/>
            <p:cNvSpPr>
              <a:spLocks noChangeShapeType="1"/>
            </p:cNvSpPr>
            <p:nvPr/>
          </p:nvSpPr>
          <p:spPr bwMode="auto">
            <a:xfrm>
              <a:off x="1107534" y="1949739"/>
              <a:ext cx="184150" cy="125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12" name="Line 20"/>
            <p:cNvSpPr>
              <a:spLocks noChangeShapeType="1"/>
            </p:cNvSpPr>
            <p:nvPr/>
          </p:nvSpPr>
          <p:spPr bwMode="auto">
            <a:xfrm>
              <a:off x="2160833" y="1699709"/>
              <a:ext cx="0" cy="36377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13" name="Text Box 21"/>
            <p:cNvSpPr txBox="1">
              <a:spLocks noChangeArrowheads="1"/>
            </p:cNvSpPr>
            <p:nvPr/>
          </p:nvSpPr>
          <p:spPr bwMode="auto">
            <a:xfrm>
              <a:off x="2228495" y="1540810"/>
              <a:ext cx="482600" cy="481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0"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  <a:endParaRPr kumimoji="0"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14" name="Text Box 22"/>
            <p:cNvSpPr txBox="1">
              <a:spLocks noChangeArrowheads="1"/>
            </p:cNvSpPr>
            <p:nvPr/>
          </p:nvSpPr>
          <p:spPr bwMode="auto">
            <a:xfrm>
              <a:off x="2200781" y="1867166"/>
              <a:ext cx="316509" cy="381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0"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5615" name="Text Box 23"/>
            <p:cNvSpPr txBox="1">
              <a:spLocks noChangeArrowheads="1"/>
            </p:cNvSpPr>
            <p:nvPr/>
          </p:nvSpPr>
          <p:spPr bwMode="auto">
            <a:xfrm>
              <a:off x="2274682" y="2361822"/>
              <a:ext cx="210334" cy="4244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0"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-</a:t>
              </a:r>
            </a:p>
          </p:txBody>
        </p:sp>
        <p:sp>
          <p:nvSpPr>
            <p:cNvPr id="25616" name="Text Box 24"/>
            <p:cNvSpPr txBox="1">
              <a:spLocks noChangeArrowheads="1"/>
            </p:cNvSpPr>
            <p:nvPr/>
          </p:nvSpPr>
          <p:spPr bwMode="auto">
            <a:xfrm>
              <a:off x="2140997" y="2146193"/>
              <a:ext cx="695325" cy="301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0"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CE</a:t>
              </a:r>
              <a:endParaRPr kumimoji="0"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17" name="Text Box 25"/>
            <p:cNvSpPr txBox="1">
              <a:spLocks noChangeArrowheads="1"/>
            </p:cNvSpPr>
            <p:nvPr/>
          </p:nvSpPr>
          <p:spPr bwMode="auto">
            <a:xfrm>
              <a:off x="2061621" y="2799846"/>
              <a:ext cx="184150" cy="229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0" lang="en-US" altLang="zh-CN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25618" name="Text Box 26"/>
            <p:cNvSpPr txBox="1">
              <a:spLocks noChangeArrowheads="1"/>
            </p:cNvSpPr>
            <p:nvPr/>
          </p:nvSpPr>
          <p:spPr bwMode="auto">
            <a:xfrm>
              <a:off x="2177340" y="1140632"/>
              <a:ext cx="296918" cy="41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0"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25619" name="Text Box 27"/>
            <p:cNvSpPr txBox="1">
              <a:spLocks noChangeArrowheads="1"/>
            </p:cNvSpPr>
            <p:nvPr/>
          </p:nvSpPr>
          <p:spPr bwMode="auto">
            <a:xfrm>
              <a:off x="891634" y="3457266"/>
              <a:ext cx="2131266" cy="512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0"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(a) </a:t>
              </a:r>
              <a:r>
                <a:rPr kumimoji="0"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等效电路</a:t>
              </a:r>
            </a:p>
          </p:txBody>
        </p:sp>
      </p:grpSp>
      <p:sp>
        <p:nvSpPr>
          <p:cNvPr id="25642" name="Text Box 58"/>
          <p:cNvSpPr txBox="1">
            <a:spLocks noChangeArrowheads="1"/>
          </p:cNvSpPr>
          <p:nvPr/>
        </p:nvSpPr>
        <p:spPr bwMode="auto">
          <a:xfrm>
            <a:off x="3307286" y="4142282"/>
            <a:ext cx="2254250" cy="558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/>
            <a:r>
              <a:rPr kumimoji="0"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光敏三极管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4923884" y="1314856"/>
            <a:ext cx="3384551" cy="2654717"/>
            <a:chOff x="4923884" y="1314856"/>
            <a:chExt cx="3384551" cy="2654717"/>
          </a:xfrm>
        </p:grpSpPr>
        <p:sp>
          <p:nvSpPr>
            <p:cNvPr id="25627" name="Line 39"/>
            <p:cNvSpPr>
              <a:spLocks noChangeShapeType="1"/>
            </p:cNvSpPr>
            <p:nvPr/>
          </p:nvSpPr>
          <p:spPr bwMode="auto">
            <a:xfrm>
              <a:off x="5279485" y="2889143"/>
              <a:ext cx="23637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28" name="Line 40"/>
            <p:cNvSpPr>
              <a:spLocks noChangeShapeType="1"/>
            </p:cNvSpPr>
            <p:nvPr/>
          </p:nvSpPr>
          <p:spPr bwMode="auto">
            <a:xfrm rot="16200000">
              <a:off x="4576023" y="2177744"/>
              <a:ext cx="1413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29" name="Text Box 41"/>
            <p:cNvSpPr txBox="1">
              <a:spLocks noChangeArrowheads="1"/>
            </p:cNvSpPr>
            <p:nvPr/>
          </p:nvSpPr>
          <p:spPr bwMode="auto">
            <a:xfrm>
              <a:off x="5090572" y="2767699"/>
              <a:ext cx="161925" cy="203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0" lang="en-US" altLang="zh-CN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grpSp>
          <p:nvGrpSpPr>
            <p:cNvPr id="6" name="Group 42"/>
            <p:cNvGrpSpPr>
              <a:grpSpLocks/>
            </p:cNvGrpSpPr>
            <p:nvPr/>
          </p:nvGrpSpPr>
          <p:grpSpPr bwMode="auto">
            <a:xfrm>
              <a:off x="5304884" y="2836776"/>
              <a:ext cx="1893857" cy="52347"/>
              <a:chOff x="6899" y="5642"/>
              <a:chExt cx="2283" cy="85"/>
            </a:xfrm>
          </p:grpSpPr>
          <p:sp>
            <p:nvSpPr>
              <p:cNvPr id="25648" name="Arc 43"/>
              <p:cNvSpPr>
                <a:spLocks/>
              </p:cNvSpPr>
              <p:nvPr/>
            </p:nvSpPr>
            <p:spPr bwMode="auto">
              <a:xfrm rot="-5400000">
                <a:off x="7063" y="5478"/>
                <a:ext cx="85" cy="414"/>
              </a:xfrm>
              <a:custGeom>
                <a:avLst/>
                <a:gdLst>
                  <a:gd name="T0" fmla="*/ 0 w 21488"/>
                  <a:gd name="T1" fmla="*/ 0 h 21600"/>
                  <a:gd name="T2" fmla="*/ 0 w 21488"/>
                  <a:gd name="T3" fmla="*/ 0 h 21600"/>
                  <a:gd name="T4" fmla="*/ 0 w 2148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488"/>
                  <a:gd name="T10" fmla="*/ 0 h 21600"/>
                  <a:gd name="T11" fmla="*/ 21488 w 2148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488" h="21600" fill="none" extrusionOk="0">
                    <a:moveTo>
                      <a:pt x="-1" y="0"/>
                    </a:moveTo>
                    <a:cubicBezTo>
                      <a:pt x="11080" y="0"/>
                      <a:pt x="20363" y="8384"/>
                      <a:pt x="21488" y="19406"/>
                    </a:cubicBezTo>
                  </a:path>
                  <a:path w="21488" h="21600" stroke="0" extrusionOk="0">
                    <a:moveTo>
                      <a:pt x="-1" y="0"/>
                    </a:moveTo>
                    <a:cubicBezTo>
                      <a:pt x="11080" y="0"/>
                      <a:pt x="20363" y="8384"/>
                      <a:pt x="21488" y="1940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649" name="Line 44"/>
              <p:cNvSpPr>
                <a:spLocks noChangeShapeType="1"/>
              </p:cNvSpPr>
              <p:nvPr/>
            </p:nvSpPr>
            <p:spPr bwMode="auto">
              <a:xfrm>
                <a:off x="7262" y="5648"/>
                <a:ext cx="19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7" name="Group 45"/>
            <p:cNvGrpSpPr>
              <a:grpSpLocks/>
            </p:cNvGrpSpPr>
            <p:nvPr/>
          </p:nvGrpSpPr>
          <p:grpSpPr bwMode="auto">
            <a:xfrm>
              <a:off x="5292186" y="2576009"/>
              <a:ext cx="1886143" cy="307181"/>
              <a:chOff x="6925" y="5229"/>
              <a:chExt cx="2275" cy="498"/>
            </a:xfrm>
          </p:grpSpPr>
          <p:sp>
            <p:nvSpPr>
              <p:cNvPr id="25646" name="Arc 46"/>
              <p:cNvSpPr>
                <a:spLocks/>
              </p:cNvSpPr>
              <p:nvPr/>
            </p:nvSpPr>
            <p:spPr bwMode="auto">
              <a:xfrm flipH="1">
                <a:off x="6925" y="5232"/>
                <a:ext cx="328" cy="495"/>
              </a:xfrm>
              <a:custGeom>
                <a:avLst/>
                <a:gdLst>
                  <a:gd name="T0" fmla="*/ 0 w 21598"/>
                  <a:gd name="T1" fmla="*/ 0 h 21600"/>
                  <a:gd name="T2" fmla="*/ 0 w 21598"/>
                  <a:gd name="T3" fmla="*/ 0 h 21600"/>
                  <a:gd name="T4" fmla="*/ 0 w 2159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598"/>
                  <a:gd name="T10" fmla="*/ 0 h 21600"/>
                  <a:gd name="T11" fmla="*/ 21598 w 2159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98" h="21600" fill="none" extrusionOk="0">
                    <a:moveTo>
                      <a:pt x="-1" y="0"/>
                    </a:moveTo>
                    <a:cubicBezTo>
                      <a:pt x="11802" y="0"/>
                      <a:pt x="21419" y="9473"/>
                      <a:pt x="21597" y="21274"/>
                    </a:cubicBezTo>
                  </a:path>
                  <a:path w="21598" h="21600" stroke="0" extrusionOk="0">
                    <a:moveTo>
                      <a:pt x="-1" y="0"/>
                    </a:moveTo>
                    <a:cubicBezTo>
                      <a:pt x="11802" y="0"/>
                      <a:pt x="21419" y="9473"/>
                      <a:pt x="21597" y="2127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647" name="Line 47"/>
              <p:cNvSpPr>
                <a:spLocks noChangeShapeType="1"/>
              </p:cNvSpPr>
              <p:nvPr/>
            </p:nvSpPr>
            <p:spPr bwMode="auto">
              <a:xfrm>
                <a:off x="7250" y="5229"/>
                <a:ext cx="19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25632" name="Arc 48"/>
            <p:cNvSpPr>
              <a:spLocks/>
            </p:cNvSpPr>
            <p:nvPr/>
          </p:nvSpPr>
          <p:spPr bwMode="auto">
            <a:xfrm rot="120000" flipH="1">
              <a:off x="5292185" y="2290258"/>
              <a:ext cx="206375" cy="600075"/>
            </a:xfrm>
            <a:custGeom>
              <a:avLst/>
              <a:gdLst>
                <a:gd name="T0" fmla="*/ 0 w 21223"/>
                <a:gd name="T1" fmla="*/ 0 h 21600"/>
                <a:gd name="T2" fmla="*/ 1845261412 w 21223"/>
                <a:gd name="T3" fmla="*/ 2147483647 h 21600"/>
                <a:gd name="T4" fmla="*/ 0 w 21223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21223"/>
                <a:gd name="T10" fmla="*/ 0 h 21600"/>
                <a:gd name="T11" fmla="*/ 21223 w 2122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223" h="21600" fill="none" extrusionOk="0">
                  <a:moveTo>
                    <a:pt x="-1" y="0"/>
                  </a:moveTo>
                  <a:cubicBezTo>
                    <a:pt x="10379" y="0"/>
                    <a:pt x="19291" y="7382"/>
                    <a:pt x="21222" y="17581"/>
                  </a:cubicBezTo>
                </a:path>
                <a:path w="21223" h="21600" stroke="0" extrusionOk="0">
                  <a:moveTo>
                    <a:pt x="-1" y="0"/>
                  </a:moveTo>
                  <a:cubicBezTo>
                    <a:pt x="10379" y="0"/>
                    <a:pt x="19291" y="7382"/>
                    <a:pt x="21222" y="1758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33" name="Line 49"/>
            <p:cNvSpPr>
              <a:spLocks noChangeShapeType="1"/>
            </p:cNvSpPr>
            <p:nvPr/>
          </p:nvSpPr>
          <p:spPr bwMode="auto">
            <a:xfrm>
              <a:off x="5500147" y="2297401"/>
              <a:ext cx="16176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34" name="Arc 50"/>
            <p:cNvSpPr>
              <a:spLocks/>
            </p:cNvSpPr>
            <p:nvPr/>
          </p:nvSpPr>
          <p:spPr bwMode="auto">
            <a:xfrm flipH="1">
              <a:off x="5285834" y="2053324"/>
              <a:ext cx="271463" cy="866775"/>
            </a:xfrm>
            <a:custGeom>
              <a:avLst/>
              <a:gdLst>
                <a:gd name="T0" fmla="*/ 0 w 19712"/>
                <a:gd name="T1" fmla="*/ 0 h 21600"/>
                <a:gd name="T2" fmla="*/ 2147483647 w 19712"/>
                <a:gd name="T3" fmla="*/ 2147483647 h 21600"/>
                <a:gd name="T4" fmla="*/ 0 w 19712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9712"/>
                <a:gd name="T10" fmla="*/ 0 h 21600"/>
                <a:gd name="T11" fmla="*/ 19712 w 197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12" h="21600" fill="none" extrusionOk="0">
                  <a:moveTo>
                    <a:pt x="-1" y="0"/>
                  </a:moveTo>
                  <a:cubicBezTo>
                    <a:pt x="8512" y="0"/>
                    <a:pt x="16231" y="4999"/>
                    <a:pt x="19711" y="12768"/>
                  </a:cubicBezTo>
                </a:path>
                <a:path w="19712" h="21600" stroke="0" extrusionOk="0">
                  <a:moveTo>
                    <a:pt x="-1" y="0"/>
                  </a:moveTo>
                  <a:cubicBezTo>
                    <a:pt x="8512" y="0"/>
                    <a:pt x="16231" y="4999"/>
                    <a:pt x="19711" y="12768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35" name="Line 51"/>
            <p:cNvSpPr>
              <a:spLocks noChangeShapeType="1"/>
            </p:cNvSpPr>
            <p:nvPr/>
          </p:nvSpPr>
          <p:spPr bwMode="auto">
            <a:xfrm>
              <a:off x="5546184" y="2054515"/>
              <a:ext cx="16192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36" name="Arc 52"/>
            <p:cNvSpPr>
              <a:spLocks/>
            </p:cNvSpPr>
            <p:nvPr/>
          </p:nvSpPr>
          <p:spPr bwMode="auto">
            <a:xfrm flipH="1">
              <a:off x="5295899" y="1791386"/>
              <a:ext cx="256634" cy="1098947"/>
            </a:xfrm>
            <a:custGeom>
              <a:avLst/>
              <a:gdLst>
                <a:gd name="T0" fmla="*/ 0 w 19804"/>
                <a:gd name="T1" fmla="*/ 0 h 21600"/>
                <a:gd name="T2" fmla="*/ 2147483647 w 19804"/>
                <a:gd name="T3" fmla="*/ 2147483647 h 21600"/>
                <a:gd name="T4" fmla="*/ 0 w 19804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9804"/>
                <a:gd name="T10" fmla="*/ 0 h 21600"/>
                <a:gd name="T11" fmla="*/ 19804 w 1980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804" h="21600" fill="none" extrusionOk="0">
                  <a:moveTo>
                    <a:pt x="-1" y="0"/>
                  </a:moveTo>
                  <a:cubicBezTo>
                    <a:pt x="8595" y="0"/>
                    <a:pt x="16373" y="5096"/>
                    <a:pt x="19804" y="12977"/>
                  </a:cubicBezTo>
                </a:path>
                <a:path w="19804" h="21600" stroke="0" extrusionOk="0">
                  <a:moveTo>
                    <a:pt x="-1" y="0"/>
                  </a:moveTo>
                  <a:cubicBezTo>
                    <a:pt x="8595" y="0"/>
                    <a:pt x="16373" y="5096"/>
                    <a:pt x="19804" y="1297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37" name="Line 53"/>
            <p:cNvSpPr>
              <a:spLocks noChangeShapeType="1"/>
            </p:cNvSpPr>
            <p:nvPr/>
          </p:nvSpPr>
          <p:spPr bwMode="auto">
            <a:xfrm>
              <a:off x="5546185" y="1791386"/>
              <a:ext cx="16176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38" name="Line 54"/>
            <p:cNvSpPr>
              <a:spLocks noChangeShapeType="1"/>
            </p:cNvSpPr>
            <p:nvPr/>
          </p:nvSpPr>
          <p:spPr bwMode="auto">
            <a:xfrm rot="16200000">
              <a:off x="7044982" y="2284901"/>
              <a:ext cx="6822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39" name="Text Box 55"/>
            <p:cNvSpPr txBox="1">
              <a:spLocks noChangeArrowheads="1"/>
            </p:cNvSpPr>
            <p:nvPr/>
          </p:nvSpPr>
          <p:spPr bwMode="auto">
            <a:xfrm>
              <a:off x="7498809" y="1314856"/>
              <a:ext cx="408062" cy="17618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0"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光照增强</a:t>
              </a:r>
            </a:p>
          </p:txBody>
        </p:sp>
        <p:sp>
          <p:nvSpPr>
            <p:cNvPr id="25640" name="Text Box 56"/>
            <p:cNvSpPr txBox="1">
              <a:spLocks noChangeArrowheads="1"/>
            </p:cNvSpPr>
            <p:nvPr/>
          </p:nvSpPr>
          <p:spPr bwMode="auto">
            <a:xfrm>
              <a:off x="7708360" y="2824849"/>
              <a:ext cx="600075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0" lang="en-US" altLang="zh-CN" sz="28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8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CE</a:t>
              </a:r>
              <a:endParaRPr kumimoji="0" lang="en-US" altLang="zh-CN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41" name="Text Box 57"/>
            <p:cNvSpPr txBox="1">
              <a:spLocks noChangeArrowheads="1"/>
            </p:cNvSpPr>
            <p:nvPr/>
          </p:nvSpPr>
          <p:spPr bwMode="auto">
            <a:xfrm>
              <a:off x="4923884" y="1528258"/>
              <a:ext cx="576262" cy="540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0" lang="en-US" altLang="zh-CN" sz="28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28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  <a:endParaRPr kumimoji="0" lang="en-US" altLang="zh-CN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43" name="Text Box 59"/>
            <p:cNvSpPr txBox="1">
              <a:spLocks noChangeArrowheads="1"/>
            </p:cNvSpPr>
            <p:nvPr/>
          </p:nvSpPr>
          <p:spPr bwMode="auto">
            <a:xfrm>
              <a:off x="5066852" y="3385705"/>
              <a:ext cx="2290129" cy="583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1" hangingPunct="1"/>
              <a:r>
                <a:rPr kumimoji="0"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(c) </a:t>
              </a:r>
              <a:r>
                <a:rPr kumimoji="0"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特性曲线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3166167" y="1460393"/>
            <a:ext cx="1625600" cy="2519936"/>
            <a:chOff x="3166167" y="1460393"/>
            <a:chExt cx="1625600" cy="2519936"/>
          </a:xfrm>
        </p:grpSpPr>
        <p:sp>
          <p:nvSpPr>
            <p:cNvPr id="25620" name="Line 28"/>
            <p:cNvSpPr>
              <a:spLocks noChangeShapeType="1"/>
            </p:cNvSpPr>
            <p:nvPr/>
          </p:nvSpPr>
          <p:spPr bwMode="auto">
            <a:xfrm>
              <a:off x="3747546" y="1625890"/>
              <a:ext cx="0" cy="4179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5" name="Group 29"/>
            <p:cNvGrpSpPr>
              <a:grpSpLocks/>
            </p:cNvGrpSpPr>
            <p:nvPr/>
          </p:nvGrpSpPr>
          <p:grpSpPr bwMode="auto">
            <a:xfrm>
              <a:off x="3561812" y="2041426"/>
              <a:ext cx="191431" cy="378258"/>
              <a:chOff x="4247" y="6759"/>
              <a:chExt cx="204" cy="544"/>
            </a:xfrm>
          </p:grpSpPr>
          <p:sp>
            <p:nvSpPr>
              <p:cNvPr id="25651" name="Line 31"/>
              <p:cNvSpPr>
                <a:spLocks noChangeShapeType="1"/>
              </p:cNvSpPr>
              <p:nvPr/>
            </p:nvSpPr>
            <p:spPr bwMode="auto">
              <a:xfrm flipV="1">
                <a:off x="4247" y="6759"/>
                <a:ext cx="197" cy="19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652" name="Line 32"/>
              <p:cNvSpPr>
                <a:spLocks noChangeShapeType="1"/>
              </p:cNvSpPr>
              <p:nvPr/>
            </p:nvSpPr>
            <p:spPr bwMode="auto">
              <a:xfrm>
                <a:off x="4249" y="7089"/>
                <a:ext cx="202" cy="21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653" name="Line 33"/>
              <p:cNvSpPr>
                <a:spLocks noChangeShapeType="1"/>
              </p:cNvSpPr>
              <p:nvPr/>
            </p:nvSpPr>
            <p:spPr bwMode="auto">
              <a:xfrm>
                <a:off x="4247" y="6797"/>
                <a:ext cx="0" cy="4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25622" name="Line 34"/>
            <p:cNvSpPr>
              <a:spLocks noChangeShapeType="1"/>
            </p:cNvSpPr>
            <p:nvPr/>
          </p:nvSpPr>
          <p:spPr bwMode="auto">
            <a:xfrm>
              <a:off x="3745959" y="2409321"/>
              <a:ext cx="0" cy="3726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23" name="Text Box 35"/>
            <p:cNvSpPr txBox="1">
              <a:spLocks noChangeArrowheads="1"/>
            </p:cNvSpPr>
            <p:nvPr/>
          </p:nvSpPr>
          <p:spPr bwMode="auto">
            <a:xfrm>
              <a:off x="3695159" y="2778414"/>
              <a:ext cx="184150" cy="229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0" lang="en-US" altLang="zh-CN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25624" name="Text Box 36"/>
            <p:cNvSpPr txBox="1">
              <a:spLocks noChangeArrowheads="1"/>
            </p:cNvSpPr>
            <p:nvPr/>
          </p:nvSpPr>
          <p:spPr bwMode="auto">
            <a:xfrm>
              <a:off x="3804696" y="1460393"/>
              <a:ext cx="184150" cy="2297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0" lang="en-US" altLang="zh-CN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25625" name="Line 37"/>
            <p:cNvSpPr>
              <a:spLocks noChangeShapeType="1"/>
            </p:cNvSpPr>
            <p:nvPr/>
          </p:nvSpPr>
          <p:spPr bwMode="auto">
            <a:xfrm>
              <a:off x="3304634" y="2064040"/>
              <a:ext cx="184150" cy="1262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26" name="Line 38"/>
            <p:cNvSpPr>
              <a:spLocks noChangeShapeType="1"/>
            </p:cNvSpPr>
            <p:nvPr/>
          </p:nvSpPr>
          <p:spPr bwMode="auto">
            <a:xfrm>
              <a:off x="3304634" y="2190246"/>
              <a:ext cx="184150" cy="125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zh-CN" altLang="en-US" sz="28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44" name="Text Box 60"/>
            <p:cNvSpPr txBox="1">
              <a:spLocks noChangeArrowheads="1"/>
            </p:cNvSpPr>
            <p:nvPr/>
          </p:nvSpPr>
          <p:spPr bwMode="auto">
            <a:xfrm>
              <a:off x="3166167" y="3417977"/>
              <a:ext cx="1625600" cy="562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1" hangingPunct="1"/>
              <a:r>
                <a:rPr kumimoji="0"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(b) </a:t>
              </a:r>
              <a:r>
                <a:rPr kumimoji="0"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符号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4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76275" y="304801"/>
            <a:ext cx="2712384" cy="602456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zh-CN" sz="2800" b="1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2)  </a:t>
            </a:r>
            <a:r>
              <a:rPr lang="zh-CN" altLang="en-US" sz="2800" b="1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光电耦合器</a:t>
            </a:r>
          </a:p>
        </p:txBody>
      </p:sp>
      <p:grpSp>
        <p:nvGrpSpPr>
          <p:cNvPr id="26627" name="Group 4"/>
          <p:cNvGrpSpPr>
            <a:grpSpLocks/>
          </p:cNvGrpSpPr>
          <p:nvPr/>
        </p:nvGrpSpPr>
        <p:grpSpPr bwMode="auto">
          <a:xfrm>
            <a:off x="5604952" y="1545430"/>
            <a:ext cx="3335234" cy="2392210"/>
            <a:chOff x="7269" y="8616"/>
            <a:chExt cx="2594" cy="2468"/>
          </a:xfrm>
        </p:grpSpPr>
        <p:grpSp>
          <p:nvGrpSpPr>
            <p:cNvPr id="26630" name="Group 5"/>
            <p:cNvGrpSpPr>
              <a:grpSpLocks/>
            </p:cNvGrpSpPr>
            <p:nvPr/>
          </p:nvGrpSpPr>
          <p:grpSpPr bwMode="auto">
            <a:xfrm>
              <a:off x="7269" y="8616"/>
              <a:ext cx="2594" cy="1713"/>
              <a:chOff x="2738" y="6624"/>
              <a:chExt cx="3488" cy="2016"/>
            </a:xfrm>
          </p:grpSpPr>
          <p:sp>
            <p:nvSpPr>
              <p:cNvPr id="26632" name="Line 6"/>
              <p:cNvSpPr>
                <a:spLocks noChangeShapeType="1"/>
              </p:cNvSpPr>
              <p:nvPr/>
            </p:nvSpPr>
            <p:spPr bwMode="auto">
              <a:xfrm rot="5400000">
                <a:off x="2802" y="7635"/>
                <a:ext cx="201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6633" name="Line 7"/>
              <p:cNvSpPr>
                <a:spLocks noChangeShapeType="1"/>
              </p:cNvSpPr>
              <p:nvPr/>
            </p:nvSpPr>
            <p:spPr bwMode="auto">
              <a:xfrm rot="5400000">
                <a:off x="4655" y="7004"/>
                <a:ext cx="73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26634" name="Group 8"/>
              <p:cNvGrpSpPr>
                <a:grpSpLocks/>
              </p:cNvGrpSpPr>
              <p:nvPr/>
            </p:nvGrpSpPr>
            <p:grpSpPr bwMode="auto">
              <a:xfrm>
                <a:off x="2863" y="6630"/>
                <a:ext cx="930" cy="2010"/>
                <a:chOff x="2533" y="6630"/>
                <a:chExt cx="1260" cy="2010"/>
              </a:xfrm>
            </p:grpSpPr>
            <p:sp>
              <p:nvSpPr>
                <p:cNvPr id="26656" name="Line 9"/>
                <p:cNvSpPr>
                  <a:spLocks noChangeShapeType="1"/>
                </p:cNvSpPr>
                <p:nvPr/>
              </p:nvSpPr>
              <p:spPr bwMode="auto">
                <a:xfrm>
                  <a:off x="2533" y="6630"/>
                  <a:ext cx="126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26657" name="Line 10"/>
                <p:cNvSpPr>
                  <a:spLocks noChangeShapeType="1"/>
                </p:cNvSpPr>
                <p:nvPr/>
              </p:nvSpPr>
              <p:spPr bwMode="auto">
                <a:xfrm>
                  <a:off x="2533" y="8640"/>
                  <a:ext cx="126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26635" name="Group 11"/>
              <p:cNvGrpSpPr>
                <a:grpSpLocks/>
              </p:cNvGrpSpPr>
              <p:nvPr/>
            </p:nvGrpSpPr>
            <p:grpSpPr bwMode="auto">
              <a:xfrm>
                <a:off x="3663" y="7470"/>
                <a:ext cx="290" cy="290"/>
                <a:chOff x="4884" y="2664"/>
                <a:chExt cx="290" cy="290"/>
              </a:xfrm>
            </p:grpSpPr>
            <p:sp>
              <p:nvSpPr>
                <p:cNvPr id="26654" name="Line 12"/>
                <p:cNvSpPr>
                  <a:spLocks noChangeShapeType="1"/>
                </p:cNvSpPr>
                <p:nvPr/>
              </p:nvSpPr>
              <p:spPr bwMode="auto">
                <a:xfrm rot="-5400000">
                  <a:off x="5029" y="2809"/>
                  <a:ext cx="0" cy="29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26655" name="AutoShape 13"/>
                <p:cNvSpPr>
                  <a:spLocks noChangeArrowheads="1"/>
                </p:cNvSpPr>
                <p:nvPr/>
              </p:nvSpPr>
              <p:spPr bwMode="auto">
                <a:xfrm rot="10800000">
                  <a:off x="4904" y="2664"/>
                  <a:ext cx="240" cy="27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26636" name="Group 14"/>
              <p:cNvGrpSpPr>
                <a:grpSpLocks/>
              </p:cNvGrpSpPr>
              <p:nvPr/>
            </p:nvGrpSpPr>
            <p:grpSpPr bwMode="auto">
              <a:xfrm>
                <a:off x="3445" y="7062"/>
                <a:ext cx="1920" cy="1185"/>
                <a:chOff x="5921" y="7245"/>
                <a:chExt cx="1290" cy="2010"/>
              </a:xfrm>
            </p:grpSpPr>
            <p:sp>
              <p:nvSpPr>
                <p:cNvPr id="26650" name="Line 15"/>
                <p:cNvSpPr>
                  <a:spLocks noChangeShapeType="1"/>
                </p:cNvSpPr>
                <p:nvPr/>
              </p:nvSpPr>
              <p:spPr bwMode="auto">
                <a:xfrm>
                  <a:off x="5937" y="7245"/>
                  <a:ext cx="126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26651" name="Line 16"/>
                <p:cNvSpPr>
                  <a:spLocks noChangeShapeType="1"/>
                </p:cNvSpPr>
                <p:nvPr/>
              </p:nvSpPr>
              <p:spPr bwMode="auto">
                <a:xfrm rot="5400000">
                  <a:off x="6206" y="8250"/>
                  <a:ext cx="201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26652" name="Line 17"/>
                <p:cNvSpPr>
                  <a:spLocks noChangeShapeType="1"/>
                </p:cNvSpPr>
                <p:nvPr/>
              </p:nvSpPr>
              <p:spPr bwMode="auto">
                <a:xfrm>
                  <a:off x="5937" y="9255"/>
                  <a:ext cx="126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26653" name="Line 18"/>
                <p:cNvSpPr>
                  <a:spLocks noChangeShapeType="1"/>
                </p:cNvSpPr>
                <p:nvPr/>
              </p:nvSpPr>
              <p:spPr bwMode="auto">
                <a:xfrm rot="5400000">
                  <a:off x="4916" y="8250"/>
                  <a:ext cx="201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6637" name="Line 19"/>
              <p:cNvSpPr>
                <a:spLocks noChangeShapeType="1"/>
              </p:cNvSpPr>
              <p:nvPr/>
            </p:nvSpPr>
            <p:spPr bwMode="auto">
              <a:xfrm>
                <a:off x="4156" y="7530"/>
                <a:ext cx="3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6638" name="Line 20"/>
              <p:cNvSpPr>
                <a:spLocks noChangeShapeType="1"/>
              </p:cNvSpPr>
              <p:nvPr/>
            </p:nvSpPr>
            <p:spPr bwMode="auto">
              <a:xfrm>
                <a:off x="4155" y="7704"/>
                <a:ext cx="3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26639" name="Group 21"/>
              <p:cNvGrpSpPr>
                <a:grpSpLocks/>
              </p:cNvGrpSpPr>
              <p:nvPr/>
            </p:nvGrpSpPr>
            <p:grpSpPr bwMode="auto">
              <a:xfrm>
                <a:off x="4815" y="7371"/>
                <a:ext cx="215" cy="551"/>
                <a:chOff x="4247" y="6759"/>
                <a:chExt cx="215" cy="551"/>
              </a:xfrm>
            </p:grpSpPr>
            <p:sp>
              <p:nvSpPr>
                <p:cNvPr id="26647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4247" y="6759"/>
                  <a:ext cx="197" cy="19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26648" name="Line 24"/>
                <p:cNvSpPr>
                  <a:spLocks noChangeShapeType="1"/>
                </p:cNvSpPr>
                <p:nvPr/>
              </p:nvSpPr>
              <p:spPr bwMode="auto">
                <a:xfrm>
                  <a:off x="4249" y="7089"/>
                  <a:ext cx="213" cy="22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med"/>
                </a:ln>
              </p:spPr>
              <p:txBody>
                <a:bodyPr/>
                <a:lstStyle/>
                <a:p>
                  <a:endParaRPr lang="zh-CN" altLang="en-US" sz="2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26649" name="Line 25"/>
                <p:cNvSpPr>
                  <a:spLocks noChangeShapeType="1"/>
                </p:cNvSpPr>
                <p:nvPr/>
              </p:nvSpPr>
              <p:spPr bwMode="auto">
                <a:xfrm>
                  <a:off x="4247" y="6797"/>
                  <a:ext cx="0" cy="44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6640" name="Line 26"/>
              <p:cNvSpPr>
                <a:spLocks noChangeShapeType="1"/>
              </p:cNvSpPr>
              <p:nvPr/>
            </p:nvSpPr>
            <p:spPr bwMode="auto">
              <a:xfrm rot="5400000">
                <a:off x="4655" y="8264"/>
                <a:ext cx="73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26641" name="Group 27"/>
              <p:cNvGrpSpPr>
                <a:grpSpLocks/>
              </p:cNvGrpSpPr>
              <p:nvPr/>
            </p:nvGrpSpPr>
            <p:grpSpPr bwMode="auto">
              <a:xfrm>
                <a:off x="5039" y="6624"/>
                <a:ext cx="930" cy="2004"/>
                <a:chOff x="5039" y="6624"/>
                <a:chExt cx="1260" cy="2004"/>
              </a:xfrm>
            </p:grpSpPr>
            <p:sp>
              <p:nvSpPr>
                <p:cNvPr id="26644" name="Line 28"/>
                <p:cNvSpPr>
                  <a:spLocks noChangeShapeType="1"/>
                </p:cNvSpPr>
                <p:nvPr/>
              </p:nvSpPr>
              <p:spPr bwMode="auto">
                <a:xfrm>
                  <a:off x="5039" y="6624"/>
                  <a:ext cx="126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26645" name="Line 29"/>
                <p:cNvSpPr>
                  <a:spLocks noChangeShapeType="1"/>
                </p:cNvSpPr>
                <p:nvPr/>
              </p:nvSpPr>
              <p:spPr bwMode="auto">
                <a:xfrm>
                  <a:off x="5039" y="8628"/>
                  <a:ext cx="126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6642" name="Text Box 30"/>
              <p:cNvSpPr txBox="1">
                <a:spLocks noChangeArrowheads="1"/>
              </p:cNvSpPr>
              <p:nvPr/>
            </p:nvSpPr>
            <p:spPr bwMode="auto">
              <a:xfrm>
                <a:off x="5740" y="7040"/>
                <a:ext cx="486" cy="1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 eaLnBrk="1" hangingPunct="1"/>
                <a:r>
                  <a:rPr kumimoji="0" lang="zh-CN" altLang="en-US" sz="28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输出</a:t>
                </a:r>
              </a:p>
            </p:txBody>
          </p:sp>
          <p:sp>
            <p:nvSpPr>
              <p:cNvPr id="26643" name="Text Box 31"/>
              <p:cNvSpPr txBox="1">
                <a:spLocks noChangeArrowheads="1"/>
              </p:cNvSpPr>
              <p:nvPr/>
            </p:nvSpPr>
            <p:spPr bwMode="auto">
              <a:xfrm>
                <a:off x="2738" y="7017"/>
                <a:ext cx="392" cy="11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 eaLnBrk="1" hangingPunct="1"/>
                <a:r>
                  <a:rPr kumimoji="0" lang="zh-CN" altLang="en-US" sz="28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输入</a:t>
                </a:r>
              </a:p>
            </p:txBody>
          </p:sp>
        </p:grpSp>
        <p:sp>
          <p:nvSpPr>
            <p:cNvPr id="26631" name="Text Box 32"/>
            <p:cNvSpPr txBox="1">
              <a:spLocks noChangeArrowheads="1"/>
            </p:cNvSpPr>
            <p:nvPr/>
          </p:nvSpPr>
          <p:spPr bwMode="auto">
            <a:xfrm>
              <a:off x="7721" y="10530"/>
              <a:ext cx="1631" cy="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r>
                <a:rPr kumimoji="0"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光电耦合器</a:t>
              </a:r>
              <a:endParaRPr kumimoji="0"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26628" name="Text Box 33"/>
          <p:cNvSpPr txBox="1">
            <a:spLocks noChangeArrowheads="1"/>
          </p:cNvSpPr>
          <p:nvPr/>
        </p:nvSpPr>
        <p:spPr bwMode="auto">
          <a:xfrm>
            <a:off x="395289" y="1006079"/>
            <a:ext cx="4897437" cy="3711785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   </a:t>
            </a:r>
            <a:r>
              <a:rPr kumimoji="0"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光电耦合器又称光电隔离器</a:t>
            </a:r>
            <a:r>
              <a:rPr kumimoji="0"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，由</a:t>
            </a:r>
            <a:r>
              <a:rPr kumimoji="0"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发光源和受光器两部分组成。</a:t>
            </a:r>
          </a:p>
          <a:p>
            <a:pPr>
              <a:lnSpc>
                <a:spcPct val="120000"/>
              </a:lnSpc>
            </a:pPr>
            <a:r>
              <a:rPr kumimoji="0"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   </a:t>
            </a:r>
          </a:p>
          <a:p>
            <a:pPr>
              <a:lnSpc>
                <a:spcPct val="120000"/>
              </a:lnSpc>
            </a:pPr>
            <a:r>
              <a:rPr kumimoji="0"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  光电耦合器利用</a:t>
            </a:r>
            <a:r>
              <a:rPr kumimoji="0"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电</a:t>
            </a:r>
            <a:r>
              <a:rPr kumimoji="0"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-</a:t>
            </a:r>
            <a:r>
              <a:rPr kumimoji="0"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光</a:t>
            </a:r>
            <a:r>
              <a:rPr kumimoji="0"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-</a:t>
            </a:r>
            <a:r>
              <a:rPr kumimoji="0"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电</a:t>
            </a:r>
            <a:r>
              <a:rPr kumimoji="0"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两次转换的原理通过光进行了输入端与输出端之间的耦合</a:t>
            </a:r>
            <a:r>
              <a:rPr kumimoji="0"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。</a:t>
            </a:r>
            <a:endParaRPr lang="en-US" altLang="zh-CN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7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305784" y="1729433"/>
            <a:ext cx="497668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 </a:t>
            </a: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基本结构和工作原理</a:t>
            </a:r>
          </a:p>
        </p:txBody>
      </p:sp>
      <p:sp>
        <p:nvSpPr>
          <p:cNvPr id="499764" name="Text Box 5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305786" y="2485480"/>
            <a:ext cx="50735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 </a:t>
            </a: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特性曲线和主要参数</a:t>
            </a:r>
          </a:p>
        </p:txBody>
      </p:sp>
      <p:sp>
        <p:nvSpPr>
          <p:cNvPr id="499765" name="Text Box 53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324836" y="3296295"/>
            <a:ext cx="649597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 </a:t>
            </a: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沟道耗尽型</a:t>
            </a:r>
            <a:r>
              <a:rPr lang="en-US" altLang="zh-CN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MOS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场效应管</a:t>
            </a:r>
          </a:p>
        </p:txBody>
      </p:sp>
      <p:sp>
        <p:nvSpPr>
          <p:cNvPr id="10" name="Rectangle 5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2701819" y="666974"/>
            <a:ext cx="3136852" cy="646331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  场效应管</a:t>
            </a:r>
            <a:endParaRPr lang="zh-CN" altLang="en-US" sz="3600" dirty="0">
              <a:solidFill>
                <a:srgbClr val="C00000"/>
              </a:solidFill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9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49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9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17" grpId="0"/>
      <p:bldP spid="499764" grpId="0"/>
      <p:bldP spid="499765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43" name="Text Box 31"/>
          <p:cNvSpPr txBox="1">
            <a:spLocks noChangeArrowheads="1"/>
          </p:cNvSpPr>
          <p:nvPr/>
        </p:nvSpPr>
        <p:spPr bwMode="auto">
          <a:xfrm>
            <a:off x="883996" y="690676"/>
            <a:ext cx="7324089" cy="1643527"/>
          </a:xfrm>
          <a:prstGeom prst="rect">
            <a:avLst/>
          </a:prstGeom>
          <a:noFill/>
          <a:ln w="412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       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场效应晶体管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是用电压来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控制电流的一种半导体器件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，应用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最为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广泛是金属</a:t>
            </a:r>
            <a:r>
              <a:rPr lang="en-US" altLang="zh-CN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-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氧化物</a:t>
            </a:r>
            <a:r>
              <a:rPr lang="en-US" altLang="zh-CN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-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半导体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场效应晶体管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（简称</a:t>
            </a:r>
            <a:r>
              <a:rPr lang="en-US" altLang="zh-CN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MOS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管）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。</a:t>
            </a:r>
          </a:p>
        </p:txBody>
      </p:sp>
      <p:sp>
        <p:nvSpPr>
          <p:cNvPr id="602176" name="AutoShape 64"/>
          <p:cNvSpPr>
            <a:spLocks noChangeArrowheads="1"/>
          </p:cNvSpPr>
          <p:nvPr/>
        </p:nvSpPr>
        <p:spPr bwMode="auto">
          <a:xfrm>
            <a:off x="1099895" y="745444"/>
            <a:ext cx="381000" cy="342900"/>
          </a:xfrm>
          <a:prstGeom prst="star4">
            <a:avLst>
              <a:gd name="adj" fmla="val 12500"/>
            </a:avLst>
          </a:prstGeom>
          <a:solidFill>
            <a:srgbClr val="FFFF00"/>
          </a:solidFill>
          <a:ln w="38100">
            <a:solidFill>
              <a:srgbClr val="FFCC99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20000"/>
              </a:lnSpc>
            </a:pPr>
            <a:endParaRPr lang="zh-CN" altLang="en-US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894398" y="2524742"/>
            <a:ext cx="7335838" cy="1643061"/>
            <a:chOff x="333" y="925"/>
            <a:chExt cx="4621" cy="1380"/>
          </a:xfrm>
        </p:grpSpPr>
        <p:sp>
          <p:nvSpPr>
            <p:cNvPr id="1036" name="Text Box 33"/>
            <p:cNvSpPr txBox="1">
              <a:spLocks noChangeArrowheads="1"/>
            </p:cNvSpPr>
            <p:nvPr/>
          </p:nvSpPr>
          <p:spPr bwMode="auto">
            <a:xfrm>
              <a:off x="333" y="925"/>
              <a:ext cx="4621" cy="1380"/>
            </a:xfrm>
            <a:prstGeom prst="rect">
              <a:avLst/>
            </a:prstGeom>
            <a:noFill/>
            <a:ln w="4127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        </a:t>
              </a:r>
              <a:r>
                <a:rPr lang="zh-CN" altLang="en-US" sz="2800" dirty="0" smtClean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按导电</a:t>
              </a:r>
              <a:r>
                <a:rPr lang="zh-CN" altLang="en-US" sz="2800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类型可将场效应晶体管分为</a:t>
              </a:r>
              <a:r>
                <a:rPr lang="en-US" altLang="zh-CN" sz="2800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N</a:t>
              </a:r>
              <a:r>
                <a:rPr lang="zh-CN" altLang="en-US" sz="2800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沟道和</a:t>
              </a:r>
              <a:r>
                <a:rPr lang="en-US" altLang="zh-CN" sz="2800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P</a:t>
              </a:r>
              <a:r>
                <a:rPr lang="zh-CN" altLang="en-US" sz="2800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沟道两种，按其导电</a:t>
              </a:r>
              <a:r>
                <a:rPr lang="zh-CN" altLang="en-US" sz="2800" dirty="0" smtClean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沟道可</a:t>
              </a:r>
              <a:r>
                <a:rPr lang="zh-CN" altLang="en-US" sz="2800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分为耗尽型和增强型两种。</a:t>
              </a:r>
            </a:p>
          </p:txBody>
        </p:sp>
        <p:sp>
          <p:nvSpPr>
            <p:cNvPr id="1038" name="AutoShape 65"/>
            <p:cNvSpPr>
              <a:spLocks noChangeArrowheads="1"/>
            </p:cNvSpPr>
            <p:nvPr/>
          </p:nvSpPr>
          <p:spPr bwMode="auto">
            <a:xfrm>
              <a:off x="463" y="1018"/>
              <a:ext cx="240" cy="288"/>
            </a:xfrm>
            <a:prstGeom prst="star4">
              <a:avLst>
                <a:gd name="adj" fmla="val 12500"/>
              </a:avLst>
            </a:prstGeom>
            <a:solidFill>
              <a:srgbClr val="FFFF00"/>
            </a:solidFill>
            <a:ln w="38100">
              <a:solidFill>
                <a:srgbClr val="FFCC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2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2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02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02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02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2143" grpId="0"/>
      <p:bldP spid="60217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Text Box 34"/>
          <p:cNvSpPr txBox="1">
            <a:spLocks noChangeArrowheads="1"/>
          </p:cNvSpPr>
          <p:nvPr/>
        </p:nvSpPr>
        <p:spPr bwMode="auto">
          <a:xfrm>
            <a:off x="528993" y="557320"/>
            <a:ext cx="3569671" cy="523220"/>
          </a:xfrm>
          <a:prstGeom prst="rect">
            <a:avLst/>
          </a:prstGeom>
          <a:noFill/>
          <a:ln w="412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场效应晶体管种类：</a:t>
            </a:r>
            <a:endParaRPr lang="zh-CN" altLang="en-US" sz="28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841712" y="1443831"/>
            <a:ext cx="3579429" cy="2427175"/>
            <a:chOff x="841712" y="1443831"/>
            <a:chExt cx="3579429" cy="2427175"/>
          </a:xfrm>
        </p:grpSpPr>
        <p:sp>
          <p:nvSpPr>
            <p:cNvPr id="15" name="Text Box 35"/>
            <p:cNvSpPr txBox="1">
              <a:spLocks noChangeArrowheads="1"/>
            </p:cNvSpPr>
            <p:nvPr/>
          </p:nvSpPr>
          <p:spPr bwMode="auto">
            <a:xfrm>
              <a:off x="841712" y="1947283"/>
              <a:ext cx="689340" cy="1373188"/>
            </a:xfrm>
            <a:prstGeom prst="rect">
              <a:avLst/>
            </a:prstGeom>
            <a:noFill/>
            <a:ln w="412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N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沟道</a:t>
              </a:r>
            </a:p>
          </p:txBody>
        </p:sp>
        <p:sp>
          <p:nvSpPr>
            <p:cNvPr id="16" name="Text Box 36"/>
            <p:cNvSpPr txBox="1">
              <a:spLocks noChangeArrowheads="1"/>
            </p:cNvSpPr>
            <p:nvPr/>
          </p:nvSpPr>
          <p:spPr bwMode="auto">
            <a:xfrm>
              <a:off x="3042461" y="3351893"/>
              <a:ext cx="1378680" cy="519113"/>
            </a:xfrm>
            <a:prstGeom prst="rect">
              <a:avLst/>
            </a:prstGeom>
            <a:noFill/>
            <a:ln w="412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增强型</a:t>
              </a:r>
            </a:p>
          </p:txBody>
        </p:sp>
        <p:sp>
          <p:nvSpPr>
            <p:cNvPr id="17" name="Text Box 37"/>
            <p:cNvSpPr txBox="1">
              <a:spLocks noChangeArrowheads="1"/>
            </p:cNvSpPr>
            <p:nvPr/>
          </p:nvSpPr>
          <p:spPr bwMode="auto">
            <a:xfrm>
              <a:off x="1625887" y="3341383"/>
              <a:ext cx="1378680" cy="519113"/>
            </a:xfrm>
            <a:prstGeom prst="rect">
              <a:avLst/>
            </a:prstGeom>
            <a:noFill/>
            <a:ln w="412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耗尽型</a:t>
              </a: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3022586" y="1443831"/>
              <a:ext cx="1370600" cy="1886010"/>
              <a:chOff x="3705758" y="1590975"/>
              <a:chExt cx="1370600" cy="1886010"/>
            </a:xfrm>
          </p:grpSpPr>
          <p:cxnSp>
            <p:nvCxnSpPr>
              <p:cNvPr id="21" name="直接连接符 20"/>
              <p:cNvCxnSpPr/>
              <p:nvPr/>
            </p:nvCxnSpPr>
            <p:spPr>
              <a:xfrm rot="5400000">
                <a:off x="4098132" y="2478883"/>
                <a:ext cx="42386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 rot="5400000">
                <a:off x="4345781" y="2107407"/>
                <a:ext cx="42386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rot="5400000">
                <a:off x="4336257" y="2869407"/>
                <a:ext cx="42386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rot="10800000">
                <a:off x="4067176" y="2681289"/>
                <a:ext cx="25241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 rot="5400000">
                <a:off x="4376740" y="2309811"/>
                <a:ext cx="123825" cy="3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rot="5400000">
                <a:off x="4376740" y="2486023"/>
                <a:ext cx="123825" cy="3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rot="5400000">
                <a:off x="4376741" y="2662236"/>
                <a:ext cx="123825" cy="3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10800000">
                <a:off x="4448177" y="2309813"/>
                <a:ext cx="10001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10800000">
                <a:off x="4438652" y="2667001"/>
                <a:ext cx="10001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10800000" flipV="1">
                <a:off x="4448178" y="2490786"/>
                <a:ext cx="271461" cy="0"/>
              </a:xfrm>
              <a:prstGeom prst="line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 Box 11"/>
              <p:cNvSpPr txBox="1">
                <a:spLocks noChangeArrowheads="1"/>
              </p:cNvSpPr>
              <p:nvPr/>
            </p:nvSpPr>
            <p:spPr bwMode="auto">
              <a:xfrm>
                <a:off x="4191533" y="1590975"/>
                <a:ext cx="37061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D</a:t>
                </a:r>
              </a:p>
            </p:txBody>
          </p:sp>
          <p:sp>
            <p:nvSpPr>
              <p:cNvPr id="39" name="Text Box 11"/>
              <p:cNvSpPr txBox="1">
                <a:spLocks noChangeArrowheads="1"/>
              </p:cNvSpPr>
              <p:nvPr/>
            </p:nvSpPr>
            <p:spPr bwMode="auto">
              <a:xfrm>
                <a:off x="3705758" y="2457750"/>
                <a:ext cx="37061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G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0" name="Text Box 11"/>
              <p:cNvSpPr txBox="1">
                <a:spLocks noChangeArrowheads="1"/>
              </p:cNvSpPr>
              <p:nvPr/>
            </p:nvSpPr>
            <p:spPr bwMode="auto">
              <a:xfrm>
                <a:off x="4362983" y="3076875"/>
                <a:ext cx="32733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1" name="Text Box 11"/>
              <p:cNvSpPr txBox="1">
                <a:spLocks noChangeArrowheads="1"/>
              </p:cNvSpPr>
              <p:nvPr/>
            </p:nvSpPr>
            <p:spPr bwMode="auto">
              <a:xfrm>
                <a:off x="4720170" y="2291062"/>
                <a:ext cx="35618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B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1425013" y="1464851"/>
              <a:ext cx="1370600" cy="1886010"/>
              <a:chOff x="3705758" y="1590975"/>
              <a:chExt cx="1370600" cy="1886010"/>
            </a:xfrm>
          </p:grpSpPr>
          <p:cxnSp>
            <p:nvCxnSpPr>
              <p:cNvPr id="59" name="直接连接符 58"/>
              <p:cNvCxnSpPr/>
              <p:nvPr/>
            </p:nvCxnSpPr>
            <p:spPr>
              <a:xfrm rot="5400000">
                <a:off x="4098132" y="2478883"/>
                <a:ext cx="42386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5400000">
                <a:off x="4345781" y="2107407"/>
                <a:ext cx="42386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5400000">
                <a:off x="4336257" y="2869407"/>
                <a:ext cx="42386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10800000">
                <a:off x="4067176" y="2681289"/>
                <a:ext cx="25241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5400000">
                <a:off x="4205863" y="2485450"/>
                <a:ext cx="477399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10800000">
                <a:off x="4448177" y="2309813"/>
                <a:ext cx="10001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10800000">
                <a:off x="4438652" y="2667001"/>
                <a:ext cx="10001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800000" flipV="1">
                <a:off x="4448178" y="2490786"/>
                <a:ext cx="271461" cy="0"/>
              </a:xfrm>
              <a:prstGeom prst="line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 Box 11"/>
              <p:cNvSpPr txBox="1">
                <a:spLocks noChangeArrowheads="1"/>
              </p:cNvSpPr>
              <p:nvPr/>
            </p:nvSpPr>
            <p:spPr bwMode="auto">
              <a:xfrm>
                <a:off x="4191533" y="1590975"/>
                <a:ext cx="37061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D</a:t>
                </a:r>
              </a:p>
            </p:txBody>
          </p:sp>
          <p:sp>
            <p:nvSpPr>
              <p:cNvPr id="70" name="Text Box 11"/>
              <p:cNvSpPr txBox="1">
                <a:spLocks noChangeArrowheads="1"/>
              </p:cNvSpPr>
              <p:nvPr/>
            </p:nvSpPr>
            <p:spPr bwMode="auto">
              <a:xfrm>
                <a:off x="3705758" y="2457750"/>
                <a:ext cx="37061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G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1" name="Text Box 11"/>
              <p:cNvSpPr txBox="1">
                <a:spLocks noChangeArrowheads="1"/>
              </p:cNvSpPr>
              <p:nvPr/>
            </p:nvSpPr>
            <p:spPr bwMode="auto">
              <a:xfrm>
                <a:off x="4362983" y="3076875"/>
                <a:ext cx="32733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2" name="Text Box 11"/>
              <p:cNvSpPr txBox="1">
                <a:spLocks noChangeArrowheads="1"/>
              </p:cNvSpPr>
              <p:nvPr/>
            </p:nvSpPr>
            <p:spPr bwMode="auto">
              <a:xfrm>
                <a:off x="4720170" y="2291062"/>
                <a:ext cx="35618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B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87" name="组合 86"/>
          <p:cNvGrpSpPr/>
          <p:nvPr/>
        </p:nvGrpSpPr>
        <p:grpSpPr>
          <a:xfrm>
            <a:off x="4945400" y="1454340"/>
            <a:ext cx="3662965" cy="2377417"/>
            <a:chOff x="4945400" y="1454340"/>
            <a:chExt cx="3662965" cy="2377417"/>
          </a:xfrm>
        </p:grpSpPr>
        <p:sp>
          <p:nvSpPr>
            <p:cNvPr id="9" name="Text Box 40"/>
            <p:cNvSpPr txBox="1">
              <a:spLocks noChangeArrowheads="1"/>
            </p:cNvSpPr>
            <p:nvPr/>
          </p:nvSpPr>
          <p:spPr bwMode="auto">
            <a:xfrm>
              <a:off x="4945400" y="1875846"/>
              <a:ext cx="506413" cy="1373188"/>
            </a:xfrm>
            <a:prstGeom prst="rect">
              <a:avLst/>
            </a:prstGeom>
            <a:noFill/>
            <a:ln w="412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P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沟道</a:t>
              </a:r>
            </a:p>
          </p:txBody>
        </p:sp>
        <p:sp>
          <p:nvSpPr>
            <p:cNvPr id="10" name="Text Box 41"/>
            <p:cNvSpPr txBox="1">
              <a:spLocks noChangeArrowheads="1"/>
            </p:cNvSpPr>
            <p:nvPr/>
          </p:nvSpPr>
          <p:spPr bwMode="auto">
            <a:xfrm>
              <a:off x="7312965" y="3312644"/>
              <a:ext cx="1295400" cy="519113"/>
            </a:xfrm>
            <a:prstGeom prst="rect">
              <a:avLst/>
            </a:prstGeom>
            <a:noFill/>
            <a:ln w="412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增强型</a:t>
              </a:r>
            </a:p>
          </p:txBody>
        </p:sp>
        <p:sp>
          <p:nvSpPr>
            <p:cNvPr id="11" name="Text Box 42"/>
            <p:cNvSpPr txBox="1">
              <a:spLocks noChangeArrowheads="1"/>
            </p:cNvSpPr>
            <p:nvPr/>
          </p:nvSpPr>
          <p:spPr bwMode="auto">
            <a:xfrm>
              <a:off x="5800078" y="3312644"/>
              <a:ext cx="1295400" cy="519113"/>
            </a:xfrm>
            <a:prstGeom prst="rect">
              <a:avLst/>
            </a:prstGeom>
            <a:noFill/>
            <a:ln w="412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耗尽型</a:t>
              </a: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7121621" y="1454340"/>
              <a:ext cx="1370600" cy="1886010"/>
              <a:chOff x="3705758" y="1590975"/>
              <a:chExt cx="1370600" cy="1886010"/>
            </a:xfrm>
          </p:grpSpPr>
          <p:cxnSp>
            <p:nvCxnSpPr>
              <p:cNvPr id="44" name="直接连接符 43"/>
              <p:cNvCxnSpPr/>
              <p:nvPr/>
            </p:nvCxnSpPr>
            <p:spPr>
              <a:xfrm rot="5400000">
                <a:off x="4098132" y="2478883"/>
                <a:ext cx="42386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400000">
                <a:off x="4345781" y="2107407"/>
                <a:ext cx="42386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5400000">
                <a:off x="4336257" y="2869407"/>
                <a:ext cx="42386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0800000">
                <a:off x="4067176" y="2681289"/>
                <a:ext cx="25241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5400000">
                <a:off x="4376740" y="2309811"/>
                <a:ext cx="123825" cy="3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5400000">
                <a:off x="4376740" y="2486023"/>
                <a:ext cx="123825" cy="3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5400000">
                <a:off x="4376741" y="2662236"/>
                <a:ext cx="123825" cy="3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10800000">
                <a:off x="4448177" y="2309813"/>
                <a:ext cx="10001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10800000">
                <a:off x="4438652" y="2667001"/>
                <a:ext cx="10001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10800000" flipV="1">
                <a:off x="4448178" y="2490786"/>
                <a:ext cx="271461" cy="0"/>
              </a:xfrm>
              <a:prstGeom prst="line">
                <a:avLst/>
              </a:prstGeom>
              <a:ln w="34925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 Box 11"/>
              <p:cNvSpPr txBox="1">
                <a:spLocks noChangeArrowheads="1"/>
              </p:cNvSpPr>
              <p:nvPr/>
            </p:nvSpPr>
            <p:spPr bwMode="auto">
              <a:xfrm>
                <a:off x="4191533" y="1590975"/>
                <a:ext cx="37061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D</a:t>
                </a:r>
              </a:p>
            </p:txBody>
          </p:sp>
          <p:sp>
            <p:nvSpPr>
              <p:cNvPr id="55" name="Text Box 11"/>
              <p:cNvSpPr txBox="1">
                <a:spLocks noChangeArrowheads="1"/>
              </p:cNvSpPr>
              <p:nvPr/>
            </p:nvSpPr>
            <p:spPr bwMode="auto">
              <a:xfrm>
                <a:off x="3705758" y="2457750"/>
                <a:ext cx="37061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G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6" name="Text Box 11"/>
              <p:cNvSpPr txBox="1">
                <a:spLocks noChangeArrowheads="1"/>
              </p:cNvSpPr>
              <p:nvPr/>
            </p:nvSpPr>
            <p:spPr bwMode="auto">
              <a:xfrm>
                <a:off x="4362983" y="3076875"/>
                <a:ext cx="32733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7" name="Text Box 11"/>
              <p:cNvSpPr txBox="1">
                <a:spLocks noChangeArrowheads="1"/>
              </p:cNvSpPr>
              <p:nvPr/>
            </p:nvSpPr>
            <p:spPr bwMode="auto">
              <a:xfrm>
                <a:off x="4720170" y="2291062"/>
                <a:ext cx="35618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B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5587110" y="1485872"/>
              <a:ext cx="1370600" cy="1886010"/>
              <a:chOff x="3705758" y="1590975"/>
              <a:chExt cx="1370600" cy="1886010"/>
            </a:xfrm>
          </p:grpSpPr>
          <p:cxnSp>
            <p:nvCxnSpPr>
              <p:cNvPr id="75" name="直接连接符 74"/>
              <p:cNvCxnSpPr/>
              <p:nvPr/>
            </p:nvCxnSpPr>
            <p:spPr>
              <a:xfrm rot="5400000">
                <a:off x="4098132" y="2478883"/>
                <a:ext cx="42386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5400000">
                <a:off x="4345781" y="2107407"/>
                <a:ext cx="42386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5400000">
                <a:off x="4336257" y="2869407"/>
                <a:ext cx="42386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0800000">
                <a:off x="4067176" y="2681289"/>
                <a:ext cx="252415" cy="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5400000">
                <a:off x="4205863" y="2485450"/>
                <a:ext cx="477399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0800000">
                <a:off x="4448177" y="2309813"/>
                <a:ext cx="10001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0800000">
                <a:off x="4438652" y="2667001"/>
                <a:ext cx="10001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 rot="10800000" flipV="1">
                <a:off x="4448178" y="2490786"/>
                <a:ext cx="271461" cy="0"/>
              </a:xfrm>
              <a:prstGeom prst="line">
                <a:avLst/>
              </a:prstGeom>
              <a:ln w="34925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 Box 11"/>
              <p:cNvSpPr txBox="1">
                <a:spLocks noChangeArrowheads="1"/>
              </p:cNvSpPr>
              <p:nvPr/>
            </p:nvSpPr>
            <p:spPr bwMode="auto">
              <a:xfrm>
                <a:off x="4191533" y="1590975"/>
                <a:ext cx="37061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D</a:t>
                </a:r>
              </a:p>
            </p:txBody>
          </p:sp>
          <p:sp>
            <p:nvSpPr>
              <p:cNvPr id="84" name="Text Box 11"/>
              <p:cNvSpPr txBox="1">
                <a:spLocks noChangeArrowheads="1"/>
              </p:cNvSpPr>
              <p:nvPr/>
            </p:nvSpPr>
            <p:spPr bwMode="auto">
              <a:xfrm>
                <a:off x="3705758" y="2457750"/>
                <a:ext cx="37061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G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5" name="Text Box 11"/>
              <p:cNvSpPr txBox="1">
                <a:spLocks noChangeArrowheads="1"/>
              </p:cNvSpPr>
              <p:nvPr/>
            </p:nvSpPr>
            <p:spPr bwMode="auto">
              <a:xfrm>
                <a:off x="4362983" y="3076875"/>
                <a:ext cx="327334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6" name="Text Box 11"/>
              <p:cNvSpPr txBox="1">
                <a:spLocks noChangeArrowheads="1"/>
              </p:cNvSpPr>
              <p:nvPr/>
            </p:nvSpPr>
            <p:spPr bwMode="auto">
              <a:xfrm>
                <a:off x="4720170" y="2291062"/>
                <a:ext cx="35618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B</a:t>
                </a:r>
                <a:endPara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1162622" y="1569983"/>
            <a:ext cx="6521825" cy="2841274"/>
            <a:chOff x="1162622" y="1569034"/>
            <a:chExt cx="6521825" cy="2841274"/>
          </a:xfrm>
        </p:grpSpPr>
        <p:pic>
          <p:nvPicPr>
            <p:cNvPr id="146433" name="Picture 1" descr="D:\wgz\理论课\电工学PPT\电工学教材-图片\861.tif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62622" y="1569034"/>
              <a:ext cx="6521825" cy="2841274"/>
            </a:xfrm>
            <a:prstGeom prst="rect">
              <a:avLst/>
            </a:prstGeom>
            <a:noFill/>
          </p:spPr>
        </p:pic>
        <p:grpSp>
          <p:nvGrpSpPr>
            <p:cNvPr id="2" name="Group 14"/>
            <p:cNvGrpSpPr>
              <a:grpSpLocks/>
            </p:cNvGrpSpPr>
            <p:nvPr/>
          </p:nvGrpSpPr>
          <p:grpSpPr bwMode="auto">
            <a:xfrm>
              <a:off x="1652589" y="2787254"/>
              <a:ext cx="2451100" cy="298847"/>
              <a:chOff x="952" y="2533"/>
              <a:chExt cx="1544" cy="251"/>
            </a:xfrm>
          </p:grpSpPr>
          <p:sp>
            <p:nvSpPr>
              <p:cNvPr id="19479" name="Rectangle 15"/>
              <p:cNvSpPr>
                <a:spLocks noChangeArrowheads="1"/>
              </p:cNvSpPr>
              <p:nvPr/>
            </p:nvSpPr>
            <p:spPr bwMode="auto">
              <a:xfrm>
                <a:off x="2112" y="2533"/>
                <a:ext cx="384" cy="251"/>
              </a:xfrm>
              <a:prstGeom prst="rect">
                <a:avLst/>
              </a:prstGeom>
              <a:solidFill>
                <a:srgbClr val="FFCC6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9480" name="Rectangle 16"/>
              <p:cNvSpPr>
                <a:spLocks noChangeArrowheads="1"/>
              </p:cNvSpPr>
              <p:nvPr/>
            </p:nvSpPr>
            <p:spPr bwMode="auto">
              <a:xfrm>
                <a:off x="952" y="2542"/>
                <a:ext cx="385" cy="242"/>
              </a:xfrm>
              <a:prstGeom prst="rect">
                <a:avLst/>
              </a:prstGeom>
              <a:solidFill>
                <a:srgbClr val="FFCC6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472067" name="Text Box 3"/>
          <p:cNvSpPr txBox="1">
            <a:spLocks noChangeArrowheads="1"/>
          </p:cNvSpPr>
          <p:nvPr/>
        </p:nvSpPr>
        <p:spPr bwMode="auto">
          <a:xfrm>
            <a:off x="882650" y="897731"/>
            <a:ext cx="237834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.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结构</a:t>
            </a:r>
          </a:p>
        </p:txBody>
      </p:sp>
      <p:sp>
        <p:nvSpPr>
          <p:cNvPr id="472082" name="Text Box 18"/>
          <p:cNvSpPr txBox="1">
            <a:spLocks noChangeArrowheads="1"/>
          </p:cNvSpPr>
          <p:nvPr/>
        </p:nvSpPr>
        <p:spPr bwMode="auto">
          <a:xfrm>
            <a:off x="1356633" y="1731339"/>
            <a:ext cx="86754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S</a:t>
            </a:r>
            <a:r>
              <a:rPr lang="zh-CN" altLang="en-US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源极</a:t>
            </a:r>
          </a:p>
        </p:txBody>
      </p:sp>
      <p:sp>
        <p:nvSpPr>
          <p:cNvPr id="472091" name="Text Box 27"/>
          <p:cNvSpPr txBox="1">
            <a:spLocks noChangeArrowheads="1"/>
          </p:cNvSpPr>
          <p:nvPr/>
        </p:nvSpPr>
        <p:spPr bwMode="auto">
          <a:xfrm>
            <a:off x="1665288" y="2686050"/>
            <a:ext cx="533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en-US" altLang="zh-CN" sz="2400" baseline="30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+</a:t>
            </a:r>
          </a:p>
        </p:txBody>
      </p:sp>
      <p:sp>
        <p:nvSpPr>
          <p:cNvPr id="472092" name="Text Box 28"/>
          <p:cNvSpPr txBox="1">
            <a:spLocks noChangeArrowheads="1"/>
          </p:cNvSpPr>
          <p:nvPr/>
        </p:nvSpPr>
        <p:spPr bwMode="auto">
          <a:xfrm>
            <a:off x="3613831" y="2714285"/>
            <a:ext cx="5357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en-US" altLang="zh-CN" sz="2400" baseline="30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+</a:t>
            </a:r>
          </a:p>
        </p:txBody>
      </p:sp>
      <p:sp>
        <p:nvSpPr>
          <p:cNvPr id="25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611722" y="198089"/>
            <a:ext cx="497668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 </a:t>
            </a: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基本结构和工作原理</a:t>
            </a:r>
          </a:p>
        </p:txBody>
      </p:sp>
      <p:sp>
        <p:nvSpPr>
          <p:cNvPr id="472071" name="Text Box 7"/>
          <p:cNvSpPr txBox="1">
            <a:spLocks noChangeArrowheads="1"/>
          </p:cNvSpPr>
          <p:nvPr/>
        </p:nvSpPr>
        <p:spPr bwMode="auto">
          <a:xfrm>
            <a:off x="2411413" y="1491854"/>
            <a:ext cx="990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G</a:t>
            </a:r>
            <a:r>
              <a:rPr lang="zh-CN" altLang="en-US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栅极</a:t>
            </a:r>
          </a:p>
        </p:txBody>
      </p:sp>
      <p:sp>
        <p:nvSpPr>
          <p:cNvPr id="472072" name="Text Box 8"/>
          <p:cNvSpPr txBox="1">
            <a:spLocks noChangeArrowheads="1"/>
          </p:cNvSpPr>
          <p:nvPr/>
        </p:nvSpPr>
        <p:spPr bwMode="auto">
          <a:xfrm>
            <a:off x="3651023" y="1687796"/>
            <a:ext cx="90281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漏极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1177159" y="1833562"/>
            <a:ext cx="6516413" cy="2727928"/>
            <a:chOff x="1177159" y="1833562"/>
            <a:chExt cx="6516413" cy="2727928"/>
          </a:xfrm>
        </p:grpSpPr>
        <p:sp>
          <p:nvSpPr>
            <p:cNvPr id="27" name="矩形 26"/>
            <p:cNvSpPr/>
            <p:nvPr/>
          </p:nvSpPr>
          <p:spPr>
            <a:xfrm>
              <a:off x="2175639" y="3179753"/>
              <a:ext cx="1493595" cy="353599"/>
            </a:xfrm>
            <a:prstGeom prst="rect">
              <a:avLst/>
            </a:prstGeom>
            <a:solidFill>
              <a:schemeClr val="bg1"/>
            </a:solidFill>
            <a:ln w="222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177159" y="1833562"/>
              <a:ext cx="6516413" cy="2727928"/>
              <a:chOff x="1177159" y="1833562"/>
              <a:chExt cx="6516413" cy="2727928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177159" y="4130566"/>
                <a:ext cx="6516413" cy="430924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6276975" y="2428875"/>
                <a:ext cx="209550" cy="238125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5553075" y="3243263"/>
                <a:ext cx="209550" cy="238125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6296025" y="3509963"/>
                <a:ext cx="209550" cy="238125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6515100" y="3000376"/>
                <a:ext cx="209550" cy="238125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2081" name="Text Box 17"/>
              <p:cNvSpPr txBox="1">
                <a:spLocks noChangeArrowheads="1"/>
              </p:cNvSpPr>
              <p:nvPr/>
            </p:nvSpPr>
            <p:spPr bwMode="auto">
              <a:xfrm>
                <a:off x="2117506" y="3136446"/>
                <a:ext cx="1438902" cy="40011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CN" sz="2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P</a:t>
                </a:r>
                <a:r>
                  <a:rPr lang="zh-CN" altLang="en-US" sz="2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型硅衬底</a:t>
                </a: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1542886" y="2133600"/>
                <a:ext cx="190665" cy="199040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2695411" y="2528888"/>
                <a:ext cx="414502" cy="209550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4086061" y="2147888"/>
                <a:ext cx="190665" cy="199040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3043073" y="1833562"/>
                <a:ext cx="190665" cy="199040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72083" name="Line 19"/>
          <p:cNvSpPr>
            <a:spLocks noChangeShapeType="1"/>
          </p:cNvSpPr>
          <p:nvPr/>
        </p:nvSpPr>
        <p:spPr bwMode="auto">
          <a:xfrm flipV="1">
            <a:off x="3305175" y="2085974"/>
            <a:ext cx="1376363" cy="414337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72073" name="Text Box 9"/>
          <p:cNvSpPr txBox="1">
            <a:spLocks noChangeArrowheads="1"/>
          </p:cNvSpPr>
          <p:nvPr/>
        </p:nvSpPr>
        <p:spPr bwMode="auto">
          <a:xfrm>
            <a:off x="4637089" y="1865710"/>
            <a:ext cx="6703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SiO</a:t>
            </a:r>
            <a:r>
              <a:rPr lang="en-US" altLang="zh-CN" sz="20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2</a:t>
            </a:r>
          </a:p>
        </p:txBody>
      </p:sp>
      <p:sp>
        <p:nvSpPr>
          <p:cNvPr id="472076" name="Text Box 12"/>
          <p:cNvSpPr txBox="1">
            <a:spLocks noChangeArrowheads="1"/>
          </p:cNvSpPr>
          <p:nvPr/>
        </p:nvSpPr>
        <p:spPr bwMode="auto">
          <a:xfrm>
            <a:off x="5452774" y="3168963"/>
            <a:ext cx="356961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G</a:t>
            </a:r>
          </a:p>
        </p:txBody>
      </p:sp>
      <p:sp>
        <p:nvSpPr>
          <p:cNvPr id="472077" name="Text Box 13"/>
          <p:cNvSpPr txBox="1">
            <a:spLocks noChangeArrowheads="1"/>
          </p:cNvSpPr>
          <p:nvPr/>
        </p:nvSpPr>
        <p:spPr bwMode="auto">
          <a:xfrm>
            <a:off x="6249403" y="3459453"/>
            <a:ext cx="334508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S</a:t>
            </a:r>
          </a:p>
        </p:txBody>
      </p:sp>
      <p:sp>
        <p:nvSpPr>
          <p:cNvPr id="472074" name="Text Box 10"/>
          <p:cNvSpPr txBox="1">
            <a:spLocks noChangeArrowheads="1"/>
          </p:cNvSpPr>
          <p:nvPr/>
        </p:nvSpPr>
        <p:spPr bwMode="auto">
          <a:xfrm>
            <a:off x="6454096" y="2923356"/>
            <a:ext cx="356188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</a:p>
        </p:txBody>
      </p:sp>
      <p:sp>
        <p:nvSpPr>
          <p:cNvPr id="472075" name="Text Box 11"/>
          <p:cNvSpPr txBox="1">
            <a:spLocks noChangeArrowheads="1"/>
          </p:cNvSpPr>
          <p:nvPr/>
        </p:nvSpPr>
        <p:spPr bwMode="auto">
          <a:xfrm>
            <a:off x="6182258" y="2343450"/>
            <a:ext cx="370614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D</a:t>
            </a:r>
          </a:p>
        </p:txBody>
      </p:sp>
      <p:sp>
        <p:nvSpPr>
          <p:cNvPr id="472070" name="Text Box 6"/>
          <p:cNvSpPr txBox="1">
            <a:spLocks noChangeArrowheads="1"/>
          </p:cNvSpPr>
          <p:nvPr/>
        </p:nvSpPr>
        <p:spPr bwMode="auto">
          <a:xfrm>
            <a:off x="2553412" y="3836277"/>
            <a:ext cx="27387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</a:p>
        </p:txBody>
      </p:sp>
      <p:sp>
        <p:nvSpPr>
          <p:cNvPr id="472084" name="Text Box 20"/>
          <p:cNvSpPr txBox="1">
            <a:spLocks noChangeArrowheads="1"/>
          </p:cNvSpPr>
          <p:nvPr/>
        </p:nvSpPr>
        <p:spPr bwMode="auto">
          <a:xfrm>
            <a:off x="1032478" y="4315072"/>
            <a:ext cx="403507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b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2800" b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沟道增强型结构示意图</a:t>
            </a:r>
          </a:p>
        </p:txBody>
      </p:sp>
      <p:sp>
        <p:nvSpPr>
          <p:cNvPr id="472085" name="Text Box 21"/>
          <p:cNvSpPr txBox="1">
            <a:spLocks noChangeArrowheads="1"/>
          </p:cNvSpPr>
          <p:nvPr/>
        </p:nvSpPr>
        <p:spPr bwMode="auto">
          <a:xfrm>
            <a:off x="5360275" y="4314045"/>
            <a:ext cx="16996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b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图形符号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7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7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7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7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7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7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7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7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47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7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472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72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7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7" grpId="0" autoUpdateAnimBg="0"/>
      <p:bldP spid="472082" grpId="0" autoUpdateAnimBg="0"/>
      <p:bldP spid="472091" grpId="0" autoUpdateAnimBg="0"/>
      <p:bldP spid="472092" grpId="0" autoUpdateAnimBg="0"/>
      <p:bldP spid="472071" grpId="0" autoUpdateAnimBg="0"/>
      <p:bldP spid="472072" grpId="0" autoUpdateAnimBg="0"/>
      <p:bldP spid="472083" grpId="0" animBg="1"/>
      <p:bldP spid="472073" grpId="0" autoUpdateAnimBg="0"/>
      <p:bldP spid="472076" grpId="0" animBg="1" autoUpdateAnimBg="0"/>
      <p:bldP spid="472077" grpId="0" animBg="1" autoUpdateAnimBg="0"/>
      <p:bldP spid="472074" grpId="0" animBg="1" autoUpdateAnimBg="0"/>
      <p:bldP spid="472075" grpId="0" animBg="1" autoUpdateAnimBg="0"/>
      <p:bldP spid="472070" grpId="0" autoUpdateAnimBg="0"/>
      <p:bldP spid="47208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1" name="Text Box 3"/>
          <p:cNvSpPr txBox="1">
            <a:spLocks noChangeArrowheads="1"/>
          </p:cNvSpPr>
          <p:nvPr/>
        </p:nvSpPr>
        <p:spPr bwMode="auto">
          <a:xfrm>
            <a:off x="658377" y="367698"/>
            <a:ext cx="24001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2).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工作原理</a:t>
            </a:r>
          </a:p>
        </p:txBody>
      </p:sp>
      <p:sp>
        <p:nvSpPr>
          <p:cNvPr id="473092" name="Text Box 4"/>
          <p:cNvSpPr txBox="1">
            <a:spLocks noChangeArrowheads="1"/>
          </p:cNvSpPr>
          <p:nvPr/>
        </p:nvSpPr>
        <p:spPr bwMode="auto">
          <a:xfrm>
            <a:off x="798513" y="2453878"/>
            <a:ext cx="3363584" cy="2677656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  D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与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S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之间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相当于两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个背靠背的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二极管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与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S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之间加电压，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漏极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电流均接近于零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。</a:t>
            </a:r>
            <a:endParaRPr lang="en-US" altLang="zh-CN" sz="2800" i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73093" name="Text Box 5"/>
          <p:cNvSpPr txBox="1">
            <a:spLocks noChangeArrowheads="1"/>
          </p:cNvSpPr>
          <p:nvPr/>
        </p:nvSpPr>
        <p:spPr bwMode="auto">
          <a:xfrm>
            <a:off x="522289" y="2089999"/>
            <a:ext cx="2320925" cy="523220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800" dirty="0">
                <a:solidFill>
                  <a:srgbClr val="C00000"/>
                </a:solidFill>
                <a:cs typeface="Times New Roman" pitchFamily="18" charset="0"/>
              </a:rPr>
              <a:t>(a) </a:t>
            </a:r>
            <a:r>
              <a:rPr lang="en-US" altLang="zh-CN" sz="2800" i="1" dirty="0">
                <a:solidFill>
                  <a:srgbClr val="C00000"/>
                </a:solidFill>
                <a:cs typeface="Times New Roman" pitchFamily="18" charset="0"/>
              </a:rPr>
              <a:t>U</a:t>
            </a:r>
            <a:r>
              <a:rPr lang="en-US" altLang="zh-CN" sz="2800" baseline="-25000" dirty="0">
                <a:solidFill>
                  <a:srgbClr val="C00000"/>
                </a:solidFill>
                <a:cs typeface="Times New Roman" pitchFamily="18" charset="0"/>
              </a:rPr>
              <a:t>GS</a:t>
            </a:r>
            <a:r>
              <a:rPr lang="en-US" altLang="zh-CN" sz="2800" dirty="0">
                <a:solidFill>
                  <a:srgbClr val="C00000"/>
                </a:solidFill>
                <a:cs typeface="Times New Roman" pitchFamily="18" charset="0"/>
              </a:rPr>
              <a:t> =0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5559206" y="4398662"/>
            <a:ext cx="1988045" cy="523220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结构示意图</a:t>
            </a:r>
          </a:p>
        </p:txBody>
      </p:sp>
      <p:sp>
        <p:nvSpPr>
          <p:cNvPr id="473106" name="Text Box 18"/>
          <p:cNvSpPr txBox="1">
            <a:spLocks noChangeArrowheads="1"/>
          </p:cNvSpPr>
          <p:nvPr/>
        </p:nvSpPr>
        <p:spPr bwMode="auto">
          <a:xfrm>
            <a:off x="780228" y="1006078"/>
            <a:ext cx="3245233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ea typeface="华文中宋" pitchFamily="2" charset="-122"/>
                <a:cs typeface="Times New Roman" pitchFamily="18" charset="0"/>
              </a:rPr>
              <a:t>栅源电压对导电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ea typeface="华文中宋" pitchFamily="2" charset="-122"/>
                <a:cs typeface="Times New Roman" pitchFamily="18" charset="0"/>
              </a:rPr>
              <a:t>沟道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ea typeface="华文中宋" pitchFamily="2" charset="-122"/>
                <a:cs typeface="Times New Roman" pitchFamily="18" charset="0"/>
              </a:rPr>
              <a:t>的控制作用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4213899" y="714703"/>
            <a:ext cx="4613516" cy="3628266"/>
            <a:chOff x="4213899" y="714703"/>
            <a:chExt cx="4613516" cy="3628266"/>
          </a:xfrm>
        </p:grpSpPr>
        <p:grpSp>
          <p:nvGrpSpPr>
            <p:cNvPr id="57" name="组合 56"/>
            <p:cNvGrpSpPr>
              <a:grpSpLocks noChangeAspect="1"/>
            </p:cNvGrpSpPr>
            <p:nvPr/>
          </p:nvGrpSpPr>
          <p:grpSpPr>
            <a:xfrm>
              <a:off x="4213899" y="714703"/>
              <a:ext cx="4520198" cy="3624942"/>
              <a:chOff x="10352315" y="954745"/>
              <a:chExt cx="3886200" cy="3116511"/>
            </a:xfrm>
          </p:grpSpPr>
          <p:pic>
            <p:nvPicPr>
              <p:cNvPr id="28" name="Picture 1" descr="D:\wgz\理论课\电工学PPT\电工学教材-图片\861.tif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l="-4674" t="-17353" r="45086" b="7666"/>
              <a:stretch>
                <a:fillRect/>
              </a:stretch>
            </p:blipFill>
            <p:spPr bwMode="auto">
              <a:xfrm>
                <a:off x="10352315" y="954745"/>
                <a:ext cx="3886200" cy="3116511"/>
              </a:xfrm>
              <a:prstGeom prst="rect">
                <a:avLst/>
              </a:prstGeom>
              <a:solidFill>
                <a:schemeClr val="bg1"/>
              </a:solidFill>
            </p:spPr>
          </p:pic>
          <p:cxnSp>
            <p:nvCxnSpPr>
              <p:cNvPr id="30" name="直接连接符 29"/>
              <p:cNvCxnSpPr/>
              <p:nvPr/>
            </p:nvCxnSpPr>
            <p:spPr>
              <a:xfrm rot="5400000" flipH="1" flipV="1">
                <a:off x="10994231" y="1702594"/>
                <a:ext cx="585788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11287125" y="1404938"/>
                <a:ext cx="962025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12496800" y="1409700"/>
                <a:ext cx="98583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16200000" flipV="1">
                <a:off x="13192126" y="1704974"/>
                <a:ext cx="57150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" name="组合 44"/>
              <p:cNvGrpSpPr/>
              <p:nvPr/>
            </p:nvGrpSpPr>
            <p:grpSpPr>
              <a:xfrm rot="10800000">
                <a:off x="12263440" y="1304925"/>
                <a:ext cx="223838" cy="181768"/>
                <a:chOff x="11706227" y="1500187"/>
                <a:chExt cx="223838" cy="181768"/>
              </a:xfrm>
            </p:grpSpPr>
            <p:cxnSp>
              <p:nvCxnSpPr>
                <p:cNvPr id="37" name="直接连接符 36"/>
                <p:cNvCxnSpPr/>
                <p:nvPr/>
              </p:nvCxnSpPr>
              <p:spPr>
                <a:xfrm rot="16200000" flipV="1">
                  <a:off x="11617724" y="1593452"/>
                  <a:ext cx="17700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 rot="5400000" flipH="1" flipV="1">
                  <a:off x="11726467" y="1583928"/>
                  <a:ext cx="111126" cy="796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>
                <a:xfrm rot="16200000" flipV="1">
                  <a:off x="11765361" y="1588690"/>
                  <a:ext cx="177006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 rot="5400000" flipH="1" flipV="1">
                  <a:off x="11874104" y="1579166"/>
                  <a:ext cx="111126" cy="796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直接连接符 48"/>
              <p:cNvCxnSpPr/>
              <p:nvPr/>
            </p:nvCxnSpPr>
            <p:spPr>
              <a:xfrm rot="10800000" flipV="1">
                <a:off x="10596562" y="1652586"/>
                <a:ext cx="184785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5400000">
                <a:off x="9543656" y="2695973"/>
                <a:ext cx="210581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10591800" y="3752850"/>
                <a:ext cx="180975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椭圆 53"/>
              <p:cNvSpPr/>
              <p:nvPr/>
            </p:nvSpPr>
            <p:spPr>
              <a:xfrm>
                <a:off x="11258551" y="1628774"/>
                <a:ext cx="52387" cy="54000"/>
              </a:xfrm>
              <a:prstGeom prst="ellipse">
                <a:avLst/>
              </a:prstGeom>
              <a:solidFill>
                <a:schemeClr val="tx1"/>
              </a:solidFill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489" name="Line 9"/>
            <p:cNvSpPr>
              <a:spLocks noChangeShapeType="1"/>
            </p:cNvSpPr>
            <p:nvPr/>
          </p:nvSpPr>
          <p:spPr bwMode="auto">
            <a:xfrm flipV="1">
              <a:off x="8014138" y="1186355"/>
              <a:ext cx="0" cy="40005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stealth" w="med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0" name="Text Box 10"/>
            <p:cNvSpPr txBox="1">
              <a:spLocks noChangeArrowheads="1"/>
            </p:cNvSpPr>
            <p:nvPr/>
          </p:nvSpPr>
          <p:spPr bwMode="auto">
            <a:xfrm>
              <a:off x="7990327" y="1163734"/>
              <a:ext cx="83708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solidFill>
                    <a:srgbClr val="C00000"/>
                  </a:solidFill>
                  <a:ea typeface="方正琥珀繁体" pitchFamily="2" charset="-122"/>
                </a:rPr>
                <a:t>I</a:t>
              </a:r>
              <a:r>
                <a:rPr lang="en-US" altLang="zh-CN" sz="2400" i="1" baseline="-25000" dirty="0">
                  <a:solidFill>
                    <a:srgbClr val="C00000"/>
                  </a:solidFill>
                  <a:ea typeface="方正琥珀繁体" pitchFamily="2" charset="-122"/>
                </a:rPr>
                <a:t>D</a:t>
              </a:r>
              <a:r>
                <a:rPr lang="en-US" altLang="zh-CN" sz="2000" dirty="0">
                  <a:solidFill>
                    <a:srgbClr val="C00000"/>
                  </a:solidFill>
                  <a:ea typeface="方正琥珀繁体" pitchFamily="2" charset="-122"/>
                </a:rPr>
                <a:t> = 0</a:t>
              </a:r>
            </a:p>
          </p:txBody>
        </p:sp>
        <p:sp>
          <p:nvSpPr>
            <p:cNvPr id="58" name="Text Box 10"/>
            <p:cNvSpPr txBox="1">
              <a:spLocks noChangeArrowheads="1"/>
            </p:cNvSpPr>
            <p:nvPr/>
          </p:nvSpPr>
          <p:spPr bwMode="auto">
            <a:xfrm>
              <a:off x="6655513" y="774852"/>
              <a:ext cx="72327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 smtClean="0">
                  <a:solidFill>
                    <a:srgbClr val="C00000"/>
                  </a:solidFill>
                  <a:ea typeface="方正琥珀繁体" pitchFamily="2" charset="-122"/>
                </a:rPr>
                <a:t>U</a:t>
              </a:r>
              <a:r>
                <a:rPr lang="en-US" altLang="zh-CN" sz="2400" i="1" baseline="-25000" dirty="0" smtClean="0">
                  <a:solidFill>
                    <a:srgbClr val="C00000"/>
                  </a:solidFill>
                  <a:ea typeface="方正琥珀繁体" pitchFamily="2" charset="-122"/>
                </a:rPr>
                <a:t>DS</a:t>
              </a:r>
              <a:r>
                <a:rPr lang="en-US" altLang="zh-CN" sz="2000" dirty="0" smtClean="0">
                  <a:solidFill>
                    <a:srgbClr val="C00000"/>
                  </a:solidFill>
                  <a:ea typeface="方正琥珀繁体" pitchFamily="2" charset="-122"/>
                </a:rPr>
                <a:t> </a:t>
              </a:r>
              <a:endParaRPr lang="en-US" altLang="zh-CN" sz="2000" dirty="0">
                <a:solidFill>
                  <a:srgbClr val="C00000"/>
                </a:solidFill>
                <a:ea typeface="方正琥珀繁体" pitchFamily="2" charset="-122"/>
              </a:endParaRPr>
            </a:p>
          </p:txBody>
        </p:sp>
        <p:sp>
          <p:nvSpPr>
            <p:cNvPr id="26" name="Text Box 10"/>
            <p:cNvSpPr txBox="1">
              <a:spLocks noChangeArrowheads="1"/>
            </p:cNvSpPr>
            <p:nvPr/>
          </p:nvSpPr>
          <p:spPr bwMode="auto">
            <a:xfrm>
              <a:off x="6191338" y="3942859"/>
              <a:ext cx="35618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</p:grpSp>
      <p:sp>
        <p:nvSpPr>
          <p:cNvPr id="473105" name="Line 17"/>
          <p:cNvSpPr>
            <a:spLocks noChangeShapeType="1"/>
          </p:cNvSpPr>
          <p:nvPr/>
        </p:nvSpPr>
        <p:spPr bwMode="auto">
          <a:xfrm flipV="1">
            <a:off x="8024647" y="1207375"/>
            <a:ext cx="0" cy="4000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stealth" w="med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"/>
                                        <p:tgtEl>
                                          <p:spTgt spid="47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500" fill="hold"/>
                                        <p:tgtEl>
                                          <p:spTgt spid="47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2" grpId="0" autoUpdateAnimBg="0"/>
      <p:bldP spid="473093" grpId="0" autoUpdateAnimBg="0"/>
      <p:bldP spid="473106" grpId="0" autoUpdateAnimBg="0"/>
      <p:bldP spid="473105" grpId="0" animBg="1"/>
      <p:bldP spid="473105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400982" y="315392"/>
            <a:ext cx="3296095" cy="523220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dirty="0">
                <a:solidFill>
                  <a:srgbClr val="C00000"/>
                </a:solidFill>
                <a:ea typeface="方正琥珀繁体" pitchFamily="2" charset="-122"/>
              </a:rPr>
              <a:t>(b)   0 &lt; </a:t>
            </a:r>
            <a:r>
              <a:rPr lang="en-US" altLang="zh-CN" sz="2800" i="1" dirty="0">
                <a:solidFill>
                  <a:srgbClr val="C00000"/>
                </a:solidFill>
                <a:ea typeface="方正琥珀繁体" pitchFamily="2" charset="-122"/>
              </a:rPr>
              <a:t>U</a:t>
            </a:r>
            <a:r>
              <a:rPr lang="en-US" altLang="zh-CN" sz="2800" baseline="-25000" dirty="0">
                <a:solidFill>
                  <a:srgbClr val="C00000"/>
                </a:solidFill>
                <a:ea typeface="方正琥珀繁体" pitchFamily="2" charset="-122"/>
              </a:rPr>
              <a:t>GS</a:t>
            </a:r>
            <a:r>
              <a:rPr lang="en-US" altLang="zh-CN" sz="2800" dirty="0">
                <a:solidFill>
                  <a:srgbClr val="C00000"/>
                </a:solidFill>
                <a:ea typeface="方正琥珀繁体" pitchFamily="2" charset="-122"/>
              </a:rPr>
              <a:t> &lt; </a:t>
            </a:r>
            <a:r>
              <a:rPr lang="en-US" altLang="zh-CN" sz="2800" i="1" dirty="0">
                <a:solidFill>
                  <a:srgbClr val="C00000"/>
                </a:solidFill>
                <a:ea typeface="方正琥珀繁体" pitchFamily="2" charset="-122"/>
              </a:rPr>
              <a:t>U</a:t>
            </a:r>
            <a:r>
              <a:rPr lang="en-US" altLang="zh-CN" sz="2800" baseline="-25000" dirty="0">
                <a:solidFill>
                  <a:srgbClr val="C00000"/>
                </a:solidFill>
                <a:ea typeface="方正琥珀繁体" pitchFamily="2" charset="-122"/>
              </a:rPr>
              <a:t>GS(</a:t>
            </a:r>
            <a:r>
              <a:rPr lang="en-US" altLang="zh-CN" sz="2800" baseline="-25000" dirty="0" err="1">
                <a:solidFill>
                  <a:srgbClr val="C00000"/>
                </a:solidFill>
                <a:ea typeface="方正琥珀繁体" pitchFamily="2" charset="-122"/>
              </a:rPr>
              <a:t>th</a:t>
            </a:r>
            <a:r>
              <a:rPr lang="en-US" altLang="zh-CN" sz="2800" baseline="-25000" dirty="0">
                <a:solidFill>
                  <a:srgbClr val="C00000"/>
                </a:solidFill>
                <a:ea typeface="方正琥珀繁体" pitchFamily="2" charset="-122"/>
              </a:rPr>
              <a:t>)</a:t>
            </a:r>
          </a:p>
        </p:txBody>
      </p:sp>
      <p:sp>
        <p:nvSpPr>
          <p:cNvPr id="474115" name="Text Box 3"/>
          <p:cNvSpPr txBox="1">
            <a:spLocks noChangeArrowheads="1"/>
          </p:cNvSpPr>
          <p:nvPr/>
        </p:nvSpPr>
        <p:spPr bwMode="auto">
          <a:xfrm>
            <a:off x="487199" y="994623"/>
            <a:ext cx="3140075" cy="2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在栅极和源极之间产生一个电场，使空穴排斥到远端，电子被吸引到衬底边缘。</a:t>
            </a: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1276" y="789385"/>
            <a:ext cx="4856163" cy="3714750"/>
          </a:xfrm>
          <a:prstGeom prst="rect">
            <a:avLst/>
          </a:prstGeom>
          <a:solidFill>
            <a:srgbClr val="4399B0"/>
          </a:solidFill>
          <a:ln w="9525">
            <a:noFill/>
            <a:miter lim="800000"/>
            <a:headEnd/>
            <a:tailEnd/>
          </a:ln>
        </p:spPr>
      </p:pic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6237289" y="479822"/>
            <a:ext cx="670376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i="1" dirty="0">
                <a:solidFill>
                  <a:srgbClr val="FFFF99"/>
                </a:solidFill>
                <a:ea typeface="方正琥珀繁体" pitchFamily="2" charset="-122"/>
              </a:rPr>
              <a:t>U</a:t>
            </a:r>
            <a:r>
              <a:rPr lang="en-US" altLang="zh-CN" sz="2400" baseline="-25000" dirty="0">
                <a:solidFill>
                  <a:srgbClr val="FFFF99"/>
                </a:solidFill>
                <a:ea typeface="方正琥珀繁体" pitchFamily="2" charset="-122"/>
              </a:rPr>
              <a:t>DS</a:t>
            </a:r>
            <a:endParaRPr lang="en-US" altLang="zh-CN" sz="2400" dirty="0">
              <a:solidFill>
                <a:srgbClr val="FFFF99"/>
              </a:solidFill>
              <a:ea typeface="方正琥珀繁体" pitchFamily="2" charset="-122"/>
            </a:endParaRP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3657600" y="1828801"/>
            <a:ext cx="6703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>
                <a:solidFill>
                  <a:srgbClr val="FFFF99"/>
                </a:solidFill>
                <a:ea typeface="宋体" pitchFamily="2" charset="-122"/>
              </a:rPr>
              <a:t>SiO</a:t>
            </a:r>
            <a:r>
              <a:rPr lang="en-US" altLang="zh-CN" sz="2000" baseline="-25000">
                <a:solidFill>
                  <a:srgbClr val="FFFF99"/>
                </a:solidFill>
                <a:ea typeface="宋体" pitchFamily="2" charset="-122"/>
              </a:rPr>
              <a:t>2</a:t>
            </a:r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4267200" y="2057400"/>
            <a:ext cx="609600" cy="228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6172200" y="1531144"/>
            <a:ext cx="609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FFFF99"/>
                </a:solidFill>
                <a:ea typeface="宋体" pitchFamily="2" charset="-122"/>
              </a:rPr>
              <a:t>G</a:t>
            </a: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7391400" y="1531144"/>
            <a:ext cx="3706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>
                <a:solidFill>
                  <a:srgbClr val="FFFF99"/>
                </a:solidFill>
                <a:ea typeface="宋体" pitchFamily="2" charset="-122"/>
              </a:rPr>
              <a:t>D</a:t>
            </a:r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5105400" y="1531144"/>
            <a:ext cx="533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FFFF99"/>
                </a:solidFill>
                <a:ea typeface="宋体" pitchFamily="2" charset="-122"/>
              </a:rPr>
              <a:t>S</a:t>
            </a:r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6781801" y="3988594"/>
            <a:ext cx="3561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>
                <a:solidFill>
                  <a:srgbClr val="FFCC66"/>
                </a:solidFill>
                <a:ea typeface="宋体" pitchFamily="2" charset="-122"/>
              </a:rPr>
              <a:t>B</a:t>
            </a:r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5648325" y="4245769"/>
            <a:ext cx="1988045" cy="523220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>
                <a:solidFill>
                  <a:srgbClr val="FFFF99"/>
                </a:solidFill>
              </a:rPr>
              <a:t>结构示意图</a:t>
            </a: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5867400" y="3436144"/>
            <a:ext cx="15937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>
                <a:solidFill>
                  <a:srgbClr val="FFCC66"/>
                </a:solidFill>
                <a:ea typeface="宋体" pitchFamily="2" charset="-122"/>
              </a:rPr>
              <a:t>P</a:t>
            </a:r>
            <a:r>
              <a:rPr lang="zh-CN" altLang="en-US" sz="2400">
                <a:solidFill>
                  <a:srgbClr val="FFCC66"/>
                </a:solidFill>
                <a:ea typeface="宋体" pitchFamily="2" charset="-122"/>
              </a:rPr>
              <a:t>型硅衬底</a:t>
            </a: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7239000" y="2571750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lang="en-US" altLang="zh-CN" sz="2400" baseline="30000">
                <a:solidFill>
                  <a:schemeClr val="tx1"/>
                </a:solidFill>
                <a:ea typeface="宋体" pitchFamily="2" charset="-122"/>
              </a:rPr>
              <a:t>+</a:t>
            </a: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5334000" y="2571750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lang="en-US" altLang="zh-CN" sz="2400" baseline="30000">
                <a:solidFill>
                  <a:schemeClr val="tx1"/>
                </a:solidFill>
                <a:ea typeface="宋体" pitchFamily="2" charset="-122"/>
              </a:rPr>
              <a:t>+</a:t>
            </a:r>
          </a:p>
        </p:txBody>
      </p: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7785100" y="1108472"/>
            <a:ext cx="917238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i="1">
                <a:solidFill>
                  <a:srgbClr val="FFFF99"/>
                </a:solidFill>
                <a:ea typeface="方正琥珀繁体" pitchFamily="2" charset="-122"/>
              </a:rPr>
              <a:t>I</a:t>
            </a:r>
            <a:r>
              <a:rPr lang="en-US" altLang="zh-CN" sz="2400" baseline="-25000">
                <a:solidFill>
                  <a:srgbClr val="FFFF99"/>
                </a:solidFill>
                <a:ea typeface="方正琥珀繁体" pitchFamily="2" charset="-122"/>
              </a:rPr>
              <a:t>D</a:t>
            </a:r>
            <a:r>
              <a:rPr lang="en-US" altLang="zh-CN" sz="2400">
                <a:solidFill>
                  <a:srgbClr val="FFFF99"/>
                </a:solidFill>
                <a:ea typeface="方正琥珀繁体" pitchFamily="2" charset="-122"/>
              </a:rPr>
              <a:t> = 0</a:t>
            </a:r>
          </a:p>
        </p:txBody>
      </p: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5387976" y="948929"/>
            <a:ext cx="670375" cy="461665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altLang="zh-CN" sz="2400" i="1">
                <a:solidFill>
                  <a:srgbClr val="FFFF99"/>
                </a:solidFill>
                <a:ea typeface="宋体" pitchFamily="2" charset="-122"/>
              </a:rPr>
              <a:t>U</a:t>
            </a:r>
            <a:r>
              <a:rPr lang="en-US" altLang="zh-CN" sz="2400" baseline="-25000">
                <a:solidFill>
                  <a:srgbClr val="FFFF99"/>
                </a:solidFill>
                <a:ea typeface="宋体" pitchFamily="2" charset="-122"/>
              </a:rPr>
              <a:t>GS</a:t>
            </a:r>
            <a:endParaRPr lang="en-US" altLang="zh-CN" sz="2400">
              <a:solidFill>
                <a:srgbClr val="FFFF99"/>
              </a:solidFill>
              <a:ea typeface="宋体" pitchFamily="2" charset="-122"/>
            </a:endParaRPr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7848600" y="971550"/>
            <a:ext cx="0" cy="51435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6019800" y="2114550"/>
            <a:ext cx="914400" cy="342900"/>
            <a:chOff x="3792" y="1776"/>
            <a:chExt cx="576" cy="288"/>
          </a:xfrm>
        </p:grpSpPr>
        <p:sp>
          <p:nvSpPr>
            <p:cNvPr id="21556" name="Line 21"/>
            <p:cNvSpPr>
              <a:spLocks noChangeShapeType="1"/>
            </p:cNvSpPr>
            <p:nvPr/>
          </p:nvSpPr>
          <p:spPr bwMode="auto">
            <a:xfrm>
              <a:off x="3792" y="1776"/>
              <a:ext cx="0" cy="28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7" name="Line 22"/>
            <p:cNvSpPr>
              <a:spLocks noChangeShapeType="1"/>
            </p:cNvSpPr>
            <p:nvPr/>
          </p:nvSpPr>
          <p:spPr bwMode="auto">
            <a:xfrm>
              <a:off x="3936" y="1776"/>
              <a:ext cx="0" cy="28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8" name="Line 23"/>
            <p:cNvSpPr>
              <a:spLocks noChangeShapeType="1"/>
            </p:cNvSpPr>
            <p:nvPr/>
          </p:nvSpPr>
          <p:spPr bwMode="auto">
            <a:xfrm>
              <a:off x="4080" y="1776"/>
              <a:ext cx="0" cy="28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9" name="Line 24"/>
            <p:cNvSpPr>
              <a:spLocks noChangeShapeType="1"/>
            </p:cNvSpPr>
            <p:nvPr/>
          </p:nvSpPr>
          <p:spPr bwMode="auto">
            <a:xfrm>
              <a:off x="4224" y="1776"/>
              <a:ext cx="0" cy="28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0" name="Line 25"/>
            <p:cNvSpPr>
              <a:spLocks noChangeShapeType="1"/>
            </p:cNvSpPr>
            <p:nvPr/>
          </p:nvSpPr>
          <p:spPr bwMode="auto">
            <a:xfrm>
              <a:off x="4368" y="1776"/>
              <a:ext cx="0" cy="28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4138" name="Rectangle 26"/>
          <p:cNvSpPr>
            <a:spLocks noChangeArrowheads="1"/>
          </p:cNvSpPr>
          <p:nvPr/>
        </p:nvSpPr>
        <p:spPr bwMode="auto">
          <a:xfrm>
            <a:off x="567559" y="3598826"/>
            <a:ext cx="3138869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在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型衬底表面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形成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耗尽层。</a:t>
            </a:r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6019800" y="2114550"/>
            <a:ext cx="914400" cy="342900"/>
            <a:chOff x="3792" y="1776"/>
            <a:chExt cx="576" cy="288"/>
          </a:xfrm>
        </p:grpSpPr>
        <p:sp>
          <p:nvSpPr>
            <p:cNvPr id="21551" name="Line 32"/>
            <p:cNvSpPr>
              <a:spLocks noChangeShapeType="1"/>
            </p:cNvSpPr>
            <p:nvPr/>
          </p:nvSpPr>
          <p:spPr bwMode="auto">
            <a:xfrm>
              <a:off x="3792" y="1776"/>
              <a:ext cx="0" cy="288"/>
            </a:xfrm>
            <a:prstGeom prst="line">
              <a:avLst/>
            </a:prstGeom>
            <a:noFill/>
            <a:ln w="12700">
              <a:solidFill>
                <a:srgbClr val="FFFF99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2" name="Line 33"/>
            <p:cNvSpPr>
              <a:spLocks noChangeShapeType="1"/>
            </p:cNvSpPr>
            <p:nvPr/>
          </p:nvSpPr>
          <p:spPr bwMode="auto">
            <a:xfrm>
              <a:off x="3936" y="1776"/>
              <a:ext cx="0" cy="288"/>
            </a:xfrm>
            <a:prstGeom prst="line">
              <a:avLst/>
            </a:prstGeom>
            <a:noFill/>
            <a:ln w="12700">
              <a:solidFill>
                <a:srgbClr val="FFFF99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3" name="Line 34"/>
            <p:cNvSpPr>
              <a:spLocks noChangeShapeType="1"/>
            </p:cNvSpPr>
            <p:nvPr/>
          </p:nvSpPr>
          <p:spPr bwMode="auto">
            <a:xfrm>
              <a:off x="4080" y="1776"/>
              <a:ext cx="0" cy="288"/>
            </a:xfrm>
            <a:prstGeom prst="line">
              <a:avLst/>
            </a:prstGeom>
            <a:noFill/>
            <a:ln w="12700">
              <a:solidFill>
                <a:srgbClr val="FFFF99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4" name="Line 35"/>
            <p:cNvSpPr>
              <a:spLocks noChangeShapeType="1"/>
            </p:cNvSpPr>
            <p:nvPr/>
          </p:nvSpPr>
          <p:spPr bwMode="auto">
            <a:xfrm>
              <a:off x="4224" y="1776"/>
              <a:ext cx="0" cy="288"/>
            </a:xfrm>
            <a:prstGeom prst="line">
              <a:avLst/>
            </a:prstGeom>
            <a:noFill/>
            <a:ln w="12700">
              <a:solidFill>
                <a:srgbClr val="FFFF99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5" name="Line 36"/>
            <p:cNvSpPr>
              <a:spLocks noChangeShapeType="1"/>
            </p:cNvSpPr>
            <p:nvPr/>
          </p:nvSpPr>
          <p:spPr bwMode="auto">
            <a:xfrm>
              <a:off x="4368" y="1776"/>
              <a:ext cx="0" cy="288"/>
            </a:xfrm>
            <a:prstGeom prst="line">
              <a:avLst/>
            </a:prstGeom>
            <a:noFill/>
            <a:ln w="12700">
              <a:solidFill>
                <a:srgbClr val="FFFF99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30" name="Oval 37"/>
          <p:cNvSpPr>
            <a:spLocks noChangeArrowheads="1"/>
          </p:cNvSpPr>
          <p:nvPr/>
        </p:nvSpPr>
        <p:spPr bwMode="auto">
          <a:xfrm>
            <a:off x="6530975" y="4057650"/>
            <a:ext cx="76200" cy="57150"/>
          </a:xfrm>
          <a:prstGeom prst="ellipse">
            <a:avLst/>
          </a:prstGeom>
          <a:solidFill>
            <a:srgbClr val="FFCC66"/>
          </a:solidFill>
          <a:ln w="9525">
            <a:round/>
            <a:headEnd/>
            <a:tailEnd/>
          </a:ln>
          <a:scene3d>
            <a:camera prst="legacyObliqueFront"/>
            <a:lightRig rig="legacyFlat1" dir="t"/>
          </a:scene3d>
          <a:sp3d prstMaterial="legacyMetal">
            <a:bevelT w="13500" h="13500" prst="angle"/>
            <a:bevelB w="13500" h="13500" prst="angle"/>
            <a:extrusionClr>
              <a:srgbClr val="FFCC66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21531" name="Oval 38"/>
          <p:cNvSpPr>
            <a:spLocks noChangeArrowheads="1"/>
          </p:cNvSpPr>
          <p:nvPr/>
        </p:nvSpPr>
        <p:spPr bwMode="auto">
          <a:xfrm>
            <a:off x="5410200" y="971550"/>
            <a:ext cx="76200" cy="5715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2" name="Rectangle 43"/>
          <p:cNvSpPr>
            <a:spLocks noChangeArrowheads="1"/>
          </p:cNvSpPr>
          <p:nvPr/>
        </p:nvSpPr>
        <p:spPr bwMode="auto">
          <a:xfrm>
            <a:off x="4768850" y="2924175"/>
            <a:ext cx="1511300" cy="219075"/>
          </a:xfrm>
          <a:prstGeom prst="rect">
            <a:avLst/>
          </a:prstGeom>
          <a:solidFill>
            <a:srgbClr val="4399B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3" name="Rectangle 44"/>
          <p:cNvSpPr>
            <a:spLocks noChangeArrowheads="1"/>
          </p:cNvSpPr>
          <p:nvPr/>
        </p:nvSpPr>
        <p:spPr bwMode="auto">
          <a:xfrm>
            <a:off x="6765925" y="2917031"/>
            <a:ext cx="1474788" cy="219075"/>
          </a:xfrm>
          <a:prstGeom prst="rect">
            <a:avLst/>
          </a:prstGeom>
          <a:solidFill>
            <a:srgbClr val="4399B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4" name="Rectangle 45"/>
          <p:cNvSpPr>
            <a:spLocks noChangeArrowheads="1"/>
          </p:cNvSpPr>
          <p:nvPr/>
        </p:nvSpPr>
        <p:spPr bwMode="auto">
          <a:xfrm>
            <a:off x="6734175" y="2468166"/>
            <a:ext cx="230188" cy="625078"/>
          </a:xfrm>
          <a:prstGeom prst="rect">
            <a:avLst/>
          </a:prstGeom>
          <a:solidFill>
            <a:srgbClr val="4399B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5" name="Rectangle 46"/>
          <p:cNvSpPr>
            <a:spLocks noChangeArrowheads="1"/>
          </p:cNvSpPr>
          <p:nvPr/>
        </p:nvSpPr>
        <p:spPr bwMode="auto">
          <a:xfrm>
            <a:off x="8029576" y="2483644"/>
            <a:ext cx="168275" cy="454819"/>
          </a:xfrm>
          <a:prstGeom prst="rect">
            <a:avLst/>
          </a:prstGeom>
          <a:solidFill>
            <a:srgbClr val="4399B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6" name="Rectangle 47"/>
          <p:cNvSpPr>
            <a:spLocks noChangeArrowheads="1"/>
          </p:cNvSpPr>
          <p:nvPr/>
        </p:nvSpPr>
        <p:spPr bwMode="auto">
          <a:xfrm>
            <a:off x="6019800" y="2493169"/>
            <a:ext cx="247650" cy="454819"/>
          </a:xfrm>
          <a:prstGeom prst="rect">
            <a:avLst/>
          </a:prstGeom>
          <a:solidFill>
            <a:srgbClr val="4399B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7" name="Rectangle 48"/>
          <p:cNvSpPr>
            <a:spLocks noChangeArrowheads="1"/>
          </p:cNvSpPr>
          <p:nvPr/>
        </p:nvSpPr>
        <p:spPr bwMode="auto">
          <a:xfrm>
            <a:off x="4743450" y="2471738"/>
            <a:ext cx="273050" cy="650081"/>
          </a:xfrm>
          <a:prstGeom prst="rect">
            <a:avLst/>
          </a:prstGeom>
          <a:solidFill>
            <a:srgbClr val="4399B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4832350" y="2481262"/>
            <a:ext cx="3360738" cy="604838"/>
            <a:chOff x="3044" y="2084"/>
            <a:chExt cx="2117" cy="508"/>
          </a:xfrm>
        </p:grpSpPr>
        <p:sp>
          <p:nvSpPr>
            <p:cNvPr id="21545" name="Rectangle 50"/>
            <p:cNvSpPr>
              <a:spLocks noChangeArrowheads="1"/>
            </p:cNvSpPr>
            <p:nvPr/>
          </p:nvSpPr>
          <p:spPr bwMode="auto">
            <a:xfrm>
              <a:off x="4268" y="2448"/>
              <a:ext cx="893" cy="144"/>
            </a:xfrm>
            <a:prstGeom prst="rect">
              <a:avLst/>
            </a:prstGeom>
            <a:solidFill>
              <a:srgbClr val="C412E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6" name="Rectangle 51"/>
            <p:cNvSpPr>
              <a:spLocks noChangeArrowheads="1"/>
            </p:cNvSpPr>
            <p:nvPr/>
          </p:nvSpPr>
          <p:spPr bwMode="auto">
            <a:xfrm>
              <a:off x="5054" y="2084"/>
              <a:ext cx="106" cy="382"/>
            </a:xfrm>
            <a:prstGeom prst="rect">
              <a:avLst/>
            </a:prstGeom>
            <a:solidFill>
              <a:srgbClr val="C412E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7" name="Rectangle 52"/>
            <p:cNvSpPr>
              <a:spLocks noChangeArrowheads="1"/>
            </p:cNvSpPr>
            <p:nvPr/>
          </p:nvSpPr>
          <p:spPr bwMode="auto">
            <a:xfrm>
              <a:off x="4272" y="2084"/>
              <a:ext cx="129" cy="430"/>
            </a:xfrm>
            <a:prstGeom prst="rect">
              <a:avLst/>
            </a:prstGeom>
            <a:solidFill>
              <a:srgbClr val="C412E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8" name="Rectangle 53"/>
            <p:cNvSpPr>
              <a:spLocks noChangeArrowheads="1"/>
            </p:cNvSpPr>
            <p:nvPr/>
          </p:nvSpPr>
          <p:spPr bwMode="auto">
            <a:xfrm>
              <a:off x="3792" y="2092"/>
              <a:ext cx="156" cy="382"/>
            </a:xfrm>
            <a:prstGeom prst="rect">
              <a:avLst/>
            </a:prstGeom>
            <a:solidFill>
              <a:srgbClr val="C412E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9" name="Rectangle 54"/>
            <p:cNvSpPr>
              <a:spLocks noChangeArrowheads="1"/>
            </p:cNvSpPr>
            <p:nvPr/>
          </p:nvSpPr>
          <p:spPr bwMode="auto">
            <a:xfrm>
              <a:off x="3044" y="2448"/>
              <a:ext cx="904" cy="144"/>
            </a:xfrm>
            <a:prstGeom prst="rect">
              <a:avLst/>
            </a:prstGeom>
            <a:solidFill>
              <a:srgbClr val="C412E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0" name="Rectangle 55"/>
            <p:cNvSpPr>
              <a:spLocks noChangeArrowheads="1"/>
            </p:cNvSpPr>
            <p:nvPr/>
          </p:nvSpPr>
          <p:spPr bwMode="auto">
            <a:xfrm>
              <a:off x="3044" y="2084"/>
              <a:ext cx="156" cy="382"/>
            </a:xfrm>
            <a:prstGeom prst="rect">
              <a:avLst/>
            </a:prstGeom>
            <a:solidFill>
              <a:srgbClr val="C412E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8" name="直角三角形 57"/>
          <p:cNvSpPr>
            <a:spLocks noChangeArrowheads="1"/>
          </p:cNvSpPr>
          <p:nvPr/>
        </p:nvSpPr>
        <p:spPr bwMode="auto">
          <a:xfrm flipV="1">
            <a:off x="6181725" y="2493169"/>
            <a:ext cx="590550" cy="64294"/>
          </a:xfrm>
          <a:prstGeom prst="rtTriangle">
            <a:avLst/>
          </a:prstGeom>
          <a:solidFill>
            <a:srgbClr val="CC3399"/>
          </a:solidFill>
          <a:ln w="44450" algn="ctr">
            <a:solidFill>
              <a:srgbClr val="CC3399"/>
            </a:solidFill>
            <a:round/>
            <a:headEnd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4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4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5" grpId="0" autoUpdateAnimBg="0"/>
      <p:bldP spid="474138" grpId="0" autoUpdateAnimBg="0"/>
      <p:bldP spid="5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57675" y="735806"/>
            <a:ext cx="4886325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63" name="Text Box 4"/>
          <p:cNvSpPr txBox="1">
            <a:spLocks noChangeArrowheads="1"/>
          </p:cNvSpPr>
          <p:nvPr/>
        </p:nvSpPr>
        <p:spPr bwMode="auto">
          <a:xfrm>
            <a:off x="673703" y="651722"/>
            <a:ext cx="2743200" cy="514925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wrap="none" anchor="ctr"/>
          <a:lstStyle/>
          <a:p>
            <a:pPr algn="ctr"/>
            <a:r>
              <a:rPr lang="en-US" altLang="zh-CN" sz="2800" dirty="0">
                <a:solidFill>
                  <a:srgbClr val="C00000"/>
                </a:solidFill>
              </a:rPr>
              <a:t>(c) </a:t>
            </a:r>
            <a:r>
              <a:rPr lang="en-US" altLang="zh-CN" sz="2800" i="1" dirty="0">
                <a:solidFill>
                  <a:srgbClr val="C00000"/>
                </a:solidFill>
              </a:rPr>
              <a:t>U</a:t>
            </a:r>
            <a:r>
              <a:rPr lang="en-US" altLang="zh-CN" sz="2800" baseline="-25000" dirty="0">
                <a:solidFill>
                  <a:srgbClr val="C00000"/>
                </a:solidFill>
              </a:rPr>
              <a:t>GS</a:t>
            </a:r>
            <a:r>
              <a:rPr lang="en-US" altLang="zh-CN" sz="2800" dirty="0">
                <a:solidFill>
                  <a:srgbClr val="C00000"/>
                </a:solidFill>
              </a:rPr>
              <a:t> &gt;</a:t>
            </a:r>
            <a:r>
              <a:rPr lang="en-US" altLang="zh-CN" sz="2800" i="1" dirty="0">
                <a:solidFill>
                  <a:srgbClr val="C00000"/>
                </a:solidFill>
              </a:rPr>
              <a:t>U</a:t>
            </a:r>
            <a:r>
              <a:rPr lang="en-US" altLang="zh-CN" sz="2800" baseline="-25000" dirty="0">
                <a:solidFill>
                  <a:srgbClr val="C00000"/>
                </a:solidFill>
              </a:rPr>
              <a:t>GS(</a:t>
            </a:r>
            <a:r>
              <a:rPr lang="en-US" altLang="zh-CN" sz="2800" baseline="-25000" dirty="0" err="1">
                <a:solidFill>
                  <a:srgbClr val="C00000"/>
                </a:solidFill>
              </a:rPr>
              <a:t>th</a:t>
            </a:r>
            <a:r>
              <a:rPr lang="en-US" altLang="zh-CN" sz="2800" baseline="-25000" dirty="0">
                <a:solidFill>
                  <a:srgbClr val="C00000"/>
                </a:solidFill>
              </a:rPr>
              <a:t>)</a:t>
            </a:r>
            <a:endParaRPr lang="en-US" altLang="zh-CN" sz="2800" dirty="0">
              <a:solidFill>
                <a:srgbClr val="C00000"/>
              </a:solidFill>
            </a:endParaRPr>
          </a:p>
        </p:txBody>
      </p:sp>
      <p:sp>
        <p:nvSpPr>
          <p:cNvPr id="475141" name="Rectangle 5"/>
          <p:cNvSpPr>
            <a:spLocks noChangeArrowheads="1"/>
          </p:cNvSpPr>
          <p:nvPr/>
        </p:nvSpPr>
        <p:spPr bwMode="auto">
          <a:xfrm>
            <a:off x="380999" y="1314450"/>
            <a:ext cx="3675994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栅极下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型半导体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表面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形成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型导电沟道。</a:t>
            </a:r>
          </a:p>
        </p:txBody>
      </p:sp>
      <p:sp>
        <p:nvSpPr>
          <p:cNvPr id="475142" name="Rectangle 6"/>
          <p:cNvSpPr>
            <a:spLocks noChangeArrowheads="1"/>
          </p:cNvSpPr>
          <p:nvPr/>
        </p:nvSpPr>
        <p:spPr bwMode="auto">
          <a:xfrm>
            <a:off x="381000" y="2457450"/>
            <a:ext cx="3429000" cy="1599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当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D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S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加上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正向电压后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可产生漏极电流</a:t>
            </a:r>
            <a:r>
              <a:rPr lang="en-US" altLang="zh-CN" sz="28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D 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。 </a:t>
            </a:r>
          </a:p>
        </p:txBody>
      </p:sp>
      <p:pic>
        <p:nvPicPr>
          <p:cNvPr id="2066" name="Picture 7" descr="JB00080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87821" y="4060196"/>
            <a:ext cx="914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5146" name="Rectangle 10"/>
          <p:cNvSpPr>
            <a:spLocks noChangeArrowheads="1"/>
          </p:cNvSpPr>
          <p:nvPr/>
        </p:nvSpPr>
        <p:spPr bwMode="auto">
          <a:xfrm>
            <a:off x="6375400" y="2620566"/>
            <a:ext cx="979488" cy="114300"/>
          </a:xfrm>
          <a:prstGeom prst="rect">
            <a:avLst/>
          </a:prstGeom>
          <a:solidFill>
            <a:srgbClr val="CC00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50" name="Object 11"/>
          <p:cNvGraphicFramePr>
            <a:graphicFrameLocks noChangeAspect="1"/>
          </p:cNvGraphicFramePr>
          <p:nvPr/>
        </p:nvGraphicFramePr>
        <p:xfrm>
          <a:off x="5105401" y="2800350"/>
          <a:ext cx="144463" cy="114300"/>
        </p:xfrm>
        <a:graphic>
          <a:graphicData uri="http://schemas.openxmlformats.org/presentationml/2006/ole">
            <p:oleObj spid="_x0000_s30722" name="CorelDRAW" r:id="rId5" imgW="651960" imgH="686880" progId="">
              <p:embed/>
            </p:oleObj>
          </a:graphicData>
        </a:graphic>
      </p:graphicFrame>
      <p:graphicFrame>
        <p:nvGraphicFramePr>
          <p:cNvPr id="2051" name="Object 12"/>
          <p:cNvGraphicFramePr>
            <a:graphicFrameLocks noChangeAspect="1"/>
          </p:cNvGraphicFramePr>
          <p:nvPr/>
        </p:nvGraphicFramePr>
        <p:xfrm>
          <a:off x="8001001" y="2800350"/>
          <a:ext cx="144463" cy="114300"/>
        </p:xfrm>
        <a:graphic>
          <a:graphicData uri="http://schemas.openxmlformats.org/presentationml/2006/ole">
            <p:oleObj spid="_x0000_s30723" name="CorelDRAW" r:id="rId6" imgW="651960" imgH="686880" progId="">
              <p:embed/>
            </p:oleObj>
          </a:graphicData>
        </a:graphic>
      </p:graphicFrame>
      <p:graphicFrame>
        <p:nvGraphicFramePr>
          <p:cNvPr id="2052" name="Object 13"/>
          <p:cNvGraphicFramePr>
            <a:graphicFrameLocks noChangeAspect="1"/>
          </p:cNvGraphicFramePr>
          <p:nvPr/>
        </p:nvGraphicFramePr>
        <p:xfrm>
          <a:off x="5257801" y="2514600"/>
          <a:ext cx="144463" cy="114300"/>
        </p:xfrm>
        <a:graphic>
          <a:graphicData uri="http://schemas.openxmlformats.org/presentationml/2006/ole">
            <p:oleObj spid="_x0000_s30724" name="CorelDRAW" r:id="rId7" imgW="651960" imgH="686880" progId="">
              <p:embed/>
            </p:oleObj>
          </a:graphicData>
        </a:graphic>
      </p:graphicFrame>
      <p:graphicFrame>
        <p:nvGraphicFramePr>
          <p:cNvPr id="2053" name="Object 14"/>
          <p:cNvGraphicFramePr>
            <a:graphicFrameLocks noChangeAspect="1"/>
          </p:cNvGraphicFramePr>
          <p:nvPr/>
        </p:nvGraphicFramePr>
        <p:xfrm>
          <a:off x="5867401" y="2743200"/>
          <a:ext cx="144463" cy="114300"/>
        </p:xfrm>
        <a:graphic>
          <a:graphicData uri="http://schemas.openxmlformats.org/presentationml/2006/ole">
            <p:oleObj spid="_x0000_s30725" name="CorelDRAW" r:id="rId8" imgW="651960" imgH="686880" progId="">
              <p:embed/>
            </p:oleObj>
          </a:graphicData>
        </a:graphic>
      </p:graphicFrame>
      <p:graphicFrame>
        <p:nvGraphicFramePr>
          <p:cNvPr id="2054" name="Object 15"/>
          <p:cNvGraphicFramePr>
            <a:graphicFrameLocks noChangeAspect="1"/>
          </p:cNvGraphicFramePr>
          <p:nvPr/>
        </p:nvGraphicFramePr>
        <p:xfrm>
          <a:off x="5486401" y="2514600"/>
          <a:ext cx="144463" cy="114300"/>
        </p:xfrm>
        <a:graphic>
          <a:graphicData uri="http://schemas.openxmlformats.org/presentationml/2006/ole">
            <p:oleObj spid="_x0000_s30726" name="CorelDRAW" r:id="rId9" imgW="651960" imgH="686880" progId="">
              <p:embed/>
            </p:oleObj>
          </a:graphicData>
        </a:graphic>
      </p:graphicFrame>
      <p:graphicFrame>
        <p:nvGraphicFramePr>
          <p:cNvPr id="2055" name="Object 16"/>
          <p:cNvGraphicFramePr>
            <a:graphicFrameLocks noChangeAspect="1"/>
          </p:cNvGraphicFramePr>
          <p:nvPr/>
        </p:nvGraphicFramePr>
        <p:xfrm>
          <a:off x="7475538" y="2514600"/>
          <a:ext cx="144462" cy="114300"/>
        </p:xfrm>
        <a:graphic>
          <a:graphicData uri="http://schemas.openxmlformats.org/presentationml/2006/ole">
            <p:oleObj spid="_x0000_s30727" name="CorelDRAW" r:id="rId10" imgW="651960" imgH="686880" progId="">
              <p:embed/>
            </p:oleObj>
          </a:graphicData>
        </a:graphic>
      </p:graphicFrame>
      <p:graphicFrame>
        <p:nvGraphicFramePr>
          <p:cNvPr id="2056" name="Object 17"/>
          <p:cNvGraphicFramePr>
            <a:graphicFrameLocks noChangeAspect="1"/>
          </p:cNvGraphicFramePr>
          <p:nvPr/>
        </p:nvGraphicFramePr>
        <p:xfrm>
          <a:off x="7467601" y="2743200"/>
          <a:ext cx="144463" cy="114300"/>
        </p:xfrm>
        <a:graphic>
          <a:graphicData uri="http://schemas.openxmlformats.org/presentationml/2006/ole">
            <p:oleObj spid="_x0000_s30728" name="CorelDRAW" r:id="rId11" imgW="651960" imgH="686880" progId="">
              <p:embed/>
            </p:oleObj>
          </a:graphicData>
        </a:graphic>
      </p:graphicFrame>
      <p:graphicFrame>
        <p:nvGraphicFramePr>
          <p:cNvPr id="2057" name="Object 18"/>
          <p:cNvGraphicFramePr>
            <a:graphicFrameLocks noChangeAspect="1"/>
          </p:cNvGraphicFramePr>
          <p:nvPr/>
        </p:nvGraphicFramePr>
        <p:xfrm>
          <a:off x="8077201" y="2514600"/>
          <a:ext cx="144463" cy="114300"/>
        </p:xfrm>
        <a:graphic>
          <a:graphicData uri="http://schemas.openxmlformats.org/presentationml/2006/ole">
            <p:oleObj spid="_x0000_s30729" name="CorelDRAW" r:id="rId12" imgW="651960" imgH="686880" progId="">
              <p:embed/>
            </p:oleObj>
          </a:graphicData>
        </a:graphic>
      </p:graphicFrame>
      <p:sp>
        <p:nvSpPr>
          <p:cNvPr id="2068" name="Text Box 19"/>
          <p:cNvSpPr txBox="1">
            <a:spLocks noChangeArrowheads="1"/>
          </p:cNvSpPr>
          <p:nvPr/>
        </p:nvSpPr>
        <p:spPr bwMode="auto">
          <a:xfrm>
            <a:off x="5334000" y="2628900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lang="en-US" altLang="zh-CN" sz="2400" baseline="30000">
                <a:solidFill>
                  <a:schemeClr val="tx1"/>
                </a:solidFill>
                <a:ea typeface="宋体" pitchFamily="2" charset="-122"/>
              </a:rPr>
              <a:t>+</a:t>
            </a:r>
          </a:p>
        </p:txBody>
      </p:sp>
      <p:sp>
        <p:nvSpPr>
          <p:cNvPr id="2069" name="Text Box 20"/>
          <p:cNvSpPr txBox="1">
            <a:spLocks noChangeArrowheads="1"/>
          </p:cNvSpPr>
          <p:nvPr/>
        </p:nvSpPr>
        <p:spPr bwMode="auto">
          <a:xfrm>
            <a:off x="7556500" y="2571750"/>
            <a:ext cx="522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lang="en-US" altLang="zh-CN" sz="2400" baseline="30000">
                <a:solidFill>
                  <a:schemeClr val="tx1"/>
                </a:solidFill>
                <a:ea typeface="宋体" pitchFamily="2" charset="-122"/>
              </a:rPr>
              <a:t>+</a:t>
            </a:r>
          </a:p>
        </p:txBody>
      </p:sp>
      <p:sp>
        <p:nvSpPr>
          <p:cNvPr id="2070" name="Text Box 21"/>
          <p:cNvSpPr txBox="1">
            <a:spLocks noChangeArrowheads="1"/>
          </p:cNvSpPr>
          <p:nvPr/>
        </p:nvSpPr>
        <p:spPr bwMode="auto">
          <a:xfrm>
            <a:off x="3657600" y="1828801"/>
            <a:ext cx="6703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</a:rPr>
              <a:t>SiO</a:t>
            </a:r>
            <a:r>
              <a:rPr lang="en-US" altLang="zh-CN" sz="2000" baseline="-25000" dirty="0">
                <a:solidFill>
                  <a:schemeClr val="tx1"/>
                </a:solidFill>
                <a:ea typeface="宋体" pitchFamily="2" charset="-122"/>
              </a:rPr>
              <a:t>2</a:t>
            </a:r>
          </a:p>
        </p:txBody>
      </p:sp>
      <p:sp>
        <p:nvSpPr>
          <p:cNvPr id="2071" name="Line 22"/>
          <p:cNvSpPr>
            <a:spLocks noChangeShapeType="1"/>
          </p:cNvSpPr>
          <p:nvPr/>
        </p:nvSpPr>
        <p:spPr bwMode="auto">
          <a:xfrm>
            <a:off x="4267200" y="2057400"/>
            <a:ext cx="609600" cy="228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72" name="Text Box 23"/>
          <p:cNvSpPr txBox="1">
            <a:spLocks noChangeArrowheads="1"/>
          </p:cNvSpPr>
          <p:nvPr/>
        </p:nvSpPr>
        <p:spPr bwMode="auto">
          <a:xfrm>
            <a:off x="6324600" y="1531144"/>
            <a:ext cx="609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FFFF99"/>
                </a:solidFill>
                <a:ea typeface="宋体" pitchFamily="2" charset="-122"/>
              </a:rPr>
              <a:t>G</a:t>
            </a:r>
          </a:p>
        </p:txBody>
      </p:sp>
      <p:sp>
        <p:nvSpPr>
          <p:cNvPr id="2073" name="Text Box 24"/>
          <p:cNvSpPr txBox="1">
            <a:spLocks noChangeArrowheads="1"/>
          </p:cNvSpPr>
          <p:nvPr/>
        </p:nvSpPr>
        <p:spPr bwMode="auto">
          <a:xfrm>
            <a:off x="7632700" y="1531144"/>
            <a:ext cx="3706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>
                <a:solidFill>
                  <a:srgbClr val="FFFF99"/>
                </a:solidFill>
                <a:ea typeface="宋体" pitchFamily="2" charset="-122"/>
              </a:rPr>
              <a:t>D</a:t>
            </a:r>
          </a:p>
        </p:txBody>
      </p:sp>
      <p:sp>
        <p:nvSpPr>
          <p:cNvPr id="2074" name="Text Box 25"/>
          <p:cNvSpPr txBox="1">
            <a:spLocks noChangeArrowheads="1"/>
          </p:cNvSpPr>
          <p:nvPr/>
        </p:nvSpPr>
        <p:spPr bwMode="auto">
          <a:xfrm>
            <a:off x="5105400" y="1531144"/>
            <a:ext cx="533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FFFF99"/>
                </a:solidFill>
                <a:ea typeface="宋体" pitchFamily="2" charset="-122"/>
              </a:rPr>
              <a:t>S</a:t>
            </a:r>
          </a:p>
        </p:txBody>
      </p:sp>
      <p:sp>
        <p:nvSpPr>
          <p:cNvPr id="2075" name="Text Box 26"/>
          <p:cNvSpPr txBox="1">
            <a:spLocks noChangeArrowheads="1"/>
          </p:cNvSpPr>
          <p:nvPr/>
        </p:nvSpPr>
        <p:spPr bwMode="auto">
          <a:xfrm>
            <a:off x="4643438" y="3219451"/>
            <a:ext cx="95891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solidFill>
                  <a:srgbClr val="FFCC66"/>
                </a:solidFill>
              </a:rPr>
              <a:t>耗尽层</a:t>
            </a:r>
          </a:p>
        </p:txBody>
      </p:sp>
      <p:sp>
        <p:nvSpPr>
          <p:cNvPr id="2076" name="Line 27"/>
          <p:cNvSpPr>
            <a:spLocks noChangeShapeType="1"/>
          </p:cNvSpPr>
          <p:nvPr/>
        </p:nvSpPr>
        <p:spPr bwMode="auto">
          <a:xfrm flipV="1">
            <a:off x="5410200" y="2971800"/>
            <a:ext cx="609600" cy="3429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77" name="Rectangle 28"/>
          <p:cNvSpPr>
            <a:spLocks noChangeArrowheads="1"/>
          </p:cNvSpPr>
          <p:nvPr/>
        </p:nvSpPr>
        <p:spPr bwMode="auto">
          <a:xfrm>
            <a:off x="6781800" y="3951685"/>
            <a:ext cx="3898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>
                <a:solidFill>
                  <a:srgbClr val="FFCC66"/>
                </a:solidFill>
                <a:ea typeface="宋体" pitchFamily="2" charset="-122"/>
              </a:rPr>
              <a:t>B</a:t>
            </a:r>
          </a:p>
        </p:txBody>
      </p:sp>
      <p:sp>
        <p:nvSpPr>
          <p:cNvPr id="2078" name="Text Box 29"/>
          <p:cNvSpPr txBox="1">
            <a:spLocks noChangeArrowheads="1"/>
          </p:cNvSpPr>
          <p:nvPr/>
        </p:nvSpPr>
        <p:spPr bwMode="auto">
          <a:xfrm>
            <a:off x="6372225" y="3489723"/>
            <a:ext cx="13468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>
                <a:solidFill>
                  <a:srgbClr val="FFCC66"/>
                </a:solidFill>
                <a:latin typeface="幼圆" pitchFamily="49" charset="-122"/>
              </a:rPr>
              <a:t>P</a:t>
            </a:r>
            <a:r>
              <a:rPr lang="zh-CN" altLang="en-US" sz="2000">
                <a:solidFill>
                  <a:srgbClr val="FFCC66"/>
                </a:solidFill>
                <a:latin typeface="幼圆" pitchFamily="49" charset="-122"/>
              </a:rPr>
              <a:t>型硅衬底</a:t>
            </a:r>
          </a:p>
        </p:txBody>
      </p:sp>
      <p:sp>
        <p:nvSpPr>
          <p:cNvPr id="2079" name="Text Box 30"/>
          <p:cNvSpPr txBox="1">
            <a:spLocks noChangeArrowheads="1"/>
          </p:cNvSpPr>
          <p:nvPr/>
        </p:nvSpPr>
        <p:spPr bwMode="auto">
          <a:xfrm>
            <a:off x="5795963" y="897731"/>
            <a:ext cx="792162" cy="461665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en-US" altLang="zh-CN" sz="2400" i="1">
                <a:solidFill>
                  <a:srgbClr val="FFFF99"/>
                </a:solidFill>
                <a:ea typeface="宋体" pitchFamily="2" charset="-122"/>
              </a:rPr>
              <a:t>U</a:t>
            </a:r>
            <a:r>
              <a:rPr lang="en-US" altLang="zh-CN" sz="2400" baseline="-25000">
                <a:solidFill>
                  <a:srgbClr val="FFFF99"/>
                </a:solidFill>
                <a:ea typeface="宋体" pitchFamily="2" charset="-122"/>
              </a:rPr>
              <a:t>GS</a:t>
            </a:r>
            <a:endParaRPr lang="en-US" altLang="zh-CN" sz="2400">
              <a:solidFill>
                <a:srgbClr val="FFFF99"/>
              </a:solidFill>
              <a:ea typeface="宋体" pitchFamily="2" charset="-122"/>
            </a:endParaRPr>
          </a:p>
        </p:txBody>
      </p:sp>
      <p:graphicFrame>
        <p:nvGraphicFramePr>
          <p:cNvPr id="475169" name="Object 33"/>
          <p:cNvGraphicFramePr>
            <a:graphicFrameLocks/>
          </p:cNvGraphicFramePr>
          <p:nvPr/>
        </p:nvGraphicFramePr>
        <p:xfrm>
          <a:off x="6400801" y="2727723"/>
          <a:ext cx="633413" cy="129778"/>
        </p:xfrm>
        <a:graphic>
          <a:graphicData uri="http://schemas.openxmlformats.org/presentationml/2006/ole">
            <p:oleObj spid="_x0000_s30730" name="CorelDRAW" r:id="rId13" imgW="2734560" imgH="721440" progId="">
              <p:embed/>
            </p:oleObj>
          </a:graphicData>
        </a:graphic>
      </p:graphicFrame>
      <p:graphicFrame>
        <p:nvGraphicFramePr>
          <p:cNvPr id="475170" name="Object 34"/>
          <p:cNvGraphicFramePr>
            <a:graphicFrameLocks/>
          </p:cNvGraphicFramePr>
          <p:nvPr/>
        </p:nvGraphicFramePr>
        <p:xfrm>
          <a:off x="6400801" y="2956323"/>
          <a:ext cx="633413" cy="129778"/>
        </p:xfrm>
        <a:graphic>
          <a:graphicData uri="http://schemas.openxmlformats.org/presentationml/2006/ole">
            <p:oleObj spid="_x0000_s30731" name="CorelDRAW" r:id="rId14" imgW="2734560" imgH="721440" progId="">
              <p:embed/>
            </p:oleObj>
          </a:graphicData>
        </a:graphic>
      </p:graphicFrame>
      <p:graphicFrame>
        <p:nvGraphicFramePr>
          <p:cNvPr id="2060" name="Object 35"/>
          <p:cNvGraphicFramePr>
            <a:graphicFrameLocks/>
          </p:cNvGraphicFramePr>
          <p:nvPr/>
        </p:nvGraphicFramePr>
        <p:xfrm>
          <a:off x="6400801" y="3200400"/>
          <a:ext cx="633413" cy="129779"/>
        </p:xfrm>
        <a:graphic>
          <a:graphicData uri="http://schemas.openxmlformats.org/presentationml/2006/ole">
            <p:oleObj spid="_x0000_s30732" name="CorelDRAW" r:id="rId15" imgW="2734560" imgH="721440" progId="">
              <p:embed/>
            </p:oleObj>
          </a:graphicData>
        </a:graphic>
      </p:graphicFrame>
      <p:sp>
        <p:nvSpPr>
          <p:cNvPr id="475172" name="AutoShape 36"/>
          <p:cNvSpPr>
            <a:spLocks noChangeArrowheads="1"/>
          </p:cNvSpPr>
          <p:nvPr/>
        </p:nvSpPr>
        <p:spPr bwMode="auto">
          <a:xfrm>
            <a:off x="6629400" y="2171700"/>
            <a:ext cx="1371600" cy="228600"/>
          </a:xfrm>
          <a:prstGeom prst="wedgeRectCallout">
            <a:avLst>
              <a:gd name="adj1" fmla="val -42014"/>
              <a:gd name="adj2" fmla="val 105208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1600" b="0">
                <a:solidFill>
                  <a:schemeClr val="tx1"/>
                </a:solidFill>
                <a:ea typeface="方正大黑简体" pitchFamily="2" charset="-122"/>
              </a:rPr>
              <a:t>N</a:t>
            </a:r>
            <a:r>
              <a:rPr kumimoji="0" lang="zh-CN" altLang="en-US" sz="1600" b="0">
                <a:solidFill>
                  <a:schemeClr val="tx1"/>
                </a:solidFill>
                <a:latin typeface="MingLiU" pitchFamily="49" charset="-120"/>
                <a:ea typeface="MingLiU" pitchFamily="49" charset="-120"/>
              </a:rPr>
              <a:t>型导电沟道</a:t>
            </a:r>
          </a:p>
        </p:txBody>
      </p:sp>
      <p:sp>
        <p:nvSpPr>
          <p:cNvPr id="475173" name="Line 37"/>
          <p:cNvSpPr>
            <a:spLocks noChangeShapeType="1"/>
          </p:cNvSpPr>
          <p:nvPr/>
        </p:nvSpPr>
        <p:spPr bwMode="auto">
          <a:xfrm>
            <a:off x="8153400" y="914401"/>
            <a:ext cx="19050" cy="469106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5174" name="Rectangle 38"/>
          <p:cNvSpPr>
            <a:spLocks noChangeArrowheads="1"/>
          </p:cNvSpPr>
          <p:nvPr/>
        </p:nvSpPr>
        <p:spPr bwMode="auto">
          <a:xfrm>
            <a:off x="8153400" y="1006079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i="1">
                <a:solidFill>
                  <a:srgbClr val="FFFF99"/>
                </a:solidFill>
                <a:ea typeface="方正琥珀繁体" pitchFamily="2" charset="-122"/>
              </a:rPr>
              <a:t>I</a:t>
            </a:r>
            <a:r>
              <a:rPr lang="en-US" altLang="zh-CN" sz="2400" baseline="-25000">
                <a:solidFill>
                  <a:srgbClr val="FFFF99"/>
                </a:solidFill>
                <a:ea typeface="方正琥珀繁体" pitchFamily="2" charset="-122"/>
              </a:rPr>
              <a:t>D</a:t>
            </a:r>
          </a:p>
        </p:txBody>
      </p:sp>
      <p:sp>
        <p:nvSpPr>
          <p:cNvPr id="475175" name="Rectangle 39"/>
          <p:cNvSpPr>
            <a:spLocks noChangeArrowheads="1"/>
          </p:cNvSpPr>
          <p:nvPr/>
        </p:nvSpPr>
        <p:spPr bwMode="auto">
          <a:xfrm>
            <a:off x="6400800" y="3200400"/>
            <a:ext cx="685800" cy="171450"/>
          </a:xfrm>
          <a:prstGeom prst="rect">
            <a:avLst/>
          </a:prstGeom>
          <a:solidFill>
            <a:srgbClr val="1D9CAD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4" name="直角三角形 54"/>
          <p:cNvSpPr>
            <a:spLocks noChangeArrowheads="1"/>
          </p:cNvSpPr>
          <p:nvPr/>
        </p:nvSpPr>
        <p:spPr bwMode="auto">
          <a:xfrm flipV="1">
            <a:off x="6581775" y="2493169"/>
            <a:ext cx="590550" cy="64294"/>
          </a:xfrm>
          <a:prstGeom prst="rtTriangle">
            <a:avLst/>
          </a:prstGeom>
          <a:solidFill>
            <a:srgbClr val="CC3399"/>
          </a:solidFill>
          <a:ln w="44450" algn="ctr">
            <a:solidFill>
              <a:srgbClr val="CC3399"/>
            </a:solidFill>
            <a:round/>
            <a:headEnd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85" name="Oval 40"/>
          <p:cNvSpPr>
            <a:spLocks noChangeArrowheads="1"/>
          </p:cNvSpPr>
          <p:nvPr/>
        </p:nvSpPr>
        <p:spPr bwMode="auto">
          <a:xfrm>
            <a:off x="6781800" y="4114800"/>
            <a:ext cx="76200" cy="57150"/>
          </a:xfrm>
          <a:prstGeom prst="ellipse">
            <a:avLst/>
          </a:prstGeom>
          <a:solidFill>
            <a:srgbClr val="FFFF99"/>
          </a:solidFill>
          <a:ln w="9525">
            <a:round/>
            <a:headEnd/>
            <a:tailEnd/>
          </a:ln>
          <a:scene3d>
            <a:camera prst="legacyPerspectiveFron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99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2086" name="Oval 41"/>
          <p:cNvSpPr>
            <a:spLocks noChangeArrowheads="1"/>
          </p:cNvSpPr>
          <p:nvPr/>
        </p:nvSpPr>
        <p:spPr bwMode="auto">
          <a:xfrm>
            <a:off x="5724525" y="897731"/>
            <a:ext cx="76200" cy="57150"/>
          </a:xfrm>
          <a:prstGeom prst="ellipse">
            <a:avLst/>
          </a:prstGeom>
          <a:solidFill>
            <a:srgbClr val="00FF99"/>
          </a:solidFill>
          <a:ln w="9525">
            <a:round/>
            <a:headEnd/>
            <a:tailEnd/>
          </a:ln>
          <a:scene3d>
            <a:camera prst="legacyObliqueFront">
              <a:rot lat="21299992" lon="1500000" rev="0"/>
            </a:camera>
            <a:lightRig rig="legacyFlat2" dir="t"/>
          </a:scene3d>
          <a:sp3d prstMaterial="legacyMetal">
            <a:bevelT w="13500" h="13500" prst="angle"/>
            <a:bevelB w="13500" h="13500" prst="angle"/>
            <a:extrusionClr>
              <a:srgbClr val="00FF99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2087" name="Oval 42"/>
          <p:cNvSpPr>
            <a:spLocks noChangeArrowheads="1"/>
          </p:cNvSpPr>
          <p:nvPr/>
        </p:nvSpPr>
        <p:spPr bwMode="auto">
          <a:xfrm>
            <a:off x="5651501" y="1275160"/>
            <a:ext cx="144463" cy="107156"/>
          </a:xfrm>
          <a:prstGeom prst="ellipse">
            <a:avLst/>
          </a:prstGeom>
          <a:solidFill>
            <a:srgbClr val="FFFF9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6588126" y="357187"/>
            <a:ext cx="828675" cy="734616"/>
            <a:chOff x="4785" y="0"/>
            <a:chExt cx="522" cy="617"/>
          </a:xfrm>
        </p:grpSpPr>
        <p:sp>
          <p:nvSpPr>
            <p:cNvPr id="2091" name="Text Box 31"/>
            <p:cNvSpPr txBox="1">
              <a:spLocks noChangeArrowheads="1"/>
            </p:cNvSpPr>
            <p:nvPr/>
          </p:nvSpPr>
          <p:spPr bwMode="auto">
            <a:xfrm>
              <a:off x="4830" y="0"/>
              <a:ext cx="422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>
                  <a:solidFill>
                    <a:srgbClr val="FFFF99"/>
                  </a:solidFill>
                  <a:ea typeface="方正琥珀繁体" pitchFamily="2" charset="-122"/>
                </a:rPr>
                <a:t>U</a:t>
              </a:r>
              <a:r>
                <a:rPr lang="en-US" altLang="zh-CN" sz="2400" baseline="-25000">
                  <a:solidFill>
                    <a:srgbClr val="FFFF99"/>
                  </a:solidFill>
                  <a:ea typeface="方正琥珀繁体" pitchFamily="2" charset="-122"/>
                </a:rPr>
                <a:t>DS</a:t>
              </a:r>
              <a:endParaRPr lang="en-US" altLang="zh-CN" sz="2400">
                <a:solidFill>
                  <a:srgbClr val="FFFF99"/>
                </a:solidFill>
                <a:ea typeface="方正琥珀繁体" pitchFamily="2" charset="-122"/>
              </a:endParaRPr>
            </a:p>
          </p:txBody>
        </p:sp>
        <p:grpSp>
          <p:nvGrpSpPr>
            <p:cNvPr id="3" name="Group 59"/>
            <p:cNvGrpSpPr>
              <a:grpSpLocks/>
            </p:cNvGrpSpPr>
            <p:nvPr/>
          </p:nvGrpSpPr>
          <p:grpSpPr bwMode="auto">
            <a:xfrm>
              <a:off x="4921" y="300"/>
              <a:ext cx="273" cy="317"/>
              <a:chOff x="4468" y="164"/>
              <a:chExt cx="273" cy="317"/>
            </a:xfrm>
          </p:grpSpPr>
          <p:grpSp>
            <p:nvGrpSpPr>
              <p:cNvPr id="4" name="Group 51"/>
              <p:cNvGrpSpPr>
                <a:grpSpLocks/>
              </p:cNvGrpSpPr>
              <p:nvPr/>
            </p:nvGrpSpPr>
            <p:grpSpPr bwMode="auto">
              <a:xfrm>
                <a:off x="4468" y="164"/>
                <a:ext cx="91" cy="317"/>
                <a:chOff x="1655" y="3113"/>
                <a:chExt cx="91" cy="317"/>
              </a:xfrm>
            </p:grpSpPr>
            <p:sp>
              <p:nvSpPr>
                <p:cNvPr id="2099" name="Line 49"/>
                <p:cNvSpPr>
                  <a:spLocks noChangeShapeType="1"/>
                </p:cNvSpPr>
                <p:nvPr/>
              </p:nvSpPr>
              <p:spPr bwMode="auto">
                <a:xfrm>
                  <a:off x="1655" y="3203"/>
                  <a:ext cx="0" cy="181"/>
                </a:xfrm>
                <a:prstGeom prst="line">
                  <a:avLst/>
                </a:prstGeom>
                <a:noFill/>
                <a:ln w="38100">
                  <a:solidFill>
                    <a:srgbClr val="CCCC00"/>
                  </a:solidFill>
                  <a:round/>
                  <a:headEnd/>
                  <a:tailEnd type="none" w="sm" len="lg"/>
                </a:ln>
                <a:effectLst>
                  <a:prstShdw prst="shdw17" dist="17961" dir="2700000">
                    <a:srgbClr val="7A7A00"/>
                  </a:prst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00" name="Line 50"/>
                <p:cNvSpPr>
                  <a:spLocks noChangeShapeType="1"/>
                </p:cNvSpPr>
                <p:nvPr/>
              </p:nvSpPr>
              <p:spPr bwMode="auto">
                <a:xfrm>
                  <a:off x="1746" y="3113"/>
                  <a:ext cx="0" cy="317"/>
                </a:xfrm>
                <a:prstGeom prst="line">
                  <a:avLst/>
                </a:prstGeom>
                <a:noFill/>
                <a:ln w="34925">
                  <a:solidFill>
                    <a:srgbClr val="CCCC00"/>
                  </a:solidFill>
                  <a:round/>
                  <a:headEnd/>
                  <a:tailEnd type="none" w="sm" len="lg"/>
                </a:ln>
                <a:effectLst>
                  <a:prstShdw prst="shdw17" dist="17961" dir="2700000">
                    <a:srgbClr val="7A7A00"/>
                  </a:prst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53"/>
              <p:cNvGrpSpPr>
                <a:grpSpLocks/>
              </p:cNvGrpSpPr>
              <p:nvPr/>
            </p:nvGrpSpPr>
            <p:grpSpPr bwMode="auto">
              <a:xfrm>
                <a:off x="4650" y="164"/>
                <a:ext cx="91" cy="317"/>
                <a:chOff x="1655" y="3113"/>
                <a:chExt cx="91" cy="317"/>
              </a:xfrm>
            </p:grpSpPr>
            <p:sp>
              <p:nvSpPr>
                <p:cNvPr id="2097" name="Line 54"/>
                <p:cNvSpPr>
                  <a:spLocks noChangeShapeType="1"/>
                </p:cNvSpPr>
                <p:nvPr/>
              </p:nvSpPr>
              <p:spPr bwMode="auto">
                <a:xfrm>
                  <a:off x="1655" y="3203"/>
                  <a:ext cx="0" cy="181"/>
                </a:xfrm>
                <a:prstGeom prst="line">
                  <a:avLst/>
                </a:prstGeom>
                <a:noFill/>
                <a:ln w="38100">
                  <a:solidFill>
                    <a:srgbClr val="CCCC00"/>
                  </a:solidFill>
                  <a:round/>
                  <a:headEnd/>
                  <a:tailEnd type="none" w="sm" len="lg"/>
                </a:ln>
                <a:effectLst>
                  <a:prstShdw prst="shdw17" dist="17961" dir="2700000">
                    <a:srgbClr val="7A7A00"/>
                  </a:prst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98" name="Line 55"/>
                <p:cNvSpPr>
                  <a:spLocks noChangeShapeType="1"/>
                </p:cNvSpPr>
                <p:nvPr/>
              </p:nvSpPr>
              <p:spPr bwMode="auto">
                <a:xfrm>
                  <a:off x="1746" y="3113"/>
                  <a:ext cx="0" cy="317"/>
                </a:xfrm>
                <a:prstGeom prst="line">
                  <a:avLst/>
                </a:prstGeom>
                <a:noFill/>
                <a:ln w="34925">
                  <a:solidFill>
                    <a:srgbClr val="CCCC00"/>
                  </a:solidFill>
                  <a:round/>
                  <a:headEnd/>
                  <a:tailEnd type="none" w="sm" len="lg"/>
                </a:ln>
                <a:effectLst>
                  <a:prstShdw prst="shdw17" dist="17961" dir="2700000">
                    <a:srgbClr val="7A7A00"/>
                  </a:prst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093" name="Line 57"/>
            <p:cNvSpPr>
              <a:spLocks noChangeShapeType="1"/>
            </p:cNvSpPr>
            <p:nvPr/>
          </p:nvSpPr>
          <p:spPr bwMode="auto">
            <a:xfrm>
              <a:off x="5193" y="475"/>
              <a:ext cx="114" cy="0"/>
            </a:xfrm>
            <a:prstGeom prst="line">
              <a:avLst/>
            </a:prstGeom>
            <a:noFill/>
            <a:ln w="50800">
              <a:solidFill>
                <a:srgbClr val="33CC33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4" name="Line 61"/>
            <p:cNvSpPr>
              <a:spLocks noChangeShapeType="1"/>
            </p:cNvSpPr>
            <p:nvPr/>
          </p:nvSpPr>
          <p:spPr bwMode="auto">
            <a:xfrm>
              <a:off x="4785" y="477"/>
              <a:ext cx="114" cy="0"/>
            </a:xfrm>
            <a:prstGeom prst="line">
              <a:avLst/>
            </a:prstGeom>
            <a:noFill/>
            <a:ln w="50800">
              <a:solidFill>
                <a:srgbClr val="33CC33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5145" name="Rectangle 9"/>
          <p:cNvSpPr>
            <a:spLocks noChangeArrowheads="1"/>
          </p:cNvSpPr>
          <p:nvPr/>
        </p:nvSpPr>
        <p:spPr bwMode="auto">
          <a:xfrm>
            <a:off x="6350001" y="2481263"/>
            <a:ext cx="1039813" cy="145256"/>
          </a:xfrm>
          <a:prstGeom prst="rect">
            <a:avLst/>
          </a:prstGeom>
          <a:solidFill>
            <a:srgbClr val="FFCC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5168" name="Object 32"/>
          <p:cNvGraphicFramePr>
            <a:graphicFrameLocks/>
          </p:cNvGraphicFramePr>
          <p:nvPr/>
        </p:nvGraphicFramePr>
        <p:xfrm>
          <a:off x="6400801" y="2482454"/>
          <a:ext cx="633413" cy="129778"/>
        </p:xfrm>
        <a:graphic>
          <a:graphicData uri="http://schemas.openxmlformats.org/presentationml/2006/ole">
            <p:oleObj spid="_x0000_s30733" name="CorelDRAW" r:id="rId16" imgW="2734560" imgH="721440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7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5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5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75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75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500"/>
                            </p:stCondLst>
                            <p:childTnLst>
                              <p:par>
                                <p:cTn id="3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75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75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75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75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75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5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75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75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75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75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47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41" grpId="0" autoUpdateAnimBg="0"/>
      <p:bldP spid="475142" grpId="0" autoUpdateAnimBg="0"/>
      <p:bldP spid="475146" grpId="0" animBg="1"/>
      <p:bldP spid="475172" grpId="0" animBg="1" autoUpdateAnimBg="0"/>
      <p:bldP spid="475173" grpId="0" animBg="1"/>
      <p:bldP spid="475174" grpId="0" autoUpdateAnimBg="0"/>
      <p:bldP spid="475175" grpId="0" animBg="1"/>
      <p:bldP spid="47514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Text Box 2"/>
          <p:cNvSpPr txBox="1">
            <a:spLocks noChangeArrowheads="1"/>
          </p:cNvSpPr>
          <p:nvPr/>
        </p:nvSpPr>
        <p:spPr bwMode="auto">
          <a:xfrm>
            <a:off x="939277" y="765978"/>
            <a:ext cx="33988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由上述讨论可知</a:t>
            </a:r>
            <a:r>
              <a:rPr lang="en-US" altLang="zh-CN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:</a:t>
            </a:r>
          </a:p>
        </p:txBody>
      </p:sp>
      <p:sp>
        <p:nvSpPr>
          <p:cNvPr id="476163" name="Text Box 3"/>
          <p:cNvSpPr txBox="1">
            <a:spLocks noChangeArrowheads="1"/>
          </p:cNvSpPr>
          <p:nvPr/>
        </p:nvSpPr>
        <p:spPr bwMode="auto">
          <a:xfrm>
            <a:off x="836615" y="1688741"/>
            <a:ext cx="7210105" cy="1772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      </a:t>
            </a:r>
            <a:r>
              <a:rPr lang="en-US" altLang="zh-CN" sz="2800" i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U</a:t>
            </a:r>
            <a:r>
              <a:rPr lang="en-US" altLang="zh-CN" sz="2800" baseline="-250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GS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愈大，导电沟道愈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厚，在</a:t>
            </a:r>
            <a:r>
              <a:rPr lang="en-US" altLang="zh-CN" sz="2800" i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U</a:t>
            </a:r>
            <a:r>
              <a:rPr lang="en-US" altLang="zh-CN" sz="2800" baseline="-250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DS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电压作用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下，电流</a:t>
            </a:r>
            <a:r>
              <a:rPr lang="en-US" altLang="zh-CN" sz="2800" i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I</a:t>
            </a:r>
            <a:r>
              <a:rPr lang="en-US" altLang="zh-CN" sz="2800" baseline="-250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D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愈大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。即通过改变电压</a:t>
            </a:r>
            <a:r>
              <a:rPr lang="en-US" altLang="zh-CN" sz="2800" i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U</a:t>
            </a:r>
            <a:r>
              <a:rPr lang="en-US" altLang="zh-CN" sz="2800" baseline="-250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GS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的大小可以改变漏极电流</a:t>
            </a:r>
            <a:r>
              <a:rPr lang="en-US" altLang="zh-CN" sz="2800" i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I</a:t>
            </a:r>
            <a:r>
              <a:rPr lang="en-US" altLang="zh-CN" sz="2800" baseline="-250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D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的大小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。</a:t>
            </a:r>
          </a:p>
        </p:txBody>
      </p:sp>
      <p:sp>
        <p:nvSpPr>
          <p:cNvPr id="476166" name="Rectangle 6"/>
          <p:cNvSpPr>
            <a:spLocks noChangeArrowheads="1"/>
          </p:cNvSpPr>
          <p:nvPr/>
        </p:nvSpPr>
        <p:spPr bwMode="auto">
          <a:xfrm>
            <a:off x="1276631" y="1973846"/>
            <a:ext cx="238125" cy="2286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201600" prstMaterial="legacyPlastic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>
              <a:lnSpc>
                <a:spcPct val="130000"/>
              </a:lnSpc>
            </a:pPr>
            <a:endParaRPr lang="zh-CN" altLang="en-US" sz="280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7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2" grpId="0" autoUpdateAnimBg="0"/>
      <p:bldP spid="476163" grpId="0" autoUpdateAnimBg="0"/>
      <p:bldP spid="47616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4" name="Text Box 4"/>
          <p:cNvSpPr txBox="1">
            <a:spLocks noChangeArrowheads="1"/>
          </p:cNvSpPr>
          <p:nvPr/>
        </p:nvSpPr>
        <p:spPr bwMode="auto">
          <a:xfrm>
            <a:off x="771170" y="1658442"/>
            <a:ext cx="7167974" cy="1212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       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随着栅极电压</a:t>
            </a:r>
            <a:r>
              <a:rPr lang="en-US" altLang="zh-CN" sz="2800" i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U</a:t>
            </a:r>
            <a:r>
              <a:rPr lang="en-US" altLang="zh-CN" sz="2800" baseline="-250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GS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的增加，导电沟道不断增加的场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效管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称为增强型场效应管。</a:t>
            </a:r>
          </a:p>
        </p:txBody>
      </p:sp>
      <p:sp>
        <p:nvSpPr>
          <p:cNvPr id="476167" name="Rectangle 7"/>
          <p:cNvSpPr>
            <a:spLocks noChangeArrowheads="1"/>
          </p:cNvSpPr>
          <p:nvPr/>
        </p:nvSpPr>
        <p:spPr bwMode="auto">
          <a:xfrm>
            <a:off x="1287388" y="1968551"/>
            <a:ext cx="238125" cy="228600"/>
          </a:xfrm>
          <a:prstGeom prst="rect">
            <a:avLst/>
          </a:prstGeom>
          <a:solidFill>
            <a:srgbClr val="00CCFF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201600" prstMaterial="legacyPlastic">
            <a:bevelT w="13500" h="13500" prst="angle"/>
            <a:bevelB w="13500" h="13500" prst="angle"/>
            <a:extrusionClr>
              <a:srgbClr val="00CCFF"/>
            </a:extrusionClr>
          </a:sp3d>
        </p:spPr>
        <p:txBody>
          <a:bodyPr wrap="none" anchor="ctr">
            <a:flatTx/>
          </a:bodyPr>
          <a:lstStyle/>
          <a:p>
            <a:pPr>
              <a:lnSpc>
                <a:spcPct val="130000"/>
              </a:lnSpc>
            </a:pPr>
            <a:endParaRPr lang="zh-CN" altLang="en-US" sz="280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939277" y="765978"/>
            <a:ext cx="33988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由上述讨论可知</a:t>
            </a:r>
            <a:r>
              <a:rPr lang="en-US" altLang="zh-CN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4" grpId="0" autoUpdateAnimBg="0"/>
      <p:bldP spid="47616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5" name="Text Box 5"/>
          <p:cNvSpPr txBox="1">
            <a:spLocks noChangeArrowheads="1"/>
          </p:cNvSpPr>
          <p:nvPr/>
        </p:nvSpPr>
        <p:spPr bwMode="auto">
          <a:xfrm>
            <a:off x="673457" y="1628298"/>
            <a:ext cx="7201141" cy="1772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        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场效应管只有一种载流子参与导电</a:t>
            </a:r>
            <a:r>
              <a:rPr lang="en-US" altLang="zh-CN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故称为单极型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晶体管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。普通晶体管中空穴和电子两种载流子参与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导电称之为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双极型晶体管。</a:t>
            </a:r>
          </a:p>
        </p:txBody>
      </p:sp>
      <p:sp>
        <p:nvSpPr>
          <p:cNvPr id="476168" name="Rectangle 8"/>
          <p:cNvSpPr>
            <a:spLocks noChangeArrowheads="1"/>
          </p:cNvSpPr>
          <p:nvPr/>
        </p:nvSpPr>
        <p:spPr bwMode="auto">
          <a:xfrm>
            <a:off x="1276631" y="1950607"/>
            <a:ext cx="238125" cy="228600"/>
          </a:xfrm>
          <a:prstGeom prst="rect">
            <a:avLst/>
          </a:prstGeom>
          <a:solidFill>
            <a:srgbClr val="FFCC0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201600" prstMaterial="legacyPlastic">
            <a:bevelT w="13500" h="13500" prst="angle"/>
            <a:bevelB w="13500" h="13500" prst="angle"/>
            <a:extrusionClr>
              <a:srgbClr val="FFCC00"/>
            </a:extrusionClr>
          </a:sp3d>
        </p:spPr>
        <p:txBody>
          <a:bodyPr wrap="none" anchor="ctr">
            <a:flatTx/>
          </a:bodyPr>
          <a:lstStyle/>
          <a:p>
            <a:pPr>
              <a:lnSpc>
                <a:spcPct val="130000"/>
              </a:lnSpc>
            </a:pPr>
            <a:endParaRPr lang="zh-CN" altLang="en-US" sz="280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939277" y="765978"/>
            <a:ext cx="33988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由上述讨论可知</a:t>
            </a:r>
            <a:r>
              <a:rPr lang="en-US" altLang="zh-CN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7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5" grpId="0" autoUpdateAnimBg="0"/>
      <p:bldP spid="47616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组合 99"/>
          <p:cNvGrpSpPr/>
          <p:nvPr/>
        </p:nvGrpSpPr>
        <p:grpSpPr>
          <a:xfrm>
            <a:off x="7300296" y="792190"/>
            <a:ext cx="1370600" cy="1886010"/>
            <a:chOff x="3705758" y="1590975"/>
            <a:chExt cx="1370600" cy="1886010"/>
          </a:xfrm>
        </p:grpSpPr>
        <p:cxnSp>
          <p:nvCxnSpPr>
            <p:cNvPr id="101" name="直接连接符 100"/>
            <p:cNvCxnSpPr/>
            <p:nvPr/>
          </p:nvCxnSpPr>
          <p:spPr>
            <a:xfrm rot="5400000">
              <a:off x="4098132" y="2478883"/>
              <a:ext cx="423865" cy="1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rot="5400000">
              <a:off x="4345781" y="2107407"/>
              <a:ext cx="423865" cy="1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rot="5400000">
              <a:off x="4336257" y="2869407"/>
              <a:ext cx="423865" cy="1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rot="10800000">
              <a:off x="4067176" y="2681289"/>
              <a:ext cx="252415" cy="1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rot="5400000">
              <a:off x="4376740" y="2309811"/>
              <a:ext cx="123825" cy="3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rot="5400000">
              <a:off x="4376740" y="2486023"/>
              <a:ext cx="123825" cy="3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rot="5400000">
              <a:off x="4376741" y="2662236"/>
              <a:ext cx="123825" cy="3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rot="10800000">
              <a:off x="4448177" y="2309813"/>
              <a:ext cx="100010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rot="10800000">
              <a:off x="4438652" y="2667001"/>
              <a:ext cx="100010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rot="10800000" flipV="1">
              <a:off x="4448178" y="2490786"/>
              <a:ext cx="271461" cy="0"/>
            </a:xfrm>
            <a:prstGeom prst="line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 Box 11"/>
            <p:cNvSpPr txBox="1">
              <a:spLocks noChangeArrowheads="1"/>
            </p:cNvSpPr>
            <p:nvPr/>
          </p:nvSpPr>
          <p:spPr bwMode="auto">
            <a:xfrm>
              <a:off x="4191533" y="1590975"/>
              <a:ext cx="37061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</a:t>
              </a:r>
            </a:p>
          </p:txBody>
        </p:sp>
        <p:sp>
          <p:nvSpPr>
            <p:cNvPr id="112" name="Text Box 11"/>
            <p:cNvSpPr txBox="1">
              <a:spLocks noChangeArrowheads="1"/>
            </p:cNvSpPr>
            <p:nvPr/>
          </p:nvSpPr>
          <p:spPr bwMode="auto">
            <a:xfrm>
              <a:off x="3705758" y="2457750"/>
              <a:ext cx="37061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</a:t>
              </a:r>
              <a:endPara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3" name="Text Box 11"/>
            <p:cNvSpPr txBox="1">
              <a:spLocks noChangeArrowheads="1"/>
            </p:cNvSpPr>
            <p:nvPr/>
          </p:nvSpPr>
          <p:spPr bwMode="auto">
            <a:xfrm>
              <a:off x="4362983" y="3076875"/>
              <a:ext cx="32733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4" name="Text Box 11"/>
            <p:cNvSpPr txBox="1">
              <a:spLocks noChangeArrowheads="1"/>
            </p:cNvSpPr>
            <p:nvPr/>
          </p:nvSpPr>
          <p:spPr bwMode="auto">
            <a:xfrm>
              <a:off x="4720170" y="2291062"/>
              <a:ext cx="35618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3076" name="Text Box 8"/>
          <p:cNvSpPr txBox="1">
            <a:spLocks noChangeArrowheads="1"/>
          </p:cNvSpPr>
          <p:nvPr/>
        </p:nvSpPr>
        <p:spPr bwMode="auto">
          <a:xfrm>
            <a:off x="1344706" y="4382339"/>
            <a:ext cx="6347012" cy="512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Aft>
                <a:spcPts val="800"/>
              </a:spcAft>
            </a:pPr>
            <a:r>
              <a:rPr kumimoji="0"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NMOS</a:t>
            </a:r>
            <a:r>
              <a:rPr kumimoji="0"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增强型场效应管伏安特性曲线</a:t>
            </a:r>
          </a:p>
          <a:p>
            <a:pPr eaLnBrk="1" hangingPunct="1"/>
            <a:endParaRPr kumimoji="0" lang="en-US" altLang="zh-CN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" name="组合 121"/>
          <p:cNvGrpSpPr>
            <a:grpSpLocks/>
          </p:cNvGrpSpPr>
          <p:nvPr/>
        </p:nvGrpSpPr>
        <p:grpSpPr bwMode="auto">
          <a:xfrm>
            <a:off x="468313" y="966788"/>
            <a:ext cx="4453760" cy="3462104"/>
            <a:chOff x="468313" y="1289050"/>
            <a:chExt cx="4453760" cy="4615519"/>
          </a:xfrm>
        </p:grpSpPr>
        <p:sp>
          <p:nvSpPr>
            <p:cNvPr id="3120" name="Line 9"/>
            <p:cNvSpPr>
              <a:spLocks noChangeShapeType="1"/>
            </p:cNvSpPr>
            <p:nvPr/>
          </p:nvSpPr>
          <p:spPr bwMode="auto">
            <a:xfrm>
              <a:off x="1262063" y="4589463"/>
              <a:ext cx="2828925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22" name="Line 11"/>
            <p:cNvSpPr>
              <a:spLocks noChangeShapeType="1"/>
            </p:cNvSpPr>
            <p:nvPr/>
          </p:nvSpPr>
          <p:spPr bwMode="auto">
            <a:xfrm flipV="1">
              <a:off x="1260475" y="1685925"/>
              <a:ext cx="1588" cy="29130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24" name="Line 53"/>
            <p:cNvSpPr>
              <a:spLocks noChangeShapeType="1"/>
            </p:cNvSpPr>
            <p:nvPr/>
          </p:nvSpPr>
          <p:spPr bwMode="auto">
            <a:xfrm>
              <a:off x="1738313" y="4500563"/>
              <a:ext cx="1587" cy="8890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25" name="Line 54"/>
            <p:cNvSpPr>
              <a:spLocks noChangeShapeType="1"/>
            </p:cNvSpPr>
            <p:nvPr/>
          </p:nvSpPr>
          <p:spPr bwMode="auto">
            <a:xfrm>
              <a:off x="2635250" y="4500563"/>
              <a:ext cx="1588" cy="85725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26" name="Line 55"/>
            <p:cNvSpPr>
              <a:spLocks noChangeShapeType="1"/>
            </p:cNvSpPr>
            <p:nvPr/>
          </p:nvSpPr>
          <p:spPr bwMode="auto">
            <a:xfrm>
              <a:off x="3046413" y="4500563"/>
              <a:ext cx="1587" cy="8890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27" name="Line 56"/>
            <p:cNvSpPr>
              <a:spLocks noChangeShapeType="1"/>
            </p:cNvSpPr>
            <p:nvPr/>
          </p:nvSpPr>
          <p:spPr bwMode="auto">
            <a:xfrm>
              <a:off x="2208213" y="4505325"/>
              <a:ext cx="1587" cy="84138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28" name="Rectangle 57"/>
            <p:cNvSpPr>
              <a:spLocks noChangeArrowheads="1"/>
            </p:cNvSpPr>
            <p:nvPr/>
          </p:nvSpPr>
          <p:spPr bwMode="auto">
            <a:xfrm>
              <a:off x="2946400" y="4741862"/>
              <a:ext cx="230832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12</a:t>
              </a:r>
            </a:p>
          </p:txBody>
        </p:sp>
        <p:sp>
          <p:nvSpPr>
            <p:cNvPr id="3129" name="Rectangle 58"/>
            <p:cNvSpPr>
              <a:spLocks noChangeArrowheads="1"/>
            </p:cNvSpPr>
            <p:nvPr/>
          </p:nvSpPr>
          <p:spPr bwMode="auto">
            <a:xfrm>
              <a:off x="1057257" y="4503900"/>
              <a:ext cx="115416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3130" name="Line 59"/>
            <p:cNvSpPr>
              <a:spLocks noChangeShapeType="1"/>
            </p:cNvSpPr>
            <p:nvPr/>
          </p:nvSpPr>
          <p:spPr bwMode="auto">
            <a:xfrm>
              <a:off x="1268413" y="3989388"/>
              <a:ext cx="52387" cy="1587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31" name="Line 60"/>
            <p:cNvSpPr>
              <a:spLocks noChangeShapeType="1"/>
            </p:cNvSpPr>
            <p:nvPr/>
          </p:nvSpPr>
          <p:spPr bwMode="auto">
            <a:xfrm>
              <a:off x="1260475" y="2709863"/>
              <a:ext cx="55563" cy="1587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32" name="Line 61"/>
            <p:cNvSpPr>
              <a:spLocks noChangeShapeType="1"/>
            </p:cNvSpPr>
            <p:nvPr/>
          </p:nvSpPr>
          <p:spPr bwMode="auto">
            <a:xfrm>
              <a:off x="1260475" y="2092325"/>
              <a:ext cx="60325" cy="1588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33" name="Line 62"/>
            <p:cNvSpPr>
              <a:spLocks noChangeShapeType="1"/>
            </p:cNvSpPr>
            <p:nvPr/>
          </p:nvSpPr>
          <p:spPr bwMode="auto">
            <a:xfrm>
              <a:off x="1263650" y="3351213"/>
              <a:ext cx="57150" cy="3175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34" name="Rectangle 63"/>
            <p:cNvSpPr>
              <a:spLocks noChangeArrowheads="1"/>
            </p:cNvSpPr>
            <p:nvPr/>
          </p:nvSpPr>
          <p:spPr bwMode="auto">
            <a:xfrm>
              <a:off x="992711" y="3827463"/>
              <a:ext cx="115416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3135" name="Rectangle 64"/>
            <p:cNvSpPr>
              <a:spLocks noChangeArrowheads="1"/>
            </p:cNvSpPr>
            <p:nvPr/>
          </p:nvSpPr>
          <p:spPr bwMode="auto">
            <a:xfrm>
              <a:off x="992711" y="3190875"/>
              <a:ext cx="115416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3136" name="Rectangle 65"/>
            <p:cNvSpPr>
              <a:spLocks noChangeArrowheads="1"/>
            </p:cNvSpPr>
            <p:nvPr/>
          </p:nvSpPr>
          <p:spPr bwMode="auto">
            <a:xfrm>
              <a:off x="911748" y="2549525"/>
              <a:ext cx="230832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12</a:t>
              </a:r>
            </a:p>
          </p:txBody>
        </p:sp>
        <p:sp>
          <p:nvSpPr>
            <p:cNvPr id="3137" name="Rectangle 66"/>
            <p:cNvSpPr>
              <a:spLocks noChangeArrowheads="1"/>
            </p:cNvSpPr>
            <p:nvPr/>
          </p:nvSpPr>
          <p:spPr bwMode="auto">
            <a:xfrm>
              <a:off x="911748" y="1947863"/>
              <a:ext cx="230832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16</a:t>
              </a:r>
            </a:p>
          </p:txBody>
        </p:sp>
        <p:sp>
          <p:nvSpPr>
            <p:cNvPr id="3138" name="Rectangle 67"/>
            <p:cNvSpPr>
              <a:spLocks noChangeArrowheads="1"/>
            </p:cNvSpPr>
            <p:nvPr/>
          </p:nvSpPr>
          <p:spPr bwMode="auto">
            <a:xfrm>
              <a:off x="1697038" y="4735513"/>
              <a:ext cx="115416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3139" name="Rectangle 68"/>
            <p:cNvSpPr>
              <a:spLocks noChangeArrowheads="1"/>
            </p:cNvSpPr>
            <p:nvPr/>
          </p:nvSpPr>
          <p:spPr bwMode="auto">
            <a:xfrm>
              <a:off x="2160588" y="4735513"/>
              <a:ext cx="115416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3140" name="Rectangle 69"/>
            <p:cNvSpPr>
              <a:spLocks noChangeArrowheads="1"/>
            </p:cNvSpPr>
            <p:nvPr/>
          </p:nvSpPr>
          <p:spPr bwMode="auto">
            <a:xfrm>
              <a:off x="2600325" y="4743450"/>
              <a:ext cx="115416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3141" name="Line 70"/>
            <p:cNvSpPr>
              <a:spLocks noChangeShapeType="1"/>
            </p:cNvSpPr>
            <p:nvPr/>
          </p:nvSpPr>
          <p:spPr bwMode="auto">
            <a:xfrm>
              <a:off x="3468688" y="4500563"/>
              <a:ext cx="1587" cy="8890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42" name="Rectangle 71"/>
            <p:cNvSpPr>
              <a:spLocks noChangeArrowheads="1"/>
            </p:cNvSpPr>
            <p:nvPr/>
          </p:nvSpPr>
          <p:spPr bwMode="auto">
            <a:xfrm>
              <a:off x="3375025" y="4740275"/>
              <a:ext cx="230832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15</a:t>
              </a:r>
            </a:p>
          </p:txBody>
        </p:sp>
        <p:sp>
          <p:nvSpPr>
            <p:cNvPr id="3143" name="Rectangle 72"/>
            <p:cNvSpPr>
              <a:spLocks noChangeArrowheads="1"/>
            </p:cNvSpPr>
            <p:nvPr/>
          </p:nvSpPr>
          <p:spPr bwMode="auto">
            <a:xfrm>
              <a:off x="1393657" y="1289050"/>
              <a:ext cx="88166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0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endParaRPr kumimoji="0"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44" name="Rectangle 73"/>
            <p:cNvSpPr>
              <a:spLocks noChangeArrowheads="1"/>
            </p:cNvSpPr>
            <p:nvPr/>
          </p:nvSpPr>
          <p:spPr bwMode="auto">
            <a:xfrm>
              <a:off x="1498600" y="1419225"/>
              <a:ext cx="166712" cy="2735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0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 </a:t>
              </a:r>
            </a:p>
          </p:txBody>
        </p:sp>
        <p:sp>
          <p:nvSpPr>
            <p:cNvPr id="3145" name="Rectangle 74"/>
            <p:cNvSpPr>
              <a:spLocks noChangeArrowheads="1"/>
            </p:cNvSpPr>
            <p:nvPr/>
          </p:nvSpPr>
          <p:spPr bwMode="auto">
            <a:xfrm>
              <a:off x="1619250" y="1289050"/>
              <a:ext cx="84960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(</a:t>
              </a:r>
            </a:p>
          </p:txBody>
        </p:sp>
        <p:sp>
          <p:nvSpPr>
            <p:cNvPr id="3146" name="Rectangle 75"/>
            <p:cNvSpPr>
              <a:spLocks noChangeArrowheads="1"/>
            </p:cNvSpPr>
            <p:nvPr/>
          </p:nvSpPr>
          <p:spPr bwMode="auto">
            <a:xfrm>
              <a:off x="1682750" y="1289050"/>
              <a:ext cx="386324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000" dirty="0" err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mA</a:t>
              </a:r>
              <a:endParaRPr kumimoji="0"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47" name="Rectangle 76"/>
            <p:cNvSpPr>
              <a:spLocks noChangeArrowheads="1"/>
            </p:cNvSpPr>
            <p:nvPr/>
          </p:nvSpPr>
          <p:spPr bwMode="auto">
            <a:xfrm>
              <a:off x="2095500" y="1289050"/>
              <a:ext cx="84960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)</a:t>
              </a:r>
            </a:p>
          </p:txBody>
        </p:sp>
        <p:sp>
          <p:nvSpPr>
            <p:cNvPr id="3148" name="Rectangle 77"/>
            <p:cNvSpPr>
              <a:spLocks noChangeArrowheads="1"/>
            </p:cNvSpPr>
            <p:nvPr/>
          </p:nvSpPr>
          <p:spPr bwMode="auto">
            <a:xfrm>
              <a:off x="3950765" y="4743396"/>
              <a:ext cx="185948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0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endParaRPr kumimoji="0"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49" name="Rectangle 78"/>
            <p:cNvSpPr>
              <a:spLocks noChangeArrowheads="1"/>
            </p:cNvSpPr>
            <p:nvPr/>
          </p:nvSpPr>
          <p:spPr bwMode="auto">
            <a:xfrm>
              <a:off x="4119563" y="4887914"/>
              <a:ext cx="218008" cy="2735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0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DS</a:t>
              </a:r>
            </a:p>
          </p:txBody>
        </p:sp>
        <p:sp>
          <p:nvSpPr>
            <p:cNvPr id="3150" name="Rectangle 79"/>
            <p:cNvSpPr>
              <a:spLocks noChangeArrowheads="1"/>
            </p:cNvSpPr>
            <p:nvPr/>
          </p:nvSpPr>
          <p:spPr bwMode="auto">
            <a:xfrm>
              <a:off x="4392613" y="4757738"/>
              <a:ext cx="84960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(</a:t>
              </a:r>
            </a:p>
          </p:txBody>
        </p:sp>
        <p:sp>
          <p:nvSpPr>
            <p:cNvPr id="3151" name="Rectangle 80"/>
            <p:cNvSpPr>
              <a:spLocks noChangeArrowheads="1"/>
            </p:cNvSpPr>
            <p:nvPr/>
          </p:nvSpPr>
          <p:spPr bwMode="auto">
            <a:xfrm>
              <a:off x="4489450" y="4757738"/>
              <a:ext cx="185948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V</a:t>
              </a:r>
            </a:p>
          </p:txBody>
        </p:sp>
        <p:sp>
          <p:nvSpPr>
            <p:cNvPr id="3152" name="Rectangle 81"/>
            <p:cNvSpPr>
              <a:spLocks noChangeArrowheads="1"/>
            </p:cNvSpPr>
            <p:nvPr/>
          </p:nvSpPr>
          <p:spPr bwMode="auto">
            <a:xfrm>
              <a:off x="4837113" y="4670426"/>
              <a:ext cx="84960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)</a:t>
              </a:r>
            </a:p>
          </p:txBody>
        </p:sp>
        <p:sp>
          <p:nvSpPr>
            <p:cNvPr id="3153" name="Freeform 82"/>
            <p:cNvSpPr>
              <a:spLocks/>
            </p:cNvSpPr>
            <p:nvPr/>
          </p:nvSpPr>
          <p:spPr bwMode="auto">
            <a:xfrm>
              <a:off x="1268413" y="2800350"/>
              <a:ext cx="381000" cy="1779588"/>
            </a:xfrm>
            <a:custGeom>
              <a:avLst/>
              <a:gdLst>
                <a:gd name="T0" fmla="*/ 2147483647 w 422"/>
                <a:gd name="T1" fmla="*/ 0 h 820"/>
                <a:gd name="T2" fmla="*/ 2147483647 w 422"/>
                <a:gd name="T3" fmla="*/ 2147483647 h 820"/>
                <a:gd name="T4" fmla="*/ 2147483647 w 422"/>
                <a:gd name="T5" fmla="*/ 2147483647 h 820"/>
                <a:gd name="T6" fmla="*/ 2147483647 w 422"/>
                <a:gd name="T7" fmla="*/ 2147483647 h 820"/>
                <a:gd name="T8" fmla="*/ 2147483647 w 422"/>
                <a:gd name="T9" fmla="*/ 2147483647 h 820"/>
                <a:gd name="T10" fmla="*/ 2147483647 w 422"/>
                <a:gd name="T11" fmla="*/ 2147483647 h 820"/>
                <a:gd name="T12" fmla="*/ 2147483647 w 422"/>
                <a:gd name="T13" fmla="*/ 2147483647 h 820"/>
                <a:gd name="T14" fmla="*/ 2147483647 w 422"/>
                <a:gd name="T15" fmla="*/ 2147483647 h 820"/>
                <a:gd name="T16" fmla="*/ 2147483647 w 422"/>
                <a:gd name="T17" fmla="*/ 2147483647 h 820"/>
                <a:gd name="T18" fmla="*/ 2147483647 w 422"/>
                <a:gd name="T19" fmla="*/ 2147483647 h 820"/>
                <a:gd name="T20" fmla="*/ 2147483647 w 422"/>
                <a:gd name="T21" fmla="*/ 2147483647 h 820"/>
                <a:gd name="T22" fmla="*/ 2147483647 w 422"/>
                <a:gd name="T23" fmla="*/ 2147483647 h 820"/>
                <a:gd name="T24" fmla="*/ 2147483647 w 422"/>
                <a:gd name="T25" fmla="*/ 2147483647 h 820"/>
                <a:gd name="T26" fmla="*/ 2147483647 w 422"/>
                <a:gd name="T27" fmla="*/ 2147483647 h 820"/>
                <a:gd name="T28" fmla="*/ 2147483647 w 422"/>
                <a:gd name="T29" fmla="*/ 2147483647 h 820"/>
                <a:gd name="T30" fmla="*/ 2147483647 w 422"/>
                <a:gd name="T31" fmla="*/ 2147483647 h 820"/>
                <a:gd name="T32" fmla="*/ 2147483647 w 422"/>
                <a:gd name="T33" fmla="*/ 2147483647 h 820"/>
                <a:gd name="T34" fmla="*/ 2147483647 w 422"/>
                <a:gd name="T35" fmla="*/ 2147483647 h 820"/>
                <a:gd name="T36" fmla="*/ 2147483647 w 422"/>
                <a:gd name="T37" fmla="*/ 2147483647 h 820"/>
                <a:gd name="T38" fmla="*/ 1472119021 w 422"/>
                <a:gd name="T39" fmla="*/ 2147483647 h 820"/>
                <a:gd name="T40" fmla="*/ 0 w 422"/>
                <a:gd name="T41" fmla="*/ 2147483647 h 82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2"/>
                <a:gd name="T64" fmla="*/ 0 h 820"/>
                <a:gd name="T65" fmla="*/ 422 w 422"/>
                <a:gd name="T66" fmla="*/ 820 h 82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2" h="820">
                  <a:moveTo>
                    <a:pt x="422" y="0"/>
                  </a:moveTo>
                  <a:lnTo>
                    <a:pt x="382" y="9"/>
                  </a:lnTo>
                  <a:lnTo>
                    <a:pt x="343" y="21"/>
                  </a:lnTo>
                  <a:lnTo>
                    <a:pt x="307" y="36"/>
                  </a:lnTo>
                  <a:lnTo>
                    <a:pt x="272" y="55"/>
                  </a:lnTo>
                  <a:lnTo>
                    <a:pt x="241" y="77"/>
                  </a:lnTo>
                  <a:lnTo>
                    <a:pt x="209" y="103"/>
                  </a:lnTo>
                  <a:lnTo>
                    <a:pt x="181" y="132"/>
                  </a:lnTo>
                  <a:lnTo>
                    <a:pt x="155" y="165"/>
                  </a:lnTo>
                  <a:lnTo>
                    <a:pt x="131" y="200"/>
                  </a:lnTo>
                  <a:lnTo>
                    <a:pt x="110" y="239"/>
                  </a:lnTo>
                  <a:lnTo>
                    <a:pt x="89" y="283"/>
                  </a:lnTo>
                  <a:lnTo>
                    <a:pt x="72" y="329"/>
                  </a:lnTo>
                  <a:lnTo>
                    <a:pt x="56" y="378"/>
                  </a:lnTo>
                  <a:lnTo>
                    <a:pt x="42" y="431"/>
                  </a:lnTo>
                  <a:lnTo>
                    <a:pt x="30" y="487"/>
                  </a:lnTo>
                  <a:lnTo>
                    <a:pt x="19" y="547"/>
                  </a:lnTo>
                  <a:lnTo>
                    <a:pt x="12" y="610"/>
                  </a:lnTo>
                  <a:lnTo>
                    <a:pt x="5" y="676"/>
                  </a:lnTo>
                  <a:lnTo>
                    <a:pt x="2" y="746"/>
                  </a:lnTo>
                  <a:lnTo>
                    <a:pt x="0" y="820"/>
                  </a:lnTo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54" name="Line 83"/>
            <p:cNvSpPr>
              <a:spLocks noChangeShapeType="1"/>
            </p:cNvSpPr>
            <p:nvPr/>
          </p:nvSpPr>
          <p:spPr bwMode="auto">
            <a:xfrm flipV="1">
              <a:off x="1649413" y="2638425"/>
              <a:ext cx="1762125" cy="1619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55" name="Freeform 84"/>
            <p:cNvSpPr>
              <a:spLocks/>
            </p:cNvSpPr>
            <p:nvPr/>
          </p:nvSpPr>
          <p:spPr bwMode="auto">
            <a:xfrm>
              <a:off x="1270000" y="2252663"/>
              <a:ext cx="469900" cy="2176462"/>
            </a:xfrm>
            <a:custGeom>
              <a:avLst/>
              <a:gdLst>
                <a:gd name="T0" fmla="*/ 2147483647 w 521"/>
                <a:gd name="T1" fmla="*/ 0 h 1004"/>
                <a:gd name="T2" fmla="*/ 2147483647 w 521"/>
                <a:gd name="T3" fmla="*/ 2147483647 h 1004"/>
                <a:gd name="T4" fmla="*/ 2147483647 w 521"/>
                <a:gd name="T5" fmla="*/ 2147483647 h 1004"/>
                <a:gd name="T6" fmla="*/ 2147483647 w 521"/>
                <a:gd name="T7" fmla="*/ 2147483647 h 1004"/>
                <a:gd name="T8" fmla="*/ 2147483647 w 521"/>
                <a:gd name="T9" fmla="*/ 2147483647 h 1004"/>
                <a:gd name="T10" fmla="*/ 2147483647 w 521"/>
                <a:gd name="T11" fmla="*/ 2147483647 h 1004"/>
                <a:gd name="T12" fmla="*/ 2147483647 w 521"/>
                <a:gd name="T13" fmla="*/ 2147483647 h 1004"/>
                <a:gd name="T14" fmla="*/ 2147483647 w 521"/>
                <a:gd name="T15" fmla="*/ 2147483647 h 1004"/>
                <a:gd name="T16" fmla="*/ 2147483647 w 521"/>
                <a:gd name="T17" fmla="*/ 2147483647 h 1004"/>
                <a:gd name="T18" fmla="*/ 2147483647 w 521"/>
                <a:gd name="T19" fmla="*/ 2147483647 h 1004"/>
                <a:gd name="T20" fmla="*/ 2147483647 w 521"/>
                <a:gd name="T21" fmla="*/ 2147483647 h 1004"/>
                <a:gd name="T22" fmla="*/ 2147483647 w 521"/>
                <a:gd name="T23" fmla="*/ 2147483647 h 1004"/>
                <a:gd name="T24" fmla="*/ 2147483647 w 521"/>
                <a:gd name="T25" fmla="*/ 2147483647 h 1004"/>
                <a:gd name="T26" fmla="*/ 2147483647 w 521"/>
                <a:gd name="T27" fmla="*/ 2147483647 h 1004"/>
                <a:gd name="T28" fmla="*/ 2147483647 w 521"/>
                <a:gd name="T29" fmla="*/ 2147483647 h 1004"/>
                <a:gd name="T30" fmla="*/ 2147483647 w 521"/>
                <a:gd name="T31" fmla="*/ 2147483647 h 1004"/>
                <a:gd name="T32" fmla="*/ 2147483647 w 521"/>
                <a:gd name="T33" fmla="*/ 2147483647 h 1004"/>
                <a:gd name="T34" fmla="*/ 2147483647 w 521"/>
                <a:gd name="T35" fmla="*/ 2147483647 h 1004"/>
                <a:gd name="T36" fmla="*/ 2147483647 w 521"/>
                <a:gd name="T37" fmla="*/ 2147483647 h 1004"/>
                <a:gd name="T38" fmla="*/ 2147483647 w 521"/>
                <a:gd name="T39" fmla="*/ 2147483647 h 1004"/>
                <a:gd name="T40" fmla="*/ 1467478523 w 521"/>
                <a:gd name="T41" fmla="*/ 2147483647 h 1004"/>
                <a:gd name="T42" fmla="*/ 0 w 521"/>
                <a:gd name="T43" fmla="*/ 2147483647 h 1004"/>
                <a:gd name="T44" fmla="*/ 0 w 521"/>
                <a:gd name="T45" fmla="*/ 2147483647 h 100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521"/>
                <a:gd name="T70" fmla="*/ 0 h 1004"/>
                <a:gd name="T71" fmla="*/ 521 w 521"/>
                <a:gd name="T72" fmla="*/ 1004 h 100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521" h="1004">
                  <a:moveTo>
                    <a:pt x="521" y="0"/>
                  </a:moveTo>
                  <a:lnTo>
                    <a:pt x="474" y="9"/>
                  </a:lnTo>
                  <a:lnTo>
                    <a:pt x="428" y="23"/>
                  </a:lnTo>
                  <a:lnTo>
                    <a:pt x="387" y="39"/>
                  </a:lnTo>
                  <a:lnTo>
                    <a:pt x="346" y="59"/>
                  </a:lnTo>
                  <a:lnTo>
                    <a:pt x="308" y="82"/>
                  </a:lnTo>
                  <a:lnTo>
                    <a:pt x="273" y="109"/>
                  </a:lnTo>
                  <a:lnTo>
                    <a:pt x="239" y="138"/>
                  </a:lnTo>
                  <a:lnTo>
                    <a:pt x="207" y="172"/>
                  </a:lnTo>
                  <a:lnTo>
                    <a:pt x="178" y="209"/>
                  </a:lnTo>
                  <a:lnTo>
                    <a:pt x="151" y="250"/>
                  </a:lnTo>
                  <a:lnTo>
                    <a:pt x="127" y="293"/>
                  </a:lnTo>
                  <a:lnTo>
                    <a:pt x="104" y="341"/>
                  </a:lnTo>
                  <a:lnTo>
                    <a:pt x="84" y="392"/>
                  </a:lnTo>
                  <a:lnTo>
                    <a:pt x="64" y="446"/>
                  </a:lnTo>
                  <a:lnTo>
                    <a:pt x="49" y="504"/>
                  </a:lnTo>
                  <a:lnTo>
                    <a:pt x="35" y="565"/>
                  </a:lnTo>
                  <a:lnTo>
                    <a:pt x="24" y="630"/>
                  </a:lnTo>
                  <a:lnTo>
                    <a:pt x="14" y="697"/>
                  </a:lnTo>
                  <a:lnTo>
                    <a:pt x="7" y="768"/>
                  </a:lnTo>
                  <a:lnTo>
                    <a:pt x="2" y="844"/>
                  </a:lnTo>
                  <a:lnTo>
                    <a:pt x="0" y="922"/>
                  </a:lnTo>
                  <a:lnTo>
                    <a:pt x="0" y="1004"/>
                  </a:lnTo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56" name="Line 85"/>
            <p:cNvSpPr>
              <a:spLocks noChangeShapeType="1"/>
            </p:cNvSpPr>
            <p:nvPr/>
          </p:nvSpPr>
          <p:spPr bwMode="auto">
            <a:xfrm flipV="1">
              <a:off x="1739900" y="2117725"/>
              <a:ext cx="1671638" cy="13493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57" name="Freeform 86"/>
            <p:cNvSpPr>
              <a:spLocks/>
            </p:cNvSpPr>
            <p:nvPr/>
          </p:nvSpPr>
          <p:spPr bwMode="auto">
            <a:xfrm>
              <a:off x="1273175" y="3332163"/>
              <a:ext cx="352425" cy="1008062"/>
            </a:xfrm>
            <a:custGeom>
              <a:avLst/>
              <a:gdLst>
                <a:gd name="T0" fmla="*/ 2147483647 w 390"/>
                <a:gd name="T1" fmla="*/ 0 h 465"/>
                <a:gd name="T2" fmla="*/ 2147483647 w 390"/>
                <a:gd name="T3" fmla="*/ 2147483647 h 465"/>
                <a:gd name="T4" fmla="*/ 2147483647 w 390"/>
                <a:gd name="T5" fmla="*/ 2147483647 h 465"/>
                <a:gd name="T6" fmla="*/ 2147483647 w 390"/>
                <a:gd name="T7" fmla="*/ 2147483647 h 465"/>
                <a:gd name="T8" fmla="*/ 2147483647 w 390"/>
                <a:gd name="T9" fmla="*/ 2147483647 h 465"/>
                <a:gd name="T10" fmla="*/ 2147483647 w 390"/>
                <a:gd name="T11" fmla="*/ 2147483647 h 465"/>
                <a:gd name="T12" fmla="*/ 2147483647 w 390"/>
                <a:gd name="T13" fmla="*/ 2147483647 h 465"/>
                <a:gd name="T14" fmla="*/ 2147483647 w 390"/>
                <a:gd name="T15" fmla="*/ 2147483647 h 465"/>
                <a:gd name="T16" fmla="*/ 2147483647 w 390"/>
                <a:gd name="T17" fmla="*/ 2147483647 h 465"/>
                <a:gd name="T18" fmla="*/ 2147483647 w 390"/>
                <a:gd name="T19" fmla="*/ 2147483647 h 465"/>
                <a:gd name="T20" fmla="*/ 2147483647 w 390"/>
                <a:gd name="T21" fmla="*/ 2147483647 h 465"/>
                <a:gd name="T22" fmla="*/ 2147483647 w 390"/>
                <a:gd name="T23" fmla="*/ 2147483647 h 465"/>
                <a:gd name="T24" fmla="*/ 2147483647 w 390"/>
                <a:gd name="T25" fmla="*/ 2147483647 h 465"/>
                <a:gd name="T26" fmla="*/ 2147483647 w 390"/>
                <a:gd name="T27" fmla="*/ 2147483647 h 465"/>
                <a:gd name="T28" fmla="*/ 2147483647 w 390"/>
                <a:gd name="T29" fmla="*/ 2147483647 h 465"/>
                <a:gd name="T30" fmla="*/ 0 w 390"/>
                <a:gd name="T31" fmla="*/ 2147483647 h 46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90"/>
                <a:gd name="T49" fmla="*/ 0 h 465"/>
                <a:gd name="T50" fmla="*/ 390 w 390"/>
                <a:gd name="T51" fmla="*/ 465 h 46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90" h="465">
                  <a:moveTo>
                    <a:pt x="390" y="0"/>
                  </a:moveTo>
                  <a:lnTo>
                    <a:pt x="349" y="8"/>
                  </a:lnTo>
                  <a:lnTo>
                    <a:pt x="307" y="20"/>
                  </a:lnTo>
                  <a:lnTo>
                    <a:pt x="269" y="36"/>
                  </a:lnTo>
                  <a:lnTo>
                    <a:pt x="234" y="54"/>
                  </a:lnTo>
                  <a:lnTo>
                    <a:pt x="201" y="75"/>
                  </a:lnTo>
                  <a:lnTo>
                    <a:pt x="169" y="100"/>
                  </a:lnTo>
                  <a:lnTo>
                    <a:pt x="141" y="127"/>
                  </a:lnTo>
                  <a:lnTo>
                    <a:pt x="115" y="158"/>
                  </a:lnTo>
                  <a:lnTo>
                    <a:pt x="91" y="193"/>
                  </a:lnTo>
                  <a:lnTo>
                    <a:pt x="70" y="230"/>
                  </a:lnTo>
                  <a:lnTo>
                    <a:pt x="51" y="270"/>
                  </a:lnTo>
                  <a:lnTo>
                    <a:pt x="35" y="314"/>
                  </a:lnTo>
                  <a:lnTo>
                    <a:pt x="21" y="361"/>
                  </a:lnTo>
                  <a:lnTo>
                    <a:pt x="9" y="411"/>
                  </a:lnTo>
                  <a:lnTo>
                    <a:pt x="0" y="465"/>
                  </a:lnTo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58" name="Line 87"/>
            <p:cNvSpPr>
              <a:spLocks noChangeShapeType="1"/>
            </p:cNvSpPr>
            <p:nvPr/>
          </p:nvSpPr>
          <p:spPr bwMode="auto">
            <a:xfrm flipV="1">
              <a:off x="1625600" y="3190875"/>
              <a:ext cx="1785938" cy="1412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59" name="Freeform 88"/>
            <p:cNvSpPr>
              <a:spLocks/>
            </p:cNvSpPr>
            <p:nvPr/>
          </p:nvSpPr>
          <p:spPr bwMode="auto">
            <a:xfrm>
              <a:off x="1257300" y="3765550"/>
              <a:ext cx="249238" cy="808038"/>
            </a:xfrm>
            <a:custGeom>
              <a:avLst/>
              <a:gdLst>
                <a:gd name="T0" fmla="*/ 2147483647 w 277"/>
                <a:gd name="T1" fmla="*/ 0 h 372"/>
                <a:gd name="T2" fmla="*/ 2147483647 w 277"/>
                <a:gd name="T3" fmla="*/ 2147483647 h 372"/>
                <a:gd name="T4" fmla="*/ 2147483647 w 277"/>
                <a:gd name="T5" fmla="*/ 2147483647 h 372"/>
                <a:gd name="T6" fmla="*/ 2147483647 w 277"/>
                <a:gd name="T7" fmla="*/ 2147483647 h 372"/>
                <a:gd name="T8" fmla="*/ 2147483647 w 277"/>
                <a:gd name="T9" fmla="*/ 2147483647 h 372"/>
                <a:gd name="T10" fmla="*/ 2147483647 w 277"/>
                <a:gd name="T11" fmla="*/ 2147483647 h 372"/>
                <a:gd name="T12" fmla="*/ 2147483647 w 277"/>
                <a:gd name="T13" fmla="*/ 2147483647 h 372"/>
                <a:gd name="T14" fmla="*/ 2147483647 w 277"/>
                <a:gd name="T15" fmla="*/ 2147483647 h 372"/>
                <a:gd name="T16" fmla="*/ 2147483647 w 277"/>
                <a:gd name="T17" fmla="*/ 2147483647 h 372"/>
                <a:gd name="T18" fmla="*/ 2147483647 w 277"/>
                <a:gd name="T19" fmla="*/ 2147483647 h 372"/>
                <a:gd name="T20" fmla="*/ 2147483647 w 277"/>
                <a:gd name="T21" fmla="*/ 2147483647 h 372"/>
                <a:gd name="T22" fmla="*/ 2147483647 w 277"/>
                <a:gd name="T23" fmla="*/ 2147483647 h 372"/>
                <a:gd name="T24" fmla="*/ 2147483647 w 277"/>
                <a:gd name="T25" fmla="*/ 2147483647 h 372"/>
                <a:gd name="T26" fmla="*/ 2147483647 w 277"/>
                <a:gd name="T27" fmla="*/ 2147483647 h 372"/>
                <a:gd name="T28" fmla="*/ 0 w 277"/>
                <a:gd name="T29" fmla="*/ 2147483647 h 3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77"/>
                <a:gd name="T46" fmla="*/ 0 h 372"/>
                <a:gd name="T47" fmla="*/ 277 w 277"/>
                <a:gd name="T48" fmla="*/ 372 h 37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77" h="372">
                  <a:moveTo>
                    <a:pt x="277" y="0"/>
                  </a:moveTo>
                  <a:lnTo>
                    <a:pt x="251" y="6"/>
                  </a:lnTo>
                  <a:lnTo>
                    <a:pt x="226" y="15"/>
                  </a:lnTo>
                  <a:lnTo>
                    <a:pt x="204" y="27"/>
                  </a:lnTo>
                  <a:lnTo>
                    <a:pt x="181" y="42"/>
                  </a:lnTo>
                  <a:lnTo>
                    <a:pt x="160" y="61"/>
                  </a:lnTo>
                  <a:lnTo>
                    <a:pt x="139" y="82"/>
                  </a:lnTo>
                  <a:lnTo>
                    <a:pt x="118" y="107"/>
                  </a:lnTo>
                  <a:lnTo>
                    <a:pt x="99" y="136"/>
                  </a:lnTo>
                  <a:lnTo>
                    <a:pt x="80" y="168"/>
                  </a:lnTo>
                  <a:lnTo>
                    <a:pt x="63" y="201"/>
                  </a:lnTo>
                  <a:lnTo>
                    <a:pt x="45" y="240"/>
                  </a:lnTo>
                  <a:lnTo>
                    <a:pt x="30" y="280"/>
                  </a:lnTo>
                  <a:lnTo>
                    <a:pt x="14" y="325"/>
                  </a:lnTo>
                  <a:lnTo>
                    <a:pt x="0" y="372"/>
                  </a:lnTo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60" name="Line 89"/>
            <p:cNvSpPr>
              <a:spLocks noChangeShapeType="1"/>
            </p:cNvSpPr>
            <p:nvPr/>
          </p:nvSpPr>
          <p:spPr bwMode="auto">
            <a:xfrm flipV="1">
              <a:off x="1506538" y="3676650"/>
              <a:ext cx="1905000" cy="8890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61" name="Freeform 90"/>
            <p:cNvSpPr>
              <a:spLocks/>
            </p:cNvSpPr>
            <p:nvPr/>
          </p:nvSpPr>
          <p:spPr bwMode="auto">
            <a:xfrm>
              <a:off x="1260475" y="4167188"/>
              <a:ext cx="185738" cy="422275"/>
            </a:xfrm>
            <a:custGeom>
              <a:avLst/>
              <a:gdLst>
                <a:gd name="T0" fmla="*/ 2147483647 w 207"/>
                <a:gd name="T1" fmla="*/ 0 h 195"/>
                <a:gd name="T2" fmla="*/ 2147483647 w 207"/>
                <a:gd name="T3" fmla="*/ 2147483647 h 195"/>
                <a:gd name="T4" fmla="*/ 2147483647 w 207"/>
                <a:gd name="T5" fmla="*/ 2147483647 h 195"/>
                <a:gd name="T6" fmla="*/ 2147483647 w 207"/>
                <a:gd name="T7" fmla="*/ 2147483647 h 195"/>
                <a:gd name="T8" fmla="*/ 2147483647 w 207"/>
                <a:gd name="T9" fmla="*/ 2147483647 h 195"/>
                <a:gd name="T10" fmla="*/ 2147483647 w 207"/>
                <a:gd name="T11" fmla="*/ 2147483647 h 195"/>
                <a:gd name="T12" fmla="*/ 2147483647 w 207"/>
                <a:gd name="T13" fmla="*/ 2147483647 h 195"/>
                <a:gd name="T14" fmla="*/ 2147483647 w 207"/>
                <a:gd name="T15" fmla="*/ 2147483647 h 195"/>
                <a:gd name="T16" fmla="*/ 2147483647 w 207"/>
                <a:gd name="T17" fmla="*/ 2147483647 h 195"/>
                <a:gd name="T18" fmla="*/ 2147483647 w 207"/>
                <a:gd name="T19" fmla="*/ 2147483647 h 195"/>
                <a:gd name="T20" fmla="*/ 0 w 207"/>
                <a:gd name="T21" fmla="*/ 2147483647 h 19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7"/>
                <a:gd name="T34" fmla="*/ 0 h 195"/>
                <a:gd name="T35" fmla="*/ 207 w 207"/>
                <a:gd name="T36" fmla="*/ 195 h 19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7" h="195">
                  <a:moveTo>
                    <a:pt x="207" y="0"/>
                  </a:moveTo>
                  <a:lnTo>
                    <a:pt x="175" y="8"/>
                  </a:lnTo>
                  <a:lnTo>
                    <a:pt x="148" y="17"/>
                  </a:lnTo>
                  <a:lnTo>
                    <a:pt x="121" y="29"/>
                  </a:lnTo>
                  <a:lnTo>
                    <a:pt x="97" y="45"/>
                  </a:lnTo>
                  <a:lnTo>
                    <a:pt x="74" y="63"/>
                  </a:lnTo>
                  <a:lnTo>
                    <a:pt x="55" y="84"/>
                  </a:lnTo>
                  <a:lnTo>
                    <a:pt x="38" y="107"/>
                  </a:lnTo>
                  <a:lnTo>
                    <a:pt x="24" y="134"/>
                  </a:lnTo>
                  <a:lnTo>
                    <a:pt x="10" y="163"/>
                  </a:lnTo>
                  <a:lnTo>
                    <a:pt x="0" y="195"/>
                  </a:lnTo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62" name="Line 91"/>
            <p:cNvSpPr>
              <a:spLocks noChangeShapeType="1"/>
            </p:cNvSpPr>
            <p:nvPr/>
          </p:nvSpPr>
          <p:spPr bwMode="auto">
            <a:xfrm flipV="1">
              <a:off x="1446213" y="4079875"/>
              <a:ext cx="1965325" cy="8731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63" name="Freeform 92"/>
            <p:cNvSpPr>
              <a:spLocks/>
            </p:cNvSpPr>
            <p:nvPr/>
          </p:nvSpPr>
          <p:spPr bwMode="auto">
            <a:xfrm>
              <a:off x="1265238" y="4430713"/>
              <a:ext cx="147637" cy="163512"/>
            </a:xfrm>
            <a:custGeom>
              <a:avLst/>
              <a:gdLst>
                <a:gd name="T0" fmla="*/ 2147483647 w 163"/>
                <a:gd name="T1" fmla="*/ 0 h 75"/>
                <a:gd name="T2" fmla="*/ 2147483647 w 163"/>
                <a:gd name="T3" fmla="*/ 2147483647 h 75"/>
                <a:gd name="T4" fmla="*/ 2147483647 w 163"/>
                <a:gd name="T5" fmla="*/ 2147483647 h 75"/>
                <a:gd name="T6" fmla="*/ 2147483647 w 163"/>
                <a:gd name="T7" fmla="*/ 2147483647 h 75"/>
                <a:gd name="T8" fmla="*/ 2147483647 w 163"/>
                <a:gd name="T9" fmla="*/ 2147483647 h 75"/>
                <a:gd name="T10" fmla="*/ 2147483647 w 163"/>
                <a:gd name="T11" fmla="*/ 2147483647 h 75"/>
                <a:gd name="T12" fmla="*/ 2147483647 w 163"/>
                <a:gd name="T13" fmla="*/ 2147483647 h 75"/>
                <a:gd name="T14" fmla="*/ 0 w 163"/>
                <a:gd name="T15" fmla="*/ 2147483647 h 7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3"/>
                <a:gd name="T25" fmla="*/ 0 h 75"/>
                <a:gd name="T26" fmla="*/ 163 w 163"/>
                <a:gd name="T27" fmla="*/ 75 h 7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3" h="75">
                  <a:moveTo>
                    <a:pt x="163" y="0"/>
                  </a:moveTo>
                  <a:lnTo>
                    <a:pt x="137" y="3"/>
                  </a:lnTo>
                  <a:lnTo>
                    <a:pt x="111" y="8"/>
                  </a:lnTo>
                  <a:lnTo>
                    <a:pt x="87" y="17"/>
                  </a:lnTo>
                  <a:lnTo>
                    <a:pt x="64" y="27"/>
                  </a:lnTo>
                  <a:lnTo>
                    <a:pt x="41" y="41"/>
                  </a:lnTo>
                  <a:lnTo>
                    <a:pt x="20" y="56"/>
                  </a:lnTo>
                  <a:lnTo>
                    <a:pt x="0" y="75"/>
                  </a:lnTo>
                </a:path>
              </a:pathLst>
            </a:custGeom>
            <a:noFill/>
            <a:ln w="28575">
              <a:solidFill>
                <a:srgbClr val="FFC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64" name="Line 93"/>
            <p:cNvSpPr>
              <a:spLocks noChangeShapeType="1"/>
            </p:cNvSpPr>
            <p:nvPr/>
          </p:nvSpPr>
          <p:spPr bwMode="auto">
            <a:xfrm flipV="1">
              <a:off x="1408113" y="4392613"/>
              <a:ext cx="2003425" cy="42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65" name="Freeform 94"/>
            <p:cNvSpPr>
              <a:spLocks noEditPoints="1"/>
            </p:cNvSpPr>
            <p:nvPr/>
          </p:nvSpPr>
          <p:spPr bwMode="auto">
            <a:xfrm>
              <a:off x="1260475" y="1849438"/>
              <a:ext cx="522288" cy="2738437"/>
            </a:xfrm>
            <a:custGeom>
              <a:avLst/>
              <a:gdLst>
                <a:gd name="T0" fmla="*/ 2147483647 w 578"/>
                <a:gd name="T1" fmla="*/ 2147483647 h 1263"/>
                <a:gd name="T2" fmla="*/ 2147483647 w 578"/>
                <a:gd name="T3" fmla="*/ 2147483647 h 1263"/>
                <a:gd name="T4" fmla="*/ 2147483647 w 578"/>
                <a:gd name="T5" fmla="*/ 2147483647 h 1263"/>
                <a:gd name="T6" fmla="*/ 2147483647 w 578"/>
                <a:gd name="T7" fmla="*/ 2147483647 h 1263"/>
                <a:gd name="T8" fmla="*/ 2147483647 w 578"/>
                <a:gd name="T9" fmla="*/ 2147483647 h 1263"/>
                <a:gd name="T10" fmla="*/ 2147483647 w 578"/>
                <a:gd name="T11" fmla="*/ 2147483647 h 1263"/>
                <a:gd name="T12" fmla="*/ 2147483647 w 578"/>
                <a:gd name="T13" fmla="*/ 2147483647 h 1263"/>
                <a:gd name="T14" fmla="*/ 2147483647 w 578"/>
                <a:gd name="T15" fmla="*/ 2147483647 h 1263"/>
                <a:gd name="T16" fmla="*/ 2147483647 w 578"/>
                <a:gd name="T17" fmla="*/ 2147483647 h 1263"/>
                <a:gd name="T18" fmla="*/ 2147483647 w 578"/>
                <a:gd name="T19" fmla="*/ 2147483647 h 1263"/>
                <a:gd name="T20" fmla="*/ 2147483647 w 578"/>
                <a:gd name="T21" fmla="*/ 2147483647 h 1263"/>
                <a:gd name="T22" fmla="*/ 2147483647 w 578"/>
                <a:gd name="T23" fmla="*/ 2147483647 h 1263"/>
                <a:gd name="T24" fmla="*/ 2147483647 w 578"/>
                <a:gd name="T25" fmla="*/ 2147483647 h 1263"/>
                <a:gd name="T26" fmla="*/ 2147483647 w 578"/>
                <a:gd name="T27" fmla="*/ 2147483647 h 1263"/>
                <a:gd name="T28" fmla="*/ 2147483647 w 578"/>
                <a:gd name="T29" fmla="*/ 2147483647 h 1263"/>
                <a:gd name="T30" fmla="*/ 2147483647 w 578"/>
                <a:gd name="T31" fmla="*/ 2147483647 h 1263"/>
                <a:gd name="T32" fmla="*/ 2147483647 w 578"/>
                <a:gd name="T33" fmla="*/ 2147483647 h 1263"/>
                <a:gd name="T34" fmla="*/ 2147483647 w 578"/>
                <a:gd name="T35" fmla="*/ 2147483647 h 1263"/>
                <a:gd name="T36" fmla="*/ 2147483647 w 578"/>
                <a:gd name="T37" fmla="*/ 2147483647 h 1263"/>
                <a:gd name="T38" fmla="*/ 2147483647 w 578"/>
                <a:gd name="T39" fmla="*/ 2147483647 h 1263"/>
                <a:gd name="T40" fmla="*/ 2147483647 w 578"/>
                <a:gd name="T41" fmla="*/ 2147483647 h 1263"/>
                <a:gd name="T42" fmla="*/ 2147483647 w 578"/>
                <a:gd name="T43" fmla="*/ 2147483647 h 1263"/>
                <a:gd name="T44" fmla="*/ 2147483647 w 578"/>
                <a:gd name="T45" fmla="*/ 2147483647 h 1263"/>
                <a:gd name="T46" fmla="*/ 2147483647 w 578"/>
                <a:gd name="T47" fmla="*/ 2147483647 h 1263"/>
                <a:gd name="T48" fmla="*/ 2147483647 w 578"/>
                <a:gd name="T49" fmla="*/ 2147483647 h 1263"/>
                <a:gd name="T50" fmla="*/ 2147483647 w 578"/>
                <a:gd name="T51" fmla="*/ 2147483647 h 1263"/>
                <a:gd name="T52" fmla="*/ 2147483647 w 578"/>
                <a:gd name="T53" fmla="*/ 2147483647 h 1263"/>
                <a:gd name="T54" fmla="*/ 2147483647 w 578"/>
                <a:gd name="T55" fmla="*/ 2147483647 h 1263"/>
                <a:gd name="T56" fmla="*/ 2147483647 w 578"/>
                <a:gd name="T57" fmla="*/ 2147483647 h 1263"/>
                <a:gd name="T58" fmla="*/ 2147483647 w 578"/>
                <a:gd name="T59" fmla="*/ 2147483647 h 1263"/>
                <a:gd name="T60" fmla="*/ 2147483647 w 578"/>
                <a:gd name="T61" fmla="*/ 2147483647 h 1263"/>
                <a:gd name="T62" fmla="*/ 2147483647 w 578"/>
                <a:gd name="T63" fmla="*/ 2147483647 h 1263"/>
                <a:gd name="T64" fmla="*/ 2147483647 w 578"/>
                <a:gd name="T65" fmla="*/ 2147483647 h 1263"/>
                <a:gd name="T66" fmla="*/ 2147483647 w 578"/>
                <a:gd name="T67" fmla="*/ 2147483647 h 1263"/>
                <a:gd name="T68" fmla="*/ 2147483647 w 578"/>
                <a:gd name="T69" fmla="*/ 2147483647 h 1263"/>
                <a:gd name="T70" fmla="*/ 2147483647 w 578"/>
                <a:gd name="T71" fmla="*/ 2147483647 h 1263"/>
                <a:gd name="T72" fmla="*/ 2147483647 w 578"/>
                <a:gd name="T73" fmla="*/ 2147483647 h 1263"/>
                <a:gd name="T74" fmla="*/ 2147483647 w 578"/>
                <a:gd name="T75" fmla="*/ 2147483647 h 1263"/>
                <a:gd name="T76" fmla="*/ 2147483647 w 578"/>
                <a:gd name="T77" fmla="*/ 2147483647 h 1263"/>
                <a:gd name="T78" fmla="*/ 2147483647 w 578"/>
                <a:gd name="T79" fmla="*/ 2147483647 h 1263"/>
                <a:gd name="T80" fmla="*/ 2147483647 w 578"/>
                <a:gd name="T81" fmla="*/ 2147483647 h 1263"/>
                <a:gd name="T82" fmla="*/ 2147483647 w 578"/>
                <a:gd name="T83" fmla="*/ 2147483647 h 1263"/>
                <a:gd name="T84" fmla="*/ 2147483647 w 578"/>
                <a:gd name="T85" fmla="*/ 2147483647 h 1263"/>
                <a:gd name="T86" fmla="*/ 2147483647 w 578"/>
                <a:gd name="T87" fmla="*/ 2147483647 h 1263"/>
                <a:gd name="T88" fmla="*/ 2147483647 w 578"/>
                <a:gd name="T89" fmla="*/ 2147483647 h 1263"/>
                <a:gd name="T90" fmla="*/ 2147483647 w 578"/>
                <a:gd name="T91" fmla="*/ 2147483647 h 1263"/>
                <a:gd name="T92" fmla="*/ 2147483647 w 578"/>
                <a:gd name="T93" fmla="*/ 2147483647 h 1263"/>
                <a:gd name="T94" fmla="*/ 2147483647 w 578"/>
                <a:gd name="T95" fmla="*/ 2147483647 h 1263"/>
                <a:gd name="T96" fmla="*/ 2147483647 w 578"/>
                <a:gd name="T97" fmla="*/ 0 h 1263"/>
                <a:gd name="T98" fmla="*/ 2147483647 w 578"/>
                <a:gd name="T99" fmla="*/ 2147483647 h 1263"/>
                <a:gd name="T100" fmla="*/ 2147483647 w 578"/>
                <a:gd name="T101" fmla="*/ 2147483647 h 126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78"/>
                <a:gd name="T154" fmla="*/ 0 h 1263"/>
                <a:gd name="T155" fmla="*/ 578 w 578"/>
                <a:gd name="T156" fmla="*/ 1263 h 126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78" h="1263">
                  <a:moveTo>
                    <a:pt x="6" y="1254"/>
                  </a:moveTo>
                  <a:lnTo>
                    <a:pt x="27" y="1250"/>
                  </a:lnTo>
                  <a:lnTo>
                    <a:pt x="26" y="1251"/>
                  </a:lnTo>
                  <a:lnTo>
                    <a:pt x="45" y="1245"/>
                  </a:lnTo>
                  <a:lnTo>
                    <a:pt x="43" y="1246"/>
                  </a:lnTo>
                  <a:lnTo>
                    <a:pt x="64" y="1236"/>
                  </a:lnTo>
                  <a:lnTo>
                    <a:pt x="85" y="1224"/>
                  </a:lnTo>
                  <a:lnTo>
                    <a:pt x="97" y="1215"/>
                  </a:lnTo>
                  <a:lnTo>
                    <a:pt x="99" y="1214"/>
                  </a:lnTo>
                  <a:lnTo>
                    <a:pt x="102" y="1213"/>
                  </a:lnTo>
                  <a:lnTo>
                    <a:pt x="106" y="1213"/>
                  </a:lnTo>
                  <a:lnTo>
                    <a:pt x="109" y="1214"/>
                  </a:lnTo>
                  <a:lnTo>
                    <a:pt x="111" y="1216"/>
                  </a:lnTo>
                  <a:lnTo>
                    <a:pt x="111" y="1217"/>
                  </a:lnTo>
                  <a:lnTo>
                    <a:pt x="111" y="1220"/>
                  </a:lnTo>
                  <a:lnTo>
                    <a:pt x="109" y="1222"/>
                  </a:lnTo>
                  <a:lnTo>
                    <a:pt x="95" y="1232"/>
                  </a:lnTo>
                  <a:lnTo>
                    <a:pt x="74" y="1245"/>
                  </a:lnTo>
                  <a:lnTo>
                    <a:pt x="53" y="1254"/>
                  </a:lnTo>
                  <a:lnTo>
                    <a:pt x="52" y="1255"/>
                  </a:lnTo>
                  <a:lnTo>
                    <a:pt x="33" y="1260"/>
                  </a:lnTo>
                  <a:lnTo>
                    <a:pt x="31" y="1261"/>
                  </a:lnTo>
                  <a:lnTo>
                    <a:pt x="10" y="1263"/>
                  </a:lnTo>
                  <a:lnTo>
                    <a:pt x="6" y="1263"/>
                  </a:lnTo>
                  <a:lnTo>
                    <a:pt x="5" y="1263"/>
                  </a:lnTo>
                  <a:lnTo>
                    <a:pt x="1" y="1261"/>
                  </a:lnTo>
                  <a:lnTo>
                    <a:pt x="0" y="1260"/>
                  </a:lnTo>
                  <a:lnTo>
                    <a:pt x="0" y="1258"/>
                  </a:lnTo>
                  <a:lnTo>
                    <a:pt x="1" y="1256"/>
                  </a:lnTo>
                  <a:lnTo>
                    <a:pt x="3" y="1255"/>
                  </a:lnTo>
                  <a:lnTo>
                    <a:pt x="6" y="1254"/>
                  </a:lnTo>
                  <a:close/>
                  <a:moveTo>
                    <a:pt x="144" y="1173"/>
                  </a:moveTo>
                  <a:lnTo>
                    <a:pt x="144" y="1171"/>
                  </a:lnTo>
                  <a:lnTo>
                    <a:pt x="165" y="1148"/>
                  </a:lnTo>
                  <a:lnTo>
                    <a:pt x="186" y="1121"/>
                  </a:lnTo>
                  <a:lnTo>
                    <a:pt x="195" y="1107"/>
                  </a:lnTo>
                  <a:lnTo>
                    <a:pt x="198" y="1106"/>
                  </a:lnTo>
                  <a:lnTo>
                    <a:pt x="200" y="1105"/>
                  </a:lnTo>
                  <a:lnTo>
                    <a:pt x="203" y="1105"/>
                  </a:lnTo>
                  <a:lnTo>
                    <a:pt x="207" y="1105"/>
                  </a:lnTo>
                  <a:lnTo>
                    <a:pt x="208" y="1106"/>
                  </a:lnTo>
                  <a:lnTo>
                    <a:pt x="210" y="1108"/>
                  </a:lnTo>
                  <a:lnTo>
                    <a:pt x="212" y="1109"/>
                  </a:lnTo>
                  <a:lnTo>
                    <a:pt x="210" y="1112"/>
                  </a:lnTo>
                  <a:lnTo>
                    <a:pt x="201" y="1126"/>
                  </a:lnTo>
                  <a:lnTo>
                    <a:pt x="181" y="1152"/>
                  </a:lnTo>
                  <a:lnTo>
                    <a:pt x="160" y="1176"/>
                  </a:lnTo>
                  <a:lnTo>
                    <a:pt x="158" y="1178"/>
                  </a:lnTo>
                  <a:lnTo>
                    <a:pt x="154" y="1179"/>
                  </a:lnTo>
                  <a:lnTo>
                    <a:pt x="153" y="1180"/>
                  </a:lnTo>
                  <a:lnTo>
                    <a:pt x="149" y="1180"/>
                  </a:lnTo>
                  <a:lnTo>
                    <a:pt x="146" y="1179"/>
                  </a:lnTo>
                  <a:lnTo>
                    <a:pt x="144" y="1178"/>
                  </a:lnTo>
                  <a:lnTo>
                    <a:pt x="142" y="1176"/>
                  </a:lnTo>
                  <a:lnTo>
                    <a:pt x="142" y="1175"/>
                  </a:lnTo>
                  <a:lnTo>
                    <a:pt x="144" y="1173"/>
                  </a:lnTo>
                  <a:close/>
                  <a:moveTo>
                    <a:pt x="228" y="1059"/>
                  </a:moveTo>
                  <a:lnTo>
                    <a:pt x="247" y="1027"/>
                  </a:lnTo>
                  <a:lnTo>
                    <a:pt x="268" y="991"/>
                  </a:lnTo>
                  <a:lnTo>
                    <a:pt x="268" y="990"/>
                  </a:lnTo>
                  <a:lnTo>
                    <a:pt x="269" y="989"/>
                  </a:lnTo>
                  <a:lnTo>
                    <a:pt x="271" y="988"/>
                  </a:lnTo>
                  <a:lnTo>
                    <a:pt x="275" y="987"/>
                  </a:lnTo>
                  <a:lnTo>
                    <a:pt x="278" y="987"/>
                  </a:lnTo>
                  <a:lnTo>
                    <a:pt x="280" y="988"/>
                  </a:lnTo>
                  <a:lnTo>
                    <a:pt x="283" y="990"/>
                  </a:lnTo>
                  <a:lnTo>
                    <a:pt x="283" y="991"/>
                  </a:lnTo>
                  <a:lnTo>
                    <a:pt x="283" y="994"/>
                  </a:lnTo>
                  <a:lnTo>
                    <a:pt x="283" y="995"/>
                  </a:lnTo>
                  <a:lnTo>
                    <a:pt x="262" y="1031"/>
                  </a:lnTo>
                  <a:lnTo>
                    <a:pt x="243" y="1064"/>
                  </a:lnTo>
                  <a:lnTo>
                    <a:pt x="242" y="1065"/>
                  </a:lnTo>
                  <a:lnTo>
                    <a:pt x="238" y="1066"/>
                  </a:lnTo>
                  <a:lnTo>
                    <a:pt x="236" y="1067"/>
                  </a:lnTo>
                  <a:lnTo>
                    <a:pt x="233" y="1067"/>
                  </a:lnTo>
                  <a:lnTo>
                    <a:pt x="229" y="1066"/>
                  </a:lnTo>
                  <a:lnTo>
                    <a:pt x="228" y="1064"/>
                  </a:lnTo>
                  <a:lnTo>
                    <a:pt x="228" y="1061"/>
                  </a:lnTo>
                  <a:lnTo>
                    <a:pt x="228" y="1059"/>
                  </a:lnTo>
                  <a:close/>
                  <a:moveTo>
                    <a:pt x="292" y="941"/>
                  </a:moveTo>
                  <a:lnTo>
                    <a:pt x="306" y="912"/>
                  </a:lnTo>
                  <a:lnTo>
                    <a:pt x="325" y="870"/>
                  </a:lnTo>
                  <a:lnTo>
                    <a:pt x="327" y="869"/>
                  </a:lnTo>
                  <a:lnTo>
                    <a:pt x="329" y="868"/>
                  </a:lnTo>
                  <a:lnTo>
                    <a:pt x="332" y="867"/>
                  </a:lnTo>
                  <a:lnTo>
                    <a:pt x="336" y="867"/>
                  </a:lnTo>
                  <a:lnTo>
                    <a:pt x="339" y="868"/>
                  </a:lnTo>
                  <a:lnTo>
                    <a:pt x="341" y="869"/>
                  </a:lnTo>
                  <a:lnTo>
                    <a:pt x="341" y="871"/>
                  </a:lnTo>
                  <a:lnTo>
                    <a:pt x="341" y="874"/>
                  </a:lnTo>
                  <a:lnTo>
                    <a:pt x="322" y="915"/>
                  </a:lnTo>
                  <a:lnTo>
                    <a:pt x="308" y="945"/>
                  </a:lnTo>
                  <a:lnTo>
                    <a:pt x="308" y="946"/>
                  </a:lnTo>
                  <a:lnTo>
                    <a:pt x="304" y="947"/>
                  </a:lnTo>
                  <a:lnTo>
                    <a:pt x="301" y="948"/>
                  </a:lnTo>
                  <a:lnTo>
                    <a:pt x="297" y="948"/>
                  </a:lnTo>
                  <a:lnTo>
                    <a:pt x="296" y="947"/>
                  </a:lnTo>
                  <a:lnTo>
                    <a:pt x="294" y="945"/>
                  </a:lnTo>
                  <a:lnTo>
                    <a:pt x="292" y="943"/>
                  </a:lnTo>
                  <a:lnTo>
                    <a:pt x="292" y="941"/>
                  </a:lnTo>
                  <a:close/>
                  <a:moveTo>
                    <a:pt x="346" y="820"/>
                  </a:moveTo>
                  <a:lnTo>
                    <a:pt x="363" y="779"/>
                  </a:lnTo>
                  <a:lnTo>
                    <a:pt x="374" y="749"/>
                  </a:lnTo>
                  <a:lnTo>
                    <a:pt x="376" y="747"/>
                  </a:lnTo>
                  <a:lnTo>
                    <a:pt x="379" y="746"/>
                  </a:lnTo>
                  <a:lnTo>
                    <a:pt x="381" y="745"/>
                  </a:lnTo>
                  <a:lnTo>
                    <a:pt x="384" y="745"/>
                  </a:lnTo>
                  <a:lnTo>
                    <a:pt x="388" y="746"/>
                  </a:lnTo>
                  <a:lnTo>
                    <a:pt x="390" y="748"/>
                  </a:lnTo>
                  <a:lnTo>
                    <a:pt x="391" y="749"/>
                  </a:lnTo>
                  <a:lnTo>
                    <a:pt x="391" y="751"/>
                  </a:lnTo>
                  <a:lnTo>
                    <a:pt x="379" y="781"/>
                  </a:lnTo>
                  <a:lnTo>
                    <a:pt x="363" y="822"/>
                  </a:lnTo>
                  <a:lnTo>
                    <a:pt x="362" y="824"/>
                  </a:lnTo>
                  <a:lnTo>
                    <a:pt x="360" y="825"/>
                  </a:lnTo>
                  <a:lnTo>
                    <a:pt x="356" y="827"/>
                  </a:lnTo>
                  <a:lnTo>
                    <a:pt x="353" y="827"/>
                  </a:lnTo>
                  <a:lnTo>
                    <a:pt x="349" y="825"/>
                  </a:lnTo>
                  <a:lnTo>
                    <a:pt x="348" y="824"/>
                  </a:lnTo>
                  <a:lnTo>
                    <a:pt x="346" y="822"/>
                  </a:lnTo>
                  <a:lnTo>
                    <a:pt x="346" y="820"/>
                  </a:lnTo>
                  <a:close/>
                  <a:moveTo>
                    <a:pt x="393" y="698"/>
                  </a:moveTo>
                  <a:lnTo>
                    <a:pt x="400" y="679"/>
                  </a:lnTo>
                  <a:lnTo>
                    <a:pt x="417" y="628"/>
                  </a:lnTo>
                  <a:lnTo>
                    <a:pt x="417" y="627"/>
                  </a:lnTo>
                  <a:lnTo>
                    <a:pt x="419" y="625"/>
                  </a:lnTo>
                  <a:lnTo>
                    <a:pt x="421" y="623"/>
                  </a:lnTo>
                  <a:lnTo>
                    <a:pt x="424" y="622"/>
                  </a:lnTo>
                  <a:lnTo>
                    <a:pt x="428" y="622"/>
                  </a:lnTo>
                  <a:lnTo>
                    <a:pt x="430" y="623"/>
                  </a:lnTo>
                  <a:lnTo>
                    <a:pt x="433" y="625"/>
                  </a:lnTo>
                  <a:lnTo>
                    <a:pt x="433" y="627"/>
                  </a:lnTo>
                  <a:lnTo>
                    <a:pt x="433" y="628"/>
                  </a:lnTo>
                  <a:lnTo>
                    <a:pt x="433" y="630"/>
                  </a:lnTo>
                  <a:lnTo>
                    <a:pt x="416" y="681"/>
                  </a:lnTo>
                  <a:lnTo>
                    <a:pt x="409" y="700"/>
                  </a:lnTo>
                  <a:lnTo>
                    <a:pt x="409" y="702"/>
                  </a:lnTo>
                  <a:lnTo>
                    <a:pt x="405" y="703"/>
                  </a:lnTo>
                  <a:lnTo>
                    <a:pt x="403" y="704"/>
                  </a:lnTo>
                  <a:lnTo>
                    <a:pt x="400" y="704"/>
                  </a:lnTo>
                  <a:lnTo>
                    <a:pt x="397" y="703"/>
                  </a:lnTo>
                  <a:lnTo>
                    <a:pt x="395" y="702"/>
                  </a:lnTo>
                  <a:lnTo>
                    <a:pt x="393" y="700"/>
                  </a:lnTo>
                  <a:lnTo>
                    <a:pt x="393" y="698"/>
                  </a:lnTo>
                  <a:close/>
                  <a:moveTo>
                    <a:pt x="433" y="574"/>
                  </a:moveTo>
                  <a:lnTo>
                    <a:pt x="433" y="574"/>
                  </a:lnTo>
                  <a:lnTo>
                    <a:pt x="450" y="519"/>
                  </a:lnTo>
                  <a:lnTo>
                    <a:pt x="454" y="502"/>
                  </a:lnTo>
                  <a:lnTo>
                    <a:pt x="456" y="501"/>
                  </a:lnTo>
                  <a:lnTo>
                    <a:pt x="457" y="499"/>
                  </a:lnTo>
                  <a:lnTo>
                    <a:pt x="461" y="499"/>
                  </a:lnTo>
                  <a:lnTo>
                    <a:pt x="464" y="499"/>
                  </a:lnTo>
                  <a:lnTo>
                    <a:pt x="468" y="499"/>
                  </a:lnTo>
                  <a:lnTo>
                    <a:pt x="470" y="501"/>
                  </a:lnTo>
                  <a:lnTo>
                    <a:pt x="471" y="502"/>
                  </a:lnTo>
                  <a:lnTo>
                    <a:pt x="471" y="504"/>
                  </a:lnTo>
                  <a:lnTo>
                    <a:pt x="466" y="521"/>
                  </a:lnTo>
                  <a:lnTo>
                    <a:pt x="450" y="577"/>
                  </a:lnTo>
                  <a:lnTo>
                    <a:pt x="449" y="579"/>
                  </a:lnTo>
                  <a:lnTo>
                    <a:pt x="447" y="580"/>
                  </a:lnTo>
                  <a:lnTo>
                    <a:pt x="444" y="581"/>
                  </a:lnTo>
                  <a:lnTo>
                    <a:pt x="440" y="581"/>
                  </a:lnTo>
                  <a:lnTo>
                    <a:pt x="437" y="580"/>
                  </a:lnTo>
                  <a:lnTo>
                    <a:pt x="435" y="579"/>
                  </a:lnTo>
                  <a:lnTo>
                    <a:pt x="433" y="577"/>
                  </a:lnTo>
                  <a:lnTo>
                    <a:pt x="433" y="574"/>
                  </a:lnTo>
                  <a:close/>
                  <a:moveTo>
                    <a:pt x="468" y="451"/>
                  </a:moveTo>
                  <a:lnTo>
                    <a:pt x="480" y="404"/>
                  </a:lnTo>
                  <a:lnTo>
                    <a:pt x="487" y="379"/>
                  </a:lnTo>
                  <a:lnTo>
                    <a:pt x="489" y="377"/>
                  </a:lnTo>
                  <a:lnTo>
                    <a:pt x="491" y="376"/>
                  </a:lnTo>
                  <a:lnTo>
                    <a:pt x="494" y="375"/>
                  </a:lnTo>
                  <a:lnTo>
                    <a:pt x="497" y="375"/>
                  </a:lnTo>
                  <a:lnTo>
                    <a:pt x="499" y="376"/>
                  </a:lnTo>
                  <a:lnTo>
                    <a:pt x="503" y="377"/>
                  </a:lnTo>
                  <a:lnTo>
                    <a:pt x="503" y="378"/>
                  </a:lnTo>
                  <a:lnTo>
                    <a:pt x="504" y="380"/>
                  </a:lnTo>
                  <a:lnTo>
                    <a:pt x="497" y="406"/>
                  </a:lnTo>
                  <a:lnTo>
                    <a:pt x="485" y="453"/>
                  </a:lnTo>
                  <a:lnTo>
                    <a:pt x="484" y="455"/>
                  </a:lnTo>
                  <a:lnTo>
                    <a:pt x="482" y="456"/>
                  </a:lnTo>
                  <a:lnTo>
                    <a:pt x="478" y="458"/>
                  </a:lnTo>
                  <a:lnTo>
                    <a:pt x="475" y="458"/>
                  </a:lnTo>
                  <a:lnTo>
                    <a:pt x="473" y="456"/>
                  </a:lnTo>
                  <a:lnTo>
                    <a:pt x="470" y="455"/>
                  </a:lnTo>
                  <a:lnTo>
                    <a:pt x="470" y="453"/>
                  </a:lnTo>
                  <a:lnTo>
                    <a:pt x="468" y="451"/>
                  </a:lnTo>
                  <a:close/>
                  <a:moveTo>
                    <a:pt x="499" y="326"/>
                  </a:moveTo>
                  <a:lnTo>
                    <a:pt x="510" y="285"/>
                  </a:lnTo>
                  <a:lnTo>
                    <a:pt x="515" y="254"/>
                  </a:lnTo>
                  <a:lnTo>
                    <a:pt x="517" y="252"/>
                  </a:lnTo>
                  <a:lnTo>
                    <a:pt x="518" y="251"/>
                  </a:lnTo>
                  <a:lnTo>
                    <a:pt x="522" y="250"/>
                  </a:lnTo>
                  <a:lnTo>
                    <a:pt x="525" y="250"/>
                  </a:lnTo>
                  <a:lnTo>
                    <a:pt x="529" y="250"/>
                  </a:lnTo>
                  <a:lnTo>
                    <a:pt x="531" y="252"/>
                  </a:lnTo>
                  <a:lnTo>
                    <a:pt x="532" y="253"/>
                  </a:lnTo>
                  <a:lnTo>
                    <a:pt x="532" y="255"/>
                  </a:lnTo>
                  <a:lnTo>
                    <a:pt x="525" y="286"/>
                  </a:lnTo>
                  <a:lnTo>
                    <a:pt x="517" y="329"/>
                  </a:lnTo>
                  <a:lnTo>
                    <a:pt x="515" y="331"/>
                  </a:lnTo>
                  <a:lnTo>
                    <a:pt x="513" y="332"/>
                  </a:lnTo>
                  <a:lnTo>
                    <a:pt x="510" y="333"/>
                  </a:lnTo>
                  <a:lnTo>
                    <a:pt x="506" y="333"/>
                  </a:lnTo>
                  <a:lnTo>
                    <a:pt x="503" y="332"/>
                  </a:lnTo>
                  <a:lnTo>
                    <a:pt x="501" y="331"/>
                  </a:lnTo>
                  <a:lnTo>
                    <a:pt x="499" y="329"/>
                  </a:lnTo>
                  <a:lnTo>
                    <a:pt x="499" y="326"/>
                  </a:lnTo>
                  <a:close/>
                  <a:moveTo>
                    <a:pt x="525" y="202"/>
                  </a:moveTo>
                  <a:lnTo>
                    <a:pt x="539" y="130"/>
                  </a:lnTo>
                  <a:lnTo>
                    <a:pt x="541" y="128"/>
                  </a:lnTo>
                  <a:lnTo>
                    <a:pt x="543" y="126"/>
                  </a:lnTo>
                  <a:lnTo>
                    <a:pt x="546" y="126"/>
                  </a:lnTo>
                  <a:lnTo>
                    <a:pt x="550" y="124"/>
                  </a:lnTo>
                  <a:lnTo>
                    <a:pt x="553" y="126"/>
                  </a:lnTo>
                  <a:lnTo>
                    <a:pt x="555" y="127"/>
                  </a:lnTo>
                  <a:lnTo>
                    <a:pt x="557" y="129"/>
                  </a:lnTo>
                  <a:lnTo>
                    <a:pt x="557" y="131"/>
                  </a:lnTo>
                  <a:lnTo>
                    <a:pt x="543" y="204"/>
                  </a:lnTo>
                  <a:lnTo>
                    <a:pt x="541" y="205"/>
                  </a:lnTo>
                  <a:lnTo>
                    <a:pt x="539" y="207"/>
                  </a:lnTo>
                  <a:lnTo>
                    <a:pt x="538" y="209"/>
                  </a:lnTo>
                  <a:lnTo>
                    <a:pt x="534" y="209"/>
                  </a:lnTo>
                  <a:lnTo>
                    <a:pt x="531" y="207"/>
                  </a:lnTo>
                  <a:lnTo>
                    <a:pt x="527" y="206"/>
                  </a:lnTo>
                  <a:lnTo>
                    <a:pt x="527" y="204"/>
                  </a:lnTo>
                  <a:lnTo>
                    <a:pt x="525" y="202"/>
                  </a:lnTo>
                  <a:close/>
                  <a:moveTo>
                    <a:pt x="550" y="78"/>
                  </a:moveTo>
                  <a:lnTo>
                    <a:pt x="560" y="4"/>
                  </a:lnTo>
                  <a:lnTo>
                    <a:pt x="562" y="2"/>
                  </a:lnTo>
                  <a:lnTo>
                    <a:pt x="564" y="1"/>
                  </a:lnTo>
                  <a:lnTo>
                    <a:pt x="567" y="0"/>
                  </a:lnTo>
                  <a:lnTo>
                    <a:pt x="571" y="0"/>
                  </a:lnTo>
                  <a:lnTo>
                    <a:pt x="572" y="0"/>
                  </a:lnTo>
                  <a:lnTo>
                    <a:pt x="576" y="2"/>
                  </a:lnTo>
                  <a:lnTo>
                    <a:pt x="578" y="3"/>
                  </a:lnTo>
                  <a:lnTo>
                    <a:pt x="578" y="5"/>
                  </a:lnTo>
                  <a:lnTo>
                    <a:pt x="565" y="79"/>
                  </a:lnTo>
                  <a:lnTo>
                    <a:pt x="565" y="81"/>
                  </a:lnTo>
                  <a:lnTo>
                    <a:pt x="562" y="82"/>
                  </a:lnTo>
                  <a:lnTo>
                    <a:pt x="560" y="83"/>
                  </a:lnTo>
                  <a:lnTo>
                    <a:pt x="557" y="83"/>
                  </a:lnTo>
                  <a:lnTo>
                    <a:pt x="553" y="83"/>
                  </a:lnTo>
                  <a:lnTo>
                    <a:pt x="551" y="82"/>
                  </a:lnTo>
                  <a:lnTo>
                    <a:pt x="550" y="80"/>
                  </a:lnTo>
                  <a:lnTo>
                    <a:pt x="550" y="78"/>
                  </a:lnTo>
                  <a:close/>
                </a:path>
              </a:pathLst>
            </a:custGeom>
            <a:solidFill>
              <a:srgbClr val="000000"/>
            </a:solidFill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66" name="Rectangle 95"/>
            <p:cNvSpPr>
              <a:spLocks noChangeArrowheads="1"/>
            </p:cNvSpPr>
            <p:nvPr/>
          </p:nvSpPr>
          <p:spPr bwMode="auto">
            <a:xfrm>
              <a:off x="3971925" y="3865563"/>
              <a:ext cx="64120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.</a:t>
              </a:r>
            </a:p>
          </p:txBody>
        </p:sp>
        <p:sp>
          <p:nvSpPr>
            <p:cNvPr id="3167" name="Rectangle 96"/>
            <p:cNvSpPr>
              <a:spLocks noChangeArrowheads="1"/>
            </p:cNvSpPr>
            <p:nvPr/>
          </p:nvSpPr>
          <p:spPr bwMode="auto">
            <a:xfrm>
              <a:off x="3422649" y="2970212"/>
              <a:ext cx="1224655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18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GS</a:t>
              </a:r>
              <a:r>
                <a:rPr kumimoji="0" lang="en-US" altLang="zh-CN" sz="1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=3.5V</a:t>
              </a:r>
              <a:endParaRPr kumimoji="0" lang="en-US" altLang="zh-CN" sz="1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74" name="Rectangle 103"/>
            <p:cNvSpPr>
              <a:spLocks noChangeArrowheads="1"/>
            </p:cNvSpPr>
            <p:nvPr/>
          </p:nvSpPr>
          <p:spPr bwMode="auto">
            <a:xfrm>
              <a:off x="3422650" y="2414371"/>
              <a:ext cx="965008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1800" i="1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GS</a:t>
              </a:r>
              <a:r>
                <a:rPr kumimoji="0" lang="en-US" altLang="zh-CN" sz="1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kumimoji="0" lang="en-US" altLang="zh-CN" sz="1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4.0V</a:t>
              </a:r>
              <a:endParaRPr kumimoji="0" lang="en-US" altLang="zh-CN" sz="1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75" name="Rectangle 104"/>
            <p:cNvSpPr>
              <a:spLocks noChangeArrowheads="1"/>
            </p:cNvSpPr>
            <p:nvPr/>
          </p:nvSpPr>
          <p:spPr bwMode="auto">
            <a:xfrm>
              <a:off x="3422650" y="1951038"/>
              <a:ext cx="1160108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18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GS</a:t>
              </a:r>
              <a:r>
                <a:rPr kumimoji="0" lang="en-US" altLang="zh-CN" sz="1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=4.5V</a:t>
              </a:r>
              <a:endParaRPr kumimoji="0" lang="en-US" altLang="zh-CN" sz="1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82" name="Rectangle 111"/>
            <p:cNvSpPr>
              <a:spLocks noChangeArrowheads="1"/>
            </p:cNvSpPr>
            <p:nvPr/>
          </p:nvSpPr>
          <p:spPr bwMode="auto">
            <a:xfrm>
              <a:off x="468313" y="1577975"/>
              <a:ext cx="258084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zh-CN" altLang="en-US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可</a:t>
              </a:r>
            </a:p>
          </p:txBody>
        </p:sp>
        <p:sp>
          <p:nvSpPr>
            <p:cNvPr id="3183" name="Rectangle 112"/>
            <p:cNvSpPr>
              <a:spLocks noChangeArrowheads="1"/>
            </p:cNvSpPr>
            <p:nvPr/>
          </p:nvSpPr>
          <p:spPr bwMode="auto">
            <a:xfrm>
              <a:off x="468313" y="1917700"/>
              <a:ext cx="258084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zh-CN" altLang="en-US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变</a:t>
              </a:r>
            </a:p>
          </p:txBody>
        </p:sp>
        <p:sp>
          <p:nvSpPr>
            <p:cNvPr id="3184" name="Rectangle 113"/>
            <p:cNvSpPr>
              <a:spLocks noChangeArrowheads="1"/>
            </p:cNvSpPr>
            <p:nvPr/>
          </p:nvSpPr>
          <p:spPr bwMode="auto">
            <a:xfrm>
              <a:off x="468313" y="2259013"/>
              <a:ext cx="258084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zh-CN" altLang="en-US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电</a:t>
              </a:r>
            </a:p>
          </p:txBody>
        </p:sp>
        <p:sp>
          <p:nvSpPr>
            <p:cNvPr id="3185" name="Rectangle 114"/>
            <p:cNvSpPr>
              <a:spLocks noChangeArrowheads="1"/>
            </p:cNvSpPr>
            <p:nvPr/>
          </p:nvSpPr>
          <p:spPr bwMode="auto">
            <a:xfrm>
              <a:off x="468313" y="2601913"/>
              <a:ext cx="258084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zh-CN" altLang="en-US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阻</a:t>
              </a:r>
            </a:p>
          </p:txBody>
        </p:sp>
        <p:sp>
          <p:nvSpPr>
            <p:cNvPr id="3186" name="Rectangle 115"/>
            <p:cNvSpPr>
              <a:spLocks noChangeArrowheads="1"/>
            </p:cNvSpPr>
            <p:nvPr/>
          </p:nvSpPr>
          <p:spPr bwMode="auto">
            <a:xfrm>
              <a:off x="468313" y="2965451"/>
              <a:ext cx="258084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zh-CN" altLang="en-US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区</a:t>
              </a:r>
            </a:p>
          </p:txBody>
        </p:sp>
        <p:sp>
          <p:nvSpPr>
            <p:cNvPr id="3187" name="Line 116"/>
            <p:cNvSpPr>
              <a:spLocks noChangeShapeType="1"/>
            </p:cNvSpPr>
            <p:nvPr/>
          </p:nvSpPr>
          <p:spPr bwMode="auto">
            <a:xfrm>
              <a:off x="868213" y="1851025"/>
              <a:ext cx="627099" cy="1713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89" name="Line 118"/>
            <p:cNvSpPr>
              <a:spLocks noChangeShapeType="1"/>
            </p:cNvSpPr>
            <p:nvPr/>
          </p:nvSpPr>
          <p:spPr bwMode="auto">
            <a:xfrm flipH="1">
              <a:off x="1796526" y="1836738"/>
              <a:ext cx="516461" cy="185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91" name="Rectangle 120"/>
            <p:cNvSpPr>
              <a:spLocks noChangeArrowheads="1"/>
            </p:cNvSpPr>
            <p:nvPr/>
          </p:nvSpPr>
          <p:spPr bwMode="auto">
            <a:xfrm>
              <a:off x="2320925" y="1531937"/>
              <a:ext cx="1032334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zh-CN" altLang="en-US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预夹断线</a:t>
              </a:r>
            </a:p>
          </p:txBody>
        </p:sp>
        <p:sp>
          <p:nvSpPr>
            <p:cNvPr id="3192" name="Rectangle 121"/>
            <p:cNvSpPr>
              <a:spLocks noChangeArrowheads="1"/>
            </p:cNvSpPr>
            <p:nvPr/>
          </p:nvSpPr>
          <p:spPr bwMode="auto">
            <a:xfrm>
              <a:off x="2220034" y="2793731"/>
              <a:ext cx="774251" cy="410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zh-CN" altLang="en-US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恒流区</a:t>
              </a:r>
            </a:p>
          </p:txBody>
        </p:sp>
        <p:sp>
          <p:nvSpPr>
            <p:cNvPr id="3193" name="Rectangle 122"/>
            <p:cNvSpPr>
              <a:spLocks noChangeArrowheads="1"/>
            </p:cNvSpPr>
            <p:nvPr/>
          </p:nvSpPr>
          <p:spPr bwMode="auto">
            <a:xfrm>
              <a:off x="3422650" y="3341688"/>
              <a:ext cx="965008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1800" i="1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GS</a:t>
              </a:r>
              <a:r>
                <a:rPr kumimoji="0" lang="en-US" altLang="zh-CN" sz="1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kumimoji="0" lang="en-US" altLang="zh-CN" sz="1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3.5V</a:t>
              </a:r>
              <a:endParaRPr kumimoji="0" lang="en-US" altLang="zh-CN" sz="1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94" name="Rectangle 123"/>
            <p:cNvSpPr>
              <a:spLocks noChangeArrowheads="1"/>
            </p:cNvSpPr>
            <p:nvPr/>
          </p:nvSpPr>
          <p:spPr bwMode="auto">
            <a:xfrm>
              <a:off x="3422650" y="3733800"/>
              <a:ext cx="965008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1800" i="1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GS</a:t>
              </a:r>
              <a:r>
                <a:rPr kumimoji="0" lang="en-US" altLang="zh-CN" sz="1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kumimoji="0" lang="en-US" altLang="zh-CN" sz="1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3.0V</a:t>
              </a:r>
              <a:endParaRPr kumimoji="0" lang="en-US" altLang="zh-CN" sz="1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95" name="Rectangle 124"/>
            <p:cNvSpPr>
              <a:spLocks noChangeArrowheads="1"/>
            </p:cNvSpPr>
            <p:nvPr/>
          </p:nvSpPr>
          <p:spPr bwMode="auto">
            <a:xfrm>
              <a:off x="3422650" y="4125915"/>
              <a:ext cx="965008" cy="369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1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1800" i="1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GS</a:t>
              </a:r>
              <a:r>
                <a:rPr kumimoji="0" lang="en-US" altLang="zh-CN" sz="18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kumimoji="0" lang="en-US" altLang="zh-CN" sz="1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2.5V</a:t>
              </a:r>
              <a:endParaRPr kumimoji="0" lang="en-US" altLang="zh-CN" sz="1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9" name="Text Box 133"/>
            <p:cNvSpPr txBox="1">
              <a:spLocks noChangeArrowheads="1"/>
            </p:cNvSpPr>
            <p:nvPr/>
          </p:nvSpPr>
          <p:spPr bwMode="auto">
            <a:xfrm>
              <a:off x="1972422" y="5207036"/>
              <a:ext cx="1620957" cy="697533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输出特性</a:t>
              </a:r>
            </a:p>
          </p:txBody>
        </p:sp>
      </p:grpSp>
      <p:grpSp>
        <p:nvGrpSpPr>
          <p:cNvPr id="3" name="组合 122"/>
          <p:cNvGrpSpPr>
            <a:grpSpLocks/>
          </p:cNvGrpSpPr>
          <p:nvPr/>
        </p:nvGrpSpPr>
        <p:grpSpPr bwMode="auto">
          <a:xfrm>
            <a:off x="5140477" y="1298973"/>
            <a:ext cx="3723186" cy="3135140"/>
            <a:chOff x="5140476" y="1731963"/>
            <a:chExt cx="3723186" cy="4179554"/>
          </a:xfrm>
        </p:grpSpPr>
        <p:grpSp>
          <p:nvGrpSpPr>
            <p:cNvPr id="4" name="Group 126"/>
            <p:cNvGrpSpPr>
              <a:grpSpLocks/>
            </p:cNvGrpSpPr>
            <p:nvPr/>
          </p:nvGrpSpPr>
          <p:grpSpPr bwMode="auto">
            <a:xfrm>
              <a:off x="5140476" y="1731963"/>
              <a:ext cx="3723186" cy="3488775"/>
              <a:chOff x="3088" y="1117"/>
              <a:chExt cx="2073" cy="1873"/>
            </a:xfrm>
          </p:grpSpPr>
          <p:sp>
            <p:nvSpPr>
              <p:cNvPr id="3084" name="Line 13"/>
              <p:cNvSpPr>
                <a:spLocks noChangeShapeType="1"/>
              </p:cNvSpPr>
              <p:nvPr/>
            </p:nvSpPr>
            <p:spPr bwMode="auto">
              <a:xfrm flipV="1">
                <a:off x="3265" y="1295"/>
                <a:ext cx="1" cy="13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086" name="Line 15"/>
              <p:cNvSpPr>
                <a:spLocks noChangeShapeType="1"/>
              </p:cNvSpPr>
              <p:nvPr/>
            </p:nvSpPr>
            <p:spPr bwMode="auto">
              <a:xfrm>
                <a:off x="3265" y="2641"/>
                <a:ext cx="1565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088" name="Rectangle 17"/>
              <p:cNvSpPr>
                <a:spLocks noChangeArrowheads="1"/>
              </p:cNvSpPr>
              <p:nvPr/>
            </p:nvSpPr>
            <p:spPr bwMode="auto">
              <a:xfrm>
                <a:off x="3372" y="1117"/>
                <a:ext cx="49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2000" i="1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kumimoji="0" lang="en-US" altLang="zh-CN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089" name="Rectangle 18"/>
              <p:cNvSpPr>
                <a:spLocks noChangeArrowheads="1"/>
              </p:cNvSpPr>
              <p:nvPr/>
            </p:nvSpPr>
            <p:spPr bwMode="auto">
              <a:xfrm>
                <a:off x="3411" y="1151"/>
                <a:ext cx="104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2000" baseline="-250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D</a:t>
                </a:r>
                <a:r>
                  <a:rPr kumimoji="0" lang="en-US" altLang="zh-CN" sz="20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090" name="Rectangle 19"/>
              <p:cNvSpPr>
                <a:spLocks noChangeArrowheads="1"/>
              </p:cNvSpPr>
              <p:nvPr/>
            </p:nvSpPr>
            <p:spPr bwMode="auto">
              <a:xfrm>
                <a:off x="3473" y="1117"/>
                <a:ext cx="47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20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(</a:t>
                </a:r>
              </a:p>
            </p:txBody>
          </p:sp>
          <p:sp>
            <p:nvSpPr>
              <p:cNvPr id="3091" name="Rectangle 20"/>
              <p:cNvSpPr>
                <a:spLocks noChangeArrowheads="1"/>
              </p:cNvSpPr>
              <p:nvPr/>
            </p:nvSpPr>
            <p:spPr bwMode="auto">
              <a:xfrm>
                <a:off x="3507" y="1117"/>
                <a:ext cx="215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2000" dirty="0" err="1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mA</a:t>
                </a:r>
                <a:endParaRPr kumimoji="0"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092" name="Rectangle 21"/>
              <p:cNvSpPr>
                <a:spLocks noChangeArrowheads="1"/>
              </p:cNvSpPr>
              <p:nvPr/>
            </p:nvSpPr>
            <p:spPr bwMode="auto">
              <a:xfrm>
                <a:off x="3752" y="1117"/>
                <a:ext cx="47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20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)</a:t>
                </a:r>
              </a:p>
            </p:txBody>
          </p:sp>
          <p:sp>
            <p:nvSpPr>
              <p:cNvPr id="3093" name="Rectangle 22"/>
              <p:cNvSpPr>
                <a:spLocks noChangeArrowheads="1"/>
              </p:cNvSpPr>
              <p:nvPr/>
            </p:nvSpPr>
            <p:spPr bwMode="auto">
              <a:xfrm>
                <a:off x="3898" y="2081"/>
                <a:ext cx="731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2000" i="1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kumimoji="0" lang="en-US" altLang="zh-CN" sz="2000" baseline="-25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DS</a:t>
                </a:r>
                <a:r>
                  <a:rPr kumimoji="0" lang="en-US" altLang="zh-CN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=</a:t>
                </a:r>
                <a:r>
                  <a:rPr kumimoji="0" lang="zh-CN" altLang="en-US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常数</a:t>
                </a:r>
                <a:endParaRPr kumimoji="0" lang="en-US" altLang="zh-CN" sz="20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097" name="Rectangle 26"/>
              <p:cNvSpPr>
                <a:spLocks noChangeArrowheads="1"/>
              </p:cNvSpPr>
              <p:nvPr/>
            </p:nvSpPr>
            <p:spPr bwMode="auto">
              <a:xfrm>
                <a:off x="4727" y="2711"/>
                <a:ext cx="434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2000" i="1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kumimoji="0" lang="en-US" altLang="zh-CN" sz="2000" baseline="-25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GS</a:t>
                </a:r>
                <a:r>
                  <a:rPr kumimoji="0" lang="en-US" altLang="zh-CN" sz="20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(V)</a:t>
                </a:r>
                <a:endParaRPr kumimoji="0"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099" name="Rectangle 28"/>
              <p:cNvSpPr>
                <a:spLocks noChangeArrowheads="1"/>
              </p:cNvSpPr>
              <p:nvPr/>
            </p:nvSpPr>
            <p:spPr bwMode="auto">
              <a:xfrm>
                <a:off x="4940" y="2696"/>
                <a:ext cx="0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endParaRPr kumimoji="0"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02" name="Freeform 31"/>
              <p:cNvSpPr>
                <a:spLocks/>
              </p:cNvSpPr>
              <p:nvPr/>
            </p:nvSpPr>
            <p:spPr bwMode="auto">
              <a:xfrm>
                <a:off x="3528" y="1470"/>
                <a:ext cx="563" cy="1147"/>
              </a:xfrm>
              <a:custGeom>
                <a:avLst/>
                <a:gdLst>
                  <a:gd name="T0" fmla="*/ 0 w 1124"/>
                  <a:gd name="T1" fmla="*/ 1147 h 1147"/>
                  <a:gd name="T2" fmla="*/ 4 w 1124"/>
                  <a:gd name="T3" fmla="*/ 1146 h 1147"/>
                  <a:gd name="T4" fmla="*/ 8 w 1124"/>
                  <a:gd name="T5" fmla="*/ 1144 h 1147"/>
                  <a:gd name="T6" fmla="*/ 12 w 1124"/>
                  <a:gd name="T7" fmla="*/ 1139 h 1147"/>
                  <a:gd name="T8" fmla="*/ 15 w 1124"/>
                  <a:gd name="T9" fmla="*/ 1133 h 1147"/>
                  <a:gd name="T10" fmla="*/ 19 w 1124"/>
                  <a:gd name="T11" fmla="*/ 1126 h 1147"/>
                  <a:gd name="T12" fmla="*/ 23 w 1124"/>
                  <a:gd name="T13" fmla="*/ 1117 h 1147"/>
                  <a:gd name="T14" fmla="*/ 26 w 1124"/>
                  <a:gd name="T15" fmla="*/ 1106 h 1147"/>
                  <a:gd name="T16" fmla="*/ 30 w 1124"/>
                  <a:gd name="T17" fmla="*/ 1096 h 1147"/>
                  <a:gd name="T18" fmla="*/ 33 w 1124"/>
                  <a:gd name="T19" fmla="*/ 1082 h 1147"/>
                  <a:gd name="T20" fmla="*/ 37 w 1124"/>
                  <a:gd name="T21" fmla="*/ 1068 h 1147"/>
                  <a:gd name="T22" fmla="*/ 40 w 1124"/>
                  <a:gd name="T23" fmla="*/ 1053 h 1147"/>
                  <a:gd name="T24" fmla="*/ 43 w 1124"/>
                  <a:gd name="T25" fmla="*/ 1037 h 1147"/>
                  <a:gd name="T26" fmla="*/ 47 w 1124"/>
                  <a:gd name="T27" fmla="*/ 1019 h 1147"/>
                  <a:gd name="T28" fmla="*/ 50 w 1124"/>
                  <a:gd name="T29" fmla="*/ 1001 h 1147"/>
                  <a:gd name="T30" fmla="*/ 53 w 1124"/>
                  <a:gd name="T31" fmla="*/ 981 h 1147"/>
                  <a:gd name="T32" fmla="*/ 57 w 1124"/>
                  <a:gd name="T33" fmla="*/ 961 h 1147"/>
                  <a:gd name="T34" fmla="*/ 60 w 1124"/>
                  <a:gd name="T35" fmla="*/ 939 h 1147"/>
                  <a:gd name="T36" fmla="*/ 63 w 1124"/>
                  <a:gd name="T37" fmla="*/ 918 h 1147"/>
                  <a:gd name="T38" fmla="*/ 66 w 1124"/>
                  <a:gd name="T39" fmla="*/ 895 h 1147"/>
                  <a:gd name="T40" fmla="*/ 69 w 1124"/>
                  <a:gd name="T41" fmla="*/ 872 h 1147"/>
                  <a:gd name="T42" fmla="*/ 75 w 1124"/>
                  <a:gd name="T43" fmla="*/ 823 h 1147"/>
                  <a:gd name="T44" fmla="*/ 81 w 1124"/>
                  <a:gd name="T45" fmla="*/ 772 h 1147"/>
                  <a:gd name="T46" fmla="*/ 86 w 1124"/>
                  <a:gd name="T47" fmla="*/ 719 h 1147"/>
                  <a:gd name="T48" fmla="*/ 91 w 1124"/>
                  <a:gd name="T49" fmla="*/ 665 h 1147"/>
                  <a:gd name="T50" fmla="*/ 96 w 1124"/>
                  <a:gd name="T51" fmla="*/ 611 h 1147"/>
                  <a:gd name="T52" fmla="*/ 101 w 1124"/>
                  <a:gd name="T53" fmla="*/ 556 h 1147"/>
                  <a:gd name="T54" fmla="*/ 106 w 1124"/>
                  <a:gd name="T55" fmla="*/ 501 h 1147"/>
                  <a:gd name="T56" fmla="*/ 110 w 1124"/>
                  <a:gd name="T57" fmla="*/ 448 h 1147"/>
                  <a:gd name="T58" fmla="*/ 114 w 1124"/>
                  <a:gd name="T59" fmla="*/ 394 h 1147"/>
                  <a:gd name="T60" fmla="*/ 118 w 1124"/>
                  <a:gd name="T61" fmla="*/ 343 h 1147"/>
                  <a:gd name="T62" fmla="*/ 122 w 1124"/>
                  <a:gd name="T63" fmla="*/ 294 h 1147"/>
                  <a:gd name="T64" fmla="*/ 125 w 1124"/>
                  <a:gd name="T65" fmla="*/ 246 h 1147"/>
                  <a:gd name="T66" fmla="*/ 127 w 1124"/>
                  <a:gd name="T67" fmla="*/ 224 h 1147"/>
                  <a:gd name="T68" fmla="*/ 128 w 1124"/>
                  <a:gd name="T69" fmla="*/ 202 h 1147"/>
                  <a:gd name="T70" fmla="*/ 129 w 1124"/>
                  <a:gd name="T71" fmla="*/ 180 h 1147"/>
                  <a:gd name="T72" fmla="*/ 131 w 1124"/>
                  <a:gd name="T73" fmla="*/ 161 h 1147"/>
                  <a:gd name="T74" fmla="*/ 132 w 1124"/>
                  <a:gd name="T75" fmla="*/ 141 h 1147"/>
                  <a:gd name="T76" fmla="*/ 133 w 1124"/>
                  <a:gd name="T77" fmla="*/ 124 h 1147"/>
                  <a:gd name="T78" fmla="*/ 134 w 1124"/>
                  <a:gd name="T79" fmla="*/ 106 h 1147"/>
                  <a:gd name="T80" fmla="*/ 135 w 1124"/>
                  <a:gd name="T81" fmla="*/ 90 h 1147"/>
                  <a:gd name="T82" fmla="*/ 136 w 1124"/>
                  <a:gd name="T83" fmla="*/ 75 h 1147"/>
                  <a:gd name="T84" fmla="*/ 137 w 1124"/>
                  <a:gd name="T85" fmla="*/ 61 h 1147"/>
                  <a:gd name="T86" fmla="*/ 138 w 1124"/>
                  <a:gd name="T87" fmla="*/ 48 h 1147"/>
                  <a:gd name="T88" fmla="*/ 138 w 1124"/>
                  <a:gd name="T89" fmla="*/ 37 h 1147"/>
                  <a:gd name="T90" fmla="*/ 139 w 1124"/>
                  <a:gd name="T91" fmla="*/ 28 h 1147"/>
                  <a:gd name="T92" fmla="*/ 140 w 1124"/>
                  <a:gd name="T93" fmla="*/ 19 h 1147"/>
                  <a:gd name="T94" fmla="*/ 140 w 1124"/>
                  <a:gd name="T95" fmla="*/ 12 h 1147"/>
                  <a:gd name="T96" fmla="*/ 140 w 1124"/>
                  <a:gd name="T97" fmla="*/ 7 h 1147"/>
                  <a:gd name="T98" fmla="*/ 141 w 1124"/>
                  <a:gd name="T99" fmla="*/ 2 h 1147"/>
                  <a:gd name="T100" fmla="*/ 141 w 1124"/>
                  <a:gd name="T101" fmla="*/ 0 h 1147"/>
                  <a:gd name="T102" fmla="*/ 141 w 1124"/>
                  <a:gd name="T103" fmla="*/ 0 h 1147"/>
                  <a:gd name="T104" fmla="*/ 141 w 1124"/>
                  <a:gd name="T105" fmla="*/ 1 h 1147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124"/>
                  <a:gd name="T160" fmla="*/ 0 h 1147"/>
                  <a:gd name="T161" fmla="*/ 1124 w 1124"/>
                  <a:gd name="T162" fmla="*/ 1147 h 1147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124" h="1147">
                    <a:moveTo>
                      <a:pt x="0" y="1147"/>
                    </a:moveTo>
                    <a:lnTo>
                      <a:pt x="29" y="1146"/>
                    </a:lnTo>
                    <a:lnTo>
                      <a:pt x="61" y="1144"/>
                    </a:lnTo>
                    <a:lnTo>
                      <a:pt x="90" y="1139"/>
                    </a:lnTo>
                    <a:lnTo>
                      <a:pt x="120" y="1133"/>
                    </a:lnTo>
                    <a:lnTo>
                      <a:pt x="149" y="1126"/>
                    </a:lnTo>
                    <a:lnTo>
                      <a:pt x="177" y="1117"/>
                    </a:lnTo>
                    <a:lnTo>
                      <a:pt x="207" y="1106"/>
                    </a:lnTo>
                    <a:lnTo>
                      <a:pt x="235" y="1096"/>
                    </a:lnTo>
                    <a:lnTo>
                      <a:pt x="263" y="1082"/>
                    </a:lnTo>
                    <a:lnTo>
                      <a:pt x="290" y="1068"/>
                    </a:lnTo>
                    <a:lnTo>
                      <a:pt x="318" y="1053"/>
                    </a:lnTo>
                    <a:lnTo>
                      <a:pt x="344" y="1037"/>
                    </a:lnTo>
                    <a:lnTo>
                      <a:pt x="372" y="1019"/>
                    </a:lnTo>
                    <a:lnTo>
                      <a:pt x="398" y="1001"/>
                    </a:lnTo>
                    <a:lnTo>
                      <a:pt x="424" y="981"/>
                    </a:lnTo>
                    <a:lnTo>
                      <a:pt x="451" y="961"/>
                    </a:lnTo>
                    <a:lnTo>
                      <a:pt x="475" y="939"/>
                    </a:lnTo>
                    <a:lnTo>
                      <a:pt x="499" y="918"/>
                    </a:lnTo>
                    <a:lnTo>
                      <a:pt x="524" y="895"/>
                    </a:lnTo>
                    <a:lnTo>
                      <a:pt x="548" y="872"/>
                    </a:lnTo>
                    <a:lnTo>
                      <a:pt x="595" y="823"/>
                    </a:lnTo>
                    <a:lnTo>
                      <a:pt x="642" y="772"/>
                    </a:lnTo>
                    <a:lnTo>
                      <a:pt x="686" y="719"/>
                    </a:lnTo>
                    <a:lnTo>
                      <a:pt x="727" y="665"/>
                    </a:lnTo>
                    <a:lnTo>
                      <a:pt x="767" y="611"/>
                    </a:lnTo>
                    <a:lnTo>
                      <a:pt x="806" y="556"/>
                    </a:lnTo>
                    <a:lnTo>
                      <a:pt x="842" y="501"/>
                    </a:lnTo>
                    <a:lnTo>
                      <a:pt x="877" y="448"/>
                    </a:lnTo>
                    <a:lnTo>
                      <a:pt x="910" y="394"/>
                    </a:lnTo>
                    <a:lnTo>
                      <a:pt x="940" y="343"/>
                    </a:lnTo>
                    <a:lnTo>
                      <a:pt x="969" y="294"/>
                    </a:lnTo>
                    <a:lnTo>
                      <a:pt x="996" y="246"/>
                    </a:lnTo>
                    <a:lnTo>
                      <a:pt x="1008" y="224"/>
                    </a:lnTo>
                    <a:lnTo>
                      <a:pt x="1018" y="202"/>
                    </a:lnTo>
                    <a:lnTo>
                      <a:pt x="1030" y="180"/>
                    </a:lnTo>
                    <a:lnTo>
                      <a:pt x="1041" y="161"/>
                    </a:lnTo>
                    <a:lnTo>
                      <a:pt x="1051" y="141"/>
                    </a:lnTo>
                    <a:lnTo>
                      <a:pt x="1060" y="124"/>
                    </a:lnTo>
                    <a:lnTo>
                      <a:pt x="1069" y="106"/>
                    </a:lnTo>
                    <a:lnTo>
                      <a:pt x="1077" y="90"/>
                    </a:lnTo>
                    <a:lnTo>
                      <a:pt x="1084" y="75"/>
                    </a:lnTo>
                    <a:lnTo>
                      <a:pt x="1091" y="61"/>
                    </a:lnTo>
                    <a:lnTo>
                      <a:pt x="1098" y="48"/>
                    </a:lnTo>
                    <a:lnTo>
                      <a:pt x="1103" y="37"/>
                    </a:lnTo>
                    <a:lnTo>
                      <a:pt x="1109" y="28"/>
                    </a:lnTo>
                    <a:lnTo>
                      <a:pt x="1112" y="19"/>
                    </a:lnTo>
                    <a:lnTo>
                      <a:pt x="1116" y="12"/>
                    </a:lnTo>
                    <a:lnTo>
                      <a:pt x="1119" y="7"/>
                    </a:lnTo>
                    <a:lnTo>
                      <a:pt x="1121" y="2"/>
                    </a:lnTo>
                    <a:lnTo>
                      <a:pt x="1123" y="0"/>
                    </a:lnTo>
                    <a:lnTo>
                      <a:pt x="1124" y="0"/>
                    </a:lnTo>
                    <a:lnTo>
                      <a:pt x="1124" y="1"/>
                    </a:lnTo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03" name="Rectangle 32"/>
              <p:cNvSpPr>
                <a:spLocks noChangeArrowheads="1"/>
              </p:cNvSpPr>
              <p:nvPr/>
            </p:nvSpPr>
            <p:spPr bwMode="auto">
              <a:xfrm>
                <a:off x="3173" y="2639"/>
                <a:ext cx="64" cy="1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18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3104" name="Line 38"/>
              <p:cNvSpPr>
                <a:spLocks noChangeShapeType="1"/>
              </p:cNvSpPr>
              <p:nvPr/>
            </p:nvSpPr>
            <p:spPr bwMode="auto">
              <a:xfrm>
                <a:off x="3269" y="2358"/>
                <a:ext cx="29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05" name="Line 39"/>
              <p:cNvSpPr>
                <a:spLocks noChangeShapeType="1"/>
              </p:cNvSpPr>
              <p:nvPr/>
            </p:nvSpPr>
            <p:spPr bwMode="auto">
              <a:xfrm>
                <a:off x="3265" y="1768"/>
                <a:ext cx="31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06" name="Line 40"/>
              <p:cNvSpPr>
                <a:spLocks noChangeShapeType="1"/>
              </p:cNvSpPr>
              <p:nvPr/>
            </p:nvSpPr>
            <p:spPr bwMode="auto">
              <a:xfrm>
                <a:off x="3265" y="1483"/>
                <a:ext cx="33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07" name="Line 41"/>
              <p:cNvSpPr>
                <a:spLocks noChangeShapeType="1"/>
              </p:cNvSpPr>
              <p:nvPr/>
            </p:nvSpPr>
            <p:spPr bwMode="auto">
              <a:xfrm>
                <a:off x="3267" y="2065"/>
                <a:ext cx="31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08" name="Rectangle 42"/>
              <p:cNvSpPr>
                <a:spLocks noChangeArrowheads="1"/>
              </p:cNvSpPr>
              <p:nvPr/>
            </p:nvSpPr>
            <p:spPr bwMode="auto">
              <a:xfrm>
                <a:off x="3134" y="2284"/>
                <a:ext cx="64" cy="1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1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3109" name="Rectangle 43"/>
              <p:cNvSpPr>
                <a:spLocks noChangeArrowheads="1"/>
              </p:cNvSpPr>
              <p:nvPr/>
            </p:nvSpPr>
            <p:spPr bwMode="auto">
              <a:xfrm>
                <a:off x="3134" y="1990"/>
                <a:ext cx="64" cy="1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1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3110" name="Rectangle 44"/>
              <p:cNvSpPr>
                <a:spLocks noChangeArrowheads="1"/>
              </p:cNvSpPr>
              <p:nvPr/>
            </p:nvSpPr>
            <p:spPr bwMode="auto">
              <a:xfrm>
                <a:off x="3088" y="1694"/>
                <a:ext cx="129" cy="1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1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12</a:t>
                </a:r>
              </a:p>
            </p:txBody>
          </p:sp>
          <p:sp>
            <p:nvSpPr>
              <p:cNvPr id="3111" name="Rectangle 45"/>
              <p:cNvSpPr>
                <a:spLocks noChangeArrowheads="1"/>
              </p:cNvSpPr>
              <p:nvPr/>
            </p:nvSpPr>
            <p:spPr bwMode="auto">
              <a:xfrm>
                <a:off x="3088" y="1417"/>
                <a:ext cx="129" cy="1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18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16</a:t>
                </a:r>
              </a:p>
            </p:txBody>
          </p:sp>
          <p:sp>
            <p:nvSpPr>
              <p:cNvPr id="3112" name="Line 46"/>
              <p:cNvSpPr>
                <a:spLocks noChangeShapeType="1"/>
              </p:cNvSpPr>
              <p:nvPr/>
            </p:nvSpPr>
            <p:spPr bwMode="auto">
              <a:xfrm flipV="1">
                <a:off x="3528" y="2598"/>
                <a:ext cx="1" cy="43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13" name="Line 47"/>
              <p:cNvSpPr>
                <a:spLocks noChangeShapeType="1"/>
              </p:cNvSpPr>
              <p:nvPr/>
            </p:nvSpPr>
            <p:spPr bwMode="auto">
              <a:xfrm flipV="1">
                <a:off x="3791" y="2598"/>
                <a:ext cx="1" cy="43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14" name="Line 48"/>
              <p:cNvSpPr>
                <a:spLocks noChangeShapeType="1"/>
              </p:cNvSpPr>
              <p:nvPr/>
            </p:nvSpPr>
            <p:spPr bwMode="auto">
              <a:xfrm flipV="1">
                <a:off x="4055" y="2598"/>
                <a:ext cx="1" cy="43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15" name="Line 49"/>
              <p:cNvSpPr>
                <a:spLocks noChangeShapeType="1"/>
              </p:cNvSpPr>
              <p:nvPr/>
            </p:nvSpPr>
            <p:spPr bwMode="auto">
              <a:xfrm flipV="1">
                <a:off x="4318" y="2598"/>
                <a:ext cx="1" cy="43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16" name="Rectangle 50"/>
              <p:cNvSpPr>
                <a:spLocks noChangeArrowheads="1"/>
              </p:cNvSpPr>
              <p:nvPr/>
            </p:nvSpPr>
            <p:spPr bwMode="auto">
              <a:xfrm>
                <a:off x="4294" y="2696"/>
                <a:ext cx="64" cy="1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1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3117" name="Rectangle 51"/>
              <p:cNvSpPr>
                <a:spLocks noChangeArrowheads="1"/>
              </p:cNvSpPr>
              <p:nvPr/>
            </p:nvSpPr>
            <p:spPr bwMode="auto">
              <a:xfrm>
                <a:off x="3760" y="2694"/>
                <a:ext cx="64" cy="1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1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3118" name="Rectangle 52"/>
              <p:cNvSpPr>
                <a:spLocks noChangeArrowheads="1"/>
              </p:cNvSpPr>
              <p:nvPr/>
            </p:nvSpPr>
            <p:spPr bwMode="auto">
              <a:xfrm>
                <a:off x="4029" y="2694"/>
                <a:ext cx="64" cy="1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0" lang="en-US" altLang="zh-CN" sz="18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3119" name="Text Box 125"/>
              <p:cNvSpPr txBox="1">
                <a:spLocks noChangeArrowheads="1"/>
              </p:cNvSpPr>
              <p:nvPr/>
            </p:nvSpPr>
            <p:spPr bwMode="auto">
              <a:xfrm>
                <a:off x="3288" y="2704"/>
                <a:ext cx="884" cy="286"/>
              </a:xfrm>
              <a:prstGeom prst="rect">
                <a:avLst/>
              </a:prstGeom>
              <a:noFill/>
              <a:ln w="44450" algn="ctr">
                <a:noFill/>
                <a:miter lim="800000"/>
                <a:headEnd/>
                <a:tailEnd type="none" w="sm" len="lg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000" baseline="-25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GS(</a:t>
                </a:r>
                <a:r>
                  <a:rPr lang="en-US" altLang="zh-CN" sz="2000" baseline="-25000" dirty="0" err="1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th</a:t>
                </a:r>
                <a:r>
                  <a:rPr lang="en-US" altLang="zh-CN" sz="2000" baseline="-25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)</a:t>
                </a:r>
              </a:p>
            </p:txBody>
          </p:sp>
        </p:grpSp>
        <p:sp>
          <p:nvSpPr>
            <p:cNvPr id="3083" name="Text Box 134"/>
            <p:cNvSpPr txBox="1">
              <a:spLocks noChangeArrowheads="1"/>
            </p:cNvSpPr>
            <p:nvPr/>
          </p:nvSpPr>
          <p:spPr bwMode="auto">
            <a:xfrm>
              <a:off x="6283719" y="5213996"/>
              <a:ext cx="1620957" cy="697521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转移特性</a:t>
              </a:r>
            </a:p>
          </p:txBody>
        </p:sp>
      </p:grpSp>
      <p:sp>
        <p:nvSpPr>
          <p:cNvPr id="3080" name="Line 37"/>
          <p:cNvSpPr>
            <a:spLocks noChangeShapeType="1"/>
          </p:cNvSpPr>
          <p:nvPr/>
        </p:nvSpPr>
        <p:spPr bwMode="auto">
          <a:xfrm>
            <a:off x="8154240" y="1059012"/>
            <a:ext cx="0" cy="3600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081" name="Rectangle 38"/>
          <p:cNvSpPr>
            <a:spLocks noChangeArrowheads="1"/>
          </p:cNvSpPr>
          <p:nvPr/>
        </p:nvSpPr>
        <p:spPr bwMode="auto">
          <a:xfrm>
            <a:off x="8191501" y="1113235"/>
            <a:ext cx="4667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i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D</a:t>
            </a:r>
          </a:p>
        </p:txBody>
      </p:sp>
      <p:sp>
        <p:nvSpPr>
          <p:cNvPr id="125" name="Text Box 5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865464" y="239111"/>
            <a:ext cx="50735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 </a:t>
            </a: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特性曲线和主要参数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50031"/>
            <a:ext cx="7772400" cy="857250"/>
          </a:xfrm>
        </p:spPr>
        <p:txBody>
          <a:bodyPr/>
          <a:lstStyle/>
          <a:p>
            <a:pPr eaLnBrk="1" hangingPunct="1"/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增强型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MOS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场效应管在放大区的转移特性</a:t>
            </a:r>
          </a:p>
        </p:txBody>
      </p:sp>
      <p:sp>
        <p:nvSpPr>
          <p:cNvPr id="4101" name="Text Box 6"/>
          <p:cNvSpPr txBox="1">
            <a:spLocks noChangeArrowheads="1"/>
          </p:cNvSpPr>
          <p:nvPr/>
        </p:nvSpPr>
        <p:spPr bwMode="auto">
          <a:xfrm>
            <a:off x="755650" y="1491854"/>
            <a:ext cx="7488238" cy="2554545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zh-CN"/>
          </a:p>
          <a:p>
            <a:pPr>
              <a:spcBef>
                <a:spcPct val="50000"/>
              </a:spcBef>
            </a:pPr>
            <a:endParaRPr lang="en-US" altLang="zh-CN"/>
          </a:p>
          <a:p>
            <a:pPr>
              <a:spcBef>
                <a:spcPct val="50000"/>
              </a:spcBef>
            </a:pPr>
            <a:endParaRPr lang="en-US" altLang="zh-CN"/>
          </a:p>
        </p:txBody>
      </p:sp>
      <p:sp>
        <p:nvSpPr>
          <p:cNvPr id="4102" name="Rectangle 8"/>
          <p:cNvSpPr>
            <a:spLocks noChangeArrowheads="1"/>
          </p:cNvSpPr>
          <p:nvPr/>
        </p:nvSpPr>
        <p:spPr bwMode="auto">
          <a:xfrm>
            <a:off x="684213" y="3003947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endParaRPr kumimoji="0" lang="zh-CN" altLang="zh-CN" sz="3200">
              <a:solidFill>
                <a:srgbClr val="FFFF99"/>
              </a:solidFill>
              <a:latin typeface="幼圆" pitchFamily="49" charset="-122"/>
            </a:endParaRPr>
          </a:p>
        </p:txBody>
      </p:sp>
      <p:sp>
        <p:nvSpPr>
          <p:cNvPr id="3079" name="Rectangle 9"/>
          <p:cNvSpPr>
            <a:spLocks noChangeArrowheads="1"/>
          </p:cNvSpPr>
          <p:nvPr/>
        </p:nvSpPr>
        <p:spPr bwMode="auto">
          <a:xfrm>
            <a:off x="598151" y="3292260"/>
            <a:ext cx="5565980" cy="1064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130000"/>
              </a:lnSpc>
              <a:defRPr/>
            </a:pPr>
            <a:r>
              <a:rPr kumimoji="0" lang="en-US" altLang="zh-CN" sz="2800" i="1" kern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800" kern="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GS(</a:t>
            </a:r>
            <a:r>
              <a:rPr kumimoji="0" lang="en-US" altLang="zh-CN" sz="2800" kern="0" baseline="-25000" dirty="0" err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th</a:t>
            </a:r>
            <a:r>
              <a:rPr kumimoji="0" lang="en-US" altLang="zh-CN" sz="2800" kern="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)</a:t>
            </a:r>
            <a:r>
              <a:rPr kumimoji="0" lang="zh-CN" altLang="en-US" sz="2800" kern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为开启</a:t>
            </a:r>
            <a:r>
              <a:rPr kumimoji="0" lang="zh-CN" altLang="en-US" sz="2800" kern="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电压</a:t>
            </a:r>
            <a:endParaRPr kumimoji="0" lang="en-US" altLang="zh-CN" sz="2800" kern="0" dirty="0" smtClean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kumimoji="0" lang="en-US" altLang="zh-CN" sz="2800" i="1" kern="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kumimoji="0" lang="en-US" altLang="zh-CN" sz="2800" kern="0" baseline="-25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D0</a:t>
            </a:r>
            <a:r>
              <a:rPr kumimoji="0" lang="zh-CN" altLang="en-US" sz="2800" kern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是</a:t>
            </a:r>
            <a:r>
              <a:rPr kumimoji="0" lang="en-US" altLang="zh-CN" sz="2800" kern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800" kern="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GS</a:t>
            </a:r>
            <a:r>
              <a:rPr kumimoji="0" lang="en-US" altLang="zh-CN" sz="2800" kern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 2</a:t>
            </a:r>
            <a:r>
              <a:rPr kumimoji="0" lang="en-US" altLang="zh-CN" sz="2800" i="1" kern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800" kern="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GS(</a:t>
            </a:r>
            <a:r>
              <a:rPr kumimoji="0" lang="en-US" altLang="zh-CN" sz="2800" kern="0" baseline="-25000" dirty="0" err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th</a:t>
            </a:r>
            <a:r>
              <a:rPr kumimoji="0" lang="en-US" altLang="zh-CN" sz="2800" kern="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)</a:t>
            </a:r>
            <a:r>
              <a:rPr kumimoji="0" lang="zh-CN" altLang="en-US" sz="2800" kern="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时的漏极电流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6028765" y="1114383"/>
            <a:ext cx="2663997" cy="2621756"/>
            <a:chOff x="907" y="1263"/>
            <a:chExt cx="1840" cy="2202"/>
          </a:xfrm>
        </p:grpSpPr>
        <p:grpSp>
          <p:nvGrpSpPr>
            <p:cNvPr id="3" name="Group 11"/>
            <p:cNvGrpSpPr>
              <a:grpSpLocks/>
            </p:cNvGrpSpPr>
            <p:nvPr/>
          </p:nvGrpSpPr>
          <p:grpSpPr bwMode="auto">
            <a:xfrm>
              <a:off x="907" y="1263"/>
              <a:ext cx="1840" cy="2202"/>
              <a:chOff x="907" y="1263"/>
              <a:chExt cx="1840" cy="2202"/>
            </a:xfrm>
          </p:grpSpPr>
          <p:sp>
            <p:nvSpPr>
              <p:cNvPr id="4108" name="Text Box 12"/>
              <p:cNvSpPr txBox="1">
                <a:spLocks noChangeArrowheads="1"/>
              </p:cNvSpPr>
              <p:nvPr/>
            </p:nvSpPr>
            <p:spPr bwMode="auto">
              <a:xfrm>
                <a:off x="2247" y="3077"/>
                <a:ext cx="500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chemeClr val="tx1"/>
                    </a:solidFill>
                    <a:ea typeface="宋体" pitchFamily="2" charset="-122"/>
                  </a:rPr>
                  <a:t>U</a:t>
                </a:r>
                <a:r>
                  <a:rPr lang="en-US" altLang="zh-CN" sz="2400" baseline="-25000" dirty="0">
                    <a:solidFill>
                      <a:schemeClr val="tx1"/>
                    </a:solidFill>
                    <a:ea typeface="宋体" pitchFamily="2" charset="-122"/>
                  </a:rPr>
                  <a:t>GS</a:t>
                </a:r>
              </a:p>
            </p:txBody>
          </p:sp>
          <p:grpSp>
            <p:nvGrpSpPr>
              <p:cNvPr id="4" name="Group 13"/>
              <p:cNvGrpSpPr>
                <a:grpSpLocks/>
              </p:cNvGrpSpPr>
              <p:nvPr/>
            </p:nvGrpSpPr>
            <p:grpSpPr bwMode="auto">
              <a:xfrm>
                <a:off x="907" y="1263"/>
                <a:ext cx="430" cy="2108"/>
                <a:chOff x="907" y="1313"/>
                <a:chExt cx="430" cy="2248"/>
              </a:xfrm>
            </p:grpSpPr>
            <p:sp>
              <p:nvSpPr>
                <p:cNvPr id="4112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1055" y="1313"/>
                  <a:ext cx="0" cy="196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</p:spPr>
              <p:txBody>
                <a:bodyPr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1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907" y="3203"/>
                  <a:ext cx="398" cy="35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>
                      <a:solidFill>
                        <a:schemeClr val="tx1"/>
                      </a:solidFill>
                      <a:ea typeface="宋体" pitchFamily="2" charset="-122"/>
                    </a:rPr>
                    <a:t> </a:t>
                  </a:r>
                  <a:r>
                    <a:rPr lang="en-US" altLang="zh-CN" sz="1800" i="1">
                      <a:solidFill>
                        <a:schemeClr val="tx1"/>
                      </a:solidFill>
                      <a:ea typeface="宋体" pitchFamily="2" charset="-122"/>
                    </a:rPr>
                    <a:t>0</a:t>
                  </a:r>
                </a:p>
              </p:txBody>
            </p:sp>
            <p:sp>
              <p:nvSpPr>
                <p:cNvPr id="4114" name="Rectangle 16"/>
                <p:cNvSpPr>
                  <a:spLocks noChangeArrowheads="1"/>
                </p:cNvSpPr>
                <p:nvPr/>
              </p:nvSpPr>
              <p:spPr bwMode="auto">
                <a:xfrm>
                  <a:off x="1066" y="1388"/>
                  <a:ext cx="271" cy="358"/>
                </a:xfrm>
                <a:prstGeom prst="rect">
                  <a:avLst/>
                </a:prstGeom>
                <a:noFill/>
                <a:ln w="34925" algn="ctr">
                  <a:noFill/>
                  <a:miter lim="800000"/>
                  <a:headEnd/>
                  <a:tailEnd type="none" w="sm" len="lg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000" i="1" dirty="0">
                      <a:solidFill>
                        <a:schemeClr val="tx1"/>
                      </a:solidFill>
                      <a:ea typeface="宋体" pitchFamily="2" charset="-122"/>
                    </a:rPr>
                    <a:t>I</a:t>
                  </a:r>
                  <a:r>
                    <a:rPr lang="en-US" altLang="zh-CN" sz="2000" baseline="-25000" dirty="0">
                      <a:solidFill>
                        <a:schemeClr val="tx1"/>
                      </a:solidFill>
                      <a:ea typeface="宋体" pitchFamily="2" charset="-122"/>
                    </a:rPr>
                    <a:t>D</a:t>
                  </a:r>
                  <a:endParaRPr lang="en-US" altLang="zh-CN" sz="2000" dirty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</p:grpSp>
          <p:sp>
            <p:nvSpPr>
              <p:cNvPr id="4110" name="Line 17"/>
              <p:cNvSpPr>
                <a:spLocks noChangeShapeType="1"/>
              </p:cNvSpPr>
              <p:nvPr/>
            </p:nvSpPr>
            <p:spPr bwMode="auto">
              <a:xfrm>
                <a:off x="1043" y="3113"/>
                <a:ext cx="15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11" name="Arc 18"/>
              <p:cNvSpPr>
                <a:spLocks/>
              </p:cNvSpPr>
              <p:nvPr/>
            </p:nvSpPr>
            <p:spPr bwMode="auto">
              <a:xfrm rot="660000" flipV="1">
                <a:off x="1672" y="1666"/>
                <a:ext cx="441" cy="149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50800">
                <a:solidFill>
                  <a:srgbClr val="FF9900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107" name="Rectangle 19"/>
            <p:cNvSpPr>
              <a:spLocks noChangeArrowheads="1"/>
            </p:cNvSpPr>
            <p:nvPr/>
          </p:nvSpPr>
          <p:spPr bwMode="auto">
            <a:xfrm>
              <a:off x="1338" y="3067"/>
              <a:ext cx="669" cy="388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chemeClr val="tx1"/>
                  </a:solidFill>
                  <a:ea typeface="宋体" pitchFamily="2" charset="-122"/>
                </a:rPr>
                <a:t>U</a:t>
              </a:r>
              <a:r>
                <a:rPr lang="en-US" altLang="zh-CN" sz="2400" baseline="-25000">
                  <a:solidFill>
                    <a:schemeClr val="tx1"/>
                  </a:solidFill>
                  <a:ea typeface="宋体" pitchFamily="2" charset="-122"/>
                </a:rPr>
                <a:t>GS(th)</a:t>
              </a:r>
              <a:endParaRPr lang="zh-CN" altLang="en-US" sz="2400" baseline="-2500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graphicFrame>
        <p:nvGraphicFramePr>
          <p:cNvPr id="20" name="Object 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4585381"/>
              </p:ext>
            </p:extLst>
          </p:nvPr>
        </p:nvGraphicFramePr>
        <p:xfrm>
          <a:off x="530151" y="1588845"/>
          <a:ext cx="5300495" cy="1281536"/>
        </p:xfrm>
        <a:graphic>
          <a:graphicData uri="http://schemas.openxmlformats.org/presentationml/2006/ole">
            <p:oleObj spid="_x0000_s32771" name="Equation" r:id="rId3" imgW="2311200" imgH="545760" progId="Equation.DSMT4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4" name="Text Box 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96982" y="443460"/>
            <a:ext cx="22151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主要参数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858762" y="1403341"/>
            <a:ext cx="7496176" cy="1126330"/>
            <a:chOff x="297" y="754"/>
            <a:chExt cx="4722" cy="946"/>
          </a:xfrm>
        </p:grpSpPr>
        <p:sp>
          <p:nvSpPr>
            <p:cNvPr id="23575" name="Text Box 9">
              <a:hlinkClick r:id="" action="ppaction://noaction"/>
            </p:cNvPr>
            <p:cNvSpPr txBox="1">
              <a:spLocks noChangeArrowheads="1"/>
            </p:cNvSpPr>
            <p:nvPr/>
          </p:nvSpPr>
          <p:spPr bwMode="auto">
            <a:xfrm>
              <a:off x="477" y="754"/>
              <a:ext cx="4542" cy="9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夹断电压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GS(off)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：是耗尽型场效应管当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为一微小电流时的栅源电压。</a:t>
              </a:r>
            </a:p>
          </p:txBody>
        </p:sp>
        <p:sp>
          <p:nvSpPr>
            <p:cNvPr id="653322" name="Rectangle 10"/>
            <p:cNvSpPr>
              <a:spLocks noChangeArrowheads="1"/>
            </p:cNvSpPr>
            <p:nvPr/>
          </p:nvSpPr>
          <p:spPr bwMode="auto">
            <a:xfrm flipH="1">
              <a:off x="297" y="817"/>
              <a:ext cx="249" cy="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defRPr/>
              </a:pP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*</a:t>
              </a:r>
            </a:p>
          </p:txBody>
        </p: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794032" y="2578375"/>
            <a:ext cx="7551265" cy="1126332"/>
            <a:chOff x="81" y="1253"/>
            <a:chExt cx="4868" cy="946"/>
          </a:xfrm>
        </p:grpSpPr>
        <p:sp>
          <p:nvSpPr>
            <p:cNvPr id="23565" name="Text Box 24">
              <a:hlinkClick r:id="" action="ppaction://noaction"/>
            </p:cNvPr>
            <p:cNvSpPr txBox="1">
              <a:spLocks noChangeArrowheads="1"/>
            </p:cNvSpPr>
            <p:nvPr/>
          </p:nvSpPr>
          <p:spPr bwMode="auto">
            <a:xfrm>
              <a:off x="295" y="1253"/>
              <a:ext cx="4654" cy="9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开启电压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GS(</a:t>
              </a:r>
              <a:r>
                <a:rPr lang="en-US" altLang="zh-CN" sz="2800" baseline="-25000" dirty="0" err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th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)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：是增强型场效应管当漏源之间出现导电沟道时的栅源电压。</a:t>
              </a:r>
            </a:p>
          </p:txBody>
        </p:sp>
        <p:sp>
          <p:nvSpPr>
            <p:cNvPr id="653337" name="Rectangle 25"/>
            <p:cNvSpPr>
              <a:spLocks noChangeArrowheads="1"/>
            </p:cNvSpPr>
            <p:nvPr/>
          </p:nvSpPr>
          <p:spPr bwMode="auto">
            <a:xfrm flipH="1">
              <a:off x="81" y="1311"/>
              <a:ext cx="249" cy="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defRPr/>
              </a:pP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*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882913" y="3112662"/>
            <a:ext cx="7454264" cy="1126333"/>
            <a:chOff x="76" y="2280"/>
            <a:chExt cx="5389" cy="946"/>
          </a:xfrm>
        </p:grpSpPr>
        <p:sp>
          <p:nvSpPr>
            <p:cNvPr id="23567" name="Text Box 21">
              <a:hlinkClick r:id="" action="ppaction://noaction"/>
            </p:cNvPr>
            <p:cNvSpPr txBox="1">
              <a:spLocks noChangeArrowheads="1"/>
            </p:cNvSpPr>
            <p:nvPr/>
          </p:nvSpPr>
          <p:spPr bwMode="auto">
            <a:xfrm>
              <a:off x="295" y="2280"/>
              <a:ext cx="5170" cy="9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栅源直流输入电阻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GS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：栅源电压和栅极电流的比值。</a:t>
              </a:r>
            </a:p>
          </p:txBody>
        </p:sp>
        <p:sp>
          <p:nvSpPr>
            <p:cNvPr id="653334" name="Rectangle 22"/>
            <p:cNvSpPr>
              <a:spLocks noChangeArrowheads="1"/>
            </p:cNvSpPr>
            <p:nvPr/>
          </p:nvSpPr>
          <p:spPr bwMode="auto">
            <a:xfrm flipH="1">
              <a:off x="76" y="2328"/>
              <a:ext cx="249" cy="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defRPr/>
              </a:pP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*</a:t>
              </a:r>
            </a:p>
          </p:txBody>
        </p:sp>
      </p:grp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859809" y="1460924"/>
            <a:ext cx="7585075" cy="1599010"/>
            <a:chOff x="75" y="1733"/>
            <a:chExt cx="4778" cy="1343"/>
          </a:xfrm>
        </p:grpSpPr>
        <p:sp>
          <p:nvSpPr>
            <p:cNvPr id="23563" name="Text Box 27">
              <a:hlinkClick r:id="" action="ppaction://noaction"/>
            </p:cNvPr>
            <p:cNvSpPr txBox="1">
              <a:spLocks noChangeArrowheads="1"/>
            </p:cNvSpPr>
            <p:nvPr/>
          </p:nvSpPr>
          <p:spPr bwMode="auto">
            <a:xfrm>
              <a:off x="295" y="1733"/>
              <a:ext cx="4558" cy="1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饱和漏电流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DSS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：耗尽型场效应管在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GS</a:t>
              </a: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=0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的情况下，当漏源电压大于夹断电压时的漏极电流。</a:t>
              </a:r>
            </a:p>
          </p:txBody>
        </p:sp>
        <p:sp>
          <p:nvSpPr>
            <p:cNvPr id="653340" name="Rectangle 28"/>
            <p:cNvSpPr>
              <a:spLocks noChangeArrowheads="1"/>
            </p:cNvSpPr>
            <p:nvPr/>
          </p:nvSpPr>
          <p:spPr bwMode="auto">
            <a:xfrm flipH="1">
              <a:off x="75" y="1765"/>
              <a:ext cx="249" cy="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defRPr/>
              </a:pP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*</a:t>
              </a:r>
            </a:p>
          </p:txBody>
        </p:sp>
      </p:grpSp>
      <p:sp>
        <p:nvSpPr>
          <p:cNvPr id="29" name="Text Box 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96982" y="443460"/>
            <a:ext cx="22151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主要参数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833568" y="1425811"/>
            <a:ext cx="7416800" cy="1082279"/>
            <a:chOff x="81" y="2598"/>
            <a:chExt cx="4672" cy="909"/>
          </a:xfrm>
        </p:grpSpPr>
        <p:sp>
          <p:nvSpPr>
            <p:cNvPr id="23573" name="Text Box 12">
              <a:hlinkClick r:id="" action="ppaction://noaction"/>
            </p:cNvPr>
            <p:cNvSpPr txBox="1">
              <a:spLocks noChangeArrowheads="1"/>
            </p:cNvSpPr>
            <p:nvPr/>
          </p:nvSpPr>
          <p:spPr bwMode="auto">
            <a:xfrm>
              <a:off x="295" y="2598"/>
              <a:ext cx="4458" cy="9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最大漏源击穿电压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(BR)DS</a:t>
              </a: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: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漏极和源极之间的击穿电压。</a:t>
              </a:r>
            </a:p>
          </p:txBody>
        </p:sp>
        <p:sp>
          <p:nvSpPr>
            <p:cNvPr id="653325" name="Rectangle 13"/>
            <p:cNvSpPr>
              <a:spLocks noChangeArrowheads="1"/>
            </p:cNvSpPr>
            <p:nvPr/>
          </p:nvSpPr>
          <p:spPr bwMode="auto">
            <a:xfrm flipH="1">
              <a:off x="81" y="2681"/>
              <a:ext cx="249" cy="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defRPr/>
              </a:pP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*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848882" y="2546708"/>
            <a:ext cx="6354763" cy="620316"/>
            <a:chOff x="102" y="2825"/>
            <a:chExt cx="4003" cy="521"/>
          </a:xfrm>
        </p:grpSpPr>
        <p:sp>
          <p:nvSpPr>
            <p:cNvPr id="23571" name="Text Box 15">
              <a:hlinkClick r:id="" action="ppaction://noaction"/>
            </p:cNvPr>
            <p:cNvSpPr txBox="1">
              <a:spLocks noChangeArrowheads="1"/>
            </p:cNvSpPr>
            <p:nvPr/>
          </p:nvSpPr>
          <p:spPr bwMode="auto">
            <a:xfrm>
              <a:off x="295" y="2825"/>
              <a:ext cx="3810" cy="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最大漏极电流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DM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，最大耗散功率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P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DM</a:t>
              </a:r>
              <a:r>
                <a:rPr lang="en-US" altLang="zh-CN" sz="2800" i="1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 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。</a:t>
              </a:r>
            </a:p>
          </p:txBody>
        </p:sp>
        <p:sp>
          <p:nvSpPr>
            <p:cNvPr id="653328" name="Rectangle 16"/>
            <p:cNvSpPr>
              <a:spLocks noChangeArrowheads="1"/>
            </p:cNvSpPr>
            <p:nvPr/>
          </p:nvSpPr>
          <p:spPr bwMode="auto">
            <a:xfrm flipH="1">
              <a:off x="102" y="2872"/>
              <a:ext cx="249" cy="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defRPr/>
              </a:pP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*</a:t>
              </a:r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783982" y="3296223"/>
            <a:ext cx="7821613" cy="1082280"/>
            <a:chOff x="95" y="3275"/>
            <a:chExt cx="4927" cy="909"/>
          </a:xfrm>
        </p:grpSpPr>
        <p:sp>
          <p:nvSpPr>
            <p:cNvPr id="23569" name="Text Box 18">
              <a:hlinkClick r:id="" action="ppaction://noaction"/>
            </p:cNvPr>
            <p:cNvSpPr txBox="1">
              <a:spLocks noChangeArrowheads="1"/>
            </p:cNvSpPr>
            <p:nvPr/>
          </p:nvSpPr>
          <p:spPr bwMode="auto">
            <a:xfrm>
              <a:off x="295" y="3275"/>
              <a:ext cx="4727" cy="9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低频跨导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m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：在</a:t>
              </a:r>
              <a:r>
                <a:rPr lang="en-US" altLang="zh-CN" sz="2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DS</a:t>
              </a: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为常数时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，漏极电流</a:t>
              </a: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的变化量和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相应的栅源输入电压变化量之比。</a:t>
              </a:r>
            </a:p>
          </p:txBody>
        </p:sp>
        <p:sp>
          <p:nvSpPr>
            <p:cNvPr id="653331" name="Rectangle 19"/>
            <p:cNvSpPr>
              <a:spLocks noChangeArrowheads="1"/>
            </p:cNvSpPr>
            <p:nvPr/>
          </p:nvSpPr>
          <p:spPr bwMode="auto">
            <a:xfrm flipH="1">
              <a:off x="95" y="3335"/>
              <a:ext cx="249" cy="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defRPr/>
              </a:pPr>
              <a:r>
                <a:rPr lang="en-US" altLang="zh-CN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*</a:t>
              </a:r>
            </a:p>
          </p:txBody>
        </p:sp>
      </p:grpSp>
      <p:sp>
        <p:nvSpPr>
          <p:cNvPr id="25" name="Text Box 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96982" y="443460"/>
            <a:ext cx="22151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主要参数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AutoShape 8"/>
          <p:cNvSpPr>
            <a:spLocks noChangeAspect="1" noChangeArrowheads="1" noTextEdit="1"/>
          </p:cNvSpPr>
          <p:nvPr/>
        </p:nvSpPr>
        <p:spPr bwMode="auto">
          <a:xfrm>
            <a:off x="1025142" y="1441272"/>
            <a:ext cx="7054850" cy="180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0" name="Text Box 4"/>
          <p:cNvSpPr txBox="1">
            <a:spLocks noChangeArrowheads="1"/>
          </p:cNvSpPr>
          <p:nvPr/>
        </p:nvSpPr>
        <p:spPr bwMode="auto">
          <a:xfrm>
            <a:off x="2066187" y="4344273"/>
            <a:ext cx="2333625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/>
            <a:r>
              <a:rPr kumimoji="0"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(a) </a:t>
            </a:r>
            <a:r>
              <a:rPr kumimoji="0"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结构示意图</a:t>
            </a:r>
          </a:p>
        </p:txBody>
      </p:sp>
      <p:sp>
        <p:nvSpPr>
          <p:cNvPr id="91" name="Text Box 5"/>
          <p:cNvSpPr txBox="1">
            <a:spLocks noChangeArrowheads="1"/>
          </p:cNvSpPr>
          <p:nvPr/>
        </p:nvSpPr>
        <p:spPr bwMode="auto">
          <a:xfrm>
            <a:off x="5985397" y="4301410"/>
            <a:ext cx="2332037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1" hangingPunct="1"/>
            <a:r>
              <a:rPr kumimoji="0"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(b) </a:t>
            </a:r>
            <a:r>
              <a:rPr kumimoji="0"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图形符号</a:t>
            </a:r>
          </a:p>
        </p:txBody>
      </p:sp>
      <p:grpSp>
        <p:nvGrpSpPr>
          <p:cNvPr id="72" name="组合 71"/>
          <p:cNvGrpSpPr/>
          <p:nvPr/>
        </p:nvGrpSpPr>
        <p:grpSpPr>
          <a:xfrm>
            <a:off x="6137249" y="1571896"/>
            <a:ext cx="1949846" cy="1990170"/>
            <a:chOff x="6032146" y="1288116"/>
            <a:chExt cx="1949846" cy="1990170"/>
          </a:xfrm>
        </p:grpSpPr>
        <p:sp>
          <p:nvSpPr>
            <p:cNvPr id="93" name="Freeform 45"/>
            <p:cNvSpPr>
              <a:spLocks/>
            </p:cNvSpPr>
            <p:nvPr/>
          </p:nvSpPr>
          <p:spPr bwMode="auto">
            <a:xfrm>
              <a:off x="6627458" y="1835804"/>
              <a:ext cx="68263" cy="793750"/>
            </a:xfrm>
            <a:custGeom>
              <a:avLst/>
              <a:gdLst>
                <a:gd name="T0" fmla="*/ 2147483647 w 43"/>
                <a:gd name="T1" fmla="*/ 0 h 500"/>
                <a:gd name="T2" fmla="*/ 2147483647 w 43"/>
                <a:gd name="T3" fmla="*/ 2147483647 h 500"/>
                <a:gd name="T4" fmla="*/ 0 w 43"/>
                <a:gd name="T5" fmla="*/ 2147483647 h 500"/>
                <a:gd name="T6" fmla="*/ 0 60000 65536"/>
                <a:gd name="T7" fmla="*/ 0 60000 65536"/>
                <a:gd name="T8" fmla="*/ 0 60000 65536"/>
                <a:gd name="T9" fmla="*/ 0 w 43"/>
                <a:gd name="T10" fmla="*/ 0 h 500"/>
                <a:gd name="T11" fmla="*/ 43 w 43"/>
                <a:gd name="T12" fmla="*/ 500 h 5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" h="500">
                  <a:moveTo>
                    <a:pt x="43" y="0"/>
                  </a:moveTo>
                  <a:lnTo>
                    <a:pt x="43" y="500"/>
                  </a:lnTo>
                  <a:lnTo>
                    <a:pt x="0" y="50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4" name="Freeform 46"/>
            <p:cNvSpPr>
              <a:spLocks/>
            </p:cNvSpPr>
            <p:nvPr/>
          </p:nvSpPr>
          <p:spPr bwMode="auto">
            <a:xfrm>
              <a:off x="6878283" y="1586566"/>
              <a:ext cx="630238" cy="273050"/>
            </a:xfrm>
            <a:custGeom>
              <a:avLst/>
              <a:gdLst>
                <a:gd name="T0" fmla="*/ 0 w 397"/>
                <a:gd name="T1" fmla="*/ 2147483647 h 172"/>
                <a:gd name="T2" fmla="*/ 2147483647 w 397"/>
                <a:gd name="T3" fmla="*/ 2147483647 h 172"/>
                <a:gd name="T4" fmla="*/ 2147483647 w 397"/>
                <a:gd name="T5" fmla="*/ 0 h 172"/>
                <a:gd name="T6" fmla="*/ 0 60000 65536"/>
                <a:gd name="T7" fmla="*/ 0 60000 65536"/>
                <a:gd name="T8" fmla="*/ 0 60000 65536"/>
                <a:gd name="T9" fmla="*/ 0 w 397"/>
                <a:gd name="T10" fmla="*/ 0 h 172"/>
                <a:gd name="T11" fmla="*/ 397 w 397"/>
                <a:gd name="T12" fmla="*/ 172 h 1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7" h="172">
                  <a:moveTo>
                    <a:pt x="0" y="172"/>
                  </a:moveTo>
                  <a:lnTo>
                    <a:pt x="397" y="172"/>
                  </a:lnTo>
                  <a:lnTo>
                    <a:pt x="397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Line 48"/>
            <p:cNvSpPr>
              <a:spLocks noChangeShapeType="1"/>
            </p:cNvSpPr>
            <p:nvPr/>
          </p:nvSpPr>
          <p:spPr bwMode="auto">
            <a:xfrm flipV="1">
              <a:off x="6872906" y="1731979"/>
              <a:ext cx="0" cy="9789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Freeform 50"/>
            <p:cNvSpPr>
              <a:spLocks/>
            </p:cNvSpPr>
            <p:nvPr/>
          </p:nvSpPr>
          <p:spPr bwMode="auto">
            <a:xfrm>
              <a:off x="6878283" y="2580341"/>
              <a:ext cx="630238" cy="274638"/>
            </a:xfrm>
            <a:custGeom>
              <a:avLst/>
              <a:gdLst>
                <a:gd name="T0" fmla="*/ 0 w 397"/>
                <a:gd name="T1" fmla="*/ 0 h 173"/>
                <a:gd name="T2" fmla="*/ 2147483647 w 397"/>
                <a:gd name="T3" fmla="*/ 0 h 173"/>
                <a:gd name="T4" fmla="*/ 2147483647 w 397"/>
                <a:gd name="T5" fmla="*/ 2147483647 h 173"/>
                <a:gd name="T6" fmla="*/ 0 60000 65536"/>
                <a:gd name="T7" fmla="*/ 0 60000 65536"/>
                <a:gd name="T8" fmla="*/ 0 60000 65536"/>
                <a:gd name="T9" fmla="*/ 0 w 397"/>
                <a:gd name="T10" fmla="*/ 0 h 173"/>
                <a:gd name="T11" fmla="*/ 397 w 397"/>
                <a:gd name="T12" fmla="*/ 173 h 1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7" h="173">
                  <a:moveTo>
                    <a:pt x="0" y="0"/>
                  </a:moveTo>
                  <a:lnTo>
                    <a:pt x="397" y="0"/>
                  </a:lnTo>
                  <a:lnTo>
                    <a:pt x="397" y="173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9" name="Line 51"/>
            <p:cNvSpPr>
              <a:spLocks noChangeShapeType="1"/>
            </p:cNvSpPr>
            <p:nvPr/>
          </p:nvSpPr>
          <p:spPr bwMode="auto">
            <a:xfrm>
              <a:off x="6359171" y="2629554"/>
              <a:ext cx="268287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Line 52"/>
            <p:cNvSpPr>
              <a:spLocks noChangeShapeType="1"/>
            </p:cNvSpPr>
            <p:nvPr/>
          </p:nvSpPr>
          <p:spPr bwMode="auto">
            <a:xfrm>
              <a:off x="6878283" y="2207279"/>
              <a:ext cx="790575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1" name="Rectangle 53"/>
            <p:cNvSpPr>
              <a:spLocks noChangeArrowheads="1"/>
            </p:cNvSpPr>
            <p:nvPr/>
          </p:nvSpPr>
          <p:spPr bwMode="auto">
            <a:xfrm>
              <a:off x="6032146" y="2442229"/>
              <a:ext cx="22281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</a:t>
              </a:r>
            </a:p>
          </p:txBody>
        </p:sp>
        <p:sp>
          <p:nvSpPr>
            <p:cNvPr id="102" name="Rectangle 54"/>
            <p:cNvSpPr>
              <a:spLocks noChangeArrowheads="1"/>
            </p:cNvSpPr>
            <p:nvPr/>
          </p:nvSpPr>
          <p:spPr bwMode="auto">
            <a:xfrm>
              <a:off x="7424383" y="1288116"/>
              <a:ext cx="22281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</a:t>
              </a:r>
            </a:p>
          </p:txBody>
        </p:sp>
        <p:sp>
          <p:nvSpPr>
            <p:cNvPr id="103" name="Rectangle 55"/>
            <p:cNvSpPr>
              <a:spLocks noChangeArrowheads="1"/>
            </p:cNvSpPr>
            <p:nvPr/>
          </p:nvSpPr>
          <p:spPr bwMode="auto">
            <a:xfrm>
              <a:off x="7456133" y="2908954"/>
              <a:ext cx="17152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104" name="Rectangle 56"/>
            <p:cNvSpPr>
              <a:spLocks noChangeArrowheads="1"/>
            </p:cNvSpPr>
            <p:nvPr/>
          </p:nvSpPr>
          <p:spPr bwMode="auto">
            <a:xfrm>
              <a:off x="7776808" y="2099329"/>
              <a:ext cx="20518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05" name="Line 57"/>
            <p:cNvSpPr>
              <a:spLocks noChangeShapeType="1"/>
            </p:cNvSpPr>
            <p:nvPr/>
          </p:nvSpPr>
          <p:spPr bwMode="auto">
            <a:xfrm flipH="1">
              <a:off x="7346596" y="2204104"/>
              <a:ext cx="26987" cy="158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Freeform 58"/>
            <p:cNvSpPr>
              <a:spLocks/>
            </p:cNvSpPr>
            <p:nvPr/>
          </p:nvSpPr>
          <p:spPr bwMode="auto">
            <a:xfrm>
              <a:off x="7135458" y="2143779"/>
              <a:ext cx="231775" cy="120650"/>
            </a:xfrm>
            <a:custGeom>
              <a:avLst/>
              <a:gdLst>
                <a:gd name="T0" fmla="*/ 2147483647 w 146"/>
                <a:gd name="T1" fmla="*/ 0 h 76"/>
                <a:gd name="T2" fmla="*/ 0 w 146"/>
                <a:gd name="T3" fmla="*/ 2147483647 h 76"/>
                <a:gd name="T4" fmla="*/ 2147483647 w 146"/>
                <a:gd name="T5" fmla="*/ 2147483647 h 76"/>
                <a:gd name="T6" fmla="*/ 2147483647 w 146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6"/>
                <a:gd name="T13" fmla="*/ 0 h 76"/>
                <a:gd name="T14" fmla="*/ 146 w 146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6" h="76">
                  <a:moveTo>
                    <a:pt x="146" y="0"/>
                  </a:moveTo>
                  <a:lnTo>
                    <a:pt x="0" y="38"/>
                  </a:lnTo>
                  <a:lnTo>
                    <a:pt x="146" y="76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07" name="组合 87"/>
          <p:cNvGrpSpPr>
            <a:grpSpLocks/>
          </p:cNvGrpSpPr>
          <p:nvPr/>
        </p:nvGrpSpPr>
        <p:grpSpPr bwMode="auto">
          <a:xfrm>
            <a:off x="623150" y="1124823"/>
            <a:ext cx="4881562" cy="3089183"/>
            <a:chOff x="1098551" y="1584326"/>
            <a:chExt cx="3711575" cy="2324155"/>
          </a:xfrm>
        </p:grpSpPr>
        <p:sp>
          <p:nvSpPr>
            <p:cNvPr id="108" name="Rectangle 9"/>
            <p:cNvSpPr>
              <a:spLocks noChangeArrowheads="1"/>
            </p:cNvSpPr>
            <p:nvPr/>
          </p:nvSpPr>
          <p:spPr bwMode="auto">
            <a:xfrm>
              <a:off x="2203451" y="1925638"/>
              <a:ext cx="1579563" cy="62388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9" name="Rectangle 10"/>
            <p:cNvSpPr>
              <a:spLocks noChangeArrowheads="1"/>
            </p:cNvSpPr>
            <p:nvPr/>
          </p:nvSpPr>
          <p:spPr bwMode="auto">
            <a:xfrm>
              <a:off x="2203451" y="1925638"/>
              <a:ext cx="1579563" cy="623888"/>
            </a:xfrm>
            <a:prstGeom prst="rect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0" name="Rectangle 11"/>
            <p:cNvSpPr>
              <a:spLocks noChangeArrowheads="1"/>
            </p:cNvSpPr>
            <p:nvPr/>
          </p:nvSpPr>
          <p:spPr bwMode="auto">
            <a:xfrm>
              <a:off x="1098551" y="2549526"/>
              <a:ext cx="3711575" cy="9350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1" name="Rectangle 12"/>
            <p:cNvSpPr>
              <a:spLocks noChangeArrowheads="1"/>
            </p:cNvSpPr>
            <p:nvPr/>
          </p:nvSpPr>
          <p:spPr bwMode="auto">
            <a:xfrm>
              <a:off x="1098551" y="2549526"/>
              <a:ext cx="3711575" cy="93503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2" name="Rectangle 13"/>
            <p:cNvSpPr>
              <a:spLocks noChangeArrowheads="1"/>
            </p:cNvSpPr>
            <p:nvPr/>
          </p:nvSpPr>
          <p:spPr bwMode="auto">
            <a:xfrm>
              <a:off x="1493838" y="2549526"/>
              <a:ext cx="788988" cy="32861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3" name="Rectangle 14"/>
            <p:cNvSpPr>
              <a:spLocks noChangeArrowheads="1"/>
            </p:cNvSpPr>
            <p:nvPr/>
          </p:nvSpPr>
          <p:spPr bwMode="auto">
            <a:xfrm>
              <a:off x="1493838" y="2549526"/>
              <a:ext cx="788988" cy="32861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4" name="Rectangle 15"/>
            <p:cNvSpPr>
              <a:spLocks noChangeArrowheads="1"/>
            </p:cNvSpPr>
            <p:nvPr/>
          </p:nvSpPr>
          <p:spPr bwMode="auto">
            <a:xfrm>
              <a:off x="3703638" y="2549526"/>
              <a:ext cx="790575" cy="32861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5" name="Rectangle 16"/>
            <p:cNvSpPr>
              <a:spLocks noChangeArrowheads="1"/>
            </p:cNvSpPr>
            <p:nvPr/>
          </p:nvSpPr>
          <p:spPr bwMode="auto">
            <a:xfrm>
              <a:off x="3703638" y="2549526"/>
              <a:ext cx="790575" cy="32861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6" name="Rectangle 17"/>
            <p:cNvSpPr>
              <a:spLocks noChangeArrowheads="1"/>
            </p:cNvSpPr>
            <p:nvPr/>
          </p:nvSpPr>
          <p:spPr bwMode="auto">
            <a:xfrm>
              <a:off x="1335088" y="2236788"/>
              <a:ext cx="709613" cy="31273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7" name="Rectangle 18"/>
            <p:cNvSpPr>
              <a:spLocks noChangeArrowheads="1"/>
            </p:cNvSpPr>
            <p:nvPr/>
          </p:nvSpPr>
          <p:spPr bwMode="auto">
            <a:xfrm>
              <a:off x="1335088" y="2236788"/>
              <a:ext cx="709613" cy="31273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8" name="Rectangle 19"/>
            <p:cNvSpPr>
              <a:spLocks noChangeArrowheads="1"/>
            </p:cNvSpPr>
            <p:nvPr/>
          </p:nvSpPr>
          <p:spPr bwMode="auto">
            <a:xfrm>
              <a:off x="3940176" y="2236788"/>
              <a:ext cx="711200" cy="31273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9" name="Rectangle 20"/>
            <p:cNvSpPr>
              <a:spLocks noChangeArrowheads="1"/>
            </p:cNvSpPr>
            <p:nvPr/>
          </p:nvSpPr>
          <p:spPr bwMode="auto">
            <a:xfrm>
              <a:off x="3940176" y="2236788"/>
              <a:ext cx="711200" cy="31273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0" name="Rectangle 21"/>
            <p:cNvSpPr>
              <a:spLocks noChangeArrowheads="1"/>
            </p:cNvSpPr>
            <p:nvPr/>
          </p:nvSpPr>
          <p:spPr bwMode="auto">
            <a:xfrm>
              <a:off x="2203451" y="1925638"/>
              <a:ext cx="1579563" cy="24923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1" name="Rectangle 22"/>
            <p:cNvSpPr>
              <a:spLocks noChangeArrowheads="1"/>
            </p:cNvSpPr>
            <p:nvPr/>
          </p:nvSpPr>
          <p:spPr bwMode="auto">
            <a:xfrm>
              <a:off x="2203451" y="1925638"/>
              <a:ext cx="1579563" cy="24923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2" name="Rectangle 23"/>
            <p:cNvSpPr>
              <a:spLocks noChangeArrowheads="1"/>
            </p:cNvSpPr>
            <p:nvPr/>
          </p:nvSpPr>
          <p:spPr bwMode="auto">
            <a:xfrm>
              <a:off x="2776538" y="2198688"/>
              <a:ext cx="364422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SiO</a:t>
              </a:r>
            </a:p>
          </p:txBody>
        </p:sp>
        <p:sp>
          <p:nvSpPr>
            <p:cNvPr id="123" name="Rectangle 24"/>
            <p:cNvSpPr>
              <a:spLocks noChangeArrowheads="1"/>
            </p:cNvSpPr>
            <p:nvPr/>
          </p:nvSpPr>
          <p:spPr bwMode="auto">
            <a:xfrm>
              <a:off x="3167063" y="2286001"/>
              <a:ext cx="97504" cy="2315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24" name="Rectangle 25"/>
            <p:cNvSpPr>
              <a:spLocks noChangeArrowheads="1"/>
            </p:cNvSpPr>
            <p:nvPr/>
          </p:nvSpPr>
          <p:spPr bwMode="auto">
            <a:xfrm>
              <a:off x="1593155" y="2247676"/>
              <a:ext cx="235229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铝</a:t>
              </a:r>
            </a:p>
          </p:txBody>
        </p:sp>
        <p:sp>
          <p:nvSpPr>
            <p:cNvPr id="125" name="Rectangle 26"/>
            <p:cNvSpPr>
              <a:spLocks noChangeArrowheads="1"/>
            </p:cNvSpPr>
            <p:nvPr/>
          </p:nvSpPr>
          <p:spPr bwMode="auto">
            <a:xfrm>
              <a:off x="4183902" y="2247676"/>
              <a:ext cx="235229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铝</a:t>
              </a:r>
            </a:p>
          </p:txBody>
        </p:sp>
        <p:sp>
          <p:nvSpPr>
            <p:cNvPr id="126" name="Rectangle 27"/>
            <p:cNvSpPr>
              <a:spLocks noChangeArrowheads="1"/>
            </p:cNvSpPr>
            <p:nvPr/>
          </p:nvSpPr>
          <p:spPr bwMode="auto">
            <a:xfrm>
              <a:off x="2923730" y="1904822"/>
              <a:ext cx="235229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铝</a:t>
              </a:r>
            </a:p>
          </p:txBody>
        </p:sp>
        <p:sp>
          <p:nvSpPr>
            <p:cNvPr id="127" name="Rectangle 28"/>
            <p:cNvSpPr>
              <a:spLocks noChangeArrowheads="1"/>
            </p:cNvSpPr>
            <p:nvPr/>
          </p:nvSpPr>
          <p:spPr bwMode="auto">
            <a:xfrm>
              <a:off x="1790701" y="2619376"/>
              <a:ext cx="173070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N</a:t>
              </a:r>
            </a:p>
          </p:txBody>
        </p:sp>
        <p:sp>
          <p:nvSpPr>
            <p:cNvPr id="128" name="Rectangle 29"/>
            <p:cNvSpPr>
              <a:spLocks noChangeArrowheads="1"/>
            </p:cNvSpPr>
            <p:nvPr/>
          </p:nvSpPr>
          <p:spPr bwMode="auto">
            <a:xfrm>
              <a:off x="1971676" y="2590801"/>
              <a:ext cx="131631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29" name="Rectangle 30"/>
            <p:cNvSpPr>
              <a:spLocks noChangeArrowheads="1"/>
            </p:cNvSpPr>
            <p:nvPr/>
          </p:nvSpPr>
          <p:spPr bwMode="auto">
            <a:xfrm>
              <a:off x="4000501" y="2619376"/>
              <a:ext cx="173070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N</a:t>
              </a:r>
            </a:p>
          </p:txBody>
        </p:sp>
        <p:sp>
          <p:nvSpPr>
            <p:cNvPr id="130" name="Rectangle 31"/>
            <p:cNvSpPr>
              <a:spLocks noChangeArrowheads="1"/>
            </p:cNvSpPr>
            <p:nvPr/>
          </p:nvSpPr>
          <p:spPr bwMode="auto">
            <a:xfrm>
              <a:off x="4183063" y="2590801"/>
              <a:ext cx="131631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31" name="Rectangle 32"/>
            <p:cNvSpPr>
              <a:spLocks noChangeArrowheads="1"/>
            </p:cNvSpPr>
            <p:nvPr/>
          </p:nvSpPr>
          <p:spPr bwMode="auto">
            <a:xfrm>
              <a:off x="2124076" y="3224213"/>
              <a:ext cx="705688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低掺杂</a:t>
              </a:r>
            </a:p>
          </p:txBody>
        </p:sp>
        <p:sp>
          <p:nvSpPr>
            <p:cNvPr id="132" name="Rectangle 33"/>
            <p:cNvSpPr>
              <a:spLocks noChangeArrowheads="1"/>
            </p:cNvSpPr>
            <p:nvPr/>
          </p:nvSpPr>
          <p:spPr bwMode="auto">
            <a:xfrm>
              <a:off x="2876551" y="3217863"/>
              <a:ext cx="130413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P</a:t>
              </a:r>
            </a:p>
          </p:txBody>
        </p:sp>
        <p:sp>
          <p:nvSpPr>
            <p:cNvPr id="133" name="Rectangle 34"/>
            <p:cNvSpPr>
              <a:spLocks noChangeArrowheads="1"/>
            </p:cNvSpPr>
            <p:nvPr/>
          </p:nvSpPr>
          <p:spPr bwMode="auto">
            <a:xfrm>
              <a:off x="3016251" y="3224213"/>
              <a:ext cx="940916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型硅衬底</a:t>
              </a:r>
            </a:p>
          </p:txBody>
        </p:sp>
        <p:sp>
          <p:nvSpPr>
            <p:cNvPr id="134" name="Line 35"/>
            <p:cNvSpPr>
              <a:spLocks noChangeShapeType="1"/>
            </p:cNvSpPr>
            <p:nvPr/>
          </p:nvSpPr>
          <p:spPr bwMode="auto">
            <a:xfrm>
              <a:off x="3073401" y="1601788"/>
              <a:ext cx="1588" cy="3127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5" name="Line 36"/>
            <p:cNvSpPr>
              <a:spLocks noChangeShapeType="1"/>
            </p:cNvSpPr>
            <p:nvPr/>
          </p:nvSpPr>
          <p:spPr bwMode="auto">
            <a:xfrm>
              <a:off x="4316413" y="1925638"/>
              <a:ext cx="1588" cy="3111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6" name="Line 37"/>
            <p:cNvSpPr>
              <a:spLocks noChangeShapeType="1"/>
            </p:cNvSpPr>
            <p:nvPr/>
          </p:nvSpPr>
          <p:spPr bwMode="auto">
            <a:xfrm>
              <a:off x="3001963" y="3484563"/>
              <a:ext cx="1588" cy="3127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7" name="Line 38"/>
            <p:cNvSpPr>
              <a:spLocks noChangeShapeType="1"/>
            </p:cNvSpPr>
            <p:nvPr/>
          </p:nvSpPr>
          <p:spPr bwMode="auto">
            <a:xfrm>
              <a:off x="1689101" y="1925638"/>
              <a:ext cx="1588" cy="3111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8" name="Rectangle 39"/>
            <p:cNvSpPr>
              <a:spLocks noChangeArrowheads="1"/>
            </p:cNvSpPr>
            <p:nvPr/>
          </p:nvSpPr>
          <p:spPr bwMode="auto">
            <a:xfrm>
              <a:off x="1438276" y="1903413"/>
              <a:ext cx="130413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139" name="Rectangle 40"/>
            <p:cNvSpPr>
              <a:spLocks noChangeArrowheads="1"/>
            </p:cNvSpPr>
            <p:nvPr/>
          </p:nvSpPr>
          <p:spPr bwMode="auto">
            <a:xfrm>
              <a:off x="3201988" y="1584326"/>
              <a:ext cx="169414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</a:t>
              </a:r>
            </a:p>
          </p:txBody>
        </p:sp>
        <p:sp>
          <p:nvSpPr>
            <p:cNvPr id="140" name="Rectangle 41"/>
            <p:cNvSpPr>
              <a:spLocks noChangeArrowheads="1"/>
            </p:cNvSpPr>
            <p:nvPr/>
          </p:nvSpPr>
          <p:spPr bwMode="auto">
            <a:xfrm>
              <a:off x="4475163" y="1909763"/>
              <a:ext cx="169414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</a:t>
              </a:r>
            </a:p>
          </p:txBody>
        </p:sp>
        <p:sp>
          <p:nvSpPr>
            <p:cNvPr id="142" name="Freeform 43"/>
            <p:cNvSpPr>
              <a:spLocks/>
            </p:cNvSpPr>
            <p:nvPr/>
          </p:nvSpPr>
          <p:spPr bwMode="auto">
            <a:xfrm>
              <a:off x="2954982" y="3797301"/>
              <a:ext cx="82115" cy="81254"/>
            </a:xfrm>
            <a:custGeom>
              <a:avLst/>
              <a:gdLst>
                <a:gd name="T0" fmla="*/ 2147483647 w 86"/>
                <a:gd name="T1" fmla="*/ 2147483647 h 67"/>
                <a:gd name="T2" fmla="*/ 2147483647 w 86"/>
                <a:gd name="T3" fmla="*/ 2147483647 h 67"/>
                <a:gd name="T4" fmla="*/ 2147483647 w 86"/>
                <a:gd name="T5" fmla="*/ 2147483647 h 67"/>
                <a:gd name="T6" fmla="*/ 2147483647 w 86"/>
                <a:gd name="T7" fmla="*/ 2147483647 h 67"/>
                <a:gd name="T8" fmla="*/ 2147483647 w 86"/>
                <a:gd name="T9" fmla="*/ 2147483647 h 67"/>
                <a:gd name="T10" fmla="*/ 2147483647 w 86"/>
                <a:gd name="T11" fmla="*/ 2147483647 h 67"/>
                <a:gd name="T12" fmla="*/ 2147483647 w 86"/>
                <a:gd name="T13" fmla="*/ 2147483647 h 67"/>
                <a:gd name="T14" fmla="*/ 2147483647 w 86"/>
                <a:gd name="T15" fmla="*/ 2147483647 h 67"/>
                <a:gd name="T16" fmla="*/ 2147483647 w 86"/>
                <a:gd name="T17" fmla="*/ 2147483647 h 67"/>
                <a:gd name="T18" fmla="*/ 2147483647 w 86"/>
                <a:gd name="T19" fmla="*/ 2147483647 h 67"/>
                <a:gd name="T20" fmla="*/ 2147483647 w 86"/>
                <a:gd name="T21" fmla="*/ 2147483647 h 67"/>
                <a:gd name="T22" fmla="*/ 2147483647 w 86"/>
                <a:gd name="T23" fmla="*/ 2147483647 h 67"/>
                <a:gd name="T24" fmla="*/ 2147483647 w 86"/>
                <a:gd name="T25" fmla="*/ 2147483647 h 67"/>
                <a:gd name="T26" fmla="*/ 2147483647 w 86"/>
                <a:gd name="T27" fmla="*/ 0 h 67"/>
                <a:gd name="T28" fmla="*/ 2147483647 w 86"/>
                <a:gd name="T29" fmla="*/ 0 h 67"/>
                <a:gd name="T30" fmla="*/ 2147483647 w 86"/>
                <a:gd name="T31" fmla="*/ 0 h 67"/>
                <a:gd name="T32" fmla="*/ 2147483647 w 86"/>
                <a:gd name="T33" fmla="*/ 2147483647 h 67"/>
                <a:gd name="T34" fmla="*/ 2147483647 w 86"/>
                <a:gd name="T35" fmla="*/ 2147483647 h 67"/>
                <a:gd name="T36" fmla="*/ 2147483647 w 86"/>
                <a:gd name="T37" fmla="*/ 2147483647 h 67"/>
                <a:gd name="T38" fmla="*/ 2147483647 w 86"/>
                <a:gd name="T39" fmla="*/ 2147483647 h 67"/>
                <a:gd name="T40" fmla="*/ 2147483647 w 86"/>
                <a:gd name="T41" fmla="*/ 2147483647 h 67"/>
                <a:gd name="T42" fmla="*/ 2147483647 w 86"/>
                <a:gd name="T43" fmla="*/ 2147483647 h 67"/>
                <a:gd name="T44" fmla="*/ 2147483647 w 86"/>
                <a:gd name="T45" fmla="*/ 2147483647 h 67"/>
                <a:gd name="T46" fmla="*/ 2147483647 w 86"/>
                <a:gd name="T47" fmla="*/ 2147483647 h 67"/>
                <a:gd name="T48" fmla="*/ 2147483647 w 86"/>
                <a:gd name="T49" fmla="*/ 2147483647 h 67"/>
                <a:gd name="T50" fmla="*/ 2147483647 w 86"/>
                <a:gd name="T51" fmla="*/ 2147483647 h 67"/>
                <a:gd name="T52" fmla="*/ 2147483647 w 86"/>
                <a:gd name="T53" fmla="*/ 2147483647 h 67"/>
                <a:gd name="T54" fmla="*/ 0 w 86"/>
                <a:gd name="T55" fmla="*/ 2147483647 h 67"/>
                <a:gd name="T56" fmla="*/ 0 w 86"/>
                <a:gd name="T57" fmla="*/ 2147483647 h 67"/>
                <a:gd name="T58" fmla="*/ 0 w 86"/>
                <a:gd name="T59" fmla="*/ 2147483647 h 67"/>
                <a:gd name="T60" fmla="*/ 2147483647 w 86"/>
                <a:gd name="T61" fmla="*/ 2147483647 h 67"/>
                <a:gd name="T62" fmla="*/ 2147483647 w 86"/>
                <a:gd name="T63" fmla="*/ 2147483647 h 67"/>
                <a:gd name="T64" fmla="*/ 2147483647 w 86"/>
                <a:gd name="T65" fmla="*/ 2147483647 h 67"/>
                <a:gd name="T66" fmla="*/ 2147483647 w 86"/>
                <a:gd name="T67" fmla="*/ 2147483647 h 67"/>
                <a:gd name="T68" fmla="*/ 2147483647 w 86"/>
                <a:gd name="T69" fmla="*/ 2147483647 h 67"/>
                <a:gd name="T70" fmla="*/ 2147483647 w 86"/>
                <a:gd name="T71" fmla="*/ 2147483647 h 67"/>
                <a:gd name="T72" fmla="*/ 2147483647 w 86"/>
                <a:gd name="T73" fmla="*/ 2147483647 h 67"/>
                <a:gd name="T74" fmla="*/ 2147483647 w 86"/>
                <a:gd name="T75" fmla="*/ 2147483647 h 67"/>
                <a:gd name="T76" fmla="*/ 2147483647 w 86"/>
                <a:gd name="T77" fmla="*/ 2147483647 h 67"/>
                <a:gd name="T78" fmla="*/ 2147483647 w 86"/>
                <a:gd name="T79" fmla="*/ 2147483647 h 67"/>
                <a:gd name="T80" fmla="*/ 2147483647 w 86"/>
                <a:gd name="T81" fmla="*/ 2147483647 h 67"/>
                <a:gd name="T82" fmla="*/ 2147483647 w 86"/>
                <a:gd name="T83" fmla="*/ 2147483647 h 67"/>
                <a:gd name="T84" fmla="*/ 2147483647 w 86"/>
                <a:gd name="T85" fmla="*/ 2147483647 h 67"/>
                <a:gd name="T86" fmla="*/ 2147483647 w 86"/>
                <a:gd name="T87" fmla="*/ 2147483647 h 67"/>
                <a:gd name="T88" fmla="*/ 2147483647 w 86"/>
                <a:gd name="T89" fmla="*/ 2147483647 h 67"/>
                <a:gd name="T90" fmla="*/ 2147483647 w 86"/>
                <a:gd name="T91" fmla="*/ 2147483647 h 67"/>
                <a:gd name="T92" fmla="*/ 2147483647 w 86"/>
                <a:gd name="T93" fmla="*/ 2147483647 h 67"/>
                <a:gd name="T94" fmla="*/ 2147483647 w 86"/>
                <a:gd name="T95" fmla="*/ 2147483647 h 67"/>
                <a:gd name="T96" fmla="*/ 2147483647 w 86"/>
                <a:gd name="T97" fmla="*/ 2147483647 h 67"/>
                <a:gd name="T98" fmla="*/ 2147483647 w 86"/>
                <a:gd name="T99" fmla="*/ 2147483647 h 67"/>
                <a:gd name="T100" fmla="*/ 2147483647 w 86"/>
                <a:gd name="T101" fmla="*/ 2147483647 h 67"/>
                <a:gd name="T102" fmla="*/ 2147483647 w 86"/>
                <a:gd name="T103" fmla="*/ 2147483647 h 67"/>
                <a:gd name="T104" fmla="*/ 2147483647 w 86"/>
                <a:gd name="T105" fmla="*/ 2147483647 h 67"/>
                <a:gd name="T106" fmla="*/ 2147483647 w 86"/>
                <a:gd name="T107" fmla="*/ 2147483647 h 67"/>
                <a:gd name="T108" fmla="*/ 2147483647 w 86"/>
                <a:gd name="T109" fmla="*/ 2147483647 h 67"/>
                <a:gd name="T110" fmla="*/ 2147483647 w 86"/>
                <a:gd name="T111" fmla="*/ 2147483647 h 67"/>
                <a:gd name="T112" fmla="*/ 2147483647 w 86"/>
                <a:gd name="T113" fmla="*/ 2147483647 h 6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86"/>
                <a:gd name="T172" fmla="*/ 0 h 67"/>
                <a:gd name="T173" fmla="*/ 86 w 86"/>
                <a:gd name="T174" fmla="*/ 67 h 67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86" h="67">
                  <a:moveTo>
                    <a:pt x="86" y="33"/>
                  </a:moveTo>
                  <a:lnTo>
                    <a:pt x="85" y="30"/>
                  </a:lnTo>
                  <a:lnTo>
                    <a:pt x="85" y="27"/>
                  </a:lnTo>
                  <a:lnTo>
                    <a:pt x="83" y="24"/>
                  </a:lnTo>
                  <a:lnTo>
                    <a:pt x="82" y="21"/>
                  </a:lnTo>
                  <a:lnTo>
                    <a:pt x="81" y="18"/>
                  </a:lnTo>
                  <a:lnTo>
                    <a:pt x="78" y="15"/>
                  </a:lnTo>
                  <a:lnTo>
                    <a:pt x="73" y="9"/>
                  </a:lnTo>
                  <a:lnTo>
                    <a:pt x="66" y="5"/>
                  </a:lnTo>
                  <a:lnTo>
                    <a:pt x="63" y="4"/>
                  </a:lnTo>
                  <a:lnTo>
                    <a:pt x="60" y="3"/>
                  </a:lnTo>
                  <a:lnTo>
                    <a:pt x="56" y="1"/>
                  </a:lnTo>
                  <a:lnTo>
                    <a:pt x="52" y="1"/>
                  </a:lnTo>
                  <a:lnTo>
                    <a:pt x="48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5" y="1"/>
                  </a:lnTo>
                  <a:lnTo>
                    <a:pt x="31" y="1"/>
                  </a:lnTo>
                  <a:lnTo>
                    <a:pt x="27" y="3"/>
                  </a:lnTo>
                  <a:lnTo>
                    <a:pt x="23" y="4"/>
                  </a:lnTo>
                  <a:lnTo>
                    <a:pt x="19" y="5"/>
                  </a:lnTo>
                  <a:lnTo>
                    <a:pt x="13" y="9"/>
                  </a:lnTo>
                  <a:lnTo>
                    <a:pt x="8" y="15"/>
                  </a:lnTo>
                  <a:lnTo>
                    <a:pt x="6" y="18"/>
                  </a:lnTo>
                  <a:lnTo>
                    <a:pt x="4" y="21"/>
                  </a:lnTo>
                  <a:lnTo>
                    <a:pt x="3" y="24"/>
                  </a:lnTo>
                  <a:lnTo>
                    <a:pt x="2" y="27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2" y="41"/>
                  </a:lnTo>
                  <a:lnTo>
                    <a:pt x="3" y="44"/>
                  </a:lnTo>
                  <a:lnTo>
                    <a:pt x="4" y="47"/>
                  </a:lnTo>
                  <a:lnTo>
                    <a:pt x="6" y="49"/>
                  </a:lnTo>
                  <a:lnTo>
                    <a:pt x="8" y="52"/>
                  </a:lnTo>
                  <a:lnTo>
                    <a:pt x="13" y="57"/>
                  </a:lnTo>
                  <a:lnTo>
                    <a:pt x="19" y="61"/>
                  </a:lnTo>
                  <a:lnTo>
                    <a:pt x="23" y="62"/>
                  </a:lnTo>
                  <a:lnTo>
                    <a:pt x="27" y="64"/>
                  </a:lnTo>
                  <a:lnTo>
                    <a:pt x="31" y="65"/>
                  </a:lnTo>
                  <a:lnTo>
                    <a:pt x="35" y="67"/>
                  </a:lnTo>
                  <a:lnTo>
                    <a:pt x="38" y="67"/>
                  </a:lnTo>
                  <a:lnTo>
                    <a:pt x="42" y="67"/>
                  </a:lnTo>
                  <a:lnTo>
                    <a:pt x="48" y="67"/>
                  </a:lnTo>
                  <a:lnTo>
                    <a:pt x="52" y="67"/>
                  </a:lnTo>
                  <a:lnTo>
                    <a:pt x="56" y="65"/>
                  </a:lnTo>
                  <a:lnTo>
                    <a:pt x="60" y="64"/>
                  </a:lnTo>
                  <a:lnTo>
                    <a:pt x="63" y="62"/>
                  </a:lnTo>
                  <a:lnTo>
                    <a:pt x="66" y="61"/>
                  </a:lnTo>
                  <a:lnTo>
                    <a:pt x="73" y="57"/>
                  </a:lnTo>
                  <a:lnTo>
                    <a:pt x="78" y="52"/>
                  </a:lnTo>
                  <a:lnTo>
                    <a:pt x="81" y="49"/>
                  </a:lnTo>
                  <a:lnTo>
                    <a:pt x="82" y="47"/>
                  </a:lnTo>
                  <a:lnTo>
                    <a:pt x="83" y="44"/>
                  </a:lnTo>
                  <a:lnTo>
                    <a:pt x="85" y="41"/>
                  </a:lnTo>
                  <a:lnTo>
                    <a:pt x="85" y="36"/>
                  </a:lnTo>
                  <a:lnTo>
                    <a:pt x="86" y="33"/>
                  </a:lnTo>
                </a:path>
              </a:pathLst>
            </a:custGeom>
            <a:noFill/>
            <a:ln w="20638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3" name="Rectangle 44"/>
            <p:cNvSpPr>
              <a:spLocks noChangeArrowheads="1"/>
            </p:cNvSpPr>
            <p:nvPr/>
          </p:nvSpPr>
          <p:spPr bwMode="auto">
            <a:xfrm>
              <a:off x="3201988" y="3630613"/>
              <a:ext cx="940916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zh-CN" altLang="en-US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衬底引线</a:t>
              </a:r>
            </a:p>
          </p:txBody>
        </p:sp>
        <p:sp>
          <p:nvSpPr>
            <p:cNvPr id="144" name="Rectangle 59"/>
            <p:cNvSpPr>
              <a:spLocks noChangeArrowheads="1"/>
            </p:cNvSpPr>
            <p:nvPr/>
          </p:nvSpPr>
          <p:spPr bwMode="auto">
            <a:xfrm>
              <a:off x="2354263" y="2351088"/>
              <a:ext cx="1199303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+ +  + + </a:t>
              </a:r>
              <a:r>
                <a:rPr kumimoji="0" lang="en-US" altLang="zh-CN" sz="2400" b="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kumimoji="0"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+ +</a:t>
              </a:r>
            </a:p>
          </p:txBody>
        </p:sp>
        <p:sp>
          <p:nvSpPr>
            <p:cNvPr id="146" name="Freeform 61"/>
            <p:cNvSpPr>
              <a:spLocks/>
            </p:cNvSpPr>
            <p:nvPr/>
          </p:nvSpPr>
          <p:spPr bwMode="auto">
            <a:xfrm>
              <a:off x="2332038" y="2620963"/>
              <a:ext cx="82115" cy="81254"/>
            </a:xfrm>
            <a:custGeom>
              <a:avLst/>
              <a:gdLst>
                <a:gd name="T0" fmla="*/ 2147483647 w 50"/>
                <a:gd name="T1" fmla="*/ 2147483647 h 38"/>
                <a:gd name="T2" fmla="*/ 2147483647 w 50"/>
                <a:gd name="T3" fmla="*/ 2147483647 h 38"/>
                <a:gd name="T4" fmla="*/ 2147483647 w 50"/>
                <a:gd name="T5" fmla="*/ 2147483647 h 38"/>
                <a:gd name="T6" fmla="*/ 2147483647 w 50"/>
                <a:gd name="T7" fmla="*/ 2147483647 h 38"/>
                <a:gd name="T8" fmla="*/ 2147483647 w 50"/>
                <a:gd name="T9" fmla="*/ 2147483647 h 38"/>
                <a:gd name="T10" fmla="*/ 2147483647 w 50"/>
                <a:gd name="T11" fmla="*/ 2147483647 h 38"/>
                <a:gd name="T12" fmla="*/ 2147483647 w 50"/>
                <a:gd name="T13" fmla="*/ 2147483647 h 38"/>
                <a:gd name="T14" fmla="*/ 2147483647 w 50"/>
                <a:gd name="T15" fmla="*/ 0 h 38"/>
                <a:gd name="T16" fmla="*/ 2147483647 w 50"/>
                <a:gd name="T17" fmla="*/ 0 h 38"/>
                <a:gd name="T18" fmla="*/ 2147483647 w 50"/>
                <a:gd name="T19" fmla="*/ 0 h 38"/>
                <a:gd name="T20" fmla="*/ 2147483647 w 50"/>
                <a:gd name="T21" fmla="*/ 2147483647 h 38"/>
                <a:gd name="T22" fmla="*/ 2147483647 w 50"/>
                <a:gd name="T23" fmla="*/ 2147483647 h 38"/>
                <a:gd name="T24" fmla="*/ 2147483647 w 50"/>
                <a:gd name="T25" fmla="*/ 2147483647 h 38"/>
                <a:gd name="T26" fmla="*/ 2147483647 w 50"/>
                <a:gd name="T27" fmla="*/ 2147483647 h 38"/>
                <a:gd name="T28" fmla="*/ 2147483647 w 50"/>
                <a:gd name="T29" fmla="*/ 2147483647 h 38"/>
                <a:gd name="T30" fmla="*/ 2147483647 w 50"/>
                <a:gd name="T31" fmla="*/ 2147483647 h 38"/>
                <a:gd name="T32" fmla="*/ 0 w 50"/>
                <a:gd name="T33" fmla="*/ 2147483647 h 38"/>
                <a:gd name="T34" fmla="*/ 2147483647 w 50"/>
                <a:gd name="T35" fmla="*/ 2147483647 h 38"/>
                <a:gd name="T36" fmla="*/ 2147483647 w 50"/>
                <a:gd name="T37" fmla="*/ 2147483647 h 38"/>
                <a:gd name="T38" fmla="*/ 2147483647 w 50"/>
                <a:gd name="T39" fmla="*/ 2147483647 h 38"/>
                <a:gd name="T40" fmla="*/ 2147483647 w 50"/>
                <a:gd name="T41" fmla="*/ 2147483647 h 38"/>
                <a:gd name="T42" fmla="*/ 2147483647 w 50"/>
                <a:gd name="T43" fmla="*/ 2147483647 h 38"/>
                <a:gd name="T44" fmla="*/ 2147483647 w 50"/>
                <a:gd name="T45" fmla="*/ 2147483647 h 38"/>
                <a:gd name="T46" fmla="*/ 2147483647 w 50"/>
                <a:gd name="T47" fmla="*/ 2147483647 h 38"/>
                <a:gd name="T48" fmla="*/ 2147483647 w 50"/>
                <a:gd name="T49" fmla="*/ 2147483647 h 38"/>
                <a:gd name="T50" fmla="*/ 2147483647 w 50"/>
                <a:gd name="T51" fmla="*/ 2147483647 h 38"/>
                <a:gd name="T52" fmla="*/ 2147483647 w 50"/>
                <a:gd name="T53" fmla="*/ 2147483647 h 38"/>
                <a:gd name="T54" fmla="*/ 2147483647 w 50"/>
                <a:gd name="T55" fmla="*/ 2147483647 h 38"/>
                <a:gd name="T56" fmla="*/ 2147483647 w 50"/>
                <a:gd name="T57" fmla="*/ 2147483647 h 38"/>
                <a:gd name="T58" fmla="*/ 2147483647 w 50"/>
                <a:gd name="T59" fmla="*/ 2147483647 h 38"/>
                <a:gd name="T60" fmla="*/ 2147483647 w 50"/>
                <a:gd name="T61" fmla="*/ 2147483647 h 38"/>
                <a:gd name="T62" fmla="*/ 2147483647 w 50"/>
                <a:gd name="T63" fmla="*/ 2147483647 h 38"/>
                <a:gd name="T64" fmla="*/ 2147483647 w 50"/>
                <a:gd name="T65" fmla="*/ 2147483647 h 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0"/>
                <a:gd name="T100" fmla="*/ 0 h 38"/>
                <a:gd name="T101" fmla="*/ 50 w 50"/>
                <a:gd name="T102" fmla="*/ 38 h 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0" h="38">
                  <a:moveTo>
                    <a:pt x="50" y="18"/>
                  </a:moveTo>
                  <a:lnTo>
                    <a:pt x="50" y="15"/>
                  </a:lnTo>
                  <a:lnTo>
                    <a:pt x="48" y="11"/>
                  </a:lnTo>
                  <a:lnTo>
                    <a:pt x="46" y="8"/>
                  </a:lnTo>
                  <a:lnTo>
                    <a:pt x="42" y="5"/>
                  </a:lnTo>
                  <a:lnTo>
                    <a:pt x="39" y="3"/>
                  </a:lnTo>
                  <a:lnTo>
                    <a:pt x="34" y="1"/>
                  </a:lnTo>
                  <a:lnTo>
                    <a:pt x="30" y="0"/>
                  </a:lnTo>
                  <a:lnTo>
                    <a:pt x="25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11" y="3"/>
                  </a:lnTo>
                  <a:lnTo>
                    <a:pt x="7" y="5"/>
                  </a:lnTo>
                  <a:lnTo>
                    <a:pt x="4" y="8"/>
                  </a:lnTo>
                  <a:lnTo>
                    <a:pt x="2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1" y="22"/>
                  </a:lnTo>
                  <a:lnTo>
                    <a:pt x="2" y="27"/>
                  </a:lnTo>
                  <a:lnTo>
                    <a:pt x="4" y="30"/>
                  </a:lnTo>
                  <a:lnTo>
                    <a:pt x="7" y="33"/>
                  </a:lnTo>
                  <a:lnTo>
                    <a:pt x="11" y="35"/>
                  </a:lnTo>
                  <a:lnTo>
                    <a:pt x="15" y="37"/>
                  </a:lnTo>
                  <a:lnTo>
                    <a:pt x="19" y="38"/>
                  </a:lnTo>
                  <a:lnTo>
                    <a:pt x="25" y="38"/>
                  </a:lnTo>
                  <a:lnTo>
                    <a:pt x="30" y="38"/>
                  </a:lnTo>
                  <a:lnTo>
                    <a:pt x="34" y="37"/>
                  </a:lnTo>
                  <a:lnTo>
                    <a:pt x="39" y="35"/>
                  </a:lnTo>
                  <a:lnTo>
                    <a:pt x="42" y="33"/>
                  </a:lnTo>
                  <a:lnTo>
                    <a:pt x="46" y="30"/>
                  </a:lnTo>
                  <a:lnTo>
                    <a:pt x="48" y="27"/>
                  </a:lnTo>
                  <a:lnTo>
                    <a:pt x="50" y="22"/>
                  </a:lnTo>
                  <a:lnTo>
                    <a:pt x="50" y="18"/>
                  </a:lnTo>
                </a:path>
              </a:pathLst>
            </a:custGeom>
            <a:solidFill>
              <a:schemeClr val="tx1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8" name="Freeform 63"/>
            <p:cNvSpPr>
              <a:spLocks/>
            </p:cNvSpPr>
            <p:nvPr/>
          </p:nvSpPr>
          <p:spPr bwMode="auto">
            <a:xfrm>
              <a:off x="2570163" y="2620963"/>
              <a:ext cx="82115" cy="81254"/>
            </a:xfrm>
            <a:custGeom>
              <a:avLst/>
              <a:gdLst>
                <a:gd name="T0" fmla="*/ 2147483647 w 48"/>
                <a:gd name="T1" fmla="*/ 2147483647 h 38"/>
                <a:gd name="T2" fmla="*/ 2147483647 w 48"/>
                <a:gd name="T3" fmla="*/ 2147483647 h 38"/>
                <a:gd name="T4" fmla="*/ 2147483647 w 48"/>
                <a:gd name="T5" fmla="*/ 2147483647 h 38"/>
                <a:gd name="T6" fmla="*/ 2147483647 w 48"/>
                <a:gd name="T7" fmla="*/ 2147483647 h 38"/>
                <a:gd name="T8" fmla="*/ 2147483647 w 48"/>
                <a:gd name="T9" fmla="*/ 2147483647 h 38"/>
                <a:gd name="T10" fmla="*/ 2147483647 w 48"/>
                <a:gd name="T11" fmla="*/ 2147483647 h 38"/>
                <a:gd name="T12" fmla="*/ 2147483647 w 48"/>
                <a:gd name="T13" fmla="*/ 2147483647 h 38"/>
                <a:gd name="T14" fmla="*/ 2147483647 w 48"/>
                <a:gd name="T15" fmla="*/ 0 h 38"/>
                <a:gd name="T16" fmla="*/ 2147483647 w 48"/>
                <a:gd name="T17" fmla="*/ 0 h 38"/>
                <a:gd name="T18" fmla="*/ 2147483647 w 48"/>
                <a:gd name="T19" fmla="*/ 0 h 38"/>
                <a:gd name="T20" fmla="*/ 2147483647 w 48"/>
                <a:gd name="T21" fmla="*/ 2147483647 h 38"/>
                <a:gd name="T22" fmla="*/ 2147483647 w 48"/>
                <a:gd name="T23" fmla="*/ 2147483647 h 38"/>
                <a:gd name="T24" fmla="*/ 2147483647 w 48"/>
                <a:gd name="T25" fmla="*/ 2147483647 h 38"/>
                <a:gd name="T26" fmla="*/ 2147483647 w 48"/>
                <a:gd name="T27" fmla="*/ 2147483647 h 38"/>
                <a:gd name="T28" fmla="*/ 2147483647 w 48"/>
                <a:gd name="T29" fmla="*/ 2147483647 h 38"/>
                <a:gd name="T30" fmla="*/ 0 w 48"/>
                <a:gd name="T31" fmla="*/ 2147483647 h 38"/>
                <a:gd name="T32" fmla="*/ 0 w 48"/>
                <a:gd name="T33" fmla="*/ 2147483647 h 38"/>
                <a:gd name="T34" fmla="*/ 0 w 48"/>
                <a:gd name="T35" fmla="*/ 2147483647 h 38"/>
                <a:gd name="T36" fmla="*/ 2147483647 w 48"/>
                <a:gd name="T37" fmla="*/ 2147483647 h 38"/>
                <a:gd name="T38" fmla="*/ 2147483647 w 48"/>
                <a:gd name="T39" fmla="*/ 2147483647 h 38"/>
                <a:gd name="T40" fmla="*/ 2147483647 w 48"/>
                <a:gd name="T41" fmla="*/ 2147483647 h 38"/>
                <a:gd name="T42" fmla="*/ 2147483647 w 48"/>
                <a:gd name="T43" fmla="*/ 2147483647 h 38"/>
                <a:gd name="T44" fmla="*/ 2147483647 w 48"/>
                <a:gd name="T45" fmla="*/ 2147483647 h 38"/>
                <a:gd name="T46" fmla="*/ 2147483647 w 48"/>
                <a:gd name="T47" fmla="*/ 2147483647 h 38"/>
                <a:gd name="T48" fmla="*/ 2147483647 w 48"/>
                <a:gd name="T49" fmla="*/ 2147483647 h 38"/>
                <a:gd name="T50" fmla="*/ 2147483647 w 48"/>
                <a:gd name="T51" fmla="*/ 2147483647 h 38"/>
                <a:gd name="T52" fmla="*/ 2147483647 w 48"/>
                <a:gd name="T53" fmla="*/ 2147483647 h 38"/>
                <a:gd name="T54" fmla="*/ 2147483647 w 48"/>
                <a:gd name="T55" fmla="*/ 2147483647 h 38"/>
                <a:gd name="T56" fmla="*/ 2147483647 w 48"/>
                <a:gd name="T57" fmla="*/ 2147483647 h 38"/>
                <a:gd name="T58" fmla="*/ 2147483647 w 48"/>
                <a:gd name="T59" fmla="*/ 2147483647 h 38"/>
                <a:gd name="T60" fmla="*/ 2147483647 w 48"/>
                <a:gd name="T61" fmla="*/ 2147483647 h 38"/>
                <a:gd name="T62" fmla="*/ 2147483647 w 48"/>
                <a:gd name="T63" fmla="*/ 2147483647 h 38"/>
                <a:gd name="T64" fmla="*/ 2147483647 w 48"/>
                <a:gd name="T65" fmla="*/ 2147483647 h 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8"/>
                <a:gd name="T100" fmla="*/ 0 h 38"/>
                <a:gd name="T101" fmla="*/ 48 w 48"/>
                <a:gd name="T102" fmla="*/ 38 h 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8" h="38">
                  <a:moveTo>
                    <a:pt x="48" y="18"/>
                  </a:moveTo>
                  <a:lnTo>
                    <a:pt x="48" y="15"/>
                  </a:lnTo>
                  <a:lnTo>
                    <a:pt x="47" y="11"/>
                  </a:lnTo>
                  <a:lnTo>
                    <a:pt x="44" y="8"/>
                  </a:lnTo>
                  <a:lnTo>
                    <a:pt x="42" y="5"/>
                  </a:lnTo>
                  <a:lnTo>
                    <a:pt x="38" y="3"/>
                  </a:lnTo>
                  <a:lnTo>
                    <a:pt x="34" y="1"/>
                  </a:lnTo>
                  <a:lnTo>
                    <a:pt x="29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4" y="1"/>
                  </a:lnTo>
                  <a:lnTo>
                    <a:pt x="10" y="3"/>
                  </a:lnTo>
                  <a:lnTo>
                    <a:pt x="6" y="5"/>
                  </a:lnTo>
                  <a:lnTo>
                    <a:pt x="4" y="8"/>
                  </a:lnTo>
                  <a:lnTo>
                    <a:pt x="1" y="11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1" y="27"/>
                  </a:lnTo>
                  <a:lnTo>
                    <a:pt x="4" y="30"/>
                  </a:lnTo>
                  <a:lnTo>
                    <a:pt x="6" y="33"/>
                  </a:lnTo>
                  <a:lnTo>
                    <a:pt x="10" y="35"/>
                  </a:lnTo>
                  <a:lnTo>
                    <a:pt x="14" y="37"/>
                  </a:lnTo>
                  <a:lnTo>
                    <a:pt x="19" y="38"/>
                  </a:lnTo>
                  <a:lnTo>
                    <a:pt x="23" y="38"/>
                  </a:lnTo>
                  <a:lnTo>
                    <a:pt x="29" y="38"/>
                  </a:lnTo>
                  <a:lnTo>
                    <a:pt x="34" y="37"/>
                  </a:lnTo>
                  <a:lnTo>
                    <a:pt x="38" y="35"/>
                  </a:lnTo>
                  <a:lnTo>
                    <a:pt x="42" y="33"/>
                  </a:lnTo>
                  <a:lnTo>
                    <a:pt x="44" y="30"/>
                  </a:lnTo>
                  <a:lnTo>
                    <a:pt x="47" y="27"/>
                  </a:lnTo>
                  <a:lnTo>
                    <a:pt x="48" y="22"/>
                  </a:lnTo>
                  <a:lnTo>
                    <a:pt x="48" y="18"/>
                  </a:lnTo>
                </a:path>
              </a:pathLst>
            </a:custGeom>
            <a:solidFill>
              <a:schemeClr val="tx1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0" name="Freeform 65"/>
            <p:cNvSpPr>
              <a:spLocks/>
            </p:cNvSpPr>
            <p:nvPr/>
          </p:nvSpPr>
          <p:spPr bwMode="auto">
            <a:xfrm>
              <a:off x="2814638" y="2620963"/>
              <a:ext cx="82115" cy="81254"/>
            </a:xfrm>
            <a:custGeom>
              <a:avLst/>
              <a:gdLst>
                <a:gd name="T0" fmla="*/ 2147483647 w 50"/>
                <a:gd name="T1" fmla="*/ 2147483647 h 38"/>
                <a:gd name="T2" fmla="*/ 2147483647 w 50"/>
                <a:gd name="T3" fmla="*/ 2147483647 h 38"/>
                <a:gd name="T4" fmla="*/ 2147483647 w 50"/>
                <a:gd name="T5" fmla="*/ 2147483647 h 38"/>
                <a:gd name="T6" fmla="*/ 2147483647 w 50"/>
                <a:gd name="T7" fmla="*/ 2147483647 h 38"/>
                <a:gd name="T8" fmla="*/ 2147483647 w 50"/>
                <a:gd name="T9" fmla="*/ 2147483647 h 38"/>
                <a:gd name="T10" fmla="*/ 2147483647 w 50"/>
                <a:gd name="T11" fmla="*/ 2147483647 h 38"/>
                <a:gd name="T12" fmla="*/ 2147483647 w 50"/>
                <a:gd name="T13" fmla="*/ 2147483647 h 38"/>
                <a:gd name="T14" fmla="*/ 2147483647 w 50"/>
                <a:gd name="T15" fmla="*/ 0 h 38"/>
                <a:gd name="T16" fmla="*/ 2147483647 w 50"/>
                <a:gd name="T17" fmla="*/ 0 h 38"/>
                <a:gd name="T18" fmla="*/ 2147483647 w 50"/>
                <a:gd name="T19" fmla="*/ 0 h 38"/>
                <a:gd name="T20" fmla="*/ 2147483647 w 50"/>
                <a:gd name="T21" fmla="*/ 2147483647 h 38"/>
                <a:gd name="T22" fmla="*/ 2147483647 w 50"/>
                <a:gd name="T23" fmla="*/ 2147483647 h 38"/>
                <a:gd name="T24" fmla="*/ 2147483647 w 50"/>
                <a:gd name="T25" fmla="*/ 2147483647 h 38"/>
                <a:gd name="T26" fmla="*/ 2147483647 w 50"/>
                <a:gd name="T27" fmla="*/ 2147483647 h 38"/>
                <a:gd name="T28" fmla="*/ 2147483647 w 50"/>
                <a:gd name="T29" fmla="*/ 2147483647 h 38"/>
                <a:gd name="T30" fmla="*/ 0 w 50"/>
                <a:gd name="T31" fmla="*/ 2147483647 h 38"/>
                <a:gd name="T32" fmla="*/ 0 w 50"/>
                <a:gd name="T33" fmla="*/ 2147483647 h 38"/>
                <a:gd name="T34" fmla="*/ 0 w 50"/>
                <a:gd name="T35" fmla="*/ 2147483647 h 38"/>
                <a:gd name="T36" fmla="*/ 2147483647 w 50"/>
                <a:gd name="T37" fmla="*/ 2147483647 h 38"/>
                <a:gd name="T38" fmla="*/ 2147483647 w 50"/>
                <a:gd name="T39" fmla="*/ 2147483647 h 38"/>
                <a:gd name="T40" fmla="*/ 2147483647 w 50"/>
                <a:gd name="T41" fmla="*/ 2147483647 h 38"/>
                <a:gd name="T42" fmla="*/ 2147483647 w 50"/>
                <a:gd name="T43" fmla="*/ 2147483647 h 38"/>
                <a:gd name="T44" fmla="*/ 2147483647 w 50"/>
                <a:gd name="T45" fmla="*/ 2147483647 h 38"/>
                <a:gd name="T46" fmla="*/ 2147483647 w 50"/>
                <a:gd name="T47" fmla="*/ 2147483647 h 38"/>
                <a:gd name="T48" fmla="*/ 2147483647 w 50"/>
                <a:gd name="T49" fmla="*/ 2147483647 h 38"/>
                <a:gd name="T50" fmla="*/ 2147483647 w 50"/>
                <a:gd name="T51" fmla="*/ 2147483647 h 38"/>
                <a:gd name="T52" fmla="*/ 2147483647 w 50"/>
                <a:gd name="T53" fmla="*/ 2147483647 h 38"/>
                <a:gd name="T54" fmla="*/ 2147483647 w 50"/>
                <a:gd name="T55" fmla="*/ 2147483647 h 38"/>
                <a:gd name="T56" fmla="*/ 2147483647 w 50"/>
                <a:gd name="T57" fmla="*/ 2147483647 h 38"/>
                <a:gd name="T58" fmla="*/ 2147483647 w 50"/>
                <a:gd name="T59" fmla="*/ 2147483647 h 38"/>
                <a:gd name="T60" fmla="*/ 2147483647 w 50"/>
                <a:gd name="T61" fmla="*/ 2147483647 h 38"/>
                <a:gd name="T62" fmla="*/ 2147483647 w 50"/>
                <a:gd name="T63" fmla="*/ 2147483647 h 38"/>
                <a:gd name="T64" fmla="*/ 2147483647 w 50"/>
                <a:gd name="T65" fmla="*/ 2147483647 h 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0"/>
                <a:gd name="T100" fmla="*/ 0 h 38"/>
                <a:gd name="T101" fmla="*/ 50 w 50"/>
                <a:gd name="T102" fmla="*/ 38 h 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0" h="38">
                  <a:moveTo>
                    <a:pt x="50" y="18"/>
                  </a:moveTo>
                  <a:lnTo>
                    <a:pt x="48" y="15"/>
                  </a:lnTo>
                  <a:lnTo>
                    <a:pt x="47" y="11"/>
                  </a:lnTo>
                  <a:lnTo>
                    <a:pt x="44" y="8"/>
                  </a:lnTo>
                  <a:lnTo>
                    <a:pt x="42" y="5"/>
                  </a:lnTo>
                  <a:lnTo>
                    <a:pt x="38" y="3"/>
                  </a:lnTo>
                  <a:lnTo>
                    <a:pt x="34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19" y="0"/>
                  </a:lnTo>
                  <a:lnTo>
                    <a:pt x="14" y="1"/>
                  </a:lnTo>
                  <a:lnTo>
                    <a:pt x="10" y="3"/>
                  </a:lnTo>
                  <a:lnTo>
                    <a:pt x="6" y="5"/>
                  </a:lnTo>
                  <a:lnTo>
                    <a:pt x="4" y="8"/>
                  </a:lnTo>
                  <a:lnTo>
                    <a:pt x="1" y="11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1" y="27"/>
                  </a:lnTo>
                  <a:lnTo>
                    <a:pt x="4" y="30"/>
                  </a:lnTo>
                  <a:lnTo>
                    <a:pt x="6" y="33"/>
                  </a:lnTo>
                  <a:lnTo>
                    <a:pt x="10" y="35"/>
                  </a:lnTo>
                  <a:lnTo>
                    <a:pt x="14" y="37"/>
                  </a:lnTo>
                  <a:lnTo>
                    <a:pt x="19" y="38"/>
                  </a:lnTo>
                  <a:lnTo>
                    <a:pt x="25" y="38"/>
                  </a:lnTo>
                  <a:lnTo>
                    <a:pt x="29" y="38"/>
                  </a:lnTo>
                  <a:lnTo>
                    <a:pt x="34" y="37"/>
                  </a:lnTo>
                  <a:lnTo>
                    <a:pt x="38" y="35"/>
                  </a:lnTo>
                  <a:lnTo>
                    <a:pt x="42" y="33"/>
                  </a:lnTo>
                  <a:lnTo>
                    <a:pt x="44" y="30"/>
                  </a:lnTo>
                  <a:lnTo>
                    <a:pt x="47" y="27"/>
                  </a:lnTo>
                  <a:lnTo>
                    <a:pt x="48" y="22"/>
                  </a:lnTo>
                  <a:lnTo>
                    <a:pt x="50" y="18"/>
                  </a:lnTo>
                </a:path>
              </a:pathLst>
            </a:custGeom>
            <a:solidFill>
              <a:schemeClr val="tx1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2" name="Freeform 67"/>
            <p:cNvSpPr>
              <a:spLocks/>
            </p:cNvSpPr>
            <p:nvPr/>
          </p:nvSpPr>
          <p:spPr bwMode="auto">
            <a:xfrm>
              <a:off x="3049588" y="2620963"/>
              <a:ext cx="82115" cy="81254"/>
            </a:xfrm>
            <a:custGeom>
              <a:avLst/>
              <a:gdLst>
                <a:gd name="T0" fmla="*/ 2147483647 w 50"/>
                <a:gd name="T1" fmla="*/ 2147483647 h 38"/>
                <a:gd name="T2" fmla="*/ 2147483647 w 50"/>
                <a:gd name="T3" fmla="*/ 2147483647 h 38"/>
                <a:gd name="T4" fmla="*/ 2147483647 w 50"/>
                <a:gd name="T5" fmla="*/ 2147483647 h 38"/>
                <a:gd name="T6" fmla="*/ 2147483647 w 50"/>
                <a:gd name="T7" fmla="*/ 2147483647 h 38"/>
                <a:gd name="T8" fmla="*/ 2147483647 w 50"/>
                <a:gd name="T9" fmla="*/ 2147483647 h 38"/>
                <a:gd name="T10" fmla="*/ 2147483647 w 50"/>
                <a:gd name="T11" fmla="*/ 2147483647 h 38"/>
                <a:gd name="T12" fmla="*/ 2147483647 w 50"/>
                <a:gd name="T13" fmla="*/ 2147483647 h 38"/>
                <a:gd name="T14" fmla="*/ 2147483647 w 50"/>
                <a:gd name="T15" fmla="*/ 0 h 38"/>
                <a:gd name="T16" fmla="*/ 2147483647 w 50"/>
                <a:gd name="T17" fmla="*/ 0 h 38"/>
                <a:gd name="T18" fmla="*/ 2147483647 w 50"/>
                <a:gd name="T19" fmla="*/ 0 h 38"/>
                <a:gd name="T20" fmla="*/ 2147483647 w 50"/>
                <a:gd name="T21" fmla="*/ 2147483647 h 38"/>
                <a:gd name="T22" fmla="*/ 2147483647 w 50"/>
                <a:gd name="T23" fmla="*/ 2147483647 h 38"/>
                <a:gd name="T24" fmla="*/ 2147483647 w 50"/>
                <a:gd name="T25" fmla="*/ 2147483647 h 38"/>
                <a:gd name="T26" fmla="*/ 2147483647 w 50"/>
                <a:gd name="T27" fmla="*/ 2147483647 h 38"/>
                <a:gd name="T28" fmla="*/ 2147483647 w 50"/>
                <a:gd name="T29" fmla="*/ 2147483647 h 38"/>
                <a:gd name="T30" fmla="*/ 2147483647 w 50"/>
                <a:gd name="T31" fmla="*/ 2147483647 h 38"/>
                <a:gd name="T32" fmla="*/ 0 w 50"/>
                <a:gd name="T33" fmla="*/ 2147483647 h 38"/>
                <a:gd name="T34" fmla="*/ 2147483647 w 50"/>
                <a:gd name="T35" fmla="*/ 2147483647 h 38"/>
                <a:gd name="T36" fmla="*/ 2147483647 w 50"/>
                <a:gd name="T37" fmla="*/ 2147483647 h 38"/>
                <a:gd name="T38" fmla="*/ 2147483647 w 50"/>
                <a:gd name="T39" fmla="*/ 2147483647 h 38"/>
                <a:gd name="T40" fmla="*/ 2147483647 w 50"/>
                <a:gd name="T41" fmla="*/ 2147483647 h 38"/>
                <a:gd name="T42" fmla="*/ 2147483647 w 50"/>
                <a:gd name="T43" fmla="*/ 2147483647 h 38"/>
                <a:gd name="T44" fmla="*/ 2147483647 w 50"/>
                <a:gd name="T45" fmla="*/ 2147483647 h 38"/>
                <a:gd name="T46" fmla="*/ 2147483647 w 50"/>
                <a:gd name="T47" fmla="*/ 2147483647 h 38"/>
                <a:gd name="T48" fmla="*/ 2147483647 w 50"/>
                <a:gd name="T49" fmla="*/ 2147483647 h 38"/>
                <a:gd name="T50" fmla="*/ 2147483647 w 50"/>
                <a:gd name="T51" fmla="*/ 2147483647 h 38"/>
                <a:gd name="T52" fmla="*/ 2147483647 w 50"/>
                <a:gd name="T53" fmla="*/ 2147483647 h 38"/>
                <a:gd name="T54" fmla="*/ 2147483647 w 50"/>
                <a:gd name="T55" fmla="*/ 2147483647 h 38"/>
                <a:gd name="T56" fmla="*/ 2147483647 w 50"/>
                <a:gd name="T57" fmla="*/ 2147483647 h 38"/>
                <a:gd name="T58" fmla="*/ 2147483647 w 50"/>
                <a:gd name="T59" fmla="*/ 2147483647 h 38"/>
                <a:gd name="T60" fmla="*/ 2147483647 w 50"/>
                <a:gd name="T61" fmla="*/ 2147483647 h 38"/>
                <a:gd name="T62" fmla="*/ 2147483647 w 50"/>
                <a:gd name="T63" fmla="*/ 2147483647 h 38"/>
                <a:gd name="T64" fmla="*/ 2147483647 w 50"/>
                <a:gd name="T65" fmla="*/ 2147483647 h 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0"/>
                <a:gd name="T100" fmla="*/ 0 h 38"/>
                <a:gd name="T101" fmla="*/ 50 w 50"/>
                <a:gd name="T102" fmla="*/ 38 h 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0" h="38">
                  <a:moveTo>
                    <a:pt x="50" y="18"/>
                  </a:moveTo>
                  <a:lnTo>
                    <a:pt x="50" y="15"/>
                  </a:lnTo>
                  <a:lnTo>
                    <a:pt x="48" y="11"/>
                  </a:lnTo>
                  <a:lnTo>
                    <a:pt x="46" y="8"/>
                  </a:lnTo>
                  <a:lnTo>
                    <a:pt x="43" y="5"/>
                  </a:lnTo>
                  <a:lnTo>
                    <a:pt x="40" y="3"/>
                  </a:lnTo>
                  <a:lnTo>
                    <a:pt x="35" y="1"/>
                  </a:lnTo>
                  <a:lnTo>
                    <a:pt x="31" y="0"/>
                  </a:lnTo>
                  <a:lnTo>
                    <a:pt x="25" y="0"/>
                  </a:lnTo>
                  <a:lnTo>
                    <a:pt x="20" y="0"/>
                  </a:lnTo>
                  <a:lnTo>
                    <a:pt x="16" y="1"/>
                  </a:lnTo>
                  <a:lnTo>
                    <a:pt x="11" y="3"/>
                  </a:lnTo>
                  <a:lnTo>
                    <a:pt x="8" y="5"/>
                  </a:lnTo>
                  <a:lnTo>
                    <a:pt x="4" y="8"/>
                  </a:lnTo>
                  <a:lnTo>
                    <a:pt x="3" y="11"/>
                  </a:lnTo>
                  <a:lnTo>
                    <a:pt x="2" y="15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7"/>
                  </a:lnTo>
                  <a:lnTo>
                    <a:pt x="4" y="30"/>
                  </a:lnTo>
                  <a:lnTo>
                    <a:pt x="8" y="33"/>
                  </a:lnTo>
                  <a:lnTo>
                    <a:pt x="11" y="35"/>
                  </a:lnTo>
                  <a:lnTo>
                    <a:pt x="16" y="37"/>
                  </a:lnTo>
                  <a:lnTo>
                    <a:pt x="20" y="38"/>
                  </a:lnTo>
                  <a:lnTo>
                    <a:pt x="25" y="38"/>
                  </a:lnTo>
                  <a:lnTo>
                    <a:pt x="31" y="38"/>
                  </a:lnTo>
                  <a:lnTo>
                    <a:pt x="35" y="37"/>
                  </a:lnTo>
                  <a:lnTo>
                    <a:pt x="40" y="35"/>
                  </a:lnTo>
                  <a:lnTo>
                    <a:pt x="43" y="33"/>
                  </a:lnTo>
                  <a:lnTo>
                    <a:pt x="46" y="30"/>
                  </a:lnTo>
                  <a:lnTo>
                    <a:pt x="48" y="27"/>
                  </a:lnTo>
                  <a:lnTo>
                    <a:pt x="50" y="22"/>
                  </a:lnTo>
                  <a:lnTo>
                    <a:pt x="50" y="18"/>
                  </a:lnTo>
                </a:path>
              </a:pathLst>
            </a:custGeom>
            <a:solidFill>
              <a:schemeClr val="tx1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4" name="Freeform 69"/>
            <p:cNvSpPr>
              <a:spLocks/>
            </p:cNvSpPr>
            <p:nvPr/>
          </p:nvSpPr>
          <p:spPr bwMode="auto">
            <a:xfrm>
              <a:off x="3294063" y="2620963"/>
              <a:ext cx="82115" cy="81254"/>
            </a:xfrm>
            <a:custGeom>
              <a:avLst/>
              <a:gdLst>
                <a:gd name="T0" fmla="*/ 2147483647 w 50"/>
                <a:gd name="T1" fmla="*/ 2147483647 h 38"/>
                <a:gd name="T2" fmla="*/ 2147483647 w 50"/>
                <a:gd name="T3" fmla="*/ 2147483647 h 38"/>
                <a:gd name="T4" fmla="*/ 2147483647 w 50"/>
                <a:gd name="T5" fmla="*/ 2147483647 h 38"/>
                <a:gd name="T6" fmla="*/ 2147483647 w 50"/>
                <a:gd name="T7" fmla="*/ 2147483647 h 38"/>
                <a:gd name="T8" fmla="*/ 2147483647 w 50"/>
                <a:gd name="T9" fmla="*/ 2147483647 h 38"/>
                <a:gd name="T10" fmla="*/ 2147483647 w 50"/>
                <a:gd name="T11" fmla="*/ 2147483647 h 38"/>
                <a:gd name="T12" fmla="*/ 2147483647 w 50"/>
                <a:gd name="T13" fmla="*/ 2147483647 h 38"/>
                <a:gd name="T14" fmla="*/ 2147483647 w 50"/>
                <a:gd name="T15" fmla="*/ 0 h 38"/>
                <a:gd name="T16" fmla="*/ 2147483647 w 50"/>
                <a:gd name="T17" fmla="*/ 0 h 38"/>
                <a:gd name="T18" fmla="*/ 2147483647 w 50"/>
                <a:gd name="T19" fmla="*/ 0 h 38"/>
                <a:gd name="T20" fmla="*/ 2147483647 w 50"/>
                <a:gd name="T21" fmla="*/ 2147483647 h 38"/>
                <a:gd name="T22" fmla="*/ 2147483647 w 50"/>
                <a:gd name="T23" fmla="*/ 2147483647 h 38"/>
                <a:gd name="T24" fmla="*/ 2147483647 w 50"/>
                <a:gd name="T25" fmla="*/ 2147483647 h 38"/>
                <a:gd name="T26" fmla="*/ 2147483647 w 50"/>
                <a:gd name="T27" fmla="*/ 2147483647 h 38"/>
                <a:gd name="T28" fmla="*/ 2147483647 w 50"/>
                <a:gd name="T29" fmla="*/ 2147483647 h 38"/>
                <a:gd name="T30" fmla="*/ 2147483647 w 50"/>
                <a:gd name="T31" fmla="*/ 2147483647 h 38"/>
                <a:gd name="T32" fmla="*/ 0 w 50"/>
                <a:gd name="T33" fmla="*/ 2147483647 h 38"/>
                <a:gd name="T34" fmla="*/ 2147483647 w 50"/>
                <a:gd name="T35" fmla="*/ 2147483647 h 38"/>
                <a:gd name="T36" fmla="*/ 2147483647 w 50"/>
                <a:gd name="T37" fmla="*/ 2147483647 h 38"/>
                <a:gd name="T38" fmla="*/ 2147483647 w 50"/>
                <a:gd name="T39" fmla="*/ 2147483647 h 38"/>
                <a:gd name="T40" fmla="*/ 2147483647 w 50"/>
                <a:gd name="T41" fmla="*/ 2147483647 h 38"/>
                <a:gd name="T42" fmla="*/ 2147483647 w 50"/>
                <a:gd name="T43" fmla="*/ 2147483647 h 38"/>
                <a:gd name="T44" fmla="*/ 2147483647 w 50"/>
                <a:gd name="T45" fmla="*/ 2147483647 h 38"/>
                <a:gd name="T46" fmla="*/ 2147483647 w 50"/>
                <a:gd name="T47" fmla="*/ 2147483647 h 38"/>
                <a:gd name="T48" fmla="*/ 2147483647 w 50"/>
                <a:gd name="T49" fmla="*/ 2147483647 h 38"/>
                <a:gd name="T50" fmla="*/ 2147483647 w 50"/>
                <a:gd name="T51" fmla="*/ 2147483647 h 38"/>
                <a:gd name="T52" fmla="*/ 2147483647 w 50"/>
                <a:gd name="T53" fmla="*/ 2147483647 h 38"/>
                <a:gd name="T54" fmla="*/ 2147483647 w 50"/>
                <a:gd name="T55" fmla="*/ 2147483647 h 38"/>
                <a:gd name="T56" fmla="*/ 2147483647 w 50"/>
                <a:gd name="T57" fmla="*/ 2147483647 h 38"/>
                <a:gd name="T58" fmla="*/ 2147483647 w 50"/>
                <a:gd name="T59" fmla="*/ 2147483647 h 38"/>
                <a:gd name="T60" fmla="*/ 2147483647 w 50"/>
                <a:gd name="T61" fmla="*/ 2147483647 h 38"/>
                <a:gd name="T62" fmla="*/ 2147483647 w 50"/>
                <a:gd name="T63" fmla="*/ 2147483647 h 38"/>
                <a:gd name="T64" fmla="*/ 2147483647 w 50"/>
                <a:gd name="T65" fmla="*/ 2147483647 h 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0"/>
                <a:gd name="T100" fmla="*/ 0 h 38"/>
                <a:gd name="T101" fmla="*/ 50 w 50"/>
                <a:gd name="T102" fmla="*/ 38 h 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0" h="38">
                  <a:moveTo>
                    <a:pt x="50" y="18"/>
                  </a:moveTo>
                  <a:lnTo>
                    <a:pt x="50" y="15"/>
                  </a:lnTo>
                  <a:lnTo>
                    <a:pt x="49" y="11"/>
                  </a:lnTo>
                  <a:lnTo>
                    <a:pt x="46" y="8"/>
                  </a:lnTo>
                  <a:lnTo>
                    <a:pt x="44" y="5"/>
                  </a:lnTo>
                  <a:lnTo>
                    <a:pt x="40" y="3"/>
                  </a:lnTo>
                  <a:lnTo>
                    <a:pt x="36" y="1"/>
                  </a:lnTo>
                  <a:lnTo>
                    <a:pt x="31" y="0"/>
                  </a:lnTo>
                  <a:lnTo>
                    <a:pt x="25" y="0"/>
                  </a:lnTo>
                  <a:lnTo>
                    <a:pt x="20" y="0"/>
                  </a:lnTo>
                  <a:lnTo>
                    <a:pt x="16" y="1"/>
                  </a:lnTo>
                  <a:lnTo>
                    <a:pt x="12" y="3"/>
                  </a:lnTo>
                  <a:lnTo>
                    <a:pt x="8" y="5"/>
                  </a:lnTo>
                  <a:lnTo>
                    <a:pt x="6" y="8"/>
                  </a:lnTo>
                  <a:lnTo>
                    <a:pt x="3" y="11"/>
                  </a:lnTo>
                  <a:lnTo>
                    <a:pt x="2" y="15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7"/>
                  </a:lnTo>
                  <a:lnTo>
                    <a:pt x="6" y="30"/>
                  </a:lnTo>
                  <a:lnTo>
                    <a:pt x="8" y="33"/>
                  </a:lnTo>
                  <a:lnTo>
                    <a:pt x="12" y="35"/>
                  </a:lnTo>
                  <a:lnTo>
                    <a:pt x="16" y="37"/>
                  </a:lnTo>
                  <a:lnTo>
                    <a:pt x="20" y="38"/>
                  </a:lnTo>
                  <a:lnTo>
                    <a:pt x="25" y="38"/>
                  </a:lnTo>
                  <a:lnTo>
                    <a:pt x="31" y="38"/>
                  </a:lnTo>
                  <a:lnTo>
                    <a:pt x="36" y="37"/>
                  </a:lnTo>
                  <a:lnTo>
                    <a:pt x="40" y="35"/>
                  </a:lnTo>
                  <a:lnTo>
                    <a:pt x="44" y="33"/>
                  </a:lnTo>
                  <a:lnTo>
                    <a:pt x="46" y="30"/>
                  </a:lnTo>
                  <a:lnTo>
                    <a:pt x="49" y="27"/>
                  </a:lnTo>
                  <a:lnTo>
                    <a:pt x="50" y="22"/>
                  </a:lnTo>
                  <a:lnTo>
                    <a:pt x="50" y="18"/>
                  </a:lnTo>
                </a:path>
              </a:pathLst>
            </a:custGeom>
            <a:solidFill>
              <a:schemeClr val="tx1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6" name="Freeform 71"/>
            <p:cNvSpPr>
              <a:spLocks/>
            </p:cNvSpPr>
            <p:nvPr/>
          </p:nvSpPr>
          <p:spPr bwMode="auto">
            <a:xfrm>
              <a:off x="3532188" y="2620963"/>
              <a:ext cx="82115" cy="81254"/>
            </a:xfrm>
            <a:custGeom>
              <a:avLst/>
              <a:gdLst>
                <a:gd name="T0" fmla="*/ 2147483647 w 49"/>
                <a:gd name="T1" fmla="*/ 2147483647 h 38"/>
                <a:gd name="T2" fmla="*/ 2147483647 w 49"/>
                <a:gd name="T3" fmla="*/ 2147483647 h 38"/>
                <a:gd name="T4" fmla="*/ 2147483647 w 49"/>
                <a:gd name="T5" fmla="*/ 2147483647 h 38"/>
                <a:gd name="T6" fmla="*/ 2147483647 w 49"/>
                <a:gd name="T7" fmla="*/ 2147483647 h 38"/>
                <a:gd name="T8" fmla="*/ 2147483647 w 49"/>
                <a:gd name="T9" fmla="*/ 2147483647 h 38"/>
                <a:gd name="T10" fmla="*/ 2147483647 w 49"/>
                <a:gd name="T11" fmla="*/ 2147483647 h 38"/>
                <a:gd name="T12" fmla="*/ 2147483647 w 49"/>
                <a:gd name="T13" fmla="*/ 2147483647 h 38"/>
                <a:gd name="T14" fmla="*/ 2147483647 w 49"/>
                <a:gd name="T15" fmla="*/ 0 h 38"/>
                <a:gd name="T16" fmla="*/ 2147483647 w 49"/>
                <a:gd name="T17" fmla="*/ 0 h 38"/>
                <a:gd name="T18" fmla="*/ 2147483647 w 49"/>
                <a:gd name="T19" fmla="*/ 0 h 38"/>
                <a:gd name="T20" fmla="*/ 2147483647 w 49"/>
                <a:gd name="T21" fmla="*/ 2147483647 h 38"/>
                <a:gd name="T22" fmla="*/ 2147483647 w 49"/>
                <a:gd name="T23" fmla="*/ 2147483647 h 38"/>
                <a:gd name="T24" fmla="*/ 2147483647 w 49"/>
                <a:gd name="T25" fmla="*/ 2147483647 h 38"/>
                <a:gd name="T26" fmla="*/ 2147483647 w 49"/>
                <a:gd name="T27" fmla="*/ 2147483647 h 38"/>
                <a:gd name="T28" fmla="*/ 2147483647 w 49"/>
                <a:gd name="T29" fmla="*/ 2147483647 h 38"/>
                <a:gd name="T30" fmla="*/ 0 w 49"/>
                <a:gd name="T31" fmla="*/ 2147483647 h 38"/>
                <a:gd name="T32" fmla="*/ 0 w 49"/>
                <a:gd name="T33" fmla="*/ 2147483647 h 38"/>
                <a:gd name="T34" fmla="*/ 0 w 49"/>
                <a:gd name="T35" fmla="*/ 2147483647 h 38"/>
                <a:gd name="T36" fmla="*/ 2147483647 w 49"/>
                <a:gd name="T37" fmla="*/ 2147483647 h 38"/>
                <a:gd name="T38" fmla="*/ 2147483647 w 49"/>
                <a:gd name="T39" fmla="*/ 2147483647 h 38"/>
                <a:gd name="T40" fmla="*/ 2147483647 w 49"/>
                <a:gd name="T41" fmla="*/ 2147483647 h 38"/>
                <a:gd name="T42" fmla="*/ 2147483647 w 49"/>
                <a:gd name="T43" fmla="*/ 2147483647 h 38"/>
                <a:gd name="T44" fmla="*/ 2147483647 w 49"/>
                <a:gd name="T45" fmla="*/ 2147483647 h 38"/>
                <a:gd name="T46" fmla="*/ 2147483647 w 49"/>
                <a:gd name="T47" fmla="*/ 2147483647 h 38"/>
                <a:gd name="T48" fmla="*/ 2147483647 w 49"/>
                <a:gd name="T49" fmla="*/ 2147483647 h 38"/>
                <a:gd name="T50" fmla="*/ 2147483647 w 49"/>
                <a:gd name="T51" fmla="*/ 2147483647 h 38"/>
                <a:gd name="T52" fmla="*/ 2147483647 w 49"/>
                <a:gd name="T53" fmla="*/ 2147483647 h 38"/>
                <a:gd name="T54" fmla="*/ 2147483647 w 49"/>
                <a:gd name="T55" fmla="*/ 2147483647 h 38"/>
                <a:gd name="T56" fmla="*/ 2147483647 w 49"/>
                <a:gd name="T57" fmla="*/ 2147483647 h 38"/>
                <a:gd name="T58" fmla="*/ 2147483647 w 49"/>
                <a:gd name="T59" fmla="*/ 2147483647 h 38"/>
                <a:gd name="T60" fmla="*/ 2147483647 w 49"/>
                <a:gd name="T61" fmla="*/ 2147483647 h 38"/>
                <a:gd name="T62" fmla="*/ 2147483647 w 49"/>
                <a:gd name="T63" fmla="*/ 2147483647 h 38"/>
                <a:gd name="T64" fmla="*/ 2147483647 w 49"/>
                <a:gd name="T65" fmla="*/ 2147483647 h 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9"/>
                <a:gd name="T100" fmla="*/ 0 h 38"/>
                <a:gd name="T101" fmla="*/ 49 w 49"/>
                <a:gd name="T102" fmla="*/ 38 h 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9" h="38">
                  <a:moveTo>
                    <a:pt x="49" y="18"/>
                  </a:moveTo>
                  <a:lnTo>
                    <a:pt x="49" y="15"/>
                  </a:lnTo>
                  <a:lnTo>
                    <a:pt x="48" y="11"/>
                  </a:lnTo>
                  <a:lnTo>
                    <a:pt x="45" y="8"/>
                  </a:lnTo>
                  <a:lnTo>
                    <a:pt x="43" y="5"/>
                  </a:lnTo>
                  <a:lnTo>
                    <a:pt x="39" y="3"/>
                  </a:lnTo>
                  <a:lnTo>
                    <a:pt x="35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0" y="0"/>
                  </a:lnTo>
                  <a:lnTo>
                    <a:pt x="15" y="1"/>
                  </a:lnTo>
                  <a:lnTo>
                    <a:pt x="11" y="3"/>
                  </a:lnTo>
                  <a:lnTo>
                    <a:pt x="7" y="5"/>
                  </a:lnTo>
                  <a:lnTo>
                    <a:pt x="4" y="8"/>
                  </a:lnTo>
                  <a:lnTo>
                    <a:pt x="2" y="11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2" y="27"/>
                  </a:lnTo>
                  <a:lnTo>
                    <a:pt x="4" y="30"/>
                  </a:lnTo>
                  <a:lnTo>
                    <a:pt x="7" y="33"/>
                  </a:lnTo>
                  <a:lnTo>
                    <a:pt x="11" y="35"/>
                  </a:lnTo>
                  <a:lnTo>
                    <a:pt x="15" y="37"/>
                  </a:lnTo>
                  <a:lnTo>
                    <a:pt x="20" y="38"/>
                  </a:lnTo>
                  <a:lnTo>
                    <a:pt x="25" y="38"/>
                  </a:lnTo>
                  <a:lnTo>
                    <a:pt x="29" y="38"/>
                  </a:lnTo>
                  <a:lnTo>
                    <a:pt x="35" y="37"/>
                  </a:lnTo>
                  <a:lnTo>
                    <a:pt x="39" y="35"/>
                  </a:lnTo>
                  <a:lnTo>
                    <a:pt x="43" y="33"/>
                  </a:lnTo>
                  <a:lnTo>
                    <a:pt x="45" y="30"/>
                  </a:lnTo>
                  <a:lnTo>
                    <a:pt x="48" y="27"/>
                  </a:lnTo>
                  <a:lnTo>
                    <a:pt x="49" y="22"/>
                  </a:lnTo>
                  <a:lnTo>
                    <a:pt x="49" y="18"/>
                  </a:lnTo>
                </a:path>
              </a:pathLst>
            </a:custGeom>
            <a:solidFill>
              <a:schemeClr val="tx1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8" name="Freeform 73"/>
            <p:cNvSpPr>
              <a:spLocks/>
            </p:cNvSpPr>
            <p:nvPr/>
          </p:nvSpPr>
          <p:spPr bwMode="auto">
            <a:xfrm>
              <a:off x="2335213" y="2744788"/>
              <a:ext cx="82115" cy="81254"/>
            </a:xfrm>
            <a:custGeom>
              <a:avLst/>
              <a:gdLst>
                <a:gd name="T0" fmla="*/ 2147483647 w 50"/>
                <a:gd name="T1" fmla="*/ 2147483647 h 39"/>
                <a:gd name="T2" fmla="*/ 2147483647 w 50"/>
                <a:gd name="T3" fmla="*/ 2147483647 h 39"/>
                <a:gd name="T4" fmla="*/ 2147483647 w 50"/>
                <a:gd name="T5" fmla="*/ 2147483647 h 39"/>
                <a:gd name="T6" fmla="*/ 2147483647 w 50"/>
                <a:gd name="T7" fmla="*/ 2147483647 h 39"/>
                <a:gd name="T8" fmla="*/ 2147483647 w 50"/>
                <a:gd name="T9" fmla="*/ 2147483647 h 39"/>
                <a:gd name="T10" fmla="*/ 2147483647 w 50"/>
                <a:gd name="T11" fmla="*/ 2147483647 h 39"/>
                <a:gd name="T12" fmla="*/ 2147483647 w 50"/>
                <a:gd name="T13" fmla="*/ 2147483647 h 39"/>
                <a:gd name="T14" fmla="*/ 2147483647 w 50"/>
                <a:gd name="T15" fmla="*/ 2147483647 h 39"/>
                <a:gd name="T16" fmla="*/ 2147483647 w 50"/>
                <a:gd name="T17" fmla="*/ 0 h 39"/>
                <a:gd name="T18" fmla="*/ 2147483647 w 50"/>
                <a:gd name="T19" fmla="*/ 2147483647 h 39"/>
                <a:gd name="T20" fmla="*/ 2147483647 w 50"/>
                <a:gd name="T21" fmla="*/ 2147483647 h 39"/>
                <a:gd name="T22" fmla="*/ 2147483647 w 50"/>
                <a:gd name="T23" fmla="*/ 2147483647 h 39"/>
                <a:gd name="T24" fmla="*/ 2147483647 w 50"/>
                <a:gd name="T25" fmla="*/ 2147483647 h 39"/>
                <a:gd name="T26" fmla="*/ 2147483647 w 50"/>
                <a:gd name="T27" fmla="*/ 2147483647 h 39"/>
                <a:gd name="T28" fmla="*/ 2147483647 w 50"/>
                <a:gd name="T29" fmla="*/ 2147483647 h 39"/>
                <a:gd name="T30" fmla="*/ 0 w 50"/>
                <a:gd name="T31" fmla="*/ 2147483647 h 39"/>
                <a:gd name="T32" fmla="*/ 0 w 50"/>
                <a:gd name="T33" fmla="*/ 2147483647 h 39"/>
                <a:gd name="T34" fmla="*/ 0 w 50"/>
                <a:gd name="T35" fmla="*/ 2147483647 h 39"/>
                <a:gd name="T36" fmla="*/ 2147483647 w 50"/>
                <a:gd name="T37" fmla="*/ 2147483647 h 39"/>
                <a:gd name="T38" fmla="*/ 2147483647 w 50"/>
                <a:gd name="T39" fmla="*/ 2147483647 h 39"/>
                <a:gd name="T40" fmla="*/ 2147483647 w 50"/>
                <a:gd name="T41" fmla="*/ 2147483647 h 39"/>
                <a:gd name="T42" fmla="*/ 2147483647 w 50"/>
                <a:gd name="T43" fmla="*/ 2147483647 h 39"/>
                <a:gd name="T44" fmla="*/ 2147483647 w 50"/>
                <a:gd name="T45" fmla="*/ 2147483647 h 39"/>
                <a:gd name="T46" fmla="*/ 2147483647 w 50"/>
                <a:gd name="T47" fmla="*/ 2147483647 h 39"/>
                <a:gd name="T48" fmla="*/ 2147483647 w 50"/>
                <a:gd name="T49" fmla="*/ 2147483647 h 39"/>
                <a:gd name="T50" fmla="*/ 2147483647 w 50"/>
                <a:gd name="T51" fmla="*/ 2147483647 h 39"/>
                <a:gd name="T52" fmla="*/ 2147483647 w 50"/>
                <a:gd name="T53" fmla="*/ 2147483647 h 39"/>
                <a:gd name="T54" fmla="*/ 2147483647 w 50"/>
                <a:gd name="T55" fmla="*/ 2147483647 h 39"/>
                <a:gd name="T56" fmla="*/ 2147483647 w 50"/>
                <a:gd name="T57" fmla="*/ 2147483647 h 39"/>
                <a:gd name="T58" fmla="*/ 2147483647 w 50"/>
                <a:gd name="T59" fmla="*/ 2147483647 h 39"/>
                <a:gd name="T60" fmla="*/ 2147483647 w 50"/>
                <a:gd name="T61" fmla="*/ 2147483647 h 39"/>
                <a:gd name="T62" fmla="*/ 2147483647 w 50"/>
                <a:gd name="T63" fmla="*/ 2147483647 h 39"/>
                <a:gd name="T64" fmla="*/ 2147483647 w 50"/>
                <a:gd name="T65" fmla="*/ 2147483647 h 3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0"/>
                <a:gd name="T100" fmla="*/ 0 h 39"/>
                <a:gd name="T101" fmla="*/ 50 w 50"/>
                <a:gd name="T102" fmla="*/ 39 h 3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0" h="39">
                  <a:moveTo>
                    <a:pt x="50" y="19"/>
                  </a:moveTo>
                  <a:lnTo>
                    <a:pt x="50" y="15"/>
                  </a:lnTo>
                  <a:lnTo>
                    <a:pt x="48" y="12"/>
                  </a:lnTo>
                  <a:lnTo>
                    <a:pt x="46" y="9"/>
                  </a:lnTo>
                  <a:lnTo>
                    <a:pt x="42" y="6"/>
                  </a:lnTo>
                  <a:lnTo>
                    <a:pt x="40" y="3"/>
                  </a:lnTo>
                  <a:lnTo>
                    <a:pt x="34" y="2"/>
                  </a:lnTo>
                  <a:lnTo>
                    <a:pt x="30" y="1"/>
                  </a:lnTo>
                  <a:lnTo>
                    <a:pt x="25" y="0"/>
                  </a:lnTo>
                  <a:lnTo>
                    <a:pt x="20" y="1"/>
                  </a:lnTo>
                  <a:lnTo>
                    <a:pt x="16" y="2"/>
                  </a:lnTo>
                  <a:lnTo>
                    <a:pt x="11" y="3"/>
                  </a:lnTo>
                  <a:lnTo>
                    <a:pt x="8" y="6"/>
                  </a:lnTo>
                  <a:lnTo>
                    <a:pt x="4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3" y="27"/>
                  </a:lnTo>
                  <a:lnTo>
                    <a:pt x="4" y="31"/>
                  </a:lnTo>
                  <a:lnTo>
                    <a:pt x="8" y="33"/>
                  </a:lnTo>
                  <a:lnTo>
                    <a:pt x="11" y="36"/>
                  </a:lnTo>
                  <a:lnTo>
                    <a:pt x="16" y="37"/>
                  </a:lnTo>
                  <a:lnTo>
                    <a:pt x="20" y="39"/>
                  </a:lnTo>
                  <a:lnTo>
                    <a:pt x="25" y="39"/>
                  </a:lnTo>
                  <a:lnTo>
                    <a:pt x="30" y="39"/>
                  </a:lnTo>
                  <a:lnTo>
                    <a:pt x="34" y="37"/>
                  </a:lnTo>
                  <a:lnTo>
                    <a:pt x="40" y="36"/>
                  </a:lnTo>
                  <a:lnTo>
                    <a:pt x="42" y="33"/>
                  </a:lnTo>
                  <a:lnTo>
                    <a:pt x="46" y="31"/>
                  </a:lnTo>
                  <a:lnTo>
                    <a:pt x="48" y="27"/>
                  </a:lnTo>
                  <a:lnTo>
                    <a:pt x="50" y="24"/>
                  </a:lnTo>
                  <a:lnTo>
                    <a:pt x="50" y="19"/>
                  </a:lnTo>
                </a:path>
              </a:pathLst>
            </a:custGeom>
            <a:solidFill>
              <a:schemeClr val="tx1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0" name="Freeform 75"/>
            <p:cNvSpPr>
              <a:spLocks/>
            </p:cNvSpPr>
            <p:nvPr/>
          </p:nvSpPr>
          <p:spPr bwMode="auto">
            <a:xfrm>
              <a:off x="2571751" y="2744788"/>
              <a:ext cx="82115" cy="81254"/>
            </a:xfrm>
            <a:custGeom>
              <a:avLst/>
              <a:gdLst>
                <a:gd name="T0" fmla="*/ 2147483647 w 50"/>
                <a:gd name="T1" fmla="*/ 2147483647 h 39"/>
                <a:gd name="T2" fmla="*/ 2147483647 w 50"/>
                <a:gd name="T3" fmla="*/ 2147483647 h 39"/>
                <a:gd name="T4" fmla="*/ 2147483647 w 50"/>
                <a:gd name="T5" fmla="*/ 2147483647 h 39"/>
                <a:gd name="T6" fmla="*/ 2147483647 w 50"/>
                <a:gd name="T7" fmla="*/ 2147483647 h 39"/>
                <a:gd name="T8" fmla="*/ 2147483647 w 50"/>
                <a:gd name="T9" fmla="*/ 2147483647 h 39"/>
                <a:gd name="T10" fmla="*/ 2147483647 w 50"/>
                <a:gd name="T11" fmla="*/ 2147483647 h 39"/>
                <a:gd name="T12" fmla="*/ 2147483647 w 50"/>
                <a:gd name="T13" fmla="*/ 2147483647 h 39"/>
                <a:gd name="T14" fmla="*/ 2147483647 w 50"/>
                <a:gd name="T15" fmla="*/ 2147483647 h 39"/>
                <a:gd name="T16" fmla="*/ 2147483647 w 50"/>
                <a:gd name="T17" fmla="*/ 0 h 39"/>
                <a:gd name="T18" fmla="*/ 2147483647 w 50"/>
                <a:gd name="T19" fmla="*/ 2147483647 h 39"/>
                <a:gd name="T20" fmla="*/ 2147483647 w 50"/>
                <a:gd name="T21" fmla="*/ 2147483647 h 39"/>
                <a:gd name="T22" fmla="*/ 2147483647 w 50"/>
                <a:gd name="T23" fmla="*/ 2147483647 h 39"/>
                <a:gd name="T24" fmla="*/ 2147483647 w 50"/>
                <a:gd name="T25" fmla="*/ 2147483647 h 39"/>
                <a:gd name="T26" fmla="*/ 2147483647 w 50"/>
                <a:gd name="T27" fmla="*/ 2147483647 h 39"/>
                <a:gd name="T28" fmla="*/ 2147483647 w 50"/>
                <a:gd name="T29" fmla="*/ 2147483647 h 39"/>
                <a:gd name="T30" fmla="*/ 2147483647 w 50"/>
                <a:gd name="T31" fmla="*/ 2147483647 h 39"/>
                <a:gd name="T32" fmla="*/ 0 w 50"/>
                <a:gd name="T33" fmla="*/ 2147483647 h 39"/>
                <a:gd name="T34" fmla="*/ 2147483647 w 50"/>
                <a:gd name="T35" fmla="*/ 2147483647 h 39"/>
                <a:gd name="T36" fmla="*/ 2147483647 w 50"/>
                <a:gd name="T37" fmla="*/ 2147483647 h 39"/>
                <a:gd name="T38" fmla="*/ 2147483647 w 50"/>
                <a:gd name="T39" fmla="*/ 2147483647 h 39"/>
                <a:gd name="T40" fmla="*/ 2147483647 w 50"/>
                <a:gd name="T41" fmla="*/ 2147483647 h 39"/>
                <a:gd name="T42" fmla="*/ 2147483647 w 50"/>
                <a:gd name="T43" fmla="*/ 2147483647 h 39"/>
                <a:gd name="T44" fmla="*/ 2147483647 w 50"/>
                <a:gd name="T45" fmla="*/ 2147483647 h 39"/>
                <a:gd name="T46" fmla="*/ 2147483647 w 50"/>
                <a:gd name="T47" fmla="*/ 2147483647 h 39"/>
                <a:gd name="T48" fmla="*/ 2147483647 w 50"/>
                <a:gd name="T49" fmla="*/ 2147483647 h 39"/>
                <a:gd name="T50" fmla="*/ 2147483647 w 50"/>
                <a:gd name="T51" fmla="*/ 2147483647 h 39"/>
                <a:gd name="T52" fmla="*/ 2147483647 w 50"/>
                <a:gd name="T53" fmla="*/ 2147483647 h 39"/>
                <a:gd name="T54" fmla="*/ 2147483647 w 50"/>
                <a:gd name="T55" fmla="*/ 2147483647 h 39"/>
                <a:gd name="T56" fmla="*/ 2147483647 w 50"/>
                <a:gd name="T57" fmla="*/ 2147483647 h 39"/>
                <a:gd name="T58" fmla="*/ 2147483647 w 50"/>
                <a:gd name="T59" fmla="*/ 2147483647 h 39"/>
                <a:gd name="T60" fmla="*/ 2147483647 w 50"/>
                <a:gd name="T61" fmla="*/ 2147483647 h 39"/>
                <a:gd name="T62" fmla="*/ 2147483647 w 50"/>
                <a:gd name="T63" fmla="*/ 2147483647 h 39"/>
                <a:gd name="T64" fmla="*/ 2147483647 w 50"/>
                <a:gd name="T65" fmla="*/ 2147483647 h 3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0"/>
                <a:gd name="T100" fmla="*/ 0 h 39"/>
                <a:gd name="T101" fmla="*/ 50 w 50"/>
                <a:gd name="T102" fmla="*/ 39 h 3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0" h="39">
                  <a:moveTo>
                    <a:pt x="50" y="19"/>
                  </a:moveTo>
                  <a:lnTo>
                    <a:pt x="50" y="15"/>
                  </a:lnTo>
                  <a:lnTo>
                    <a:pt x="49" y="12"/>
                  </a:lnTo>
                  <a:lnTo>
                    <a:pt x="46" y="9"/>
                  </a:lnTo>
                  <a:lnTo>
                    <a:pt x="43" y="6"/>
                  </a:lnTo>
                  <a:lnTo>
                    <a:pt x="39" y="3"/>
                  </a:lnTo>
                  <a:lnTo>
                    <a:pt x="35" y="2"/>
                  </a:lnTo>
                  <a:lnTo>
                    <a:pt x="30" y="1"/>
                  </a:lnTo>
                  <a:lnTo>
                    <a:pt x="25" y="0"/>
                  </a:lnTo>
                  <a:lnTo>
                    <a:pt x="21" y="1"/>
                  </a:lnTo>
                  <a:lnTo>
                    <a:pt x="16" y="2"/>
                  </a:lnTo>
                  <a:lnTo>
                    <a:pt x="12" y="3"/>
                  </a:lnTo>
                  <a:lnTo>
                    <a:pt x="8" y="6"/>
                  </a:lnTo>
                  <a:lnTo>
                    <a:pt x="5" y="9"/>
                  </a:lnTo>
                  <a:lnTo>
                    <a:pt x="3" y="12"/>
                  </a:lnTo>
                  <a:lnTo>
                    <a:pt x="1" y="15"/>
                  </a:lnTo>
                  <a:lnTo>
                    <a:pt x="0" y="19"/>
                  </a:lnTo>
                  <a:lnTo>
                    <a:pt x="1" y="24"/>
                  </a:lnTo>
                  <a:lnTo>
                    <a:pt x="3" y="27"/>
                  </a:lnTo>
                  <a:lnTo>
                    <a:pt x="5" y="31"/>
                  </a:lnTo>
                  <a:lnTo>
                    <a:pt x="8" y="33"/>
                  </a:lnTo>
                  <a:lnTo>
                    <a:pt x="12" y="36"/>
                  </a:lnTo>
                  <a:lnTo>
                    <a:pt x="16" y="37"/>
                  </a:lnTo>
                  <a:lnTo>
                    <a:pt x="21" y="39"/>
                  </a:lnTo>
                  <a:lnTo>
                    <a:pt x="25" y="39"/>
                  </a:lnTo>
                  <a:lnTo>
                    <a:pt x="30" y="39"/>
                  </a:lnTo>
                  <a:lnTo>
                    <a:pt x="35" y="37"/>
                  </a:lnTo>
                  <a:lnTo>
                    <a:pt x="39" y="36"/>
                  </a:lnTo>
                  <a:lnTo>
                    <a:pt x="43" y="33"/>
                  </a:lnTo>
                  <a:lnTo>
                    <a:pt x="46" y="31"/>
                  </a:lnTo>
                  <a:lnTo>
                    <a:pt x="49" y="27"/>
                  </a:lnTo>
                  <a:lnTo>
                    <a:pt x="50" y="24"/>
                  </a:lnTo>
                  <a:lnTo>
                    <a:pt x="50" y="19"/>
                  </a:lnTo>
                </a:path>
              </a:pathLst>
            </a:custGeom>
            <a:solidFill>
              <a:schemeClr val="tx1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2" name="Freeform 77"/>
            <p:cNvSpPr>
              <a:spLocks/>
            </p:cNvSpPr>
            <p:nvPr/>
          </p:nvSpPr>
          <p:spPr bwMode="auto">
            <a:xfrm>
              <a:off x="2817813" y="2744788"/>
              <a:ext cx="82115" cy="81254"/>
            </a:xfrm>
            <a:custGeom>
              <a:avLst/>
              <a:gdLst>
                <a:gd name="T0" fmla="*/ 2147483647 w 49"/>
                <a:gd name="T1" fmla="*/ 2147483647 h 39"/>
                <a:gd name="T2" fmla="*/ 2147483647 w 49"/>
                <a:gd name="T3" fmla="*/ 2147483647 h 39"/>
                <a:gd name="T4" fmla="*/ 2147483647 w 49"/>
                <a:gd name="T5" fmla="*/ 2147483647 h 39"/>
                <a:gd name="T6" fmla="*/ 2147483647 w 49"/>
                <a:gd name="T7" fmla="*/ 2147483647 h 39"/>
                <a:gd name="T8" fmla="*/ 2147483647 w 49"/>
                <a:gd name="T9" fmla="*/ 2147483647 h 39"/>
                <a:gd name="T10" fmla="*/ 2147483647 w 49"/>
                <a:gd name="T11" fmla="*/ 2147483647 h 39"/>
                <a:gd name="T12" fmla="*/ 2147483647 w 49"/>
                <a:gd name="T13" fmla="*/ 2147483647 h 39"/>
                <a:gd name="T14" fmla="*/ 2147483647 w 49"/>
                <a:gd name="T15" fmla="*/ 2147483647 h 39"/>
                <a:gd name="T16" fmla="*/ 2147483647 w 49"/>
                <a:gd name="T17" fmla="*/ 0 h 39"/>
                <a:gd name="T18" fmla="*/ 2147483647 w 49"/>
                <a:gd name="T19" fmla="*/ 2147483647 h 39"/>
                <a:gd name="T20" fmla="*/ 2147483647 w 49"/>
                <a:gd name="T21" fmla="*/ 2147483647 h 39"/>
                <a:gd name="T22" fmla="*/ 2147483647 w 49"/>
                <a:gd name="T23" fmla="*/ 2147483647 h 39"/>
                <a:gd name="T24" fmla="*/ 2147483647 w 49"/>
                <a:gd name="T25" fmla="*/ 2147483647 h 39"/>
                <a:gd name="T26" fmla="*/ 2147483647 w 49"/>
                <a:gd name="T27" fmla="*/ 2147483647 h 39"/>
                <a:gd name="T28" fmla="*/ 2147483647 w 49"/>
                <a:gd name="T29" fmla="*/ 2147483647 h 39"/>
                <a:gd name="T30" fmla="*/ 0 w 49"/>
                <a:gd name="T31" fmla="*/ 2147483647 h 39"/>
                <a:gd name="T32" fmla="*/ 0 w 49"/>
                <a:gd name="T33" fmla="*/ 2147483647 h 39"/>
                <a:gd name="T34" fmla="*/ 0 w 49"/>
                <a:gd name="T35" fmla="*/ 2147483647 h 39"/>
                <a:gd name="T36" fmla="*/ 2147483647 w 49"/>
                <a:gd name="T37" fmla="*/ 2147483647 h 39"/>
                <a:gd name="T38" fmla="*/ 2147483647 w 49"/>
                <a:gd name="T39" fmla="*/ 2147483647 h 39"/>
                <a:gd name="T40" fmla="*/ 2147483647 w 49"/>
                <a:gd name="T41" fmla="*/ 2147483647 h 39"/>
                <a:gd name="T42" fmla="*/ 2147483647 w 49"/>
                <a:gd name="T43" fmla="*/ 2147483647 h 39"/>
                <a:gd name="T44" fmla="*/ 2147483647 w 49"/>
                <a:gd name="T45" fmla="*/ 2147483647 h 39"/>
                <a:gd name="T46" fmla="*/ 2147483647 w 49"/>
                <a:gd name="T47" fmla="*/ 2147483647 h 39"/>
                <a:gd name="T48" fmla="*/ 2147483647 w 49"/>
                <a:gd name="T49" fmla="*/ 2147483647 h 39"/>
                <a:gd name="T50" fmla="*/ 2147483647 w 49"/>
                <a:gd name="T51" fmla="*/ 2147483647 h 39"/>
                <a:gd name="T52" fmla="*/ 2147483647 w 49"/>
                <a:gd name="T53" fmla="*/ 2147483647 h 39"/>
                <a:gd name="T54" fmla="*/ 2147483647 w 49"/>
                <a:gd name="T55" fmla="*/ 2147483647 h 39"/>
                <a:gd name="T56" fmla="*/ 2147483647 w 49"/>
                <a:gd name="T57" fmla="*/ 2147483647 h 39"/>
                <a:gd name="T58" fmla="*/ 2147483647 w 49"/>
                <a:gd name="T59" fmla="*/ 2147483647 h 39"/>
                <a:gd name="T60" fmla="*/ 2147483647 w 49"/>
                <a:gd name="T61" fmla="*/ 2147483647 h 39"/>
                <a:gd name="T62" fmla="*/ 2147483647 w 49"/>
                <a:gd name="T63" fmla="*/ 2147483647 h 39"/>
                <a:gd name="T64" fmla="*/ 2147483647 w 49"/>
                <a:gd name="T65" fmla="*/ 2147483647 h 3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9"/>
                <a:gd name="T100" fmla="*/ 0 h 39"/>
                <a:gd name="T101" fmla="*/ 49 w 49"/>
                <a:gd name="T102" fmla="*/ 39 h 3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9" h="39">
                  <a:moveTo>
                    <a:pt x="49" y="19"/>
                  </a:moveTo>
                  <a:lnTo>
                    <a:pt x="49" y="15"/>
                  </a:lnTo>
                  <a:lnTo>
                    <a:pt x="48" y="12"/>
                  </a:lnTo>
                  <a:lnTo>
                    <a:pt x="45" y="9"/>
                  </a:lnTo>
                  <a:lnTo>
                    <a:pt x="42" y="6"/>
                  </a:lnTo>
                  <a:lnTo>
                    <a:pt x="38" y="3"/>
                  </a:lnTo>
                  <a:lnTo>
                    <a:pt x="34" y="2"/>
                  </a:lnTo>
                  <a:lnTo>
                    <a:pt x="29" y="1"/>
                  </a:lnTo>
                  <a:lnTo>
                    <a:pt x="25" y="0"/>
                  </a:lnTo>
                  <a:lnTo>
                    <a:pt x="20" y="1"/>
                  </a:lnTo>
                  <a:lnTo>
                    <a:pt x="15" y="2"/>
                  </a:lnTo>
                  <a:lnTo>
                    <a:pt x="11" y="3"/>
                  </a:lnTo>
                  <a:lnTo>
                    <a:pt x="7" y="6"/>
                  </a:lnTo>
                  <a:lnTo>
                    <a:pt x="4" y="9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2" y="27"/>
                  </a:lnTo>
                  <a:lnTo>
                    <a:pt x="4" y="31"/>
                  </a:lnTo>
                  <a:lnTo>
                    <a:pt x="7" y="33"/>
                  </a:lnTo>
                  <a:lnTo>
                    <a:pt x="11" y="36"/>
                  </a:lnTo>
                  <a:lnTo>
                    <a:pt x="15" y="37"/>
                  </a:lnTo>
                  <a:lnTo>
                    <a:pt x="20" y="39"/>
                  </a:lnTo>
                  <a:lnTo>
                    <a:pt x="25" y="39"/>
                  </a:lnTo>
                  <a:lnTo>
                    <a:pt x="29" y="39"/>
                  </a:lnTo>
                  <a:lnTo>
                    <a:pt x="34" y="37"/>
                  </a:lnTo>
                  <a:lnTo>
                    <a:pt x="38" y="36"/>
                  </a:lnTo>
                  <a:lnTo>
                    <a:pt x="42" y="33"/>
                  </a:lnTo>
                  <a:lnTo>
                    <a:pt x="45" y="31"/>
                  </a:lnTo>
                  <a:lnTo>
                    <a:pt x="48" y="27"/>
                  </a:lnTo>
                  <a:lnTo>
                    <a:pt x="49" y="24"/>
                  </a:lnTo>
                  <a:lnTo>
                    <a:pt x="49" y="19"/>
                  </a:lnTo>
                </a:path>
              </a:pathLst>
            </a:custGeom>
            <a:solidFill>
              <a:schemeClr val="tx1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4" name="Freeform 79"/>
            <p:cNvSpPr>
              <a:spLocks/>
            </p:cNvSpPr>
            <p:nvPr/>
          </p:nvSpPr>
          <p:spPr bwMode="auto">
            <a:xfrm>
              <a:off x="3054351" y="2744788"/>
              <a:ext cx="82115" cy="81254"/>
            </a:xfrm>
            <a:custGeom>
              <a:avLst/>
              <a:gdLst>
                <a:gd name="T0" fmla="*/ 2147483647 w 50"/>
                <a:gd name="T1" fmla="*/ 2147483647 h 39"/>
                <a:gd name="T2" fmla="*/ 2147483647 w 50"/>
                <a:gd name="T3" fmla="*/ 2147483647 h 39"/>
                <a:gd name="T4" fmla="*/ 2147483647 w 50"/>
                <a:gd name="T5" fmla="*/ 2147483647 h 39"/>
                <a:gd name="T6" fmla="*/ 2147483647 w 50"/>
                <a:gd name="T7" fmla="*/ 2147483647 h 39"/>
                <a:gd name="T8" fmla="*/ 2147483647 w 50"/>
                <a:gd name="T9" fmla="*/ 2147483647 h 39"/>
                <a:gd name="T10" fmla="*/ 2147483647 w 50"/>
                <a:gd name="T11" fmla="*/ 2147483647 h 39"/>
                <a:gd name="T12" fmla="*/ 2147483647 w 50"/>
                <a:gd name="T13" fmla="*/ 2147483647 h 39"/>
                <a:gd name="T14" fmla="*/ 2147483647 w 50"/>
                <a:gd name="T15" fmla="*/ 2147483647 h 39"/>
                <a:gd name="T16" fmla="*/ 2147483647 w 50"/>
                <a:gd name="T17" fmla="*/ 0 h 39"/>
                <a:gd name="T18" fmla="*/ 2147483647 w 50"/>
                <a:gd name="T19" fmla="*/ 2147483647 h 39"/>
                <a:gd name="T20" fmla="*/ 2147483647 w 50"/>
                <a:gd name="T21" fmla="*/ 2147483647 h 39"/>
                <a:gd name="T22" fmla="*/ 2147483647 w 50"/>
                <a:gd name="T23" fmla="*/ 2147483647 h 39"/>
                <a:gd name="T24" fmla="*/ 2147483647 w 50"/>
                <a:gd name="T25" fmla="*/ 2147483647 h 39"/>
                <a:gd name="T26" fmla="*/ 2147483647 w 50"/>
                <a:gd name="T27" fmla="*/ 2147483647 h 39"/>
                <a:gd name="T28" fmla="*/ 2147483647 w 50"/>
                <a:gd name="T29" fmla="*/ 2147483647 h 39"/>
                <a:gd name="T30" fmla="*/ 0 w 50"/>
                <a:gd name="T31" fmla="*/ 2147483647 h 39"/>
                <a:gd name="T32" fmla="*/ 0 w 50"/>
                <a:gd name="T33" fmla="*/ 2147483647 h 39"/>
                <a:gd name="T34" fmla="*/ 0 w 50"/>
                <a:gd name="T35" fmla="*/ 2147483647 h 39"/>
                <a:gd name="T36" fmla="*/ 2147483647 w 50"/>
                <a:gd name="T37" fmla="*/ 2147483647 h 39"/>
                <a:gd name="T38" fmla="*/ 2147483647 w 50"/>
                <a:gd name="T39" fmla="*/ 2147483647 h 39"/>
                <a:gd name="T40" fmla="*/ 2147483647 w 50"/>
                <a:gd name="T41" fmla="*/ 2147483647 h 39"/>
                <a:gd name="T42" fmla="*/ 2147483647 w 50"/>
                <a:gd name="T43" fmla="*/ 2147483647 h 39"/>
                <a:gd name="T44" fmla="*/ 2147483647 w 50"/>
                <a:gd name="T45" fmla="*/ 2147483647 h 39"/>
                <a:gd name="T46" fmla="*/ 2147483647 w 50"/>
                <a:gd name="T47" fmla="*/ 2147483647 h 39"/>
                <a:gd name="T48" fmla="*/ 2147483647 w 50"/>
                <a:gd name="T49" fmla="*/ 2147483647 h 39"/>
                <a:gd name="T50" fmla="*/ 2147483647 w 50"/>
                <a:gd name="T51" fmla="*/ 2147483647 h 39"/>
                <a:gd name="T52" fmla="*/ 2147483647 w 50"/>
                <a:gd name="T53" fmla="*/ 2147483647 h 39"/>
                <a:gd name="T54" fmla="*/ 2147483647 w 50"/>
                <a:gd name="T55" fmla="*/ 2147483647 h 39"/>
                <a:gd name="T56" fmla="*/ 2147483647 w 50"/>
                <a:gd name="T57" fmla="*/ 2147483647 h 39"/>
                <a:gd name="T58" fmla="*/ 2147483647 w 50"/>
                <a:gd name="T59" fmla="*/ 2147483647 h 39"/>
                <a:gd name="T60" fmla="*/ 2147483647 w 50"/>
                <a:gd name="T61" fmla="*/ 2147483647 h 39"/>
                <a:gd name="T62" fmla="*/ 2147483647 w 50"/>
                <a:gd name="T63" fmla="*/ 2147483647 h 39"/>
                <a:gd name="T64" fmla="*/ 2147483647 w 50"/>
                <a:gd name="T65" fmla="*/ 2147483647 h 3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0"/>
                <a:gd name="T100" fmla="*/ 0 h 39"/>
                <a:gd name="T101" fmla="*/ 50 w 50"/>
                <a:gd name="T102" fmla="*/ 39 h 3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0" h="39">
                  <a:moveTo>
                    <a:pt x="50" y="19"/>
                  </a:moveTo>
                  <a:lnTo>
                    <a:pt x="49" y="15"/>
                  </a:lnTo>
                  <a:lnTo>
                    <a:pt x="47" y="12"/>
                  </a:lnTo>
                  <a:lnTo>
                    <a:pt x="46" y="9"/>
                  </a:lnTo>
                  <a:lnTo>
                    <a:pt x="42" y="6"/>
                  </a:lnTo>
                  <a:lnTo>
                    <a:pt x="38" y="3"/>
                  </a:lnTo>
                  <a:lnTo>
                    <a:pt x="34" y="2"/>
                  </a:lnTo>
                  <a:lnTo>
                    <a:pt x="30" y="1"/>
                  </a:lnTo>
                  <a:lnTo>
                    <a:pt x="25" y="0"/>
                  </a:lnTo>
                  <a:lnTo>
                    <a:pt x="20" y="1"/>
                  </a:lnTo>
                  <a:lnTo>
                    <a:pt x="16" y="2"/>
                  </a:lnTo>
                  <a:lnTo>
                    <a:pt x="11" y="3"/>
                  </a:lnTo>
                  <a:lnTo>
                    <a:pt x="8" y="6"/>
                  </a:lnTo>
                  <a:lnTo>
                    <a:pt x="4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3" y="27"/>
                  </a:lnTo>
                  <a:lnTo>
                    <a:pt x="4" y="31"/>
                  </a:lnTo>
                  <a:lnTo>
                    <a:pt x="8" y="33"/>
                  </a:lnTo>
                  <a:lnTo>
                    <a:pt x="11" y="36"/>
                  </a:lnTo>
                  <a:lnTo>
                    <a:pt x="16" y="37"/>
                  </a:lnTo>
                  <a:lnTo>
                    <a:pt x="20" y="39"/>
                  </a:lnTo>
                  <a:lnTo>
                    <a:pt x="25" y="39"/>
                  </a:lnTo>
                  <a:lnTo>
                    <a:pt x="30" y="39"/>
                  </a:lnTo>
                  <a:lnTo>
                    <a:pt x="34" y="37"/>
                  </a:lnTo>
                  <a:lnTo>
                    <a:pt x="38" y="36"/>
                  </a:lnTo>
                  <a:lnTo>
                    <a:pt x="42" y="33"/>
                  </a:lnTo>
                  <a:lnTo>
                    <a:pt x="46" y="31"/>
                  </a:lnTo>
                  <a:lnTo>
                    <a:pt x="47" y="27"/>
                  </a:lnTo>
                  <a:lnTo>
                    <a:pt x="49" y="24"/>
                  </a:lnTo>
                  <a:lnTo>
                    <a:pt x="50" y="19"/>
                  </a:lnTo>
                </a:path>
              </a:pathLst>
            </a:custGeom>
            <a:solidFill>
              <a:schemeClr val="tx1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6" name="Freeform 81"/>
            <p:cNvSpPr>
              <a:spLocks/>
            </p:cNvSpPr>
            <p:nvPr/>
          </p:nvSpPr>
          <p:spPr bwMode="auto">
            <a:xfrm>
              <a:off x="3298826" y="2744788"/>
              <a:ext cx="82115" cy="81254"/>
            </a:xfrm>
            <a:custGeom>
              <a:avLst/>
              <a:gdLst>
                <a:gd name="T0" fmla="*/ 2147483647 w 50"/>
                <a:gd name="T1" fmla="*/ 2147483647 h 39"/>
                <a:gd name="T2" fmla="*/ 2147483647 w 50"/>
                <a:gd name="T3" fmla="*/ 2147483647 h 39"/>
                <a:gd name="T4" fmla="*/ 2147483647 w 50"/>
                <a:gd name="T5" fmla="*/ 2147483647 h 39"/>
                <a:gd name="T6" fmla="*/ 2147483647 w 50"/>
                <a:gd name="T7" fmla="*/ 2147483647 h 39"/>
                <a:gd name="T8" fmla="*/ 2147483647 w 50"/>
                <a:gd name="T9" fmla="*/ 2147483647 h 39"/>
                <a:gd name="T10" fmla="*/ 2147483647 w 50"/>
                <a:gd name="T11" fmla="*/ 2147483647 h 39"/>
                <a:gd name="T12" fmla="*/ 2147483647 w 50"/>
                <a:gd name="T13" fmla="*/ 2147483647 h 39"/>
                <a:gd name="T14" fmla="*/ 2147483647 w 50"/>
                <a:gd name="T15" fmla="*/ 2147483647 h 39"/>
                <a:gd name="T16" fmla="*/ 2147483647 w 50"/>
                <a:gd name="T17" fmla="*/ 0 h 39"/>
                <a:gd name="T18" fmla="*/ 2147483647 w 50"/>
                <a:gd name="T19" fmla="*/ 2147483647 h 39"/>
                <a:gd name="T20" fmla="*/ 2147483647 w 50"/>
                <a:gd name="T21" fmla="*/ 2147483647 h 39"/>
                <a:gd name="T22" fmla="*/ 2147483647 w 50"/>
                <a:gd name="T23" fmla="*/ 2147483647 h 39"/>
                <a:gd name="T24" fmla="*/ 2147483647 w 50"/>
                <a:gd name="T25" fmla="*/ 2147483647 h 39"/>
                <a:gd name="T26" fmla="*/ 2147483647 w 50"/>
                <a:gd name="T27" fmla="*/ 2147483647 h 39"/>
                <a:gd name="T28" fmla="*/ 2147483647 w 50"/>
                <a:gd name="T29" fmla="*/ 2147483647 h 39"/>
                <a:gd name="T30" fmla="*/ 2147483647 w 50"/>
                <a:gd name="T31" fmla="*/ 2147483647 h 39"/>
                <a:gd name="T32" fmla="*/ 0 w 50"/>
                <a:gd name="T33" fmla="*/ 2147483647 h 39"/>
                <a:gd name="T34" fmla="*/ 2147483647 w 50"/>
                <a:gd name="T35" fmla="*/ 2147483647 h 39"/>
                <a:gd name="T36" fmla="*/ 2147483647 w 50"/>
                <a:gd name="T37" fmla="*/ 2147483647 h 39"/>
                <a:gd name="T38" fmla="*/ 2147483647 w 50"/>
                <a:gd name="T39" fmla="*/ 2147483647 h 39"/>
                <a:gd name="T40" fmla="*/ 2147483647 w 50"/>
                <a:gd name="T41" fmla="*/ 2147483647 h 39"/>
                <a:gd name="T42" fmla="*/ 2147483647 w 50"/>
                <a:gd name="T43" fmla="*/ 2147483647 h 39"/>
                <a:gd name="T44" fmla="*/ 2147483647 w 50"/>
                <a:gd name="T45" fmla="*/ 2147483647 h 39"/>
                <a:gd name="T46" fmla="*/ 2147483647 w 50"/>
                <a:gd name="T47" fmla="*/ 2147483647 h 39"/>
                <a:gd name="T48" fmla="*/ 2147483647 w 50"/>
                <a:gd name="T49" fmla="*/ 2147483647 h 39"/>
                <a:gd name="T50" fmla="*/ 2147483647 w 50"/>
                <a:gd name="T51" fmla="*/ 2147483647 h 39"/>
                <a:gd name="T52" fmla="*/ 2147483647 w 50"/>
                <a:gd name="T53" fmla="*/ 2147483647 h 39"/>
                <a:gd name="T54" fmla="*/ 2147483647 w 50"/>
                <a:gd name="T55" fmla="*/ 2147483647 h 39"/>
                <a:gd name="T56" fmla="*/ 2147483647 w 50"/>
                <a:gd name="T57" fmla="*/ 2147483647 h 39"/>
                <a:gd name="T58" fmla="*/ 2147483647 w 50"/>
                <a:gd name="T59" fmla="*/ 2147483647 h 39"/>
                <a:gd name="T60" fmla="*/ 2147483647 w 50"/>
                <a:gd name="T61" fmla="*/ 2147483647 h 39"/>
                <a:gd name="T62" fmla="*/ 2147483647 w 50"/>
                <a:gd name="T63" fmla="*/ 2147483647 h 39"/>
                <a:gd name="T64" fmla="*/ 2147483647 w 50"/>
                <a:gd name="T65" fmla="*/ 2147483647 h 3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0"/>
                <a:gd name="T100" fmla="*/ 0 h 39"/>
                <a:gd name="T101" fmla="*/ 50 w 50"/>
                <a:gd name="T102" fmla="*/ 39 h 3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0" h="39">
                  <a:moveTo>
                    <a:pt x="50" y="19"/>
                  </a:moveTo>
                  <a:lnTo>
                    <a:pt x="50" y="15"/>
                  </a:lnTo>
                  <a:lnTo>
                    <a:pt x="47" y="12"/>
                  </a:lnTo>
                  <a:lnTo>
                    <a:pt x="46" y="9"/>
                  </a:lnTo>
                  <a:lnTo>
                    <a:pt x="42" y="6"/>
                  </a:lnTo>
                  <a:lnTo>
                    <a:pt x="40" y="3"/>
                  </a:lnTo>
                  <a:lnTo>
                    <a:pt x="34" y="2"/>
                  </a:lnTo>
                  <a:lnTo>
                    <a:pt x="30" y="1"/>
                  </a:lnTo>
                  <a:lnTo>
                    <a:pt x="25" y="0"/>
                  </a:lnTo>
                  <a:lnTo>
                    <a:pt x="20" y="1"/>
                  </a:lnTo>
                  <a:lnTo>
                    <a:pt x="16" y="2"/>
                  </a:lnTo>
                  <a:lnTo>
                    <a:pt x="12" y="3"/>
                  </a:lnTo>
                  <a:lnTo>
                    <a:pt x="8" y="6"/>
                  </a:lnTo>
                  <a:lnTo>
                    <a:pt x="4" y="9"/>
                  </a:lnTo>
                  <a:lnTo>
                    <a:pt x="3" y="12"/>
                  </a:lnTo>
                  <a:lnTo>
                    <a:pt x="1" y="15"/>
                  </a:lnTo>
                  <a:lnTo>
                    <a:pt x="0" y="19"/>
                  </a:lnTo>
                  <a:lnTo>
                    <a:pt x="1" y="24"/>
                  </a:lnTo>
                  <a:lnTo>
                    <a:pt x="3" y="27"/>
                  </a:lnTo>
                  <a:lnTo>
                    <a:pt x="4" y="31"/>
                  </a:lnTo>
                  <a:lnTo>
                    <a:pt x="8" y="33"/>
                  </a:lnTo>
                  <a:lnTo>
                    <a:pt x="12" y="36"/>
                  </a:lnTo>
                  <a:lnTo>
                    <a:pt x="16" y="37"/>
                  </a:lnTo>
                  <a:lnTo>
                    <a:pt x="20" y="39"/>
                  </a:lnTo>
                  <a:lnTo>
                    <a:pt x="25" y="39"/>
                  </a:lnTo>
                  <a:lnTo>
                    <a:pt x="30" y="39"/>
                  </a:lnTo>
                  <a:lnTo>
                    <a:pt x="34" y="37"/>
                  </a:lnTo>
                  <a:lnTo>
                    <a:pt x="40" y="36"/>
                  </a:lnTo>
                  <a:lnTo>
                    <a:pt x="42" y="33"/>
                  </a:lnTo>
                  <a:lnTo>
                    <a:pt x="46" y="31"/>
                  </a:lnTo>
                  <a:lnTo>
                    <a:pt x="47" y="27"/>
                  </a:lnTo>
                  <a:lnTo>
                    <a:pt x="50" y="24"/>
                  </a:lnTo>
                  <a:lnTo>
                    <a:pt x="50" y="19"/>
                  </a:lnTo>
                </a:path>
              </a:pathLst>
            </a:custGeom>
            <a:solidFill>
              <a:schemeClr val="tx1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8" name="Freeform 83"/>
            <p:cNvSpPr>
              <a:spLocks/>
            </p:cNvSpPr>
            <p:nvPr/>
          </p:nvSpPr>
          <p:spPr bwMode="auto">
            <a:xfrm>
              <a:off x="3536951" y="2744788"/>
              <a:ext cx="82115" cy="81254"/>
            </a:xfrm>
            <a:custGeom>
              <a:avLst/>
              <a:gdLst>
                <a:gd name="T0" fmla="*/ 2147483647 w 49"/>
                <a:gd name="T1" fmla="*/ 2147483647 h 39"/>
                <a:gd name="T2" fmla="*/ 2147483647 w 49"/>
                <a:gd name="T3" fmla="*/ 2147483647 h 39"/>
                <a:gd name="T4" fmla="*/ 2147483647 w 49"/>
                <a:gd name="T5" fmla="*/ 2147483647 h 39"/>
                <a:gd name="T6" fmla="*/ 2147483647 w 49"/>
                <a:gd name="T7" fmla="*/ 2147483647 h 39"/>
                <a:gd name="T8" fmla="*/ 2147483647 w 49"/>
                <a:gd name="T9" fmla="*/ 2147483647 h 39"/>
                <a:gd name="T10" fmla="*/ 2147483647 w 49"/>
                <a:gd name="T11" fmla="*/ 2147483647 h 39"/>
                <a:gd name="T12" fmla="*/ 2147483647 w 49"/>
                <a:gd name="T13" fmla="*/ 2147483647 h 39"/>
                <a:gd name="T14" fmla="*/ 2147483647 w 49"/>
                <a:gd name="T15" fmla="*/ 2147483647 h 39"/>
                <a:gd name="T16" fmla="*/ 2147483647 w 49"/>
                <a:gd name="T17" fmla="*/ 0 h 39"/>
                <a:gd name="T18" fmla="*/ 2147483647 w 49"/>
                <a:gd name="T19" fmla="*/ 2147483647 h 39"/>
                <a:gd name="T20" fmla="*/ 2147483647 w 49"/>
                <a:gd name="T21" fmla="*/ 2147483647 h 39"/>
                <a:gd name="T22" fmla="*/ 2147483647 w 49"/>
                <a:gd name="T23" fmla="*/ 2147483647 h 39"/>
                <a:gd name="T24" fmla="*/ 2147483647 w 49"/>
                <a:gd name="T25" fmla="*/ 2147483647 h 39"/>
                <a:gd name="T26" fmla="*/ 2147483647 w 49"/>
                <a:gd name="T27" fmla="*/ 2147483647 h 39"/>
                <a:gd name="T28" fmla="*/ 2147483647 w 49"/>
                <a:gd name="T29" fmla="*/ 2147483647 h 39"/>
                <a:gd name="T30" fmla="*/ 0 w 49"/>
                <a:gd name="T31" fmla="*/ 2147483647 h 39"/>
                <a:gd name="T32" fmla="*/ 0 w 49"/>
                <a:gd name="T33" fmla="*/ 2147483647 h 39"/>
                <a:gd name="T34" fmla="*/ 0 w 49"/>
                <a:gd name="T35" fmla="*/ 2147483647 h 39"/>
                <a:gd name="T36" fmla="*/ 2147483647 w 49"/>
                <a:gd name="T37" fmla="*/ 2147483647 h 39"/>
                <a:gd name="T38" fmla="*/ 2147483647 w 49"/>
                <a:gd name="T39" fmla="*/ 2147483647 h 39"/>
                <a:gd name="T40" fmla="*/ 2147483647 w 49"/>
                <a:gd name="T41" fmla="*/ 2147483647 h 39"/>
                <a:gd name="T42" fmla="*/ 2147483647 w 49"/>
                <a:gd name="T43" fmla="*/ 2147483647 h 39"/>
                <a:gd name="T44" fmla="*/ 2147483647 w 49"/>
                <a:gd name="T45" fmla="*/ 2147483647 h 39"/>
                <a:gd name="T46" fmla="*/ 2147483647 w 49"/>
                <a:gd name="T47" fmla="*/ 2147483647 h 39"/>
                <a:gd name="T48" fmla="*/ 2147483647 w 49"/>
                <a:gd name="T49" fmla="*/ 2147483647 h 39"/>
                <a:gd name="T50" fmla="*/ 2147483647 w 49"/>
                <a:gd name="T51" fmla="*/ 2147483647 h 39"/>
                <a:gd name="T52" fmla="*/ 2147483647 w 49"/>
                <a:gd name="T53" fmla="*/ 2147483647 h 39"/>
                <a:gd name="T54" fmla="*/ 2147483647 w 49"/>
                <a:gd name="T55" fmla="*/ 2147483647 h 39"/>
                <a:gd name="T56" fmla="*/ 2147483647 w 49"/>
                <a:gd name="T57" fmla="*/ 2147483647 h 39"/>
                <a:gd name="T58" fmla="*/ 2147483647 w 49"/>
                <a:gd name="T59" fmla="*/ 2147483647 h 39"/>
                <a:gd name="T60" fmla="*/ 2147483647 w 49"/>
                <a:gd name="T61" fmla="*/ 2147483647 h 39"/>
                <a:gd name="T62" fmla="*/ 2147483647 w 49"/>
                <a:gd name="T63" fmla="*/ 2147483647 h 39"/>
                <a:gd name="T64" fmla="*/ 2147483647 w 49"/>
                <a:gd name="T65" fmla="*/ 2147483647 h 3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9"/>
                <a:gd name="T100" fmla="*/ 0 h 39"/>
                <a:gd name="T101" fmla="*/ 49 w 49"/>
                <a:gd name="T102" fmla="*/ 39 h 3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9" h="39">
                  <a:moveTo>
                    <a:pt x="49" y="19"/>
                  </a:moveTo>
                  <a:lnTo>
                    <a:pt x="49" y="15"/>
                  </a:lnTo>
                  <a:lnTo>
                    <a:pt x="47" y="12"/>
                  </a:lnTo>
                  <a:lnTo>
                    <a:pt x="45" y="9"/>
                  </a:lnTo>
                  <a:lnTo>
                    <a:pt x="42" y="6"/>
                  </a:lnTo>
                  <a:lnTo>
                    <a:pt x="38" y="3"/>
                  </a:lnTo>
                  <a:lnTo>
                    <a:pt x="34" y="2"/>
                  </a:lnTo>
                  <a:lnTo>
                    <a:pt x="29" y="1"/>
                  </a:lnTo>
                  <a:lnTo>
                    <a:pt x="24" y="0"/>
                  </a:lnTo>
                  <a:lnTo>
                    <a:pt x="20" y="1"/>
                  </a:lnTo>
                  <a:lnTo>
                    <a:pt x="15" y="2"/>
                  </a:lnTo>
                  <a:lnTo>
                    <a:pt x="11" y="3"/>
                  </a:lnTo>
                  <a:lnTo>
                    <a:pt x="7" y="6"/>
                  </a:lnTo>
                  <a:lnTo>
                    <a:pt x="4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1" y="27"/>
                  </a:lnTo>
                  <a:lnTo>
                    <a:pt x="4" y="31"/>
                  </a:lnTo>
                  <a:lnTo>
                    <a:pt x="7" y="33"/>
                  </a:lnTo>
                  <a:lnTo>
                    <a:pt x="11" y="36"/>
                  </a:lnTo>
                  <a:lnTo>
                    <a:pt x="15" y="37"/>
                  </a:lnTo>
                  <a:lnTo>
                    <a:pt x="20" y="39"/>
                  </a:lnTo>
                  <a:lnTo>
                    <a:pt x="24" y="39"/>
                  </a:lnTo>
                  <a:lnTo>
                    <a:pt x="29" y="39"/>
                  </a:lnTo>
                  <a:lnTo>
                    <a:pt x="34" y="37"/>
                  </a:lnTo>
                  <a:lnTo>
                    <a:pt x="38" y="36"/>
                  </a:lnTo>
                  <a:lnTo>
                    <a:pt x="42" y="33"/>
                  </a:lnTo>
                  <a:lnTo>
                    <a:pt x="45" y="31"/>
                  </a:lnTo>
                  <a:lnTo>
                    <a:pt x="47" y="27"/>
                  </a:lnTo>
                  <a:lnTo>
                    <a:pt x="49" y="24"/>
                  </a:lnTo>
                  <a:lnTo>
                    <a:pt x="49" y="19"/>
                  </a:lnTo>
                </a:path>
              </a:pathLst>
            </a:custGeom>
            <a:solidFill>
              <a:schemeClr val="tx1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9" name="Rectangle 84"/>
            <p:cNvSpPr>
              <a:spLocks noChangeArrowheads="1"/>
            </p:cNvSpPr>
            <p:nvPr/>
          </p:nvSpPr>
          <p:spPr bwMode="auto">
            <a:xfrm>
              <a:off x="2354263" y="2214563"/>
              <a:ext cx="438769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+ +  </a:t>
              </a:r>
            </a:p>
          </p:txBody>
        </p:sp>
        <p:sp>
          <p:nvSpPr>
            <p:cNvPr id="170" name="Rectangle 85"/>
            <p:cNvSpPr>
              <a:spLocks noChangeArrowheads="1"/>
            </p:cNvSpPr>
            <p:nvPr/>
          </p:nvSpPr>
          <p:spPr bwMode="auto">
            <a:xfrm>
              <a:off x="3303588" y="2214563"/>
              <a:ext cx="438769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+ +  </a:t>
              </a:r>
            </a:p>
          </p:txBody>
        </p:sp>
        <p:sp>
          <p:nvSpPr>
            <p:cNvPr id="171" name="Rectangle 86"/>
            <p:cNvSpPr>
              <a:spLocks noChangeArrowheads="1"/>
            </p:cNvSpPr>
            <p:nvPr/>
          </p:nvSpPr>
          <p:spPr bwMode="auto">
            <a:xfrm>
              <a:off x="2525713" y="2906713"/>
              <a:ext cx="173070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N</a:t>
              </a:r>
            </a:p>
          </p:txBody>
        </p:sp>
        <p:sp>
          <p:nvSpPr>
            <p:cNvPr id="172" name="Rectangle 87"/>
            <p:cNvSpPr>
              <a:spLocks noChangeArrowheads="1"/>
            </p:cNvSpPr>
            <p:nvPr/>
          </p:nvSpPr>
          <p:spPr bwMode="auto">
            <a:xfrm>
              <a:off x="2706688" y="2913063"/>
              <a:ext cx="705688" cy="277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0"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型沟道</a:t>
              </a:r>
            </a:p>
          </p:txBody>
        </p:sp>
      </p:grpSp>
      <p:sp>
        <p:nvSpPr>
          <p:cNvPr id="175" name="Text Box 53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410436" y="198093"/>
            <a:ext cx="649597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 </a:t>
            </a:r>
            <a:r>
              <a:rPr lang="en-US" altLang="zh-CN" sz="32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沟道耗尽型</a:t>
            </a:r>
            <a:r>
              <a:rPr lang="en-US" altLang="zh-CN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MOS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场效应管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  <p:bldP spid="17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9" name="Text Box 99"/>
          <p:cNvSpPr txBox="1">
            <a:spLocks noChangeArrowheads="1"/>
          </p:cNvSpPr>
          <p:nvPr/>
        </p:nvSpPr>
        <p:spPr bwMode="auto">
          <a:xfrm>
            <a:off x="1802877" y="4313327"/>
            <a:ext cx="5979522" cy="584775"/>
          </a:xfrm>
          <a:prstGeom prst="rect">
            <a:avLst/>
          </a:prstGeom>
          <a:noFill/>
          <a:ln w="34925" algn="ctr">
            <a:noFill/>
            <a:miter lim="800000"/>
            <a:headEnd/>
            <a:tailEnd type="none" w="sm" len="lg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沟道耗尽型</a:t>
            </a:r>
            <a:r>
              <a:rPr lang="en-US" altLang="zh-CN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MOS</a:t>
            </a:r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管的特性曲线</a:t>
            </a:r>
          </a:p>
        </p:txBody>
      </p:sp>
      <p:sp>
        <p:nvSpPr>
          <p:cNvPr id="72" name="Text Box 24"/>
          <p:cNvSpPr txBox="1">
            <a:spLocks noChangeArrowheads="1"/>
          </p:cNvSpPr>
          <p:nvPr/>
        </p:nvSpPr>
        <p:spPr bwMode="auto">
          <a:xfrm>
            <a:off x="4738668" y="3808676"/>
            <a:ext cx="1273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 i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1800" baseline="-25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DS</a:t>
            </a:r>
            <a:r>
              <a:rPr lang="en-US" altLang="zh-CN" sz="24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/v</a:t>
            </a:r>
          </a:p>
        </p:txBody>
      </p:sp>
      <p:grpSp>
        <p:nvGrpSpPr>
          <p:cNvPr id="135" name="组合 134"/>
          <p:cNvGrpSpPr>
            <a:grpSpLocks noChangeAspect="1"/>
          </p:cNvGrpSpPr>
          <p:nvPr/>
        </p:nvGrpSpPr>
        <p:grpSpPr>
          <a:xfrm>
            <a:off x="483462" y="814989"/>
            <a:ext cx="4912253" cy="3419589"/>
            <a:chOff x="393699" y="1118491"/>
            <a:chExt cx="5113339" cy="3559572"/>
          </a:xfrm>
        </p:grpSpPr>
        <p:sp>
          <p:nvSpPr>
            <p:cNvPr id="70" name="Line 21"/>
            <p:cNvSpPr>
              <a:spLocks noChangeShapeType="1"/>
            </p:cNvSpPr>
            <p:nvPr/>
          </p:nvSpPr>
          <p:spPr bwMode="auto">
            <a:xfrm flipV="1">
              <a:off x="781607" y="1216581"/>
              <a:ext cx="0" cy="3124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Text Box 23"/>
            <p:cNvSpPr txBox="1">
              <a:spLocks noChangeArrowheads="1"/>
            </p:cNvSpPr>
            <p:nvPr/>
          </p:nvSpPr>
          <p:spPr bwMode="auto">
            <a:xfrm>
              <a:off x="393699" y="4178300"/>
              <a:ext cx="1052513" cy="4164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0</a:t>
              </a:r>
              <a:endParaRPr lang="en-US" altLang="zh-CN" sz="1800" i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Freeform 25"/>
            <p:cNvSpPr>
              <a:spLocks/>
            </p:cNvSpPr>
            <p:nvPr/>
          </p:nvSpPr>
          <p:spPr bwMode="auto">
            <a:xfrm>
              <a:off x="792703" y="1585913"/>
              <a:ext cx="3103023" cy="2743200"/>
            </a:xfrm>
            <a:custGeom>
              <a:avLst/>
              <a:gdLst>
                <a:gd name="T0" fmla="*/ 2147483647 w 1963"/>
                <a:gd name="T1" fmla="*/ 0 h 1728"/>
                <a:gd name="T2" fmla="*/ 2147483647 w 1963"/>
                <a:gd name="T3" fmla="*/ 2147483647 h 1728"/>
                <a:gd name="T4" fmla="*/ 0 w 1963"/>
                <a:gd name="T5" fmla="*/ 2147483647 h 1728"/>
                <a:gd name="T6" fmla="*/ 0 60000 65536"/>
                <a:gd name="T7" fmla="*/ 0 60000 65536"/>
                <a:gd name="T8" fmla="*/ 0 60000 65536"/>
                <a:gd name="T9" fmla="*/ 0 w 1963"/>
                <a:gd name="T10" fmla="*/ 0 h 1728"/>
                <a:gd name="T11" fmla="*/ 1963 w 1963"/>
                <a:gd name="T12" fmla="*/ 1728 h 17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3" h="1728">
                  <a:moveTo>
                    <a:pt x="1963" y="0"/>
                  </a:moveTo>
                  <a:cubicBezTo>
                    <a:pt x="1683" y="59"/>
                    <a:pt x="564" y="47"/>
                    <a:pt x="282" y="341"/>
                  </a:cubicBezTo>
                  <a:cubicBezTo>
                    <a:pt x="0" y="635"/>
                    <a:pt x="59" y="1439"/>
                    <a:pt x="0" y="1728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4" name="Freeform 26"/>
            <p:cNvSpPr>
              <a:spLocks/>
            </p:cNvSpPr>
            <p:nvPr/>
          </p:nvSpPr>
          <p:spPr bwMode="auto">
            <a:xfrm>
              <a:off x="875870" y="2378075"/>
              <a:ext cx="3381805" cy="859540"/>
            </a:xfrm>
            <a:custGeom>
              <a:avLst/>
              <a:gdLst>
                <a:gd name="T0" fmla="*/ 0 w 2116"/>
                <a:gd name="T1" fmla="*/ 2147483647 h 529"/>
                <a:gd name="T2" fmla="*/ 2147483647 w 2116"/>
                <a:gd name="T3" fmla="*/ 2147483647 h 529"/>
                <a:gd name="T4" fmla="*/ 2147483647 w 2116"/>
                <a:gd name="T5" fmla="*/ 0 h 529"/>
                <a:gd name="T6" fmla="*/ 0 60000 65536"/>
                <a:gd name="T7" fmla="*/ 0 60000 65536"/>
                <a:gd name="T8" fmla="*/ 0 60000 65536"/>
                <a:gd name="T9" fmla="*/ 0 w 2116"/>
                <a:gd name="T10" fmla="*/ 0 h 529"/>
                <a:gd name="T11" fmla="*/ 2116 w 2116"/>
                <a:gd name="T12" fmla="*/ 529 h 5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6" h="529">
                  <a:moveTo>
                    <a:pt x="0" y="529"/>
                  </a:moveTo>
                  <a:cubicBezTo>
                    <a:pt x="67" y="468"/>
                    <a:pt x="82" y="270"/>
                    <a:pt x="400" y="164"/>
                  </a:cubicBezTo>
                  <a:cubicBezTo>
                    <a:pt x="718" y="58"/>
                    <a:pt x="1758" y="34"/>
                    <a:pt x="2116" y="0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5" name="Freeform 27"/>
            <p:cNvSpPr>
              <a:spLocks/>
            </p:cNvSpPr>
            <p:nvPr/>
          </p:nvSpPr>
          <p:spPr bwMode="auto">
            <a:xfrm>
              <a:off x="754063" y="3025775"/>
              <a:ext cx="3684587" cy="862013"/>
            </a:xfrm>
            <a:custGeom>
              <a:avLst/>
              <a:gdLst>
                <a:gd name="T0" fmla="*/ 2147483647 w 2321"/>
                <a:gd name="T1" fmla="*/ 2147483647 h 543"/>
                <a:gd name="T2" fmla="*/ 2147483647 w 2321"/>
                <a:gd name="T3" fmla="*/ 2147483647 h 543"/>
                <a:gd name="T4" fmla="*/ 2147483647 w 2321"/>
                <a:gd name="T5" fmla="*/ 0 h 543"/>
                <a:gd name="T6" fmla="*/ 0 60000 65536"/>
                <a:gd name="T7" fmla="*/ 0 60000 65536"/>
                <a:gd name="T8" fmla="*/ 0 60000 65536"/>
                <a:gd name="T9" fmla="*/ 0 w 2321"/>
                <a:gd name="T10" fmla="*/ 0 h 543"/>
                <a:gd name="T11" fmla="*/ 2321 w 2321"/>
                <a:gd name="T12" fmla="*/ 543 h 5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21" h="543">
                  <a:moveTo>
                    <a:pt x="29" y="543"/>
                  </a:moveTo>
                  <a:cubicBezTo>
                    <a:pt x="88" y="478"/>
                    <a:pt x="0" y="269"/>
                    <a:pt x="382" y="178"/>
                  </a:cubicBezTo>
                  <a:cubicBezTo>
                    <a:pt x="653" y="107"/>
                    <a:pt x="1917" y="37"/>
                    <a:pt x="2321" y="0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Freeform 28"/>
            <p:cNvSpPr>
              <a:spLocks/>
            </p:cNvSpPr>
            <p:nvPr/>
          </p:nvSpPr>
          <p:spPr bwMode="auto">
            <a:xfrm>
              <a:off x="748087" y="3602038"/>
              <a:ext cx="4117601" cy="668337"/>
            </a:xfrm>
            <a:custGeom>
              <a:avLst/>
              <a:gdLst>
                <a:gd name="T0" fmla="*/ 2147483647 w 2590"/>
                <a:gd name="T1" fmla="*/ 2147483647 h 421"/>
                <a:gd name="T2" fmla="*/ 2147483647 w 2590"/>
                <a:gd name="T3" fmla="*/ 2147483647 h 421"/>
                <a:gd name="T4" fmla="*/ 2147483647 w 2590"/>
                <a:gd name="T5" fmla="*/ 0 h 421"/>
                <a:gd name="T6" fmla="*/ 0 60000 65536"/>
                <a:gd name="T7" fmla="*/ 0 60000 65536"/>
                <a:gd name="T8" fmla="*/ 0 60000 65536"/>
                <a:gd name="T9" fmla="*/ 0 w 2590"/>
                <a:gd name="T10" fmla="*/ 0 h 421"/>
                <a:gd name="T11" fmla="*/ 2590 w 2590"/>
                <a:gd name="T12" fmla="*/ 421 h 4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90" h="421">
                  <a:moveTo>
                    <a:pt x="21" y="421"/>
                  </a:moveTo>
                  <a:cubicBezTo>
                    <a:pt x="89" y="374"/>
                    <a:pt x="0" y="211"/>
                    <a:pt x="428" y="141"/>
                  </a:cubicBezTo>
                  <a:cubicBezTo>
                    <a:pt x="758" y="59"/>
                    <a:pt x="2140" y="30"/>
                    <a:pt x="2590" y="0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Line 59"/>
            <p:cNvSpPr>
              <a:spLocks noChangeShapeType="1"/>
            </p:cNvSpPr>
            <p:nvPr/>
          </p:nvSpPr>
          <p:spPr bwMode="auto">
            <a:xfrm>
              <a:off x="777039" y="3751456"/>
              <a:ext cx="71438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8" name="Line 60"/>
            <p:cNvSpPr>
              <a:spLocks noChangeShapeType="1"/>
            </p:cNvSpPr>
            <p:nvPr/>
          </p:nvSpPr>
          <p:spPr bwMode="auto">
            <a:xfrm>
              <a:off x="777039" y="2095695"/>
              <a:ext cx="71438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Line 61"/>
            <p:cNvSpPr>
              <a:spLocks noChangeShapeType="1"/>
            </p:cNvSpPr>
            <p:nvPr/>
          </p:nvSpPr>
          <p:spPr bwMode="auto">
            <a:xfrm>
              <a:off x="777039" y="2670370"/>
              <a:ext cx="71438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0" name="Line 62"/>
            <p:cNvSpPr>
              <a:spLocks noChangeShapeType="1"/>
            </p:cNvSpPr>
            <p:nvPr/>
          </p:nvSpPr>
          <p:spPr bwMode="auto">
            <a:xfrm>
              <a:off x="777039" y="3246632"/>
              <a:ext cx="71438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81" name="Group 72"/>
            <p:cNvGrpSpPr>
              <a:grpSpLocks/>
            </p:cNvGrpSpPr>
            <p:nvPr/>
          </p:nvGrpSpPr>
          <p:grpSpPr bwMode="auto">
            <a:xfrm>
              <a:off x="2265363" y="4249738"/>
              <a:ext cx="1512887" cy="71437"/>
              <a:chOff x="1791" y="2840"/>
              <a:chExt cx="953" cy="45"/>
            </a:xfrm>
          </p:grpSpPr>
          <p:sp>
            <p:nvSpPr>
              <p:cNvPr id="82" name="Line 63"/>
              <p:cNvSpPr>
                <a:spLocks noChangeShapeType="1"/>
              </p:cNvSpPr>
              <p:nvPr/>
            </p:nvSpPr>
            <p:spPr bwMode="auto">
              <a:xfrm rot="-5400000">
                <a:off x="1768" y="2863"/>
                <a:ext cx="45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3" name="Line 65"/>
              <p:cNvSpPr>
                <a:spLocks noChangeShapeType="1"/>
              </p:cNvSpPr>
              <p:nvPr/>
            </p:nvSpPr>
            <p:spPr bwMode="auto">
              <a:xfrm rot="-5400000">
                <a:off x="2721" y="2863"/>
                <a:ext cx="45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84" name="Text Box 66"/>
            <p:cNvSpPr txBox="1">
              <a:spLocks noChangeArrowheads="1"/>
            </p:cNvSpPr>
            <p:nvPr/>
          </p:nvSpPr>
          <p:spPr bwMode="auto">
            <a:xfrm>
              <a:off x="2049462" y="4293612"/>
              <a:ext cx="432507" cy="384451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10</a:t>
              </a:r>
            </a:p>
          </p:txBody>
        </p:sp>
        <p:sp>
          <p:nvSpPr>
            <p:cNvPr id="85" name="Text Box 67"/>
            <p:cNvSpPr txBox="1">
              <a:spLocks noChangeArrowheads="1"/>
            </p:cNvSpPr>
            <p:nvPr/>
          </p:nvSpPr>
          <p:spPr bwMode="auto">
            <a:xfrm>
              <a:off x="3562350" y="4290229"/>
              <a:ext cx="432507" cy="384451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20</a:t>
              </a:r>
            </a:p>
          </p:txBody>
        </p:sp>
        <p:sp>
          <p:nvSpPr>
            <p:cNvPr id="86" name="Text Box 68"/>
            <p:cNvSpPr txBox="1">
              <a:spLocks noChangeArrowheads="1"/>
            </p:cNvSpPr>
            <p:nvPr/>
          </p:nvSpPr>
          <p:spPr bwMode="auto">
            <a:xfrm>
              <a:off x="524628" y="3535558"/>
              <a:ext cx="253960" cy="384451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87" name="Text Box 69"/>
            <p:cNvSpPr txBox="1">
              <a:spLocks noChangeArrowheads="1"/>
            </p:cNvSpPr>
            <p:nvPr/>
          </p:nvSpPr>
          <p:spPr bwMode="auto">
            <a:xfrm>
              <a:off x="524628" y="3030732"/>
              <a:ext cx="231564" cy="384451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88" name="Text Box 70"/>
            <p:cNvSpPr txBox="1">
              <a:spLocks noChangeArrowheads="1"/>
            </p:cNvSpPr>
            <p:nvPr/>
          </p:nvSpPr>
          <p:spPr bwMode="auto">
            <a:xfrm>
              <a:off x="491034" y="2465668"/>
              <a:ext cx="242763" cy="384451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89" name="Text Box 71"/>
            <p:cNvSpPr txBox="1">
              <a:spLocks noChangeArrowheads="1"/>
            </p:cNvSpPr>
            <p:nvPr/>
          </p:nvSpPr>
          <p:spPr bwMode="auto">
            <a:xfrm>
              <a:off x="524628" y="1879795"/>
              <a:ext cx="265159" cy="384451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90" name="Line 73"/>
            <p:cNvSpPr>
              <a:spLocks noChangeShapeType="1"/>
            </p:cNvSpPr>
            <p:nvPr/>
          </p:nvSpPr>
          <p:spPr bwMode="auto">
            <a:xfrm flipH="1">
              <a:off x="825501" y="1647497"/>
              <a:ext cx="453499" cy="26752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Dot"/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Rectangle 75"/>
            <p:cNvSpPr>
              <a:spLocks noChangeArrowheads="1"/>
            </p:cNvSpPr>
            <p:nvPr/>
          </p:nvSpPr>
          <p:spPr bwMode="auto">
            <a:xfrm>
              <a:off x="830205" y="1118491"/>
              <a:ext cx="1018194" cy="416489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000" b="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/ </a:t>
              </a:r>
              <a:r>
                <a:rPr lang="en-US" altLang="zh-CN" sz="2000" dirty="0" err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mA</a:t>
              </a:r>
              <a:endPara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Line 77"/>
            <p:cNvSpPr>
              <a:spLocks noChangeShapeType="1"/>
            </p:cNvSpPr>
            <p:nvPr/>
          </p:nvSpPr>
          <p:spPr bwMode="auto">
            <a:xfrm>
              <a:off x="754063" y="4322763"/>
              <a:ext cx="47529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93" name="Group 82"/>
            <p:cNvGrpSpPr>
              <a:grpSpLocks/>
            </p:cNvGrpSpPr>
            <p:nvPr/>
          </p:nvGrpSpPr>
          <p:grpSpPr bwMode="auto">
            <a:xfrm>
              <a:off x="3684586" y="2362202"/>
              <a:ext cx="1530349" cy="500063"/>
              <a:chOff x="3047" y="1379"/>
              <a:chExt cx="964" cy="315"/>
            </a:xfrm>
          </p:grpSpPr>
          <p:sp>
            <p:nvSpPr>
              <p:cNvPr id="94" name="Rectangle 80"/>
              <p:cNvSpPr>
                <a:spLocks noChangeArrowheads="1"/>
              </p:cNvSpPr>
              <p:nvPr/>
            </p:nvSpPr>
            <p:spPr bwMode="auto">
              <a:xfrm>
                <a:off x="3047" y="1379"/>
                <a:ext cx="440" cy="303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 type="none" w="sm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aseline="-25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GS</a:t>
                </a:r>
              </a:p>
            </p:txBody>
          </p:sp>
          <p:sp>
            <p:nvSpPr>
              <p:cNvPr id="95" name="Text Box 81"/>
              <p:cNvSpPr txBox="1">
                <a:spLocks noChangeArrowheads="1"/>
              </p:cNvSpPr>
              <p:nvPr/>
            </p:nvSpPr>
            <p:spPr bwMode="auto">
              <a:xfrm>
                <a:off x="3352" y="1391"/>
                <a:ext cx="659" cy="303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 type="none" w="sm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 =  0 </a:t>
                </a:r>
                <a:r>
                  <a:rPr lang="en-US" altLang="zh-CN" sz="2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V</a:t>
                </a:r>
              </a:p>
            </p:txBody>
          </p:sp>
        </p:grpSp>
        <p:grpSp>
          <p:nvGrpSpPr>
            <p:cNvPr id="96" name="Group 83"/>
            <p:cNvGrpSpPr>
              <a:grpSpLocks/>
            </p:cNvGrpSpPr>
            <p:nvPr/>
          </p:nvGrpSpPr>
          <p:grpSpPr bwMode="auto">
            <a:xfrm>
              <a:off x="3706813" y="3025777"/>
              <a:ext cx="1557337" cy="500063"/>
              <a:chOff x="3061" y="1344"/>
              <a:chExt cx="981" cy="315"/>
            </a:xfrm>
          </p:grpSpPr>
          <p:sp>
            <p:nvSpPr>
              <p:cNvPr id="97" name="Rectangle 84"/>
              <p:cNvSpPr>
                <a:spLocks noChangeArrowheads="1"/>
              </p:cNvSpPr>
              <p:nvPr/>
            </p:nvSpPr>
            <p:spPr bwMode="auto">
              <a:xfrm>
                <a:off x="3061" y="1344"/>
                <a:ext cx="440" cy="303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 type="none" w="sm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aseline="-250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GS</a:t>
                </a:r>
              </a:p>
            </p:txBody>
          </p:sp>
          <p:sp>
            <p:nvSpPr>
              <p:cNvPr id="98" name="Text Box 85"/>
              <p:cNvSpPr txBox="1">
                <a:spLocks noChangeArrowheads="1"/>
              </p:cNvSpPr>
              <p:nvPr/>
            </p:nvSpPr>
            <p:spPr bwMode="auto">
              <a:xfrm>
                <a:off x="3366" y="1356"/>
                <a:ext cx="676" cy="303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 type="none" w="sm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 = -1 </a:t>
                </a:r>
                <a:r>
                  <a:rPr lang="en-US" altLang="zh-CN" sz="20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V</a:t>
                </a:r>
              </a:p>
            </p:txBody>
          </p:sp>
        </p:grpSp>
        <p:grpSp>
          <p:nvGrpSpPr>
            <p:cNvPr id="99" name="Group 86"/>
            <p:cNvGrpSpPr>
              <a:grpSpLocks/>
            </p:cNvGrpSpPr>
            <p:nvPr/>
          </p:nvGrpSpPr>
          <p:grpSpPr bwMode="auto">
            <a:xfrm>
              <a:off x="3706813" y="3602040"/>
              <a:ext cx="1557337" cy="500063"/>
              <a:chOff x="3061" y="1344"/>
              <a:chExt cx="981" cy="315"/>
            </a:xfrm>
          </p:grpSpPr>
          <p:sp>
            <p:nvSpPr>
              <p:cNvPr id="100" name="Rectangle 87"/>
              <p:cNvSpPr>
                <a:spLocks noChangeArrowheads="1"/>
              </p:cNvSpPr>
              <p:nvPr/>
            </p:nvSpPr>
            <p:spPr bwMode="auto">
              <a:xfrm>
                <a:off x="3061" y="1344"/>
                <a:ext cx="440" cy="303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 type="none" w="sm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i="1" baseline="-25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G</a:t>
                </a:r>
                <a:r>
                  <a:rPr lang="en-US" altLang="zh-CN" sz="2400" baseline="-25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S</a:t>
                </a:r>
              </a:p>
            </p:txBody>
          </p:sp>
          <p:sp>
            <p:nvSpPr>
              <p:cNvPr id="101" name="Text Box 88"/>
              <p:cNvSpPr txBox="1">
                <a:spLocks noChangeArrowheads="1"/>
              </p:cNvSpPr>
              <p:nvPr/>
            </p:nvSpPr>
            <p:spPr bwMode="auto">
              <a:xfrm>
                <a:off x="3366" y="1356"/>
                <a:ext cx="676" cy="303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 type="none" w="sm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 = -2 </a:t>
                </a:r>
                <a:r>
                  <a:rPr lang="en-US" altLang="zh-CN" sz="20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V</a:t>
                </a:r>
              </a:p>
            </p:txBody>
          </p:sp>
        </p:grpSp>
        <p:grpSp>
          <p:nvGrpSpPr>
            <p:cNvPr id="102" name="Group 89"/>
            <p:cNvGrpSpPr>
              <a:grpSpLocks/>
            </p:cNvGrpSpPr>
            <p:nvPr/>
          </p:nvGrpSpPr>
          <p:grpSpPr bwMode="auto">
            <a:xfrm>
              <a:off x="3717923" y="1558927"/>
              <a:ext cx="1530349" cy="500063"/>
              <a:chOff x="3068" y="1372"/>
              <a:chExt cx="964" cy="315"/>
            </a:xfrm>
          </p:grpSpPr>
          <p:sp>
            <p:nvSpPr>
              <p:cNvPr id="103" name="Rectangle 90"/>
              <p:cNvSpPr>
                <a:spLocks noChangeArrowheads="1"/>
              </p:cNvSpPr>
              <p:nvPr/>
            </p:nvSpPr>
            <p:spPr bwMode="auto">
              <a:xfrm>
                <a:off x="3068" y="1372"/>
                <a:ext cx="440" cy="303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 type="none" w="sm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aseline="-25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GS</a:t>
                </a:r>
              </a:p>
            </p:txBody>
          </p:sp>
          <p:sp>
            <p:nvSpPr>
              <p:cNvPr id="104" name="Text Box 91"/>
              <p:cNvSpPr txBox="1">
                <a:spLocks noChangeArrowheads="1"/>
              </p:cNvSpPr>
              <p:nvPr/>
            </p:nvSpPr>
            <p:spPr bwMode="auto">
              <a:xfrm>
                <a:off x="3373" y="1384"/>
                <a:ext cx="659" cy="303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 type="none" w="sm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 =  1 </a:t>
                </a:r>
                <a:r>
                  <a:rPr lang="en-US" altLang="zh-CN" sz="20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V</a:t>
                </a:r>
              </a:p>
            </p:txBody>
          </p:sp>
        </p:grpSp>
        <p:grpSp>
          <p:nvGrpSpPr>
            <p:cNvPr id="105" name="Group 92"/>
            <p:cNvGrpSpPr>
              <a:grpSpLocks/>
            </p:cNvGrpSpPr>
            <p:nvPr/>
          </p:nvGrpSpPr>
          <p:grpSpPr bwMode="auto">
            <a:xfrm>
              <a:off x="1882579" y="1171134"/>
              <a:ext cx="1800225" cy="481277"/>
              <a:chOff x="4121" y="731"/>
              <a:chExt cx="1296" cy="321"/>
            </a:xfrm>
          </p:grpSpPr>
          <p:sp>
            <p:nvSpPr>
              <p:cNvPr id="106" name="AutoShape 93"/>
              <p:cNvSpPr>
                <a:spLocks noChangeArrowheads="1"/>
              </p:cNvSpPr>
              <p:nvPr/>
            </p:nvSpPr>
            <p:spPr bwMode="auto">
              <a:xfrm>
                <a:off x="4153" y="765"/>
                <a:ext cx="1248" cy="275"/>
              </a:xfrm>
              <a:prstGeom prst="wedgeRoundRectCallout">
                <a:avLst>
                  <a:gd name="adj1" fmla="val -103190"/>
                  <a:gd name="adj2" fmla="val 124242"/>
                  <a:gd name="adj3" fmla="val 16667"/>
                </a:avLst>
              </a:prstGeom>
              <a:gradFill rotWithShape="0">
                <a:gsLst>
                  <a:gs pos="0">
                    <a:srgbClr val="F5DF8D"/>
                  </a:gs>
                  <a:gs pos="100000">
                    <a:srgbClr val="716741"/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zh-CN" altLang="zh-CN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7" name="Text Box 94"/>
              <p:cNvSpPr txBox="1">
                <a:spLocks noChangeArrowheads="1"/>
              </p:cNvSpPr>
              <p:nvPr/>
            </p:nvSpPr>
            <p:spPr bwMode="auto">
              <a:xfrm>
                <a:off x="4121" y="731"/>
                <a:ext cx="1296" cy="32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可变电阻区</a:t>
                </a:r>
              </a:p>
            </p:txBody>
          </p:sp>
        </p:grpSp>
        <p:grpSp>
          <p:nvGrpSpPr>
            <p:cNvPr id="108" name="Group 98"/>
            <p:cNvGrpSpPr>
              <a:grpSpLocks/>
            </p:cNvGrpSpPr>
            <p:nvPr/>
          </p:nvGrpSpPr>
          <p:grpSpPr bwMode="auto">
            <a:xfrm>
              <a:off x="1828805" y="2587629"/>
              <a:ext cx="1830388" cy="493713"/>
              <a:chOff x="4124" y="2474"/>
              <a:chExt cx="1153" cy="311"/>
            </a:xfrm>
          </p:grpSpPr>
          <p:sp>
            <p:nvSpPr>
              <p:cNvPr id="109" name="AutoShape 96"/>
              <p:cNvSpPr>
                <a:spLocks noChangeArrowheads="1"/>
              </p:cNvSpPr>
              <p:nvPr/>
            </p:nvSpPr>
            <p:spPr bwMode="auto">
              <a:xfrm>
                <a:off x="4142" y="2474"/>
                <a:ext cx="1134" cy="306"/>
              </a:xfrm>
              <a:prstGeom prst="wedgeRoundRectCallout">
                <a:avLst>
                  <a:gd name="adj1" fmla="val -24790"/>
                  <a:gd name="adj2" fmla="val -49783"/>
                  <a:gd name="adj3" fmla="val 16667"/>
                </a:avLst>
              </a:prstGeom>
              <a:gradFill rotWithShape="0">
                <a:gsLst>
                  <a:gs pos="0">
                    <a:srgbClr val="5D483F"/>
                  </a:gs>
                  <a:gs pos="50000">
                    <a:srgbClr val="FDC4AB"/>
                  </a:gs>
                  <a:gs pos="100000">
                    <a:srgbClr val="5D483F"/>
                  </a:gs>
                </a:gsLst>
                <a:lin ang="18900000" scaled="1"/>
              </a:gradFill>
              <a:ln w="3810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zh-CN" altLang="zh-CN" sz="2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0" name="Text Box 97"/>
              <p:cNvSpPr txBox="1">
                <a:spLocks noChangeArrowheads="1"/>
              </p:cNvSpPr>
              <p:nvPr/>
            </p:nvSpPr>
            <p:spPr bwMode="auto">
              <a:xfrm>
                <a:off x="4124" y="2482"/>
                <a:ext cx="1153" cy="303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dirty="0" smtClean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线性</a:t>
                </a:r>
                <a:r>
                  <a:rPr lang="zh-CN" altLang="en-US" sz="2400" dirty="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放大区</a:t>
                </a:r>
              </a:p>
            </p:txBody>
          </p:sp>
        </p:grpSp>
      </p:grpSp>
      <p:grpSp>
        <p:nvGrpSpPr>
          <p:cNvPr id="112" name="Group 132"/>
          <p:cNvGrpSpPr>
            <a:grpSpLocks noChangeAspect="1"/>
          </p:cNvGrpSpPr>
          <p:nvPr/>
        </p:nvGrpSpPr>
        <p:grpSpPr bwMode="auto">
          <a:xfrm>
            <a:off x="5710218" y="989705"/>
            <a:ext cx="3125038" cy="3334404"/>
            <a:chOff x="3696" y="1026"/>
            <a:chExt cx="2224" cy="2373"/>
          </a:xfrm>
        </p:grpSpPr>
        <p:sp>
          <p:nvSpPr>
            <p:cNvPr id="113" name="Line 101"/>
            <p:cNvSpPr>
              <a:spLocks noChangeShapeType="1"/>
            </p:cNvSpPr>
            <p:nvPr/>
          </p:nvSpPr>
          <p:spPr bwMode="auto">
            <a:xfrm flipV="1">
              <a:off x="5103" y="1026"/>
              <a:ext cx="0" cy="20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4" name="Freeform 102"/>
            <p:cNvSpPr>
              <a:spLocks/>
            </p:cNvSpPr>
            <p:nvPr/>
          </p:nvSpPr>
          <p:spPr bwMode="auto">
            <a:xfrm>
              <a:off x="3878" y="1616"/>
              <a:ext cx="1315" cy="1497"/>
            </a:xfrm>
            <a:custGeom>
              <a:avLst/>
              <a:gdLst>
                <a:gd name="T0" fmla="*/ 8156 w 528"/>
                <a:gd name="T1" fmla="*/ 0 h 1496"/>
                <a:gd name="T2" fmla="*/ 5193 w 528"/>
                <a:gd name="T3" fmla="*/ 1251 h 1496"/>
                <a:gd name="T4" fmla="*/ 0 w 528"/>
                <a:gd name="T5" fmla="*/ 1491 h 1496"/>
                <a:gd name="T6" fmla="*/ 0 60000 65536"/>
                <a:gd name="T7" fmla="*/ 0 60000 65536"/>
                <a:gd name="T8" fmla="*/ 0 60000 65536"/>
                <a:gd name="T9" fmla="*/ 0 w 528"/>
                <a:gd name="T10" fmla="*/ 0 h 1496"/>
                <a:gd name="T11" fmla="*/ 528 w 528"/>
                <a:gd name="T12" fmla="*/ 1496 h 14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1496">
                  <a:moveTo>
                    <a:pt x="528" y="0"/>
                  </a:moveTo>
                  <a:cubicBezTo>
                    <a:pt x="476" y="500"/>
                    <a:pt x="424" y="1000"/>
                    <a:pt x="336" y="1248"/>
                  </a:cubicBezTo>
                  <a:cubicBezTo>
                    <a:pt x="248" y="1496"/>
                    <a:pt x="56" y="1448"/>
                    <a:pt x="0" y="1488"/>
                  </a:cubicBezTo>
                </a:path>
              </a:pathLst>
            </a:custGeom>
            <a:noFill/>
            <a:ln w="47625">
              <a:solidFill>
                <a:srgbClr val="FD8B35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5" name="Line 104"/>
            <p:cNvSpPr>
              <a:spLocks noChangeShapeType="1"/>
            </p:cNvSpPr>
            <p:nvPr/>
          </p:nvSpPr>
          <p:spPr bwMode="auto">
            <a:xfrm>
              <a:off x="5057" y="2659"/>
              <a:ext cx="4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6" name="Text Box 106"/>
            <p:cNvSpPr txBox="1">
              <a:spLocks noChangeArrowheads="1"/>
            </p:cNvSpPr>
            <p:nvPr/>
          </p:nvSpPr>
          <p:spPr bwMode="auto">
            <a:xfrm>
              <a:off x="4604" y="1026"/>
              <a:ext cx="662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/</a:t>
              </a:r>
              <a:r>
                <a:rPr lang="en-US" altLang="zh-CN" sz="1800" dirty="0" err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mA</a:t>
              </a:r>
              <a:endParaRPr lang="en-US" altLang="zh-CN" sz="1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7" name="Line 113"/>
            <p:cNvSpPr>
              <a:spLocks noChangeShapeType="1"/>
            </p:cNvSpPr>
            <p:nvPr/>
          </p:nvSpPr>
          <p:spPr bwMode="auto">
            <a:xfrm>
              <a:off x="3696" y="3120"/>
              <a:ext cx="19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8" name="Line 114"/>
            <p:cNvSpPr>
              <a:spLocks noChangeShapeType="1"/>
            </p:cNvSpPr>
            <p:nvPr/>
          </p:nvSpPr>
          <p:spPr bwMode="auto">
            <a:xfrm>
              <a:off x="4785" y="3067"/>
              <a:ext cx="0" cy="5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9" name="Line 116"/>
            <p:cNvSpPr>
              <a:spLocks noChangeShapeType="1"/>
            </p:cNvSpPr>
            <p:nvPr/>
          </p:nvSpPr>
          <p:spPr bwMode="auto">
            <a:xfrm>
              <a:off x="4422" y="3067"/>
              <a:ext cx="3" cy="5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0" name="Text Box 118"/>
            <p:cNvSpPr txBox="1">
              <a:spLocks noChangeArrowheads="1"/>
            </p:cNvSpPr>
            <p:nvPr/>
          </p:nvSpPr>
          <p:spPr bwMode="auto">
            <a:xfrm>
              <a:off x="5012" y="3113"/>
              <a:ext cx="258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21" name="Text Box 120"/>
            <p:cNvSpPr txBox="1">
              <a:spLocks noChangeArrowheads="1"/>
            </p:cNvSpPr>
            <p:nvPr/>
          </p:nvSpPr>
          <p:spPr bwMode="auto">
            <a:xfrm>
              <a:off x="5284" y="3113"/>
              <a:ext cx="636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18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GS</a:t>
              </a:r>
              <a:r>
                <a:rPr lang="en-US" altLang="zh-CN" sz="1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/V</a:t>
              </a:r>
            </a:p>
          </p:txBody>
        </p:sp>
        <p:sp>
          <p:nvSpPr>
            <p:cNvPr id="122" name="Line 121"/>
            <p:cNvSpPr>
              <a:spLocks noChangeShapeType="1"/>
            </p:cNvSpPr>
            <p:nvPr/>
          </p:nvSpPr>
          <p:spPr bwMode="auto">
            <a:xfrm>
              <a:off x="5057" y="2251"/>
              <a:ext cx="4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3" name="Line 122"/>
            <p:cNvSpPr>
              <a:spLocks noChangeShapeType="1"/>
            </p:cNvSpPr>
            <p:nvPr/>
          </p:nvSpPr>
          <p:spPr bwMode="auto">
            <a:xfrm>
              <a:off x="5057" y="1888"/>
              <a:ext cx="4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4" name="Line 123"/>
            <p:cNvSpPr>
              <a:spLocks noChangeShapeType="1"/>
            </p:cNvSpPr>
            <p:nvPr/>
          </p:nvSpPr>
          <p:spPr bwMode="auto">
            <a:xfrm>
              <a:off x="5057" y="1525"/>
              <a:ext cx="4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5" name="Text Box 124"/>
            <p:cNvSpPr txBox="1">
              <a:spLocks noChangeArrowheads="1"/>
            </p:cNvSpPr>
            <p:nvPr/>
          </p:nvSpPr>
          <p:spPr bwMode="auto">
            <a:xfrm>
              <a:off x="4611" y="2983"/>
              <a:ext cx="311" cy="416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-</a:t>
              </a:r>
              <a:r>
                <a:rPr lang="en-US" altLang="zh-CN" sz="1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26" name="Text Box 125"/>
            <p:cNvSpPr txBox="1">
              <a:spLocks noChangeArrowheads="1"/>
            </p:cNvSpPr>
            <p:nvPr/>
          </p:nvSpPr>
          <p:spPr bwMode="auto">
            <a:xfrm>
              <a:off x="5103" y="2523"/>
              <a:ext cx="214" cy="263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1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27" name="Text Box 126"/>
            <p:cNvSpPr txBox="1">
              <a:spLocks noChangeArrowheads="1"/>
            </p:cNvSpPr>
            <p:nvPr/>
          </p:nvSpPr>
          <p:spPr bwMode="auto">
            <a:xfrm>
              <a:off x="5103" y="2115"/>
              <a:ext cx="214" cy="263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18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grpSp>
          <p:nvGrpSpPr>
            <p:cNvPr id="128" name="Group 127"/>
            <p:cNvGrpSpPr>
              <a:grpSpLocks/>
            </p:cNvGrpSpPr>
            <p:nvPr/>
          </p:nvGrpSpPr>
          <p:grpSpPr bwMode="auto">
            <a:xfrm>
              <a:off x="3923" y="1570"/>
              <a:ext cx="1130" cy="341"/>
              <a:chOff x="3061" y="1344"/>
              <a:chExt cx="1130" cy="341"/>
            </a:xfrm>
          </p:grpSpPr>
          <p:sp>
            <p:nvSpPr>
              <p:cNvPr id="131" name="Rectangle 128"/>
              <p:cNvSpPr>
                <a:spLocks noChangeArrowheads="1"/>
              </p:cNvSpPr>
              <p:nvPr/>
            </p:nvSpPr>
            <p:spPr bwMode="auto">
              <a:xfrm>
                <a:off x="3061" y="1344"/>
                <a:ext cx="477" cy="329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 type="none" w="sm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aseline="-250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DS</a:t>
                </a:r>
              </a:p>
            </p:txBody>
          </p:sp>
          <p:sp>
            <p:nvSpPr>
              <p:cNvPr id="132" name="Text Box 129"/>
              <p:cNvSpPr txBox="1">
                <a:spLocks noChangeArrowheads="1"/>
              </p:cNvSpPr>
              <p:nvPr/>
            </p:nvSpPr>
            <p:spPr bwMode="auto">
              <a:xfrm>
                <a:off x="3366" y="1356"/>
                <a:ext cx="825" cy="329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 type="none" w="sm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 =  10 </a:t>
                </a:r>
                <a:r>
                  <a:rPr lang="en-US" altLang="zh-CN" sz="2000">
                    <a:solidFill>
                      <a:schemeClr val="tx1"/>
                    </a:solidFill>
                    <a:ea typeface="华文中宋" pitchFamily="2" charset="-122"/>
                    <a:cs typeface="Times New Roman" pitchFamily="18" charset="0"/>
                  </a:rPr>
                  <a:t>V</a:t>
                </a:r>
              </a:p>
            </p:txBody>
          </p:sp>
        </p:grpSp>
        <p:sp>
          <p:nvSpPr>
            <p:cNvPr id="129" name="Rectangle 130"/>
            <p:cNvSpPr>
              <a:spLocks noChangeArrowheads="1"/>
            </p:cNvSpPr>
            <p:nvPr/>
          </p:nvSpPr>
          <p:spPr bwMode="auto">
            <a:xfrm>
              <a:off x="5193" y="1797"/>
              <a:ext cx="414" cy="285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DSS</a:t>
              </a:r>
              <a:endParaRPr lang="en-US" altLang="zh-CN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0" name="Oval 131"/>
            <p:cNvSpPr>
              <a:spLocks noChangeArrowheads="1"/>
            </p:cNvSpPr>
            <p:nvPr/>
          </p:nvSpPr>
          <p:spPr bwMode="auto">
            <a:xfrm>
              <a:off x="5080" y="1933"/>
              <a:ext cx="48" cy="4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6" name="Text Box 124"/>
            <p:cNvSpPr txBox="1">
              <a:spLocks noChangeArrowheads="1"/>
            </p:cNvSpPr>
            <p:nvPr/>
          </p:nvSpPr>
          <p:spPr bwMode="auto">
            <a:xfrm>
              <a:off x="4269" y="2983"/>
              <a:ext cx="311" cy="416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-</a:t>
              </a:r>
              <a:r>
                <a:rPr lang="en-US" altLang="zh-CN" sz="1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33" name="Text Box 133"/>
          <p:cNvSpPr txBox="1">
            <a:spLocks noChangeArrowheads="1"/>
          </p:cNvSpPr>
          <p:nvPr/>
        </p:nvSpPr>
        <p:spPr bwMode="auto">
          <a:xfrm>
            <a:off x="1166429" y="129299"/>
            <a:ext cx="1816100" cy="579438"/>
          </a:xfrm>
          <a:prstGeom prst="rect">
            <a:avLst/>
          </a:prstGeom>
          <a:noFill/>
          <a:ln w="34925" algn="ctr">
            <a:noFill/>
            <a:miter lim="800000"/>
            <a:headEnd/>
            <a:tailEnd type="none" w="sm" len="lg"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输出特性</a:t>
            </a:r>
          </a:p>
        </p:txBody>
      </p:sp>
      <p:sp>
        <p:nvSpPr>
          <p:cNvPr id="134" name="Text Box 134"/>
          <p:cNvSpPr txBox="1">
            <a:spLocks noChangeArrowheads="1"/>
          </p:cNvSpPr>
          <p:nvPr/>
        </p:nvSpPr>
        <p:spPr bwMode="auto">
          <a:xfrm>
            <a:off x="5969821" y="136634"/>
            <a:ext cx="1816100" cy="579438"/>
          </a:xfrm>
          <a:prstGeom prst="rect">
            <a:avLst/>
          </a:prstGeom>
          <a:noFill/>
          <a:ln w="34925" algn="ctr">
            <a:noFill/>
            <a:miter lim="800000"/>
            <a:headEnd/>
            <a:tailEnd type="none" w="sm" len="lg"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转移特性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4" descr="img200706121339341457副本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4" y="2407444"/>
            <a:ext cx="3095625" cy="222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6469" name="Rectangle 5"/>
          <p:cNvSpPr>
            <a:spLocks noChangeArrowheads="1"/>
          </p:cNvSpPr>
          <p:nvPr/>
        </p:nvSpPr>
        <p:spPr bwMode="auto">
          <a:xfrm>
            <a:off x="2700339" y="1491854"/>
            <a:ext cx="32400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结    束</a:t>
            </a:r>
            <a:r>
              <a:rPr lang="zh-CN" altLang="en-US" sz="3600" dirty="0" smtClean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1824329971"/>
      </p:ext>
    </p:extLst>
  </p:cSld>
  <p:clrMapOvr>
    <a:masterClrMapping/>
  </p:clrMapOvr>
  <p:transition spd="slow">
    <p:diamond/>
    <p:sndAc>
      <p:stSnd>
        <p:snd r:embed="rId2" name="结束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22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349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18212</TotalTime>
  <Words>1618</Words>
  <Application>Microsoft PowerPoint</Application>
  <PresentationFormat>全屏显示(16:9)</PresentationFormat>
  <Paragraphs>552</Paragraphs>
  <Slides>40</Slides>
  <Notes>8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43" baseType="lpstr">
      <vt:lpstr>Office 主题</vt:lpstr>
      <vt:lpstr>CorelDRAW</vt:lpstr>
      <vt:lpstr>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2)  光电耦合器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增强型MOS场效应管在放大区的转移特性</vt:lpstr>
      <vt:lpstr>幻灯片 35</vt:lpstr>
      <vt:lpstr>幻灯片 36</vt:lpstr>
      <vt:lpstr>幻灯片 37</vt:lpstr>
      <vt:lpstr>幻灯片 38</vt:lpstr>
      <vt:lpstr>幻灯片 39</vt:lpstr>
      <vt:lpstr>幻灯片 40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晶体三极管和场效应管</dc:title>
  <dc:subject/>
  <dc:creator>wgz</dc:creator>
  <cp:lastModifiedBy>Administrator</cp:lastModifiedBy>
  <cp:revision>1530</cp:revision>
  <cp:lastPrinted>1997-11-23T03:25:00Z</cp:lastPrinted>
  <dcterms:created xsi:type="dcterms:W3CDTF">1995-06-17T23:31:02Z</dcterms:created>
  <dcterms:modified xsi:type="dcterms:W3CDTF">2017-08-26T13:29:25Z</dcterms:modified>
</cp:coreProperties>
</file>