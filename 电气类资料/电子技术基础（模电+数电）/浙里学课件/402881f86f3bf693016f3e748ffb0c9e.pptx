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96" r:id="rId3"/>
    <p:sldId id="414" r:id="rId4"/>
    <p:sldId id="416" r:id="rId5"/>
    <p:sldId id="446" r:id="rId6"/>
    <p:sldId id="417" r:id="rId7"/>
    <p:sldId id="447" r:id="rId8"/>
    <p:sldId id="418" r:id="rId9"/>
    <p:sldId id="419" r:id="rId10"/>
    <p:sldId id="420" r:id="rId11"/>
    <p:sldId id="421" r:id="rId12"/>
    <p:sldId id="422" r:id="rId13"/>
    <p:sldId id="448" r:id="rId14"/>
    <p:sldId id="449" r:id="rId15"/>
    <p:sldId id="423" r:id="rId16"/>
    <p:sldId id="424" r:id="rId17"/>
    <p:sldId id="450" r:id="rId18"/>
    <p:sldId id="425" r:id="rId19"/>
    <p:sldId id="426" r:id="rId20"/>
    <p:sldId id="451" r:id="rId21"/>
    <p:sldId id="427" r:id="rId22"/>
    <p:sldId id="428" r:id="rId23"/>
    <p:sldId id="429" r:id="rId24"/>
    <p:sldId id="452" r:id="rId25"/>
    <p:sldId id="393" r:id="rId2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660"/>
  </p:normalViewPr>
  <p:slideViewPr>
    <p:cSldViewPr snapToGrid="0">
      <p:cViewPr varScale="1">
        <p:scale>
          <a:sx n="47" d="100"/>
          <a:sy n="47" d="100"/>
        </p:scale>
        <p:origin x="-90" y="-6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055" y="522061"/>
            <a:ext cx="6433230" cy="1709738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9.2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放大电路的分析和工作点的稳定</a:t>
            </a:r>
            <a:r>
              <a:rPr lang="zh-CN" altLang="en-US" sz="6000" b="1" dirty="0" smtClean="0">
                <a:solidFill>
                  <a:srgbClr val="FFCC66"/>
                </a:solidFill>
                <a:latin typeface="幼圆" pitchFamily="49" charset="-122"/>
                <a:ea typeface="幼圆" pitchFamily="49" charset="-122"/>
              </a:rPr>
              <a:t/>
            </a:r>
            <a:br>
              <a:rPr lang="zh-CN" altLang="en-US" sz="6000" b="1" dirty="0" smtClean="0">
                <a:solidFill>
                  <a:srgbClr val="FFCC66"/>
                </a:solidFill>
                <a:latin typeface="幼圆" pitchFamily="49" charset="-122"/>
                <a:ea typeface="幼圆" pitchFamily="49" charset="-122"/>
              </a:rPr>
            </a:br>
            <a:endParaRPr lang="zh-CN" altLang="en-US" sz="60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汉仪大隶书简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4629" y="2664574"/>
            <a:ext cx="7053942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、放大电路微变等效电路分析法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706700" y="3354910"/>
            <a:ext cx="5281930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、静态工作点的稳定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59229" y="302374"/>
            <a:ext cx="7053942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、放大电路微变等效电路分析法</a:t>
            </a:r>
          </a:p>
        </p:txBody>
      </p:sp>
      <p:sp>
        <p:nvSpPr>
          <p:cNvPr id="9" name="Text Box 69"/>
          <p:cNvSpPr txBox="1">
            <a:spLocks noChangeArrowheads="1"/>
          </p:cNvSpPr>
          <p:nvPr/>
        </p:nvSpPr>
        <p:spPr bwMode="auto">
          <a:xfrm>
            <a:off x="705985" y="935946"/>
            <a:ext cx="5161415" cy="58477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三极管的小信号模型</a:t>
            </a:r>
            <a:endParaRPr lang="zh-CN" altLang="en-US" sz="3200" b="1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347561" y="1494518"/>
            <a:ext cx="3313113" cy="2392363"/>
            <a:chOff x="1423761" y="1875518"/>
            <a:chExt cx="3313113" cy="2392363"/>
          </a:xfrm>
        </p:grpSpPr>
        <p:sp>
          <p:nvSpPr>
            <p:cNvPr id="10" name="Text Box 2"/>
            <p:cNvSpPr txBox="1">
              <a:spLocks noChangeArrowheads="1"/>
            </p:cNvSpPr>
            <p:nvPr/>
          </p:nvSpPr>
          <p:spPr bwMode="auto">
            <a:xfrm>
              <a:off x="3650118" y="2172380"/>
              <a:ext cx="36099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2" name="Group 4"/>
            <p:cNvGrpSpPr>
              <a:grpSpLocks/>
            </p:cNvGrpSpPr>
            <p:nvPr/>
          </p:nvGrpSpPr>
          <p:grpSpPr bwMode="auto">
            <a:xfrm>
              <a:off x="1423761" y="1875518"/>
              <a:ext cx="3313113" cy="2392363"/>
              <a:chOff x="120" y="413"/>
              <a:chExt cx="2087" cy="1507"/>
            </a:xfrm>
          </p:grpSpPr>
          <p:sp>
            <p:nvSpPr>
              <p:cNvPr id="14" name="Line 5"/>
              <p:cNvSpPr>
                <a:spLocks noChangeShapeType="1"/>
              </p:cNvSpPr>
              <p:nvPr/>
            </p:nvSpPr>
            <p:spPr bwMode="auto">
              <a:xfrm>
                <a:off x="912" y="864"/>
                <a:ext cx="0" cy="52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>
                <a:off x="912" y="1152"/>
                <a:ext cx="384" cy="2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stealth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 flipV="1">
                <a:off x="912" y="864"/>
                <a:ext cx="384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" name="Freeform 8"/>
              <p:cNvSpPr>
                <a:spLocks/>
              </p:cNvSpPr>
              <p:nvPr/>
            </p:nvSpPr>
            <p:spPr bwMode="auto">
              <a:xfrm>
                <a:off x="1296" y="585"/>
                <a:ext cx="576" cy="288"/>
              </a:xfrm>
              <a:custGeom>
                <a:avLst/>
                <a:gdLst>
                  <a:gd name="T0" fmla="*/ 0 w 480"/>
                  <a:gd name="T1" fmla="*/ 288 h 288"/>
                  <a:gd name="T2" fmla="*/ 0 w 480"/>
                  <a:gd name="T3" fmla="*/ 0 h 288"/>
                  <a:gd name="T4" fmla="*/ 995 w 480"/>
                  <a:gd name="T5" fmla="*/ 0 h 2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288"/>
                  <a:gd name="T11" fmla="*/ 480 w 480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288">
                    <a:moveTo>
                      <a:pt x="0" y="288"/>
                    </a:moveTo>
                    <a:lnTo>
                      <a:pt x="0" y="0"/>
                    </a:lnTo>
                    <a:lnTo>
                      <a:pt x="48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" name="Line 9"/>
              <p:cNvSpPr>
                <a:spLocks noChangeShapeType="1"/>
              </p:cNvSpPr>
              <p:nvPr/>
            </p:nvSpPr>
            <p:spPr bwMode="auto">
              <a:xfrm flipH="1">
                <a:off x="432" y="1104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" name="Line 10"/>
              <p:cNvSpPr>
                <a:spLocks noChangeShapeType="1"/>
              </p:cNvSpPr>
              <p:nvPr/>
            </p:nvSpPr>
            <p:spPr bwMode="auto">
              <a:xfrm>
                <a:off x="430" y="1814"/>
                <a:ext cx="14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" name="Line 11"/>
              <p:cNvSpPr>
                <a:spLocks noChangeShapeType="1"/>
              </p:cNvSpPr>
              <p:nvPr/>
            </p:nvSpPr>
            <p:spPr bwMode="auto">
              <a:xfrm>
                <a:off x="1257" y="177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1" name="Line 12"/>
              <p:cNvSpPr>
                <a:spLocks noChangeShapeType="1"/>
              </p:cNvSpPr>
              <p:nvPr/>
            </p:nvSpPr>
            <p:spPr bwMode="auto">
              <a:xfrm>
                <a:off x="1182" y="1920"/>
                <a:ext cx="144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" name="Oval 13"/>
              <p:cNvSpPr>
                <a:spLocks noChangeArrowheads="1"/>
              </p:cNvSpPr>
              <p:nvPr/>
            </p:nvSpPr>
            <p:spPr bwMode="auto">
              <a:xfrm>
                <a:off x="375" y="1077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Oval 14"/>
              <p:cNvSpPr>
                <a:spLocks noChangeArrowheads="1"/>
              </p:cNvSpPr>
              <p:nvPr/>
            </p:nvSpPr>
            <p:spPr bwMode="auto">
              <a:xfrm>
                <a:off x="1819" y="1790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Oval 15"/>
              <p:cNvSpPr>
                <a:spLocks noChangeArrowheads="1"/>
              </p:cNvSpPr>
              <p:nvPr/>
            </p:nvSpPr>
            <p:spPr bwMode="auto">
              <a:xfrm>
                <a:off x="1872" y="55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Oval 16"/>
              <p:cNvSpPr>
                <a:spLocks noChangeArrowheads="1"/>
              </p:cNvSpPr>
              <p:nvPr/>
            </p:nvSpPr>
            <p:spPr bwMode="auto">
              <a:xfrm>
                <a:off x="375" y="178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" name="Oval 17"/>
              <p:cNvSpPr>
                <a:spLocks noChangeArrowheads="1"/>
              </p:cNvSpPr>
              <p:nvPr/>
            </p:nvSpPr>
            <p:spPr bwMode="auto">
              <a:xfrm>
                <a:off x="1230" y="1785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" name="Line 18"/>
              <p:cNvSpPr>
                <a:spLocks noChangeShapeType="1"/>
              </p:cNvSpPr>
              <p:nvPr/>
            </p:nvSpPr>
            <p:spPr bwMode="auto">
              <a:xfrm>
                <a:off x="432" y="960"/>
                <a:ext cx="288" cy="0"/>
              </a:xfrm>
              <a:prstGeom prst="line">
                <a:avLst/>
              </a:prstGeom>
              <a:noFill/>
              <a:ln w="31750">
                <a:solidFill>
                  <a:srgbClr val="C00000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 flipH="1">
                <a:off x="1502" y="631"/>
                <a:ext cx="288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Text Box 20"/>
              <p:cNvSpPr txBox="1">
                <a:spLocks noChangeArrowheads="1"/>
              </p:cNvSpPr>
              <p:nvPr/>
            </p:nvSpPr>
            <p:spPr bwMode="auto">
              <a:xfrm>
                <a:off x="1755" y="1183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" name="Text Box 21"/>
              <p:cNvSpPr txBox="1">
                <a:spLocks noChangeArrowheads="1"/>
              </p:cNvSpPr>
              <p:nvPr/>
            </p:nvSpPr>
            <p:spPr bwMode="auto">
              <a:xfrm>
                <a:off x="282" y="1311"/>
                <a:ext cx="33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Text Box 22"/>
              <p:cNvSpPr txBox="1">
                <a:spLocks noChangeArrowheads="1"/>
              </p:cNvSpPr>
              <p:nvPr/>
            </p:nvSpPr>
            <p:spPr bwMode="auto">
              <a:xfrm>
                <a:off x="439" y="651"/>
                <a:ext cx="2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Text Box 23"/>
              <p:cNvSpPr txBox="1">
                <a:spLocks noChangeArrowheads="1"/>
              </p:cNvSpPr>
              <p:nvPr/>
            </p:nvSpPr>
            <p:spPr bwMode="auto">
              <a:xfrm>
                <a:off x="849" y="514"/>
                <a:ext cx="389" cy="291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 </a:t>
                </a: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Line 24"/>
              <p:cNvSpPr>
                <a:spLocks noChangeShapeType="1"/>
              </p:cNvSpPr>
              <p:nvPr/>
            </p:nvSpPr>
            <p:spPr bwMode="auto">
              <a:xfrm flipH="1">
                <a:off x="1233" y="583"/>
                <a:ext cx="0" cy="233"/>
              </a:xfrm>
              <a:prstGeom prst="line">
                <a:avLst/>
              </a:prstGeom>
              <a:noFill/>
              <a:ln w="31750">
                <a:solidFill>
                  <a:srgbClr val="C00000"/>
                </a:solidFill>
                <a:round/>
                <a:headEnd/>
                <a:tailEnd type="triangle" w="med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" name="Line 25"/>
              <p:cNvSpPr>
                <a:spLocks noChangeShapeType="1"/>
              </p:cNvSpPr>
              <p:nvPr/>
            </p:nvSpPr>
            <p:spPr bwMode="auto">
              <a:xfrm>
                <a:off x="1257" y="1374"/>
                <a:ext cx="0" cy="43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2005" y="413"/>
                <a:ext cx="202" cy="29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37" name="Text Box 27"/>
              <p:cNvSpPr txBox="1">
                <a:spLocks noChangeArrowheads="1"/>
              </p:cNvSpPr>
              <p:nvPr/>
            </p:nvSpPr>
            <p:spPr bwMode="auto">
              <a:xfrm>
                <a:off x="120" y="927"/>
                <a:ext cx="213" cy="29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38" name="Text Box 28"/>
              <p:cNvSpPr txBox="1">
                <a:spLocks noChangeArrowheads="1"/>
              </p:cNvSpPr>
              <p:nvPr/>
            </p:nvSpPr>
            <p:spPr bwMode="auto">
              <a:xfrm>
                <a:off x="1285" y="1517"/>
                <a:ext cx="202" cy="29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39" name="Text Box 29"/>
              <p:cNvSpPr txBox="1">
                <a:spLocks noChangeArrowheads="1"/>
              </p:cNvSpPr>
              <p:nvPr/>
            </p:nvSpPr>
            <p:spPr bwMode="auto">
              <a:xfrm>
                <a:off x="253" y="1083"/>
                <a:ext cx="3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40" name="Text Box 30"/>
              <p:cNvSpPr txBox="1">
                <a:spLocks noChangeArrowheads="1"/>
              </p:cNvSpPr>
              <p:nvPr/>
            </p:nvSpPr>
            <p:spPr bwMode="auto">
              <a:xfrm>
                <a:off x="205" y="1517"/>
                <a:ext cx="34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41" name="Text Box 31"/>
              <p:cNvSpPr txBox="1">
                <a:spLocks noChangeArrowheads="1"/>
              </p:cNvSpPr>
              <p:nvPr/>
            </p:nvSpPr>
            <p:spPr bwMode="auto">
              <a:xfrm>
                <a:off x="1724" y="1496"/>
                <a:ext cx="34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42" name="Text Box 32"/>
              <p:cNvSpPr txBox="1">
                <a:spLocks noChangeArrowheads="1"/>
              </p:cNvSpPr>
              <p:nvPr/>
            </p:nvSpPr>
            <p:spPr bwMode="auto">
              <a:xfrm>
                <a:off x="1766" y="786"/>
                <a:ext cx="3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</p:grpSp>
      </p:grpSp>
      <p:grpSp>
        <p:nvGrpSpPr>
          <p:cNvPr id="43" name="Group 74"/>
          <p:cNvGrpSpPr>
            <a:grpSpLocks/>
          </p:cNvGrpSpPr>
          <p:nvPr/>
        </p:nvGrpSpPr>
        <p:grpSpPr bwMode="auto">
          <a:xfrm>
            <a:off x="5772604" y="1050926"/>
            <a:ext cx="3097213" cy="2644775"/>
            <a:chOff x="3651" y="1038"/>
            <a:chExt cx="1951" cy="1666"/>
          </a:xfrm>
        </p:grpSpPr>
        <p:sp>
          <p:nvSpPr>
            <p:cNvPr id="44" name="Text Box 75"/>
            <p:cNvSpPr txBox="1">
              <a:spLocks noChangeArrowheads="1"/>
            </p:cNvSpPr>
            <p:nvPr/>
          </p:nvSpPr>
          <p:spPr bwMode="auto">
            <a:xfrm>
              <a:off x="5262" y="2354"/>
              <a:ext cx="340" cy="2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Text Box 76"/>
            <p:cNvSpPr txBox="1">
              <a:spLocks noChangeArrowheads="1"/>
            </p:cNvSpPr>
            <p:nvPr/>
          </p:nvSpPr>
          <p:spPr bwMode="auto">
            <a:xfrm>
              <a:off x="4679" y="1578"/>
              <a:ext cx="328" cy="22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Δ</a:t>
              </a: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Text Box 77"/>
            <p:cNvSpPr txBox="1">
              <a:spLocks noChangeArrowheads="1"/>
            </p:cNvSpPr>
            <p:nvPr/>
          </p:nvSpPr>
          <p:spPr bwMode="auto">
            <a:xfrm>
              <a:off x="3778" y="2384"/>
              <a:ext cx="141" cy="20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endParaRPr kumimoji="0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Text Box 78"/>
            <p:cNvSpPr txBox="1">
              <a:spLocks noChangeArrowheads="1"/>
            </p:cNvSpPr>
            <p:nvPr/>
          </p:nvSpPr>
          <p:spPr bwMode="auto">
            <a:xfrm>
              <a:off x="4422" y="2024"/>
              <a:ext cx="515" cy="23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Δ</a:t>
              </a: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Text Box 79"/>
            <p:cNvSpPr txBox="1">
              <a:spLocks noChangeArrowheads="1"/>
            </p:cNvSpPr>
            <p:nvPr/>
          </p:nvSpPr>
          <p:spPr bwMode="auto">
            <a:xfrm>
              <a:off x="4285" y="1513"/>
              <a:ext cx="115" cy="19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3917" y="1038"/>
              <a:ext cx="211" cy="26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Line 81"/>
            <p:cNvSpPr>
              <a:spLocks noChangeShapeType="1"/>
            </p:cNvSpPr>
            <p:nvPr/>
          </p:nvSpPr>
          <p:spPr bwMode="auto">
            <a:xfrm flipV="1">
              <a:off x="3852" y="1041"/>
              <a:ext cx="0" cy="13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Line 82"/>
            <p:cNvSpPr>
              <a:spLocks noChangeShapeType="1"/>
            </p:cNvSpPr>
            <p:nvPr/>
          </p:nvSpPr>
          <p:spPr bwMode="auto">
            <a:xfrm>
              <a:off x="3861" y="2379"/>
              <a:ext cx="144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Freeform 83"/>
            <p:cNvSpPr>
              <a:spLocks/>
            </p:cNvSpPr>
            <p:nvPr/>
          </p:nvSpPr>
          <p:spPr bwMode="auto">
            <a:xfrm>
              <a:off x="3861" y="1103"/>
              <a:ext cx="774" cy="1280"/>
            </a:xfrm>
            <a:custGeom>
              <a:avLst/>
              <a:gdLst>
                <a:gd name="T0" fmla="*/ 0 w 990"/>
                <a:gd name="T1" fmla="*/ 466 h 1790"/>
                <a:gd name="T2" fmla="*/ 134 w 990"/>
                <a:gd name="T3" fmla="*/ 435 h 1790"/>
                <a:gd name="T4" fmla="*/ 246 w 990"/>
                <a:gd name="T5" fmla="*/ 270 h 1790"/>
                <a:gd name="T6" fmla="*/ 370 w 990"/>
                <a:gd name="T7" fmla="*/ 0 h 179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90"/>
                <a:gd name="T13" fmla="*/ 0 h 1790"/>
                <a:gd name="T14" fmla="*/ 990 w 990"/>
                <a:gd name="T15" fmla="*/ 1790 h 179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90" h="1790">
                  <a:moveTo>
                    <a:pt x="0" y="1785"/>
                  </a:moveTo>
                  <a:cubicBezTo>
                    <a:pt x="125" y="1787"/>
                    <a:pt x="250" y="1790"/>
                    <a:pt x="360" y="1665"/>
                  </a:cubicBezTo>
                  <a:cubicBezTo>
                    <a:pt x="470" y="1540"/>
                    <a:pt x="555" y="1312"/>
                    <a:pt x="660" y="1035"/>
                  </a:cubicBezTo>
                  <a:cubicBezTo>
                    <a:pt x="765" y="758"/>
                    <a:pt x="935" y="173"/>
                    <a:pt x="99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Line 84"/>
            <p:cNvSpPr>
              <a:spLocks noChangeShapeType="1"/>
            </p:cNvSpPr>
            <p:nvPr/>
          </p:nvSpPr>
          <p:spPr bwMode="auto">
            <a:xfrm>
              <a:off x="3847" y="1736"/>
              <a:ext cx="5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Line 85"/>
            <p:cNvSpPr>
              <a:spLocks noChangeShapeType="1"/>
            </p:cNvSpPr>
            <p:nvPr/>
          </p:nvSpPr>
          <p:spPr bwMode="auto">
            <a:xfrm>
              <a:off x="4528" y="1445"/>
              <a:ext cx="0" cy="4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Line 86"/>
            <p:cNvSpPr>
              <a:spLocks noChangeShapeType="1"/>
            </p:cNvSpPr>
            <p:nvPr/>
          </p:nvSpPr>
          <p:spPr bwMode="auto">
            <a:xfrm>
              <a:off x="4341" y="1928"/>
              <a:ext cx="3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Line 87"/>
            <p:cNvSpPr>
              <a:spLocks noChangeShapeType="1"/>
            </p:cNvSpPr>
            <p:nvPr/>
          </p:nvSpPr>
          <p:spPr bwMode="auto">
            <a:xfrm>
              <a:off x="4528" y="1445"/>
              <a:ext cx="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Line 89"/>
            <p:cNvSpPr>
              <a:spLocks noChangeShapeType="1"/>
            </p:cNvSpPr>
            <p:nvPr/>
          </p:nvSpPr>
          <p:spPr bwMode="auto">
            <a:xfrm>
              <a:off x="4652" y="1451"/>
              <a:ext cx="0" cy="4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Line 90"/>
            <p:cNvSpPr>
              <a:spLocks noChangeShapeType="1"/>
            </p:cNvSpPr>
            <p:nvPr/>
          </p:nvSpPr>
          <p:spPr bwMode="auto">
            <a:xfrm>
              <a:off x="4528" y="1928"/>
              <a:ext cx="0" cy="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91"/>
            <p:cNvSpPr>
              <a:spLocks noChangeShapeType="1"/>
            </p:cNvSpPr>
            <p:nvPr/>
          </p:nvSpPr>
          <p:spPr bwMode="auto">
            <a:xfrm>
              <a:off x="4354" y="1928"/>
              <a:ext cx="0" cy="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Line 92"/>
            <p:cNvSpPr>
              <a:spLocks noChangeShapeType="1"/>
            </p:cNvSpPr>
            <p:nvPr/>
          </p:nvSpPr>
          <p:spPr bwMode="auto">
            <a:xfrm>
              <a:off x="4211" y="1986"/>
              <a:ext cx="1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93"/>
            <p:cNvSpPr>
              <a:spLocks noChangeShapeType="1"/>
            </p:cNvSpPr>
            <p:nvPr/>
          </p:nvSpPr>
          <p:spPr bwMode="auto">
            <a:xfrm flipH="1" flipV="1">
              <a:off x="4530" y="1972"/>
              <a:ext cx="0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Text Box 94"/>
            <p:cNvSpPr txBox="1">
              <a:spLocks noChangeArrowheads="1"/>
            </p:cNvSpPr>
            <p:nvPr/>
          </p:nvSpPr>
          <p:spPr bwMode="auto">
            <a:xfrm>
              <a:off x="3651" y="1643"/>
              <a:ext cx="314" cy="25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95"/>
            <p:cNvSpPr>
              <a:spLocks noChangeShapeType="1"/>
            </p:cNvSpPr>
            <p:nvPr/>
          </p:nvSpPr>
          <p:spPr bwMode="auto">
            <a:xfrm>
              <a:off x="4426" y="1700"/>
              <a:ext cx="0" cy="6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Text Box 96"/>
            <p:cNvSpPr txBox="1">
              <a:spLocks noChangeArrowheads="1"/>
            </p:cNvSpPr>
            <p:nvPr/>
          </p:nvSpPr>
          <p:spPr bwMode="auto">
            <a:xfrm>
              <a:off x="4175" y="2348"/>
              <a:ext cx="624" cy="35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kumimoji="0"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92"/>
            <p:cNvSpPr>
              <a:spLocks noChangeShapeType="1"/>
            </p:cNvSpPr>
            <p:nvPr/>
          </p:nvSpPr>
          <p:spPr bwMode="auto">
            <a:xfrm flipH="1">
              <a:off x="4525" y="1980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7" name="Text Box 98"/>
          <p:cNvSpPr txBox="1">
            <a:spLocks noChangeArrowheads="1"/>
          </p:cNvSpPr>
          <p:nvPr/>
        </p:nvSpPr>
        <p:spPr bwMode="auto">
          <a:xfrm>
            <a:off x="4919210" y="4118656"/>
            <a:ext cx="3975100" cy="519112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0" lang="en-US" altLang="zh-CN" sz="2800" b="1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kumimoji="0" lang="en-US" altLang="zh-CN" sz="2800" b="1" baseline="-25000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kumimoji="0"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称为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三极管输入电阻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838779" y="4022725"/>
          <a:ext cx="2220913" cy="898525"/>
        </p:xfrm>
        <a:graphic>
          <a:graphicData uri="http://schemas.openxmlformats.org/presentationml/2006/ole">
            <p:oleObj spid="_x0000_s1027" name="Equation" r:id="rId3" imgW="1066680" imgH="431640" progId="Equation.DSMT4">
              <p:embed/>
            </p:oleObj>
          </a:graphicData>
        </a:graphic>
      </p:graphicFrame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Box 3"/>
          <p:cNvSpPr txBox="1">
            <a:spLocks noChangeArrowheads="1"/>
          </p:cNvSpPr>
          <p:nvPr/>
        </p:nvSpPr>
        <p:spPr bwMode="auto">
          <a:xfrm>
            <a:off x="6447164" y="1042585"/>
            <a:ext cx="2424693" cy="2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三极管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的微变等效电路只能用来分析放大电路变化量之间的关系。                                                                   </a:t>
            </a:r>
            <a:endParaRPr lang="zh-CN" altLang="en-US" sz="3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1" name="Text Box 4"/>
          <p:cNvSpPr txBox="1">
            <a:spLocks noChangeArrowheads="1"/>
          </p:cNvSpPr>
          <p:nvPr/>
        </p:nvSpPr>
        <p:spPr bwMode="auto">
          <a:xfrm>
            <a:off x="1380672" y="228600"/>
            <a:ext cx="42883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华文中宋" pitchFamily="2" charset="-122"/>
                <a:ea typeface="华文中宋" pitchFamily="2" charset="-122"/>
              </a:rPr>
              <a:t>三极管的微变等效电路</a:t>
            </a:r>
            <a:endParaRPr lang="zh-CN" altLang="en-US" sz="3200" b="1" dirty="0">
              <a:effectLst>
                <a:outerShdw blurRad="38100" dist="38100" dir="2700000" algn="tl">
                  <a:srgbClr val="C0C0C0"/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5" name="Picture 7" descr="dp1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47164" y="1042585"/>
            <a:ext cx="4953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6" name="Group 8"/>
          <p:cNvGrpSpPr>
            <a:grpSpLocks/>
          </p:cNvGrpSpPr>
          <p:nvPr/>
        </p:nvGrpSpPr>
        <p:grpSpPr bwMode="auto">
          <a:xfrm>
            <a:off x="844324" y="793750"/>
            <a:ext cx="5745162" cy="2895600"/>
            <a:chOff x="1178" y="863"/>
            <a:chExt cx="3619" cy="1824"/>
          </a:xfrm>
        </p:grpSpPr>
        <p:sp>
          <p:nvSpPr>
            <p:cNvPr id="67" name="Text Box 9"/>
            <p:cNvSpPr txBox="1">
              <a:spLocks noChangeArrowheads="1"/>
            </p:cNvSpPr>
            <p:nvPr/>
          </p:nvSpPr>
          <p:spPr bwMode="auto">
            <a:xfrm>
              <a:off x="1178" y="1499"/>
              <a:ext cx="400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68" name="Text Box 10"/>
            <p:cNvSpPr txBox="1">
              <a:spLocks noChangeArrowheads="1"/>
            </p:cNvSpPr>
            <p:nvPr/>
          </p:nvSpPr>
          <p:spPr bwMode="auto">
            <a:xfrm>
              <a:off x="1336" y="863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>
              <a:off x="1437" y="1151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12"/>
            <p:cNvSpPr>
              <a:spLocks noChangeShapeType="1"/>
            </p:cNvSpPr>
            <p:nvPr/>
          </p:nvSpPr>
          <p:spPr bwMode="auto">
            <a:xfrm>
              <a:off x="2253" y="1151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Rectangle 13"/>
            <p:cNvSpPr>
              <a:spLocks noChangeArrowheads="1"/>
            </p:cNvSpPr>
            <p:nvPr/>
          </p:nvSpPr>
          <p:spPr bwMode="auto">
            <a:xfrm>
              <a:off x="2178" y="1631"/>
              <a:ext cx="144" cy="336"/>
            </a:xfrm>
            <a:prstGeom prst="rect">
              <a:avLst/>
            </a:prstGeom>
            <a:gradFill rotWithShape="1">
              <a:gsLst>
                <a:gs pos="0">
                  <a:srgbClr val="74624B"/>
                </a:gs>
                <a:gs pos="50000">
                  <a:srgbClr val="FAD4A2"/>
                </a:gs>
                <a:gs pos="100000">
                  <a:srgbClr val="74624B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14"/>
            <p:cNvSpPr>
              <a:spLocks noChangeShapeType="1"/>
            </p:cNvSpPr>
            <p:nvPr/>
          </p:nvSpPr>
          <p:spPr bwMode="auto">
            <a:xfrm>
              <a:off x="2253" y="1967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15"/>
            <p:cNvSpPr>
              <a:spLocks noChangeShapeType="1"/>
            </p:cNvSpPr>
            <p:nvPr/>
          </p:nvSpPr>
          <p:spPr bwMode="auto">
            <a:xfrm>
              <a:off x="1437" y="2495"/>
              <a:ext cx="2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16"/>
            <p:cNvSpPr>
              <a:spLocks noChangeShapeType="1"/>
            </p:cNvSpPr>
            <p:nvPr/>
          </p:nvSpPr>
          <p:spPr bwMode="auto">
            <a:xfrm>
              <a:off x="2949" y="2015"/>
              <a:ext cx="0" cy="48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17"/>
            <p:cNvSpPr>
              <a:spLocks noChangeShapeType="1"/>
            </p:cNvSpPr>
            <p:nvPr/>
          </p:nvSpPr>
          <p:spPr bwMode="auto">
            <a:xfrm flipV="1">
              <a:off x="2946" y="111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18"/>
            <p:cNvSpPr>
              <a:spLocks noChangeShapeType="1"/>
            </p:cNvSpPr>
            <p:nvPr/>
          </p:nvSpPr>
          <p:spPr bwMode="auto">
            <a:xfrm>
              <a:off x="2946" y="1103"/>
              <a:ext cx="1307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19"/>
            <p:cNvSpPr>
              <a:spLocks noChangeShapeType="1"/>
            </p:cNvSpPr>
            <p:nvPr/>
          </p:nvSpPr>
          <p:spPr bwMode="auto">
            <a:xfrm>
              <a:off x="2589" y="2495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20"/>
            <p:cNvSpPr>
              <a:spLocks noChangeShapeType="1"/>
            </p:cNvSpPr>
            <p:nvPr/>
          </p:nvSpPr>
          <p:spPr bwMode="auto">
            <a:xfrm>
              <a:off x="2493" y="2687"/>
              <a:ext cx="19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Oval 21"/>
            <p:cNvSpPr>
              <a:spLocks noChangeArrowheads="1"/>
            </p:cNvSpPr>
            <p:nvPr/>
          </p:nvSpPr>
          <p:spPr bwMode="auto">
            <a:xfrm>
              <a:off x="4701" y="2447"/>
              <a:ext cx="96" cy="96"/>
            </a:xfrm>
            <a:prstGeom prst="ellipse">
              <a:avLst/>
            </a:prstGeom>
            <a:noFill/>
            <a:ln w="381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Text Box 22"/>
            <p:cNvSpPr txBox="1">
              <a:spLocks noChangeArrowheads="1"/>
            </p:cNvSpPr>
            <p:nvPr/>
          </p:nvSpPr>
          <p:spPr bwMode="auto">
            <a:xfrm>
              <a:off x="1773" y="1535"/>
              <a:ext cx="4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Text Box 23"/>
            <p:cNvSpPr txBox="1">
              <a:spLocks noChangeArrowheads="1"/>
            </p:cNvSpPr>
            <p:nvPr/>
          </p:nvSpPr>
          <p:spPr bwMode="auto">
            <a:xfrm>
              <a:off x="2489" y="2208"/>
              <a:ext cx="2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89" name="Text Box 24"/>
            <p:cNvSpPr txBox="1">
              <a:spLocks noChangeArrowheads="1"/>
            </p:cNvSpPr>
            <p:nvPr/>
          </p:nvSpPr>
          <p:spPr bwMode="auto">
            <a:xfrm>
              <a:off x="4243" y="872"/>
              <a:ext cx="21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Text Box 25"/>
            <p:cNvSpPr txBox="1">
              <a:spLocks noChangeArrowheads="1"/>
            </p:cNvSpPr>
            <p:nvPr/>
          </p:nvSpPr>
          <p:spPr bwMode="auto">
            <a:xfrm>
              <a:off x="3089" y="1439"/>
              <a:ext cx="452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 </a:t>
              </a:r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1" name="Line 26"/>
            <p:cNvSpPr>
              <a:spLocks noChangeShapeType="1"/>
            </p:cNvSpPr>
            <p:nvPr/>
          </p:nvSpPr>
          <p:spPr bwMode="auto">
            <a:xfrm>
              <a:off x="2397" y="1499"/>
              <a:ext cx="0" cy="528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27"/>
            <p:cNvSpPr>
              <a:spLocks noChangeShapeType="1"/>
            </p:cNvSpPr>
            <p:nvPr/>
          </p:nvSpPr>
          <p:spPr bwMode="auto">
            <a:xfrm>
              <a:off x="3117" y="1499"/>
              <a:ext cx="0" cy="528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Text Box 28"/>
            <p:cNvSpPr txBox="1">
              <a:spLocks noChangeArrowheads="1"/>
            </p:cNvSpPr>
            <p:nvPr/>
          </p:nvSpPr>
          <p:spPr bwMode="auto">
            <a:xfrm>
              <a:off x="2445" y="1499"/>
              <a:ext cx="271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4" name="Text Box 29"/>
            <p:cNvSpPr txBox="1">
              <a:spLocks noChangeArrowheads="1"/>
            </p:cNvSpPr>
            <p:nvPr/>
          </p:nvSpPr>
          <p:spPr bwMode="auto">
            <a:xfrm>
              <a:off x="3486" y="997"/>
              <a:ext cx="273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5" name="Line 30"/>
            <p:cNvSpPr>
              <a:spLocks noChangeShapeType="1"/>
            </p:cNvSpPr>
            <p:nvPr/>
          </p:nvSpPr>
          <p:spPr bwMode="auto">
            <a:xfrm flipH="1">
              <a:off x="3119" y="1199"/>
              <a:ext cx="336" cy="0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Text Box 31"/>
            <p:cNvSpPr txBox="1">
              <a:spLocks noChangeArrowheads="1"/>
            </p:cNvSpPr>
            <p:nvPr/>
          </p:nvSpPr>
          <p:spPr bwMode="auto">
            <a:xfrm>
              <a:off x="4029" y="1499"/>
              <a:ext cx="411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97" name="Oval 32"/>
            <p:cNvSpPr>
              <a:spLocks noChangeArrowheads="1"/>
            </p:cNvSpPr>
            <p:nvPr/>
          </p:nvSpPr>
          <p:spPr bwMode="auto">
            <a:xfrm>
              <a:off x="2565" y="2467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Text Box 33"/>
            <p:cNvSpPr txBox="1">
              <a:spLocks noChangeArrowheads="1"/>
            </p:cNvSpPr>
            <p:nvPr/>
          </p:nvSpPr>
          <p:spPr bwMode="auto">
            <a:xfrm>
              <a:off x="1219" y="1112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99" name="Text Box 34"/>
            <p:cNvSpPr txBox="1">
              <a:spLocks noChangeArrowheads="1"/>
            </p:cNvSpPr>
            <p:nvPr/>
          </p:nvSpPr>
          <p:spPr bwMode="auto">
            <a:xfrm>
              <a:off x="1248" y="2072"/>
              <a:ext cx="24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101" name="Text Box 35"/>
            <p:cNvSpPr txBox="1">
              <a:spLocks noChangeArrowheads="1"/>
            </p:cNvSpPr>
            <p:nvPr/>
          </p:nvSpPr>
          <p:spPr bwMode="auto">
            <a:xfrm>
              <a:off x="4107" y="2101"/>
              <a:ext cx="24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102" name="Text Box 36"/>
            <p:cNvSpPr txBox="1">
              <a:spLocks noChangeArrowheads="1"/>
            </p:cNvSpPr>
            <p:nvPr/>
          </p:nvSpPr>
          <p:spPr bwMode="auto">
            <a:xfrm>
              <a:off x="4035" y="1091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104" name="AutoShape 37"/>
            <p:cNvSpPr>
              <a:spLocks noChangeArrowheads="1"/>
            </p:cNvSpPr>
            <p:nvPr/>
          </p:nvSpPr>
          <p:spPr bwMode="auto">
            <a:xfrm>
              <a:off x="2805" y="1525"/>
              <a:ext cx="288" cy="576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Oval 38"/>
            <p:cNvSpPr>
              <a:spLocks noChangeArrowheads="1"/>
            </p:cNvSpPr>
            <p:nvPr/>
          </p:nvSpPr>
          <p:spPr bwMode="auto">
            <a:xfrm>
              <a:off x="4205" y="1091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Oval 39"/>
            <p:cNvSpPr>
              <a:spLocks noChangeArrowheads="1"/>
            </p:cNvSpPr>
            <p:nvPr/>
          </p:nvSpPr>
          <p:spPr bwMode="auto">
            <a:xfrm>
              <a:off x="4229" y="2475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Oval 40"/>
            <p:cNvSpPr>
              <a:spLocks noChangeArrowheads="1"/>
            </p:cNvSpPr>
            <p:nvPr/>
          </p:nvSpPr>
          <p:spPr bwMode="auto">
            <a:xfrm>
              <a:off x="1389" y="2472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Oval 41"/>
            <p:cNvSpPr>
              <a:spLocks noChangeArrowheads="1"/>
            </p:cNvSpPr>
            <p:nvPr/>
          </p:nvSpPr>
          <p:spPr bwMode="auto">
            <a:xfrm>
              <a:off x="1413" y="1127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889577" y="3836305"/>
          <a:ext cx="3146427" cy="898979"/>
        </p:xfrm>
        <a:graphic>
          <a:graphicData uri="http://schemas.openxmlformats.org/presentationml/2006/ole">
            <p:oleObj spid="_x0000_s2051" name="Equation" r:id="rId4" imgW="1511280" imgH="4316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99357" y="1045709"/>
            <a:ext cx="33559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先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画出放大电路的交流通路。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37671" y="323396"/>
            <a:ext cx="5408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 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放大电路的微变等效电路</a:t>
            </a:r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 rot="2074727">
            <a:off x="5329010" y="3173867"/>
            <a:ext cx="733425" cy="1627187"/>
          </a:xfrm>
          <a:prstGeom prst="curvedLeftArrow">
            <a:avLst>
              <a:gd name="adj1" fmla="val 44372"/>
              <a:gd name="adj2" fmla="val 88745"/>
              <a:gd name="adj3" fmla="val 33333"/>
            </a:avLst>
          </a:prstGeom>
          <a:solidFill>
            <a:srgbClr val="FF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8" name="组合 147"/>
          <p:cNvGrpSpPr/>
          <p:nvPr/>
        </p:nvGrpSpPr>
        <p:grpSpPr>
          <a:xfrm>
            <a:off x="4556771" y="740230"/>
            <a:ext cx="4286567" cy="2451552"/>
            <a:chOff x="1171314" y="1055915"/>
            <a:chExt cx="4286567" cy="2451552"/>
          </a:xfrm>
        </p:grpSpPr>
        <p:grpSp>
          <p:nvGrpSpPr>
            <p:cNvPr id="149" name="Group 19"/>
            <p:cNvGrpSpPr>
              <a:grpSpLocks/>
            </p:cNvGrpSpPr>
            <p:nvPr/>
          </p:nvGrpSpPr>
          <p:grpSpPr bwMode="auto">
            <a:xfrm>
              <a:off x="1171314" y="1084994"/>
              <a:ext cx="4286567" cy="2422473"/>
              <a:chOff x="990" y="1096"/>
              <a:chExt cx="2438" cy="1800"/>
            </a:xfrm>
          </p:grpSpPr>
          <p:grpSp>
            <p:nvGrpSpPr>
              <p:cNvPr id="157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198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9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0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1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2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3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58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9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0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1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2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3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64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65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166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67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8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9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0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71" name="Rectangle 40"/>
              <p:cNvSpPr>
                <a:spLocks noChangeArrowheads="1"/>
              </p:cNvSpPr>
              <p:nvPr/>
            </p:nvSpPr>
            <p:spPr bwMode="auto">
              <a:xfrm>
                <a:off x="2920" y="1126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172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73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196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7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74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5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6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177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194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5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78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9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0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1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2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3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4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85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86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87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88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89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0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1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92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3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150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1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2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53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54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56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252" name="Group 71"/>
          <p:cNvGrpSpPr>
            <a:grpSpLocks/>
          </p:cNvGrpSpPr>
          <p:nvPr/>
        </p:nvGrpSpPr>
        <p:grpSpPr bwMode="auto">
          <a:xfrm>
            <a:off x="0" y="2129745"/>
            <a:ext cx="4588498" cy="2600326"/>
            <a:chOff x="376" y="564"/>
            <a:chExt cx="3439" cy="1638"/>
          </a:xfrm>
        </p:grpSpPr>
        <p:sp>
          <p:nvSpPr>
            <p:cNvPr id="253" name="Line 72"/>
            <p:cNvSpPr>
              <a:spLocks noChangeShapeType="1"/>
            </p:cNvSpPr>
            <p:nvPr/>
          </p:nvSpPr>
          <p:spPr bwMode="auto">
            <a:xfrm>
              <a:off x="1204" y="1342"/>
              <a:ext cx="622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73"/>
            <p:cNvSpPr>
              <a:spLocks noChangeShapeType="1"/>
            </p:cNvSpPr>
            <p:nvPr/>
          </p:nvSpPr>
          <p:spPr bwMode="auto">
            <a:xfrm>
              <a:off x="1829" y="1164"/>
              <a:ext cx="0" cy="35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74"/>
            <p:cNvSpPr>
              <a:spLocks noChangeShapeType="1"/>
            </p:cNvSpPr>
            <p:nvPr/>
          </p:nvSpPr>
          <p:spPr bwMode="auto">
            <a:xfrm flipV="1">
              <a:off x="1829" y="1123"/>
              <a:ext cx="249" cy="1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75"/>
            <p:cNvSpPr>
              <a:spLocks noChangeShapeType="1"/>
            </p:cNvSpPr>
            <p:nvPr/>
          </p:nvSpPr>
          <p:spPr bwMode="auto">
            <a:xfrm>
              <a:off x="1834" y="1392"/>
              <a:ext cx="249" cy="14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Line 76"/>
            <p:cNvSpPr>
              <a:spLocks noChangeShapeType="1"/>
            </p:cNvSpPr>
            <p:nvPr/>
          </p:nvSpPr>
          <p:spPr bwMode="auto">
            <a:xfrm>
              <a:off x="2076" y="567"/>
              <a:ext cx="0" cy="55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77"/>
            <p:cNvSpPr>
              <a:spLocks noChangeShapeType="1"/>
            </p:cNvSpPr>
            <p:nvPr/>
          </p:nvSpPr>
          <p:spPr bwMode="auto">
            <a:xfrm>
              <a:off x="2065" y="1518"/>
              <a:ext cx="0" cy="58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Line 78"/>
            <p:cNvSpPr>
              <a:spLocks noChangeShapeType="1"/>
            </p:cNvSpPr>
            <p:nvPr/>
          </p:nvSpPr>
          <p:spPr bwMode="auto">
            <a:xfrm>
              <a:off x="2065" y="581"/>
              <a:ext cx="1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60" name="Group 79"/>
            <p:cNvGrpSpPr>
              <a:grpSpLocks/>
            </p:cNvGrpSpPr>
            <p:nvPr/>
          </p:nvGrpSpPr>
          <p:grpSpPr bwMode="auto">
            <a:xfrm>
              <a:off x="1147" y="1340"/>
              <a:ext cx="115" cy="720"/>
              <a:chOff x="1147" y="567"/>
              <a:chExt cx="115" cy="774"/>
            </a:xfrm>
          </p:grpSpPr>
          <p:sp>
            <p:nvSpPr>
              <p:cNvPr id="298" name="Line 80"/>
              <p:cNvSpPr>
                <a:spLocks noChangeShapeType="1"/>
              </p:cNvSpPr>
              <p:nvPr/>
            </p:nvSpPr>
            <p:spPr bwMode="auto">
              <a:xfrm>
                <a:off x="1204" y="567"/>
                <a:ext cx="0" cy="774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9" name="Rectangle 81"/>
              <p:cNvSpPr>
                <a:spLocks noChangeArrowheads="1"/>
              </p:cNvSpPr>
              <p:nvPr/>
            </p:nvSpPr>
            <p:spPr bwMode="auto">
              <a:xfrm>
                <a:off x="1147" y="833"/>
                <a:ext cx="115" cy="24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1" name="Rectangle 83"/>
            <p:cNvSpPr>
              <a:spLocks noChangeArrowheads="1"/>
            </p:cNvSpPr>
            <p:nvPr/>
          </p:nvSpPr>
          <p:spPr bwMode="auto">
            <a:xfrm>
              <a:off x="797" y="1527"/>
              <a:ext cx="381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62" name="Rectangle 84"/>
            <p:cNvSpPr>
              <a:spLocks noChangeArrowheads="1"/>
            </p:cNvSpPr>
            <p:nvPr/>
          </p:nvSpPr>
          <p:spPr bwMode="auto">
            <a:xfrm>
              <a:off x="1509" y="1332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3" name="Rectangle 85"/>
            <p:cNvSpPr>
              <a:spLocks noChangeArrowheads="1"/>
            </p:cNvSpPr>
            <p:nvPr/>
          </p:nvSpPr>
          <p:spPr bwMode="auto">
            <a:xfrm>
              <a:off x="1797" y="1853"/>
              <a:ext cx="245" cy="21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64" name="Rectangle 86"/>
            <p:cNvSpPr>
              <a:spLocks noChangeArrowheads="1"/>
            </p:cNvSpPr>
            <p:nvPr/>
          </p:nvSpPr>
          <p:spPr bwMode="auto">
            <a:xfrm>
              <a:off x="2083" y="1510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65" name="Rectangle 87"/>
            <p:cNvSpPr>
              <a:spLocks noChangeArrowheads="1"/>
            </p:cNvSpPr>
            <p:nvPr/>
          </p:nvSpPr>
          <p:spPr bwMode="auto">
            <a:xfrm>
              <a:off x="2094" y="930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6" name="Line 88"/>
            <p:cNvSpPr>
              <a:spLocks noChangeShapeType="1"/>
            </p:cNvSpPr>
            <p:nvPr/>
          </p:nvSpPr>
          <p:spPr bwMode="auto">
            <a:xfrm>
              <a:off x="550" y="2050"/>
              <a:ext cx="2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Line 89"/>
            <p:cNvSpPr>
              <a:spLocks noChangeShapeType="1"/>
            </p:cNvSpPr>
            <p:nvPr/>
          </p:nvSpPr>
          <p:spPr bwMode="auto">
            <a:xfrm>
              <a:off x="535" y="1343"/>
              <a:ext cx="6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91"/>
            <p:cNvSpPr>
              <a:spLocks noChangeArrowheads="1"/>
            </p:cNvSpPr>
            <p:nvPr/>
          </p:nvSpPr>
          <p:spPr bwMode="auto">
            <a:xfrm>
              <a:off x="524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92"/>
            <p:cNvSpPr>
              <a:spLocks noChangeArrowheads="1"/>
            </p:cNvSpPr>
            <p:nvPr/>
          </p:nvSpPr>
          <p:spPr bwMode="auto">
            <a:xfrm>
              <a:off x="497" y="13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Oval 93"/>
            <p:cNvSpPr>
              <a:spLocks noChangeArrowheads="1"/>
            </p:cNvSpPr>
            <p:nvPr/>
          </p:nvSpPr>
          <p:spPr bwMode="auto">
            <a:xfrm>
              <a:off x="2038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Line 94"/>
            <p:cNvSpPr>
              <a:spLocks noChangeShapeType="1"/>
            </p:cNvSpPr>
            <p:nvPr/>
          </p:nvSpPr>
          <p:spPr bwMode="auto">
            <a:xfrm>
              <a:off x="2065" y="2050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Line 95"/>
            <p:cNvSpPr>
              <a:spLocks noChangeShapeType="1"/>
            </p:cNvSpPr>
            <p:nvPr/>
          </p:nvSpPr>
          <p:spPr bwMode="auto">
            <a:xfrm>
              <a:off x="1983" y="2202"/>
              <a:ext cx="1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Rectangle 96"/>
            <p:cNvSpPr>
              <a:spLocks noChangeArrowheads="1"/>
            </p:cNvSpPr>
            <p:nvPr/>
          </p:nvSpPr>
          <p:spPr bwMode="auto">
            <a:xfrm>
              <a:off x="445" y="134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74" name="Rectangle 97"/>
            <p:cNvSpPr>
              <a:spLocks noChangeArrowheads="1"/>
            </p:cNvSpPr>
            <p:nvPr/>
          </p:nvSpPr>
          <p:spPr bwMode="auto">
            <a:xfrm>
              <a:off x="434" y="1890"/>
              <a:ext cx="229" cy="19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75" name="Rectangle 98"/>
            <p:cNvSpPr>
              <a:spLocks noChangeArrowheads="1"/>
            </p:cNvSpPr>
            <p:nvPr/>
          </p:nvSpPr>
          <p:spPr bwMode="auto">
            <a:xfrm>
              <a:off x="376" y="1525"/>
              <a:ext cx="32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Rectangle 99"/>
            <p:cNvSpPr>
              <a:spLocks noChangeArrowheads="1"/>
            </p:cNvSpPr>
            <p:nvPr/>
          </p:nvSpPr>
          <p:spPr bwMode="auto">
            <a:xfrm>
              <a:off x="3415" y="68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77" name="Rectangle 100"/>
            <p:cNvSpPr>
              <a:spLocks noChangeArrowheads="1"/>
            </p:cNvSpPr>
            <p:nvPr/>
          </p:nvSpPr>
          <p:spPr bwMode="auto">
            <a:xfrm>
              <a:off x="3423" y="1605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78" name="Rectangle 101"/>
            <p:cNvSpPr>
              <a:spLocks noChangeArrowheads="1"/>
            </p:cNvSpPr>
            <p:nvPr/>
          </p:nvSpPr>
          <p:spPr bwMode="auto">
            <a:xfrm>
              <a:off x="3452" y="1059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79" name="Line 102"/>
            <p:cNvSpPr>
              <a:spLocks noChangeShapeType="1"/>
            </p:cNvSpPr>
            <p:nvPr/>
          </p:nvSpPr>
          <p:spPr bwMode="auto">
            <a:xfrm>
              <a:off x="2796" y="581"/>
              <a:ext cx="0" cy="14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Rectangle 103"/>
            <p:cNvSpPr>
              <a:spLocks noChangeArrowheads="1"/>
            </p:cNvSpPr>
            <p:nvPr/>
          </p:nvSpPr>
          <p:spPr bwMode="auto">
            <a:xfrm>
              <a:off x="2739" y="1176"/>
              <a:ext cx="115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Rectangle 104"/>
            <p:cNvSpPr>
              <a:spLocks noChangeArrowheads="1"/>
            </p:cNvSpPr>
            <p:nvPr/>
          </p:nvSpPr>
          <p:spPr bwMode="auto">
            <a:xfrm>
              <a:off x="3076" y="874"/>
              <a:ext cx="36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cs typeface="Times New Roman" pitchFamily="18" charset="0"/>
                </a:rPr>
                <a:t>L</a:t>
              </a:r>
            </a:p>
          </p:txBody>
        </p:sp>
        <p:sp>
          <p:nvSpPr>
            <p:cNvPr id="282" name="Line 105"/>
            <p:cNvSpPr>
              <a:spLocks noChangeShapeType="1"/>
            </p:cNvSpPr>
            <p:nvPr/>
          </p:nvSpPr>
          <p:spPr bwMode="auto">
            <a:xfrm>
              <a:off x="2796" y="205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Line 106"/>
            <p:cNvSpPr>
              <a:spLocks noChangeShapeType="1"/>
            </p:cNvSpPr>
            <p:nvPr/>
          </p:nvSpPr>
          <p:spPr bwMode="auto">
            <a:xfrm>
              <a:off x="3417" y="581"/>
              <a:ext cx="0" cy="14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Rectangle 107"/>
            <p:cNvSpPr>
              <a:spLocks noChangeArrowheads="1"/>
            </p:cNvSpPr>
            <p:nvPr/>
          </p:nvSpPr>
          <p:spPr bwMode="auto">
            <a:xfrm>
              <a:off x="2395" y="888"/>
              <a:ext cx="381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85" name="Rectangle 108"/>
            <p:cNvSpPr>
              <a:spLocks noChangeArrowheads="1"/>
            </p:cNvSpPr>
            <p:nvPr/>
          </p:nvSpPr>
          <p:spPr bwMode="auto">
            <a:xfrm>
              <a:off x="1519" y="1510"/>
              <a:ext cx="372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be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Rectangle 109"/>
            <p:cNvSpPr>
              <a:spLocks noChangeArrowheads="1"/>
            </p:cNvSpPr>
            <p:nvPr/>
          </p:nvSpPr>
          <p:spPr bwMode="auto">
            <a:xfrm>
              <a:off x="2098" y="1164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287" name="Line 110"/>
            <p:cNvSpPr>
              <a:spLocks noChangeShapeType="1"/>
            </p:cNvSpPr>
            <p:nvPr/>
          </p:nvSpPr>
          <p:spPr bwMode="auto">
            <a:xfrm>
              <a:off x="2161" y="680"/>
              <a:ext cx="0" cy="25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Rectangle 111"/>
            <p:cNvSpPr>
              <a:spLocks noChangeArrowheads="1"/>
            </p:cNvSpPr>
            <p:nvPr/>
          </p:nvSpPr>
          <p:spPr bwMode="auto">
            <a:xfrm>
              <a:off x="2191" y="603"/>
              <a:ext cx="246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Line 112"/>
            <p:cNvSpPr>
              <a:spLocks noChangeShapeType="1"/>
            </p:cNvSpPr>
            <p:nvPr/>
          </p:nvSpPr>
          <p:spPr bwMode="auto">
            <a:xfrm>
              <a:off x="1262" y="1273"/>
              <a:ext cx="25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Line 113"/>
            <p:cNvSpPr>
              <a:spLocks noChangeShapeType="1"/>
            </p:cNvSpPr>
            <p:nvPr/>
          </p:nvSpPr>
          <p:spPr bwMode="auto">
            <a:xfrm>
              <a:off x="713" y="1273"/>
              <a:ext cx="27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Rectangle 114"/>
            <p:cNvSpPr>
              <a:spLocks noChangeArrowheads="1"/>
            </p:cNvSpPr>
            <p:nvPr/>
          </p:nvSpPr>
          <p:spPr bwMode="auto">
            <a:xfrm>
              <a:off x="1262" y="888"/>
              <a:ext cx="255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Rectangle 115"/>
            <p:cNvSpPr>
              <a:spLocks noChangeArrowheads="1"/>
            </p:cNvSpPr>
            <p:nvPr/>
          </p:nvSpPr>
          <p:spPr bwMode="auto">
            <a:xfrm>
              <a:off x="713" y="895"/>
              <a:ext cx="22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293" name="Rectangle 82"/>
            <p:cNvSpPr>
              <a:spLocks noChangeArrowheads="1"/>
            </p:cNvSpPr>
            <p:nvPr/>
          </p:nvSpPr>
          <p:spPr bwMode="auto">
            <a:xfrm>
              <a:off x="3362" y="1176"/>
              <a:ext cx="114" cy="24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Oval 93"/>
            <p:cNvSpPr>
              <a:spLocks noChangeArrowheads="1"/>
            </p:cNvSpPr>
            <p:nvPr/>
          </p:nvSpPr>
          <p:spPr bwMode="auto">
            <a:xfrm>
              <a:off x="1180" y="1323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Oval 93"/>
            <p:cNvSpPr>
              <a:spLocks noChangeArrowheads="1"/>
            </p:cNvSpPr>
            <p:nvPr/>
          </p:nvSpPr>
          <p:spPr bwMode="auto">
            <a:xfrm>
              <a:off x="2773" y="564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Oval 93"/>
            <p:cNvSpPr>
              <a:spLocks noChangeArrowheads="1"/>
            </p:cNvSpPr>
            <p:nvPr/>
          </p:nvSpPr>
          <p:spPr bwMode="auto">
            <a:xfrm>
              <a:off x="1183" y="2025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Oval 93"/>
            <p:cNvSpPr>
              <a:spLocks noChangeArrowheads="1"/>
            </p:cNvSpPr>
            <p:nvPr/>
          </p:nvSpPr>
          <p:spPr bwMode="auto">
            <a:xfrm>
              <a:off x="2773" y="2022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37671" y="323396"/>
            <a:ext cx="54086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 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放大电路的微变等效电路</a:t>
            </a:r>
          </a:p>
        </p:txBody>
      </p:sp>
      <p:grpSp>
        <p:nvGrpSpPr>
          <p:cNvPr id="10" name="Group 71"/>
          <p:cNvGrpSpPr>
            <a:grpSpLocks/>
          </p:cNvGrpSpPr>
          <p:nvPr/>
        </p:nvGrpSpPr>
        <p:grpSpPr bwMode="auto">
          <a:xfrm>
            <a:off x="217714" y="2129745"/>
            <a:ext cx="4370784" cy="2600326"/>
            <a:chOff x="376" y="564"/>
            <a:chExt cx="3439" cy="1638"/>
          </a:xfrm>
        </p:grpSpPr>
        <p:sp>
          <p:nvSpPr>
            <p:cNvPr id="253" name="Line 72"/>
            <p:cNvSpPr>
              <a:spLocks noChangeShapeType="1"/>
            </p:cNvSpPr>
            <p:nvPr/>
          </p:nvSpPr>
          <p:spPr bwMode="auto">
            <a:xfrm>
              <a:off x="1204" y="1342"/>
              <a:ext cx="622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4" name="Line 73"/>
            <p:cNvSpPr>
              <a:spLocks noChangeShapeType="1"/>
            </p:cNvSpPr>
            <p:nvPr/>
          </p:nvSpPr>
          <p:spPr bwMode="auto">
            <a:xfrm>
              <a:off x="1829" y="1164"/>
              <a:ext cx="0" cy="35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Line 74"/>
            <p:cNvSpPr>
              <a:spLocks noChangeShapeType="1"/>
            </p:cNvSpPr>
            <p:nvPr/>
          </p:nvSpPr>
          <p:spPr bwMode="auto">
            <a:xfrm flipV="1">
              <a:off x="1829" y="1123"/>
              <a:ext cx="249" cy="1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6" name="Line 75"/>
            <p:cNvSpPr>
              <a:spLocks noChangeShapeType="1"/>
            </p:cNvSpPr>
            <p:nvPr/>
          </p:nvSpPr>
          <p:spPr bwMode="auto">
            <a:xfrm>
              <a:off x="1834" y="1392"/>
              <a:ext cx="249" cy="14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Line 76"/>
            <p:cNvSpPr>
              <a:spLocks noChangeShapeType="1"/>
            </p:cNvSpPr>
            <p:nvPr/>
          </p:nvSpPr>
          <p:spPr bwMode="auto">
            <a:xfrm>
              <a:off x="2076" y="567"/>
              <a:ext cx="0" cy="55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8" name="Line 77"/>
            <p:cNvSpPr>
              <a:spLocks noChangeShapeType="1"/>
            </p:cNvSpPr>
            <p:nvPr/>
          </p:nvSpPr>
          <p:spPr bwMode="auto">
            <a:xfrm>
              <a:off x="2065" y="1518"/>
              <a:ext cx="0" cy="58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9" name="Line 78"/>
            <p:cNvSpPr>
              <a:spLocks noChangeShapeType="1"/>
            </p:cNvSpPr>
            <p:nvPr/>
          </p:nvSpPr>
          <p:spPr bwMode="auto">
            <a:xfrm>
              <a:off x="2065" y="581"/>
              <a:ext cx="1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1" name="Group 79"/>
            <p:cNvGrpSpPr>
              <a:grpSpLocks/>
            </p:cNvGrpSpPr>
            <p:nvPr/>
          </p:nvGrpSpPr>
          <p:grpSpPr bwMode="auto">
            <a:xfrm>
              <a:off x="1147" y="1340"/>
              <a:ext cx="115" cy="720"/>
              <a:chOff x="1147" y="567"/>
              <a:chExt cx="115" cy="774"/>
            </a:xfrm>
          </p:grpSpPr>
          <p:sp>
            <p:nvSpPr>
              <p:cNvPr id="298" name="Line 80"/>
              <p:cNvSpPr>
                <a:spLocks noChangeShapeType="1"/>
              </p:cNvSpPr>
              <p:nvPr/>
            </p:nvSpPr>
            <p:spPr bwMode="auto">
              <a:xfrm>
                <a:off x="1204" y="567"/>
                <a:ext cx="0" cy="774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9" name="Rectangle 81"/>
              <p:cNvSpPr>
                <a:spLocks noChangeArrowheads="1"/>
              </p:cNvSpPr>
              <p:nvPr/>
            </p:nvSpPr>
            <p:spPr bwMode="auto">
              <a:xfrm>
                <a:off x="1147" y="833"/>
                <a:ext cx="115" cy="24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261" name="Rectangle 83"/>
            <p:cNvSpPr>
              <a:spLocks noChangeArrowheads="1"/>
            </p:cNvSpPr>
            <p:nvPr/>
          </p:nvSpPr>
          <p:spPr bwMode="auto">
            <a:xfrm>
              <a:off x="797" y="1527"/>
              <a:ext cx="381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62" name="Rectangle 84"/>
            <p:cNvSpPr>
              <a:spLocks noChangeArrowheads="1"/>
            </p:cNvSpPr>
            <p:nvPr/>
          </p:nvSpPr>
          <p:spPr bwMode="auto">
            <a:xfrm>
              <a:off x="1509" y="1332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3" name="Rectangle 85"/>
            <p:cNvSpPr>
              <a:spLocks noChangeArrowheads="1"/>
            </p:cNvSpPr>
            <p:nvPr/>
          </p:nvSpPr>
          <p:spPr bwMode="auto">
            <a:xfrm>
              <a:off x="1797" y="1853"/>
              <a:ext cx="245" cy="21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600" b="1" dirty="0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64" name="Rectangle 86"/>
            <p:cNvSpPr>
              <a:spLocks noChangeArrowheads="1"/>
            </p:cNvSpPr>
            <p:nvPr/>
          </p:nvSpPr>
          <p:spPr bwMode="auto">
            <a:xfrm>
              <a:off x="2083" y="1510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65" name="Rectangle 87"/>
            <p:cNvSpPr>
              <a:spLocks noChangeArrowheads="1"/>
            </p:cNvSpPr>
            <p:nvPr/>
          </p:nvSpPr>
          <p:spPr bwMode="auto">
            <a:xfrm>
              <a:off x="2094" y="930"/>
              <a:ext cx="201" cy="233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6" name="Line 88"/>
            <p:cNvSpPr>
              <a:spLocks noChangeShapeType="1"/>
            </p:cNvSpPr>
            <p:nvPr/>
          </p:nvSpPr>
          <p:spPr bwMode="auto">
            <a:xfrm>
              <a:off x="550" y="2050"/>
              <a:ext cx="22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7" name="Line 89"/>
            <p:cNvSpPr>
              <a:spLocks noChangeShapeType="1"/>
            </p:cNvSpPr>
            <p:nvPr/>
          </p:nvSpPr>
          <p:spPr bwMode="auto">
            <a:xfrm>
              <a:off x="535" y="1343"/>
              <a:ext cx="68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8" name="Oval 91"/>
            <p:cNvSpPr>
              <a:spLocks noChangeArrowheads="1"/>
            </p:cNvSpPr>
            <p:nvPr/>
          </p:nvSpPr>
          <p:spPr bwMode="auto">
            <a:xfrm>
              <a:off x="524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9" name="Oval 92"/>
            <p:cNvSpPr>
              <a:spLocks noChangeArrowheads="1"/>
            </p:cNvSpPr>
            <p:nvPr/>
          </p:nvSpPr>
          <p:spPr bwMode="auto">
            <a:xfrm>
              <a:off x="497" y="13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0" name="Oval 93"/>
            <p:cNvSpPr>
              <a:spLocks noChangeArrowheads="1"/>
            </p:cNvSpPr>
            <p:nvPr/>
          </p:nvSpPr>
          <p:spPr bwMode="auto">
            <a:xfrm>
              <a:off x="2038" y="2028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1" name="Line 94"/>
            <p:cNvSpPr>
              <a:spLocks noChangeShapeType="1"/>
            </p:cNvSpPr>
            <p:nvPr/>
          </p:nvSpPr>
          <p:spPr bwMode="auto">
            <a:xfrm>
              <a:off x="2065" y="2050"/>
              <a:ext cx="0" cy="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2" name="Line 95"/>
            <p:cNvSpPr>
              <a:spLocks noChangeShapeType="1"/>
            </p:cNvSpPr>
            <p:nvPr/>
          </p:nvSpPr>
          <p:spPr bwMode="auto">
            <a:xfrm>
              <a:off x="1983" y="2202"/>
              <a:ext cx="1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3" name="Rectangle 96"/>
            <p:cNvSpPr>
              <a:spLocks noChangeArrowheads="1"/>
            </p:cNvSpPr>
            <p:nvPr/>
          </p:nvSpPr>
          <p:spPr bwMode="auto">
            <a:xfrm>
              <a:off x="445" y="134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74" name="Rectangle 97"/>
            <p:cNvSpPr>
              <a:spLocks noChangeArrowheads="1"/>
            </p:cNvSpPr>
            <p:nvPr/>
          </p:nvSpPr>
          <p:spPr bwMode="auto">
            <a:xfrm>
              <a:off x="434" y="1890"/>
              <a:ext cx="229" cy="19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75" name="Rectangle 98"/>
            <p:cNvSpPr>
              <a:spLocks noChangeArrowheads="1"/>
            </p:cNvSpPr>
            <p:nvPr/>
          </p:nvSpPr>
          <p:spPr bwMode="auto">
            <a:xfrm>
              <a:off x="376" y="1525"/>
              <a:ext cx="32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6" name="Rectangle 99"/>
            <p:cNvSpPr>
              <a:spLocks noChangeArrowheads="1"/>
            </p:cNvSpPr>
            <p:nvPr/>
          </p:nvSpPr>
          <p:spPr bwMode="auto">
            <a:xfrm>
              <a:off x="3415" y="680"/>
              <a:ext cx="201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77" name="Rectangle 100"/>
            <p:cNvSpPr>
              <a:spLocks noChangeArrowheads="1"/>
            </p:cNvSpPr>
            <p:nvPr/>
          </p:nvSpPr>
          <p:spPr bwMode="auto">
            <a:xfrm>
              <a:off x="3423" y="1605"/>
              <a:ext cx="228" cy="19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78" name="Rectangle 101"/>
            <p:cNvSpPr>
              <a:spLocks noChangeArrowheads="1"/>
            </p:cNvSpPr>
            <p:nvPr/>
          </p:nvSpPr>
          <p:spPr bwMode="auto">
            <a:xfrm>
              <a:off x="3452" y="1059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79" name="Line 102"/>
            <p:cNvSpPr>
              <a:spLocks noChangeShapeType="1"/>
            </p:cNvSpPr>
            <p:nvPr/>
          </p:nvSpPr>
          <p:spPr bwMode="auto">
            <a:xfrm>
              <a:off x="2796" y="581"/>
              <a:ext cx="0" cy="14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0" name="Rectangle 103"/>
            <p:cNvSpPr>
              <a:spLocks noChangeArrowheads="1"/>
            </p:cNvSpPr>
            <p:nvPr/>
          </p:nvSpPr>
          <p:spPr bwMode="auto">
            <a:xfrm>
              <a:off x="2739" y="1176"/>
              <a:ext cx="115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1" name="Rectangle 104"/>
            <p:cNvSpPr>
              <a:spLocks noChangeArrowheads="1"/>
            </p:cNvSpPr>
            <p:nvPr/>
          </p:nvSpPr>
          <p:spPr bwMode="auto">
            <a:xfrm>
              <a:off x="3076" y="874"/>
              <a:ext cx="36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cs typeface="Times New Roman" pitchFamily="18" charset="0"/>
                </a:rPr>
                <a:t>L</a:t>
              </a:r>
            </a:p>
          </p:txBody>
        </p:sp>
        <p:sp>
          <p:nvSpPr>
            <p:cNvPr id="282" name="Line 105"/>
            <p:cNvSpPr>
              <a:spLocks noChangeShapeType="1"/>
            </p:cNvSpPr>
            <p:nvPr/>
          </p:nvSpPr>
          <p:spPr bwMode="auto">
            <a:xfrm>
              <a:off x="2796" y="205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3" name="Line 106"/>
            <p:cNvSpPr>
              <a:spLocks noChangeShapeType="1"/>
            </p:cNvSpPr>
            <p:nvPr/>
          </p:nvSpPr>
          <p:spPr bwMode="auto">
            <a:xfrm>
              <a:off x="3417" y="581"/>
              <a:ext cx="0" cy="14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4" name="Rectangle 107"/>
            <p:cNvSpPr>
              <a:spLocks noChangeArrowheads="1"/>
            </p:cNvSpPr>
            <p:nvPr/>
          </p:nvSpPr>
          <p:spPr bwMode="auto">
            <a:xfrm>
              <a:off x="2395" y="888"/>
              <a:ext cx="381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85" name="Rectangle 108"/>
            <p:cNvSpPr>
              <a:spLocks noChangeArrowheads="1"/>
            </p:cNvSpPr>
            <p:nvPr/>
          </p:nvSpPr>
          <p:spPr bwMode="auto">
            <a:xfrm>
              <a:off x="1519" y="1510"/>
              <a:ext cx="372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be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6" name="Rectangle 109"/>
            <p:cNvSpPr>
              <a:spLocks noChangeArrowheads="1"/>
            </p:cNvSpPr>
            <p:nvPr/>
          </p:nvSpPr>
          <p:spPr bwMode="auto">
            <a:xfrm>
              <a:off x="2098" y="1164"/>
              <a:ext cx="363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287" name="Line 110"/>
            <p:cNvSpPr>
              <a:spLocks noChangeShapeType="1"/>
            </p:cNvSpPr>
            <p:nvPr/>
          </p:nvSpPr>
          <p:spPr bwMode="auto">
            <a:xfrm>
              <a:off x="2161" y="680"/>
              <a:ext cx="0" cy="25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8" name="Rectangle 111"/>
            <p:cNvSpPr>
              <a:spLocks noChangeArrowheads="1"/>
            </p:cNvSpPr>
            <p:nvPr/>
          </p:nvSpPr>
          <p:spPr bwMode="auto">
            <a:xfrm>
              <a:off x="2191" y="603"/>
              <a:ext cx="246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c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Line 112"/>
            <p:cNvSpPr>
              <a:spLocks noChangeShapeType="1"/>
            </p:cNvSpPr>
            <p:nvPr/>
          </p:nvSpPr>
          <p:spPr bwMode="auto">
            <a:xfrm>
              <a:off x="1262" y="1273"/>
              <a:ext cx="25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0" name="Line 113"/>
            <p:cNvSpPr>
              <a:spLocks noChangeShapeType="1"/>
            </p:cNvSpPr>
            <p:nvPr/>
          </p:nvSpPr>
          <p:spPr bwMode="auto">
            <a:xfrm>
              <a:off x="713" y="1273"/>
              <a:ext cx="279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1" name="Rectangle 114"/>
            <p:cNvSpPr>
              <a:spLocks noChangeArrowheads="1"/>
            </p:cNvSpPr>
            <p:nvPr/>
          </p:nvSpPr>
          <p:spPr bwMode="auto">
            <a:xfrm>
              <a:off x="1262" y="888"/>
              <a:ext cx="255" cy="33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altLang="zh-CN" sz="28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2" name="Rectangle 115"/>
            <p:cNvSpPr>
              <a:spLocks noChangeArrowheads="1"/>
            </p:cNvSpPr>
            <p:nvPr/>
          </p:nvSpPr>
          <p:spPr bwMode="auto">
            <a:xfrm>
              <a:off x="713" y="895"/>
              <a:ext cx="22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cs typeface="Times New Roman" pitchFamily="18" charset="0"/>
                </a:rPr>
                <a:t>i</a:t>
              </a:r>
            </a:p>
          </p:txBody>
        </p:sp>
        <p:sp>
          <p:nvSpPr>
            <p:cNvPr id="293" name="Rectangle 82"/>
            <p:cNvSpPr>
              <a:spLocks noChangeArrowheads="1"/>
            </p:cNvSpPr>
            <p:nvPr/>
          </p:nvSpPr>
          <p:spPr bwMode="auto">
            <a:xfrm>
              <a:off x="3362" y="1176"/>
              <a:ext cx="114" cy="24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4" name="Oval 93"/>
            <p:cNvSpPr>
              <a:spLocks noChangeArrowheads="1"/>
            </p:cNvSpPr>
            <p:nvPr/>
          </p:nvSpPr>
          <p:spPr bwMode="auto">
            <a:xfrm>
              <a:off x="1180" y="1323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5" name="Oval 93"/>
            <p:cNvSpPr>
              <a:spLocks noChangeArrowheads="1"/>
            </p:cNvSpPr>
            <p:nvPr/>
          </p:nvSpPr>
          <p:spPr bwMode="auto">
            <a:xfrm>
              <a:off x="2773" y="564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6" name="Oval 93"/>
            <p:cNvSpPr>
              <a:spLocks noChangeArrowheads="1"/>
            </p:cNvSpPr>
            <p:nvPr/>
          </p:nvSpPr>
          <p:spPr bwMode="auto">
            <a:xfrm>
              <a:off x="1183" y="2025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7" name="Oval 93"/>
            <p:cNvSpPr>
              <a:spLocks noChangeArrowheads="1"/>
            </p:cNvSpPr>
            <p:nvPr/>
          </p:nvSpPr>
          <p:spPr bwMode="auto">
            <a:xfrm>
              <a:off x="2773" y="2022"/>
              <a:ext cx="45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9" name="Text Box 6"/>
          <p:cNvSpPr txBox="1">
            <a:spLocks noChangeArrowheads="1"/>
          </p:cNvSpPr>
          <p:nvPr/>
        </p:nvSpPr>
        <p:spPr bwMode="auto">
          <a:xfrm>
            <a:off x="451757" y="1085398"/>
            <a:ext cx="4337957" cy="954107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将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交流通路中的三极管用其微变等效电路来代替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0" name="AutoShape 151"/>
          <p:cNvSpPr>
            <a:spLocks noChangeArrowheads="1"/>
          </p:cNvSpPr>
          <p:nvPr/>
        </p:nvSpPr>
        <p:spPr bwMode="auto">
          <a:xfrm>
            <a:off x="4559527" y="3393168"/>
            <a:ext cx="2132012" cy="987425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4400 h 21600"/>
              <a:gd name="T20" fmla="*/ 18514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200"/>
                </a:lnTo>
                <a:lnTo>
                  <a:pt x="12343" y="7200"/>
                </a:lnTo>
                <a:lnTo>
                  <a:pt x="12343" y="14400"/>
                </a:lnTo>
                <a:lnTo>
                  <a:pt x="0" y="14400"/>
                </a:lnTo>
                <a:lnTo>
                  <a:pt x="0" y="21600"/>
                </a:lnTo>
                <a:lnTo>
                  <a:pt x="18514" y="21600"/>
                </a:lnTo>
                <a:lnTo>
                  <a:pt x="18514" y="7200"/>
                </a:lnTo>
                <a:lnTo>
                  <a:pt x="21600" y="7200"/>
                </a:lnTo>
                <a:close/>
              </a:path>
            </a:pathLst>
          </a:custGeom>
          <a:solidFill>
            <a:srgbClr val="0070C0"/>
          </a:solidFill>
          <a:ln w="38100" algn="ctr">
            <a:noFill/>
            <a:miter lim="800000"/>
            <a:headEnd/>
            <a:tailEnd type="none" w="med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7" name="Group 110"/>
          <p:cNvGrpSpPr>
            <a:grpSpLocks/>
          </p:cNvGrpSpPr>
          <p:nvPr/>
        </p:nvGrpSpPr>
        <p:grpSpPr bwMode="auto">
          <a:xfrm>
            <a:off x="4669970" y="925314"/>
            <a:ext cx="4318174" cy="2711648"/>
            <a:chOff x="1118" y="136"/>
            <a:chExt cx="3432" cy="2117"/>
          </a:xfrm>
        </p:grpSpPr>
        <p:grpSp>
          <p:nvGrpSpPr>
            <p:cNvPr id="218" name="Group 111"/>
            <p:cNvGrpSpPr>
              <a:grpSpLocks/>
            </p:cNvGrpSpPr>
            <p:nvPr/>
          </p:nvGrpSpPr>
          <p:grpSpPr bwMode="auto">
            <a:xfrm>
              <a:off x="1118" y="488"/>
              <a:ext cx="310" cy="1765"/>
              <a:chOff x="1254" y="488"/>
              <a:chExt cx="310" cy="1765"/>
            </a:xfrm>
          </p:grpSpPr>
          <p:sp>
            <p:nvSpPr>
              <p:cNvPr id="252" name="Rectangle 112"/>
              <p:cNvSpPr>
                <a:spLocks noChangeArrowheads="1"/>
              </p:cNvSpPr>
              <p:nvPr/>
            </p:nvSpPr>
            <p:spPr bwMode="auto">
              <a:xfrm>
                <a:off x="1294" y="1962"/>
                <a:ext cx="116" cy="29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endParaRPr lang="zh-CN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0" name="Text Box 113"/>
              <p:cNvSpPr txBox="1">
                <a:spLocks noChangeArrowheads="1"/>
              </p:cNvSpPr>
              <p:nvPr/>
            </p:nvSpPr>
            <p:spPr bwMode="auto">
              <a:xfrm>
                <a:off x="1301" y="1062"/>
                <a:ext cx="25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0" name="Text Box 114"/>
              <p:cNvSpPr txBox="1">
                <a:spLocks noChangeArrowheads="1"/>
              </p:cNvSpPr>
              <p:nvPr/>
            </p:nvSpPr>
            <p:spPr bwMode="auto">
              <a:xfrm>
                <a:off x="1254" y="488"/>
                <a:ext cx="3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301" name="Text Box 115"/>
              <p:cNvSpPr txBox="1">
                <a:spLocks noChangeArrowheads="1"/>
              </p:cNvSpPr>
              <p:nvPr/>
            </p:nvSpPr>
            <p:spPr bwMode="auto">
              <a:xfrm>
                <a:off x="1312" y="1403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302" name="Oval 116"/>
              <p:cNvSpPr>
                <a:spLocks noChangeArrowheads="1"/>
              </p:cNvSpPr>
              <p:nvPr/>
            </p:nvSpPr>
            <p:spPr bwMode="auto">
              <a:xfrm>
                <a:off x="1424" y="1848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3" name="Oval 117"/>
              <p:cNvSpPr>
                <a:spLocks noChangeArrowheads="1"/>
              </p:cNvSpPr>
              <p:nvPr/>
            </p:nvSpPr>
            <p:spPr bwMode="auto">
              <a:xfrm>
                <a:off x="1448" y="50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219" name="Group 118"/>
            <p:cNvGrpSpPr>
              <a:grpSpLocks/>
            </p:cNvGrpSpPr>
            <p:nvPr/>
          </p:nvGrpSpPr>
          <p:grpSpPr bwMode="auto">
            <a:xfrm>
              <a:off x="1336" y="136"/>
              <a:ext cx="3214" cy="1847"/>
              <a:chOff x="1336" y="136"/>
              <a:chExt cx="3214" cy="1847"/>
            </a:xfrm>
          </p:grpSpPr>
          <p:grpSp>
            <p:nvGrpSpPr>
              <p:cNvPr id="220" name="Group 119"/>
              <p:cNvGrpSpPr>
                <a:grpSpLocks/>
              </p:cNvGrpSpPr>
              <p:nvPr/>
            </p:nvGrpSpPr>
            <p:grpSpPr bwMode="auto">
              <a:xfrm>
                <a:off x="1697" y="527"/>
                <a:ext cx="103" cy="1364"/>
                <a:chOff x="1763" y="527"/>
                <a:chExt cx="103" cy="1364"/>
              </a:xfrm>
            </p:grpSpPr>
            <p:sp>
              <p:nvSpPr>
                <p:cNvPr id="250" name="Line 120"/>
                <p:cNvSpPr>
                  <a:spLocks noChangeShapeType="1"/>
                </p:cNvSpPr>
                <p:nvPr/>
              </p:nvSpPr>
              <p:spPr bwMode="auto">
                <a:xfrm>
                  <a:off x="1817" y="527"/>
                  <a:ext cx="0" cy="13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51" name="Rectangle 121"/>
                <p:cNvSpPr>
                  <a:spLocks noChangeArrowheads="1"/>
                </p:cNvSpPr>
                <p:nvPr/>
              </p:nvSpPr>
              <p:spPr bwMode="auto">
                <a:xfrm>
                  <a:off x="1763" y="1042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21" name="Line 122"/>
              <p:cNvSpPr>
                <a:spLocks noChangeShapeType="1"/>
              </p:cNvSpPr>
              <p:nvPr/>
            </p:nvSpPr>
            <p:spPr bwMode="auto">
              <a:xfrm>
                <a:off x="1348" y="527"/>
                <a:ext cx="9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2" name="Line 123"/>
              <p:cNvSpPr>
                <a:spLocks noChangeShapeType="1"/>
              </p:cNvSpPr>
              <p:nvPr/>
            </p:nvSpPr>
            <p:spPr bwMode="auto">
              <a:xfrm>
                <a:off x="2288" y="527"/>
                <a:ext cx="0" cy="54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3" name="Line 124"/>
              <p:cNvSpPr>
                <a:spLocks noChangeShapeType="1"/>
              </p:cNvSpPr>
              <p:nvPr/>
            </p:nvSpPr>
            <p:spPr bwMode="auto">
              <a:xfrm>
                <a:off x="2288" y="1343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4" name="Line 125"/>
              <p:cNvSpPr>
                <a:spLocks noChangeShapeType="1"/>
              </p:cNvSpPr>
              <p:nvPr/>
            </p:nvSpPr>
            <p:spPr bwMode="auto">
              <a:xfrm flipV="1">
                <a:off x="1336" y="1871"/>
                <a:ext cx="2855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5" name="Line 126"/>
              <p:cNvSpPr>
                <a:spLocks noChangeShapeType="1"/>
              </p:cNvSpPr>
              <p:nvPr/>
            </p:nvSpPr>
            <p:spPr bwMode="auto">
              <a:xfrm>
                <a:off x="2624" y="1871"/>
                <a:ext cx="0" cy="1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6" name="Line 127"/>
              <p:cNvSpPr>
                <a:spLocks noChangeShapeType="1"/>
              </p:cNvSpPr>
              <p:nvPr/>
            </p:nvSpPr>
            <p:spPr bwMode="auto">
              <a:xfrm>
                <a:off x="2520" y="1974"/>
                <a:ext cx="19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7" name="Text Box 128"/>
              <p:cNvSpPr txBox="1">
                <a:spLocks noChangeArrowheads="1"/>
              </p:cNvSpPr>
              <p:nvPr/>
            </p:nvSpPr>
            <p:spPr bwMode="auto">
              <a:xfrm>
                <a:off x="2312" y="875"/>
                <a:ext cx="43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endPara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8" name="Text Box 129"/>
              <p:cNvSpPr txBox="1">
                <a:spLocks noChangeArrowheads="1"/>
              </p:cNvSpPr>
              <p:nvPr/>
            </p:nvSpPr>
            <p:spPr bwMode="auto">
              <a:xfrm>
                <a:off x="2527" y="1295"/>
                <a:ext cx="34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</a:t>
                </a: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9" name="Text Box 130"/>
              <p:cNvSpPr txBox="1">
                <a:spLocks noChangeArrowheads="1"/>
              </p:cNvSpPr>
              <p:nvPr/>
            </p:nvSpPr>
            <p:spPr bwMode="auto">
              <a:xfrm>
                <a:off x="1835" y="173"/>
                <a:ext cx="23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0" name="Text Box 131"/>
              <p:cNvSpPr txBox="1">
                <a:spLocks noChangeArrowheads="1"/>
              </p:cNvSpPr>
              <p:nvPr/>
            </p:nvSpPr>
            <p:spPr bwMode="auto">
              <a:xfrm>
                <a:off x="3166" y="136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1" name="Oval 132"/>
              <p:cNvSpPr>
                <a:spLocks noChangeArrowheads="1"/>
              </p:cNvSpPr>
              <p:nvPr/>
            </p:nvSpPr>
            <p:spPr bwMode="auto">
              <a:xfrm>
                <a:off x="2600" y="1843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2" name="Line 133"/>
              <p:cNvSpPr>
                <a:spLocks noChangeShapeType="1"/>
              </p:cNvSpPr>
              <p:nvPr/>
            </p:nvSpPr>
            <p:spPr bwMode="auto">
              <a:xfrm>
                <a:off x="3002" y="479"/>
                <a:ext cx="0" cy="1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3" name="AutoShape 134"/>
              <p:cNvSpPr>
                <a:spLocks noChangeArrowheads="1"/>
              </p:cNvSpPr>
              <p:nvPr/>
            </p:nvSpPr>
            <p:spPr bwMode="auto">
              <a:xfrm>
                <a:off x="2867" y="951"/>
                <a:ext cx="270" cy="452"/>
              </a:xfrm>
              <a:prstGeom prst="flowChartSort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  <a:headEnd/>
                <a:tailEnd type="none" w="med" len="lg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4" name="Line 135"/>
              <p:cNvSpPr>
                <a:spLocks noChangeShapeType="1"/>
              </p:cNvSpPr>
              <p:nvPr/>
            </p:nvSpPr>
            <p:spPr bwMode="auto">
              <a:xfrm>
                <a:off x="3599" y="479"/>
                <a:ext cx="0" cy="13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5" name="Line 136"/>
              <p:cNvSpPr>
                <a:spLocks noChangeShapeType="1"/>
              </p:cNvSpPr>
              <p:nvPr/>
            </p:nvSpPr>
            <p:spPr bwMode="auto">
              <a:xfrm>
                <a:off x="3002" y="1448"/>
                <a:ext cx="0" cy="264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6" name="Rectangle 137"/>
              <p:cNvSpPr>
                <a:spLocks noChangeArrowheads="1"/>
              </p:cNvSpPr>
              <p:nvPr/>
            </p:nvSpPr>
            <p:spPr bwMode="auto">
              <a:xfrm>
                <a:off x="3189" y="897"/>
                <a:ext cx="320" cy="29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237" name="Rectangle 138"/>
              <p:cNvSpPr>
                <a:spLocks noChangeArrowheads="1"/>
              </p:cNvSpPr>
              <p:nvPr/>
            </p:nvSpPr>
            <p:spPr bwMode="auto">
              <a:xfrm>
                <a:off x="1847" y="1007"/>
                <a:ext cx="320" cy="29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238" name="Line 139"/>
              <p:cNvSpPr>
                <a:spLocks noChangeShapeType="1"/>
              </p:cNvSpPr>
              <p:nvPr/>
            </p:nvSpPr>
            <p:spPr bwMode="auto">
              <a:xfrm>
                <a:off x="3002" y="488"/>
                <a:ext cx="1189" cy="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9" name="Line 140"/>
              <p:cNvSpPr>
                <a:spLocks noChangeShapeType="1"/>
              </p:cNvSpPr>
              <p:nvPr/>
            </p:nvSpPr>
            <p:spPr bwMode="auto">
              <a:xfrm rot="-5400000">
                <a:off x="2066" y="395"/>
                <a:ext cx="0" cy="264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0" name="Line 141"/>
              <p:cNvSpPr>
                <a:spLocks noChangeShapeType="1"/>
              </p:cNvSpPr>
              <p:nvPr/>
            </p:nvSpPr>
            <p:spPr bwMode="auto">
              <a:xfrm rot="5400000">
                <a:off x="3269" y="360"/>
                <a:ext cx="0" cy="264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1" name="Rectangle 142"/>
              <p:cNvSpPr>
                <a:spLocks noChangeArrowheads="1"/>
              </p:cNvSpPr>
              <p:nvPr/>
            </p:nvSpPr>
            <p:spPr bwMode="auto">
              <a:xfrm>
                <a:off x="2236" y="1041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2" name="Rectangle 143"/>
              <p:cNvSpPr>
                <a:spLocks noChangeArrowheads="1"/>
              </p:cNvSpPr>
              <p:nvPr/>
            </p:nvSpPr>
            <p:spPr bwMode="auto">
              <a:xfrm>
                <a:off x="3555" y="1059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243" name="Group 144"/>
              <p:cNvGrpSpPr>
                <a:grpSpLocks/>
              </p:cNvGrpSpPr>
              <p:nvPr/>
            </p:nvGrpSpPr>
            <p:grpSpPr bwMode="auto">
              <a:xfrm>
                <a:off x="3760" y="441"/>
                <a:ext cx="790" cy="1431"/>
                <a:chOff x="3818" y="441"/>
                <a:chExt cx="790" cy="1431"/>
              </a:xfrm>
            </p:grpSpPr>
            <p:sp>
              <p:nvSpPr>
                <p:cNvPr id="244" name="Text Box 145"/>
                <p:cNvSpPr txBox="1">
                  <a:spLocks noChangeArrowheads="1"/>
                </p:cNvSpPr>
                <p:nvPr/>
              </p:nvSpPr>
              <p:spPr bwMode="auto">
                <a:xfrm>
                  <a:off x="4330" y="1029"/>
                  <a:ext cx="278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o</a:t>
                  </a:r>
                  <a:endPara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45" name="Text Box 146"/>
                <p:cNvSpPr txBox="1">
                  <a:spLocks noChangeArrowheads="1"/>
                </p:cNvSpPr>
                <p:nvPr/>
              </p:nvSpPr>
              <p:spPr bwMode="auto">
                <a:xfrm>
                  <a:off x="4320" y="1451"/>
                  <a:ext cx="21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_</a:t>
                  </a:r>
                </a:p>
              </p:txBody>
            </p:sp>
            <p:sp>
              <p:nvSpPr>
                <p:cNvPr id="246" name="Text Box 147"/>
                <p:cNvSpPr txBox="1">
                  <a:spLocks noChangeArrowheads="1"/>
                </p:cNvSpPr>
                <p:nvPr/>
              </p:nvSpPr>
              <p:spPr bwMode="auto">
                <a:xfrm>
                  <a:off x="4282" y="441"/>
                  <a:ext cx="310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＋</a:t>
                  </a:r>
                </a:p>
              </p:txBody>
            </p:sp>
            <p:sp>
              <p:nvSpPr>
                <p:cNvPr id="247" name="Line 148"/>
                <p:cNvSpPr>
                  <a:spLocks noChangeShapeType="1"/>
                </p:cNvSpPr>
                <p:nvPr/>
              </p:nvSpPr>
              <p:spPr bwMode="auto">
                <a:xfrm>
                  <a:off x="4240" y="488"/>
                  <a:ext cx="0" cy="1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48" name="Rectangle 149"/>
                <p:cNvSpPr>
                  <a:spLocks noChangeArrowheads="1"/>
                </p:cNvSpPr>
                <p:nvPr/>
              </p:nvSpPr>
              <p:spPr bwMode="auto">
                <a:xfrm>
                  <a:off x="3818" y="1007"/>
                  <a:ext cx="306" cy="291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L</a:t>
                  </a:r>
                </a:p>
              </p:txBody>
            </p:sp>
            <p:sp>
              <p:nvSpPr>
                <p:cNvPr id="249" name="Rectangle 150"/>
                <p:cNvSpPr>
                  <a:spLocks noChangeArrowheads="1"/>
                </p:cNvSpPr>
                <p:nvPr/>
              </p:nvSpPr>
              <p:spPr bwMode="auto">
                <a:xfrm>
                  <a:off x="4188" y="1059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700"/>
                            </p:stCondLst>
                            <p:childTnLst>
                              <p:par>
                                <p:cTn id="1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19806" y="257629"/>
            <a:ext cx="2656496" cy="58477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3200" b="1" u="sng" dirty="0">
                <a:latin typeface="华文中宋" pitchFamily="2" charset="-122"/>
                <a:ea typeface="华文中宋" pitchFamily="2" charset="-122"/>
              </a:rPr>
              <a:t>电压放大倍数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66914" y="3091317"/>
            <a:ext cx="5073825" cy="523220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）带负载时的电压放大倍数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07406" y="3552597"/>
            <a:ext cx="2867025" cy="1279524"/>
            <a:chOff x="1867" y="2711"/>
            <a:chExt cx="1806" cy="80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867" y="2967"/>
              <a:ext cx="253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</a:p>
          </p:txBody>
        </p: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088" y="2711"/>
              <a:ext cx="1585" cy="806"/>
              <a:chOff x="2088" y="2711"/>
              <a:chExt cx="1585" cy="806"/>
            </a:xfrm>
          </p:grpSpPr>
          <p:sp>
            <p:nvSpPr>
              <p:cNvPr id="7" name="Text Box 7"/>
              <p:cNvSpPr txBox="1">
                <a:spLocks noChangeArrowheads="1"/>
              </p:cNvSpPr>
              <p:nvPr/>
            </p:nvSpPr>
            <p:spPr bwMode="auto">
              <a:xfrm>
                <a:off x="2477" y="2768"/>
                <a:ext cx="1196" cy="368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32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//</a:t>
                </a:r>
                <a:r>
                  <a:rPr lang="en-US" altLang="zh-CN" sz="32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r>
                  <a:rPr lang="zh-CN" altLang="en-US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</a:p>
            </p:txBody>
          </p:sp>
          <p:grpSp>
            <p:nvGrpSpPr>
              <p:cNvPr id="8" name="Group 8"/>
              <p:cNvGrpSpPr>
                <a:grpSpLocks/>
              </p:cNvGrpSpPr>
              <p:nvPr/>
            </p:nvGrpSpPr>
            <p:grpSpPr bwMode="auto">
              <a:xfrm>
                <a:off x="2088" y="2711"/>
                <a:ext cx="1440" cy="806"/>
                <a:chOff x="2088" y="2862"/>
                <a:chExt cx="1440" cy="806"/>
              </a:xfrm>
            </p:grpSpPr>
            <p:grpSp>
              <p:nvGrpSpPr>
                <p:cNvPr id="9" name="Group 9"/>
                <p:cNvGrpSpPr>
                  <a:grpSpLocks/>
                </p:cNvGrpSpPr>
                <p:nvPr/>
              </p:nvGrpSpPr>
              <p:grpSpPr bwMode="auto">
                <a:xfrm>
                  <a:off x="2092" y="2862"/>
                  <a:ext cx="598" cy="434"/>
                  <a:chOff x="2736" y="2831"/>
                  <a:chExt cx="598" cy="434"/>
                </a:xfrm>
              </p:grpSpPr>
              <p:sp>
                <p:nvSpPr>
                  <p:cNvPr id="1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56" y="2897"/>
                    <a:ext cx="278" cy="3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32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I</a:t>
                    </a:r>
                    <a:r>
                      <a:rPr lang="en-US" altLang="zh-CN" sz="2800" b="1" baseline="-2500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b</a:t>
                    </a:r>
                  </a:p>
                </p:txBody>
              </p:sp>
              <p:sp>
                <p:nvSpPr>
                  <p:cNvPr id="17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4" y="2831"/>
                    <a:ext cx="167" cy="233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 type="none" w="sm" len="lg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18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•</a:t>
                    </a:r>
                  </a:p>
                </p:txBody>
              </p:sp>
              <p:sp>
                <p:nvSpPr>
                  <p:cNvPr id="18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36" y="2880"/>
                    <a:ext cx="388" cy="368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 type="none" w="med" len="lg"/>
                    <a:tailEnd type="none" w="med" len="lg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pPr eaLnBrk="0" hangingPunct="0"/>
                    <a:r>
                      <a:rPr lang="en-US" altLang="zh-CN" sz="3200" b="1" i="1" dirty="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rPr>
                      <a:t>–</a:t>
                    </a:r>
                    <a:endParaRPr lang="en-US" altLang="zh-CN" sz="28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  <a:sym typeface="Symbol" pitchFamily="18" charset="2"/>
                    </a:endParaRPr>
                  </a:p>
                </p:txBody>
              </p:sp>
            </p:grpSp>
            <p:grpSp>
              <p:nvGrpSpPr>
                <p:cNvPr id="10" name="Group 13"/>
                <p:cNvGrpSpPr>
                  <a:grpSpLocks/>
                </p:cNvGrpSpPr>
                <p:nvPr/>
              </p:nvGrpSpPr>
              <p:grpSpPr bwMode="auto">
                <a:xfrm>
                  <a:off x="2088" y="3222"/>
                  <a:ext cx="1440" cy="446"/>
                  <a:chOff x="2088" y="3222"/>
                  <a:chExt cx="1440" cy="446"/>
                </a:xfrm>
              </p:grpSpPr>
              <p:sp>
                <p:nvSpPr>
                  <p:cNvPr id="11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088" y="3306"/>
                    <a:ext cx="144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</p:spPr>
                <p:txBody>
                  <a:bodyPr wrap="none" anchor="ctr"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80" y="3222"/>
                    <a:ext cx="514" cy="446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36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 </a:t>
                    </a:r>
                    <a:r>
                      <a:rPr lang="en-US" altLang="zh-CN" sz="40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r</a:t>
                    </a:r>
                    <a:r>
                      <a:rPr lang="en-US" altLang="zh-CN" sz="2800" b="1" baseline="-2500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be</a:t>
                    </a:r>
                    <a:r>
                      <a:rPr lang="en-US" altLang="zh-CN" sz="28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 </a:t>
                    </a:r>
                  </a:p>
                </p:txBody>
              </p:sp>
              <p:grpSp>
                <p:nvGrpSpPr>
                  <p:cNvPr id="13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2843" y="3234"/>
                    <a:ext cx="278" cy="434"/>
                    <a:chOff x="2099" y="2735"/>
                    <a:chExt cx="278" cy="434"/>
                  </a:xfrm>
                </p:grpSpPr>
                <p:sp>
                  <p:nvSpPr>
                    <p:cNvPr id="14" name="Text Box 1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099" y="2801"/>
                      <a:ext cx="278" cy="3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r>
                        <a:rPr lang="en-US" altLang="zh-CN" sz="3200" b="1" i="1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lang="en-US" altLang="zh-CN" sz="2800" b="1" baseline="-2500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b</a:t>
                      </a:r>
                    </a:p>
                  </p:txBody>
                </p:sp>
                <p:sp>
                  <p:nvSpPr>
                    <p:cNvPr id="15" name="Text Box 1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136" y="2735"/>
                      <a:ext cx="167" cy="233"/>
                    </a:xfrm>
                    <a:prstGeom prst="rect">
                      <a:avLst/>
                    </a:prstGeom>
                    <a:noFill/>
                    <a:ln w="28575">
                      <a:noFill/>
                      <a:miter lim="800000"/>
                      <a:headEnd/>
                      <a:tailEnd type="none" w="sm" len="lg"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r>
                        <a:rPr lang="en-US" altLang="zh-CN" sz="1800" b="1" i="1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•</a:t>
                      </a:r>
                    </a:p>
                  </p:txBody>
                </p:sp>
              </p:grpSp>
            </p:grpSp>
          </p:grpSp>
        </p:grpSp>
      </p:grp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5617255" y="3711349"/>
            <a:ext cx="2562224" cy="1238250"/>
            <a:chOff x="3504" y="2970"/>
            <a:chExt cx="1614" cy="780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3504" y="3110"/>
              <a:ext cx="556" cy="64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–</a:t>
              </a:r>
              <a:r>
                <a:rPr lang="en-US" altLang="zh-CN" sz="32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endPara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endParaRPr>
            </a:p>
            <a:p>
              <a:pPr eaLnBrk="0" hangingPunct="0"/>
              <a:endPara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4116" y="333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Text Box 22"/>
            <p:cNvSpPr txBox="1">
              <a:spLocks noChangeArrowheads="1"/>
            </p:cNvSpPr>
            <p:nvPr/>
          </p:nvSpPr>
          <p:spPr bwMode="auto">
            <a:xfrm>
              <a:off x="3922" y="2970"/>
              <a:ext cx="1196" cy="368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//</a:t>
              </a:r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4328" y="3186"/>
              <a:ext cx="385" cy="446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pPr eaLnBrk="0" hangingPunct="0"/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</p:grpSp>
      <p:grpSp>
        <p:nvGrpSpPr>
          <p:cNvPr id="25" name="Group 25"/>
          <p:cNvGrpSpPr>
            <a:grpSpLocks/>
          </p:cNvGrpSpPr>
          <p:nvPr/>
        </p:nvGrpSpPr>
        <p:grpSpPr bwMode="auto">
          <a:xfrm>
            <a:off x="1642154" y="3587527"/>
            <a:ext cx="1387474" cy="1238251"/>
            <a:chOff x="3147" y="3225"/>
            <a:chExt cx="874" cy="78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3147" y="3314"/>
              <a:ext cx="872" cy="691"/>
              <a:chOff x="1028" y="2970"/>
              <a:chExt cx="872" cy="691"/>
            </a:xfrm>
          </p:grpSpPr>
          <p:sp>
            <p:nvSpPr>
              <p:cNvPr id="30" name="Line 27"/>
              <p:cNvSpPr>
                <a:spLocks noChangeShapeType="1"/>
              </p:cNvSpPr>
              <p:nvPr/>
            </p:nvSpPr>
            <p:spPr bwMode="auto">
              <a:xfrm>
                <a:off x="1572" y="3291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31" name="Group 28"/>
              <p:cNvGrpSpPr>
                <a:grpSpLocks/>
              </p:cNvGrpSpPr>
              <p:nvPr/>
            </p:nvGrpSpPr>
            <p:grpSpPr bwMode="auto">
              <a:xfrm>
                <a:off x="1028" y="2970"/>
                <a:ext cx="593" cy="494"/>
                <a:chOff x="3884" y="3504"/>
                <a:chExt cx="593" cy="494"/>
              </a:xfrm>
            </p:grpSpPr>
            <p:grpSp>
              <p:nvGrpSpPr>
                <p:cNvPr id="34" name="Group 29"/>
                <p:cNvGrpSpPr>
                  <a:grpSpLocks/>
                </p:cNvGrpSpPr>
                <p:nvPr/>
              </p:nvGrpSpPr>
              <p:grpSpPr bwMode="auto">
                <a:xfrm>
                  <a:off x="3884" y="3504"/>
                  <a:ext cx="370" cy="494"/>
                  <a:chOff x="3884" y="3504"/>
                  <a:chExt cx="370" cy="494"/>
                </a:xfrm>
              </p:grpSpPr>
              <p:sp>
                <p:nvSpPr>
                  <p:cNvPr id="36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84" y="3591"/>
                    <a:ext cx="370" cy="407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 type="none" w="sm" len="lg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36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A</a:t>
                    </a:r>
                    <a:r>
                      <a:rPr lang="en-US" altLang="zh-CN" sz="2800" b="1" i="1" baseline="-2500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u</a:t>
                    </a:r>
                  </a:p>
                </p:txBody>
              </p:sp>
              <p:sp>
                <p:nvSpPr>
                  <p:cNvPr id="37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09" y="3504"/>
                    <a:ext cx="116" cy="231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 type="none" w="sm" len="lg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endParaRPr lang="zh-CN" altLang="zh-CN" sz="18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35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4224" y="3648"/>
                  <a:ext cx="253" cy="33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800" b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=</a:t>
                  </a:r>
                </a:p>
              </p:txBody>
            </p:sp>
          </p:grpSp>
          <p:sp>
            <p:nvSpPr>
              <p:cNvPr id="32" name="Text Box 33"/>
              <p:cNvSpPr txBox="1">
                <a:spLocks noChangeArrowheads="1"/>
              </p:cNvSpPr>
              <p:nvPr/>
            </p:nvSpPr>
            <p:spPr bwMode="auto">
              <a:xfrm>
                <a:off x="1554" y="3293"/>
                <a:ext cx="346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32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Text Box 34"/>
              <p:cNvSpPr txBox="1">
                <a:spLocks noChangeArrowheads="1"/>
              </p:cNvSpPr>
              <p:nvPr/>
            </p:nvSpPr>
            <p:spPr bwMode="auto">
              <a:xfrm>
                <a:off x="1643" y="3234"/>
                <a:ext cx="167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3642" y="3225"/>
              <a:ext cx="379" cy="416"/>
              <a:chOff x="4403" y="1038"/>
              <a:chExt cx="379" cy="416"/>
            </a:xfrm>
          </p:grpSpPr>
          <p:sp>
            <p:nvSpPr>
              <p:cNvPr id="28" name="Text Box 36"/>
              <p:cNvSpPr txBox="1">
                <a:spLocks noChangeArrowheads="1"/>
              </p:cNvSpPr>
              <p:nvPr/>
            </p:nvSpPr>
            <p:spPr bwMode="auto">
              <a:xfrm>
                <a:off x="4403" y="1086"/>
                <a:ext cx="379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32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4497" y="1038"/>
                <a:ext cx="167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</p:grpSp>
      <p:grpSp>
        <p:nvGrpSpPr>
          <p:cNvPr id="83" name="组合 82"/>
          <p:cNvGrpSpPr/>
          <p:nvPr/>
        </p:nvGrpSpPr>
        <p:grpSpPr>
          <a:xfrm>
            <a:off x="3334890" y="404132"/>
            <a:ext cx="4859784" cy="2792867"/>
            <a:chOff x="1374548" y="292611"/>
            <a:chExt cx="5992813" cy="3655503"/>
          </a:xfrm>
        </p:grpSpPr>
        <p:sp>
          <p:nvSpPr>
            <p:cNvPr id="39" name="Rectangle 59"/>
            <p:cNvSpPr>
              <a:spLocks noChangeArrowheads="1"/>
            </p:cNvSpPr>
            <p:nvPr/>
          </p:nvSpPr>
          <p:spPr bwMode="auto">
            <a:xfrm>
              <a:off x="5153910" y="292611"/>
              <a:ext cx="256802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40" name="Group 60"/>
            <p:cNvGrpSpPr>
              <a:grpSpLocks/>
            </p:cNvGrpSpPr>
            <p:nvPr/>
          </p:nvGrpSpPr>
          <p:grpSpPr bwMode="auto">
            <a:xfrm>
              <a:off x="1374548" y="379413"/>
              <a:ext cx="5992813" cy="3568701"/>
              <a:chOff x="1003" y="431"/>
              <a:chExt cx="3775" cy="2248"/>
            </a:xfrm>
          </p:grpSpPr>
          <p:sp>
            <p:nvSpPr>
              <p:cNvPr id="41" name="Rectangle 61"/>
              <p:cNvSpPr>
                <a:spLocks noChangeArrowheads="1"/>
              </p:cNvSpPr>
              <p:nvPr/>
            </p:nvSpPr>
            <p:spPr bwMode="auto">
              <a:xfrm>
                <a:off x="1037" y="2388"/>
                <a:ext cx="116" cy="29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endParaRPr lang="zh-CN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2" name="Text Box 62"/>
              <p:cNvSpPr txBox="1">
                <a:spLocks noChangeArrowheads="1"/>
              </p:cNvSpPr>
              <p:nvPr/>
            </p:nvSpPr>
            <p:spPr bwMode="auto">
              <a:xfrm>
                <a:off x="1004" y="151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3" name="Text Box 63"/>
              <p:cNvSpPr txBox="1">
                <a:spLocks noChangeArrowheads="1"/>
              </p:cNvSpPr>
              <p:nvPr/>
            </p:nvSpPr>
            <p:spPr bwMode="auto">
              <a:xfrm>
                <a:off x="1003" y="914"/>
                <a:ext cx="3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44" name="Text Box 64"/>
              <p:cNvSpPr txBox="1">
                <a:spLocks noChangeArrowheads="1"/>
              </p:cNvSpPr>
              <p:nvPr/>
            </p:nvSpPr>
            <p:spPr bwMode="auto">
              <a:xfrm>
                <a:off x="1063" y="182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45" name="Oval 65"/>
              <p:cNvSpPr>
                <a:spLocks noChangeArrowheads="1"/>
              </p:cNvSpPr>
              <p:nvPr/>
            </p:nvSpPr>
            <p:spPr bwMode="auto">
              <a:xfrm>
                <a:off x="1174" y="2274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6" name="Oval 66"/>
              <p:cNvSpPr>
                <a:spLocks noChangeArrowheads="1"/>
              </p:cNvSpPr>
              <p:nvPr/>
            </p:nvSpPr>
            <p:spPr bwMode="auto">
              <a:xfrm>
                <a:off x="1201" y="929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47" name="Group 67"/>
              <p:cNvGrpSpPr>
                <a:grpSpLocks/>
              </p:cNvGrpSpPr>
              <p:nvPr/>
            </p:nvGrpSpPr>
            <p:grpSpPr bwMode="auto">
              <a:xfrm>
                <a:off x="1455" y="953"/>
                <a:ext cx="103" cy="1364"/>
                <a:chOff x="1763" y="527"/>
                <a:chExt cx="103" cy="1364"/>
              </a:xfrm>
            </p:grpSpPr>
            <p:sp>
              <p:nvSpPr>
                <p:cNvPr id="81" name="Line 68"/>
                <p:cNvSpPr>
                  <a:spLocks noChangeShapeType="1"/>
                </p:cNvSpPr>
                <p:nvPr/>
              </p:nvSpPr>
              <p:spPr bwMode="auto">
                <a:xfrm>
                  <a:off x="1817" y="527"/>
                  <a:ext cx="0" cy="13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" name="Rectangle 69"/>
                <p:cNvSpPr>
                  <a:spLocks noChangeArrowheads="1"/>
                </p:cNvSpPr>
                <p:nvPr/>
              </p:nvSpPr>
              <p:spPr bwMode="auto">
                <a:xfrm>
                  <a:off x="1763" y="1042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8" name="Line 70"/>
              <p:cNvSpPr>
                <a:spLocks noChangeShapeType="1"/>
              </p:cNvSpPr>
              <p:nvPr/>
            </p:nvSpPr>
            <p:spPr bwMode="auto">
              <a:xfrm>
                <a:off x="1240" y="953"/>
                <a:ext cx="10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" name="Line 71"/>
              <p:cNvSpPr>
                <a:spLocks noChangeShapeType="1"/>
              </p:cNvSpPr>
              <p:nvPr/>
            </p:nvSpPr>
            <p:spPr bwMode="auto">
              <a:xfrm>
                <a:off x="2278" y="953"/>
                <a:ext cx="0" cy="54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0" name="Line 72"/>
              <p:cNvSpPr>
                <a:spLocks noChangeShapeType="1"/>
              </p:cNvSpPr>
              <p:nvPr/>
            </p:nvSpPr>
            <p:spPr bwMode="auto">
              <a:xfrm>
                <a:off x="2278" y="1769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1" name="Line 73"/>
              <p:cNvSpPr>
                <a:spLocks noChangeShapeType="1"/>
              </p:cNvSpPr>
              <p:nvPr/>
            </p:nvSpPr>
            <p:spPr bwMode="auto">
              <a:xfrm flipV="1">
                <a:off x="1227" y="2297"/>
                <a:ext cx="3152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2" name="Line 74"/>
              <p:cNvSpPr>
                <a:spLocks noChangeShapeType="1"/>
              </p:cNvSpPr>
              <p:nvPr/>
            </p:nvSpPr>
            <p:spPr bwMode="auto">
              <a:xfrm>
                <a:off x="2649" y="2297"/>
                <a:ext cx="0" cy="1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3" name="Line 75"/>
              <p:cNvSpPr>
                <a:spLocks noChangeShapeType="1"/>
              </p:cNvSpPr>
              <p:nvPr/>
            </p:nvSpPr>
            <p:spPr bwMode="auto">
              <a:xfrm>
                <a:off x="2536" y="2414"/>
                <a:ext cx="21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4" name="Text Box 76"/>
              <p:cNvSpPr txBox="1">
                <a:spLocks noChangeArrowheads="1"/>
              </p:cNvSpPr>
              <p:nvPr/>
            </p:nvSpPr>
            <p:spPr bwMode="auto">
              <a:xfrm>
                <a:off x="2305" y="1301"/>
                <a:ext cx="47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5" name="Text Box 77"/>
              <p:cNvSpPr txBox="1">
                <a:spLocks noChangeArrowheads="1"/>
              </p:cNvSpPr>
              <p:nvPr/>
            </p:nvSpPr>
            <p:spPr bwMode="auto">
              <a:xfrm>
                <a:off x="2633" y="1803"/>
                <a:ext cx="35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I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Text Box 78"/>
              <p:cNvSpPr txBox="1">
                <a:spLocks noChangeArrowheads="1"/>
              </p:cNvSpPr>
              <p:nvPr/>
            </p:nvSpPr>
            <p:spPr bwMode="auto">
              <a:xfrm>
                <a:off x="1754" y="612"/>
                <a:ext cx="24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Text Box 79"/>
              <p:cNvSpPr txBox="1">
                <a:spLocks noChangeArrowheads="1"/>
              </p:cNvSpPr>
              <p:nvPr/>
            </p:nvSpPr>
            <p:spPr bwMode="auto">
              <a:xfrm>
                <a:off x="3332" y="553"/>
                <a:ext cx="23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8" name="Oval 80"/>
              <p:cNvSpPr>
                <a:spLocks noChangeArrowheads="1"/>
              </p:cNvSpPr>
              <p:nvPr/>
            </p:nvSpPr>
            <p:spPr bwMode="auto">
              <a:xfrm>
                <a:off x="2623" y="2269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9" name="Line 81"/>
              <p:cNvSpPr>
                <a:spLocks noChangeShapeType="1"/>
              </p:cNvSpPr>
              <p:nvPr/>
            </p:nvSpPr>
            <p:spPr bwMode="auto">
              <a:xfrm>
                <a:off x="3067" y="905"/>
                <a:ext cx="0" cy="1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0" name="AutoShape 82"/>
              <p:cNvSpPr>
                <a:spLocks noChangeArrowheads="1"/>
              </p:cNvSpPr>
              <p:nvPr/>
            </p:nvSpPr>
            <p:spPr bwMode="auto">
              <a:xfrm>
                <a:off x="2917" y="1377"/>
                <a:ext cx="299" cy="452"/>
              </a:xfrm>
              <a:prstGeom prst="flowChartSort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  <a:headEnd/>
                <a:tailEnd type="none" w="med" len="lg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Line 83"/>
              <p:cNvSpPr>
                <a:spLocks noChangeShapeType="1"/>
              </p:cNvSpPr>
              <p:nvPr/>
            </p:nvSpPr>
            <p:spPr bwMode="auto">
              <a:xfrm>
                <a:off x="3726" y="905"/>
                <a:ext cx="0" cy="13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Line 84"/>
              <p:cNvSpPr>
                <a:spLocks noChangeShapeType="1"/>
              </p:cNvSpPr>
              <p:nvPr/>
            </p:nvSpPr>
            <p:spPr bwMode="auto">
              <a:xfrm>
                <a:off x="3067" y="1874"/>
                <a:ext cx="0" cy="264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3" name="Rectangle 85"/>
              <p:cNvSpPr>
                <a:spLocks noChangeArrowheads="1"/>
              </p:cNvSpPr>
              <p:nvPr/>
            </p:nvSpPr>
            <p:spPr bwMode="auto">
              <a:xfrm>
                <a:off x="3332" y="1442"/>
                <a:ext cx="320" cy="29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86"/>
              <p:cNvSpPr>
                <a:spLocks noChangeArrowheads="1"/>
              </p:cNvSpPr>
              <p:nvPr/>
            </p:nvSpPr>
            <p:spPr bwMode="auto">
              <a:xfrm>
                <a:off x="1529" y="1457"/>
                <a:ext cx="482" cy="38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Line 87"/>
              <p:cNvSpPr>
                <a:spLocks noChangeShapeType="1"/>
              </p:cNvSpPr>
              <p:nvPr/>
            </p:nvSpPr>
            <p:spPr bwMode="auto">
              <a:xfrm>
                <a:off x="3067" y="914"/>
                <a:ext cx="1312" cy="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6" name="Line 88"/>
              <p:cNvSpPr>
                <a:spLocks noChangeShapeType="1"/>
              </p:cNvSpPr>
              <p:nvPr/>
            </p:nvSpPr>
            <p:spPr bwMode="auto">
              <a:xfrm rot="-5400000">
                <a:off x="2033" y="807"/>
                <a:ext cx="0" cy="292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7" name="Line 89"/>
              <p:cNvSpPr>
                <a:spLocks noChangeShapeType="1"/>
              </p:cNvSpPr>
              <p:nvPr/>
            </p:nvSpPr>
            <p:spPr bwMode="auto">
              <a:xfrm rot="5400000">
                <a:off x="3362" y="772"/>
                <a:ext cx="0" cy="291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8" name="Rectangle 90"/>
              <p:cNvSpPr>
                <a:spLocks noChangeArrowheads="1"/>
              </p:cNvSpPr>
              <p:nvPr/>
            </p:nvSpPr>
            <p:spPr bwMode="auto">
              <a:xfrm>
                <a:off x="2221" y="1467"/>
                <a:ext cx="11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9" name="Rectangle 91"/>
              <p:cNvSpPr>
                <a:spLocks noChangeArrowheads="1"/>
              </p:cNvSpPr>
              <p:nvPr/>
            </p:nvSpPr>
            <p:spPr bwMode="auto">
              <a:xfrm>
                <a:off x="3677" y="1485"/>
                <a:ext cx="114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70" name="Group 92"/>
              <p:cNvGrpSpPr>
                <a:grpSpLocks/>
              </p:cNvGrpSpPr>
              <p:nvPr/>
            </p:nvGrpSpPr>
            <p:grpSpPr bwMode="auto">
              <a:xfrm>
                <a:off x="4002" y="867"/>
                <a:ext cx="776" cy="1431"/>
                <a:chOff x="3904" y="441"/>
                <a:chExt cx="702" cy="1431"/>
              </a:xfrm>
            </p:grpSpPr>
            <p:sp>
              <p:nvSpPr>
                <p:cNvPr id="7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315" y="1122"/>
                  <a:ext cx="29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o</a:t>
                  </a:r>
                  <a:endPara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331" y="1451"/>
                  <a:ext cx="19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_</a:t>
                  </a:r>
                </a:p>
              </p:txBody>
            </p:sp>
            <p:sp>
              <p:nvSpPr>
                <p:cNvPr id="77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298" y="441"/>
                  <a:ext cx="28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＋</a:t>
                  </a:r>
                </a:p>
              </p:txBody>
            </p:sp>
            <p:sp>
              <p:nvSpPr>
                <p:cNvPr id="78" name="Line 96"/>
                <p:cNvSpPr>
                  <a:spLocks noChangeShapeType="1"/>
                </p:cNvSpPr>
                <p:nvPr/>
              </p:nvSpPr>
              <p:spPr bwMode="auto">
                <a:xfrm>
                  <a:off x="4240" y="488"/>
                  <a:ext cx="0" cy="1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9" name="Rectangle 97"/>
                <p:cNvSpPr>
                  <a:spLocks noChangeArrowheads="1"/>
                </p:cNvSpPr>
                <p:nvPr/>
              </p:nvSpPr>
              <p:spPr bwMode="auto">
                <a:xfrm>
                  <a:off x="3904" y="1007"/>
                  <a:ext cx="277" cy="291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L</a:t>
                  </a:r>
                </a:p>
              </p:txBody>
            </p:sp>
            <p:sp>
              <p:nvSpPr>
                <p:cNvPr id="80" name="Rectangle 98"/>
                <p:cNvSpPr>
                  <a:spLocks noChangeArrowheads="1"/>
                </p:cNvSpPr>
                <p:nvPr/>
              </p:nvSpPr>
              <p:spPr bwMode="auto">
                <a:xfrm>
                  <a:off x="4188" y="1059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71" name="Rectangle 99"/>
              <p:cNvSpPr>
                <a:spLocks noChangeArrowheads="1"/>
              </p:cNvSpPr>
              <p:nvPr/>
            </p:nvSpPr>
            <p:spPr bwMode="auto">
              <a:xfrm>
                <a:off x="1812" y="431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2" name="Rectangle 100"/>
              <p:cNvSpPr>
                <a:spLocks noChangeArrowheads="1"/>
              </p:cNvSpPr>
              <p:nvPr/>
            </p:nvSpPr>
            <p:spPr bwMode="auto">
              <a:xfrm>
                <a:off x="4561" y="13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3" name="Rectangle 101"/>
              <p:cNvSpPr>
                <a:spLocks noChangeArrowheads="1"/>
              </p:cNvSpPr>
              <p:nvPr/>
            </p:nvSpPr>
            <p:spPr bwMode="auto">
              <a:xfrm>
                <a:off x="1111" y="1305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4" name="Rectangle 102"/>
              <p:cNvSpPr>
                <a:spLocks noChangeArrowheads="1"/>
              </p:cNvSpPr>
              <p:nvPr/>
            </p:nvSpPr>
            <p:spPr bwMode="auto">
              <a:xfrm>
                <a:off x="2829" y="1615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19806" y="257629"/>
            <a:ext cx="2656496" cy="58477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3200" b="1" u="sng" dirty="0">
                <a:latin typeface="华文中宋" pitchFamily="2" charset="-122"/>
                <a:ea typeface="华文中宋" pitchFamily="2" charset="-122"/>
              </a:rPr>
              <a:t>电压放大倍数</a:t>
            </a:r>
          </a:p>
        </p:txBody>
      </p:sp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842509" y="3243942"/>
            <a:ext cx="5434501" cy="523220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）不带负载时的电压放大倍数</a:t>
            </a:r>
          </a:p>
        </p:txBody>
      </p:sp>
      <p:grpSp>
        <p:nvGrpSpPr>
          <p:cNvPr id="38" name="组合 82"/>
          <p:cNvGrpSpPr/>
          <p:nvPr/>
        </p:nvGrpSpPr>
        <p:grpSpPr>
          <a:xfrm>
            <a:off x="3334890" y="404132"/>
            <a:ext cx="4859784" cy="2792867"/>
            <a:chOff x="1374548" y="292611"/>
            <a:chExt cx="5992813" cy="3655503"/>
          </a:xfrm>
        </p:grpSpPr>
        <p:sp>
          <p:nvSpPr>
            <p:cNvPr id="39" name="Rectangle 59"/>
            <p:cNvSpPr>
              <a:spLocks noChangeArrowheads="1"/>
            </p:cNvSpPr>
            <p:nvPr/>
          </p:nvSpPr>
          <p:spPr bwMode="auto">
            <a:xfrm>
              <a:off x="5153910" y="292611"/>
              <a:ext cx="256802" cy="33855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40" name="Group 60"/>
            <p:cNvGrpSpPr>
              <a:grpSpLocks/>
            </p:cNvGrpSpPr>
            <p:nvPr/>
          </p:nvGrpSpPr>
          <p:grpSpPr bwMode="auto">
            <a:xfrm>
              <a:off x="1374548" y="379413"/>
              <a:ext cx="5992813" cy="3568701"/>
              <a:chOff x="1003" y="431"/>
              <a:chExt cx="3775" cy="2248"/>
            </a:xfrm>
          </p:grpSpPr>
          <p:sp>
            <p:nvSpPr>
              <p:cNvPr id="41" name="Rectangle 61"/>
              <p:cNvSpPr>
                <a:spLocks noChangeArrowheads="1"/>
              </p:cNvSpPr>
              <p:nvPr/>
            </p:nvSpPr>
            <p:spPr bwMode="auto">
              <a:xfrm>
                <a:off x="1037" y="2388"/>
                <a:ext cx="116" cy="291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endParaRPr lang="zh-CN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2" name="Text Box 62"/>
              <p:cNvSpPr txBox="1">
                <a:spLocks noChangeArrowheads="1"/>
              </p:cNvSpPr>
              <p:nvPr/>
            </p:nvSpPr>
            <p:spPr bwMode="auto">
              <a:xfrm>
                <a:off x="1004" y="151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3" name="Text Box 63"/>
              <p:cNvSpPr txBox="1">
                <a:spLocks noChangeArrowheads="1"/>
              </p:cNvSpPr>
              <p:nvPr/>
            </p:nvSpPr>
            <p:spPr bwMode="auto">
              <a:xfrm>
                <a:off x="1003" y="914"/>
                <a:ext cx="31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44" name="Text Box 64"/>
              <p:cNvSpPr txBox="1">
                <a:spLocks noChangeArrowheads="1"/>
              </p:cNvSpPr>
              <p:nvPr/>
            </p:nvSpPr>
            <p:spPr bwMode="auto">
              <a:xfrm>
                <a:off x="1063" y="182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45" name="Oval 65"/>
              <p:cNvSpPr>
                <a:spLocks noChangeArrowheads="1"/>
              </p:cNvSpPr>
              <p:nvPr/>
            </p:nvSpPr>
            <p:spPr bwMode="auto">
              <a:xfrm>
                <a:off x="1174" y="2274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6" name="Oval 66"/>
              <p:cNvSpPr>
                <a:spLocks noChangeArrowheads="1"/>
              </p:cNvSpPr>
              <p:nvPr/>
            </p:nvSpPr>
            <p:spPr bwMode="auto">
              <a:xfrm>
                <a:off x="1201" y="929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47" name="Group 67"/>
              <p:cNvGrpSpPr>
                <a:grpSpLocks/>
              </p:cNvGrpSpPr>
              <p:nvPr/>
            </p:nvGrpSpPr>
            <p:grpSpPr bwMode="auto">
              <a:xfrm>
                <a:off x="1455" y="953"/>
                <a:ext cx="103" cy="1364"/>
                <a:chOff x="1763" y="527"/>
                <a:chExt cx="103" cy="1364"/>
              </a:xfrm>
            </p:grpSpPr>
            <p:sp>
              <p:nvSpPr>
                <p:cNvPr id="81" name="Line 68"/>
                <p:cNvSpPr>
                  <a:spLocks noChangeShapeType="1"/>
                </p:cNvSpPr>
                <p:nvPr/>
              </p:nvSpPr>
              <p:spPr bwMode="auto">
                <a:xfrm>
                  <a:off x="1817" y="527"/>
                  <a:ext cx="0" cy="136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82" name="Rectangle 69"/>
                <p:cNvSpPr>
                  <a:spLocks noChangeArrowheads="1"/>
                </p:cNvSpPr>
                <p:nvPr/>
              </p:nvSpPr>
              <p:spPr bwMode="auto">
                <a:xfrm>
                  <a:off x="1763" y="1042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8" name="Line 70"/>
              <p:cNvSpPr>
                <a:spLocks noChangeShapeType="1"/>
              </p:cNvSpPr>
              <p:nvPr/>
            </p:nvSpPr>
            <p:spPr bwMode="auto">
              <a:xfrm>
                <a:off x="1240" y="953"/>
                <a:ext cx="10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" name="Line 71"/>
              <p:cNvSpPr>
                <a:spLocks noChangeShapeType="1"/>
              </p:cNvSpPr>
              <p:nvPr/>
            </p:nvSpPr>
            <p:spPr bwMode="auto">
              <a:xfrm>
                <a:off x="2278" y="953"/>
                <a:ext cx="0" cy="54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0" name="Line 72"/>
              <p:cNvSpPr>
                <a:spLocks noChangeShapeType="1"/>
              </p:cNvSpPr>
              <p:nvPr/>
            </p:nvSpPr>
            <p:spPr bwMode="auto">
              <a:xfrm>
                <a:off x="2278" y="1769"/>
                <a:ext cx="0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1" name="Line 73"/>
              <p:cNvSpPr>
                <a:spLocks noChangeShapeType="1"/>
              </p:cNvSpPr>
              <p:nvPr/>
            </p:nvSpPr>
            <p:spPr bwMode="auto">
              <a:xfrm flipV="1">
                <a:off x="1227" y="2297"/>
                <a:ext cx="3152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2" name="Line 74"/>
              <p:cNvSpPr>
                <a:spLocks noChangeShapeType="1"/>
              </p:cNvSpPr>
              <p:nvPr/>
            </p:nvSpPr>
            <p:spPr bwMode="auto">
              <a:xfrm>
                <a:off x="2649" y="2297"/>
                <a:ext cx="0" cy="11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3" name="Line 75"/>
              <p:cNvSpPr>
                <a:spLocks noChangeShapeType="1"/>
              </p:cNvSpPr>
              <p:nvPr/>
            </p:nvSpPr>
            <p:spPr bwMode="auto">
              <a:xfrm>
                <a:off x="2536" y="2414"/>
                <a:ext cx="212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4" name="Text Box 76"/>
              <p:cNvSpPr txBox="1">
                <a:spLocks noChangeArrowheads="1"/>
              </p:cNvSpPr>
              <p:nvPr/>
            </p:nvSpPr>
            <p:spPr bwMode="auto">
              <a:xfrm>
                <a:off x="2305" y="1301"/>
                <a:ext cx="47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endPara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5" name="Text Box 77"/>
              <p:cNvSpPr txBox="1">
                <a:spLocks noChangeArrowheads="1"/>
              </p:cNvSpPr>
              <p:nvPr/>
            </p:nvSpPr>
            <p:spPr bwMode="auto">
              <a:xfrm>
                <a:off x="2633" y="1803"/>
                <a:ext cx="35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I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56" name="Text Box 78"/>
              <p:cNvSpPr txBox="1">
                <a:spLocks noChangeArrowheads="1"/>
              </p:cNvSpPr>
              <p:nvPr/>
            </p:nvSpPr>
            <p:spPr bwMode="auto">
              <a:xfrm>
                <a:off x="1754" y="612"/>
                <a:ext cx="24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57" name="Text Box 79"/>
              <p:cNvSpPr txBox="1">
                <a:spLocks noChangeArrowheads="1"/>
              </p:cNvSpPr>
              <p:nvPr/>
            </p:nvSpPr>
            <p:spPr bwMode="auto">
              <a:xfrm>
                <a:off x="3332" y="553"/>
                <a:ext cx="23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8" name="Oval 80"/>
              <p:cNvSpPr>
                <a:spLocks noChangeArrowheads="1"/>
              </p:cNvSpPr>
              <p:nvPr/>
            </p:nvSpPr>
            <p:spPr bwMode="auto">
              <a:xfrm>
                <a:off x="2623" y="2269"/>
                <a:ext cx="56" cy="5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9" name="Line 81"/>
              <p:cNvSpPr>
                <a:spLocks noChangeShapeType="1"/>
              </p:cNvSpPr>
              <p:nvPr/>
            </p:nvSpPr>
            <p:spPr bwMode="auto">
              <a:xfrm>
                <a:off x="3067" y="905"/>
                <a:ext cx="0" cy="139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0" name="AutoShape 82"/>
              <p:cNvSpPr>
                <a:spLocks noChangeArrowheads="1"/>
              </p:cNvSpPr>
              <p:nvPr/>
            </p:nvSpPr>
            <p:spPr bwMode="auto">
              <a:xfrm>
                <a:off x="2917" y="1377"/>
                <a:ext cx="299" cy="452"/>
              </a:xfrm>
              <a:prstGeom prst="flowChartSort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0" scaled="1"/>
              </a:gradFill>
              <a:ln w="38100">
                <a:solidFill>
                  <a:schemeClr val="tx1"/>
                </a:solidFill>
                <a:miter lim="800000"/>
                <a:headEnd/>
                <a:tailEnd type="none" w="med" len="lg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Line 83"/>
              <p:cNvSpPr>
                <a:spLocks noChangeShapeType="1"/>
              </p:cNvSpPr>
              <p:nvPr/>
            </p:nvSpPr>
            <p:spPr bwMode="auto">
              <a:xfrm>
                <a:off x="3726" y="905"/>
                <a:ext cx="0" cy="13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Line 84"/>
              <p:cNvSpPr>
                <a:spLocks noChangeShapeType="1"/>
              </p:cNvSpPr>
              <p:nvPr/>
            </p:nvSpPr>
            <p:spPr bwMode="auto">
              <a:xfrm>
                <a:off x="3067" y="1874"/>
                <a:ext cx="0" cy="264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3" name="Rectangle 85"/>
              <p:cNvSpPr>
                <a:spLocks noChangeArrowheads="1"/>
              </p:cNvSpPr>
              <p:nvPr/>
            </p:nvSpPr>
            <p:spPr bwMode="auto">
              <a:xfrm>
                <a:off x="3332" y="1442"/>
                <a:ext cx="320" cy="29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64" name="Rectangle 86"/>
              <p:cNvSpPr>
                <a:spLocks noChangeArrowheads="1"/>
              </p:cNvSpPr>
              <p:nvPr/>
            </p:nvSpPr>
            <p:spPr bwMode="auto">
              <a:xfrm>
                <a:off x="1529" y="1457"/>
                <a:ext cx="482" cy="38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65" name="Line 87"/>
              <p:cNvSpPr>
                <a:spLocks noChangeShapeType="1"/>
              </p:cNvSpPr>
              <p:nvPr/>
            </p:nvSpPr>
            <p:spPr bwMode="auto">
              <a:xfrm>
                <a:off x="3067" y="914"/>
                <a:ext cx="1312" cy="1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6" name="Line 88"/>
              <p:cNvSpPr>
                <a:spLocks noChangeShapeType="1"/>
              </p:cNvSpPr>
              <p:nvPr/>
            </p:nvSpPr>
            <p:spPr bwMode="auto">
              <a:xfrm rot="-5400000">
                <a:off x="2033" y="807"/>
                <a:ext cx="0" cy="292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7" name="Line 89"/>
              <p:cNvSpPr>
                <a:spLocks noChangeShapeType="1"/>
              </p:cNvSpPr>
              <p:nvPr/>
            </p:nvSpPr>
            <p:spPr bwMode="auto">
              <a:xfrm rot="5400000">
                <a:off x="3362" y="772"/>
                <a:ext cx="0" cy="291"/>
              </a:xfrm>
              <a:prstGeom prst="line">
                <a:avLst/>
              </a:prstGeom>
              <a:noFill/>
              <a:ln w="41275">
                <a:solidFill>
                  <a:srgbClr val="C00000"/>
                </a:solidFill>
                <a:round/>
                <a:headEnd/>
                <a:tailEnd type="arrow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8" name="Rectangle 90"/>
              <p:cNvSpPr>
                <a:spLocks noChangeArrowheads="1"/>
              </p:cNvSpPr>
              <p:nvPr/>
            </p:nvSpPr>
            <p:spPr bwMode="auto">
              <a:xfrm>
                <a:off x="2221" y="1467"/>
                <a:ext cx="11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9" name="Rectangle 91"/>
              <p:cNvSpPr>
                <a:spLocks noChangeArrowheads="1"/>
              </p:cNvSpPr>
              <p:nvPr/>
            </p:nvSpPr>
            <p:spPr bwMode="auto">
              <a:xfrm>
                <a:off x="3677" y="1485"/>
                <a:ext cx="114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70" name="Group 92"/>
              <p:cNvGrpSpPr>
                <a:grpSpLocks/>
              </p:cNvGrpSpPr>
              <p:nvPr/>
            </p:nvGrpSpPr>
            <p:grpSpPr bwMode="auto">
              <a:xfrm>
                <a:off x="4002" y="867"/>
                <a:ext cx="776" cy="1431"/>
                <a:chOff x="3904" y="441"/>
                <a:chExt cx="702" cy="1431"/>
              </a:xfrm>
            </p:grpSpPr>
            <p:sp>
              <p:nvSpPr>
                <p:cNvPr id="75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4315" y="1122"/>
                  <a:ext cx="29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4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4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o</a:t>
                  </a:r>
                  <a:endPara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6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4331" y="1451"/>
                  <a:ext cx="19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_</a:t>
                  </a:r>
                </a:p>
              </p:txBody>
            </p:sp>
            <p:sp>
              <p:nvSpPr>
                <p:cNvPr id="77" name="Text Box 95"/>
                <p:cNvSpPr txBox="1">
                  <a:spLocks noChangeArrowheads="1"/>
                </p:cNvSpPr>
                <p:nvPr/>
              </p:nvSpPr>
              <p:spPr bwMode="auto">
                <a:xfrm>
                  <a:off x="4298" y="441"/>
                  <a:ext cx="28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＋</a:t>
                  </a:r>
                </a:p>
              </p:txBody>
            </p:sp>
            <p:sp>
              <p:nvSpPr>
                <p:cNvPr id="78" name="Line 96"/>
                <p:cNvSpPr>
                  <a:spLocks noChangeShapeType="1"/>
                </p:cNvSpPr>
                <p:nvPr/>
              </p:nvSpPr>
              <p:spPr bwMode="auto">
                <a:xfrm>
                  <a:off x="4240" y="488"/>
                  <a:ext cx="0" cy="1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9" name="Rectangle 97"/>
                <p:cNvSpPr>
                  <a:spLocks noChangeArrowheads="1"/>
                </p:cNvSpPr>
                <p:nvPr/>
              </p:nvSpPr>
              <p:spPr bwMode="auto">
                <a:xfrm>
                  <a:off x="3904" y="1007"/>
                  <a:ext cx="277" cy="291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R</a:t>
                  </a:r>
                  <a:r>
                    <a:rPr lang="en-US" altLang="zh-CN" sz="2400" b="1" i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L</a:t>
                  </a:r>
                </a:p>
              </p:txBody>
            </p:sp>
            <p:sp>
              <p:nvSpPr>
                <p:cNvPr id="80" name="Rectangle 98"/>
                <p:cNvSpPr>
                  <a:spLocks noChangeArrowheads="1"/>
                </p:cNvSpPr>
                <p:nvPr/>
              </p:nvSpPr>
              <p:spPr bwMode="auto">
                <a:xfrm>
                  <a:off x="4188" y="1059"/>
                  <a:ext cx="103" cy="336"/>
                </a:xfrm>
                <a:prstGeom prst="rect">
                  <a:avLst/>
                </a:prstGeom>
                <a:gradFill rotWithShape="1">
                  <a:gsLst>
                    <a:gs pos="0">
                      <a:srgbClr val="76664A"/>
                    </a:gs>
                    <a:gs pos="50000">
                      <a:srgbClr val="FFDDA0"/>
                    </a:gs>
                    <a:gs pos="100000">
                      <a:srgbClr val="76664A"/>
                    </a:gs>
                  </a:gsLst>
                  <a:lin ang="0" scaled="1"/>
                </a:gradFill>
                <a:ln w="44450" algn="ctr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71" name="Rectangle 99"/>
              <p:cNvSpPr>
                <a:spLocks noChangeArrowheads="1"/>
              </p:cNvSpPr>
              <p:nvPr/>
            </p:nvSpPr>
            <p:spPr bwMode="auto">
              <a:xfrm>
                <a:off x="1812" y="431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2" name="Rectangle 100"/>
              <p:cNvSpPr>
                <a:spLocks noChangeArrowheads="1"/>
              </p:cNvSpPr>
              <p:nvPr/>
            </p:nvSpPr>
            <p:spPr bwMode="auto">
              <a:xfrm>
                <a:off x="4561" y="13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3" name="Rectangle 101"/>
              <p:cNvSpPr>
                <a:spLocks noChangeArrowheads="1"/>
              </p:cNvSpPr>
              <p:nvPr/>
            </p:nvSpPr>
            <p:spPr bwMode="auto">
              <a:xfrm>
                <a:off x="1111" y="1305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4" name="Rectangle 102"/>
              <p:cNvSpPr>
                <a:spLocks noChangeArrowheads="1"/>
              </p:cNvSpPr>
              <p:nvPr/>
            </p:nvSpPr>
            <p:spPr bwMode="auto">
              <a:xfrm>
                <a:off x="2829" y="1615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</p:grpSp>
      <p:grpSp>
        <p:nvGrpSpPr>
          <p:cNvPr id="83" name="Group 38"/>
          <p:cNvGrpSpPr>
            <a:grpSpLocks/>
          </p:cNvGrpSpPr>
          <p:nvPr/>
        </p:nvGrpSpPr>
        <p:grpSpPr bwMode="auto">
          <a:xfrm>
            <a:off x="4601258" y="3621544"/>
            <a:ext cx="2954338" cy="1282700"/>
            <a:chOff x="3255" y="3255"/>
            <a:chExt cx="1861" cy="808"/>
          </a:xfrm>
        </p:grpSpPr>
        <p:grpSp>
          <p:nvGrpSpPr>
            <p:cNvPr id="84" name="Group 39"/>
            <p:cNvGrpSpPr>
              <a:grpSpLocks/>
            </p:cNvGrpSpPr>
            <p:nvPr/>
          </p:nvGrpSpPr>
          <p:grpSpPr bwMode="auto">
            <a:xfrm>
              <a:off x="3255" y="3255"/>
              <a:ext cx="887" cy="802"/>
              <a:chOff x="3147" y="3186"/>
              <a:chExt cx="887" cy="802"/>
            </a:xfrm>
          </p:grpSpPr>
          <p:grpSp>
            <p:nvGrpSpPr>
              <p:cNvPr id="90" name="Group 40"/>
              <p:cNvGrpSpPr>
                <a:grpSpLocks/>
              </p:cNvGrpSpPr>
              <p:nvPr/>
            </p:nvGrpSpPr>
            <p:grpSpPr bwMode="auto">
              <a:xfrm>
                <a:off x="3147" y="3314"/>
                <a:ext cx="852" cy="674"/>
                <a:chOff x="1028" y="2970"/>
                <a:chExt cx="852" cy="674"/>
              </a:xfrm>
            </p:grpSpPr>
            <p:sp>
              <p:nvSpPr>
                <p:cNvPr id="94" name="Line 41"/>
                <p:cNvSpPr>
                  <a:spLocks noChangeShapeType="1"/>
                </p:cNvSpPr>
                <p:nvPr/>
              </p:nvSpPr>
              <p:spPr bwMode="auto">
                <a:xfrm>
                  <a:off x="1572" y="3291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 sz="28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grpSp>
              <p:nvGrpSpPr>
                <p:cNvPr id="95" name="Group 42"/>
                <p:cNvGrpSpPr>
                  <a:grpSpLocks/>
                </p:cNvGrpSpPr>
                <p:nvPr/>
              </p:nvGrpSpPr>
              <p:grpSpPr bwMode="auto">
                <a:xfrm>
                  <a:off x="1028" y="2970"/>
                  <a:ext cx="593" cy="474"/>
                  <a:chOff x="3884" y="3504"/>
                  <a:chExt cx="593" cy="474"/>
                </a:xfrm>
              </p:grpSpPr>
              <p:grpSp>
                <p:nvGrpSpPr>
                  <p:cNvPr id="98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884" y="3504"/>
                    <a:ext cx="330" cy="417"/>
                    <a:chOff x="3884" y="3504"/>
                    <a:chExt cx="330" cy="417"/>
                  </a:xfrm>
                </p:grpSpPr>
                <p:sp>
                  <p:nvSpPr>
                    <p:cNvPr id="100" name="Text Box 4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84" y="3591"/>
                      <a:ext cx="330" cy="330"/>
                    </a:xfrm>
                    <a:prstGeom prst="rect">
                      <a:avLst/>
                    </a:prstGeom>
                    <a:noFill/>
                    <a:ln w="28575">
                      <a:noFill/>
                      <a:miter lim="800000"/>
                      <a:headEnd/>
                      <a:tailEnd type="none" w="sm" len="lg"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r>
                        <a:rPr lang="en-US" altLang="zh-CN" sz="2800" b="1" i="1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2800" b="1" i="1" baseline="-25000"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u</a:t>
                      </a:r>
                    </a:p>
                  </p:txBody>
                </p:sp>
                <p:sp>
                  <p:nvSpPr>
                    <p:cNvPr id="101" name="Text Box 4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009" y="3504"/>
                      <a:ext cx="116" cy="330"/>
                    </a:xfrm>
                    <a:prstGeom prst="rect">
                      <a:avLst/>
                    </a:prstGeom>
                    <a:noFill/>
                    <a:ln w="28575">
                      <a:noFill/>
                      <a:miter lim="800000"/>
                      <a:headEnd/>
                      <a:tailEnd type="none" w="sm" len="lg"/>
                    </a:ln>
                  </p:spPr>
                  <p:txBody>
                    <a:bodyPr wrap="none" anchor="ctr">
                      <a:spAutoFit/>
                    </a:bodyPr>
                    <a:lstStyle/>
                    <a:p>
                      <a:endParaRPr lang="zh-CN" altLang="zh-CN" sz="2800" b="1" i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endParaRPr>
                    </a:p>
                  </p:txBody>
                </p:sp>
              </p:grpSp>
              <p:sp>
                <p:nvSpPr>
                  <p:cNvPr id="99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24" y="3648"/>
                    <a:ext cx="253" cy="330"/>
                  </a:xfrm>
                  <a:prstGeom prst="rect">
                    <a:avLst/>
                  </a:prstGeom>
                  <a:noFill/>
                  <a:ln w="28575">
                    <a:noFill/>
                    <a:miter lim="800000"/>
                    <a:headEnd/>
                    <a:tailEnd type="none" w="sm" len="lg"/>
                  </a:ln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 sz="2800" b="1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=</a:t>
                    </a:r>
                  </a:p>
                </p:txBody>
              </p:sp>
            </p:grpSp>
            <p:sp>
              <p:nvSpPr>
                <p:cNvPr id="96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537" y="3314"/>
                  <a:ext cx="34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8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800" b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endPara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7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1613" y="3183"/>
                  <a:ext cx="196" cy="33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8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•</a:t>
                  </a:r>
                </a:p>
              </p:txBody>
            </p:sp>
          </p:grpSp>
          <p:grpSp>
            <p:nvGrpSpPr>
              <p:cNvPr id="91" name="Group 49"/>
              <p:cNvGrpSpPr>
                <a:grpSpLocks/>
              </p:cNvGrpSpPr>
              <p:nvPr/>
            </p:nvGrpSpPr>
            <p:grpSpPr bwMode="auto">
              <a:xfrm>
                <a:off x="3641" y="3186"/>
                <a:ext cx="393" cy="465"/>
                <a:chOff x="4402" y="999"/>
                <a:chExt cx="393" cy="465"/>
              </a:xfrm>
            </p:grpSpPr>
            <p:sp>
              <p:nvSpPr>
                <p:cNvPr id="92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4402" y="1134"/>
                  <a:ext cx="393" cy="3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8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800" b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o</a:t>
                  </a:r>
                  <a:endPara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93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91" y="999"/>
                  <a:ext cx="196" cy="330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28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•</a:t>
                  </a:r>
                </a:p>
              </p:txBody>
            </p:sp>
          </p:grpSp>
        </p:grpSp>
        <p:grpSp>
          <p:nvGrpSpPr>
            <p:cNvPr id="85" name="Group 52"/>
            <p:cNvGrpSpPr>
              <a:grpSpLocks/>
            </p:cNvGrpSpPr>
            <p:nvPr/>
          </p:nvGrpSpPr>
          <p:grpSpPr bwMode="auto">
            <a:xfrm>
              <a:off x="4104" y="3352"/>
              <a:ext cx="1012" cy="711"/>
              <a:chOff x="3504" y="3000"/>
              <a:chExt cx="1012" cy="711"/>
            </a:xfrm>
          </p:grpSpPr>
          <p:sp>
            <p:nvSpPr>
              <p:cNvPr id="86" name="Text Box 53"/>
              <p:cNvSpPr txBox="1">
                <a:spLocks noChangeArrowheads="1"/>
              </p:cNvSpPr>
              <p:nvPr/>
            </p:nvSpPr>
            <p:spPr bwMode="auto">
              <a:xfrm>
                <a:off x="3504" y="3110"/>
                <a:ext cx="537" cy="601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 –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</a:t>
                </a:r>
                <a:endPara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endParaRPr>
              </a:p>
              <a:p>
                <a:pPr eaLnBrk="0" hangingPunct="0"/>
                <a:endPara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7" name="Line 54"/>
              <p:cNvSpPr>
                <a:spLocks noChangeShapeType="1"/>
              </p:cNvSpPr>
              <p:nvPr/>
            </p:nvSpPr>
            <p:spPr bwMode="auto">
              <a:xfrm>
                <a:off x="4116" y="3330"/>
                <a:ext cx="38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/>
              <a:p>
                <a:endPara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8" name="Text Box 55"/>
              <p:cNvSpPr txBox="1">
                <a:spLocks noChangeArrowheads="1"/>
              </p:cNvSpPr>
              <p:nvPr/>
            </p:nvSpPr>
            <p:spPr bwMode="auto">
              <a:xfrm>
                <a:off x="4142" y="3000"/>
                <a:ext cx="356" cy="3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89" name="Text Box 56"/>
              <p:cNvSpPr txBox="1">
                <a:spLocks noChangeArrowheads="1"/>
              </p:cNvSpPr>
              <p:nvPr/>
            </p:nvSpPr>
            <p:spPr bwMode="auto">
              <a:xfrm>
                <a:off x="4169" y="3222"/>
                <a:ext cx="347" cy="3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med" len="lg"/>
              </a:ln>
            </p:spPr>
            <p:txBody>
              <a:bodyPr wrap="none" anchor="ctr">
                <a:spAutoFit/>
              </a:bodyPr>
              <a:lstStyle/>
              <a:p>
                <a:pPr eaLnBrk="0" hangingPunct="0"/>
                <a:r>
                  <a:rPr lang="en-US" altLang="zh-CN" sz="28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47663" y="217714"/>
            <a:ext cx="4424609" cy="584775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3) 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输入电阻和输出电阻</a:t>
            </a: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5122410" y="4061509"/>
            <a:ext cx="2132012" cy="769938"/>
            <a:chOff x="532" y="3502"/>
            <a:chExt cx="1343" cy="485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532" y="3502"/>
              <a:ext cx="347" cy="48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4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 </a:t>
              </a:r>
              <a:endParaRPr lang="en-US" altLang="zh-CN" sz="4000" b="1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770" y="3619"/>
              <a:ext cx="253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938" y="3524"/>
              <a:ext cx="93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32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// </a:t>
              </a:r>
              <a:r>
                <a:rPr lang="en-US" altLang="zh-CN" sz="4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928235" y="4131355"/>
            <a:ext cx="3756025" cy="519112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对基本放大电放大电路</a:t>
            </a:r>
          </a:p>
        </p:txBody>
      </p: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571045" y="1619253"/>
            <a:ext cx="2698750" cy="2200277"/>
            <a:chOff x="3034" y="2229"/>
            <a:chExt cx="1700" cy="1386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034" y="2229"/>
              <a:ext cx="1700" cy="68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放大电路的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</a:t>
              </a:r>
              <a:endPara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电阻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定义为：</a:t>
              </a:r>
              <a:endPara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3846" y="2812"/>
              <a:ext cx="878" cy="803"/>
              <a:chOff x="3632" y="2445"/>
              <a:chExt cx="878" cy="803"/>
            </a:xfrm>
          </p:grpSpPr>
          <p:sp>
            <p:nvSpPr>
              <p:cNvPr id="12" name="Text Box 12"/>
              <p:cNvSpPr txBox="1">
                <a:spLocks noChangeArrowheads="1"/>
              </p:cNvSpPr>
              <p:nvPr/>
            </p:nvSpPr>
            <p:spPr bwMode="auto">
              <a:xfrm>
                <a:off x="3889" y="2720"/>
                <a:ext cx="253" cy="33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</a:t>
                </a: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4107" y="2883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4" name="Group 14"/>
              <p:cNvGrpSpPr>
                <a:grpSpLocks/>
              </p:cNvGrpSpPr>
              <p:nvPr/>
            </p:nvGrpSpPr>
            <p:grpSpPr bwMode="auto">
              <a:xfrm>
                <a:off x="4167" y="2814"/>
                <a:ext cx="256" cy="434"/>
                <a:chOff x="5100" y="606"/>
                <a:chExt cx="256" cy="434"/>
              </a:xfrm>
            </p:grpSpPr>
            <p:sp>
              <p:nvSpPr>
                <p:cNvPr id="19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5100" y="672"/>
                  <a:ext cx="256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32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r>
                    <a:rPr lang="en-US" altLang="zh-CN" sz="3200" b="1" baseline="-250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</a:p>
              </p:txBody>
            </p:sp>
            <p:sp>
              <p:nvSpPr>
                <p:cNvPr id="2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5136" y="606"/>
                  <a:ext cx="167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1800" b="1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•</a:t>
                  </a:r>
                </a:p>
              </p:txBody>
            </p:sp>
          </p:grpSp>
          <p:sp>
            <p:nvSpPr>
              <p:cNvPr id="15" name="Text Box 17"/>
              <p:cNvSpPr txBox="1">
                <a:spLocks noChangeArrowheads="1"/>
              </p:cNvSpPr>
              <p:nvPr/>
            </p:nvSpPr>
            <p:spPr bwMode="auto">
              <a:xfrm>
                <a:off x="3632" y="2643"/>
                <a:ext cx="285" cy="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4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6" name="Group 18"/>
              <p:cNvGrpSpPr>
                <a:grpSpLocks/>
              </p:cNvGrpSpPr>
              <p:nvPr/>
            </p:nvGrpSpPr>
            <p:grpSpPr bwMode="auto">
              <a:xfrm>
                <a:off x="4158" y="2445"/>
                <a:ext cx="352" cy="419"/>
                <a:chOff x="4787" y="813"/>
                <a:chExt cx="352" cy="419"/>
              </a:xfrm>
            </p:grpSpPr>
            <p:sp>
              <p:nvSpPr>
                <p:cNvPr id="1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4787" y="864"/>
                  <a:ext cx="352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32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32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endParaRPr lang="en-US" altLang="zh-CN" sz="32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897" y="813"/>
                  <a:ext cx="167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1800" b="1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•</a:t>
                  </a:r>
                </a:p>
              </p:txBody>
            </p:sp>
          </p:grpSp>
        </p:grpSp>
      </p:grpSp>
      <p:grpSp>
        <p:nvGrpSpPr>
          <p:cNvPr id="21" name="Group 123"/>
          <p:cNvGrpSpPr>
            <a:grpSpLocks/>
          </p:cNvGrpSpPr>
          <p:nvPr/>
        </p:nvGrpSpPr>
        <p:grpSpPr bwMode="auto">
          <a:xfrm>
            <a:off x="4165600" y="727301"/>
            <a:ext cx="4657559" cy="2754793"/>
            <a:chOff x="1000" y="669"/>
            <a:chExt cx="3834" cy="2233"/>
          </a:xfrm>
        </p:grpSpPr>
        <p:grpSp>
          <p:nvGrpSpPr>
            <p:cNvPr id="22" name="Group 23"/>
            <p:cNvGrpSpPr>
              <a:grpSpLocks/>
            </p:cNvGrpSpPr>
            <p:nvPr/>
          </p:nvGrpSpPr>
          <p:grpSpPr bwMode="auto">
            <a:xfrm>
              <a:off x="1213" y="2108"/>
              <a:ext cx="385" cy="794"/>
              <a:chOff x="200" y="2363"/>
              <a:chExt cx="385" cy="794"/>
            </a:xfrm>
          </p:grpSpPr>
          <p:sp>
            <p:nvSpPr>
              <p:cNvPr id="69" name="Text Box 24"/>
              <p:cNvSpPr txBox="1">
                <a:spLocks noChangeArrowheads="1"/>
              </p:cNvSpPr>
              <p:nvPr/>
            </p:nvSpPr>
            <p:spPr bwMode="auto">
              <a:xfrm>
                <a:off x="312" y="2833"/>
                <a:ext cx="273" cy="324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70" name="AutoShape 25"/>
              <p:cNvSpPr>
                <a:spLocks noChangeArrowheads="1"/>
              </p:cNvSpPr>
              <p:nvPr/>
            </p:nvSpPr>
            <p:spPr bwMode="auto">
              <a:xfrm>
                <a:off x="200" y="2363"/>
                <a:ext cx="265" cy="54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51 w 21600"/>
                  <a:gd name="T13" fmla="*/ 2927 h 21600"/>
                  <a:gd name="T14" fmla="*/ 18229 w 21600"/>
                  <a:gd name="T15" fmla="*/ 925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7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1000" y="1551"/>
              <a:ext cx="345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1003" y="1126"/>
              <a:ext cx="363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1063" y="2041"/>
              <a:ext cx="258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1174" y="2486"/>
              <a:ext cx="53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1201" y="1141"/>
              <a:ext cx="53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9" name="Group 32"/>
            <p:cNvGrpSpPr>
              <a:grpSpLocks/>
            </p:cNvGrpSpPr>
            <p:nvPr/>
          </p:nvGrpSpPr>
          <p:grpSpPr bwMode="auto">
            <a:xfrm>
              <a:off x="1455" y="1165"/>
              <a:ext cx="103" cy="1364"/>
              <a:chOff x="1763" y="527"/>
              <a:chExt cx="103" cy="1364"/>
            </a:xfrm>
          </p:grpSpPr>
          <p:sp>
            <p:nvSpPr>
              <p:cNvPr id="67" name="Line 33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3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8" name="Rectangle 34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1240" y="1165"/>
              <a:ext cx="10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>
              <a:off x="2278" y="1165"/>
              <a:ext cx="0" cy="5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2278" y="1981"/>
              <a:ext cx="0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 flipV="1">
              <a:off x="1227" y="2509"/>
              <a:ext cx="315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39"/>
            <p:cNvSpPr>
              <a:spLocks noChangeShapeType="1"/>
            </p:cNvSpPr>
            <p:nvPr/>
          </p:nvSpPr>
          <p:spPr bwMode="auto">
            <a:xfrm>
              <a:off x="2649" y="250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40"/>
            <p:cNvSpPr>
              <a:spLocks noChangeShapeType="1"/>
            </p:cNvSpPr>
            <p:nvPr/>
          </p:nvSpPr>
          <p:spPr bwMode="auto">
            <a:xfrm>
              <a:off x="2543" y="2701"/>
              <a:ext cx="2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Text Box 41"/>
            <p:cNvSpPr txBox="1">
              <a:spLocks noChangeArrowheads="1"/>
            </p:cNvSpPr>
            <p:nvPr/>
          </p:nvSpPr>
          <p:spPr bwMode="auto">
            <a:xfrm>
              <a:off x="2305" y="1513"/>
              <a:ext cx="477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000" b="1" i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Text Box 42"/>
            <p:cNvSpPr txBox="1">
              <a:spLocks noChangeArrowheads="1"/>
            </p:cNvSpPr>
            <p:nvPr/>
          </p:nvSpPr>
          <p:spPr bwMode="auto">
            <a:xfrm>
              <a:off x="2633" y="2015"/>
              <a:ext cx="408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1851" y="776"/>
              <a:ext cx="292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Text Box 44"/>
            <p:cNvSpPr txBox="1">
              <a:spLocks noChangeArrowheads="1"/>
            </p:cNvSpPr>
            <p:nvPr/>
          </p:nvSpPr>
          <p:spPr bwMode="auto">
            <a:xfrm>
              <a:off x="3332" y="765"/>
              <a:ext cx="284" cy="3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0" name="Oval 45"/>
            <p:cNvSpPr>
              <a:spLocks noChangeArrowheads="1"/>
            </p:cNvSpPr>
            <p:nvPr/>
          </p:nvSpPr>
          <p:spPr bwMode="auto">
            <a:xfrm>
              <a:off x="2623" y="2481"/>
              <a:ext cx="53" cy="48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46"/>
            <p:cNvSpPr>
              <a:spLocks noChangeShapeType="1"/>
            </p:cNvSpPr>
            <p:nvPr/>
          </p:nvSpPr>
          <p:spPr bwMode="auto">
            <a:xfrm>
              <a:off x="3067" y="1117"/>
              <a:ext cx="0" cy="139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AutoShape 47"/>
            <p:cNvSpPr>
              <a:spLocks noChangeArrowheads="1"/>
            </p:cNvSpPr>
            <p:nvPr/>
          </p:nvSpPr>
          <p:spPr bwMode="auto">
            <a:xfrm>
              <a:off x="2917" y="1589"/>
              <a:ext cx="299" cy="452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Line 48"/>
            <p:cNvSpPr>
              <a:spLocks noChangeShapeType="1"/>
            </p:cNvSpPr>
            <p:nvPr/>
          </p:nvSpPr>
          <p:spPr bwMode="auto">
            <a:xfrm>
              <a:off x="3726" y="1117"/>
              <a:ext cx="0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Line 49"/>
            <p:cNvSpPr>
              <a:spLocks noChangeShapeType="1"/>
            </p:cNvSpPr>
            <p:nvPr/>
          </p:nvSpPr>
          <p:spPr bwMode="auto">
            <a:xfrm>
              <a:off x="3067" y="2086"/>
              <a:ext cx="0" cy="264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Rectangle 50"/>
            <p:cNvSpPr>
              <a:spLocks noChangeArrowheads="1"/>
            </p:cNvSpPr>
            <p:nvPr/>
          </p:nvSpPr>
          <p:spPr bwMode="auto">
            <a:xfrm>
              <a:off x="3332" y="1654"/>
              <a:ext cx="375" cy="32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6" name="Rectangle 51"/>
            <p:cNvSpPr>
              <a:spLocks noChangeArrowheads="1"/>
            </p:cNvSpPr>
            <p:nvPr/>
          </p:nvSpPr>
          <p:spPr bwMode="auto">
            <a:xfrm>
              <a:off x="1810" y="1645"/>
              <a:ext cx="375" cy="32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7" name="Line 52"/>
            <p:cNvSpPr>
              <a:spLocks noChangeShapeType="1"/>
            </p:cNvSpPr>
            <p:nvPr/>
          </p:nvSpPr>
          <p:spPr bwMode="auto">
            <a:xfrm>
              <a:off x="3067" y="1126"/>
              <a:ext cx="1312" cy="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53"/>
            <p:cNvSpPr>
              <a:spLocks noChangeShapeType="1"/>
            </p:cNvSpPr>
            <p:nvPr/>
          </p:nvSpPr>
          <p:spPr bwMode="auto">
            <a:xfrm rot="-5400000">
              <a:off x="2033" y="1019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Line 54"/>
            <p:cNvSpPr>
              <a:spLocks noChangeShapeType="1"/>
            </p:cNvSpPr>
            <p:nvPr/>
          </p:nvSpPr>
          <p:spPr bwMode="auto">
            <a:xfrm rot="5400000">
              <a:off x="3362" y="984"/>
              <a:ext cx="0" cy="291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Rectangle 55"/>
            <p:cNvSpPr>
              <a:spLocks noChangeArrowheads="1"/>
            </p:cNvSpPr>
            <p:nvPr/>
          </p:nvSpPr>
          <p:spPr bwMode="auto">
            <a:xfrm>
              <a:off x="2221" y="1679"/>
              <a:ext cx="113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Rectangle 56"/>
            <p:cNvSpPr>
              <a:spLocks noChangeArrowheads="1"/>
            </p:cNvSpPr>
            <p:nvPr/>
          </p:nvSpPr>
          <p:spPr bwMode="auto">
            <a:xfrm>
              <a:off x="3677" y="1697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2" name="Group 57"/>
            <p:cNvGrpSpPr>
              <a:grpSpLocks/>
            </p:cNvGrpSpPr>
            <p:nvPr/>
          </p:nvGrpSpPr>
          <p:grpSpPr bwMode="auto">
            <a:xfrm>
              <a:off x="3999" y="1079"/>
              <a:ext cx="835" cy="1431"/>
              <a:chOff x="3900" y="441"/>
              <a:chExt cx="755" cy="1431"/>
            </a:xfrm>
          </p:grpSpPr>
          <p:sp>
            <p:nvSpPr>
              <p:cNvPr id="61" name="Text Box 58"/>
              <p:cNvSpPr txBox="1">
                <a:spLocks noChangeArrowheads="1"/>
              </p:cNvSpPr>
              <p:nvPr/>
            </p:nvSpPr>
            <p:spPr bwMode="auto">
              <a:xfrm>
                <a:off x="4316" y="906"/>
                <a:ext cx="339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62" name="Text Box 59"/>
              <p:cNvSpPr txBox="1">
                <a:spLocks noChangeArrowheads="1"/>
              </p:cNvSpPr>
              <p:nvPr/>
            </p:nvSpPr>
            <p:spPr bwMode="auto">
              <a:xfrm>
                <a:off x="4330" y="1451"/>
                <a:ext cx="233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63" name="Text Box 60"/>
              <p:cNvSpPr txBox="1">
                <a:spLocks noChangeArrowheads="1"/>
              </p:cNvSpPr>
              <p:nvPr/>
            </p:nvSpPr>
            <p:spPr bwMode="auto">
              <a:xfrm>
                <a:off x="4298" y="441"/>
                <a:ext cx="328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64" name="Line 61"/>
              <p:cNvSpPr>
                <a:spLocks noChangeShapeType="1"/>
              </p:cNvSpPr>
              <p:nvPr/>
            </p:nvSpPr>
            <p:spPr bwMode="auto">
              <a:xfrm>
                <a:off x="4240" y="488"/>
                <a:ext cx="0" cy="1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5" name="Rectangle 62"/>
              <p:cNvSpPr>
                <a:spLocks noChangeArrowheads="1"/>
              </p:cNvSpPr>
              <p:nvPr/>
            </p:nvSpPr>
            <p:spPr bwMode="auto">
              <a:xfrm>
                <a:off x="3900" y="1007"/>
                <a:ext cx="325" cy="324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0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</a:p>
            </p:txBody>
          </p:sp>
          <p:sp>
            <p:nvSpPr>
              <p:cNvPr id="66" name="Rectangle 63"/>
              <p:cNvSpPr>
                <a:spLocks noChangeArrowheads="1"/>
              </p:cNvSpPr>
              <p:nvPr/>
            </p:nvSpPr>
            <p:spPr bwMode="auto">
              <a:xfrm>
                <a:off x="4188" y="1059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3" name="Rectangle 64"/>
            <p:cNvSpPr>
              <a:spLocks noChangeArrowheads="1"/>
            </p:cNvSpPr>
            <p:nvPr/>
          </p:nvSpPr>
          <p:spPr bwMode="auto">
            <a:xfrm>
              <a:off x="1887" y="670"/>
              <a:ext cx="201" cy="24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4" name="Rectangle 65"/>
            <p:cNvSpPr>
              <a:spLocks noChangeArrowheads="1"/>
            </p:cNvSpPr>
            <p:nvPr/>
          </p:nvSpPr>
          <p:spPr bwMode="auto">
            <a:xfrm>
              <a:off x="4550" y="1427"/>
              <a:ext cx="201" cy="24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5" name="Rectangle 66"/>
            <p:cNvSpPr>
              <a:spLocks noChangeArrowheads="1"/>
            </p:cNvSpPr>
            <p:nvPr/>
          </p:nvSpPr>
          <p:spPr bwMode="auto">
            <a:xfrm>
              <a:off x="1093" y="1442"/>
              <a:ext cx="201" cy="24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6" name="Rectangle 67"/>
            <p:cNvSpPr>
              <a:spLocks noChangeArrowheads="1"/>
            </p:cNvSpPr>
            <p:nvPr/>
          </p:nvSpPr>
          <p:spPr bwMode="auto">
            <a:xfrm>
              <a:off x="2799" y="1909"/>
              <a:ext cx="201" cy="24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7" name="Rectangle 68"/>
            <p:cNvSpPr>
              <a:spLocks noChangeArrowheads="1"/>
            </p:cNvSpPr>
            <p:nvPr/>
          </p:nvSpPr>
          <p:spPr bwMode="auto">
            <a:xfrm>
              <a:off x="3370" y="683"/>
              <a:ext cx="211" cy="27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8" name="Rectangle 69"/>
            <p:cNvSpPr>
              <a:spLocks noChangeArrowheads="1"/>
            </p:cNvSpPr>
            <p:nvPr/>
          </p:nvSpPr>
          <p:spPr bwMode="auto">
            <a:xfrm>
              <a:off x="1343" y="776"/>
              <a:ext cx="262" cy="324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59" name="Rectangle 70"/>
            <p:cNvSpPr>
              <a:spLocks noChangeArrowheads="1"/>
            </p:cNvSpPr>
            <p:nvPr/>
          </p:nvSpPr>
          <p:spPr bwMode="auto">
            <a:xfrm>
              <a:off x="1391" y="669"/>
              <a:ext cx="201" cy="24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60" name="Line 71"/>
            <p:cNvSpPr>
              <a:spLocks noChangeShapeType="1"/>
            </p:cNvSpPr>
            <p:nvPr/>
          </p:nvSpPr>
          <p:spPr bwMode="auto">
            <a:xfrm rot="-5400000">
              <a:off x="1490" y="1019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71" name="Text Box 72"/>
          <p:cNvSpPr txBox="1">
            <a:spLocks noChangeArrowheads="1"/>
          </p:cNvSpPr>
          <p:nvPr/>
        </p:nvSpPr>
        <p:spPr bwMode="auto">
          <a:xfrm>
            <a:off x="598942" y="804863"/>
            <a:ext cx="1816100" cy="579437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3200" b="1" u="sng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</a:t>
            </a:r>
          </a:p>
        </p:txBody>
      </p:sp>
      <p:grpSp>
        <p:nvGrpSpPr>
          <p:cNvPr id="72" name="Group 73"/>
          <p:cNvGrpSpPr>
            <a:grpSpLocks/>
          </p:cNvGrpSpPr>
          <p:nvPr/>
        </p:nvGrpSpPr>
        <p:grpSpPr bwMode="auto">
          <a:xfrm>
            <a:off x="4009067" y="671688"/>
            <a:ext cx="4649788" cy="3230563"/>
            <a:chOff x="2699" y="1842"/>
            <a:chExt cx="2929" cy="2035"/>
          </a:xfrm>
        </p:grpSpPr>
        <p:sp>
          <p:nvSpPr>
            <p:cNvPr id="73" name="Oval 74"/>
            <p:cNvSpPr>
              <a:spLocks noChangeArrowheads="1"/>
            </p:cNvSpPr>
            <p:nvPr/>
          </p:nvSpPr>
          <p:spPr bwMode="auto">
            <a:xfrm>
              <a:off x="2938" y="2963"/>
              <a:ext cx="240" cy="21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Text Box 75"/>
            <p:cNvSpPr txBox="1">
              <a:spLocks noChangeArrowheads="1"/>
            </p:cNvSpPr>
            <p:nvPr/>
          </p:nvSpPr>
          <p:spPr bwMode="auto">
            <a:xfrm>
              <a:off x="3292" y="2022"/>
              <a:ext cx="144" cy="21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0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3666" y="2068"/>
              <a:ext cx="1345" cy="1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lgDashDot"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77"/>
            <p:cNvSpPr>
              <a:spLocks noChangeShapeType="1"/>
            </p:cNvSpPr>
            <p:nvPr/>
          </p:nvSpPr>
          <p:spPr bwMode="auto">
            <a:xfrm>
              <a:off x="4629" y="2294"/>
              <a:ext cx="0" cy="10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78"/>
            <p:cNvSpPr>
              <a:spLocks noChangeShapeType="1"/>
            </p:cNvSpPr>
            <p:nvPr/>
          </p:nvSpPr>
          <p:spPr bwMode="auto">
            <a:xfrm flipH="1" flipV="1">
              <a:off x="3945" y="2277"/>
              <a:ext cx="0" cy="10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79"/>
            <p:cNvSpPr>
              <a:spLocks noChangeShapeType="1"/>
            </p:cNvSpPr>
            <p:nvPr/>
          </p:nvSpPr>
          <p:spPr bwMode="auto">
            <a:xfrm>
              <a:off x="3055" y="2724"/>
              <a:ext cx="0" cy="6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80"/>
            <p:cNvSpPr>
              <a:spLocks noChangeShapeType="1"/>
            </p:cNvSpPr>
            <p:nvPr/>
          </p:nvSpPr>
          <p:spPr bwMode="auto">
            <a:xfrm flipV="1">
              <a:off x="3057" y="2280"/>
              <a:ext cx="0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Text Box 81"/>
            <p:cNvSpPr txBox="1">
              <a:spLocks noChangeArrowheads="1"/>
            </p:cNvSpPr>
            <p:nvPr/>
          </p:nvSpPr>
          <p:spPr bwMode="auto">
            <a:xfrm>
              <a:off x="3538" y="3605"/>
              <a:ext cx="1550" cy="27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0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输入电阻</a:t>
              </a: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与输出电阻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81" name="Rectangle 82"/>
            <p:cNvSpPr>
              <a:spLocks noChangeArrowheads="1"/>
            </p:cNvSpPr>
            <p:nvPr/>
          </p:nvSpPr>
          <p:spPr bwMode="auto">
            <a:xfrm rot="5400000">
              <a:off x="4492" y="2556"/>
              <a:ext cx="267" cy="91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Text Box 83"/>
            <p:cNvSpPr txBox="1">
              <a:spLocks noChangeArrowheads="1"/>
            </p:cNvSpPr>
            <p:nvPr/>
          </p:nvSpPr>
          <p:spPr bwMode="auto">
            <a:xfrm>
              <a:off x="4003" y="1842"/>
              <a:ext cx="6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放大电路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Text Box 84"/>
            <p:cNvSpPr txBox="1">
              <a:spLocks noChangeArrowheads="1"/>
            </p:cNvSpPr>
            <p:nvPr/>
          </p:nvSpPr>
          <p:spPr bwMode="auto">
            <a:xfrm>
              <a:off x="5057" y="2026"/>
              <a:ext cx="258" cy="20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0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85"/>
            <p:cNvSpPr txBox="1">
              <a:spLocks noChangeArrowheads="1"/>
            </p:cNvSpPr>
            <p:nvPr/>
          </p:nvSpPr>
          <p:spPr bwMode="auto">
            <a:xfrm>
              <a:off x="3759" y="2661"/>
              <a:ext cx="288" cy="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Text Box 86"/>
            <p:cNvSpPr txBox="1">
              <a:spLocks noChangeArrowheads="1"/>
            </p:cNvSpPr>
            <p:nvPr/>
          </p:nvSpPr>
          <p:spPr bwMode="auto">
            <a:xfrm>
              <a:off x="5348" y="2822"/>
              <a:ext cx="280" cy="22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87"/>
            <p:cNvSpPr>
              <a:spLocks noChangeShapeType="1"/>
            </p:cNvSpPr>
            <p:nvPr/>
          </p:nvSpPr>
          <p:spPr bwMode="auto">
            <a:xfrm>
              <a:off x="3585" y="2285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87" name="Rectangle 88"/>
            <p:cNvSpPr>
              <a:spLocks noChangeArrowheads="1"/>
            </p:cNvSpPr>
            <p:nvPr/>
          </p:nvSpPr>
          <p:spPr bwMode="auto">
            <a:xfrm rot="5394693">
              <a:off x="3809" y="2744"/>
              <a:ext cx="267" cy="90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89"/>
            <p:cNvSpPr>
              <a:spLocks noChangeShapeType="1"/>
            </p:cNvSpPr>
            <p:nvPr/>
          </p:nvSpPr>
          <p:spPr bwMode="auto">
            <a:xfrm>
              <a:off x="4624" y="2300"/>
              <a:ext cx="9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90"/>
            <p:cNvSpPr>
              <a:spLocks noChangeShapeType="1"/>
            </p:cNvSpPr>
            <p:nvPr/>
          </p:nvSpPr>
          <p:spPr bwMode="auto">
            <a:xfrm>
              <a:off x="5556" y="2294"/>
              <a:ext cx="0" cy="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91"/>
            <p:cNvSpPr>
              <a:spLocks noChangeShapeType="1"/>
            </p:cNvSpPr>
            <p:nvPr/>
          </p:nvSpPr>
          <p:spPr bwMode="auto">
            <a:xfrm flipH="1">
              <a:off x="5556" y="2785"/>
              <a:ext cx="2" cy="5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92"/>
            <p:cNvSpPr>
              <a:spLocks noChangeShapeType="1"/>
            </p:cNvSpPr>
            <p:nvPr/>
          </p:nvSpPr>
          <p:spPr bwMode="auto">
            <a:xfrm>
              <a:off x="3209" y="3357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93"/>
            <p:cNvSpPr>
              <a:spLocks noChangeShapeType="1"/>
            </p:cNvSpPr>
            <p:nvPr/>
          </p:nvSpPr>
          <p:spPr bwMode="auto">
            <a:xfrm flipV="1">
              <a:off x="3239" y="2285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Oval 94"/>
            <p:cNvSpPr>
              <a:spLocks noChangeArrowheads="1"/>
            </p:cNvSpPr>
            <p:nvPr/>
          </p:nvSpPr>
          <p:spPr bwMode="auto">
            <a:xfrm>
              <a:off x="3204" y="2260"/>
              <a:ext cx="46" cy="4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Text Box 95"/>
            <p:cNvSpPr txBox="1">
              <a:spLocks noChangeArrowheads="1"/>
            </p:cNvSpPr>
            <p:nvPr/>
          </p:nvSpPr>
          <p:spPr bwMode="auto">
            <a:xfrm>
              <a:off x="2699" y="2387"/>
              <a:ext cx="274" cy="33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95" name="Rectangle 96"/>
            <p:cNvSpPr>
              <a:spLocks noChangeArrowheads="1"/>
            </p:cNvSpPr>
            <p:nvPr/>
          </p:nvSpPr>
          <p:spPr bwMode="auto">
            <a:xfrm rot="5407120">
              <a:off x="2923" y="2544"/>
              <a:ext cx="268" cy="91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97"/>
            <p:cNvSpPr>
              <a:spLocks noChangeShapeType="1"/>
            </p:cNvSpPr>
            <p:nvPr/>
          </p:nvSpPr>
          <p:spPr bwMode="auto">
            <a:xfrm>
              <a:off x="3055" y="2282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98"/>
            <p:cNvSpPr>
              <a:spLocks noChangeShapeType="1"/>
            </p:cNvSpPr>
            <p:nvPr/>
          </p:nvSpPr>
          <p:spPr bwMode="auto">
            <a:xfrm>
              <a:off x="3410" y="2280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98" name="Rectangle 99"/>
            <p:cNvSpPr>
              <a:spLocks noChangeArrowheads="1"/>
            </p:cNvSpPr>
            <p:nvPr/>
          </p:nvSpPr>
          <p:spPr bwMode="auto">
            <a:xfrm rot="5400000">
              <a:off x="5423" y="2722"/>
              <a:ext cx="267" cy="90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Oval 100"/>
            <p:cNvSpPr>
              <a:spLocks noChangeArrowheads="1"/>
            </p:cNvSpPr>
            <p:nvPr/>
          </p:nvSpPr>
          <p:spPr bwMode="auto">
            <a:xfrm>
              <a:off x="3191" y="3335"/>
              <a:ext cx="45" cy="4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101"/>
            <p:cNvSpPr>
              <a:spLocks noChangeShapeType="1"/>
            </p:cNvSpPr>
            <p:nvPr/>
          </p:nvSpPr>
          <p:spPr bwMode="auto">
            <a:xfrm flipV="1">
              <a:off x="3051" y="3354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AutoShape 102"/>
            <p:cNvSpPr>
              <a:spLocks noChangeAspect="1" noChangeArrowheads="1"/>
            </p:cNvSpPr>
            <p:nvPr/>
          </p:nvSpPr>
          <p:spPr bwMode="auto">
            <a:xfrm>
              <a:off x="4509" y="2920"/>
              <a:ext cx="236" cy="282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2" name="Group 103"/>
            <p:cNvGrpSpPr>
              <a:grpSpLocks/>
            </p:cNvGrpSpPr>
            <p:nvPr/>
          </p:nvGrpSpPr>
          <p:grpSpPr bwMode="auto">
            <a:xfrm>
              <a:off x="2744" y="2983"/>
              <a:ext cx="216" cy="200"/>
              <a:chOff x="3021" y="3529"/>
              <a:chExt cx="270" cy="276"/>
            </a:xfrm>
          </p:grpSpPr>
          <p:sp>
            <p:nvSpPr>
              <p:cNvPr id="120" name="Text Box 104"/>
              <p:cNvSpPr txBox="1">
                <a:spLocks noChangeArrowheads="1"/>
              </p:cNvSpPr>
              <p:nvPr/>
            </p:nvSpPr>
            <p:spPr bwMode="auto">
              <a:xfrm>
                <a:off x="3021" y="3529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1" name="Oval 105"/>
              <p:cNvSpPr>
                <a:spLocks noChangeArrowheads="1"/>
              </p:cNvSpPr>
              <p:nvPr/>
            </p:nvSpPr>
            <p:spPr bwMode="auto">
              <a:xfrm>
                <a:off x="3109" y="3576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03" name="Text Box 106"/>
            <p:cNvSpPr txBox="1">
              <a:spLocks noChangeArrowheads="1"/>
            </p:cNvSpPr>
            <p:nvPr/>
          </p:nvSpPr>
          <p:spPr bwMode="auto">
            <a:xfrm>
              <a:off x="2912" y="2811"/>
              <a:ext cx="124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4" name="Group 107"/>
            <p:cNvGrpSpPr>
              <a:grpSpLocks/>
            </p:cNvGrpSpPr>
            <p:nvPr/>
          </p:nvGrpSpPr>
          <p:grpSpPr bwMode="auto">
            <a:xfrm>
              <a:off x="3382" y="2707"/>
              <a:ext cx="216" cy="200"/>
              <a:chOff x="2934" y="2533"/>
              <a:chExt cx="270" cy="276"/>
            </a:xfrm>
          </p:grpSpPr>
          <p:sp>
            <p:nvSpPr>
              <p:cNvPr id="118" name="Text Box 108"/>
              <p:cNvSpPr txBox="1">
                <a:spLocks noChangeArrowheads="1"/>
              </p:cNvSpPr>
              <p:nvPr/>
            </p:nvSpPr>
            <p:spPr bwMode="auto">
              <a:xfrm>
                <a:off x="2934" y="2533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9" name="Oval 109"/>
              <p:cNvSpPr>
                <a:spLocks noChangeArrowheads="1"/>
              </p:cNvSpPr>
              <p:nvPr/>
            </p:nvSpPr>
            <p:spPr bwMode="auto">
              <a:xfrm>
                <a:off x="3022" y="2580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05" name="Text Box 110"/>
            <p:cNvSpPr txBox="1">
              <a:spLocks noChangeArrowheads="1"/>
            </p:cNvSpPr>
            <p:nvPr/>
          </p:nvSpPr>
          <p:spPr bwMode="auto">
            <a:xfrm>
              <a:off x="3416" y="2294"/>
              <a:ext cx="253" cy="11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Line 111"/>
            <p:cNvSpPr>
              <a:spLocks noChangeShapeType="1"/>
            </p:cNvSpPr>
            <p:nvPr/>
          </p:nvSpPr>
          <p:spPr bwMode="auto">
            <a:xfrm>
              <a:off x="4632" y="2910"/>
              <a:ext cx="0" cy="3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Line 112"/>
            <p:cNvSpPr>
              <a:spLocks noChangeShapeType="1"/>
            </p:cNvSpPr>
            <p:nvPr/>
          </p:nvSpPr>
          <p:spPr bwMode="auto">
            <a:xfrm>
              <a:off x="5114" y="2297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Text Box 113"/>
            <p:cNvSpPr txBox="1">
              <a:spLocks noChangeArrowheads="1"/>
            </p:cNvSpPr>
            <p:nvPr/>
          </p:nvSpPr>
          <p:spPr bwMode="auto">
            <a:xfrm>
              <a:off x="4755" y="2479"/>
              <a:ext cx="252" cy="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Text Box 114"/>
            <p:cNvSpPr txBox="1">
              <a:spLocks noChangeArrowheads="1"/>
            </p:cNvSpPr>
            <p:nvPr/>
          </p:nvSpPr>
          <p:spPr bwMode="auto">
            <a:xfrm>
              <a:off x="4377" y="2840"/>
              <a:ext cx="124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0" name="Group 115"/>
            <p:cNvGrpSpPr>
              <a:grpSpLocks/>
            </p:cNvGrpSpPr>
            <p:nvPr/>
          </p:nvGrpSpPr>
          <p:grpSpPr bwMode="auto">
            <a:xfrm>
              <a:off x="2810" y="2023"/>
              <a:ext cx="2393" cy="1182"/>
              <a:chOff x="5226" y="1634"/>
              <a:chExt cx="2992" cy="1627"/>
            </a:xfrm>
          </p:grpSpPr>
          <p:sp>
            <p:nvSpPr>
              <p:cNvPr id="116" name="Text Box 116"/>
              <p:cNvSpPr txBox="1">
                <a:spLocks noChangeArrowheads="1"/>
              </p:cNvSpPr>
              <p:nvPr/>
            </p:nvSpPr>
            <p:spPr bwMode="auto">
              <a:xfrm>
                <a:off x="6989" y="2985"/>
                <a:ext cx="42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OC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7" name="Oval 117"/>
              <p:cNvSpPr>
                <a:spLocks noChangeArrowheads="1"/>
              </p:cNvSpPr>
              <p:nvPr/>
            </p:nvSpPr>
            <p:spPr bwMode="auto">
              <a:xfrm>
                <a:off x="7079" y="2986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4" name="Oval 117"/>
              <p:cNvSpPr>
                <a:spLocks noChangeArrowheads="1"/>
              </p:cNvSpPr>
              <p:nvPr/>
            </p:nvSpPr>
            <p:spPr bwMode="auto">
              <a:xfrm>
                <a:off x="8090" y="1635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6" name="Oval 117"/>
              <p:cNvSpPr>
                <a:spLocks noChangeArrowheads="1"/>
              </p:cNvSpPr>
              <p:nvPr/>
            </p:nvSpPr>
            <p:spPr bwMode="auto">
              <a:xfrm>
                <a:off x="6027" y="2569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7" name="Oval 117"/>
              <p:cNvSpPr>
                <a:spLocks noChangeArrowheads="1"/>
              </p:cNvSpPr>
              <p:nvPr/>
            </p:nvSpPr>
            <p:spPr bwMode="auto">
              <a:xfrm>
                <a:off x="5226" y="2953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8" name="Oval 117"/>
              <p:cNvSpPr>
                <a:spLocks noChangeArrowheads="1"/>
              </p:cNvSpPr>
              <p:nvPr/>
            </p:nvSpPr>
            <p:spPr bwMode="auto">
              <a:xfrm>
                <a:off x="8201" y="2494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9" name="Oval 117"/>
              <p:cNvSpPr>
                <a:spLocks noChangeArrowheads="1"/>
              </p:cNvSpPr>
              <p:nvPr/>
            </p:nvSpPr>
            <p:spPr bwMode="auto">
              <a:xfrm>
                <a:off x="5877" y="1634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11" name="Text Box 118"/>
            <p:cNvSpPr txBox="1">
              <a:spLocks noChangeArrowheads="1"/>
            </p:cNvSpPr>
            <p:nvPr/>
          </p:nvSpPr>
          <p:spPr bwMode="auto">
            <a:xfrm>
              <a:off x="5206" y="2294"/>
              <a:ext cx="252" cy="11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2" name="Group 119"/>
            <p:cNvGrpSpPr>
              <a:grpSpLocks/>
            </p:cNvGrpSpPr>
            <p:nvPr/>
          </p:nvGrpSpPr>
          <p:grpSpPr bwMode="auto">
            <a:xfrm>
              <a:off x="5121" y="2650"/>
              <a:ext cx="216" cy="200"/>
              <a:chOff x="2934" y="2533"/>
              <a:chExt cx="270" cy="276"/>
            </a:xfrm>
          </p:grpSpPr>
          <p:sp>
            <p:nvSpPr>
              <p:cNvPr id="114" name="Text Box 120"/>
              <p:cNvSpPr txBox="1">
                <a:spLocks noChangeArrowheads="1"/>
              </p:cNvSpPr>
              <p:nvPr/>
            </p:nvSpPr>
            <p:spPr bwMode="auto">
              <a:xfrm>
                <a:off x="2934" y="2533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5" name="Oval 121"/>
              <p:cNvSpPr>
                <a:spLocks noChangeArrowheads="1"/>
              </p:cNvSpPr>
              <p:nvPr/>
            </p:nvSpPr>
            <p:spPr bwMode="auto">
              <a:xfrm>
                <a:off x="3022" y="2580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13" name="Line 122"/>
            <p:cNvSpPr>
              <a:spLocks noChangeShapeType="1"/>
            </p:cNvSpPr>
            <p:nvPr/>
          </p:nvSpPr>
          <p:spPr bwMode="auto">
            <a:xfrm>
              <a:off x="4625" y="3346"/>
              <a:ext cx="9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31573" y="233136"/>
            <a:ext cx="1816100" cy="579438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/>
          <a:p>
            <a:r>
              <a:rPr lang="zh-CN" altLang="en-US" sz="3200" b="1" u="sng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输出电阻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0" y="769938"/>
            <a:ext cx="4230687" cy="2116349"/>
          </a:xfrm>
          <a:prstGeom prst="rect">
            <a:avLst/>
          </a:prstGeom>
          <a:noFill/>
          <a:ln w="28575">
            <a:noFill/>
            <a:miter lim="800000"/>
            <a:headEnd/>
            <a:tailEnd type="none" w="sm" len="lg"/>
          </a:ln>
        </p:spPr>
        <p:txBody>
          <a:bodyPr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对负载而言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放大电路相当于一个具有內阻的信号源，信号源的內阻就是放大电路的输出电阻。 </a:t>
            </a:r>
            <a:endParaRPr lang="zh-CN" altLang="en-US" sz="2800" b="1" i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6011410" y="3728582"/>
            <a:ext cx="2616200" cy="1165224"/>
            <a:chOff x="4047" y="3315"/>
            <a:chExt cx="1648" cy="734"/>
          </a:xfrm>
        </p:grpSpPr>
        <p:grpSp>
          <p:nvGrpSpPr>
            <p:cNvPr id="6" name="Group 29"/>
            <p:cNvGrpSpPr>
              <a:grpSpLocks/>
            </p:cNvGrpSpPr>
            <p:nvPr/>
          </p:nvGrpSpPr>
          <p:grpSpPr bwMode="auto">
            <a:xfrm>
              <a:off x="4853" y="3315"/>
              <a:ext cx="303" cy="437"/>
              <a:chOff x="3792" y="480"/>
              <a:chExt cx="303" cy="437"/>
            </a:xfrm>
          </p:grpSpPr>
          <p:sp>
            <p:nvSpPr>
              <p:cNvPr id="17" name="Text Box 30"/>
              <p:cNvSpPr txBox="1">
                <a:spLocks noChangeArrowheads="1"/>
              </p:cNvSpPr>
              <p:nvPr/>
            </p:nvSpPr>
            <p:spPr bwMode="auto">
              <a:xfrm>
                <a:off x="3792" y="549"/>
                <a:ext cx="303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32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endParaRPr lang="en-US" altLang="zh-CN" sz="1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" name="Text Box 31"/>
              <p:cNvSpPr txBox="1">
                <a:spLocks noChangeArrowheads="1"/>
              </p:cNvSpPr>
              <p:nvPr/>
            </p:nvSpPr>
            <p:spPr bwMode="auto">
              <a:xfrm>
                <a:off x="3884" y="480"/>
                <a:ext cx="167" cy="233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4047" y="3399"/>
              <a:ext cx="1648" cy="650"/>
              <a:chOff x="4047" y="3399"/>
              <a:chExt cx="1648" cy="650"/>
            </a:xfrm>
          </p:grpSpPr>
          <p:sp>
            <p:nvSpPr>
              <p:cNvPr id="8" name="Text Box 33"/>
              <p:cNvSpPr txBox="1">
                <a:spLocks noChangeArrowheads="1"/>
              </p:cNvSpPr>
              <p:nvPr/>
            </p:nvSpPr>
            <p:spPr bwMode="auto">
              <a:xfrm>
                <a:off x="4349" y="3399"/>
                <a:ext cx="328" cy="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4000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3200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3200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" name="Text Box 34"/>
              <p:cNvSpPr txBox="1">
                <a:spLocks noChangeArrowheads="1"/>
              </p:cNvSpPr>
              <p:nvPr/>
            </p:nvSpPr>
            <p:spPr bwMode="auto">
              <a:xfrm>
                <a:off x="4611" y="3544"/>
                <a:ext cx="24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</a:t>
                </a:r>
              </a:p>
            </p:txBody>
          </p:sp>
          <p:sp>
            <p:nvSpPr>
              <p:cNvPr id="10" name="Line 35"/>
              <p:cNvSpPr>
                <a:spLocks noChangeShapeType="1"/>
              </p:cNvSpPr>
              <p:nvPr/>
            </p:nvSpPr>
            <p:spPr bwMode="auto">
              <a:xfrm>
                <a:off x="4829" y="3687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Text Box 36"/>
              <p:cNvSpPr txBox="1">
                <a:spLocks noChangeArrowheads="1"/>
              </p:cNvSpPr>
              <p:nvPr/>
            </p:nvSpPr>
            <p:spPr bwMode="auto">
              <a:xfrm>
                <a:off x="5139" y="3544"/>
                <a:ext cx="24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</a:t>
                </a:r>
              </a:p>
            </p:txBody>
          </p:sp>
          <p:sp>
            <p:nvSpPr>
              <p:cNvPr id="12" name="Text Box 37"/>
              <p:cNvSpPr txBox="1">
                <a:spLocks noChangeArrowheads="1"/>
              </p:cNvSpPr>
              <p:nvPr/>
            </p:nvSpPr>
            <p:spPr bwMode="auto">
              <a:xfrm>
                <a:off x="5339" y="3524"/>
                <a:ext cx="35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800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3" name="Text Box 38"/>
              <p:cNvSpPr txBox="1">
                <a:spLocks noChangeArrowheads="1"/>
              </p:cNvSpPr>
              <p:nvPr/>
            </p:nvSpPr>
            <p:spPr bwMode="auto">
              <a:xfrm>
                <a:off x="4047" y="3440"/>
                <a:ext cx="337" cy="36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 type="none" w="sm" len="lg"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3200">
                    <a:latin typeface="Times New Roman" pitchFamily="18" charset="0"/>
                    <a:ea typeface="华文中宋" pitchFamily="2" charset="-122"/>
                    <a:cs typeface="Times New Roman" pitchFamily="18" charset="0"/>
                    <a:sym typeface="Symbol" pitchFamily="18" charset="2"/>
                  </a:rPr>
                  <a:t></a:t>
                </a:r>
                <a:endParaRPr lang="en-US" altLang="zh-CN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4" name="Group 39"/>
              <p:cNvGrpSpPr>
                <a:grpSpLocks/>
              </p:cNvGrpSpPr>
              <p:nvPr/>
            </p:nvGrpSpPr>
            <p:grpSpPr bwMode="auto">
              <a:xfrm>
                <a:off x="4853" y="3615"/>
                <a:ext cx="223" cy="434"/>
                <a:chOff x="3354" y="336"/>
                <a:chExt cx="223" cy="434"/>
              </a:xfrm>
            </p:grpSpPr>
            <p:sp>
              <p:nvSpPr>
                <p:cNvPr id="15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3354" y="402"/>
                  <a:ext cx="204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3200" i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</a:p>
              </p:txBody>
            </p:sp>
            <p:sp>
              <p:nvSpPr>
                <p:cNvPr id="16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410" y="336"/>
                  <a:ext cx="167" cy="233"/>
                </a:xfrm>
                <a:prstGeom prst="rect">
                  <a:avLst/>
                </a:prstGeom>
                <a:noFill/>
                <a:ln w="28575">
                  <a:noFill/>
                  <a:miter lim="800000"/>
                  <a:headEnd/>
                  <a:tailEnd type="none" w="sm" len="lg"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 sz="1800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•</a:t>
                  </a:r>
                </a:p>
              </p:txBody>
            </p:sp>
          </p:grpSp>
        </p:grpSp>
      </p:grpSp>
      <p:grpSp>
        <p:nvGrpSpPr>
          <p:cNvPr id="55" name="Group 88"/>
          <p:cNvGrpSpPr>
            <a:grpSpLocks noChangeAspect="1"/>
          </p:cNvGrpSpPr>
          <p:nvPr/>
        </p:nvGrpSpPr>
        <p:grpSpPr bwMode="auto">
          <a:xfrm>
            <a:off x="558301" y="3531600"/>
            <a:ext cx="608330" cy="930910"/>
            <a:chOff x="492" y="2450"/>
            <a:chExt cx="479" cy="733"/>
          </a:xfrm>
        </p:grpSpPr>
        <p:sp>
          <p:nvSpPr>
            <p:cNvPr id="56" name="Oval 89"/>
            <p:cNvSpPr>
              <a:spLocks noChangeArrowheads="1"/>
            </p:cNvSpPr>
            <p:nvPr/>
          </p:nvSpPr>
          <p:spPr bwMode="auto">
            <a:xfrm>
              <a:off x="676" y="2747"/>
              <a:ext cx="295" cy="268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Text Box 90"/>
            <p:cNvSpPr txBox="1">
              <a:spLocks noChangeArrowheads="1"/>
            </p:cNvSpPr>
            <p:nvPr/>
          </p:nvSpPr>
          <p:spPr bwMode="auto">
            <a:xfrm>
              <a:off x="492" y="2450"/>
              <a:ext cx="347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58" name="Text Box 91"/>
            <p:cNvSpPr txBox="1">
              <a:spLocks noChangeArrowheads="1"/>
            </p:cNvSpPr>
            <p:nvPr/>
          </p:nvSpPr>
          <p:spPr bwMode="auto">
            <a:xfrm>
              <a:off x="553" y="2819"/>
              <a:ext cx="267" cy="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</p:grpSp>
      <p:grpSp>
        <p:nvGrpSpPr>
          <p:cNvPr id="174" name="组合 173"/>
          <p:cNvGrpSpPr>
            <a:grpSpLocks noChangeAspect="1"/>
          </p:cNvGrpSpPr>
          <p:nvPr/>
        </p:nvGrpSpPr>
        <p:grpSpPr>
          <a:xfrm>
            <a:off x="278266" y="2865165"/>
            <a:ext cx="5220614" cy="2132968"/>
            <a:chOff x="300038" y="3213893"/>
            <a:chExt cx="6525767" cy="2666210"/>
          </a:xfrm>
        </p:grpSpPr>
        <p:sp>
          <p:nvSpPr>
            <p:cNvPr id="2" name="Line 2"/>
            <p:cNvSpPr>
              <a:spLocks noChangeAspect="1" noChangeShapeType="1"/>
            </p:cNvSpPr>
            <p:nvPr/>
          </p:nvSpPr>
          <p:spPr bwMode="auto">
            <a:xfrm>
              <a:off x="4102100" y="4799013"/>
              <a:ext cx="0" cy="6794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9" name="Group 47"/>
            <p:cNvGrpSpPr>
              <a:grpSpLocks/>
            </p:cNvGrpSpPr>
            <p:nvPr/>
          </p:nvGrpSpPr>
          <p:grpSpPr bwMode="auto">
            <a:xfrm>
              <a:off x="5302246" y="4768852"/>
              <a:ext cx="981075" cy="1111251"/>
              <a:chOff x="4795" y="2548"/>
              <a:chExt cx="618" cy="700"/>
            </a:xfrm>
          </p:grpSpPr>
          <p:sp>
            <p:nvSpPr>
              <p:cNvPr id="20" name="Text Box 48"/>
              <p:cNvSpPr txBox="1">
                <a:spLocks noChangeArrowheads="1"/>
              </p:cNvSpPr>
              <p:nvPr/>
            </p:nvSpPr>
            <p:spPr bwMode="auto">
              <a:xfrm>
                <a:off x="5122" y="2933"/>
                <a:ext cx="291" cy="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1" name="AutoShape 49"/>
              <p:cNvSpPr>
                <a:spLocks noChangeArrowheads="1"/>
              </p:cNvSpPr>
              <p:nvPr/>
            </p:nvSpPr>
            <p:spPr bwMode="auto">
              <a:xfrm flipH="1">
                <a:off x="4795" y="2548"/>
                <a:ext cx="336" cy="65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07 w 21600"/>
                  <a:gd name="T13" fmla="*/ 2926 h 21600"/>
                  <a:gd name="T14" fmla="*/ 18257 w 21600"/>
                  <a:gd name="T15" fmla="*/ 923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close/>
                  </a:path>
                </a:pathLst>
              </a:custGeom>
              <a:solidFill>
                <a:srgbClr val="00206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23" name="Group 56"/>
            <p:cNvGrpSpPr>
              <a:grpSpLocks noChangeAspect="1"/>
            </p:cNvGrpSpPr>
            <p:nvPr/>
          </p:nvGrpSpPr>
          <p:grpSpPr bwMode="auto">
            <a:xfrm>
              <a:off x="1814513" y="3332163"/>
              <a:ext cx="179387" cy="2165350"/>
              <a:chOff x="1763" y="527"/>
              <a:chExt cx="103" cy="1364"/>
            </a:xfrm>
          </p:grpSpPr>
          <p:sp>
            <p:nvSpPr>
              <p:cNvPr id="24" name="Line 57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3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Rectangle 58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6" name="Line 59"/>
            <p:cNvSpPr>
              <a:spLocks noChangeAspect="1" noChangeShapeType="1"/>
            </p:cNvSpPr>
            <p:nvPr/>
          </p:nvSpPr>
          <p:spPr bwMode="auto">
            <a:xfrm>
              <a:off x="1201738" y="3332163"/>
              <a:ext cx="1647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Line 60"/>
            <p:cNvSpPr>
              <a:spLocks noChangeAspect="1" noChangeShapeType="1"/>
            </p:cNvSpPr>
            <p:nvPr/>
          </p:nvSpPr>
          <p:spPr bwMode="auto">
            <a:xfrm>
              <a:off x="2849563" y="3332163"/>
              <a:ext cx="0" cy="8715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Line 61"/>
            <p:cNvSpPr>
              <a:spLocks noChangeAspect="1" noChangeShapeType="1"/>
            </p:cNvSpPr>
            <p:nvPr/>
          </p:nvSpPr>
          <p:spPr bwMode="auto">
            <a:xfrm>
              <a:off x="2849563" y="4627563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Line 62"/>
            <p:cNvSpPr>
              <a:spLocks noChangeAspect="1" noChangeShapeType="1"/>
            </p:cNvSpPr>
            <p:nvPr/>
          </p:nvSpPr>
          <p:spPr bwMode="auto">
            <a:xfrm flipV="1">
              <a:off x="1181100" y="5465763"/>
              <a:ext cx="5003800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63"/>
            <p:cNvSpPr>
              <a:spLocks noChangeAspect="1" noChangeShapeType="1"/>
            </p:cNvSpPr>
            <p:nvPr/>
          </p:nvSpPr>
          <p:spPr bwMode="auto">
            <a:xfrm>
              <a:off x="3438525" y="5465763"/>
              <a:ext cx="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64"/>
            <p:cNvSpPr>
              <a:spLocks noChangeAspect="1" noChangeShapeType="1"/>
            </p:cNvSpPr>
            <p:nvPr/>
          </p:nvSpPr>
          <p:spPr bwMode="auto">
            <a:xfrm>
              <a:off x="3270250" y="5770563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Text Box 65"/>
            <p:cNvSpPr txBox="1">
              <a:spLocks noChangeAspect="1" noChangeArrowheads="1"/>
            </p:cNvSpPr>
            <p:nvPr/>
          </p:nvSpPr>
          <p:spPr bwMode="auto">
            <a:xfrm>
              <a:off x="2892425" y="3884613"/>
              <a:ext cx="757237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0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Text Box 66"/>
            <p:cNvSpPr txBox="1">
              <a:spLocks noChangeAspect="1" noChangeArrowheads="1"/>
            </p:cNvSpPr>
            <p:nvPr/>
          </p:nvSpPr>
          <p:spPr bwMode="auto">
            <a:xfrm>
              <a:off x="3413125" y="4681538"/>
              <a:ext cx="619561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34" name="Text Box 67"/>
            <p:cNvSpPr txBox="1">
              <a:spLocks noChangeAspect="1" noChangeArrowheads="1"/>
            </p:cNvSpPr>
            <p:nvPr/>
          </p:nvSpPr>
          <p:spPr bwMode="auto">
            <a:xfrm>
              <a:off x="2189560" y="3381375"/>
              <a:ext cx="443230" cy="500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Text Box 68"/>
            <p:cNvSpPr txBox="1">
              <a:spLocks noChangeAspect="1" noChangeArrowheads="1"/>
            </p:cNvSpPr>
            <p:nvPr/>
          </p:nvSpPr>
          <p:spPr bwMode="auto">
            <a:xfrm>
              <a:off x="4421585" y="3352007"/>
              <a:ext cx="431207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Oval 69"/>
            <p:cNvSpPr>
              <a:spLocks noChangeAspect="1" noChangeArrowheads="1"/>
            </p:cNvSpPr>
            <p:nvPr/>
          </p:nvSpPr>
          <p:spPr bwMode="auto">
            <a:xfrm>
              <a:off x="3397250" y="542131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noFill/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70"/>
            <p:cNvSpPr>
              <a:spLocks noChangeAspect="1" noChangeShapeType="1"/>
            </p:cNvSpPr>
            <p:nvPr/>
          </p:nvSpPr>
          <p:spPr bwMode="auto">
            <a:xfrm>
              <a:off x="5148263" y="3255963"/>
              <a:ext cx="0" cy="2209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71"/>
            <p:cNvSpPr>
              <a:spLocks noChangeAspect="1" noChangeShapeType="1"/>
            </p:cNvSpPr>
            <p:nvPr/>
          </p:nvSpPr>
          <p:spPr bwMode="auto">
            <a:xfrm>
              <a:off x="4102100" y="4794250"/>
              <a:ext cx="0" cy="4191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Rectangle 72"/>
            <p:cNvSpPr>
              <a:spLocks noChangeAspect="1" noChangeArrowheads="1"/>
            </p:cNvSpPr>
            <p:nvPr/>
          </p:nvSpPr>
          <p:spPr bwMode="auto">
            <a:xfrm>
              <a:off x="4522788" y="4108451"/>
              <a:ext cx="569467" cy="500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0" name="Rectangle 73"/>
            <p:cNvSpPr>
              <a:spLocks noChangeAspect="1" noChangeArrowheads="1"/>
            </p:cNvSpPr>
            <p:nvPr/>
          </p:nvSpPr>
          <p:spPr bwMode="auto">
            <a:xfrm>
              <a:off x="1879600" y="4108451"/>
              <a:ext cx="569467" cy="500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1" name="Line 74"/>
            <p:cNvSpPr>
              <a:spLocks noChangeAspect="1" noChangeShapeType="1"/>
            </p:cNvSpPr>
            <p:nvPr/>
          </p:nvSpPr>
          <p:spPr bwMode="auto">
            <a:xfrm>
              <a:off x="4102100" y="3270250"/>
              <a:ext cx="2082800" cy="238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75"/>
            <p:cNvSpPr>
              <a:spLocks noChangeAspect="1" noChangeShapeType="1"/>
            </p:cNvSpPr>
            <p:nvPr/>
          </p:nvSpPr>
          <p:spPr bwMode="auto">
            <a:xfrm rot="16200000">
              <a:off x="2460625" y="31003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Line 76"/>
            <p:cNvSpPr>
              <a:spLocks noChangeAspect="1" noChangeShapeType="1"/>
            </p:cNvSpPr>
            <p:nvPr/>
          </p:nvSpPr>
          <p:spPr bwMode="auto">
            <a:xfrm rot="5400000">
              <a:off x="4569619" y="3045619"/>
              <a:ext cx="0" cy="46196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Rectangle 77"/>
            <p:cNvSpPr>
              <a:spLocks noChangeAspect="1" noChangeArrowheads="1"/>
            </p:cNvSpPr>
            <p:nvPr/>
          </p:nvSpPr>
          <p:spPr bwMode="auto">
            <a:xfrm>
              <a:off x="2759075" y="4148138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Rectangle 78"/>
            <p:cNvSpPr>
              <a:spLocks noChangeAspect="1" noChangeArrowheads="1"/>
            </p:cNvSpPr>
            <p:nvPr/>
          </p:nvSpPr>
          <p:spPr bwMode="auto">
            <a:xfrm>
              <a:off x="5070475" y="4176713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Text Box 79"/>
            <p:cNvSpPr txBox="1">
              <a:spLocks noChangeAspect="1" noChangeArrowheads="1"/>
            </p:cNvSpPr>
            <p:nvPr/>
          </p:nvSpPr>
          <p:spPr bwMode="auto">
            <a:xfrm>
              <a:off x="6256338" y="4094163"/>
              <a:ext cx="569467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47" name="Text Box 80"/>
            <p:cNvSpPr txBox="1">
              <a:spLocks noChangeAspect="1" noChangeArrowheads="1"/>
            </p:cNvSpPr>
            <p:nvPr/>
          </p:nvSpPr>
          <p:spPr bwMode="auto">
            <a:xfrm>
              <a:off x="6315075" y="4799013"/>
              <a:ext cx="391132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48" name="Text Box 81"/>
            <p:cNvSpPr txBox="1">
              <a:spLocks noChangeAspect="1" noChangeArrowheads="1"/>
            </p:cNvSpPr>
            <p:nvPr/>
          </p:nvSpPr>
          <p:spPr bwMode="auto">
            <a:xfrm>
              <a:off x="6256338" y="3386138"/>
              <a:ext cx="551432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</p:txBody>
        </p:sp>
        <p:sp>
          <p:nvSpPr>
            <p:cNvPr id="49" name="Line 82"/>
            <p:cNvSpPr>
              <a:spLocks noChangeAspect="1" noChangeShapeType="1"/>
            </p:cNvSpPr>
            <p:nvPr/>
          </p:nvSpPr>
          <p:spPr bwMode="auto">
            <a:xfrm>
              <a:off x="6173788" y="3270250"/>
              <a:ext cx="0" cy="21971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Rectangle 83"/>
            <p:cNvSpPr>
              <a:spLocks noChangeAspect="1" noChangeArrowheads="1"/>
            </p:cNvSpPr>
            <p:nvPr/>
          </p:nvSpPr>
          <p:spPr bwMode="auto">
            <a:xfrm>
              <a:off x="5565775" y="4094163"/>
              <a:ext cx="545422" cy="500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51" name="Rectangle 84"/>
            <p:cNvSpPr>
              <a:spLocks noChangeAspect="1" noChangeArrowheads="1"/>
            </p:cNvSpPr>
            <p:nvPr/>
          </p:nvSpPr>
          <p:spPr bwMode="auto">
            <a:xfrm>
              <a:off x="6064250" y="4176713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Rectangle 85"/>
            <p:cNvSpPr>
              <a:spLocks noChangeAspect="1" noChangeArrowheads="1"/>
            </p:cNvSpPr>
            <p:nvPr/>
          </p:nvSpPr>
          <p:spPr bwMode="auto">
            <a:xfrm>
              <a:off x="2253853" y="3213893"/>
              <a:ext cx="304972" cy="37189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3" name="Rectangle 86"/>
            <p:cNvSpPr>
              <a:spLocks noChangeAspect="1" noChangeArrowheads="1"/>
            </p:cNvSpPr>
            <p:nvPr/>
          </p:nvSpPr>
          <p:spPr bwMode="auto">
            <a:xfrm>
              <a:off x="6400800" y="3906838"/>
              <a:ext cx="304972" cy="37189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4" name="Text Box 87"/>
            <p:cNvSpPr txBox="1">
              <a:spLocks noChangeAspect="1" noChangeArrowheads="1"/>
            </p:cNvSpPr>
            <p:nvPr/>
          </p:nvSpPr>
          <p:spPr bwMode="auto">
            <a:xfrm>
              <a:off x="300038" y="4468813"/>
              <a:ext cx="581490" cy="500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59" name="Rectangle 92"/>
            <p:cNvSpPr>
              <a:spLocks noChangeAspect="1" noChangeArrowheads="1"/>
            </p:cNvSpPr>
            <p:nvPr/>
          </p:nvSpPr>
          <p:spPr bwMode="auto">
            <a:xfrm>
              <a:off x="421482" y="4295776"/>
              <a:ext cx="304972" cy="37189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60" name="Rectangle 93"/>
            <p:cNvSpPr>
              <a:spLocks noChangeAspect="1" noChangeArrowheads="1"/>
            </p:cNvSpPr>
            <p:nvPr/>
          </p:nvSpPr>
          <p:spPr bwMode="auto">
            <a:xfrm>
              <a:off x="3676650" y="4513263"/>
              <a:ext cx="304972" cy="37189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61" name="Rectangle 94"/>
            <p:cNvSpPr>
              <a:spLocks noChangeAspect="1" noChangeArrowheads="1"/>
            </p:cNvSpPr>
            <p:nvPr/>
          </p:nvSpPr>
          <p:spPr bwMode="auto">
            <a:xfrm>
              <a:off x="4473574" y="3236517"/>
              <a:ext cx="308980" cy="38472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1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62" name="Rectangle 95"/>
            <p:cNvSpPr>
              <a:spLocks noChangeAspect="1" noChangeArrowheads="1"/>
            </p:cNvSpPr>
            <p:nvPr/>
          </p:nvSpPr>
          <p:spPr bwMode="auto">
            <a:xfrm>
              <a:off x="1353344" y="3423047"/>
              <a:ext cx="397145" cy="500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63" name="Rectangle 96"/>
            <p:cNvSpPr>
              <a:spLocks noChangeAspect="1" noChangeArrowheads="1"/>
            </p:cNvSpPr>
            <p:nvPr/>
          </p:nvSpPr>
          <p:spPr bwMode="auto">
            <a:xfrm>
              <a:off x="1416448" y="3252787"/>
              <a:ext cx="304972" cy="371896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64" name="Line 97"/>
            <p:cNvSpPr>
              <a:spLocks noChangeAspect="1" noChangeShapeType="1"/>
            </p:cNvSpPr>
            <p:nvPr/>
          </p:nvSpPr>
          <p:spPr bwMode="auto">
            <a:xfrm rot="16200000">
              <a:off x="1598613" y="31003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98"/>
            <p:cNvSpPr>
              <a:spLocks noChangeAspect="1" noChangeShapeType="1"/>
            </p:cNvSpPr>
            <p:nvPr/>
          </p:nvSpPr>
          <p:spPr bwMode="auto">
            <a:xfrm>
              <a:off x="1181100" y="3313113"/>
              <a:ext cx="0" cy="21653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Rectangle 99"/>
            <p:cNvSpPr>
              <a:spLocks noChangeAspect="1" noChangeArrowheads="1"/>
            </p:cNvSpPr>
            <p:nvPr/>
          </p:nvSpPr>
          <p:spPr bwMode="auto">
            <a:xfrm>
              <a:off x="1109663" y="3654425"/>
              <a:ext cx="142875" cy="420688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Rectangle 100"/>
            <p:cNvSpPr>
              <a:spLocks noChangeAspect="1" noChangeArrowheads="1"/>
            </p:cNvSpPr>
            <p:nvPr/>
          </p:nvSpPr>
          <p:spPr bwMode="auto">
            <a:xfrm>
              <a:off x="608410" y="3565526"/>
              <a:ext cx="545422" cy="500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68" name="Line 104"/>
            <p:cNvSpPr>
              <a:spLocks noChangeAspect="1" noChangeShapeType="1"/>
            </p:cNvSpPr>
            <p:nvPr/>
          </p:nvSpPr>
          <p:spPr bwMode="auto">
            <a:xfrm>
              <a:off x="4102100" y="3276600"/>
              <a:ext cx="0" cy="10191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9" name="AutoShape 105"/>
          <p:cNvSpPr>
            <a:spLocks noChangeAspect="1" noChangeArrowheads="1"/>
          </p:cNvSpPr>
          <p:nvPr/>
        </p:nvSpPr>
        <p:spPr bwMode="auto">
          <a:xfrm>
            <a:off x="3137353" y="3594781"/>
            <a:ext cx="379730" cy="574040"/>
          </a:xfrm>
          <a:prstGeom prst="flowChartSort">
            <a:avLst/>
          </a:prstGeom>
          <a:gradFill rotWithShape="1">
            <a:gsLst>
              <a:gs pos="0">
                <a:srgbClr val="CCFFFF"/>
              </a:gs>
              <a:gs pos="50000">
                <a:schemeClr val="accent1"/>
              </a:gs>
              <a:gs pos="100000">
                <a:srgbClr val="CCFFFF"/>
              </a:gs>
            </a:gsLst>
            <a:lin ang="0" scaled="1"/>
          </a:gradFill>
          <a:ln w="38100">
            <a:solidFill>
              <a:schemeClr val="tx1"/>
            </a:solidFill>
            <a:miter lim="800000"/>
            <a:headEnd/>
            <a:tailEnd type="none" w="med" len="lg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8" name="Group 73"/>
          <p:cNvGrpSpPr>
            <a:grpSpLocks/>
          </p:cNvGrpSpPr>
          <p:nvPr/>
        </p:nvGrpSpPr>
        <p:grpSpPr bwMode="auto">
          <a:xfrm>
            <a:off x="4172353" y="290688"/>
            <a:ext cx="4649788" cy="3230563"/>
            <a:chOff x="2699" y="1842"/>
            <a:chExt cx="2929" cy="2035"/>
          </a:xfrm>
        </p:grpSpPr>
        <p:sp>
          <p:nvSpPr>
            <p:cNvPr id="119" name="Oval 74"/>
            <p:cNvSpPr>
              <a:spLocks noChangeArrowheads="1"/>
            </p:cNvSpPr>
            <p:nvPr/>
          </p:nvSpPr>
          <p:spPr bwMode="auto">
            <a:xfrm>
              <a:off x="2938" y="2963"/>
              <a:ext cx="240" cy="21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75"/>
            <p:cNvSpPr txBox="1">
              <a:spLocks noChangeArrowheads="1"/>
            </p:cNvSpPr>
            <p:nvPr/>
          </p:nvSpPr>
          <p:spPr bwMode="auto">
            <a:xfrm>
              <a:off x="3280" y="2028"/>
              <a:ext cx="144" cy="21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0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Rectangle 76"/>
            <p:cNvSpPr>
              <a:spLocks noChangeArrowheads="1"/>
            </p:cNvSpPr>
            <p:nvPr/>
          </p:nvSpPr>
          <p:spPr bwMode="auto">
            <a:xfrm>
              <a:off x="3666" y="2068"/>
              <a:ext cx="1345" cy="146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lgDashDot"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Line 77"/>
            <p:cNvSpPr>
              <a:spLocks noChangeShapeType="1"/>
            </p:cNvSpPr>
            <p:nvPr/>
          </p:nvSpPr>
          <p:spPr bwMode="auto">
            <a:xfrm>
              <a:off x="4629" y="2294"/>
              <a:ext cx="0" cy="10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78"/>
            <p:cNvSpPr>
              <a:spLocks noChangeShapeType="1"/>
            </p:cNvSpPr>
            <p:nvPr/>
          </p:nvSpPr>
          <p:spPr bwMode="auto">
            <a:xfrm flipH="1" flipV="1">
              <a:off x="3945" y="2277"/>
              <a:ext cx="0" cy="10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Line 79"/>
            <p:cNvSpPr>
              <a:spLocks noChangeShapeType="1"/>
            </p:cNvSpPr>
            <p:nvPr/>
          </p:nvSpPr>
          <p:spPr bwMode="auto">
            <a:xfrm>
              <a:off x="3055" y="2724"/>
              <a:ext cx="0" cy="6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80"/>
            <p:cNvSpPr>
              <a:spLocks noChangeShapeType="1"/>
            </p:cNvSpPr>
            <p:nvPr/>
          </p:nvSpPr>
          <p:spPr bwMode="auto">
            <a:xfrm flipV="1">
              <a:off x="3057" y="2280"/>
              <a:ext cx="0" cy="3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Text Box 81"/>
            <p:cNvSpPr txBox="1">
              <a:spLocks noChangeArrowheads="1"/>
            </p:cNvSpPr>
            <p:nvPr/>
          </p:nvSpPr>
          <p:spPr bwMode="auto">
            <a:xfrm>
              <a:off x="3538" y="3605"/>
              <a:ext cx="1550" cy="27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kumimoji="0" lang="zh-CN" altLang="en-US" sz="20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输入电阻</a:t>
              </a: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与输出电阻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127" name="Rectangle 82"/>
            <p:cNvSpPr>
              <a:spLocks noChangeArrowheads="1"/>
            </p:cNvSpPr>
            <p:nvPr/>
          </p:nvSpPr>
          <p:spPr bwMode="auto">
            <a:xfrm rot="5400000">
              <a:off x="4492" y="2556"/>
              <a:ext cx="267" cy="91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Text Box 83"/>
            <p:cNvSpPr txBox="1">
              <a:spLocks noChangeArrowheads="1"/>
            </p:cNvSpPr>
            <p:nvPr/>
          </p:nvSpPr>
          <p:spPr bwMode="auto">
            <a:xfrm>
              <a:off x="4003" y="1842"/>
              <a:ext cx="6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放大电路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9" name="Text Box 84"/>
            <p:cNvSpPr txBox="1">
              <a:spLocks noChangeArrowheads="1"/>
            </p:cNvSpPr>
            <p:nvPr/>
          </p:nvSpPr>
          <p:spPr bwMode="auto">
            <a:xfrm>
              <a:off x="5057" y="2026"/>
              <a:ext cx="258" cy="20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kumimoji="0" lang="en-US" altLang="zh-CN" sz="20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Text Box 85"/>
            <p:cNvSpPr txBox="1">
              <a:spLocks noChangeArrowheads="1"/>
            </p:cNvSpPr>
            <p:nvPr/>
          </p:nvSpPr>
          <p:spPr bwMode="auto">
            <a:xfrm>
              <a:off x="3759" y="2661"/>
              <a:ext cx="288" cy="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1" name="Text Box 86"/>
            <p:cNvSpPr txBox="1">
              <a:spLocks noChangeArrowheads="1"/>
            </p:cNvSpPr>
            <p:nvPr/>
          </p:nvSpPr>
          <p:spPr bwMode="auto">
            <a:xfrm>
              <a:off x="5348" y="2822"/>
              <a:ext cx="280" cy="22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2" name="Line 87"/>
            <p:cNvSpPr>
              <a:spLocks noChangeShapeType="1"/>
            </p:cNvSpPr>
            <p:nvPr/>
          </p:nvSpPr>
          <p:spPr bwMode="auto">
            <a:xfrm>
              <a:off x="3585" y="2285"/>
              <a:ext cx="3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133" name="Rectangle 88"/>
            <p:cNvSpPr>
              <a:spLocks noChangeArrowheads="1"/>
            </p:cNvSpPr>
            <p:nvPr/>
          </p:nvSpPr>
          <p:spPr bwMode="auto">
            <a:xfrm rot="5394693">
              <a:off x="3809" y="2744"/>
              <a:ext cx="267" cy="90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4" name="Line 89"/>
            <p:cNvSpPr>
              <a:spLocks noChangeShapeType="1"/>
            </p:cNvSpPr>
            <p:nvPr/>
          </p:nvSpPr>
          <p:spPr bwMode="auto">
            <a:xfrm>
              <a:off x="4624" y="2300"/>
              <a:ext cx="9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Line 90"/>
            <p:cNvSpPr>
              <a:spLocks noChangeShapeType="1"/>
            </p:cNvSpPr>
            <p:nvPr/>
          </p:nvSpPr>
          <p:spPr bwMode="auto">
            <a:xfrm>
              <a:off x="5556" y="2294"/>
              <a:ext cx="0" cy="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Line 91"/>
            <p:cNvSpPr>
              <a:spLocks noChangeShapeType="1"/>
            </p:cNvSpPr>
            <p:nvPr/>
          </p:nvSpPr>
          <p:spPr bwMode="auto">
            <a:xfrm flipH="1">
              <a:off x="5556" y="2785"/>
              <a:ext cx="2" cy="5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Line 92"/>
            <p:cNvSpPr>
              <a:spLocks noChangeShapeType="1"/>
            </p:cNvSpPr>
            <p:nvPr/>
          </p:nvSpPr>
          <p:spPr bwMode="auto">
            <a:xfrm>
              <a:off x="3209" y="3357"/>
              <a:ext cx="72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8" name="Line 93"/>
            <p:cNvSpPr>
              <a:spLocks noChangeShapeType="1"/>
            </p:cNvSpPr>
            <p:nvPr/>
          </p:nvSpPr>
          <p:spPr bwMode="auto">
            <a:xfrm flipV="1">
              <a:off x="3239" y="2285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9" name="Oval 94"/>
            <p:cNvSpPr>
              <a:spLocks noChangeArrowheads="1"/>
            </p:cNvSpPr>
            <p:nvPr/>
          </p:nvSpPr>
          <p:spPr bwMode="auto">
            <a:xfrm>
              <a:off x="3204" y="2260"/>
              <a:ext cx="46" cy="4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0" name="Text Box 95"/>
            <p:cNvSpPr txBox="1">
              <a:spLocks noChangeArrowheads="1"/>
            </p:cNvSpPr>
            <p:nvPr/>
          </p:nvSpPr>
          <p:spPr bwMode="auto">
            <a:xfrm>
              <a:off x="2699" y="2387"/>
              <a:ext cx="274" cy="33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141" name="Rectangle 96"/>
            <p:cNvSpPr>
              <a:spLocks noChangeArrowheads="1"/>
            </p:cNvSpPr>
            <p:nvPr/>
          </p:nvSpPr>
          <p:spPr bwMode="auto">
            <a:xfrm rot="5407120">
              <a:off x="2923" y="2544"/>
              <a:ext cx="268" cy="91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2" name="Line 97"/>
            <p:cNvSpPr>
              <a:spLocks noChangeShapeType="1"/>
            </p:cNvSpPr>
            <p:nvPr/>
          </p:nvSpPr>
          <p:spPr bwMode="auto">
            <a:xfrm>
              <a:off x="3055" y="2282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" name="Line 98"/>
            <p:cNvSpPr>
              <a:spLocks noChangeShapeType="1"/>
            </p:cNvSpPr>
            <p:nvPr/>
          </p:nvSpPr>
          <p:spPr bwMode="auto">
            <a:xfrm>
              <a:off x="3410" y="2280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 useBgFill="1">
          <p:nvSpPr>
            <p:cNvPr id="144" name="Rectangle 99"/>
            <p:cNvSpPr>
              <a:spLocks noChangeArrowheads="1"/>
            </p:cNvSpPr>
            <p:nvPr/>
          </p:nvSpPr>
          <p:spPr bwMode="auto">
            <a:xfrm rot="5400000">
              <a:off x="5423" y="2722"/>
              <a:ext cx="267" cy="90"/>
            </a:xfrm>
            <a:prstGeom prst="rect">
              <a:avLst/>
            </a:prstGeom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Oval 100"/>
            <p:cNvSpPr>
              <a:spLocks noChangeArrowheads="1"/>
            </p:cNvSpPr>
            <p:nvPr/>
          </p:nvSpPr>
          <p:spPr bwMode="auto">
            <a:xfrm>
              <a:off x="3191" y="3335"/>
              <a:ext cx="45" cy="4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Line 101"/>
            <p:cNvSpPr>
              <a:spLocks noChangeShapeType="1"/>
            </p:cNvSpPr>
            <p:nvPr/>
          </p:nvSpPr>
          <p:spPr bwMode="auto">
            <a:xfrm flipV="1">
              <a:off x="3051" y="3354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AutoShape 102"/>
            <p:cNvSpPr>
              <a:spLocks noChangeAspect="1" noChangeArrowheads="1"/>
            </p:cNvSpPr>
            <p:nvPr/>
          </p:nvSpPr>
          <p:spPr bwMode="auto">
            <a:xfrm>
              <a:off x="4509" y="2920"/>
              <a:ext cx="236" cy="282"/>
            </a:xfrm>
            <a:prstGeom prst="diamond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48" name="Group 103"/>
            <p:cNvGrpSpPr>
              <a:grpSpLocks/>
            </p:cNvGrpSpPr>
            <p:nvPr/>
          </p:nvGrpSpPr>
          <p:grpSpPr bwMode="auto">
            <a:xfrm>
              <a:off x="2718" y="2996"/>
              <a:ext cx="216" cy="200"/>
              <a:chOff x="2989" y="3547"/>
              <a:chExt cx="270" cy="276"/>
            </a:xfrm>
          </p:grpSpPr>
          <p:sp>
            <p:nvSpPr>
              <p:cNvPr id="171" name="Text Box 104"/>
              <p:cNvSpPr txBox="1">
                <a:spLocks noChangeArrowheads="1"/>
              </p:cNvSpPr>
              <p:nvPr/>
            </p:nvSpPr>
            <p:spPr bwMode="auto">
              <a:xfrm>
                <a:off x="2989" y="3547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2" name="Oval 105"/>
              <p:cNvSpPr>
                <a:spLocks noChangeArrowheads="1"/>
              </p:cNvSpPr>
              <p:nvPr/>
            </p:nvSpPr>
            <p:spPr bwMode="auto">
              <a:xfrm>
                <a:off x="3109" y="3576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49" name="Text Box 106"/>
            <p:cNvSpPr txBox="1">
              <a:spLocks noChangeArrowheads="1"/>
            </p:cNvSpPr>
            <p:nvPr/>
          </p:nvSpPr>
          <p:spPr bwMode="auto">
            <a:xfrm>
              <a:off x="2912" y="2811"/>
              <a:ext cx="124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50" name="Group 107"/>
            <p:cNvGrpSpPr>
              <a:grpSpLocks/>
            </p:cNvGrpSpPr>
            <p:nvPr/>
          </p:nvGrpSpPr>
          <p:grpSpPr bwMode="auto">
            <a:xfrm>
              <a:off x="3382" y="2707"/>
              <a:ext cx="216" cy="200"/>
              <a:chOff x="2934" y="2533"/>
              <a:chExt cx="270" cy="276"/>
            </a:xfrm>
          </p:grpSpPr>
          <p:sp>
            <p:nvSpPr>
              <p:cNvPr id="169" name="Text Box 108"/>
              <p:cNvSpPr txBox="1">
                <a:spLocks noChangeArrowheads="1"/>
              </p:cNvSpPr>
              <p:nvPr/>
            </p:nvSpPr>
            <p:spPr bwMode="auto">
              <a:xfrm>
                <a:off x="2934" y="2533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0" name="Oval 109"/>
              <p:cNvSpPr>
                <a:spLocks noChangeArrowheads="1"/>
              </p:cNvSpPr>
              <p:nvPr/>
            </p:nvSpPr>
            <p:spPr bwMode="auto">
              <a:xfrm>
                <a:off x="3022" y="2580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1" name="Text Box 110"/>
            <p:cNvSpPr txBox="1">
              <a:spLocks noChangeArrowheads="1"/>
            </p:cNvSpPr>
            <p:nvPr/>
          </p:nvSpPr>
          <p:spPr bwMode="auto">
            <a:xfrm>
              <a:off x="3416" y="2294"/>
              <a:ext cx="253" cy="11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2" name="Line 111"/>
            <p:cNvSpPr>
              <a:spLocks noChangeShapeType="1"/>
            </p:cNvSpPr>
            <p:nvPr/>
          </p:nvSpPr>
          <p:spPr bwMode="auto">
            <a:xfrm>
              <a:off x="4632" y="2910"/>
              <a:ext cx="0" cy="3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3" name="Line 112"/>
            <p:cNvSpPr>
              <a:spLocks noChangeShapeType="1"/>
            </p:cNvSpPr>
            <p:nvPr/>
          </p:nvSpPr>
          <p:spPr bwMode="auto">
            <a:xfrm>
              <a:off x="5114" y="2297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Text Box 113"/>
            <p:cNvSpPr txBox="1">
              <a:spLocks noChangeArrowheads="1"/>
            </p:cNvSpPr>
            <p:nvPr/>
          </p:nvSpPr>
          <p:spPr bwMode="auto">
            <a:xfrm>
              <a:off x="4755" y="2479"/>
              <a:ext cx="252" cy="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Text Box 114"/>
            <p:cNvSpPr txBox="1">
              <a:spLocks noChangeArrowheads="1"/>
            </p:cNvSpPr>
            <p:nvPr/>
          </p:nvSpPr>
          <p:spPr bwMode="auto">
            <a:xfrm>
              <a:off x="4377" y="2840"/>
              <a:ext cx="124" cy="52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56" name="Group 115"/>
            <p:cNvGrpSpPr>
              <a:grpSpLocks/>
            </p:cNvGrpSpPr>
            <p:nvPr/>
          </p:nvGrpSpPr>
          <p:grpSpPr bwMode="auto">
            <a:xfrm>
              <a:off x="2806" y="2028"/>
              <a:ext cx="2392" cy="1185"/>
              <a:chOff x="5226" y="1634"/>
              <a:chExt cx="2992" cy="1627"/>
            </a:xfrm>
          </p:grpSpPr>
          <p:sp>
            <p:nvSpPr>
              <p:cNvPr id="162" name="Text Box 116"/>
              <p:cNvSpPr txBox="1">
                <a:spLocks noChangeArrowheads="1"/>
              </p:cNvSpPr>
              <p:nvPr/>
            </p:nvSpPr>
            <p:spPr bwMode="auto">
              <a:xfrm>
                <a:off x="6989" y="2985"/>
                <a:ext cx="42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OC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3" name="Oval 117"/>
              <p:cNvSpPr>
                <a:spLocks noChangeArrowheads="1"/>
              </p:cNvSpPr>
              <p:nvPr/>
            </p:nvSpPr>
            <p:spPr bwMode="auto">
              <a:xfrm>
                <a:off x="7079" y="2986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4" name="Oval 117"/>
              <p:cNvSpPr>
                <a:spLocks noChangeArrowheads="1"/>
              </p:cNvSpPr>
              <p:nvPr/>
            </p:nvSpPr>
            <p:spPr bwMode="auto">
              <a:xfrm>
                <a:off x="8105" y="1635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5" name="Oval 117"/>
              <p:cNvSpPr>
                <a:spLocks noChangeArrowheads="1"/>
              </p:cNvSpPr>
              <p:nvPr/>
            </p:nvSpPr>
            <p:spPr bwMode="auto">
              <a:xfrm>
                <a:off x="6027" y="2569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6" name="Oval 117"/>
              <p:cNvSpPr>
                <a:spLocks noChangeArrowheads="1"/>
              </p:cNvSpPr>
              <p:nvPr/>
            </p:nvSpPr>
            <p:spPr bwMode="auto">
              <a:xfrm>
                <a:off x="5226" y="2953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7" name="Oval 117"/>
              <p:cNvSpPr>
                <a:spLocks noChangeArrowheads="1"/>
              </p:cNvSpPr>
              <p:nvPr/>
            </p:nvSpPr>
            <p:spPr bwMode="auto">
              <a:xfrm>
                <a:off x="8201" y="2494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8" name="Oval 117"/>
              <p:cNvSpPr>
                <a:spLocks noChangeArrowheads="1"/>
              </p:cNvSpPr>
              <p:nvPr/>
            </p:nvSpPr>
            <p:spPr bwMode="auto">
              <a:xfrm>
                <a:off x="5877" y="1634"/>
                <a:ext cx="17" cy="19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7" name="Text Box 118"/>
            <p:cNvSpPr txBox="1">
              <a:spLocks noChangeArrowheads="1"/>
            </p:cNvSpPr>
            <p:nvPr/>
          </p:nvSpPr>
          <p:spPr bwMode="auto">
            <a:xfrm>
              <a:off x="5206" y="2294"/>
              <a:ext cx="252" cy="11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0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58" name="Group 119"/>
            <p:cNvGrpSpPr>
              <a:grpSpLocks/>
            </p:cNvGrpSpPr>
            <p:nvPr/>
          </p:nvGrpSpPr>
          <p:grpSpPr bwMode="auto">
            <a:xfrm>
              <a:off x="5121" y="2650"/>
              <a:ext cx="216" cy="200"/>
              <a:chOff x="2934" y="2533"/>
              <a:chExt cx="270" cy="276"/>
            </a:xfrm>
          </p:grpSpPr>
          <p:sp>
            <p:nvSpPr>
              <p:cNvPr id="160" name="Text Box 120"/>
              <p:cNvSpPr txBox="1">
                <a:spLocks noChangeArrowheads="1"/>
              </p:cNvSpPr>
              <p:nvPr/>
            </p:nvSpPr>
            <p:spPr bwMode="auto">
              <a:xfrm>
                <a:off x="2934" y="2533"/>
                <a:ext cx="270" cy="2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kumimoji="0" lang="en-US" altLang="zh-CN" sz="2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1" name="Oval 121"/>
              <p:cNvSpPr>
                <a:spLocks noChangeArrowheads="1"/>
              </p:cNvSpPr>
              <p:nvPr/>
            </p:nvSpPr>
            <p:spPr bwMode="auto">
              <a:xfrm>
                <a:off x="3022" y="2580"/>
                <a:ext cx="17" cy="17"/>
              </a:xfrm>
              <a:prstGeom prst="ellipse">
                <a:avLst/>
              </a:prstGeom>
              <a:noFill/>
              <a:ln w="3810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59" name="Line 122"/>
            <p:cNvSpPr>
              <a:spLocks noChangeShapeType="1"/>
            </p:cNvSpPr>
            <p:nvPr/>
          </p:nvSpPr>
          <p:spPr bwMode="auto">
            <a:xfrm>
              <a:off x="4625" y="3346"/>
              <a:ext cx="9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400"/>
                            </p:stCondLst>
                            <p:childTnLst>
                              <p:par>
                                <p:cTn id="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400"/>
                            </p:stCondLst>
                            <p:childTnLst>
                              <p:par>
                                <p:cTn id="1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95276"/>
            <a:ext cx="2928257" cy="662668"/>
          </a:xfrm>
        </p:spPr>
        <p:txBody>
          <a:bodyPr/>
          <a:lstStyle/>
          <a:p>
            <a:pPr eaLnBrk="1" hangingPunct="1"/>
            <a:r>
              <a:rPr lang="en-US" altLang="zh-CN" sz="3200" b="1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4</a:t>
            </a:r>
            <a:r>
              <a:rPr lang="zh-CN" altLang="en-US" sz="3200" b="1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3200" b="1" dirty="0" smtClean="0">
                <a:solidFill>
                  <a:srgbClr val="00B050"/>
                </a:solidFill>
                <a:latin typeface="华文中宋" pitchFamily="2" charset="-122"/>
                <a:ea typeface="华文中宋" pitchFamily="2" charset="-122"/>
              </a:rPr>
              <a:t>频率响应</a:t>
            </a:r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1146629" y="1289504"/>
            <a:ext cx="7115628" cy="2662011"/>
          </a:xfrm>
          <a:prstGeom prst="rect">
            <a:avLst/>
          </a:prstGeom>
          <a:noFill/>
        </p:spPr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频率响应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放大倍数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2800" b="1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与频率的函数关系</a:t>
            </a: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幅频特性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放大倍数的幅值与频率的关系</a:t>
            </a: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相频特性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输出电压相对于输入电压的相位         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 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φ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与频率的关系</a:t>
            </a: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085714" y="359230"/>
            <a:ext cx="4286567" cy="2451552"/>
            <a:chOff x="1171314" y="1055915"/>
            <a:chExt cx="4286567" cy="2451552"/>
          </a:xfrm>
        </p:grpSpPr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1171317" y="1084994"/>
              <a:ext cx="4286570" cy="2422474"/>
              <a:chOff x="990" y="1096"/>
              <a:chExt cx="2438" cy="1800"/>
            </a:xfrm>
          </p:grpSpPr>
          <p:grpSp>
            <p:nvGrpSpPr>
              <p:cNvPr id="11" name="Group 20"/>
              <p:cNvGrpSpPr>
                <a:grpSpLocks/>
              </p:cNvGrpSpPr>
              <p:nvPr/>
            </p:nvGrpSpPr>
            <p:grpSpPr bwMode="auto">
              <a:xfrm>
                <a:off x="1703" y="1119"/>
                <a:ext cx="785" cy="1665"/>
                <a:chOff x="1703" y="1119"/>
                <a:chExt cx="785" cy="1665"/>
              </a:xfrm>
            </p:grpSpPr>
            <p:sp>
              <p:nvSpPr>
                <p:cNvPr id="52" name="Line 21"/>
                <p:cNvSpPr>
                  <a:spLocks noChangeShapeType="1"/>
                </p:cNvSpPr>
                <p:nvPr/>
              </p:nvSpPr>
              <p:spPr bwMode="auto">
                <a:xfrm>
                  <a:off x="1703" y="1961"/>
                  <a:ext cx="559" cy="0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3" name="Line 22"/>
                <p:cNvSpPr>
                  <a:spLocks noChangeShapeType="1"/>
                </p:cNvSpPr>
                <p:nvPr/>
              </p:nvSpPr>
              <p:spPr bwMode="auto">
                <a:xfrm>
                  <a:off x="2264" y="1768"/>
                  <a:ext cx="0" cy="385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2264" y="1723"/>
                  <a:ext cx="224" cy="163"/>
                </a:xfrm>
                <a:prstGeom prst="line">
                  <a:avLst/>
                </a:prstGeom>
                <a:noFill/>
                <a:ln w="412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5" name="Line 24"/>
                <p:cNvSpPr>
                  <a:spLocks noChangeShapeType="1"/>
                </p:cNvSpPr>
                <p:nvPr/>
              </p:nvSpPr>
              <p:spPr bwMode="auto">
                <a:xfrm>
                  <a:off x="2282" y="2029"/>
                  <a:ext cx="194" cy="147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 type="triangle" w="sm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6" name="Line 25"/>
                <p:cNvSpPr>
                  <a:spLocks noChangeShapeType="1"/>
                </p:cNvSpPr>
                <p:nvPr/>
              </p:nvSpPr>
              <p:spPr bwMode="auto">
                <a:xfrm>
                  <a:off x="2486" y="1119"/>
                  <a:ext cx="0" cy="603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7" name="Line 26"/>
                <p:cNvSpPr>
                  <a:spLocks noChangeShapeType="1"/>
                </p:cNvSpPr>
                <p:nvPr/>
              </p:nvSpPr>
              <p:spPr bwMode="auto">
                <a:xfrm>
                  <a:off x="2476" y="2153"/>
                  <a:ext cx="0" cy="631"/>
                </a:xfrm>
                <a:prstGeom prst="line">
                  <a:avLst/>
                </a:prstGeom>
                <a:noFill/>
                <a:ln w="444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2" name="Line 27"/>
              <p:cNvSpPr>
                <a:spLocks noChangeShapeType="1"/>
              </p:cNvSpPr>
              <p:nvPr/>
            </p:nvSpPr>
            <p:spPr bwMode="auto">
              <a:xfrm>
                <a:off x="1703" y="1120"/>
                <a:ext cx="147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" name="Line 28"/>
              <p:cNvSpPr>
                <a:spLocks noChangeShapeType="1"/>
              </p:cNvSpPr>
              <p:nvPr/>
            </p:nvSpPr>
            <p:spPr bwMode="auto">
              <a:xfrm>
                <a:off x="1703" y="1119"/>
                <a:ext cx="0" cy="842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Oval 29"/>
              <p:cNvSpPr>
                <a:spLocks noChangeArrowheads="1"/>
              </p:cNvSpPr>
              <p:nvPr/>
            </p:nvSpPr>
            <p:spPr bwMode="auto">
              <a:xfrm>
                <a:off x="3133" y="109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Rectangle 30"/>
              <p:cNvSpPr>
                <a:spLocks noChangeArrowheads="1"/>
              </p:cNvSpPr>
              <p:nvPr/>
            </p:nvSpPr>
            <p:spPr bwMode="auto">
              <a:xfrm>
                <a:off x="1651" y="1408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Rectangle 31"/>
              <p:cNvSpPr>
                <a:spLocks noChangeArrowheads="1"/>
              </p:cNvSpPr>
              <p:nvPr/>
            </p:nvSpPr>
            <p:spPr bwMode="auto">
              <a:xfrm>
                <a:off x="2436" y="1276"/>
                <a:ext cx="103" cy="268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Rectangle 32"/>
              <p:cNvSpPr>
                <a:spLocks noChangeArrowheads="1"/>
              </p:cNvSpPr>
              <p:nvPr/>
            </p:nvSpPr>
            <p:spPr bwMode="auto">
              <a:xfrm>
                <a:off x="1318" y="1196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8" name="Rectangle 33"/>
              <p:cNvSpPr>
                <a:spLocks noChangeArrowheads="1"/>
              </p:cNvSpPr>
              <p:nvPr/>
            </p:nvSpPr>
            <p:spPr bwMode="auto">
              <a:xfrm>
                <a:off x="2148" y="1217"/>
                <a:ext cx="289" cy="34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19" name="Rectangle 34"/>
              <p:cNvSpPr>
                <a:spLocks noChangeArrowheads="1"/>
              </p:cNvSpPr>
              <p:nvPr/>
            </p:nvSpPr>
            <p:spPr bwMode="auto">
              <a:xfrm>
                <a:off x="2459" y="1946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CE</a:t>
                </a:r>
              </a:p>
            </p:txBody>
          </p:sp>
          <p:sp>
            <p:nvSpPr>
              <p:cNvPr id="20" name="Rectangle 35"/>
              <p:cNvSpPr>
                <a:spLocks noChangeArrowheads="1"/>
              </p:cNvSpPr>
              <p:nvPr/>
            </p:nvSpPr>
            <p:spPr bwMode="auto">
              <a:xfrm>
                <a:off x="2021" y="2209"/>
                <a:ext cx="380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21" name="Rectangle 36"/>
              <p:cNvSpPr>
                <a:spLocks noChangeArrowheads="1"/>
              </p:cNvSpPr>
              <p:nvPr/>
            </p:nvSpPr>
            <p:spPr bwMode="auto">
              <a:xfrm>
                <a:off x="1980" y="1968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2" name="Rectangle 37"/>
              <p:cNvSpPr>
                <a:spLocks noChangeArrowheads="1"/>
              </p:cNvSpPr>
              <p:nvPr/>
            </p:nvSpPr>
            <p:spPr bwMode="auto">
              <a:xfrm>
                <a:off x="2253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Rectangle 38"/>
              <p:cNvSpPr>
                <a:spLocks noChangeArrowheads="1"/>
              </p:cNvSpPr>
              <p:nvPr/>
            </p:nvSpPr>
            <p:spPr bwMode="auto">
              <a:xfrm>
                <a:off x="2532" y="2380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Rectangle 39"/>
              <p:cNvSpPr>
                <a:spLocks noChangeArrowheads="1"/>
              </p:cNvSpPr>
              <p:nvPr/>
            </p:nvSpPr>
            <p:spPr bwMode="auto">
              <a:xfrm>
                <a:off x="2528" y="1722"/>
                <a:ext cx="20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5" name="Rectangle 40"/>
              <p:cNvSpPr>
                <a:spLocks noChangeArrowheads="1"/>
              </p:cNvSpPr>
              <p:nvPr/>
            </p:nvSpPr>
            <p:spPr bwMode="auto">
              <a:xfrm>
                <a:off x="2920" y="1126"/>
                <a:ext cx="485" cy="343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ct val="5000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26" name="Line 41"/>
              <p:cNvSpPr>
                <a:spLocks noChangeShapeType="1"/>
              </p:cNvSpPr>
              <p:nvPr/>
            </p:nvSpPr>
            <p:spPr bwMode="auto">
              <a:xfrm>
                <a:off x="1115" y="2731"/>
                <a:ext cx="20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27" name="Group 42"/>
              <p:cNvGrpSpPr>
                <a:grpSpLocks/>
              </p:cNvGrpSpPr>
              <p:nvPr/>
            </p:nvGrpSpPr>
            <p:grpSpPr bwMode="auto">
              <a:xfrm>
                <a:off x="1355" y="1848"/>
                <a:ext cx="112" cy="224"/>
                <a:chOff x="5056" y="3342"/>
                <a:chExt cx="112" cy="224"/>
              </a:xfrm>
            </p:grpSpPr>
            <p:sp>
              <p:nvSpPr>
                <p:cNvPr id="50" name="Line 43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51" name="Line 44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8" name="Line 45"/>
              <p:cNvSpPr>
                <a:spLocks noChangeShapeType="1"/>
              </p:cNvSpPr>
              <p:nvPr/>
            </p:nvSpPr>
            <p:spPr bwMode="auto">
              <a:xfrm>
                <a:off x="1467" y="1961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Line 46"/>
              <p:cNvSpPr>
                <a:spLocks noChangeShapeType="1"/>
              </p:cNvSpPr>
              <p:nvPr/>
            </p:nvSpPr>
            <p:spPr bwMode="auto">
              <a:xfrm>
                <a:off x="1115" y="1961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Line 47"/>
              <p:cNvSpPr>
                <a:spLocks noChangeShapeType="1"/>
              </p:cNvSpPr>
              <p:nvPr/>
            </p:nvSpPr>
            <p:spPr bwMode="auto">
              <a:xfrm>
                <a:off x="2476" y="1685"/>
                <a:ext cx="2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31" name="Group 48"/>
              <p:cNvGrpSpPr>
                <a:grpSpLocks/>
              </p:cNvGrpSpPr>
              <p:nvPr/>
            </p:nvGrpSpPr>
            <p:grpSpPr bwMode="auto">
              <a:xfrm>
                <a:off x="2723" y="1580"/>
                <a:ext cx="112" cy="224"/>
                <a:chOff x="5056" y="3342"/>
                <a:chExt cx="112" cy="224"/>
              </a:xfrm>
            </p:grpSpPr>
            <p:sp>
              <p:nvSpPr>
                <p:cNvPr id="48" name="Line 49"/>
                <p:cNvSpPr>
                  <a:spLocks noChangeShapeType="1"/>
                </p:cNvSpPr>
                <p:nvPr/>
              </p:nvSpPr>
              <p:spPr bwMode="auto">
                <a:xfrm>
                  <a:off x="5056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9" name="Line 50"/>
                <p:cNvSpPr>
                  <a:spLocks noChangeShapeType="1"/>
                </p:cNvSpPr>
                <p:nvPr/>
              </p:nvSpPr>
              <p:spPr bwMode="auto">
                <a:xfrm>
                  <a:off x="5168" y="3342"/>
                  <a:ext cx="0" cy="22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 sz="240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32" name="Line 51"/>
              <p:cNvSpPr>
                <a:spLocks noChangeShapeType="1"/>
              </p:cNvSpPr>
              <p:nvPr/>
            </p:nvSpPr>
            <p:spPr bwMode="auto">
              <a:xfrm>
                <a:off x="2835" y="1676"/>
                <a:ext cx="2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Oval 54"/>
              <p:cNvSpPr>
                <a:spLocks noChangeArrowheads="1"/>
              </p:cNvSpPr>
              <p:nvPr/>
            </p:nvSpPr>
            <p:spPr bwMode="auto">
              <a:xfrm>
                <a:off x="1091" y="2707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Oval 55"/>
              <p:cNvSpPr>
                <a:spLocks noChangeArrowheads="1"/>
              </p:cNvSpPr>
              <p:nvPr/>
            </p:nvSpPr>
            <p:spPr bwMode="auto">
              <a:xfrm>
                <a:off x="1067" y="1946"/>
                <a:ext cx="41" cy="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Oval 56"/>
              <p:cNvSpPr>
                <a:spLocks noChangeArrowheads="1"/>
              </p:cNvSpPr>
              <p:nvPr/>
            </p:nvSpPr>
            <p:spPr bwMode="auto">
              <a:xfrm>
                <a:off x="2452" y="2707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Line 57"/>
              <p:cNvSpPr>
                <a:spLocks noChangeShapeType="1"/>
              </p:cNvSpPr>
              <p:nvPr/>
            </p:nvSpPr>
            <p:spPr bwMode="auto">
              <a:xfrm>
                <a:off x="2476" y="2731"/>
                <a:ext cx="0" cy="16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Line 58"/>
              <p:cNvSpPr>
                <a:spLocks noChangeShapeType="1"/>
              </p:cNvSpPr>
              <p:nvPr/>
            </p:nvSpPr>
            <p:spPr bwMode="auto">
              <a:xfrm>
                <a:off x="2403" y="2896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Rectangle 59"/>
              <p:cNvSpPr>
                <a:spLocks noChangeArrowheads="1"/>
              </p:cNvSpPr>
              <p:nvPr/>
            </p:nvSpPr>
            <p:spPr bwMode="auto">
              <a:xfrm>
                <a:off x="1454" y="1676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39" name="Rectangle 60"/>
              <p:cNvSpPr>
                <a:spLocks noChangeArrowheads="1"/>
              </p:cNvSpPr>
              <p:nvPr/>
            </p:nvSpPr>
            <p:spPr bwMode="auto">
              <a:xfrm>
                <a:off x="2552" y="1413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40" name="Text Box 61"/>
              <p:cNvSpPr txBox="1">
                <a:spLocks noChangeArrowheads="1"/>
              </p:cNvSpPr>
              <p:nvPr/>
            </p:nvSpPr>
            <p:spPr bwMode="auto">
              <a:xfrm>
                <a:off x="1178" y="153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41" name="Text Box 62"/>
              <p:cNvSpPr txBox="1">
                <a:spLocks noChangeArrowheads="1"/>
              </p:cNvSpPr>
              <p:nvPr/>
            </p:nvSpPr>
            <p:spPr bwMode="auto">
              <a:xfrm>
                <a:off x="2658" y="1276"/>
                <a:ext cx="354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42" name="Rectangle 63"/>
              <p:cNvSpPr>
                <a:spLocks noChangeArrowheads="1"/>
              </p:cNvSpPr>
              <p:nvPr/>
            </p:nvSpPr>
            <p:spPr bwMode="auto">
              <a:xfrm>
                <a:off x="1021" y="1959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43" name="Rectangle 64"/>
              <p:cNvSpPr>
                <a:spLocks noChangeArrowheads="1"/>
              </p:cNvSpPr>
              <p:nvPr/>
            </p:nvSpPr>
            <p:spPr bwMode="auto">
              <a:xfrm>
                <a:off x="1024" y="2418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Rectangle 65"/>
              <p:cNvSpPr>
                <a:spLocks noChangeArrowheads="1"/>
              </p:cNvSpPr>
              <p:nvPr/>
            </p:nvSpPr>
            <p:spPr bwMode="auto">
              <a:xfrm>
                <a:off x="990" y="2184"/>
                <a:ext cx="225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Rectangle 66"/>
              <p:cNvSpPr>
                <a:spLocks noChangeArrowheads="1"/>
              </p:cNvSpPr>
              <p:nvPr/>
            </p:nvSpPr>
            <p:spPr bwMode="auto">
              <a:xfrm>
                <a:off x="3180" y="1718"/>
                <a:ext cx="203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46" name="Rectangle 67"/>
              <p:cNvSpPr>
                <a:spLocks noChangeArrowheads="1"/>
              </p:cNvSpPr>
              <p:nvPr/>
            </p:nvSpPr>
            <p:spPr bwMode="auto">
              <a:xfrm>
                <a:off x="3217" y="2246"/>
                <a:ext cx="163" cy="343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 smtClean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zh-CN" altLang="en-US" sz="24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Rectangle 68"/>
              <p:cNvSpPr>
                <a:spLocks noChangeArrowheads="1"/>
              </p:cNvSpPr>
              <p:nvPr/>
            </p:nvSpPr>
            <p:spPr bwMode="auto">
              <a:xfrm>
                <a:off x="3177" y="2014"/>
                <a:ext cx="251" cy="34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dirty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4" name="Line 69"/>
            <p:cNvSpPr>
              <a:spLocks noChangeShapeType="1"/>
            </p:cNvSpPr>
            <p:nvPr/>
          </p:nvSpPr>
          <p:spPr bwMode="auto">
            <a:xfrm>
              <a:off x="4934719" y="1871890"/>
              <a:ext cx="0" cy="140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Rectangle 70"/>
            <p:cNvSpPr>
              <a:spLocks noChangeArrowheads="1"/>
            </p:cNvSpPr>
            <p:nvPr/>
          </p:nvSpPr>
          <p:spPr bwMode="auto">
            <a:xfrm>
              <a:off x="4843060" y="2349727"/>
              <a:ext cx="190754" cy="39052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Rectangle 71"/>
            <p:cNvSpPr>
              <a:spLocks noChangeArrowheads="1"/>
            </p:cNvSpPr>
            <p:nvPr/>
          </p:nvSpPr>
          <p:spPr bwMode="auto">
            <a:xfrm>
              <a:off x="4446248" y="2525940"/>
              <a:ext cx="486030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7" name="Rectangle 72"/>
            <p:cNvSpPr>
              <a:spLocks noChangeArrowheads="1"/>
            </p:cNvSpPr>
            <p:nvPr/>
          </p:nvSpPr>
          <p:spPr bwMode="auto">
            <a:xfrm>
              <a:off x="2707104" y="1660752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" name="Line 73"/>
            <p:cNvSpPr>
              <a:spLocks noChangeShapeType="1"/>
            </p:cNvSpPr>
            <p:nvPr/>
          </p:nvSpPr>
          <p:spPr bwMode="auto">
            <a:xfrm>
              <a:off x="2697151" y="2155144"/>
              <a:ext cx="530794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Rectangle 74"/>
            <p:cNvSpPr>
              <a:spLocks noChangeArrowheads="1"/>
            </p:cNvSpPr>
            <p:nvPr/>
          </p:nvSpPr>
          <p:spPr bwMode="auto">
            <a:xfrm>
              <a:off x="3962763" y="1055915"/>
              <a:ext cx="40588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" name="Line 75"/>
            <p:cNvSpPr>
              <a:spLocks noChangeShapeType="1"/>
            </p:cNvSpPr>
            <p:nvPr/>
          </p:nvSpPr>
          <p:spPr bwMode="auto">
            <a:xfrm>
              <a:off x="3994279" y="1163865"/>
              <a:ext cx="0" cy="41116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8" name="Rectangle 4"/>
          <p:cNvSpPr txBox="1">
            <a:spLocks noChangeArrowheads="1"/>
          </p:cNvSpPr>
          <p:nvPr/>
        </p:nvSpPr>
        <p:spPr>
          <a:xfrm>
            <a:off x="678544" y="2976790"/>
            <a:ext cx="7747000" cy="1780268"/>
          </a:xfrm>
          <a:prstGeom prst="rect">
            <a:avLst/>
          </a:prstGeom>
          <a:noFill/>
        </p:spPr>
        <p:txBody>
          <a:bodyPr/>
          <a:lstStyle/>
          <a:p>
            <a:pPr marR="0" lvl="0" algn="l" defTabSz="914400" rtl="0" eaLnBrk="1" fontAlgn="base" latinLnBrk="0" hangingPunct="1">
              <a:lnSpc>
                <a:spcPct val="13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由于存在着耦合电容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kumimoji="0" lang="en-US" altLang="zh-CN" sz="2800" b="1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kumimoji="0" lang="en-US" altLang="zh-CN" sz="2800" b="1" i="0" u="none" strike="noStrike" kern="1200" cap="none" spc="0" normalizeH="0" baseline="-2500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，以及晶体管的结电容等，它们的容抗将随着频率的变化而变化，因而电压放大倍数也将发生变化。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8"/>
          <p:cNvSpPr txBox="1">
            <a:spLocks noChangeArrowheads="1"/>
          </p:cNvSpPr>
          <p:nvPr/>
        </p:nvSpPr>
        <p:spPr bwMode="auto">
          <a:xfrm>
            <a:off x="539750" y="3281362"/>
            <a:ext cx="8280400" cy="1677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0" lang="zh-CN" altLang="en-US" sz="2800" b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中频段  </a:t>
            </a:r>
          </a:p>
          <a:p>
            <a:pPr algn="l">
              <a:spcBef>
                <a:spcPct val="50000"/>
              </a:spcBef>
            </a:pP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耦合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电容、旁路电容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的容抗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很小，可视为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短路</a:t>
            </a:r>
            <a:r>
              <a:rPr kumimoji="0"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晶体管的结电容数值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很小，可视为开路。 </a:t>
            </a: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23863" y="212725"/>
            <a:ext cx="4659313" cy="2720976"/>
            <a:chOff x="2817" y="365"/>
            <a:chExt cx="2935" cy="1714"/>
          </a:xfrm>
        </p:grpSpPr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2817" y="365"/>
              <a:ext cx="2935" cy="1656"/>
              <a:chOff x="2681" y="326"/>
              <a:chExt cx="2935" cy="1656"/>
            </a:xfrm>
          </p:grpSpPr>
          <p:grpSp>
            <p:nvGrpSpPr>
              <p:cNvPr id="22" name="Group 41"/>
              <p:cNvGrpSpPr>
                <a:grpSpLocks/>
              </p:cNvGrpSpPr>
              <p:nvPr/>
            </p:nvGrpSpPr>
            <p:grpSpPr bwMode="auto">
              <a:xfrm>
                <a:off x="3168" y="336"/>
                <a:ext cx="2208" cy="1488"/>
                <a:chOff x="3168" y="336"/>
                <a:chExt cx="2208" cy="1488"/>
              </a:xfrm>
            </p:grpSpPr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auto">
                <a:xfrm>
                  <a:off x="3168" y="1824"/>
                  <a:ext cx="22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3168" y="336"/>
                  <a:ext cx="0" cy="14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 Box 44"/>
              <p:cNvSpPr txBox="1">
                <a:spLocks noChangeArrowheads="1"/>
              </p:cNvSpPr>
              <p:nvPr/>
            </p:nvSpPr>
            <p:spPr bwMode="auto">
              <a:xfrm>
                <a:off x="3168" y="326"/>
                <a:ext cx="76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 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 |</a:t>
                </a:r>
                <a:endPara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Text Box 45"/>
              <p:cNvSpPr txBox="1">
                <a:spLocks noChangeArrowheads="1"/>
              </p:cNvSpPr>
              <p:nvPr/>
            </p:nvSpPr>
            <p:spPr bwMode="auto">
              <a:xfrm>
                <a:off x="5372" y="1718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</a:p>
            </p:txBody>
          </p:sp>
          <p:sp>
            <p:nvSpPr>
              <p:cNvPr id="25" name="Text Box 46"/>
              <p:cNvSpPr txBox="1">
                <a:spLocks noChangeArrowheads="1"/>
              </p:cNvSpPr>
              <p:nvPr/>
            </p:nvSpPr>
            <p:spPr bwMode="auto">
              <a:xfrm>
                <a:off x="2997" y="1730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26" name="Text Box 47"/>
              <p:cNvSpPr txBox="1">
                <a:spLocks noChangeArrowheads="1"/>
              </p:cNvSpPr>
              <p:nvPr/>
            </p:nvSpPr>
            <p:spPr bwMode="auto">
              <a:xfrm>
                <a:off x="2681" y="624"/>
                <a:ext cx="55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b="1" i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m</a:t>
                </a: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</a:p>
            </p:txBody>
          </p:sp>
          <p:sp>
            <p:nvSpPr>
              <p:cNvPr id="27" name="Line 48"/>
              <p:cNvSpPr>
                <a:spLocks noChangeShapeType="1"/>
              </p:cNvSpPr>
              <p:nvPr/>
            </p:nvSpPr>
            <p:spPr bwMode="auto">
              <a:xfrm>
                <a:off x="3168" y="816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Line 49"/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91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" name="Freeform 50"/>
            <p:cNvSpPr>
              <a:spLocks/>
            </p:cNvSpPr>
            <p:nvPr/>
          </p:nvSpPr>
          <p:spPr bwMode="auto">
            <a:xfrm rot="202414">
              <a:off x="4682" y="831"/>
              <a:ext cx="384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2831" y="922"/>
              <a:ext cx="2537" cy="1157"/>
              <a:chOff x="2695" y="871"/>
              <a:chExt cx="2537" cy="1157"/>
            </a:xfrm>
          </p:grpSpPr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3264" y="1776"/>
                <a:ext cx="80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" name="Text Box 53"/>
              <p:cNvSpPr txBox="1">
                <a:spLocks noChangeArrowheads="1"/>
              </p:cNvSpPr>
              <p:nvPr/>
            </p:nvSpPr>
            <p:spPr bwMode="auto">
              <a:xfrm>
                <a:off x="4782" y="177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H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" name="Line 54"/>
              <p:cNvSpPr>
                <a:spLocks noChangeShapeType="1"/>
              </p:cNvSpPr>
              <p:nvPr/>
            </p:nvSpPr>
            <p:spPr bwMode="auto">
              <a:xfrm>
                <a:off x="3168" y="1104"/>
                <a:ext cx="18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Line 55"/>
              <p:cNvSpPr>
                <a:spLocks noChangeShapeType="1"/>
              </p:cNvSpPr>
              <p:nvPr/>
            </p:nvSpPr>
            <p:spPr bwMode="auto">
              <a:xfrm flipV="1">
                <a:off x="3394" y="1111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Line 56"/>
              <p:cNvSpPr>
                <a:spLocks noChangeShapeType="1"/>
              </p:cNvSpPr>
              <p:nvPr/>
            </p:nvSpPr>
            <p:spPr bwMode="auto">
              <a:xfrm flipV="1">
                <a:off x="4862" y="1081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" name="Line 57"/>
              <p:cNvSpPr>
                <a:spLocks noChangeShapeType="1"/>
              </p:cNvSpPr>
              <p:nvPr/>
            </p:nvSpPr>
            <p:spPr bwMode="auto">
              <a:xfrm flipH="1">
                <a:off x="3401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Line 58"/>
              <p:cNvSpPr>
                <a:spLocks noChangeShapeType="1"/>
              </p:cNvSpPr>
              <p:nvPr/>
            </p:nvSpPr>
            <p:spPr bwMode="auto">
              <a:xfrm>
                <a:off x="4423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Text Box 59"/>
              <p:cNvSpPr txBox="1">
                <a:spLocks noChangeArrowheads="1"/>
              </p:cNvSpPr>
              <p:nvPr/>
            </p:nvSpPr>
            <p:spPr bwMode="auto">
              <a:xfrm>
                <a:off x="3984" y="129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BW</a:t>
                </a:r>
              </a:p>
            </p:txBody>
          </p:sp>
          <p:grpSp>
            <p:nvGrpSpPr>
              <p:cNvPr id="16" name="Group 60"/>
              <p:cNvGrpSpPr>
                <a:grpSpLocks/>
              </p:cNvGrpSpPr>
              <p:nvPr/>
            </p:nvGrpSpPr>
            <p:grpSpPr bwMode="auto">
              <a:xfrm>
                <a:off x="2695" y="871"/>
                <a:ext cx="451" cy="521"/>
                <a:chOff x="4423" y="2234"/>
                <a:chExt cx="451" cy="521"/>
              </a:xfrm>
            </p:grpSpPr>
            <p:sp>
              <p:nvSpPr>
                <p:cNvPr id="17" name="Rectangle 61"/>
                <p:cNvSpPr>
                  <a:spLocks noChangeArrowheads="1"/>
                </p:cNvSpPr>
                <p:nvPr/>
              </p:nvSpPr>
              <p:spPr bwMode="auto">
                <a:xfrm>
                  <a:off x="4423" y="2234"/>
                  <a:ext cx="45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A</a:t>
                  </a:r>
                  <a:r>
                    <a:rPr lang="en-US" altLang="zh-CN" sz="2000" b="1" i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m</a:t>
                  </a:r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</a:p>
              </p:txBody>
            </p:sp>
            <p:grpSp>
              <p:nvGrpSpPr>
                <p:cNvPr id="18" name="Group 62"/>
                <p:cNvGrpSpPr>
                  <a:grpSpLocks/>
                </p:cNvGrpSpPr>
                <p:nvPr/>
              </p:nvGrpSpPr>
              <p:grpSpPr bwMode="auto">
                <a:xfrm>
                  <a:off x="4423" y="2503"/>
                  <a:ext cx="364" cy="252"/>
                  <a:chOff x="4523" y="2887"/>
                  <a:chExt cx="364" cy="252"/>
                </a:xfrm>
              </p:grpSpPr>
              <p:sp>
                <p:nvSpPr>
                  <p:cNvPr id="2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4523" y="2887"/>
                    <a:ext cx="364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000" b="1" dirty="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√2</a:t>
                    </a:r>
                  </a:p>
                </p:txBody>
              </p:sp>
              <p:sp>
                <p:nvSpPr>
                  <p:cNvPr id="21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4663" y="2928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9" name="Line 65"/>
                <p:cNvSpPr>
                  <a:spLocks noChangeShapeType="1"/>
                </p:cNvSpPr>
                <p:nvPr/>
              </p:nvSpPr>
              <p:spPr bwMode="auto">
                <a:xfrm>
                  <a:off x="4464" y="2496"/>
                  <a:ext cx="38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7" name="Freeform 66"/>
            <p:cNvSpPr>
              <a:spLocks/>
            </p:cNvSpPr>
            <p:nvPr/>
          </p:nvSpPr>
          <p:spPr bwMode="auto">
            <a:xfrm rot="21082462" flipH="1">
              <a:off x="3458" y="841"/>
              <a:ext cx="389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1" name="Line 67"/>
          <p:cNvSpPr>
            <a:spLocks noChangeShapeType="1"/>
          </p:cNvSpPr>
          <p:nvPr/>
        </p:nvSpPr>
        <p:spPr bwMode="auto">
          <a:xfrm>
            <a:off x="5586413" y="1589087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sz="20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Line 68"/>
          <p:cNvSpPr>
            <a:spLocks noChangeShapeType="1"/>
          </p:cNvSpPr>
          <p:nvPr/>
        </p:nvSpPr>
        <p:spPr bwMode="auto">
          <a:xfrm flipH="1" flipV="1">
            <a:off x="5586413" y="212725"/>
            <a:ext cx="3175" cy="2511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sz="20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69"/>
          <p:cNvSpPr txBox="1">
            <a:spLocks noChangeArrowheads="1"/>
          </p:cNvSpPr>
          <p:nvPr/>
        </p:nvSpPr>
        <p:spPr bwMode="auto">
          <a:xfrm>
            <a:off x="8623300" y="1568450"/>
            <a:ext cx="3873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f</a:t>
            </a:r>
          </a:p>
        </p:txBody>
      </p:sp>
      <p:grpSp>
        <p:nvGrpSpPr>
          <p:cNvPr id="34" name="Group 70"/>
          <p:cNvGrpSpPr>
            <a:grpSpLocks/>
          </p:cNvGrpSpPr>
          <p:nvPr/>
        </p:nvGrpSpPr>
        <p:grpSpPr bwMode="auto">
          <a:xfrm>
            <a:off x="5599586" y="751135"/>
            <a:ext cx="3023714" cy="1645990"/>
            <a:chOff x="3106" y="2452"/>
            <a:chExt cx="2058" cy="1186"/>
          </a:xfrm>
        </p:grpSpPr>
        <p:sp>
          <p:nvSpPr>
            <p:cNvPr id="35" name="Line 71"/>
            <p:cNvSpPr>
              <a:spLocks noChangeShapeType="1"/>
            </p:cNvSpPr>
            <p:nvPr/>
          </p:nvSpPr>
          <p:spPr bwMode="auto">
            <a:xfrm>
              <a:off x="3686" y="3056"/>
              <a:ext cx="912" cy="0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/>
            <a:lstStyle/>
            <a:p>
              <a:pPr>
                <a:defRPr/>
              </a:pPr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36" name="Group 72"/>
            <p:cNvGrpSpPr>
              <a:grpSpLocks/>
            </p:cNvGrpSpPr>
            <p:nvPr/>
          </p:nvGrpSpPr>
          <p:grpSpPr bwMode="auto">
            <a:xfrm>
              <a:off x="4588" y="3076"/>
              <a:ext cx="576" cy="562"/>
              <a:chOff x="4588" y="3076"/>
              <a:chExt cx="576" cy="562"/>
            </a:xfrm>
          </p:grpSpPr>
          <p:sp>
            <p:nvSpPr>
              <p:cNvPr id="40" name="Freeform 73"/>
              <p:cNvSpPr>
                <a:spLocks/>
              </p:cNvSpPr>
              <p:nvPr/>
            </p:nvSpPr>
            <p:spPr bwMode="auto">
              <a:xfrm flipH="1" flipV="1">
                <a:off x="4780" y="3204"/>
                <a:ext cx="384" cy="434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201" y="60"/>
                  </a:cxn>
                  <a:cxn ang="0">
                    <a:pos x="342" y="390"/>
                  </a:cxn>
                </a:cxnLst>
                <a:rect l="0" t="0" r="r" b="b"/>
                <a:pathLst>
                  <a:path w="342" h="390">
                    <a:moveTo>
                      <a:pt x="0" y="30"/>
                    </a:moveTo>
                    <a:cubicBezTo>
                      <a:pt x="33" y="35"/>
                      <a:pt x="144" y="0"/>
                      <a:pt x="201" y="60"/>
                    </a:cubicBezTo>
                    <a:cubicBezTo>
                      <a:pt x="260" y="119"/>
                      <a:pt x="313" y="321"/>
                      <a:pt x="342" y="390"/>
                    </a:cubicBezTo>
                  </a:path>
                </a:pathLst>
              </a:custGeom>
              <a:noFill/>
              <a:ln w="57150" cmpd="sng">
                <a:solidFill>
                  <a:schemeClr val="accent1"/>
                </a:solidFill>
                <a:round/>
                <a:headEnd type="none" w="med" len="med"/>
                <a:tailEnd type="none" w="med" len="med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1" name="Freeform 74"/>
              <p:cNvSpPr>
                <a:spLocks/>
              </p:cNvSpPr>
              <p:nvPr/>
            </p:nvSpPr>
            <p:spPr bwMode="auto">
              <a:xfrm rot="960263">
                <a:off x="4588" y="3076"/>
                <a:ext cx="212" cy="108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201" y="60"/>
                  </a:cxn>
                  <a:cxn ang="0">
                    <a:pos x="342" y="390"/>
                  </a:cxn>
                </a:cxnLst>
                <a:rect l="0" t="0" r="r" b="b"/>
                <a:pathLst>
                  <a:path w="342" h="390">
                    <a:moveTo>
                      <a:pt x="0" y="30"/>
                    </a:moveTo>
                    <a:cubicBezTo>
                      <a:pt x="33" y="35"/>
                      <a:pt x="144" y="0"/>
                      <a:pt x="201" y="60"/>
                    </a:cubicBezTo>
                    <a:cubicBezTo>
                      <a:pt x="260" y="119"/>
                      <a:pt x="313" y="321"/>
                      <a:pt x="342" y="390"/>
                    </a:cubicBezTo>
                  </a:path>
                </a:pathLst>
              </a:custGeom>
              <a:noFill/>
              <a:ln w="57150" cmpd="sng">
                <a:solidFill>
                  <a:schemeClr val="accent1"/>
                </a:solidFill>
                <a:round/>
                <a:headEnd type="none" w="med" len="med"/>
                <a:tailEnd type="none" w="med" len="med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37" name="Group 75"/>
            <p:cNvGrpSpPr>
              <a:grpSpLocks/>
            </p:cNvGrpSpPr>
            <p:nvPr/>
          </p:nvGrpSpPr>
          <p:grpSpPr bwMode="auto">
            <a:xfrm rot="10554863">
              <a:off x="3106" y="2452"/>
              <a:ext cx="579" cy="603"/>
              <a:chOff x="4588" y="3076"/>
              <a:chExt cx="579" cy="603"/>
            </a:xfrm>
          </p:grpSpPr>
          <p:sp>
            <p:nvSpPr>
              <p:cNvPr id="38" name="Freeform 76"/>
              <p:cNvSpPr>
                <a:spLocks/>
              </p:cNvSpPr>
              <p:nvPr/>
            </p:nvSpPr>
            <p:spPr bwMode="auto">
              <a:xfrm flipH="1" flipV="1">
                <a:off x="4782" y="3206"/>
                <a:ext cx="385" cy="473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201" y="60"/>
                  </a:cxn>
                  <a:cxn ang="0">
                    <a:pos x="342" y="390"/>
                  </a:cxn>
                </a:cxnLst>
                <a:rect l="0" t="0" r="r" b="b"/>
                <a:pathLst>
                  <a:path w="342" h="390">
                    <a:moveTo>
                      <a:pt x="0" y="30"/>
                    </a:moveTo>
                    <a:cubicBezTo>
                      <a:pt x="33" y="35"/>
                      <a:pt x="144" y="0"/>
                      <a:pt x="201" y="60"/>
                    </a:cubicBezTo>
                    <a:cubicBezTo>
                      <a:pt x="260" y="119"/>
                      <a:pt x="313" y="321"/>
                      <a:pt x="342" y="390"/>
                    </a:cubicBezTo>
                  </a:path>
                </a:pathLst>
              </a:custGeom>
              <a:noFill/>
              <a:ln w="57150" cmpd="sng">
                <a:solidFill>
                  <a:schemeClr val="accent1"/>
                </a:solidFill>
                <a:round/>
                <a:headEnd type="none" w="med" len="med"/>
                <a:tailEnd type="none" w="med" len="med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9" name="Freeform 77"/>
              <p:cNvSpPr>
                <a:spLocks/>
              </p:cNvSpPr>
              <p:nvPr/>
            </p:nvSpPr>
            <p:spPr bwMode="auto">
              <a:xfrm rot="960263">
                <a:off x="4588" y="3076"/>
                <a:ext cx="212" cy="108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201" y="60"/>
                  </a:cxn>
                  <a:cxn ang="0">
                    <a:pos x="342" y="390"/>
                  </a:cxn>
                </a:cxnLst>
                <a:rect l="0" t="0" r="r" b="b"/>
                <a:pathLst>
                  <a:path w="342" h="390">
                    <a:moveTo>
                      <a:pt x="0" y="30"/>
                    </a:moveTo>
                    <a:cubicBezTo>
                      <a:pt x="33" y="35"/>
                      <a:pt x="144" y="0"/>
                      <a:pt x="201" y="60"/>
                    </a:cubicBezTo>
                    <a:cubicBezTo>
                      <a:pt x="260" y="119"/>
                      <a:pt x="313" y="321"/>
                      <a:pt x="342" y="390"/>
                    </a:cubicBezTo>
                  </a:path>
                </a:pathLst>
              </a:custGeom>
              <a:noFill/>
              <a:ln w="57150" cmpd="sng">
                <a:solidFill>
                  <a:schemeClr val="accent1"/>
                </a:solidFill>
                <a:round/>
                <a:headEnd type="none" w="med" len="med"/>
                <a:tailEnd type="none" w="med" len="med"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42" name="Line 78"/>
          <p:cNvSpPr>
            <a:spLocks noChangeShapeType="1"/>
          </p:cNvSpPr>
          <p:nvPr/>
        </p:nvSpPr>
        <p:spPr bwMode="auto">
          <a:xfrm>
            <a:off x="5586413" y="817562"/>
            <a:ext cx="2782887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 sz="20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3" name="Line 79"/>
          <p:cNvSpPr>
            <a:spLocks noChangeShapeType="1"/>
          </p:cNvSpPr>
          <p:nvPr/>
        </p:nvSpPr>
        <p:spPr bwMode="auto">
          <a:xfrm>
            <a:off x="5586413" y="2397125"/>
            <a:ext cx="2782887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 sz="20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Text Box 80"/>
          <p:cNvSpPr txBox="1">
            <a:spLocks noChangeArrowheads="1"/>
          </p:cNvSpPr>
          <p:nvPr/>
        </p:nvSpPr>
        <p:spPr bwMode="auto">
          <a:xfrm>
            <a:off x="4983163" y="549275"/>
            <a:ext cx="654346" cy="29751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en-US" altLang="zh-CN" sz="200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270 °</a:t>
            </a:r>
            <a:endParaRPr lang="en-US" altLang="zh-CN" sz="2000" baseline="30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5" name="Text Box 81"/>
          <p:cNvSpPr txBox="1">
            <a:spLocks noChangeArrowheads="1"/>
          </p:cNvSpPr>
          <p:nvPr/>
        </p:nvSpPr>
        <p:spPr bwMode="auto">
          <a:xfrm>
            <a:off x="4983163" y="1314450"/>
            <a:ext cx="611065" cy="29751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en-US" altLang="zh-CN" sz="200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180°</a:t>
            </a:r>
            <a:endParaRPr lang="en-US" altLang="zh-CN" sz="2000" b="1" baseline="30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6" name="Text Box 82"/>
          <p:cNvSpPr txBox="1">
            <a:spLocks noChangeArrowheads="1"/>
          </p:cNvSpPr>
          <p:nvPr/>
        </p:nvSpPr>
        <p:spPr bwMode="auto">
          <a:xfrm>
            <a:off x="5103813" y="2152650"/>
            <a:ext cx="569387" cy="29751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en-US" altLang="zh-CN" sz="200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90 °</a:t>
            </a:r>
            <a:endParaRPr lang="en-US" altLang="zh-CN" sz="2000" baseline="30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" name="Text Box 83"/>
          <p:cNvSpPr txBox="1">
            <a:spLocks noChangeArrowheads="1"/>
          </p:cNvSpPr>
          <p:nvPr/>
        </p:nvSpPr>
        <p:spPr bwMode="auto">
          <a:xfrm>
            <a:off x="5237163" y="0"/>
            <a:ext cx="287258" cy="29751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en-US" altLang="zh-CN" sz="200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</a:t>
            </a:r>
          </a:p>
        </p:txBody>
      </p:sp>
      <p:sp>
        <p:nvSpPr>
          <p:cNvPr id="48" name="Text Box 84"/>
          <p:cNvSpPr txBox="1">
            <a:spLocks noChangeArrowheads="1"/>
          </p:cNvSpPr>
          <p:nvPr/>
        </p:nvSpPr>
        <p:spPr bwMode="auto">
          <a:xfrm>
            <a:off x="1639888" y="2930525"/>
            <a:ext cx="2202847" cy="46166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）幅频特性</a:t>
            </a:r>
          </a:p>
        </p:txBody>
      </p:sp>
      <p:sp>
        <p:nvSpPr>
          <p:cNvPr id="49" name="Text Box 85"/>
          <p:cNvSpPr txBox="1">
            <a:spLocks noChangeArrowheads="1"/>
          </p:cNvSpPr>
          <p:nvPr/>
        </p:nvSpPr>
        <p:spPr bwMode="auto">
          <a:xfrm>
            <a:off x="6011863" y="2930525"/>
            <a:ext cx="2222083" cy="46166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）相频特性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8"/>
          <p:cNvSpPr txBox="1">
            <a:spLocks noChangeArrowheads="1"/>
          </p:cNvSpPr>
          <p:nvPr/>
        </p:nvSpPr>
        <p:spPr bwMode="auto">
          <a:xfrm>
            <a:off x="517980" y="266018"/>
            <a:ext cx="3683907" cy="290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800" b="1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低频段 </a:t>
            </a:r>
            <a:endParaRPr lang="en-US" altLang="zh-CN" sz="2800" b="1" dirty="0" smtClean="0">
              <a:solidFill>
                <a:srgbClr val="00B0F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  <a:defRPr/>
            </a:pPr>
            <a:r>
              <a:rPr lang="zh-CN" altLang="en-US" sz="2800" b="1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随着频率的降低，耦合电容的容抗增大，使输出信号减小，电压放大倍数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下降。</a:t>
            </a:r>
            <a:endParaRPr lang="en-US" altLang="zh-CN" sz="2800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484687" y="201840"/>
            <a:ext cx="4659313" cy="2720976"/>
            <a:chOff x="2817" y="365"/>
            <a:chExt cx="2935" cy="1714"/>
          </a:xfrm>
        </p:grpSpPr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2817" y="365"/>
              <a:ext cx="2935" cy="1656"/>
              <a:chOff x="2681" y="326"/>
              <a:chExt cx="2935" cy="1656"/>
            </a:xfrm>
          </p:grpSpPr>
          <p:grpSp>
            <p:nvGrpSpPr>
              <p:cNvPr id="6" name="Group 41"/>
              <p:cNvGrpSpPr>
                <a:grpSpLocks/>
              </p:cNvGrpSpPr>
              <p:nvPr/>
            </p:nvGrpSpPr>
            <p:grpSpPr bwMode="auto">
              <a:xfrm>
                <a:off x="3168" y="336"/>
                <a:ext cx="2208" cy="1488"/>
                <a:chOff x="3168" y="336"/>
                <a:chExt cx="2208" cy="1488"/>
              </a:xfrm>
            </p:grpSpPr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auto">
                <a:xfrm>
                  <a:off x="3168" y="1824"/>
                  <a:ext cx="22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3168" y="336"/>
                  <a:ext cx="0" cy="14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 Box 44"/>
              <p:cNvSpPr txBox="1">
                <a:spLocks noChangeArrowheads="1"/>
              </p:cNvSpPr>
              <p:nvPr/>
            </p:nvSpPr>
            <p:spPr bwMode="auto">
              <a:xfrm>
                <a:off x="3168" y="326"/>
                <a:ext cx="76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 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 |</a:t>
                </a:r>
                <a:endPara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Text Box 45"/>
              <p:cNvSpPr txBox="1">
                <a:spLocks noChangeArrowheads="1"/>
              </p:cNvSpPr>
              <p:nvPr/>
            </p:nvSpPr>
            <p:spPr bwMode="auto">
              <a:xfrm>
                <a:off x="5372" y="1718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</a:p>
            </p:txBody>
          </p:sp>
          <p:sp>
            <p:nvSpPr>
              <p:cNvPr id="25" name="Text Box 46"/>
              <p:cNvSpPr txBox="1">
                <a:spLocks noChangeArrowheads="1"/>
              </p:cNvSpPr>
              <p:nvPr/>
            </p:nvSpPr>
            <p:spPr bwMode="auto">
              <a:xfrm>
                <a:off x="2997" y="1730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26" name="Text Box 47"/>
              <p:cNvSpPr txBox="1">
                <a:spLocks noChangeArrowheads="1"/>
              </p:cNvSpPr>
              <p:nvPr/>
            </p:nvSpPr>
            <p:spPr bwMode="auto">
              <a:xfrm>
                <a:off x="2681" y="624"/>
                <a:ext cx="55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b="1" i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m</a:t>
                </a: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</a:p>
            </p:txBody>
          </p:sp>
          <p:sp>
            <p:nvSpPr>
              <p:cNvPr id="27" name="Line 48"/>
              <p:cNvSpPr>
                <a:spLocks noChangeShapeType="1"/>
              </p:cNvSpPr>
              <p:nvPr/>
            </p:nvSpPr>
            <p:spPr bwMode="auto">
              <a:xfrm>
                <a:off x="3168" y="816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Line 49"/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91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" name="Freeform 50"/>
            <p:cNvSpPr>
              <a:spLocks/>
            </p:cNvSpPr>
            <p:nvPr/>
          </p:nvSpPr>
          <p:spPr bwMode="auto">
            <a:xfrm rot="202414">
              <a:off x="4682" y="831"/>
              <a:ext cx="384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6" name="Group 51"/>
            <p:cNvGrpSpPr>
              <a:grpSpLocks/>
            </p:cNvGrpSpPr>
            <p:nvPr/>
          </p:nvGrpSpPr>
          <p:grpSpPr bwMode="auto">
            <a:xfrm>
              <a:off x="2831" y="922"/>
              <a:ext cx="2537" cy="1157"/>
              <a:chOff x="2695" y="871"/>
              <a:chExt cx="2537" cy="1157"/>
            </a:xfrm>
          </p:grpSpPr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3264" y="1776"/>
                <a:ext cx="80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" name="Text Box 53"/>
              <p:cNvSpPr txBox="1">
                <a:spLocks noChangeArrowheads="1"/>
              </p:cNvSpPr>
              <p:nvPr/>
            </p:nvSpPr>
            <p:spPr bwMode="auto">
              <a:xfrm>
                <a:off x="4782" y="177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H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" name="Line 54"/>
              <p:cNvSpPr>
                <a:spLocks noChangeShapeType="1"/>
              </p:cNvSpPr>
              <p:nvPr/>
            </p:nvSpPr>
            <p:spPr bwMode="auto">
              <a:xfrm>
                <a:off x="3168" y="1104"/>
                <a:ext cx="18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Line 55"/>
              <p:cNvSpPr>
                <a:spLocks noChangeShapeType="1"/>
              </p:cNvSpPr>
              <p:nvPr/>
            </p:nvSpPr>
            <p:spPr bwMode="auto">
              <a:xfrm flipV="1">
                <a:off x="3394" y="1111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Line 56"/>
              <p:cNvSpPr>
                <a:spLocks noChangeShapeType="1"/>
              </p:cNvSpPr>
              <p:nvPr/>
            </p:nvSpPr>
            <p:spPr bwMode="auto">
              <a:xfrm flipV="1">
                <a:off x="4862" y="1081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" name="Line 57"/>
              <p:cNvSpPr>
                <a:spLocks noChangeShapeType="1"/>
              </p:cNvSpPr>
              <p:nvPr/>
            </p:nvSpPr>
            <p:spPr bwMode="auto">
              <a:xfrm flipH="1">
                <a:off x="3401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Line 58"/>
              <p:cNvSpPr>
                <a:spLocks noChangeShapeType="1"/>
              </p:cNvSpPr>
              <p:nvPr/>
            </p:nvSpPr>
            <p:spPr bwMode="auto">
              <a:xfrm>
                <a:off x="4423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Text Box 59"/>
              <p:cNvSpPr txBox="1">
                <a:spLocks noChangeArrowheads="1"/>
              </p:cNvSpPr>
              <p:nvPr/>
            </p:nvSpPr>
            <p:spPr bwMode="auto">
              <a:xfrm>
                <a:off x="3984" y="129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BW</a:t>
                </a:r>
              </a:p>
            </p:txBody>
          </p: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2695" y="871"/>
                <a:ext cx="451" cy="521"/>
                <a:chOff x="4423" y="2234"/>
                <a:chExt cx="451" cy="521"/>
              </a:xfrm>
            </p:grpSpPr>
            <p:sp>
              <p:nvSpPr>
                <p:cNvPr id="17" name="Rectangle 61"/>
                <p:cNvSpPr>
                  <a:spLocks noChangeArrowheads="1"/>
                </p:cNvSpPr>
                <p:nvPr/>
              </p:nvSpPr>
              <p:spPr bwMode="auto">
                <a:xfrm>
                  <a:off x="4423" y="2234"/>
                  <a:ext cx="45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A</a:t>
                  </a:r>
                  <a:r>
                    <a:rPr lang="en-US" altLang="zh-CN" sz="2000" b="1" i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m</a:t>
                  </a:r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</a:p>
              </p:txBody>
            </p:sp>
            <p:grpSp>
              <p:nvGrpSpPr>
                <p:cNvPr id="22" name="Group 62"/>
                <p:cNvGrpSpPr>
                  <a:grpSpLocks/>
                </p:cNvGrpSpPr>
                <p:nvPr/>
              </p:nvGrpSpPr>
              <p:grpSpPr bwMode="auto">
                <a:xfrm>
                  <a:off x="4423" y="2503"/>
                  <a:ext cx="364" cy="252"/>
                  <a:chOff x="4523" y="2887"/>
                  <a:chExt cx="364" cy="252"/>
                </a:xfrm>
              </p:grpSpPr>
              <p:sp>
                <p:nvSpPr>
                  <p:cNvPr id="2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4523" y="2887"/>
                    <a:ext cx="364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000" b="1" dirty="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√2</a:t>
                    </a:r>
                  </a:p>
                </p:txBody>
              </p:sp>
              <p:sp>
                <p:nvSpPr>
                  <p:cNvPr id="21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4663" y="2928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9" name="Line 65"/>
                <p:cNvSpPr>
                  <a:spLocks noChangeShapeType="1"/>
                </p:cNvSpPr>
                <p:nvPr/>
              </p:nvSpPr>
              <p:spPr bwMode="auto">
                <a:xfrm>
                  <a:off x="4464" y="2496"/>
                  <a:ext cx="38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7" name="Freeform 66"/>
            <p:cNvSpPr>
              <a:spLocks/>
            </p:cNvSpPr>
            <p:nvPr/>
          </p:nvSpPr>
          <p:spPr bwMode="auto">
            <a:xfrm rot="21082462" flipH="1">
              <a:off x="3476" y="838"/>
              <a:ext cx="343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52" name="Text Box 38"/>
          <p:cNvSpPr txBox="1">
            <a:spLocks noChangeArrowheads="1"/>
          </p:cNvSpPr>
          <p:nvPr/>
        </p:nvSpPr>
        <p:spPr bwMode="auto">
          <a:xfrm>
            <a:off x="637723" y="3385453"/>
            <a:ext cx="7776934" cy="112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当电压放大倍数下降到中频电压放大倍数的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0.707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倍时的频率，称为放大电路的下限频率 </a:t>
            </a:r>
            <a:r>
              <a:rPr lang="en-US" altLang="zh-CN" sz="2800" b="1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b="1" baseline="-25000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484687" y="201840"/>
            <a:ext cx="4659313" cy="2720976"/>
            <a:chOff x="2817" y="365"/>
            <a:chExt cx="2935" cy="1714"/>
          </a:xfrm>
        </p:grpSpPr>
        <p:grpSp>
          <p:nvGrpSpPr>
            <p:cNvPr id="4" name="Group 40"/>
            <p:cNvGrpSpPr>
              <a:grpSpLocks/>
            </p:cNvGrpSpPr>
            <p:nvPr/>
          </p:nvGrpSpPr>
          <p:grpSpPr bwMode="auto">
            <a:xfrm>
              <a:off x="2817" y="365"/>
              <a:ext cx="2935" cy="1656"/>
              <a:chOff x="2681" y="326"/>
              <a:chExt cx="2935" cy="1656"/>
            </a:xfrm>
          </p:grpSpPr>
          <p:grpSp>
            <p:nvGrpSpPr>
              <p:cNvPr id="6" name="Group 41"/>
              <p:cNvGrpSpPr>
                <a:grpSpLocks/>
              </p:cNvGrpSpPr>
              <p:nvPr/>
            </p:nvGrpSpPr>
            <p:grpSpPr bwMode="auto">
              <a:xfrm>
                <a:off x="3168" y="336"/>
                <a:ext cx="2208" cy="1488"/>
                <a:chOff x="3168" y="336"/>
                <a:chExt cx="2208" cy="1488"/>
              </a:xfrm>
            </p:grpSpPr>
            <p:sp>
              <p:nvSpPr>
                <p:cNvPr id="29" name="Line 42"/>
                <p:cNvSpPr>
                  <a:spLocks noChangeShapeType="1"/>
                </p:cNvSpPr>
                <p:nvPr/>
              </p:nvSpPr>
              <p:spPr bwMode="auto">
                <a:xfrm>
                  <a:off x="3168" y="1824"/>
                  <a:ext cx="22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0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3168" y="336"/>
                  <a:ext cx="0" cy="14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med" len="lg"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3" name="Text Box 44"/>
              <p:cNvSpPr txBox="1">
                <a:spLocks noChangeArrowheads="1"/>
              </p:cNvSpPr>
              <p:nvPr/>
            </p:nvSpPr>
            <p:spPr bwMode="auto">
              <a:xfrm>
                <a:off x="3168" y="326"/>
                <a:ext cx="76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000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 </a:t>
                </a:r>
                <a:r>
                  <a:rPr lang="en-US" altLang="zh-CN" sz="2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 |</a:t>
                </a:r>
                <a:endPara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Text Box 45"/>
              <p:cNvSpPr txBox="1">
                <a:spLocks noChangeArrowheads="1"/>
              </p:cNvSpPr>
              <p:nvPr/>
            </p:nvSpPr>
            <p:spPr bwMode="auto">
              <a:xfrm>
                <a:off x="5372" y="1718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</a:p>
            </p:txBody>
          </p:sp>
          <p:sp>
            <p:nvSpPr>
              <p:cNvPr id="25" name="Text Box 46"/>
              <p:cNvSpPr txBox="1">
                <a:spLocks noChangeArrowheads="1"/>
              </p:cNvSpPr>
              <p:nvPr/>
            </p:nvSpPr>
            <p:spPr bwMode="auto">
              <a:xfrm>
                <a:off x="2997" y="1730"/>
                <a:ext cx="244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26" name="Text Box 47"/>
              <p:cNvSpPr txBox="1">
                <a:spLocks noChangeArrowheads="1"/>
              </p:cNvSpPr>
              <p:nvPr/>
            </p:nvSpPr>
            <p:spPr bwMode="auto">
              <a:xfrm>
                <a:off x="2681" y="624"/>
                <a:ext cx="55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000" b="1" i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m</a:t>
                </a:r>
                <a:r>
                  <a:rPr lang="en-US" altLang="zh-CN" sz="20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|</a:t>
                </a:r>
              </a:p>
            </p:txBody>
          </p:sp>
          <p:sp>
            <p:nvSpPr>
              <p:cNvPr id="27" name="Line 48"/>
              <p:cNvSpPr>
                <a:spLocks noChangeShapeType="1"/>
              </p:cNvSpPr>
              <p:nvPr/>
            </p:nvSpPr>
            <p:spPr bwMode="auto">
              <a:xfrm>
                <a:off x="3168" y="816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Line 49"/>
              <p:cNvSpPr>
                <a:spLocks noChangeShapeType="1"/>
              </p:cNvSpPr>
              <p:nvPr/>
            </p:nvSpPr>
            <p:spPr bwMode="auto">
              <a:xfrm>
                <a:off x="3648" y="816"/>
                <a:ext cx="912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" name="Freeform 50"/>
            <p:cNvSpPr>
              <a:spLocks/>
            </p:cNvSpPr>
            <p:nvPr/>
          </p:nvSpPr>
          <p:spPr bwMode="auto">
            <a:xfrm rot="202414">
              <a:off x="4682" y="831"/>
              <a:ext cx="384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6" name="Group 51"/>
            <p:cNvGrpSpPr>
              <a:grpSpLocks/>
            </p:cNvGrpSpPr>
            <p:nvPr/>
          </p:nvGrpSpPr>
          <p:grpSpPr bwMode="auto">
            <a:xfrm>
              <a:off x="2831" y="922"/>
              <a:ext cx="2537" cy="1157"/>
              <a:chOff x="2695" y="871"/>
              <a:chExt cx="2537" cy="1157"/>
            </a:xfrm>
          </p:grpSpPr>
          <p:sp>
            <p:nvSpPr>
              <p:cNvPr id="8" name="Text Box 52"/>
              <p:cNvSpPr txBox="1">
                <a:spLocks noChangeArrowheads="1"/>
              </p:cNvSpPr>
              <p:nvPr/>
            </p:nvSpPr>
            <p:spPr bwMode="auto">
              <a:xfrm>
                <a:off x="3264" y="1776"/>
                <a:ext cx="80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" name="Text Box 53"/>
              <p:cNvSpPr txBox="1">
                <a:spLocks noChangeArrowheads="1"/>
              </p:cNvSpPr>
              <p:nvPr/>
            </p:nvSpPr>
            <p:spPr bwMode="auto">
              <a:xfrm>
                <a:off x="4782" y="177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H</a:t>
                </a:r>
                <a:endPara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" name="Line 54"/>
              <p:cNvSpPr>
                <a:spLocks noChangeShapeType="1"/>
              </p:cNvSpPr>
              <p:nvPr/>
            </p:nvSpPr>
            <p:spPr bwMode="auto">
              <a:xfrm>
                <a:off x="3168" y="1104"/>
                <a:ext cx="18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Line 55"/>
              <p:cNvSpPr>
                <a:spLocks noChangeShapeType="1"/>
              </p:cNvSpPr>
              <p:nvPr/>
            </p:nvSpPr>
            <p:spPr bwMode="auto">
              <a:xfrm flipV="1">
                <a:off x="3394" y="1111"/>
                <a:ext cx="0" cy="6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Line 56"/>
              <p:cNvSpPr>
                <a:spLocks noChangeShapeType="1"/>
              </p:cNvSpPr>
              <p:nvPr/>
            </p:nvSpPr>
            <p:spPr bwMode="auto">
              <a:xfrm flipV="1">
                <a:off x="4862" y="1081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" name="Line 57"/>
              <p:cNvSpPr>
                <a:spLocks noChangeShapeType="1"/>
              </p:cNvSpPr>
              <p:nvPr/>
            </p:nvSpPr>
            <p:spPr bwMode="auto">
              <a:xfrm flipH="1">
                <a:off x="3401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Line 58"/>
              <p:cNvSpPr>
                <a:spLocks noChangeShapeType="1"/>
              </p:cNvSpPr>
              <p:nvPr/>
            </p:nvSpPr>
            <p:spPr bwMode="auto">
              <a:xfrm>
                <a:off x="4423" y="144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Text Box 59"/>
              <p:cNvSpPr txBox="1">
                <a:spLocks noChangeArrowheads="1"/>
              </p:cNvSpPr>
              <p:nvPr/>
            </p:nvSpPr>
            <p:spPr bwMode="auto">
              <a:xfrm>
                <a:off x="3984" y="1296"/>
                <a:ext cx="45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BW</a:t>
                </a:r>
              </a:p>
            </p:txBody>
          </p: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2695" y="871"/>
                <a:ext cx="451" cy="521"/>
                <a:chOff x="4423" y="2234"/>
                <a:chExt cx="451" cy="521"/>
              </a:xfrm>
            </p:grpSpPr>
            <p:sp>
              <p:nvSpPr>
                <p:cNvPr id="17" name="Rectangle 61"/>
                <p:cNvSpPr>
                  <a:spLocks noChangeArrowheads="1"/>
                </p:cNvSpPr>
                <p:nvPr/>
              </p:nvSpPr>
              <p:spPr bwMode="auto">
                <a:xfrm>
                  <a:off x="4423" y="2234"/>
                  <a:ext cx="451" cy="2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A</a:t>
                  </a:r>
                  <a:r>
                    <a:rPr lang="en-US" altLang="zh-CN" sz="2000" b="1" i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0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m</a:t>
                  </a:r>
                  <a:r>
                    <a:rPr lang="en-US" altLang="zh-CN" sz="20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|</a:t>
                  </a:r>
                </a:p>
              </p:txBody>
            </p:sp>
            <p:grpSp>
              <p:nvGrpSpPr>
                <p:cNvPr id="22" name="Group 62"/>
                <p:cNvGrpSpPr>
                  <a:grpSpLocks/>
                </p:cNvGrpSpPr>
                <p:nvPr/>
              </p:nvGrpSpPr>
              <p:grpSpPr bwMode="auto">
                <a:xfrm>
                  <a:off x="4423" y="2503"/>
                  <a:ext cx="364" cy="252"/>
                  <a:chOff x="4523" y="2887"/>
                  <a:chExt cx="364" cy="252"/>
                </a:xfrm>
              </p:grpSpPr>
              <p:sp>
                <p:nvSpPr>
                  <p:cNvPr id="20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4523" y="2887"/>
                    <a:ext cx="364" cy="25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000" b="1" dirty="0"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</a:rPr>
                      <a:t>√2</a:t>
                    </a:r>
                  </a:p>
                </p:txBody>
              </p:sp>
              <p:sp>
                <p:nvSpPr>
                  <p:cNvPr id="21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4663" y="2928"/>
                    <a:ext cx="113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20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sp>
              <p:nvSpPr>
                <p:cNvPr id="19" name="Line 65"/>
                <p:cNvSpPr>
                  <a:spLocks noChangeShapeType="1"/>
                </p:cNvSpPr>
                <p:nvPr/>
              </p:nvSpPr>
              <p:spPr bwMode="auto">
                <a:xfrm>
                  <a:off x="4464" y="2496"/>
                  <a:ext cx="38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</p:grpSp>
        <p:sp>
          <p:nvSpPr>
            <p:cNvPr id="7" name="Freeform 66"/>
            <p:cNvSpPr>
              <a:spLocks/>
            </p:cNvSpPr>
            <p:nvPr/>
          </p:nvSpPr>
          <p:spPr bwMode="auto">
            <a:xfrm rot="21082462" flipH="1">
              <a:off x="3476" y="838"/>
              <a:ext cx="343" cy="482"/>
            </a:xfrm>
            <a:custGeom>
              <a:avLst/>
              <a:gdLst>
                <a:gd name="T0" fmla="*/ 0 w 342"/>
                <a:gd name="T1" fmla="*/ 70 h 390"/>
                <a:gd name="T2" fmla="*/ 320 w 342"/>
                <a:gd name="T3" fmla="*/ 138 h 390"/>
                <a:gd name="T4" fmla="*/ 543 w 342"/>
                <a:gd name="T5" fmla="*/ 911 h 390"/>
                <a:gd name="T6" fmla="*/ 0 60000 65536"/>
                <a:gd name="T7" fmla="*/ 0 60000 65536"/>
                <a:gd name="T8" fmla="*/ 0 60000 65536"/>
                <a:gd name="T9" fmla="*/ 0 w 342"/>
                <a:gd name="T10" fmla="*/ 0 h 390"/>
                <a:gd name="T11" fmla="*/ 342 w 342"/>
                <a:gd name="T12" fmla="*/ 390 h 3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2" h="390">
                  <a:moveTo>
                    <a:pt x="0" y="30"/>
                  </a:moveTo>
                  <a:cubicBezTo>
                    <a:pt x="33" y="35"/>
                    <a:pt x="144" y="0"/>
                    <a:pt x="201" y="60"/>
                  </a:cubicBezTo>
                  <a:cubicBezTo>
                    <a:pt x="260" y="119"/>
                    <a:pt x="313" y="321"/>
                    <a:pt x="342" y="390"/>
                  </a:cubicBezTo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491447" y="307748"/>
            <a:ext cx="3830183" cy="2822311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800" b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高频段 </a:t>
            </a:r>
            <a:endParaRPr lang="en-US" altLang="zh-CN" sz="2800" b="1" dirty="0" smtClean="0">
              <a:solidFill>
                <a:srgbClr val="00B0F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  <a:defRPr/>
            </a:pP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随着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频率的升高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晶体管中结电容的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容抗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下降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晶体管的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值也随之下降，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使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放大倍数下降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kumimoji="0" lang="en-US" altLang="zh-CN" sz="2800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5"/>
          <p:cNvSpPr txBox="1">
            <a:spLocks noChangeArrowheads="1"/>
          </p:cNvSpPr>
          <p:nvPr/>
        </p:nvSpPr>
        <p:spPr bwMode="auto">
          <a:xfrm>
            <a:off x="502332" y="3333977"/>
            <a:ext cx="8097382" cy="1126462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当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放大倍数降到中频放大倍数的</a:t>
            </a:r>
            <a:r>
              <a:rPr kumimoji="0"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0.707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倍时的频率，称为放大电路的上限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频率 </a:t>
            </a:r>
            <a:r>
              <a:rPr kumimoji="0" lang="en-US" altLang="zh-CN" sz="2800" b="1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f</a:t>
            </a:r>
            <a:r>
              <a:rPr kumimoji="0" lang="en-US" altLang="zh-CN" sz="2800" b="1" baseline="-25000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H</a:t>
            </a:r>
            <a:r>
              <a:rPr kumimoji="0"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  <a:endParaRPr kumimoji="0" lang="zh-CN" altLang="en-US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43744" y="832934"/>
            <a:ext cx="425971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静态工作点的漂移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 bwMode="auto">
          <a:xfrm>
            <a:off x="4437924" y="772683"/>
            <a:ext cx="4491990" cy="3316061"/>
            <a:chOff x="596" y="915"/>
            <a:chExt cx="3537" cy="2157"/>
          </a:xfrm>
        </p:grpSpPr>
        <p:sp>
          <p:nvSpPr>
            <p:cNvPr id="4" name="Line 4"/>
            <p:cNvSpPr>
              <a:spLocks noChangeShapeType="1"/>
            </p:cNvSpPr>
            <p:nvPr/>
          </p:nvSpPr>
          <p:spPr bwMode="auto">
            <a:xfrm>
              <a:off x="825" y="3015"/>
              <a:ext cx="3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825" y="999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859" y="915"/>
              <a:ext cx="336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3583" y="2744"/>
              <a:ext cx="550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596" y="2809"/>
              <a:ext cx="336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9" name="Freeform 9"/>
          <p:cNvSpPr>
            <a:spLocks noChangeAspect="1"/>
          </p:cNvSpPr>
          <p:nvPr/>
        </p:nvSpPr>
        <p:spPr bwMode="auto">
          <a:xfrm>
            <a:off x="4754789" y="1375909"/>
            <a:ext cx="2820670" cy="2597376"/>
          </a:xfrm>
          <a:custGeom>
            <a:avLst/>
            <a:gdLst>
              <a:gd name="T0" fmla="*/ 0 w 2221"/>
              <a:gd name="T1" fmla="*/ 2147483647 h 1739"/>
              <a:gd name="T2" fmla="*/ 2147483647 w 2221"/>
              <a:gd name="T3" fmla="*/ 2147483647 h 1739"/>
              <a:gd name="T4" fmla="*/ 2147483647 w 2221"/>
              <a:gd name="T5" fmla="*/ 2147483647 h 1739"/>
              <a:gd name="T6" fmla="*/ 0 60000 65536"/>
              <a:gd name="T7" fmla="*/ 0 60000 65536"/>
              <a:gd name="T8" fmla="*/ 0 60000 65536"/>
              <a:gd name="T9" fmla="*/ 0 w 2221"/>
              <a:gd name="T10" fmla="*/ 0 h 1739"/>
              <a:gd name="T11" fmla="*/ 2221 w 2221"/>
              <a:gd name="T12" fmla="*/ 1739 h 173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21" h="1739">
                <a:moveTo>
                  <a:pt x="0" y="1739"/>
                </a:moveTo>
                <a:cubicBezTo>
                  <a:pt x="51" y="1481"/>
                  <a:pt x="35" y="376"/>
                  <a:pt x="305" y="188"/>
                </a:cubicBezTo>
                <a:cubicBezTo>
                  <a:pt x="575" y="0"/>
                  <a:pt x="1822" y="85"/>
                  <a:pt x="2221" y="58"/>
                </a:cubicBez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Freeform 10"/>
          <p:cNvSpPr>
            <a:spLocks noChangeAspect="1"/>
          </p:cNvSpPr>
          <p:nvPr/>
        </p:nvSpPr>
        <p:spPr bwMode="auto">
          <a:xfrm>
            <a:off x="4877933" y="2185534"/>
            <a:ext cx="2626360" cy="269240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Freeform 11"/>
          <p:cNvSpPr>
            <a:spLocks noChangeAspect="1"/>
          </p:cNvSpPr>
          <p:nvPr/>
        </p:nvSpPr>
        <p:spPr bwMode="auto">
          <a:xfrm>
            <a:off x="4808083" y="2868385"/>
            <a:ext cx="2741930" cy="244929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2" name="Freeform 12"/>
          <p:cNvSpPr>
            <a:spLocks noChangeAspect="1"/>
          </p:cNvSpPr>
          <p:nvPr/>
        </p:nvSpPr>
        <p:spPr bwMode="auto">
          <a:xfrm>
            <a:off x="4789714" y="3557134"/>
            <a:ext cx="2804160" cy="304800"/>
          </a:xfrm>
          <a:custGeom>
            <a:avLst/>
            <a:gdLst>
              <a:gd name="T0" fmla="*/ 0 w 2068"/>
              <a:gd name="T1" fmla="*/ 2147483647 h 212"/>
              <a:gd name="T2" fmla="*/ 2147483647 w 2068"/>
              <a:gd name="T3" fmla="*/ 2147483647 h 212"/>
              <a:gd name="T4" fmla="*/ 2147483647 w 2068"/>
              <a:gd name="T5" fmla="*/ 0 h 212"/>
              <a:gd name="T6" fmla="*/ 0 60000 65536"/>
              <a:gd name="T7" fmla="*/ 0 60000 65536"/>
              <a:gd name="T8" fmla="*/ 0 60000 65536"/>
              <a:gd name="T9" fmla="*/ 0 w 2068"/>
              <a:gd name="T10" fmla="*/ 0 h 212"/>
              <a:gd name="T11" fmla="*/ 2068 w 2068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8" h="212">
                <a:moveTo>
                  <a:pt x="0" y="212"/>
                </a:moveTo>
                <a:cubicBezTo>
                  <a:pt x="65" y="179"/>
                  <a:pt x="42" y="47"/>
                  <a:pt x="387" y="12"/>
                </a:cubicBezTo>
                <a:cubicBezTo>
                  <a:pt x="733" y="5"/>
                  <a:pt x="1718" y="2"/>
                  <a:pt x="2068" y="0"/>
                </a:cubicBezTo>
              </a:path>
            </a:pathLst>
          </a:custGeom>
          <a:noFill/>
          <a:ln w="38100" cmpd="sng">
            <a:solidFill>
              <a:srgbClr val="C0000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 bwMode="auto">
          <a:xfrm>
            <a:off x="4713514" y="1002846"/>
            <a:ext cx="3582670" cy="3016250"/>
            <a:chOff x="2784" y="681"/>
            <a:chExt cx="2821" cy="2375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784" y="681"/>
              <a:ext cx="62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endParaRPr lang="zh-CN" altLang="zh-CN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986" y="2741"/>
              <a:ext cx="619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 bwMode="auto">
          <a:xfrm>
            <a:off x="4037602" y="1239112"/>
            <a:ext cx="872490" cy="772160"/>
            <a:chOff x="2396" y="1163"/>
            <a:chExt cx="687" cy="608"/>
          </a:xfrm>
        </p:grpSpPr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396" y="1307"/>
              <a:ext cx="624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——</a:t>
              </a:r>
            </a:p>
          </p:txBody>
        </p:sp>
        <p:grpSp>
          <p:nvGrpSpPr>
            <p:cNvPr id="18" name="Group 18"/>
            <p:cNvGrpSpPr>
              <a:grpSpLocks/>
            </p:cNvGrpSpPr>
            <p:nvPr/>
          </p:nvGrpSpPr>
          <p:grpSpPr bwMode="auto">
            <a:xfrm>
              <a:off x="2448" y="1163"/>
              <a:ext cx="635" cy="608"/>
              <a:chOff x="2448" y="1163"/>
              <a:chExt cx="635" cy="608"/>
            </a:xfrm>
          </p:grpSpPr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2448" y="1163"/>
                <a:ext cx="624" cy="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00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CC</a:t>
                </a:r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2459" y="1456"/>
                <a:ext cx="624" cy="3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00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</a:p>
            </p:txBody>
          </p:sp>
        </p:grpSp>
      </p:grpSp>
      <p:sp>
        <p:nvSpPr>
          <p:cNvPr id="21" name="Line 21"/>
          <p:cNvSpPr>
            <a:spLocks noChangeAspect="1" noChangeShapeType="1"/>
          </p:cNvSpPr>
          <p:nvPr/>
        </p:nvSpPr>
        <p:spPr bwMode="auto">
          <a:xfrm>
            <a:off x="4726330" y="1543050"/>
            <a:ext cx="2949036" cy="245200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 bwMode="auto">
          <a:xfrm>
            <a:off x="6275296" y="2477634"/>
            <a:ext cx="797560" cy="459740"/>
            <a:chOff x="422" y="3361"/>
            <a:chExt cx="628" cy="362"/>
          </a:xfrm>
        </p:grpSpPr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422" y="3627"/>
              <a:ext cx="96" cy="96"/>
            </a:xfrm>
            <a:prstGeom prst="ellipse">
              <a:avLst/>
            </a:prstGeom>
            <a:solidFill>
              <a:srgbClr val="FF66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26" y="3361"/>
              <a:ext cx="6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 bwMode="auto">
          <a:xfrm>
            <a:off x="7659776" y="1273991"/>
            <a:ext cx="1419860" cy="2400301"/>
            <a:chOff x="3046" y="996"/>
            <a:chExt cx="1118" cy="1890"/>
          </a:xfrm>
        </p:grpSpPr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3078" y="2077"/>
              <a:ext cx="1069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40μA</a:t>
              </a: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3054" y="1501"/>
              <a:ext cx="1110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60μA</a:t>
              </a: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3098" y="996"/>
              <a:ext cx="1058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80μA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3046" y="2571"/>
              <a:ext cx="1101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000" b="1" dirty="0">
                  <a:solidFill>
                    <a:srgbClr val="C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20μA</a:t>
              </a:r>
            </a:p>
          </p:txBody>
        </p:sp>
      </p:grpSp>
      <p:sp>
        <p:nvSpPr>
          <p:cNvPr id="30" name="Freeform 30"/>
          <p:cNvSpPr>
            <a:spLocks noChangeAspect="1"/>
          </p:cNvSpPr>
          <p:nvPr/>
        </p:nvSpPr>
        <p:spPr bwMode="auto">
          <a:xfrm>
            <a:off x="4753201" y="893309"/>
            <a:ext cx="2517140" cy="3101748"/>
          </a:xfrm>
          <a:custGeom>
            <a:avLst/>
            <a:gdLst>
              <a:gd name="T0" fmla="*/ 0 w 2174"/>
              <a:gd name="T1" fmla="*/ 2147483647 h 2057"/>
              <a:gd name="T2" fmla="*/ 2147483647 w 2174"/>
              <a:gd name="T3" fmla="*/ 2147483647 h 2057"/>
              <a:gd name="T4" fmla="*/ 2147483647 w 2174"/>
              <a:gd name="T5" fmla="*/ 2147483647 h 2057"/>
              <a:gd name="T6" fmla="*/ 0 60000 65536"/>
              <a:gd name="T7" fmla="*/ 0 60000 65536"/>
              <a:gd name="T8" fmla="*/ 0 60000 65536"/>
              <a:gd name="T9" fmla="*/ 0 w 2174"/>
              <a:gd name="T10" fmla="*/ 0 h 2057"/>
              <a:gd name="T11" fmla="*/ 2174 w 2174"/>
              <a:gd name="T12" fmla="*/ 2057 h 20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4" h="2057">
                <a:moveTo>
                  <a:pt x="0" y="2057"/>
                </a:moveTo>
                <a:cubicBezTo>
                  <a:pt x="70" y="1767"/>
                  <a:pt x="49" y="644"/>
                  <a:pt x="411" y="317"/>
                </a:cubicBezTo>
                <a:cubicBezTo>
                  <a:pt x="775" y="0"/>
                  <a:pt x="1807" y="140"/>
                  <a:pt x="2174" y="94"/>
                </a:cubicBezTo>
              </a:path>
            </a:pathLst>
          </a:custGeom>
          <a:noFill/>
          <a:ln w="38100" cmpd="sng">
            <a:solidFill>
              <a:srgbClr val="0070C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1" name="Freeform 31"/>
          <p:cNvSpPr>
            <a:spLocks noChangeAspect="1"/>
          </p:cNvSpPr>
          <p:nvPr/>
        </p:nvSpPr>
        <p:spPr bwMode="auto">
          <a:xfrm>
            <a:off x="4761139" y="1763485"/>
            <a:ext cx="2754630" cy="2166256"/>
          </a:xfrm>
          <a:custGeom>
            <a:avLst/>
            <a:gdLst>
              <a:gd name="T0" fmla="*/ 0 w 2169"/>
              <a:gd name="T1" fmla="*/ 2147483647 h 1391"/>
              <a:gd name="T2" fmla="*/ 2147483647 w 2169"/>
              <a:gd name="T3" fmla="*/ 2147483647 h 1391"/>
              <a:gd name="T4" fmla="*/ 2147483647 w 2169"/>
              <a:gd name="T5" fmla="*/ 2147483647 h 1391"/>
              <a:gd name="T6" fmla="*/ 0 60000 65536"/>
              <a:gd name="T7" fmla="*/ 0 60000 65536"/>
              <a:gd name="T8" fmla="*/ 0 60000 65536"/>
              <a:gd name="T9" fmla="*/ 0 w 2169"/>
              <a:gd name="T10" fmla="*/ 0 h 1391"/>
              <a:gd name="T11" fmla="*/ 2169 w 2169"/>
              <a:gd name="T12" fmla="*/ 1391 h 13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9" h="1391">
                <a:moveTo>
                  <a:pt x="0" y="1391"/>
                </a:moveTo>
                <a:cubicBezTo>
                  <a:pt x="81" y="1181"/>
                  <a:pt x="126" y="353"/>
                  <a:pt x="488" y="129"/>
                </a:cubicBezTo>
                <a:cubicBezTo>
                  <a:pt x="805" y="0"/>
                  <a:pt x="1819" y="64"/>
                  <a:pt x="2169" y="47"/>
                </a:cubicBezTo>
              </a:path>
            </a:pathLst>
          </a:custGeom>
          <a:noFill/>
          <a:ln w="38100" cmpd="sng">
            <a:solidFill>
              <a:srgbClr val="0070C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Freeform 32"/>
          <p:cNvSpPr>
            <a:spLocks noChangeAspect="1"/>
          </p:cNvSpPr>
          <p:nvPr/>
        </p:nvSpPr>
        <p:spPr bwMode="auto">
          <a:xfrm>
            <a:off x="4775426" y="2479221"/>
            <a:ext cx="2743200" cy="1504950"/>
          </a:xfrm>
          <a:custGeom>
            <a:avLst/>
            <a:gdLst>
              <a:gd name="T0" fmla="*/ 0 w 2152"/>
              <a:gd name="T1" fmla="*/ 2147483647 h 1118"/>
              <a:gd name="T2" fmla="*/ 2147483647 w 2152"/>
              <a:gd name="T3" fmla="*/ 2147483647 h 1118"/>
              <a:gd name="T4" fmla="*/ 2147483647 w 2152"/>
              <a:gd name="T5" fmla="*/ 2147483647 h 1118"/>
              <a:gd name="T6" fmla="*/ 0 60000 65536"/>
              <a:gd name="T7" fmla="*/ 0 60000 65536"/>
              <a:gd name="T8" fmla="*/ 0 60000 65536"/>
              <a:gd name="T9" fmla="*/ 0 w 2152"/>
              <a:gd name="T10" fmla="*/ 0 h 1118"/>
              <a:gd name="T11" fmla="*/ 2152 w 2152"/>
              <a:gd name="T12" fmla="*/ 1118 h 11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2" h="1118">
                <a:moveTo>
                  <a:pt x="0" y="1118"/>
                </a:moveTo>
                <a:cubicBezTo>
                  <a:pt x="72" y="944"/>
                  <a:pt x="76" y="253"/>
                  <a:pt x="435" y="71"/>
                </a:cubicBezTo>
                <a:cubicBezTo>
                  <a:pt x="729" y="0"/>
                  <a:pt x="1794" y="34"/>
                  <a:pt x="2152" y="24"/>
                </a:cubicBezTo>
              </a:path>
            </a:pathLst>
          </a:custGeom>
          <a:noFill/>
          <a:ln w="38100" cmpd="sng">
            <a:solidFill>
              <a:srgbClr val="0070C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Freeform 33"/>
          <p:cNvSpPr>
            <a:spLocks noChangeAspect="1"/>
          </p:cNvSpPr>
          <p:nvPr/>
        </p:nvSpPr>
        <p:spPr bwMode="auto">
          <a:xfrm>
            <a:off x="4754789" y="3184071"/>
            <a:ext cx="2810510" cy="816610"/>
          </a:xfrm>
          <a:custGeom>
            <a:avLst/>
            <a:gdLst>
              <a:gd name="T0" fmla="*/ 0 w 2199"/>
              <a:gd name="T1" fmla="*/ 2147483647 h 612"/>
              <a:gd name="T2" fmla="*/ 2147483647 w 2199"/>
              <a:gd name="T3" fmla="*/ 2147483647 h 612"/>
              <a:gd name="T4" fmla="*/ 2147483647 w 2199"/>
              <a:gd name="T5" fmla="*/ 2147483647 h 612"/>
              <a:gd name="T6" fmla="*/ 0 60000 65536"/>
              <a:gd name="T7" fmla="*/ 0 60000 65536"/>
              <a:gd name="T8" fmla="*/ 0 60000 65536"/>
              <a:gd name="T9" fmla="*/ 0 w 2199"/>
              <a:gd name="T10" fmla="*/ 0 h 612"/>
              <a:gd name="T11" fmla="*/ 2199 w 2199"/>
              <a:gd name="T12" fmla="*/ 612 h 6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9" h="612">
                <a:moveTo>
                  <a:pt x="0" y="612"/>
                </a:moveTo>
                <a:cubicBezTo>
                  <a:pt x="78" y="524"/>
                  <a:pt x="115" y="169"/>
                  <a:pt x="482" y="71"/>
                </a:cubicBezTo>
                <a:cubicBezTo>
                  <a:pt x="776" y="0"/>
                  <a:pt x="1841" y="34"/>
                  <a:pt x="2199" y="24"/>
                </a:cubicBezTo>
              </a:path>
            </a:pathLst>
          </a:custGeom>
          <a:noFill/>
          <a:ln w="38100" cmpd="sng">
            <a:solidFill>
              <a:srgbClr val="0070C0"/>
            </a:solidFill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4" name="Text Box 34"/>
          <p:cNvSpPr txBox="1">
            <a:spLocks noChangeAspect="1" noChangeArrowheads="1"/>
          </p:cNvSpPr>
          <p:nvPr/>
        </p:nvSpPr>
        <p:spPr bwMode="auto">
          <a:xfrm>
            <a:off x="7594826" y="893535"/>
            <a:ext cx="1451610" cy="32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="1" baseline="-250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80μA</a:t>
            </a:r>
          </a:p>
        </p:txBody>
      </p:sp>
      <p:sp>
        <p:nvSpPr>
          <p:cNvPr id="35" name="Text Box 35"/>
          <p:cNvSpPr txBox="1">
            <a:spLocks noChangeAspect="1" noChangeArrowheads="1"/>
          </p:cNvSpPr>
          <p:nvPr/>
        </p:nvSpPr>
        <p:spPr bwMode="auto">
          <a:xfrm>
            <a:off x="7761514" y="1616529"/>
            <a:ext cx="138248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="1" baseline="-250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60μA</a:t>
            </a:r>
          </a:p>
        </p:txBody>
      </p:sp>
      <p:sp>
        <p:nvSpPr>
          <p:cNvPr id="36" name="Text Box 36"/>
          <p:cNvSpPr txBox="1">
            <a:spLocks noChangeAspect="1" noChangeArrowheads="1"/>
          </p:cNvSpPr>
          <p:nvPr/>
        </p:nvSpPr>
        <p:spPr bwMode="auto">
          <a:xfrm>
            <a:off x="7747224" y="2313895"/>
            <a:ext cx="13556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="1" baseline="-250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40μA</a:t>
            </a:r>
          </a:p>
        </p:txBody>
      </p:sp>
      <p:sp>
        <p:nvSpPr>
          <p:cNvPr id="37" name="Text Box 37"/>
          <p:cNvSpPr txBox="1">
            <a:spLocks noChangeAspect="1" noChangeArrowheads="1"/>
          </p:cNvSpPr>
          <p:nvPr/>
        </p:nvSpPr>
        <p:spPr bwMode="auto">
          <a:xfrm>
            <a:off x="7750628" y="2947306"/>
            <a:ext cx="13607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i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000" b="1" baseline="-250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20μA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 bwMode="auto">
          <a:xfrm>
            <a:off x="5809206" y="2107429"/>
            <a:ext cx="792480" cy="474980"/>
            <a:chOff x="1828" y="1961"/>
            <a:chExt cx="624" cy="374"/>
          </a:xfrm>
        </p:grpSpPr>
        <p:sp>
          <p:nvSpPr>
            <p:cNvPr id="39" name="Oval 39"/>
            <p:cNvSpPr>
              <a:spLocks noChangeArrowheads="1"/>
            </p:cNvSpPr>
            <p:nvPr/>
          </p:nvSpPr>
          <p:spPr bwMode="auto">
            <a:xfrm>
              <a:off x="1850" y="2239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40"/>
            <p:cNvSpPr txBox="1">
              <a:spLocks noChangeArrowheads="1"/>
            </p:cNvSpPr>
            <p:nvPr/>
          </p:nvSpPr>
          <p:spPr bwMode="auto">
            <a:xfrm>
              <a:off x="1828" y="1961"/>
              <a:ext cx="62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</p:grp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872469" y="1844550"/>
            <a:ext cx="325321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25˚C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时的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静态工作点</a:t>
            </a: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839812" y="2896835"/>
            <a:ext cx="327498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为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65˚C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时的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静态工作点</a:t>
            </a:r>
          </a:p>
        </p:txBody>
      </p: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1104900" y="4229101"/>
            <a:ext cx="7385957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温度升高时，静态工作点将沿直流负载线上移。</a:t>
            </a: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 bwMode="auto">
          <a:xfrm>
            <a:off x="378643" y="143625"/>
            <a:ext cx="5281930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、静态工作点的稳定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nimBg="1"/>
      <p:bldP spid="10" grpId="0" animBg="1"/>
      <p:bldP spid="11" grpId="0" animBg="1"/>
      <p:bldP spid="12" grpId="0" animBg="1"/>
      <p:bldP spid="21" grpId="0" animBg="1"/>
      <p:bldP spid="30" grpId="0" animBg="1"/>
      <p:bldP spid="31" grpId="0" animBg="1"/>
      <p:bldP spid="32" grpId="0" animBg="1"/>
      <p:bldP spid="33" grpId="0" animBg="1"/>
      <p:bldP spid="34" grpId="0" autoUpdateAnimBg="0"/>
      <p:bldP spid="35" grpId="0" autoUpdateAnimBg="0"/>
      <p:bldP spid="36" grpId="0" autoUpdateAnimBg="0"/>
      <p:bldP spid="37" grpId="0" autoUpdateAnimBg="0"/>
      <p:bldP spid="41" grpId="0" autoUpdateAnimBg="0"/>
      <p:bldP spid="42" grpId="0" autoUpdateAnimBg="0"/>
      <p:bldP spid="4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87779" y="3761014"/>
            <a:ext cx="498293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稳定静态工作点的物理过程</a:t>
            </a:r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829" y="4354513"/>
            <a:ext cx="1981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温度升高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1807029" y="4659313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340429" y="436880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2797629" y="4400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945267" y="4659313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478667" y="4387850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3935867" y="44116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093029" y="4640263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4626429" y="4387850"/>
            <a:ext cx="68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5159829" y="44497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6611031" y="4653642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053943" y="4286930"/>
            <a:ext cx="68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7638143" y="4683805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081056" y="4336142"/>
            <a:ext cx="68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321809" y="130629"/>
            <a:ext cx="41354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分压式偏置电路</a:t>
            </a:r>
            <a:endParaRPr lang="zh-CN" altLang="en-US" sz="3200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5312229" y="4640263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5845629" y="4387850"/>
            <a:ext cx="1004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>
            <a:off x="6525079" y="44688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>
            <a:off x="7498443" y="440599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9" name="Line 30"/>
          <p:cNvSpPr>
            <a:spLocks noChangeShapeType="1"/>
          </p:cNvSpPr>
          <p:nvPr/>
        </p:nvSpPr>
        <p:spPr bwMode="auto">
          <a:xfrm>
            <a:off x="8525556" y="441710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327025" y="780809"/>
            <a:ext cx="4865195" cy="2870441"/>
            <a:chOff x="2560" y="197"/>
            <a:chExt cx="2950" cy="1865"/>
          </a:xfrm>
        </p:grpSpPr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2767" y="1947"/>
              <a:ext cx="2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>
              <a:off x="4138" y="221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Rectangle 42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3060" y="1371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>
              <a:off x="3160" y="1138"/>
              <a:ext cx="30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Oval 46"/>
            <p:cNvSpPr>
              <a:spLocks noChangeArrowheads="1"/>
            </p:cNvSpPr>
            <p:nvPr/>
          </p:nvSpPr>
          <p:spPr bwMode="auto">
            <a:xfrm>
              <a:off x="2726" y="111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Oval 47"/>
            <p:cNvSpPr>
              <a:spLocks noChangeArrowheads="1"/>
            </p:cNvSpPr>
            <p:nvPr/>
          </p:nvSpPr>
          <p:spPr bwMode="auto">
            <a:xfrm>
              <a:off x="2746" y="1931"/>
              <a:ext cx="41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48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Rectangle 51"/>
            <p:cNvSpPr>
              <a:spLocks noChangeArrowheads="1"/>
            </p:cNvSpPr>
            <p:nvPr/>
          </p:nvSpPr>
          <p:spPr bwMode="auto">
            <a:xfrm>
              <a:off x="2589" y="1120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2560" y="1675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1" name="Rectangle 53"/>
            <p:cNvSpPr>
              <a:spLocks noChangeArrowheads="1"/>
            </p:cNvSpPr>
            <p:nvPr/>
          </p:nvSpPr>
          <p:spPr bwMode="auto">
            <a:xfrm>
              <a:off x="2621" y="1356"/>
              <a:ext cx="240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5081" y="728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3" name="Rectangle 55"/>
            <p:cNvSpPr>
              <a:spLocks noChangeArrowheads="1"/>
            </p:cNvSpPr>
            <p:nvPr/>
          </p:nvSpPr>
          <p:spPr bwMode="auto">
            <a:xfrm>
              <a:off x="5067" y="1656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4" name="Rectangle 56"/>
            <p:cNvSpPr>
              <a:spLocks noChangeArrowheads="1"/>
            </p:cNvSpPr>
            <p:nvPr/>
          </p:nvSpPr>
          <p:spPr bwMode="auto">
            <a:xfrm>
              <a:off x="4093" y="1462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Rectangle 57"/>
            <p:cNvSpPr>
              <a:spLocks noChangeArrowheads="1"/>
            </p:cNvSpPr>
            <p:nvPr/>
          </p:nvSpPr>
          <p:spPr bwMode="auto">
            <a:xfrm>
              <a:off x="4776" y="1103"/>
              <a:ext cx="295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56" name="Rectangle 58"/>
            <p:cNvSpPr>
              <a:spLocks noChangeArrowheads="1"/>
            </p:cNvSpPr>
            <p:nvPr/>
          </p:nvSpPr>
          <p:spPr bwMode="auto">
            <a:xfrm>
              <a:off x="3807" y="393"/>
              <a:ext cx="308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57" name="Rectangle 59"/>
            <p:cNvSpPr>
              <a:spLocks noChangeArrowheads="1"/>
            </p:cNvSpPr>
            <p:nvPr/>
          </p:nvSpPr>
          <p:spPr bwMode="auto">
            <a:xfrm>
              <a:off x="4254" y="1035"/>
              <a:ext cx="112" cy="21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4213" y="759"/>
              <a:ext cx="0" cy="165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Rectangle 61"/>
            <p:cNvSpPr>
              <a:spLocks noChangeArrowheads="1"/>
            </p:cNvSpPr>
            <p:nvPr/>
          </p:nvSpPr>
          <p:spPr bwMode="auto">
            <a:xfrm>
              <a:off x="4208" y="712"/>
              <a:ext cx="21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3662" y="1090"/>
              <a:ext cx="20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63"/>
            <p:cNvSpPr>
              <a:spLocks noChangeArrowheads="1"/>
            </p:cNvSpPr>
            <p:nvPr/>
          </p:nvSpPr>
          <p:spPr bwMode="auto">
            <a:xfrm>
              <a:off x="3621" y="754"/>
              <a:ext cx="226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 flipV="1">
              <a:off x="3464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Rectangle 66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Rectangle 67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68"/>
            <p:cNvSpPr>
              <a:spLocks noChangeShapeType="1"/>
            </p:cNvSpPr>
            <p:nvPr/>
          </p:nvSpPr>
          <p:spPr bwMode="auto">
            <a:xfrm>
              <a:off x="4138" y="732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69"/>
            <p:cNvSpPr>
              <a:spLocks noChangeShapeType="1"/>
            </p:cNvSpPr>
            <p:nvPr/>
          </p:nvSpPr>
          <p:spPr bwMode="auto">
            <a:xfrm>
              <a:off x="4576" y="732"/>
              <a:ext cx="5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68" name="Group 70"/>
            <p:cNvGrpSpPr>
              <a:grpSpLocks/>
            </p:cNvGrpSpPr>
            <p:nvPr/>
          </p:nvGrpSpPr>
          <p:grpSpPr bwMode="auto">
            <a:xfrm>
              <a:off x="4456" y="623"/>
              <a:ext cx="108" cy="238"/>
              <a:chOff x="4456" y="623"/>
              <a:chExt cx="108" cy="238"/>
            </a:xfrm>
          </p:grpSpPr>
          <p:sp>
            <p:nvSpPr>
              <p:cNvPr id="91" name="Line 71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2" name="Line 72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69" name="Line 73"/>
            <p:cNvSpPr>
              <a:spLocks noChangeShapeType="1"/>
            </p:cNvSpPr>
            <p:nvPr/>
          </p:nvSpPr>
          <p:spPr bwMode="auto">
            <a:xfrm>
              <a:off x="4138" y="1403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4456" y="1403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71" name="Group 75"/>
            <p:cNvGrpSpPr>
              <a:grpSpLocks/>
            </p:cNvGrpSpPr>
            <p:nvPr/>
          </p:nvGrpSpPr>
          <p:grpSpPr bwMode="auto">
            <a:xfrm>
              <a:off x="4356" y="1564"/>
              <a:ext cx="208" cy="70"/>
              <a:chOff x="4356" y="1544"/>
              <a:chExt cx="208" cy="70"/>
            </a:xfrm>
          </p:grpSpPr>
          <p:sp>
            <p:nvSpPr>
              <p:cNvPr id="89" name="Line 76"/>
              <p:cNvSpPr>
                <a:spLocks noChangeShapeType="1"/>
              </p:cNvSpPr>
              <p:nvPr/>
            </p:nvSpPr>
            <p:spPr bwMode="auto">
              <a:xfrm>
                <a:off x="4356" y="154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0" name="Line 77"/>
              <p:cNvSpPr>
                <a:spLocks noChangeShapeType="1"/>
              </p:cNvSpPr>
              <p:nvPr/>
            </p:nvSpPr>
            <p:spPr bwMode="auto">
              <a:xfrm>
                <a:off x="4356" y="161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2" name="Line 78"/>
            <p:cNvSpPr>
              <a:spLocks noChangeShapeType="1"/>
            </p:cNvSpPr>
            <p:nvPr/>
          </p:nvSpPr>
          <p:spPr bwMode="auto">
            <a:xfrm>
              <a:off x="4456" y="1647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79"/>
            <p:cNvSpPr>
              <a:spLocks noChangeShapeType="1"/>
            </p:cNvSpPr>
            <p:nvPr/>
          </p:nvSpPr>
          <p:spPr bwMode="auto">
            <a:xfrm>
              <a:off x="5086" y="732"/>
              <a:ext cx="0" cy="1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Oval 80"/>
            <p:cNvSpPr>
              <a:spLocks noChangeArrowheads="1"/>
            </p:cNvSpPr>
            <p:nvPr/>
          </p:nvSpPr>
          <p:spPr bwMode="auto">
            <a:xfrm>
              <a:off x="5045" y="197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Oval 8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Text Box 82"/>
            <p:cNvSpPr txBox="1">
              <a:spLocks noChangeArrowheads="1"/>
            </p:cNvSpPr>
            <p:nvPr/>
          </p:nvSpPr>
          <p:spPr bwMode="auto">
            <a:xfrm>
              <a:off x="4122" y="989"/>
              <a:ext cx="200" cy="24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77" name="Group 83"/>
            <p:cNvGrpSpPr>
              <a:grpSpLocks/>
            </p:cNvGrpSpPr>
            <p:nvPr/>
          </p:nvGrpSpPr>
          <p:grpSpPr bwMode="auto">
            <a:xfrm>
              <a:off x="3052" y="1025"/>
              <a:ext cx="108" cy="238"/>
              <a:chOff x="4456" y="623"/>
              <a:chExt cx="108" cy="238"/>
            </a:xfrm>
          </p:grpSpPr>
          <p:sp>
            <p:nvSpPr>
              <p:cNvPr id="87" name="Line 84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8" name="Line 85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2734" y="1140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auto">
            <a:xfrm>
              <a:off x="4374" y="357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0" name="Rectangle 88"/>
            <p:cNvSpPr>
              <a:spLocks noChangeArrowheads="1"/>
            </p:cNvSpPr>
            <p:nvPr/>
          </p:nvSpPr>
          <p:spPr bwMode="auto">
            <a:xfrm>
              <a:off x="2921" y="748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1" name="Rectangle 89"/>
            <p:cNvSpPr>
              <a:spLocks noChangeArrowheads="1"/>
            </p:cNvSpPr>
            <p:nvPr/>
          </p:nvSpPr>
          <p:spPr bwMode="auto">
            <a:xfrm>
              <a:off x="3156" y="852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2" name="Rectangle 90"/>
            <p:cNvSpPr>
              <a:spLocks noChangeArrowheads="1"/>
            </p:cNvSpPr>
            <p:nvPr/>
          </p:nvSpPr>
          <p:spPr bwMode="auto">
            <a:xfrm>
              <a:off x="4259" y="489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3" name="Rectangle 91"/>
            <p:cNvSpPr>
              <a:spLocks noChangeArrowheads="1"/>
            </p:cNvSpPr>
            <p:nvPr/>
          </p:nvSpPr>
          <p:spPr bwMode="auto">
            <a:xfrm>
              <a:off x="3082" y="385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84" name="Rectangle 92"/>
            <p:cNvSpPr>
              <a:spLocks noChangeArrowheads="1"/>
            </p:cNvSpPr>
            <p:nvPr/>
          </p:nvSpPr>
          <p:spPr bwMode="auto">
            <a:xfrm>
              <a:off x="4518" y="1489"/>
              <a:ext cx="312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85" name="Rectangle 93"/>
            <p:cNvSpPr>
              <a:spLocks noChangeArrowheads="1"/>
            </p:cNvSpPr>
            <p:nvPr/>
          </p:nvSpPr>
          <p:spPr bwMode="auto">
            <a:xfrm>
              <a:off x="3805" y="1456"/>
              <a:ext cx="302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86" name="Rectangle 94"/>
            <p:cNvSpPr>
              <a:spLocks noChangeArrowheads="1"/>
            </p:cNvSpPr>
            <p:nvPr/>
          </p:nvSpPr>
          <p:spPr bwMode="auto">
            <a:xfrm>
              <a:off x="4993" y="245"/>
              <a:ext cx="51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5041" y="1138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Rectangle 53"/>
            <p:cNvSpPr>
              <a:spLocks noChangeArrowheads="1"/>
            </p:cNvSpPr>
            <p:nvPr/>
          </p:nvSpPr>
          <p:spPr bwMode="auto">
            <a:xfrm>
              <a:off x="5136" y="1200"/>
              <a:ext cx="26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3" name="Group 95"/>
          <p:cNvGrpSpPr>
            <a:grpSpLocks/>
          </p:cNvGrpSpPr>
          <p:nvPr/>
        </p:nvGrpSpPr>
        <p:grpSpPr bwMode="auto">
          <a:xfrm>
            <a:off x="5524498" y="715963"/>
            <a:ext cx="3246122" cy="2963862"/>
            <a:chOff x="3074" y="195"/>
            <a:chExt cx="1826" cy="1867"/>
          </a:xfrm>
        </p:grpSpPr>
        <p:sp>
          <p:nvSpPr>
            <p:cNvPr id="94" name="Line 96"/>
            <p:cNvSpPr>
              <a:spLocks noChangeShapeType="1"/>
            </p:cNvSpPr>
            <p:nvPr/>
          </p:nvSpPr>
          <p:spPr bwMode="auto">
            <a:xfrm>
              <a:off x="3463" y="1947"/>
              <a:ext cx="6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Line 97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98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99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100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101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102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Line 103"/>
            <p:cNvSpPr>
              <a:spLocks noChangeShapeType="1"/>
            </p:cNvSpPr>
            <p:nvPr/>
          </p:nvSpPr>
          <p:spPr bwMode="auto">
            <a:xfrm>
              <a:off x="4138" y="221"/>
              <a:ext cx="5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Line 104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105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Rectangle 106"/>
            <p:cNvSpPr>
              <a:spLocks noChangeArrowheads="1"/>
            </p:cNvSpPr>
            <p:nvPr/>
          </p:nvSpPr>
          <p:spPr bwMode="auto">
            <a:xfrm>
              <a:off x="3074" y="1370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105" name="Oval 107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Line 108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Line 109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Rectangle 110"/>
            <p:cNvSpPr>
              <a:spLocks noChangeArrowheads="1"/>
            </p:cNvSpPr>
            <p:nvPr/>
          </p:nvSpPr>
          <p:spPr bwMode="auto">
            <a:xfrm>
              <a:off x="4093" y="1585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Rectangle 111"/>
            <p:cNvSpPr>
              <a:spLocks noChangeArrowheads="1"/>
            </p:cNvSpPr>
            <p:nvPr/>
          </p:nvSpPr>
          <p:spPr bwMode="auto">
            <a:xfrm>
              <a:off x="3818" y="392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0" name="Line 112"/>
            <p:cNvSpPr>
              <a:spLocks noChangeShapeType="1"/>
            </p:cNvSpPr>
            <p:nvPr/>
          </p:nvSpPr>
          <p:spPr bwMode="auto">
            <a:xfrm>
              <a:off x="4222" y="514"/>
              <a:ext cx="0" cy="29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1" name="Rectangle 113"/>
            <p:cNvSpPr>
              <a:spLocks noChangeArrowheads="1"/>
            </p:cNvSpPr>
            <p:nvPr/>
          </p:nvSpPr>
          <p:spPr bwMode="auto">
            <a:xfrm>
              <a:off x="4269" y="503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2" name="Line 114"/>
            <p:cNvSpPr>
              <a:spLocks noChangeShapeType="1"/>
            </p:cNvSpPr>
            <p:nvPr/>
          </p:nvSpPr>
          <p:spPr bwMode="auto">
            <a:xfrm>
              <a:off x="3662" y="1090"/>
              <a:ext cx="23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115"/>
            <p:cNvSpPr>
              <a:spLocks noChangeArrowheads="1"/>
            </p:cNvSpPr>
            <p:nvPr/>
          </p:nvSpPr>
          <p:spPr bwMode="auto">
            <a:xfrm>
              <a:off x="3619" y="725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4" name="Line 116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117"/>
            <p:cNvSpPr>
              <a:spLocks noChangeShapeType="1"/>
            </p:cNvSpPr>
            <p:nvPr/>
          </p:nvSpPr>
          <p:spPr bwMode="auto">
            <a:xfrm flipV="1">
              <a:off x="3459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Rectangle 118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Rectangle 119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Oval 120"/>
            <p:cNvSpPr>
              <a:spLocks noChangeArrowheads="1"/>
            </p:cNvSpPr>
            <p:nvPr/>
          </p:nvSpPr>
          <p:spPr bwMode="auto">
            <a:xfrm>
              <a:off x="4618" y="19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Oval 12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122"/>
            <p:cNvSpPr txBox="1">
              <a:spLocks noChangeArrowheads="1"/>
            </p:cNvSpPr>
            <p:nvPr/>
          </p:nvSpPr>
          <p:spPr bwMode="auto">
            <a:xfrm>
              <a:off x="4130" y="988"/>
              <a:ext cx="193" cy="24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21" name="Rectangle 123"/>
            <p:cNvSpPr>
              <a:spLocks noChangeArrowheads="1"/>
            </p:cNvSpPr>
            <p:nvPr/>
          </p:nvSpPr>
          <p:spPr bwMode="auto">
            <a:xfrm>
              <a:off x="3095" y="384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22" name="Rectangle 124"/>
            <p:cNvSpPr>
              <a:spLocks noChangeArrowheads="1"/>
            </p:cNvSpPr>
            <p:nvPr/>
          </p:nvSpPr>
          <p:spPr bwMode="auto">
            <a:xfrm>
              <a:off x="3794" y="1565"/>
              <a:ext cx="280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23" name="Rectangle 125"/>
            <p:cNvSpPr>
              <a:spLocks noChangeArrowheads="1"/>
            </p:cNvSpPr>
            <p:nvPr/>
          </p:nvSpPr>
          <p:spPr bwMode="auto">
            <a:xfrm>
              <a:off x="4420" y="238"/>
              <a:ext cx="48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24" name="Line 126"/>
            <p:cNvSpPr>
              <a:spLocks noChangeShapeType="1"/>
            </p:cNvSpPr>
            <p:nvPr/>
          </p:nvSpPr>
          <p:spPr bwMode="auto">
            <a:xfrm>
              <a:off x="4135" y="1338"/>
              <a:ext cx="0" cy="20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Rectangle 127"/>
            <p:cNvSpPr>
              <a:spLocks noChangeArrowheads="1"/>
            </p:cNvSpPr>
            <p:nvPr/>
          </p:nvSpPr>
          <p:spPr bwMode="auto">
            <a:xfrm>
              <a:off x="3089" y="948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6" name="Rectangle 128"/>
            <p:cNvSpPr>
              <a:spLocks noChangeArrowheads="1"/>
            </p:cNvSpPr>
            <p:nvPr/>
          </p:nvSpPr>
          <p:spPr bwMode="auto">
            <a:xfrm>
              <a:off x="4211" y="1238"/>
              <a:ext cx="23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27" name="Rectangle 129"/>
            <p:cNvSpPr>
              <a:spLocks noChangeArrowheads="1"/>
            </p:cNvSpPr>
            <p:nvPr/>
          </p:nvSpPr>
          <p:spPr bwMode="auto">
            <a:xfrm>
              <a:off x="4150" y="1407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8" name="Rectangle 130"/>
            <p:cNvSpPr>
              <a:spLocks noChangeArrowheads="1"/>
            </p:cNvSpPr>
            <p:nvPr/>
          </p:nvSpPr>
          <p:spPr bwMode="auto">
            <a:xfrm>
              <a:off x="4161" y="1753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129" name="Rectangle 131"/>
            <p:cNvSpPr>
              <a:spLocks noChangeArrowheads="1"/>
            </p:cNvSpPr>
            <p:nvPr/>
          </p:nvSpPr>
          <p:spPr bwMode="auto">
            <a:xfrm>
              <a:off x="4250" y="1591"/>
              <a:ext cx="30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0" name="Rectangle 132"/>
            <p:cNvSpPr>
              <a:spLocks noChangeArrowheads="1"/>
            </p:cNvSpPr>
            <p:nvPr/>
          </p:nvSpPr>
          <p:spPr bwMode="auto">
            <a:xfrm>
              <a:off x="3662" y="1232"/>
              <a:ext cx="37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31" name="Rectangle 133"/>
            <p:cNvSpPr>
              <a:spLocks noChangeArrowheads="1"/>
            </p:cNvSpPr>
            <p:nvPr/>
          </p:nvSpPr>
          <p:spPr bwMode="auto">
            <a:xfrm>
              <a:off x="3642" y="1062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2" name="Rectangle 134"/>
            <p:cNvSpPr>
              <a:spLocks noChangeArrowheads="1"/>
            </p:cNvSpPr>
            <p:nvPr/>
          </p:nvSpPr>
          <p:spPr bwMode="auto">
            <a:xfrm>
              <a:off x="3916" y="1364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</p:grpSp>
      <p:sp>
        <p:nvSpPr>
          <p:cNvPr id="133" name="Line 135"/>
          <p:cNvSpPr>
            <a:spLocks noChangeShapeType="1"/>
          </p:cNvSpPr>
          <p:nvPr/>
        </p:nvSpPr>
        <p:spPr bwMode="auto">
          <a:xfrm rot="5400000">
            <a:off x="6177757" y="978694"/>
            <a:ext cx="341312" cy="0"/>
          </a:xfrm>
          <a:prstGeom prst="line">
            <a:avLst/>
          </a:prstGeom>
          <a:noFill/>
          <a:ln w="3175">
            <a:solidFill>
              <a:srgbClr val="C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4" name="Rectangle 136"/>
          <p:cNvSpPr>
            <a:spLocks noChangeArrowheads="1"/>
          </p:cNvSpPr>
          <p:nvPr/>
        </p:nvSpPr>
        <p:spPr bwMode="auto">
          <a:xfrm>
            <a:off x="6391275" y="808038"/>
            <a:ext cx="389850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nimBg="1"/>
      <p:bldP spid="5" grpId="0" autoUpdateAnimBg="0"/>
      <p:bldP spid="6" grpId="0" animBg="1"/>
      <p:bldP spid="7" grpId="0" animBg="1"/>
      <p:bldP spid="8" grpId="0" autoUpdateAnimBg="0"/>
      <p:bldP spid="9" grpId="0" animBg="1"/>
      <p:bldP spid="10" grpId="0" animBg="1"/>
      <p:bldP spid="11" grpId="0" autoUpdateAnimBg="0"/>
      <p:bldP spid="12" grpId="0" animBg="1"/>
      <p:bldP spid="14" grpId="0" animBg="1"/>
      <p:bldP spid="15" grpId="0" autoUpdateAnimBg="0"/>
      <p:bldP spid="16" grpId="0" animBg="1"/>
      <p:bldP spid="17" grpId="0" autoUpdateAnimBg="0"/>
      <p:bldP spid="19" grpId="0" animBg="1"/>
      <p:bldP spid="20" grpId="0" autoUpdateAnimBg="0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6850517" y="3807480"/>
            <a:ext cx="1903412" cy="1163638"/>
            <a:chOff x="4473" y="3194"/>
            <a:chExt cx="1199" cy="733"/>
          </a:xfrm>
        </p:grpSpPr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4473" y="3209"/>
              <a:ext cx="1199" cy="71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4609" y="3194"/>
              <a:ext cx="719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&gt;&gt;</a:t>
              </a:r>
              <a:r>
                <a:rPr lang="en-US" altLang="zh-CN" sz="32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4557" y="3509"/>
              <a:ext cx="101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&gt;&gt;</a:t>
              </a:r>
              <a:r>
                <a:rPr lang="en-US" altLang="zh-CN" sz="32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</p:grp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292328" y="3894340"/>
            <a:ext cx="5816016" cy="52322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5~10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   </a:t>
            </a:r>
            <a:r>
              <a: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=3~5V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（硅管）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276453" y="4413452"/>
            <a:ext cx="6078844" cy="52322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10~20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   </a:t>
            </a:r>
            <a:r>
              <a: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V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=1~3V 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（锗管）</a:t>
            </a:r>
          </a:p>
        </p:txBody>
      </p:sp>
      <p:grpSp>
        <p:nvGrpSpPr>
          <p:cNvPr id="30" name="Group 32"/>
          <p:cNvGrpSpPr>
            <a:grpSpLocks/>
          </p:cNvGrpSpPr>
          <p:nvPr/>
        </p:nvGrpSpPr>
        <p:grpSpPr bwMode="auto">
          <a:xfrm>
            <a:off x="327025" y="780809"/>
            <a:ext cx="4865195" cy="2870441"/>
            <a:chOff x="2560" y="197"/>
            <a:chExt cx="2950" cy="1865"/>
          </a:xfrm>
        </p:grpSpPr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2767" y="1947"/>
              <a:ext cx="2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>
              <a:off x="4138" y="221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41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Rectangle 42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3060" y="1371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43" name="Line 45"/>
            <p:cNvSpPr>
              <a:spLocks noChangeShapeType="1"/>
            </p:cNvSpPr>
            <p:nvPr/>
          </p:nvSpPr>
          <p:spPr bwMode="auto">
            <a:xfrm>
              <a:off x="3160" y="1138"/>
              <a:ext cx="30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Oval 46"/>
            <p:cNvSpPr>
              <a:spLocks noChangeArrowheads="1"/>
            </p:cNvSpPr>
            <p:nvPr/>
          </p:nvSpPr>
          <p:spPr bwMode="auto">
            <a:xfrm>
              <a:off x="2726" y="111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Oval 47"/>
            <p:cNvSpPr>
              <a:spLocks noChangeArrowheads="1"/>
            </p:cNvSpPr>
            <p:nvPr/>
          </p:nvSpPr>
          <p:spPr bwMode="auto">
            <a:xfrm>
              <a:off x="2746" y="1931"/>
              <a:ext cx="41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48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49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50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Rectangle 51"/>
            <p:cNvSpPr>
              <a:spLocks noChangeArrowheads="1"/>
            </p:cNvSpPr>
            <p:nvPr/>
          </p:nvSpPr>
          <p:spPr bwMode="auto">
            <a:xfrm>
              <a:off x="2589" y="1120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2560" y="1675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1" name="Rectangle 53"/>
            <p:cNvSpPr>
              <a:spLocks noChangeArrowheads="1"/>
            </p:cNvSpPr>
            <p:nvPr/>
          </p:nvSpPr>
          <p:spPr bwMode="auto">
            <a:xfrm>
              <a:off x="2621" y="1356"/>
              <a:ext cx="240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Rectangle 54"/>
            <p:cNvSpPr>
              <a:spLocks noChangeArrowheads="1"/>
            </p:cNvSpPr>
            <p:nvPr/>
          </p:nvSpPr>
          <p:spPr bwMode="auto">
            <a:xfrm>
              <a:off x="5081" y="728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3" name="Rectangle 55"/>
            <p:cNvSpPr>
              <a:spLocks noChangeArrowheads="1"/>
            </p:cNvSpPr>
            <p:nvPr/>
          </p:nvSpPr>
          <p:spPr bwMode="auto">
            <a:xfrm>
              <a:off x="5067" y="1656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4" name="Rectangle 56"/>
            <p:cNvSpPr>
              <a:spLocks noChangeArrowheads="1"/>
            </p:cNvSpPr>
            <p:nvPr/>
          </p:nvSpPr>
          <p:spPr bwMode="auto">
            <a:xfrm>
              <a:off x="4093" y="1462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Rectangle 57"/>
            <p:cNvSpPr>
              <a:spLocks noChangeArrowheads="1"/>
            </p:cNvSpPr>
            <p:nvPr/>
          </p:nvSpPr>
          <p:spPr bwMode="auto">
            <a:xfrm>
              <a:off x="4776" y="1103"/>
              <a:ext cx="295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56" name="Rectangle 58"/>
            <p:cNvSpPr>
              <a:spLocks noChangeArrowheads="1"/>
            </p:cNvSpPr>
            <p:nvPr/>
          </p:nvSpPr>
          <p:spPr bwMode="auto">
            <a:xfrm>
              <a:off x="3807" y="393"/>
              <a:ext cx="308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57" name="Rectangle 59"/>
            <p:cNvSpPr>
              <a:spLocks noChangeArrowheads="1"/>
            </p:cNvSpPr>
            <p:nvPr/>
          </p:nvSpPr>
          <p:spPr bwMode="auto">
            <a:xfrm>
              <a:off x="4254" y="1035"/>
              <a:ext cx="112" cy="21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Line 60"/>
            <p:cNvSpPr>
              <a:spLocks noChangeShapeType="1"/>
            </p:cNvSpPr>
            <p:nvPr/>
          </p:nvSpPr>
          <p:spPr bwMode="auto">
            <a:xfrm>
              <a:off x="4213" y="759"/>
              <a:ext cx="0" cy="165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Rectangle 61"/>
            <p:cNvSpPr>
              <a:spLocks noChangeArrowheads="1"/>
            </p:cNvSpPr>
            <p:nvPr/>
          </p:nvSpPr>
          <p:spPr bwMode="auto">
            <a:xfrm>
              <a:off x="4208" y="712"/>
              <a:ext cx="21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0" name="Line 62"/>
            <p:cNvSpPr>
              <a:spLocks noChangeShapeType="1"/>
            </p:cNvSpPr>
            <p:nvPr/>
          </p:nvSpPr>
          <p:spPr bwMode="auto">
            <a:xfrm>
              <a:off x="3662" y="1090"/>
              <a:ext cx="20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63"/>
            <p:cNvSpPr>
              <a:spLocks noChangeArrowheads="1"/>
            </p:cNvSpPr>
            <p:nvPr/>
          </p:nvSpPr>
          <p:spPr bwMode="auto">
            <a:xfrm>
              <a:off x="3621" y="754"/>
              <a:ext cx="226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 flipV="1">
              <a:off x="3464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Rectangle 66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Rectangle 67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68"/>
            <p:cNvSpPr>
              <a:spLocks noChangeShapeType="1"/>
            </p:cNvSpPr>
            <p:nvPr/>
          </p:nvSpPr>
          <p:spPr bwMode="auto">
            <a:xfrm>
              <a:off x="4138" y="732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69"/>
            <p:cNvSpPr>
              <a:spLocks noChangeShapeType="1"/>
            </p:cNvSpPr>
            <p:nvPr/>
          </p:nvSpPr>
          <p:spPr bwMode="auto">
            <a:xfrm>
              <a:off x="4576" y="732"/>
              <a:ext cx="5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68" name="Group 70"/>
            <p:cNvGrpSpPr>
              <a:grpSpLocks/>
            </p:cNvGrpSpPr>
            <p:nvPr/>
          </p:nvGrpSpPr>
          <p:grpSpPr bwMode="auto">
            <a:xfrm>
              <a:off x="4456" y="623"/>
              <a:ext cx="108" cy="238"/>
              <a:chOff x="4456" y="623"/>
              <a:chExt cx="108" cy="238"/>
            </a:xfrm>
          </p:grpSpPr>
          <p:sp>
            <p:nvSpPr>
              <p:cNvPr id="91" name="Line 71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2" name="Line 72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69" name="Line 73"/>
            <p:cNvSpPr>
              <a:spLocks noChangeShapeType="1"/>
            </p:cNvSpPr>
            <p:nvPr/>
          </p:nvSpPr>
          <p:spPr bwMode="auto">
            <a:xfrm>
              <a:off x="4138" y="1403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74"/>
            <p:cNvSpPr>
              <a:spLocks noChangeShapeType="1"/>
            </p:cNvSpPr>
            <p:nvPr/>
          </p:nvSpPr>
          <p:spPr bwMode="auto">
            <a:xfrm>
              <a:off x="4456" y="1403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71" name="Group 75"/>
            <p:cNvGrpSpPr>
              <a:grpSpLocks/>
            </p:cNvGrpSpPr>
            <p:nvPr/>
          </p:nvGrpSpPr>
          <p:grpSpPr bwMode="auto">
            <a:xfrm>
              <a:off x="4356" y="1564"/>
              <a:ext cx="208" cy="70"/>
              <a:chOff x="4356" y="1544"/>
              <a:chExt cx="208" cy="70"/>
            </a:xfrm>
          </p:grpSpPr>
          <p:sp>
            <p:nvSpPr>
              <p:cNvPr id="89" name="Line 76"/>
              <p:cNvSpPr>
                <a:spLocks noChangeShapeType="1"/>
              </p:cNvSpPr>
              <p:nvPr/>
            </p:nvSpPr>
            <p:spPr bwMode="auto">
              <a:xfrm>
                <a:off x="4356" y="154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90" name="Line 77"/>
              <p:cNvSpPr>
                <a:spLocks noChangeShapeType="1"/>
              </p:cNvSpPr>
              <p:nvPr/>
            </p:nvSpPr>
            <p:spPr bwMode="auto">
              <a:xfrm>
                <a:off x="4356" y="161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2" name="Line 78"/>
            <p:cNvSpPr>
              <a:spLocks noChangeShapeType="1"/>
            </p:cNvSpPr>
            <p:nvPr/>
          </p:nvSpPr>
          <p:spPr bwMode="auto">
            <a:xfrm>
              <a:off x="4456" y="1647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79"/>
            <p:cNvSpPr>
              <a:spLocks noChangeShapeType="1"/>
            </p:cNvSpPr>
            <p:nvPr/>
          </p:nvSpPr>
          <p:spPr bwMode="auto">
            <a:xfrm>
              <a:off x="5086" y="732"/>
              <a:ext cx="0" cy="1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Oval 80"/>
            <p:cNvSpPr>
              <a:spLocks noChangeArrowheads="1"/>
            </p:cNvSpPr>
            <p:nvPr/>
          </p:nvSpPr>
          <p:spPr bwMode="auto">
            <a:xfrm>
              <a:off x="5045" y="197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Oval 8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Text Box 82"/>
            <p:cNvSpPr txBox="1">
              <a:spLocks noChangeArrowheads="1"/>
            </p:cNvSpPr>
            <p:nvPr/>
          </p:nvSpPr>
          <p:spPr bwMode="auto">
            <a:xfrm>
              <a:off x="4122" y="989"/>
              <a:ext cx="200" cy="24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77" name="Group 83"/>
            <p:cNvGrpSpPr>
              <a:grpSpLocks/>
            </p:cNvGrpSpPr>
            <p:nvPr/>
          </p:nvGrpSpPr>
          <p:grpSpPr bwMode="auto">
            <a:xfrm>
              <a:off x="3052" y="1025"/>
              <a:ext cx="108" cy="238"/>
              <a:chOff x="4456" y="623"/>
              <a:chExt cx="108" cy="238"/>
            </a:xfrm>
          </p:grpSpPr>
          <p:sp>
            <p:nvSpPr>
              <p:cNvPr id="87" name="Line 84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8" name="Line 85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8" name="Line 86"/>
            <p:cNvSpPr>
              <a:spLocks noChangeShapeType="1"/>
            </p:cNvSpPr>
            <p:nvPr/>
          </p:nvSpPr>
          <p:spPr bwMode="auto">
            <a:xfrm>
              <a:off x="2734" y="1140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auto">
            <a:xfrm>
              <a:off x="4374" y="357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80" name="Rectangle 88"/>
            <p:cNvSpPr>
              <a:spLocks noChangeArrowheads="1"/>
            </p:cNvSpPr>
            <p:nvPr/>
          </p:nvSpPr>
          <p:spPr bwMode="auto">
            <a:xfrm>
              <a:off x="2921" y="748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81" name="Rectangle 89"/>
            <p:cNvSpPr>
              <a:spLocks noChangeArrowheads="1"/>
            </p:cNvSpPr>
            <p:nvPr/>
          </p:nvSpPr>
          <p:spPr bwMode="auto">
            <a:xfrm>
              <a:off x="3156" y="852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2" name="Rectangle 90"/>
            <p:cNvSpPr>
              <a:spLocks noChangeArrowheads="1"/>
            </p:cNvSpPr>
            <p:nvPr/>
          </p:nvSpPr>
          <p:spPr bwMode="auto">
            <a:xfrm>
              <a:off x="4259" y="489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83" name="Rectangle 91"/>
            <p:cNvSpPr>
              <a:spLocks noChangeArrowheads="1"/>
            </p:cNvSpPr>
            <p:nvPr/>
          </p:nvSpPr>
          <p:spPr bwMode="auto">
            <a:xfrm>
              <a:off x="3082" y="385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84" name="Rectangle 92"/>
            <p:cNvSpPr>
              <a:spLocks noChangeArrowheads="1"/>
            </p:cNvSpPr>
            <p:nvPr/>
          </p:nvSpPr>
          <p:spPr bwMode="auto">
            <a:xfrm>
              <a:off x="4518" y="1489"/>
              <a:ext cx="312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85" name="Rectangle 93"/>
            <p:cNvSpPr>
              <a:spLocks noChangeArrowheads="1"/>
            </p:cNvSpPr>
            <p:nvPr/>
          </p:nvSpPr>
          <p:spPr bwMode="auto">
            <a:xfrm>
              <a:off x="3805" y="1456"/>
              <a:ext cx="302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86" name="Rectangle 94"/>
            <p:cNvSpPr>
              <a:spLocks noChangeArrowheads="1"/>
            </p:cNvSpPr>
            <p:nvPr/>
          </p:nvSpPr>
          <p:spPr bwMode="auto">
            <a:xfrm>
              <a:off x="4993" y="245"/>
              <a:ext cx="51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5041" y="1138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Rectangle 53"/>
            <p:cNvSpPr>
              <a:spLocks noChangeArrowheads="1"/>
            </p:cNvSpPr>
            <p:nvPr/>
          </p:nvSpPr>
          <p:spPr bwMode="auto">
            <a:xfrm>
              <a:off x="5129" y="1207"/>
              <a:ext cx="26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3" name="Group 95"/>
          <p:cNvGrpSpPr>
            <a:grpSpLocks/>
          </p:cNvGrpSpPr>
          <p:nvPr/>
        </p:nvGrpSpPr>
        <p:grpSpPr bwMode="auto">
          <a:xfrm>
            <a:off x="5524498" y="715963"/>
            <a:ext cx="3246122" cy="2963862"/>
            <a:chOff x="3074" y="195"/>
            <a:chExt cx="1826" cy="1867"/>
          </a:xfrm>
        </p:grpSpPr>
        <p:sp>
          <p:nvSpPr>
            <p:cNvPr id="94" name="Line 96"/>
            <p:cNvSpPr>
              <a:spLocks noChangeShapeType="1"/>
            </p:cNvSpPr>
            <p:nvPr/>
          </p:nvSpPr>
          <p:spPr bwMode="auto">
            <a:xfrm>
              <a:off x="3463" y="1947"/>
              <a:ext cx="6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Line 97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98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99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100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101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102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Line 103"/>
            <p:cNvSpPr>
              <a:spLocks noChangeShapeType="1"/>
            </p:cNvSpPr>
            <p:nvPr/>
          </p:nvSpPr>
          <p:spPr bwMode="auto">
            <a:xfrm>
              <a:off x="4138" y="221"/>
              <a:ext cx="5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Line 104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105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Rectangle 106"/>
            <p:cNvSpPr>
              <a:spLocks noChangeArrowheads="1"/>
            </p:cNvSpPr>
            <p:nvPr/>
          </p:nvSpPr>
          <p:spPr bwMode="auto">
            <a:xfrm>
              <a:off x="3074" y="1370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105" name="Oval 107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Line 108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Line 109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8" name="Rectangle 110"/>
            <p:cNvSpPr>
              <a:spLocks noChangeArrowheads="1"/>
            </p:cNvSpPr>
            <p:nvPr/>
          </p:nvSpPr>
          <p:spPr bwMode="auto">
            <a:xfrm>
              <a:off x="4093" y="1585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Rectangle 111"/>
            <p:cNvSpPr>
              <a:spLocks noChangeArrowheads="1"/>
            </p:cNvSpPr>
            <p:nvPr/>
          </p:nvSpPr>
          <p:spPr bwMode="auto">
            <a:xfrm>
              <a:off x="3818" y="392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0" name="Line 112"/>
            <p:cNvSpPr>
              <a:spLocks noChangeShapeType="1"/>
            </p:cNvSpPr>
            <p:nvPr/>
          </p:nvSpPr>
          <p:spPr bwMode="auto">
            <a:xfrm>
              <a:off x="4222" y="514"/>
              <a:ext cx="0" cy="29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1" name="Rectangle 113"/>
            <p:cNvSpPr>
              <a:spLocks noChangeArrowheads="1"/>
            </p:cNvSpPr>
            <p:nvPr/>
          </p:nvSpPr>
          <p:spPr bwMode="auto">
            <a:xfrm>
              <a:off x="4269" y="503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2" name="Line 114"/>
            <p:cNvSpPr>
              <a:spLocks noChangeShapeType="1"/>
            </p:cNvSpPr>
            <p:nvPr/>
          </p:nvSpPr>
          <p:spPr bwMode="auto">
            <a:xfrm>
              <a:off x="3662" y="1090"/>
              <a:ext cx="23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115"/>
            <p:cNvSpPr>
              <a:spLocks noChangeArrowheads="1"/>
            </p:cNvSpPr>
            <p:nvPr/>
          </p:nvSpPr>
          <p:spPr bwMode="auto">
            <a:xfrm>
              <a:off x="3619" y="725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4" name="Line 116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117"/>
            <p:cNvSpPr>
              <a:spLocks noChangeShapeType="1"/>
            </p:cNvSpPr>
            <p:nvPr/>
          </p:nvSpPr>
          <p:spPr bwMode="auto">
            <a:xfrm flipV="1">
              <a:off x="3459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Rectangle 118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Rectangle 119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Oval 120"/>
            <p:cNvSpPr>
              <a:spLocks noChangeArrowheads="1"/>
            </p:cNvSpPr>
            <p:nvPr/>
          </p:nvSpPr>
          <p:spPr bwMode="auto">
            <a:xfrm>
              <a:off x="4618" y="19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Oval 12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122"/>
            <p:cNvSpPr txBox="1">
              <a:spLocks noChangeArrowheads="1"/>
            </p:cNvSpPr>
            <p:nvPr/>
          </p:nvSpPr>
          <p:spPr bwMode="auto">
            <a:xfrm>
              <a:off x="4130" y="988"/>
              <a:ext cx="193" cy="24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21" name="Rectangle 123"/>
            <p:cNvSpPr>
              <a:spLocks noChangeArrowheads="1"/>
            </p:cNvSpPr>
            <p:nvPr/>
          </p:nvSpPr>
          <p:spPr bwMode="auto">
            <a:xfrm>
              <a:off x="3095" y="384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22" name="Rectangle 124"/>
            <p:cNvSpPr>
              <a:spLocks noChangeArrowheads="1"/>
            </p:cNvSpPr>
            <p:nvPr/>
          </p:nvSpPr>
          <p:spPr bwMode="auto">
            <a:xfrm>
              <a:off x="3794" y="1565"/>
              <a:ext cx="280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23" name="Rectangle 125"/>
            <p:cNvSpPr>
              <a:spLocks noChangeArrowheads="1"/>
            </p:cNvSpPr>
            <p:nvPr/>
          </p:nvSpPr>
          <p:spPr bwMode="auto">
            <a:xfrm>
              <a:off x="4420" y="238"/>
              <a:ext cx="48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24" name="Line 126"/>
            <p:cNvSpPr>
              <a:spLocks noChangeShapeType="1"/>
            </p:cNvSpPr>
            <p:nvPr/>
          </p:nvSpPr>
          <p:spPr bwMode="auto">
            <a:xfrm>
              <a:off x="4135" y="1338"/>
              <a:ext cx="0" cy="20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Rectangle 127"/>
            <p:cNvSpPr>
              <a:spLocks noChangeArrowheads="1"/>
            </p:cNvSpPr>
            <p:nvPr/>
          </p:nvSpPr>
          <p:spPr bwMode="auto">
            <a:xfrm>
              <a:off x="3089" y="948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6" name="Rectangle 128"/>
            <p:cNvSpPr>
              <a:spLocks noChangeArrowheads="1"/>
            </p:cNvSpPr>
            <p:nvPr/>
          </p:nvSpPr>
          <p:spPr bwMode="auto">
            <a:xfrm>
              <a:off x="4211" y="1238"/>
              <a:ext cx="23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27" name="Rectangle 129"/>
            <p:cNvSpPr>
              <a:spLocks noChangeArrowheads="1"/>
            </p:cNvSpPr>
            <p:nvPr/>
          </p:nvSpPr>
          <p:spPr bwMode="auto">
            <a:xfrm>
              <a:off x="4150" y="1407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8" name="Rectangle 130"/>
            <p:cNvSpPr>
              <a:spLocks noChangeArrowheads="1"/>
            </p:cNvSpPr>
            <p:nvPr/>
          </p:nvSpPr>
          <p:spPr bwMode="auto">
            <a:xfrm>
              <a:off x="4161" y="1753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129" name="Rectangle 131"/>
            <p:cNvSpPr>
              <a:spLocks noChangeArrowheads="1"/>
            </p:cNvSpPr>
            <p:nvPr/>
          </p:nvSpPr>
          <p:spPr bwMode="auto">
            <a:xfrm>
              <a:off x="4250" y="1591"/>
              <a:ext cx="30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0" name="Rectangle 132"/>
            <p:cNvSpPr>
              <a:spLocks noChangeArrowheads="1"/>
            </p:cNvSpPr>
            <p:nvPr/>
          </p:nvSpPr>
          <p:spPr bwMode="auto">
            <a:xfrm>
              <a:off x="3662" y="1232"/>
              <a:ext cx="37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31" name="Rectangle 133"/>
            <p:cNvSpPr>
              <a:spLocks noChangeArrowheads="1"/>
            </p:cNvSpPr>
            <p:nvPr/>
          </p:nvSpPr>
          <p:spPr bwMode="auto">
            <a:xfrm>
              <a:off x="3642" y="1062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2" name="Rectangle 134"/>
            <p:cNvSpPr>
              <a:spLocks noChangeArrowheads="1"/>
            </p:cNvSpPr>
            <p:nvPr/>
          </p:nvSpPr>
          <p:spPr bwMode="auto">
            <a:xfrm>
              <a:off x="3916" y="1364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</p:grpSp>
      <p:sp>
        <p:nvSpPr>
          <p:cNvPr id="133" name="Line 135"/>
          <p:cNvSpPr>
            <a:spLocks noChangeShapeType="1"/>
          </p:cNvSpPr>
          <p:nvPr/>
        </p:nvSpPr>
        <p:spPr bwMode="auto">
          <a:xfrm rot="5400000">
            <a:off x="6177757" y="978694"/>
            <a:ext cx="341312" cy="0"/>
          </a:xfrm>
          <a:prstGeom prst="line">
            <a:avLst/>
          </a:prstGeom>
          <a:noFill/>
          <a:ln w="3175">
            <a:solidFill>
              <a:srgbClr val="C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4" name="Rectangle 136"/>
          <p:cNvSpPr>
            <a:spLocks noChangeArrowheads="1"/>
          </p:cNvSpPr>
          <p:nvPr/>
        </p:nvSpPr>
        <p:spPr bwMode="auto">
          <a:xfrm>
            <a:off x="6391275" y="808038"/>
            <a:ext cx="389850" cy="46166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35" name="Text Box 18"/>
          <p:cNvSpPr txBox="1">
            <a:spLocks noChangeArrowheads="1"/>
          </p:cNvSpPr>
          <p:nvPr/>
        </p:nvSpPr>
        <p:spPr bwMode="auto">
          <a:xfrm>
            <a:off x="321809" y="130629"/>
            <a:ext cx="41354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3200" b="1" dirty="0" smtClean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3200" b="1" dirty="0">
                <a:solidFill>
                  <a:srgbClr val="00B05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分压式偏置电路</a:t>
            </a:r>
            <a:endParaRPr lang="zh-CN" altLang="en-US" sz="3200" dirty="0">
              <a:solidFill>
                <a:srgbClr val="00B05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0371" y="163286"/>
            <a:ext cx="4038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华文中宋" pitchFamily="2" charset="-122"/>
                <a:ea typeface="华文中宋" pitchFamily="2" charset="-122"/>
              </a:rPr>
              <a:t>静态工作点的估算</a:t>
            </a:r>
          </a:p>
        </p:txBody>
      </p: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327025" y="780809"/>
            <a:ext cx="4865195" cy="2870441"/>
            <a:chOff x="2560" y="197"/>
            <a:chExt cx="2950" cy="1865"/>
          </a:xfrm>
        </p:grpSpPr>
        <p:sp>
          <p:nvSpPr>
            <p:cNvPr id="4" name="Line 33"/>
            <p:cNvSpPr>
              <a:spLocks noChangeShapeType="1"/>
            </p:cNvSpPr>
            <p:nvPr/>
          </p:nvSpPr>
          <p:spPr bwMode="auto">
            <a:xfrm>
              <a:off x="2767" y="1947"/>
              <a:ext cx="2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Line 34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Line 35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36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Line 37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Line 38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39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Line 40"/>
            <p:cNvSpPr>
              <a:spLocks noChangeShapeType="1"/>
            </p:cNvSpPr>
            <p:nvPr/>
          </p:nvSpPr>
          <p:spPr bwMode="auto">
            <a:xfrm>
              <a:off x="4138" y="221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41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Rectangle 42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Rectangle 44"/>
            <p:cNvSpPr>
              <a:spLocks noChangeArrowheads="1"/>
            </p:cNvSpPr>
            <p:nvPr/>
          </p:nvSpPr>
          <p:spPr bwMode="auto">
            <a:xfrm>
              <a:off x="3060" y="1371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15" name="Line 45"/>
            <p:cNvSpPr>
              <a:spLocks noChangeShapeType="1"/>
            </p:cNvSpPr>
            <p:nvPr/>
          </p:nvSpPr>
          <p:spPr bwMode="auto">
            <a:xfrm>
              <a:off x="3160" y="1138"/>
              <a:ext cx="30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Oval 46"/>
            <p:cNvSpPr>
              <a:spLocks noChangeArrowheads="1"/>
            </p:cNvSpPr>
            <p:nvPr/>
          </p:nvSpPr>
          <p:spPr bwMode="auto">
            <a:xfrm>
              <a:off x="2726" y="111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Oval 47"/>
            <p:cNvSpPr>
              <a:spLocks noChangeArrowheads="1"/>
            </p:cNvSpPr>
            <p:nvPr/>
          </p:nvSpPr>
          <p:spPr bwMode="auto">
            <a:xfrm>
              <a:off x="2746" y="1931"/>
              <a:ext cx="41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Oval 48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Line 49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50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Rectangle 51"/>
            <p:cNvSpPr>
              <a:spLocks noChangeArrowheads="1"/>
            </p:cNvSpPr>
            <p:nvPr/>
          </p:nvSpPr>
          <p:spPr bwMode="auto">
            <a:xfrm>
              <a:off x="2589" y="1120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2" name="Rectangle 52"/>
            <p:cNvSpPr>
              <a:spLocks noChangeArrowheads="1"/>
            </p:cNvSpPr>
            <p:nvPr/>
          </p:nvSpPr>
          <p:spPr bwMode="auto">
            <a:xfrm>
              <a:off x="2560" y="1675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3" name="Rectangle 53"/>
            <p:cNvSpPr>
              <a:spLocks noChangeArrowheads="1"/>
            </p:cNvSpPr>
            <p:nvPr/>
          </p:nvSpPr>
          <p:spPr bwMode="auto">
            <a:xfrm>
              <a:off x="2621" y="1356"/>
              <a:ext cx="240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Rectangle 54"/>
            <p:cNvSpPr>
              <a:spLocks noChangeArrowheads="1"/>
            </p:cNvSpPr>
            <p:nvPr/>
          </p:nvSpPr>
          <p:spPr bwMode="auto">
            <a:xfrm>
              <a:off x="5081" y="728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5" name="Rectangle 55"/>
            <p:cNvSpPr>
              <a:spLocks noChangeArrowheads="1"/>
            </p:cNvSpPr>
            <p:nvPr/>
          </p:nvSpPr>
          <p:spPr bwMode="auto">
            <a:xfrm>
              <a:off x="5067" y="1656"/>
              <a:ext cx="253" cy="24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6" name="Rectangle 56"/>
            <p:cNvSpPr>
              <a:spLocks noChangeArrowheads="1"/>
            </p:cNvSpPr>
            <p:nvPr/>
          </p:nvSpPr>
          <p:spPr bwMode="auto">
            <a:xfrm>
              <a:off x="4093" y="1462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Rectangle 57"/>
            <p:cNvSpPr>
              <a:spLocks noChangeArrowheads="1"/>
            </p:cNvSpPr>
            <p:nvPr/>
          </p:nvSpPr>
          <p:spPr bwMode="auto">
            <a:xfrm>
              <a:off x="4776" y="1103"/>
              <a:ext cx="295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28" name="Rectangle 58"/>
            <p:cNvSpPr>
              <a:spLocks noChangeArrowheads="1"/>
            </p:cNvSpPr>
            <p:nvPr/>
          </p:nvSpPr>
          <p:spPr bwMode="auto">
            <a:xfrm>
              <a:off x="3807" y="393"/>
              <a:ext cx="308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9" name="Rectangle 59"/>
            <p:cNvSpPr>
              <a:spLocks noChangeArrowheads="1"/>
            </p:cNvSpPr>
            <p:nvPr/>
          </p:nvSpPr>
          <p:spPr bwMode="auto">
            <a:xfrm>
              <a:off x="4254" y="1035"/>
              <a:ext cx="112" cy="21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60"/>
            <p:cNvSpPr>
              <a:spLocks noChangeShapeType="1"/>
            </p:cNvSpPr>
            <p:nvPr/>
          </p:nvSpPr>
          <p:spPr bwMode="auto">
            <a:xfrm>
              <a:off x="4213" y="759"/>
              <a:ext cx="0" cy="165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Rectangle 61"/>
            <p:cNvSpPr>
              <a:spLocks noChangeArrowheads="1"/>
            </p:cNvSpPr>
            <p:nvPr/>
          </p:nvSpPr>
          <p:spPr bwMode="auto">
            <a:xfrm>
              <a:off x="4208" y="712"/>
              <a:ext cx="21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32" name="Line 62"/>
            <p:cNvSpPr>
              <a:spLocks noChangeShapeType="1"/>
            </p:cNvSpPr>
            <p:nvPr/>
          </p:nvSpPr>
          <p:spPr bwMode="auto">
            <a:xfrm>
              <a:off x="3662" y="1090"/>
              <a:ext cx="20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Rectangle 63"/>
            <p:cNvSpPr>
              <a:spLocks noChangeArrowheads="1"/>
            </p:cNvSpPr>
            <p:nvPr/>
          </p:nvSpPr>
          <p:spPr bwMode="auto">
            <a:xfrm>
              <a:off x="3621" y="754"/>
              <a:ext cx="226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64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65"/>
            <p:cNvSpPr>
              <a:spLocks noChangeShapeType="1"/>
            </p:cNvSpPr>
            <p:nvPr/>
          </p:nvSpPr>
          <p:spPr bwMode="auto">
            <a:xfrm flipV="1">
              <a:off x="3464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Rectangle 66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Rectangle 67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68"/>
            <p:cNvSpPr>
              <a:spLocks noChangeShapeType="1"/>
            </p:cNvSpPr>
            <p:nvPr/>
          </p:nvSpPr>
          <p:spPr bwMode="auto">
            <a:xfrm>
              <a:off x="4138" y="732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69"/>
            <p:cNvSpPr>
              <a:spLocks noChangeShapeType="1"/>
            </p:cNvSpPr>
            <p:nvPr/>
          </p:nvSpPr>
          <p:spPr bwMode="auto">
            <a:xfrm>
              <a:off x="4576" y="732"/>
              <a:ext cx="5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0" name="Group 70"/>
            <p:cNvGrpSpPr>
              <a:grpSpLocks/>
            </p:cNvGrpSpPr>
            <p:nvPr/>
          </p:nvGrpSpPr>
          <p:grpSpPr bwMode="auto">
            <a:xfrm>
              <a:off x="4456" y="623"/>
              <a:ext cx="108" cy="238"/>
              <a:chOff x="4456" y="623"/>
              <a:chExt cx="108" cy="238"/>
            </a:xfrm>
          </p:grpSpPr>
          <p:sp>
            <p:nvSpPr>
              <p:cNvPr id="64" name="Line 71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5" name="Line 72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41" name="Line 73"/>
            <p:cNvSpPr>
              <a:spLocks noChangeShapeType="1"/>
            </p:cNvSpPr>
            <p:nvPr/>
          </p:nvSpPr>
          <p:spPr bwMode="auto">
            <a:xfrm>
              <a:off x="4138" y="1403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74"/>
            <p:cNvSpPr>
              <a:spLocks noChangeShapeType="1"/>
            </p:cNvSpPr>
            <p:nvPr/>
          </p:nvSpPr>
          <p:spPr bwMode="auto">
            <a:xfrm>
              <a:off x="4456" y="1403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3" name="Group 75"/>
            <p:cNvGrpSpPr>
              <a:grpSpLocks/>
            </p:cNvGrpSpPr>
            <p:nvPr/>
          </p:nvGrpSpPr>
          <p:grpSpPr bwMode="auto">
            <a:xfrm>
              <a:off x="4356" y="1564"/>
              <a:ext cx="208" cy="70"/>
              <a:chOff x="4356" y="1544"/>
              <a:chExt cx="208" cy="70"/>
            </a:xfrm>
          </p:grpSpPr>
          <p:sp>
            <p:nvSpPr>
              <p:cNvPr id="62" name="Line 76"/>
              <p:cNvSpPr>
                <a:spLocks noChangeShapeType="1"/>
              </p:cNvSpPr>
              <p:nvPr/>
            </p:nvSpPr>
            <p:spPr bwMode="auto">
              <a:xfrm>
                <a:off x="4356" y="154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3" name="Line 77"/>
              <p:cNvSpPr>
                <a:spLocks noChangeShapeType="1"/>
              </p:cNvSpPr>
              <p:nvPr/>
            </p:nvSpPr>
            <p:spPr bwMode="auto">
              <a:xfrm>
                <a:off x="4356" y="161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44" name="Line 78"/>
            <p:cNvSpPr>
              <a:spLocks noChangeShapeType="1"/>
            </p:cNvSpPr>
            <p:nvPr/>
          </p:nvSpPr>
          <p:spPr bwMode="auto">
            <a:xfrm>
              <a:off x="4456" y="1647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79"/>
            <p:cNvSpPr>
              <a:spLocks noChangeShapeType="1"/>
            </p:cNvSpPr>
            <p:nvPr/>
          </p:nvSpPr>
          <p:spPr bwMode="auto">
            <a:xfrm>
              <a:off x="5086" y="732"/>
              <a:ext cx="0" cy="1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80"/>
            <p:cNvSpPr>
              <a:spLocks noChangeArrowheads="1"/>
            </p:cNvSpPr>
            <p:nvPr/>
          </p:nvSpPr>
          <p:spPr bwMode="auto">
            <a:xfrm>
              <a:off x="5045" y="197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Oval 8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Text Box 82"/>
            <p:cNvSpPr txBox="1">
              <a:spLocks noChangeArrowheads="1"/>
            </p:cNvSpPr>
            <p:nvPr/>
          </p:nvSpPr>
          <p:spPr bwMode="auto">
            <a:xfrm>
              <a:off x="4122" y="989"/>
              <a:ext cx="200" cy="24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49" name="Group 83"/>
            <p:cNvGrpSpPr>
              <a:grpSpLocks/>
            </p:cNvGrpSpPr>
            <p:nvPr/>
          </p:nvGrpSpPr>
          <p:grpSpPr bwMode="auto">
            <a:xfrm>
              <a:off x="3052" y="1025"/>
              <a:ext cx="108" cy="238"/>
              <a:chOff x="4456" y="623"/>
              <a:chExt cx="108" cy="238"/>
            </a:xfrm>
          </p:grpSpPr>
          <p:sp>
            <p:nvSpPr>
              <p:cNvPr id="60" name="Line 84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Line 85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0" name="Line 86"/>
            <p:cNvSpPr>
              <a:spLocks noChangeShapeType="1"/>
            </p:cNvSpPr>
            <p:nvPr/>
          </p:nvSpPr>
          <p:spPr bwMode="auto">
            <a:xfrm>
              <a:off x="2734" y="1140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Rectangle 87"/>
            <p:cNvSpPr>
              <a:spLocks noChangeArrowheads="1"/>
            </p:cNvSpPr>
            <p:nvPr/>
          </p:nvSpPr>
          <p:spPr bwMode="auto">
            <a:xfrm>
              <a:off x="4374" y="357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52" name="Rectangle 88"/>
            <p:cNvSpPr>
              <a:spLocks noChangeArrowheads="1"/>
            </p:cNvSpPr>
            <p:nvPr/>
          </p:nvSpPr>
          <p:spPr bwMode="auto">
            <a:xfrm>
              <a:off x="2921" y="748"/>
              <a:ext cx="299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3" name="Rectangle 89"/>
            <p:cNvSpPr>
              <a:spLocks noChangeArrowheads="1"/>
            </p:cNvSpPr>
            <p:nvPr/>
          </p:nvSpPr>
          <p:spPr bwMode="auto">
            <a:xfrm>
              <a:off x="3156" y="852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4" name="Rectangle 90"/>
            <p:cNvSpPr>
              <a:spLocks noChangeArrowheads="1"/>
            </p:cNvSpPr>
            <p:nvPr/>
          </p:nvSpPr>
          <p:spPr bwMode="auto">
            <a:xfrm>
              <a:off x="4259" y="489"/>
              <a:ext cx="224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5" name="Rectangle 91"/>
            <p:cNvSpPr>
              <a:spLocks noChangeArrowheads="1"/>
            </p:cNvSpPr>
            <p:nvPr/>
          </p:nvSpPr>
          <p:spPr bwMode="auto">
            <a:xfrm>
              <a:off x="3082" y="385"/>
              <a:ext cx="371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56" name="Rectangle 92"/>
            <p:cNvSpPr>
              <a:spLocks noChangeArrowheads="1"/>
            </p:cNvSpPr>
            <p:nvPr/>
          </p:nvSpPr>
          <p:spPr bwMode="auto">
            <a:xfrm>
              <a:off x="4518" y="1489"/>
              <a:ext cx="312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7" name="Rectangle 93"/>
            <p:cNvSpPr>
              <a:spLocks noChangeArrowheads="1"/>
            </p:cNvSpPr>
            <p:nvPr/>
          </p:nvSpPr>
          <p:spPr bwMode="auto">
            <a:xfrm>
              <a:off x="3805" y="1456"/>
              <a:ext cx="302" cy="3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8" name="Rectangle 94"/>
            <p:cNvSpPr>
              <a:spLocks noChangeArrowheads="1"/>
            </p:cNvSpPr>
            <p:nvPr/>
          </p:nvSpPr>
          <p:spPr bwMode="auto">
            <a:xfrm>
              <a:off x="4993" y="245"/>
              <a:ext cx="51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59" name="Rectangle 43"/>
            <p:cNvSpPr>
              <a:spLocks noChangeArrowheads="1"/>
            </p:cNvSpPr>
            <p:nvPr/>
          </p:nvSpPr>
          <p:spPr bwMode="auto">
            <a:xfrm>
              <a:off x="5041" y="1138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Rectangle 53"/>
            <p:cNvSpPr>
              <a:spLocks noChangeArrowheads="1"/>
            </p:cNvSpPr>
            <p:nvPr/>
          </p:nvSpPr>
          <p:spPr bwMode="auto">
            <a:xfrm>
              <a:off x="5142" y="1222"/>
              <a:ext cx="267" cy="3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6" name="Group 95"/>
          <p:cNvGrpSpPr>
            <a:grpSpLocks/>
          </p:cNvGrpSpPr>
          <p:nvPr/>
        </p:nvGrpSpPr>
        <p:grpSpPr bwMode="auto">
          <a:xfrm>
            <a:off x="5524498" y="715963"/>
            <a:ext cx="3246122" cy="2963862"/>
            <a:chOff x="3074" y="195"/>
            <a:chExt cx="1826" cy="1867"/>
          </a:xfrm>
        </p:grpSpPr>
        <p:sp>
          <p:nvSpPr>
            <p:cNvPr id="67" name="Line 96"/>
            <p:cNvSpPr>
              <a:spLocks noChangeShapeType="1"/>
            </p:cNvSpPr>
            <p:nvPr/>
          </p:nvSpPr>
          <p:spPr bwMode="auto">
            <a:xfrm>
              <a:off x="3463" y="1947"/>
              <a:ext cx="6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97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Line 98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99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100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101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102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Line 103"/>
            <p:cNvSpPr>
              <a:spLocks noChangeShapeType="1"/>
            </p:cNvSpPr>
            <p:nvPr/>
          </p:nvSpPr>
          <p:spPr bwMode="auto">
            <a:xfrm>
              <a:off x="4138" y="221"/>
              <a:ext cx="5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104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Rectangle 105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Rectangle 106"/>
            <p:cNvSpPr>
              <a:spLocks noChangeArrowheads="1"/>
            </p:cNvSpPr>
            <p:nvPr/>
          </p:nvSpPr>
          <p:spPr bwMode="auto">
            <a:xfrm>
              <a:off x="3074" y="1370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78" name="Oval 107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108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109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110"/>
            <p:cNvSpPr>
              <a:spLocks noChangeArrowheads="1"/>
            </p:cNvSpPr>
            <p:nvPr/>
          </p:nvSpPr>
          <p:spPr bwMode="auto">
            <a:xfrm>
              <a:off x="4093" y="1585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Rectangle 111"/>
            <p:cNvSpPr>
              <a:spLocks noChangeArrowheads="1"/>
            </p:cNvSpPr>
            <p:nvPr/>
          </p:nvSpPr>
          <p:spPr bwMode="auto">
            <a:xfrm>
              <a:off x="3818" y="392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83" name="Line 112"/>
            <p:cNvSpPr>
              <a:spLocks noChangeShapeType="1"/>
            </p:cNvSpPr>
            <p:nvPr/>
          </p:nvSpPr>
          <p:spPr bwMode="auto">
            <a:xfrm>
              <a:off x="4222" y="514"/>
              <a:ext cx="0" cy="29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Rectangle 113"/>
            <p:cNvSpPr>
              <a:spLocks noChangeArrowheads="1"/>
            </p:cNvSpPr>
            <p:nvPr/>
          </p:nvSpPr>
          <p:spPr bwMode="auto">
            <a:xfrm>
              <a:off x="4269" y="503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85" name="Line 114"/>
            <p:cNvSpPr>
              <a:spLocks noChangeShapeType="1"/>
            </p:cNvSpPr>
            <p:nvPr/>
          </p:nvSpPr>
          <p:spPr bwMode="auto">
            <a:xfrm>
              <a:off x="3662" y="1090"/>
              <a:ext cx="23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Rectangle 115"/>
            <p:cNvSpPr>
              <a:spLocks noChangeArrowheads="1"/>
            </p:cNvSpPr>
            <p:nvPr/>
          </p:nvSpPr>
          <p:spPr bwMode="auto">
            <a:xfrm>
              <a:off x="3619" y="725"/>
              <a:ext cx="23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7" name="Line 116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117"/>
            <p:cNvSpPr>
              <a:spLocks noChangeShapeType="1"/>
            </p:cNvSpPr>
            <p:nvPr/>
          </p:nvSpPr>
          <p:spPr bwMode="auto">
            <a:xfrm flipV="1">
              <a:off x="3459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Rectangle 118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Rectangle 119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Oval 120"/>
            <p:cNvSpPr>
              <a:spLocks noChangeArrowheads="1"/>
            </p:cNvSpPr>
            <p:nvPr/>
          </p:nvSpPr>
          <p:spPr bwMode="auto">
            <a:xfrm>
              <a:off x="4618" y="19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Oval 12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Text Box 122"/>
            <p:cNvSpPr txBox="1">
              <a:spLocks noChangeArrowheads="1"/>
            </p:cNvSpPr>
            <p:nvPr/>
          </p:nvSpPr>
          <p:spPr bwMode="auto">
            <a:xfrm>
              <a:off x="4130" y="988"/>
              <a:ext cx="193" cy="24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94" name="Rectangle 123"/>
            <p:cNvSpPr>
              <a:spLocks noChangeArrowheads="1"/>
            </p:cNvSpPr>
            <p:nvPr/>
          </p:nvSpPr>
          <p:spPr bwMode="auto">
            <a:xfrm>
              <a:off x="3095" y="384"/>
              <a:ext cx="344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95" name="Rectangle 124"/>
            <p:cNvSpPr>
              <a:spLocks noChangeArrowheads="1"/>
            </p:cNvSpPr>
            <p:nvPr/>
          </p:nvSpPr>
          <p:spPr bwMode="auto">
            <a:xfrm>
              <a:off x="3794" y="1565"/>
              <a:ext cx="280" cy="29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6" name="Rectangle 125"/>
            <p:cNvSpPr>
              <a:spLocks noChangeArrowheads="1"/>
            </p:cNvSpPr>
            <p:nvPr/>
          </p:nvSpPr>
          <p:spPr bwMode="auto">
            <a:xfrm>
              <a:off x="4420" y="238"/>
              <a:ext cx="48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97" name="Line 126"/>
            <p:cNvSpPr>
              <a:spLocks noChangeShapeType="1"/>
            </p:cNvSpPr>
            <p:nvPr/>
          </p:nvSpPr>
          <p:spPr bwMode="auto">
            <a:xfrm>
              <a:off x="4135" y="1338"/>
              <a:ext cx="0" cy="20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127"/>
            <p:cNvSpPr>
              <a:spLocks noChangeArrowheads="1"/>
            </p:cNvSpPr>
            <p:nvPr/>
          </p:nvSpPr>
          <p:spPr bwMode="auto">
            <a:xfrm>
              <a:off x="3089" y="948"/>
              <a:ext cx="28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9" name="Rectangle 128"/>
            <p:cNvSpPr>
              <a:spLocks noChangeArrowheads="1"/>
            </p:cNvSpPr>
            <p:nvPr/>
          </p:nvSpPr>
          <p:spPr bwMode="auto">
            <a:xfrm>
              <a:off x="4211" y="1238"/>
              <a:ext cx="23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00" name="Rectangle 129"/>
            <p:cNvSpPr>
              <a:spLocks noChangeArrowheads="1"/>
            </p:cNvSpPr>
            <p:nvPr/>
          </p:nvSpPr>
          <p:spPr bwMode="auto">
            <a:xfrm>
              <a:off x="4150" y="1407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1" name="Rectangle 130"/>
            <p:cNvSpPr>
              <a:spLocks noChangeArrowheads="1"/>
            </p:cNvSpPr>
            <p:nvPr/>
          </p:nvSpPr>
          <p:spPr bwMode="auto">
            <a:xfrm>
              <a:off x="4161" y="1753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  <p:sp>
          <p:nvSpPr>
            <p:cNvPr id="102" name="Rectangle 131"/>
            <p:cNvSpPr>
              <a:spLocks noChangeArrowheads="1"/>
            </p:cNvSpPr>
            <p:nvPr/>
          </p:nvSpPr>
          <p:spPr bwMode="auto">
            <a:xfrm>
              <a:off x="4250" y="1591"/>
              <a:ext cx="30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03" name="Rectangle 132"/>
            <p:cNvSpPr>
              <a:spLocks noChangeArrowheads="1"/>
            </p:cNvSpPr>
            <p:nvPr/>
          </p:nvSpPr>
          <p:spPr bwMode="auto">
            <a:xfrm>
              <a:off x="3662" y="1232"/>
              <a:ext cx="37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104" name="Rectangle 133"/>
            <p:cNvSpPr>
              <a:spLocks noChangeArrowheads="1"/>
            </p:cNvSpPr>
            <p:nvPr/>
          </p:nvSpPr>
          <p:spPr bwMode="auto">
            <a:xfrm>
              <a:off x="3642" y="1062"/>
              <a:ext cx="208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5" name="Rectangle 134"/>
            <p:cNvSpPr>
              <a:spLocks noChangeArrowheads="1"/>
            </p:cNvSpPr>
            <p:nvPr/>
          </p:nvSpPr>
          <p:spPr bwMode="auto">
            <a:xfrm>
              <a:off x="3916" y="1364"/>
              <a:ext cx="19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_</a:t>
              </a:r>
            </a:p>
          </p:txBody>
        </p:sp>
      </p:grpSp>
      <p:sp>
        <p:nvSpPr>
          <p:cNvPr id="106" name="AutoShape 3"/>
          <p:cNvSpPr>
            <a:spLocks/>
          </p:cNvSpPr>
          <p:nvPr/>
        </p:nvSpPr>
        <p:spPr bwMode="auto">
          <a:xfrm>
            <a:off x="674913" y="3964214"/>
            <a:ext cx="239487" cy="803729"/>
          </a:xfrm>
          <a:prstGeom prst="leftBrace">
            <a:avLst>
              <a:gd name="adj1" fmla="val 28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zh-CN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7" name="Group 4"/>
          <p:cNvGrpSpPr>
            <a:grpSpLocks/>
          </p:cNvGrpSpPr>
          <p:nvPr/>
        </p:nvGrpSpPr>
        <p:grpSpPr bwMode="auto">
          <a:xfrm>
            <a:off x="871537" y="3558494"/>
            <a:ext cx="3200400" cy="896938"/>
            <a:chOff x="693" y="542"/>
            <a:chExt cx="2016" cy="565"/>
          </a:xfrm>
        </p:grpSpPr>
        <p:sp>
          <p:nvSpPr>
            <p:cNvPr id="108" name="Text Box 5"/>
            <p:cNvSpPr txBox="1">
              <a:spLocks noChangeArrowheads="1"/>
            </p:cNvSpPr>
            <p:nvPr/>
          </p:nvSpPr>
          <p:spPr bwMode="auto">
            <a:xfrm>
              <a:off x="693" y="679"/>
              <a:ext cx="20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————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09" name="Text Box 6"/>
            <p:cNvSpPr txBox="1">
              <a:spLocks noChangeArrowheads="1"/>
            </p:cNvSpPr>
            <p:nvPr/>
          </p:nvSpPr>
          <p:spPr bwMode="auto">
            <a:xfrm>
              <a:off x="1200" y="816"/>
              <a:ext cx="127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+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110" name="Text Box 7"/>
            <p:cNvSpPr txBox="1">
              <a:spLocks noChangeArrowheads="1"/>
            </p:cNvSpPr>
            <p:nvPr/>
          </p:nvSpPr>
          <p:spPr bwMode="auto">
            <a:xfrm>
              <a:off x="1432" y="542"/>
              <a:ext cx="52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</p:grpSp>
      <p:grpSp>
        <p:nvGrpSpPr>
          <p:cNvPr id="111" name="Group 8"/>
          <p:cNvGrpSpPr>
            <a:grpSpLocks/>
          </p:cNvGrpSpPr>
          <p:nvPr/>
        </p:nvGrpSpPr>
        <p:grpSpPr bwMode="auto">
          <a:xfrm>
            <a:off x="5465308" y="3690711"/>
            <a:ext cx="3265488" cy="890588"/>
            <a:chOff x="480" y="1097"/>
            <a:chExt cx="2057" cy="561"/>
          </a:xfrm>
        </p:grpSpPr>
        <p:sp>
          <p:nvSpPr>
            <p:cNvPr id="112" name="Text Box 9"/>
            <p:cNvSpPr txBox="1">
              <a:spLocks noChangeArrowheads="1"/>
            </p:cNvSpPr>
            <p:nvPr/>
          </p:nvSpPr>
          <p:spPr bwMode="auto">
            <a:xfrm>
              <a:off x="1255" y="1097"/>
              <a:ext cx="113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grpSp>
          <p:nvGrpSpPr>
            <p:cNvPr id="113" name="Group 10"/>
            <p:cNvGrpSpPr>
              <a:grpSpLocks/>
            </p:cNvGrpSpPr>
            <p:nvPr/>
          </p:nvGrpSpPr>
          <p:grpSpPr bwMode="auto">
            <a:xfrm>
              <a:off x="480" y="1200"/>
              <a:ext cx="2057" cy="458"/>
              <a:chOff x="480" y="1200"/>
              <a:chExt cx="2057" cy="458"/>
            </a:xfrm>
          </p:grpSpPr>
          <p:sp>
            <p:nvSpPr>
              <p:cNvPr id="114" name="Text Box 11"/>
              <p:cNvSpPr txBox="1">
                <a:spLocks noChangeArrowheads="1"/>
              </p:cNvSpPr>
              <p:nvPr/>
            </p:nvSpPr>
            <p:spPr bwMode="auto">
              <a:xfrm>
                <a:off x="480" y="1200"/>
                <a:ext cx="205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 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≈</a:t>
                </a: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 </a:t>
                </a:r>
                <a:r>
                  <a:rPr lang="en-US" altLang="zh-CN" sz="24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—————</a:t>
                </a:r>
                <a:endPara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5" name="Rectangle 12"/>
              <p:cNvSpPr>
                <a:spLocks noChangeArrowheads="1"/>
              </p:cNvSpPr>
              <p:nvPr/>
            </p:nvSpPr>
            <p:spPr bwMode="auto">
              <a:xfrm>
                <a:off x="1570" y="1367"/>
                <a:ext cx="3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</p:grpSp>
      </p:grpSp>
      <p:sp>
        <p:nvSpPr>
          <p:cNvPr id="116" name="Rectangle 13"/>
          <p:cNvSpPr>
            <a:spLocks noChangeArrowheads="1"/>
          </p:cNvSpPr>
          <p:nvPr/>
        </p:nvSpPr>
        <p:spPr bwMode="auto">
          <a:xfrm>
            <a:off x="914399" y="4464957"/>
            <a:ext cx="45180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≈ </a:t>
            </a: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zh-CN" altLang="en-US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</a:t>
            </a: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 </a:t>
            </a: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4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R</a:t>
            </a:r>
            <a:r>
              <a:rPr lang="en-US" altLang="zh-CN" sz="24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endParaRPr lang="en-US" altLang="zh-CN" sz="24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7" name="Group 14"/>
          <p:cNvGrpSpPr>
            <a:grpSpLocks/>
          </p:cNvGrpSpPr>
          <p:nvPr/>
        </p:nvGrpSpPr>
        <p:grpSpPr bwMode="auto">
          <a:xfrm>
            <a:off x="5456690" y="4300537"/>
            <a:ext cx="2133600" cy="842963"/>
            <a:chOff x="528" y="1920"/>
            <a:chExt cx="1344" cy="531"/>
          </a:xfrm>
        </p:grpSpPr>
        <p:sp>
          <p:nvSpPr>
            <p:cNvPr id="118" name="Rectangle 15"/>
            <p:cNvSpPr>
              <a:spLocks noChangeArrowheads="1"/>
            </p:cNvSpPr>
            <p:nvPr/>
          </p:nvSpPr>
          <p:spPr bwMode="auto">
            <a:xfrm>
              <a:off x="528" y="2025"/>
              <a:ext cx="134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 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 —— </a:t>
              </a:r>
            </a:p>
          </p:txBody>
        </p:sp>
        <p:sp>
          <p:nvSpPr>
            <p:cNvPr id="119" name="Rectangle 16"/>
            <p:cNvSpPr>
              <a:spLocks noChangeArrowheads="1"/>
            </p:cNvSpPr>
            <p:nvPr/>
          </p:nvSpPr>
          <p:spPr bwMode="auto">
            <a:xfrm>
              <a:off x="1056" y="2160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</a:p>
          </p:txBody>
        </p:sp>
        <p:sp>
          <p:nvSpPr>
            <p:cNvPr id="120" name="Rectangle 17"/>
            <p:cNvSpPr>
              <a:spLocks noChangeArrowheads="1"/>
            </p:cNvSpPr>
            <p:nvPr/>
          </p:nvSpPr>
          <p:spPr bwMode="auto">
            <a:xfrm>
              <a:off x="1012" y="1920"/>
              <a:ext cx="26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121" name="AutoShape 19"/>
          <p:cNvSpPr>
            <a:spLocks/>
          </p:cNvSpPr>
          <p:nvPr/>
        </p:nvSpPr>
        <p:spPr bwMode="auto">
          <a:xfrm>
            <a:off x="5182050" y="4010705"/>
            <a:ext cx="249919" cy="785360"/>
          </a:xfrm>
          <a:prstGeom prst="leftBrace">
            <a:avLst>
              <a:gd name="adj1" fmla="val 41506"/>
              <a:gd name="adj2" fmla="val 52083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4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06" grpId="0" animBg="1" autoUpdateAnimBg="0"/>
      <p:bldP spid="116" grpId="0" autoUpdateAnimBg="0"/>
      <p:bldP spid="1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21141" y="413431"/>
            <a:ext cx="5250316" cy="1082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例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已知 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20V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=5.1kΩ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i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</a:t>
            </a:r>
            <a:r>
              <a:rPr lang="en-US" altLang="zh-CN" sz="2800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5.1kΩ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80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。试求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8849" y="1713820"/>
            <a:ext cx="4647066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放大电路的电压放大倍数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和输出电阻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endParaRPr lang="en-US" altLang="zh-CN" sz="2800" b="1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如果无旁路电容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，求电压放大倍数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和输出电阻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82" name="Group 32"/>
          <p:cNvGrpSpPr>
            <a:grpSpLocks/>
          </p:cNvGrpSpPr>
          <p:nvPr/>
        </p:nvGrpSpPr>
        <p:grpSpPr bwMode="auto">
          <a:xfrm>
            <a:off x="4865914" y="892086"/>
            <a:ext cx="4168989" cy="2870441"/>
            <a:chOff x="2560" y="197"/>
            <a:chExt cx="2857" cy="1865"/>
          </a:xfrm>
        </p:grpSpPr>
        <p:sp>
          <p:nvSpPr>
            <p:cNvPr id="83" name="Line 33"/>
            <p:cNvSpPr>
              <a:spLocks noChangeShapeType="1"/>
            </p:cNvSpPr>
            <p:nvPr/>
          </p:nvSpPr>
          <p:spPr bwMode="auto">
            <a:xfrm>
              <a:off x="2767" y="1947"/>
              <a:ext cx="2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34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35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36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37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38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39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40"/>
            <p:cNvSpPr>
              <a:spLocks noChangeShapeType="1"/>
            </p:cNvSpPr>
            <p:nvPr/>
          </p:nvSpPr>
          <p:spPr bwMode="auto">
            <a:xfrm>
              <a:off x="4138" y="221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41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Rectangle 42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Rectangle 44"/>
            <p:cNvSpPr>
              <a:spLocks noChangeArrowheads="1"/>
            </p:cNvSpPr>
            <p:nvPr/>
          </p:nvSpPr>
          <p:spPr bwMode="auto">
            <a:xfrm>
              <a:off x="3060" y="1371"/>
              <a:ext cx="36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94" name="Line 45"/>
            <p:cNvSpPr>
              <a:spLocks noChangeShapeType="1"/>
            </p:cNvSpPr>
            <p:nvPr/>
          </p:nvSpPr>
          <p:spPr bwMode="auto">
            <a:xfrm>
              <a:off x="3160" y="1138"/>
              <a:ext cx="30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Oval 46"/>
            <p:cNvSpPr>
              <a:spLocks noChangeArrowheads="1"/>
            </p:cNvSpPr>
            <p:nvPr/>
          </p:nvSpPr>
          <p:spPr bwMode="auto">
            <a:xfrm>
              <a:off x="2726" y="111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Oval 47"/>
            <p:cNvSpPr>
              <a:spLocks noChangeArrowheads="1"/>
            </p:cNvSpPr>
            <p:nvPr/>
          </p:nvSpPr>
          <p:spPr bwMode="auto">
            <a:xfrm>
              <a:off x="2746" y="1931"/>
              <a:ext cx="41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Oval 48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49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50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Rectangle 51"/>
            <p:cNvSpPr>
              <a:spLocks noChangeArrowheads="1"/>
            </p:cNvSpPr>
            <p:nvPr/>
          </p:nvSpPr>
          <p:spPr bwMode="auto">
            <a:xfrm>
              <a:off x="2589" y="1120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1" name="Rectangle 52"/>
            <p:cNvSpPr>
              <a:spLocks noChangeArrowheads="1"/>
            </p:cNvSpPr>
            <p:nvPr/>
          </p:nvSpPr>
          <p:spPr bwMode="auto">
            <a:xfrm>
              <a:off x="2560" y="1675"/>
              <a:ext cx="295" cy="26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02" name="Rectangle 53"/>
            <p:cNvSpPr>
              <a:spLocks noChangeArrowheads="1"/>
            </p:cNvSpPr>
            <p:nvPr/>
          </p:nvSpPr>
          <p:spPr bwMode="auto">
            <a:xfrm>
              <a:off x="2621" y="1356"/>
              <a:ext cx="242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0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54"/>
            <p:cNvSpPr>
              <a:spLocks noChangeArrowheads="1"/>
            </p:cNvSpPr>
            <p:nvPr/>
          </p:nvSpPr>
          <p:spPr bwMode="auto">
            <a:xfrm>
              <a:off x="5081" y="728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4" name="Rectangle 55"/>
            <p:cNvSpPr>
              <a:spLocks noChangeArrowheads="1"/>
            </p:cNvSpPr>
            <p:nvPr/>
          </p:nvSpPr>
          <p:spPr bwMode="auto">
            <a:xfrm>
              <a:off x="5067" y="1656"/>
              <a:ext cx="295" cy="26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05" name="Rectangle 56"/>
            <p:cNvSpPr>
              <a:spLocks noChangeArrowheads="1"/>
            </p:cNvSpPr>
            <p:nvPr/>
          </p:nvSpPr>
          <p:spPr bwMode="auto">
            <a:xfrm>
              <a:off x="4093" y="1462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Rectangle 57"/>
            <p:cNvSpPr>
              <a:spLocks noChangeArrowheads="1"/>
            </p:cNvSpPr>
            <p:nvPr/>
          </p:nvSpPr>
          <p:spPr bwMode="auto">
            <a:xfrm>
              <a:off x="4776" y="1103"/>
              <a:ext cx="29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7" name="Rectangle 58"/>
            <p:cNvSpPr>
              <a:spLocks noChangeArrowheads="1"/>
            </p:cNvSpPr>
            <p:nvPr/>
          </p:nvSpPr>
          <p:spPr bwMode="auto">
            <a:xfrm>
              <a:off x="3807" y="393"/>
              <a:ext cx="30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8" name="Rectangle 59"/>
            <p:cNvSpPr>
              <a:spLocks noChangeArrowheads="1"/>
            </p:cNvSpPr>
            <p:nvPr/>
          </p:nvSpPr>
          <p:spPr bwMode="auto">
            <a:xfrm>
              <a:off x="4254" y="1035"/>
              <a:ext cx="124" cy="19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sz="20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60"/>
            <p:cNvSpPr>
              <a:spLocks noChangeShapeType="1"/>
            </p:cNvSpPr>
            <p:nvPr/>
          </p:nvSpPr>
          <p:spPr bwMode="auto">
            <a:xfrm>
              <a:off x="4213" y="759"/>
              <a:ext cx="0" cy="165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0" name="Rectangle 61"/>
            <p:cNvSpPr>
              <a:spLocks noChangeArrowheads="1"/>
            </p:cNvSpPr>
            <p:nvPr/>
          </p:nvSpPr>
          <p:spPr bwMode="auto">
            <a:xfrm>
              <a:off x="4208" y="712"/>
              <a:ext cx="222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11" name="Line 62"/>
            <p:cNvSpPr>
              <a:spLocks noChangeShapeType="1"/>
            </p:cNvSpPr>
            <p:nvPr/>
          </p:nvSpPr>
          <p:spPr bwMode="auto">
            <a:xfrm>
              <a:off x="3662" y="1090"/>
              <a:ext cx="20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2" name="Rectangle 63"/>
            <p:cNvSpPr>
              <a:spLocks noChangeArrowheads="1"/>
            </p:cNvSpPr>
            <p:nvPr/>
          </p:nvSpPr>
          <p:spPr bwMode="auto">
            <a:xfrm>
              <a:off x="3621" y="754"/>
              <a:ext cx="229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Line 64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Line 65"/>
            <p:cNvSpPr>
              <a:spLocks noChangeShapeType="1"/>
            </p:cNvSpPr>
            <p:nvPr/>
          </p:nvSpPr>
          <p:spPr bwMode="auto">
            <a:xfrm flipV="1">
              <a:off x="3464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Rectangle 66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Rectangle 67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Line 68"/>
            <p:cNvSpPr>
              <a:spLocks noChangeShapeType="1"/>
            </p:cNvSpPr>
            <p:nvPr/>
          </p:nvSpPr>
          <p:spPr bwMode="auto">
            <a:xfrm>
              <a:off x="4138" y="732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Line 69"/>
            <p:cNvSpPr>
              <a:spLocks noChangeShapeType="1"/>
            </p:cNvSpPr>
            <p:nvPr/>
          </p:nvSpPr>
          <p:spPr bwMode="auto">
            <a:xfrm>
              <a:off x="4576" y="732"/>
              <a:ext cx="5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9" name="Group 70"/>
            <p:cNvGrpSpPr>
              <a:grpSpLocks/>
            </p:cNvGrpSpPr>
            <p:nvPr/>
          </p:nvGrpSpPr>
          <p:grpSpPr bwMode="auto">
            <a:xfrm>
              <a:off x="4456" y="623"/>
              <a:ext cx="108" cy="238"/>
              <a:chOff x="4456" y="623"/>
              <a:chExt cx="108" cy="238"/>
            </a:xfrm>
          </p:grpSpPr>
          <p:sp>
            <p:nvSpPr>
              <p:cNvPr id="143" name="Line 71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4" name="Line 72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20" name="Line 73"/>
            <p:cNvSpPr>
              <a:spLocks noChangeShapeType="1"/>
            </p:cNvSpPr>
            <p:nvPr/>
          </p:nvSpPr>
          <p:spPr bwMode="auto">
            <a:xfrm>
              <a:off x="4138" y="1403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Line 74"/>
            <p:cNvSpPr>
              <a:spLocks noChangeShapeType="1"/>
            </p:cNvSpPr>
            <p:nvPr/>
          </p:nvSpPr>
          <p:spPr bwMode="auto">
            <a:xfrm>
              <a:off x="4456" y="1403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22" name="Group 75"/>
            <p:cNvGrpSpPr>
              <a:grpSpLocks/>
            </p:cNvGrpSpPr>
            <p:nvPr/>
          </p:nvGrpSpPr>
          <p:grpSpPr bwMode="auto">
            <a:xfrm>
              <a:off x="4356" y="1564"/>
              <a:ext cx="208" cy="70"/>
              <a:chOff x="4356" y="1544"/>
              <a:chExt cx="208" cy="70"/>
            </a:xfrm>
          </p:grpSpPr>
          <p:sp>
            <p:nvSpPr>
              <p:cNvPr id="141" name="Line 76"/>
              <p:cNvSpPr>
                <a:spLocks noChangeShapeType="1"/>
              </p:cNvSpPr>
              <p:nvPr/>
            </p:nvSpPr>
            <p:spPr bwMode="auto">
              <a:xfrm>
                <a:off x="4356" y="154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2" name="Line 77"/>
              <p:cNvSpPr>
                <a:spLocks noChangeShapeType="1"/>
              </p:cNvSpPr>
              <p:nvPr/>
            </p:nvSpPr>
            <p:spPr bwMode="auto">
              <a:xfrm>
                <a:off x="4356" y="161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23" name="Line 78"/>
            <p:cNvSpPr>
              <a:spLocks noChangeShapeType="1"/>
            </p:cNvSpPr>
            <p:nvPr/>
          </p:nvSpPr>
          <p:spPr bwMode="auto">
            <a:xfrm>
              <a:off x="4456" y="1647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Line 79"/>
            <p:cNvSpPr>
              <a:spLocks noChangeShapeType="1"/>
            </p:cNvSpPr>
            <p:nvPr/>
          </p:nvSpPr>
          <p:spPr bwMode="auto">
            <a:xfrm>
              <a:off x="5086" y="732"/>
              <a:ext cx="0" cy="1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Oval 80"/>
            <p:cNvSpPr>
              <a:spLocks noChangeArrowheads="1"/>
            </p:cNvSpPr>
            <p:nvPr/>
          </p:nvSpPr>
          <p:spPr bwMode="auto">
            <a:xfrm>
              <a:off x="5045" y="197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Oval 8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Text Box 82"/>
            <p:cNvSpPr txBox="1">
              <a:spLocks noChangeArrowheads="1"/>
            </p:cNvSpPr>
            <p:nvPr/>
          </p:nvSpPr>
          <p:spPr bwMode="auto">
            <a:xfrm>
              <a:off x="4122" y="989"/>
              <a:ext cx="193" cy="19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128" name="Group 83"/>
            <p:cNvGrpSpPr>
              <a:grpSpLocks/>
            </p:cNvGrpSpPr>
            <p:nvPr/>
          </p:nvGrpSpPr>
          <p:grpSpPr bwMode="auto">
            <a:xfrm>
              <a:off x="3052" y="1025"/>
              <a:ext cx="108" cy="238"/>
              <a:chOff x="4456" y="623"/>
              <a:chExt cx="108" cy="238"/>
            </a:xfrm>
          </p:grpSpPr>
          <p:sp>
            <p:nvSpPr>
              <p:cNvPr id="139" name="Line 84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0" name="Line 85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29" name="Line 86"/>
            <p:cNvSpPr>
              <a:spLocks noChangeShapeType="1"/>
            </p:cNvSpPr>
            <p:nvPr/>
          </p:nvSpPr>
          <p:spPr bwMode="auto">
            <a:xfrm>
              <a:off x="2734" y="1140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Rectangle 87"/>
            <p:cNvSpPr>
              <a:spLocks noChangeArrowheads="1"/>
            </p:cNvSpPr>
            <p:nvPr/>
          </p:nvSpPr>
          <p:spPr bwMode="auto">
            <a:xfrm>
              <a:off x="4374" y="357"/>
              <a:ext cx="29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31" name="Rectangle 88"/>
            <p:cNvSpPr>
              <a:spLocks noChangeArrowheads="1"/>
            </p:cNvSpPr>
            <p:nvPr/>
          </p:nvSpPr>
          <p:spPr bwMode="auto">
            <a:xfrm>
              <a:off x="2921" y="748"/>
              <a:ext cx="29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32" name="Rectangle 89"/>
            <p:cNvSpPr>
              <a:spLocks noChangeArrowheads="1"/>
            </p:cNvSpPr>
            <p:nvPr/>
          </p:nvSpPr>
          <p:spPr bwMode="auto">
            <a:xfrm>
              <a:off x="3156" y="852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3" name="Rectangle 90"/>
            <p:cNvSpPr>
              <a:spLocks noChangeArrowheads="1"/>
            </p:cNvSpPr>
            <p:nvPr/>
          </p:nvSpPr>
          <p:spPr bwMode="auto">
            <a:xfrm>
              <a:off x="4259" y="489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34" name="Rectangle 91"/>
            <p:cNvSpPr>
              <a:spLocks noChangeArrowheads="1"/>
            </p:cNvSpPr>
            <p:nvPr/>
          </p:nvSpPr>
          <p:spPr bwMode="auto">
            <a:xfrm>
              <a:off x="3082" y="321"/>
              <a:ext cx="36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35" name="Rectangle 92"/>
            <p:cNvSpPr>
              <a:spLocks noChangeArrowheads="1"/>
            </p:cNvSpPr>
            <p:nvPr/>
          </p:nvSpPr>
          <p:spPr bwMode="auto">
            <a:xfrm>
              <a:off x="4518" y="1489"/>
              <a:ext cx="308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6" name="Rectangle 93"/>
            <p:cNvSpPr>
              <a:spLocks noChangeArrowheads="1"/>
            </p:cNvSpPr>
            <p:nvPr/>
          </p:nvSpPr>
          <p:spPr bwMode="auto">
            <a:xfrm>
              <a:off x="3805" y="1456"/>
              <a:ext cx="298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7" name="Rectangle 94"/>
            <p:cNvSpPr>
              <a:spLocks noChangeArrowheads="1"/>
            </p:cNvSpPr>
            <p:nvPr/>
          </p:nvSpPr>
          <p:spPr bwMode="auto">
            <a:xfrm>
              <a:off x="4872" y="245"/>
              <a:ext cx="497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38" name="Rectangle 43"/>
            <p:cNvSpPr>
              <a:spLocks noChangeArrowheads="1"/>
            </p:cNvSpPr>
            <p:nvPr/>
          </p:nvSpPr>
          <p:spPr bwMode="auto">
            <a:xfrm>
              <a:off x="5041" y="1138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Rectangle 53"/>
            <p:cNvSpPr>
              <a:spLocks noChangeArrowheads="1"/>
            </p:cNvSpPr>
            <p:nvPr/>
          </p:nvSpPr>
          <p:spPr bwMode="auto">
            <a:xfrm>
              <a:off x="5151" y="1151"/>
              <a:ext cx="266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Rectangle 91"/>
            <p:cNvSpPr>
              <a:spLocks noChangeArrowheads="1"/>
            </p:cNvSpPr>
            <p:nvPr/>
          </p:nvSpPr>
          <p:spPr bwMode="auto">
            <a:xfrm>
              <a:off x="2880" y="555"/>
              <a:ext cx="560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100kΩ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Rectangle 91"/>
            <p:cNvSpPr>
              <a:spLocks noChangeArrowheads="1"/>
            </p:cNvSpPr>
            <p:nvPr/>
          </p:nvSpPr>
          <p:spPr bwMode="auto">
            <a:xfrm>
              <a:off x="2993" y="1616"/>
              <a:ext cx="481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30kΩ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Rectangle 91"/>
            <p:cNvSpPr>
              <a:spLocks noChangeArrowheads="1"/>
            </p:cNvSpPr>
            <p:nvPr/>
          </p:nvSpPr>
          <p:spPr bwMode="auto">
            <a:xfrm>
              <a:off x="3701" y="1680"/>
              <a:ext cx="402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2542" y="315686"/>
            <a:ext cx="5584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解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晶体管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的静态基极电位为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89857" y="2917373"/>
            <a:ext cx="4180114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设静态时晶体管基极发射极间电压为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0.7V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，则发射极电流为</a:t>
            </a: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613024" y="3901166"/>
            <a:ext cx="5867400" cy="936624"/>
            <a:chOff x="634" y="3390"/>
            <a:chExt cx="3696" cy="590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634" y="3506"/>
              <a:ext cx="36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r>
                <a:rPr lang="en-US" altLang="zh-CN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———— = ————  =  1.96mA</a:t>
              </a: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753" y="3390"/>
              <a:ext cx="27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V</a:t>
              </a:r>
              <a:r>
                <a:rPr lang="en-US" altLang="zh-CN" sz="28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4.62</a:t>
              </a:r>
              <a:r>
                <a:rPr lang="zh-CN" altLang="en-US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0.7  </a:t>
              </a: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252" y="3650"/>
              <a:ext cx="205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r>
                <a:rPr lang="en-US" altLang="zh-CN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             2</a:t>
              </a:r>
            </a:p>
          </p:txBody>
        </p:sp>
      </p:grpSp>
      <p:grpSp>
        <p:nvGrpSpPr>
          <p:cNvPr id="79" name="Group 32"/>
          <p:cNvGrpSpPr>
            <a:grpSpLocks/>
          </p:cNvGrpSpPr>
          <p:nvPr/>
        </p:nvGrpSpPr>
        <p:grpSpPr bwMode="auto">
          <a:xfrm>
            <a:off x="4865914" y="892086"/>
            <a:ext cx="4168989" cy="2870441"/>
            <a:chOff x="2560" y="197"/>
            <a:chExt cx="2857" cy="1865"/>
          </a:xfrm>
        </p:grpSpPr>
        <p:sp>
          <p:nvSpPr>
            <p:cNvPr id="80" name="Line 33"/>
            <p:cNvSpPr>
              <a:spLocks noChangeShapeType="1"/>
            </p:cNvSpPr>
            <p:nvPr/>
          </p:nvSpPr>
          <p:spPr bwMode="auto">
            <a:xfrm>
              <a:off x="2767" y="1947"/>
              <a:ext cx="231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34"/>
            <p:cNvSpPr>
              <a:spLocks noChangeShapeType="1"/>
            </p:cNvSpPr>
            <p:nvPr/>
          </p:nvSpPr>
          <p:spPr bwMode="auto">
            <a:xfrm>
              <a:off x="3464" y="1140"/>
              <a:ext cx="4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Line 35"/>
            <p:cNvSpPr>
              <a:spLocks noChangeShapeType="1"/>
            </p:cNvSpPr>
            <p:nvPr/>
          </p:nvSpPr>
          <p:spPr bwMode="auto">
            <a:xfrm>
              <a:off x="3953" y="949"/>
              <a:ext cx="0" cy="38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Line 36"/>
            <p:cNvSpPr>
              <a:spLocks noChangeShapeType="1"/>
            </p:cNvSpPr>
            <p:nvPr/>
          </p:nvSpPr>
          <p:spPr bwMode="auto">
            <a:xfrm flipV="1">
              <a:off x="3953" y="905"/>
              <a:ext cx="195" cy="161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Line 37"/>
            <p:cNvSpPr>
              <a:spLocks noChangeShapeType="1"/>
            </p:cNvSpPr>
            <p:nvPr/>
          </p:nvSpPr>
          <p:spPr bwMode="auto">
            <a:xfrm>
              <a:off x="3969" y="1206"/>
              <a:ext cx="195" cy="158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Line 38"/>
            <p:cNvSpPr>
              <a:spLocks noChangeShapeType="1"/>
            </p:cNvSpPr>
            <p:nvPr/>
          </p:nvSpPr>
          <p:spPr bwMode="auto">
            <a:xfrm flipH="1">
              <a:off x="4147" y="221"/>
              <a:ext cx="1" cy="68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Line 39"/>
            <p:cNvSpPr>
              <a:spLocks noChangeShapeType="1"/>
            </p:cNvSpPr>
            <p:nvPr/>
          </p:nvSpPr>
          <p:spPr bwMode="auto">
            <a:xfrm>
              <a:off x="4138" y="1329"/>
              <a:ext cx="0" cy="623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Line 40"/>
            <p:cNvSpPr>
              <a:spLocks noChangeShapeType="1"/>
            </p:cNvSpPr>
            <p:nvPr/>
          </p:nvSpPr>
          <p:spPr bwMode="auto">
            <a:xfrm>
              <a:off x="4138" y="221"/>
              <a:ext cx="9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9" name="Line 41"/>
            <p:cNvSpPr>
              <a:spLocks noChangeShapeType="1"/>
            </p:cNvSpPr>
            <p:nvPr/>
          </p:nvSpPr>
          <p:spPr bwMode="auto">
            <a:xfrm>
              <a:off x="3464" y="1138"/>
              <a:ext cx="1" cy="814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0" name="Rectangle 42"/>
            <p:cNvSpPr>
              <a:spLocks noChangeArrowheads="1"/>
            </p:cNvSpPr>
            <p:nvPr/>
          </p:nvSpPr>
          <p:spPr bwMode="auto">
            <a:xfrm>
              <a:off x="3419" y="1403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1" name="Rectangle 44"/>
            <p:cNvSpPr>
              <a:spLocks noChangeArrowheads="1"/>
            </p:cNvSpPr>
            <p:nvPr/>
          </p:nvSpPr>
          <p:spPr bwMode="auto">
            <a:xfrm>
              <a:off x="3060" y="1371"/>
              <a:ext cx="36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3160" y="1138"/>
              <a:ext cx="30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3" name="Oval 46"/>
            <p:cNvSpPr>
              <a:spLocks noChangeArrowheads="1"/>
            </p:cNvSpPr>
            <p:nvPr/>
          </p:nvSpPr>
          <p:spPr bwMode="auto">
            <a:xfrm>
              <a:off x="2726" y="1115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Oval 47"/>
            <p:cNvSpPr>
              <a:spLocks noChangeArrowheads="1"/>
            </p:cNvSpPr>
            <p:nvPr/>
          </p:nvSpPr>
          <p:spPr bwMode="auto">
            <a:xfrm>
              <a:off x="2746" y="1931"/>
              <a:ext cx="41" cy="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Oval 48"/>
            <p:cNvSpPr>
              <a:spLocks noChangeArrowheads="1"/>
            </p:cNvSpPr>
            <p:nvPr/>
          </p:nvSpPr>
          <p:spPr bwMode="auto">
            <a:xfrm>
              <a:off x="4117" y="1911"/>
              <a:ext cx="42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4138" y="1899"/>
              <a:ext cx="0" cy="1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4074" y="2062"/>
              <a:ext cx="13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Rectangle 51"/>
            <p:cNvSpPr>
              <a:spLocks noChangeArrowheads="1"/>
            </p:cNvSpPr>
            <p:nvPr/>
          </p:nvSpPr>
          <p:spPr bwMode="auto">
            <a:xfrm>
              <a:off x="2589" y="1120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59" name="Rectangle 52"/>
            <p:cNvSpPr>
              <a:spLocks noChangeArrowheads="1"/>
            </p:cNvSpPr>
            <p:nvPr/>
          </p:nvSpPr>
          <p:spPr bwMode="auto">
            <a:xfrm>
              <a:off x="2560" y="1675"/>
              <a:ext cx="295" cy="26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60" name="Rectangle 53"/>
            <p:cNvSpPr>
              <a:spLocks noChangeArrowheads="1"/>
            </p:cNvSpPr>
            <p:nvPr/>
          </p:nvSpPr>
          <p:spPr bwMode="auto">
            <a:xfrm>
              <a:off x="2621" y="1356"/>
              <a:ext cx="242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0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1" name="Rectangle 54"/>
            <p:cNvSpPr>
              <a:spLocks noChangeArrowheads="1"/>
            </p:cNvSpPr>
            <p:nvPr/>
          </p:nvSpPr>
          <p:spPr bwMode="auto">
            <a:xfrm>
              <a:off x="5081" y="728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62" name="Rectangle 55"/>
            <p:cNvSpPr>
              <a:spLocks noChangeArrowheads="1"/>
            </p:cNvSpPr>
            <p:nvPr/>
          </p:nvSpPr>
          <p:spPr bwMode="auto">
            <a:xfrm>
              <a:off x="5067" y="1656"/>
              <a:ext cx="295" cy="26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63" name="Rectangle 56"/>
            <p:cNvSpPr>
              <a:spLocks noChangeArrowheads="1"/>
            </p:cNvSpPr>
            <p:nvPr/>
          </p:nvSpPr>
          <p:spPr bwMode="auto">
            <a:xfrm>
              <a:off x="4093" y="1462"/>
              <a:ext cx="90" cy="264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4" name="Rectangle 57"/>
            <p:cNvSpPr>
              <a:spLocks noChangeArrowheads="1"/>
            </p:cNvSpPr>
            <p:nvPr/>
          </p:nvSpPr>
          <p:spPr bwMode="auto">
            <a:xfrm>
              <a:off x="4776" y="1103"/>
              <a:ext cx="29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65" name="Rectangle 58"/>
            <p:cNvSpPr>
              <a:spLocks noChangeArrowheads="1"/>
            </p:cNvSpPr>
            <p:nvPr/>
          </p:nvSpPr>
          <p:spPr bwMode="auto">
            <a:xfrm>
              <a:off x="3807" y="393"/>
              <a:ext cx="30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66" name="Rectangle 59"/>
            <p:cNvSpPr>
              <a:spLocks noChangeArrowheads="1"/>
            </p:cNvSpPr>
            <p:nvPr/>
          </p:nvSpPr>
          <p:spPr bwMode="auto">
            <a:xfrm>
              <a:off x="4254" y="1035"/>
              <a:ext cx="124" cy="19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sz="20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4213" y="759"/>
              <a:ext cx="0" cy="165"/>
            </a:xfrm>
            <a:prstGeom prst="line">
              <a:avLst/>
            </a:prstGeom>
            <a:noFill/>
            <a:ln w="317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8" name="Rectangle 61"/>
            <p:cNvSpPr>
              <a:spLocks noChangeArrowheads="1"/>
            </p:cNvSpPr>
            <p:nvPr/>
          </p:nvSpPr>
          <p:spPr bwMode="auto">
            <a:xfrm>
              <a:off x="4208" y="712"/>
              <a:ext cx="222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3662" y="1090"/>
              <a:ext cx="201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0" name="Rectangle 63"/>
            <p:cNvSpPr>
              <a:spLocks noChangeArrowheads="1"/>
            </p:cNvSpPr>
            <p:nvPr/>
          </p:nvSpPr>
          <p:spPr bwMode="auto">
            <a:xfrm>
              <a:off x="3621" y="754"/>
              <a:ext cx="229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0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 flipH="1">
              <a:off x="3464" y="221"/>
              <a:ext cx="1" cy="10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 flipV="1">
              <a:off x="3464" y="222"/>
              <a:ext cx="7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3" name="Rectangle 66"/>
            <p:cNvSpPr>
              <a:spLocks noChangeArrowheads="1"/>
            </p:cNvSpPr>
            <p:nvPr/>
          </p:nvSpPr>
          <p:spPr bwMode="auto">
            <a:xfrm>
              <a:off x="4105" y="420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4" name="Rectangle 67"/>
            <p:cNvSpPr>
              <a:spLocks noChangeArrowheads="1"/>
            </p:cNvSpPr>
            <p:nvPr/>
          </p:nvSpPr>
          <p:spPr bwMode="auto">
            <a:xfrm>
              <a:off x="3420" y="486"/>
              <a:ext cx="90" cy="24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4138" y="732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4576" y="732"/>
              <a:ext cx="5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77" name="Group 70"/>
            <p:cNvGrpSpPr>
              <a:grpSpLocks/>
            </p:cNvGrpSpPr>
            <p:nvPr/>
          </p:nvGrpSpPr>
          <p:grpSpPr bwMode="auto">
            <a:xfrm>
              <a:off x="4456" y="623"/>
              <a:ext cx="108" cy="238"/>
              <a:chOff x="4456" y="623"/>
              <a:chExt cx="108" cy="238"/>
            </a:xfrm>
          </p:grpSpPr>
          <p:sp>
            <p:nvSpPr>
              <p:cNvPr id="205" name="Line 71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6" name="Line 72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78" name="Line 73"/>
            <p:cNvSpPr>
              <a:spLocks noChangeShapeType="1"/>
            </p:cNvSpPr>
            <p:nvPr/>
          </p:nvSpPr>
          <p:spPr bwMode="auto">
            <a:xfrm>
              <a:off x="4138" y="1403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9" name="Line 74"/>
            <p:cNvSpPr>
              <a:spLocks noChangeShapeType="1"/>
            </p:cNvSpPr>
            <p:nvPr/>
          </p:nvSpPr>
          <p:spPr bwMode="auto">
            <a:xfrm>
              <a:off x="4456" y="1403"/>
              <a:ext cx="0" cy="1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80" name="Group 75"/>
            <p:cNvGrpSpPr>
              <a:grpSpLocks/>
            </p:cNvGrpSpPr>
            <p:nvPr/>
          </p:nvGrpSpPr>
          <p:grpSpPr bwMode="auto">
            <a:xfrm>
              <a:off x="4356" y="1564"/>
              <a:ext cx="208" cy="70"/>
              <a:chOff x="4356" y="1544"/>
              <a:chExt cx="208" cy="70"/>
            </a:xfrm>
          </p:grpSpPr>
          <p:sp>
            <p:nvSpPr>
              <p:cNvPr id="203" name="Line 76"/>
              <p:cNvSpPr>
                <a:spLocks noChangeShapeType="1"/>
              </p:cNvSpPr>
              <p:nvPr/>
            </p:nvSpPr>
            <p:spPr bwMode="auto">
              <a:xfrm>
                <a:off x="4356" y="154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4" name="Line 77"/>
              <p:cNvSpPr>
                <a:spLocks noChangeShapeType="1"/>
              </p:cNvSpPr>
              <p:nvPr/>
            </p:nvSpPr>
            <p:spPr bwMode="auto">
              <a:xfrm>
                <a:off x="4356" y="1614"/>
                <a:ext cx="2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81" name="Line 78"/>
            <p:cNvSpPr>
              <a:spLocks noChangeShapeType="1"/>
            </p:cNvSpPr>
            <p:nvPr/>
          </p:nvSpPr>
          <p:spPr bwMode="auto">
            <a:xfrm>
              <a:off x="4456" y="1647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2" name="Line 79"/>
            <p:cNvSpPr>
              <a:spLocks noChangeShapeType="1"/>
            </p:cNvSpPr>
            <p:nvPr/>
          </p:nvSpPr>
          <p:spPr bwMode="auto">
            <a:xfrm>
              <a:off x="5086" y="732"/>
              <a:ext cx="0" cy="12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3" name="Oval 80"/>
            <p:cNvSpPr>
              <a:spLocks noChangeArrowheads="1"/>
            </p:cNvSpPr>
            <p:nvPr/>
          </p:nvSpPr>
          <p:spPr bwMode="auto">
            <a:xfrm>
              <a:off x="5045" y="197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4" name="Oval 81"/>
            <p:cNvSpPr>
              <a:spLocks noChangeArrowheads="1"/>
            </p:cNvSpPr>
            <p:nvPr/>
          </p:nvSpPr>
          <p:spPr bwMode="auto">
            <a:xfrm>
              <a:off x="3444" y="1116"/>
              <a:ext cx="41" cy="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5" name="Text Box 82"/>
            <p:cNvSpPr txBox="1">
              <a:spLocks noChangeArrowheads="1"/>
            </p:cNvSpPr>
            <p:nvPr/>
          </p:nvSpPr>
          <p:spPr bwMode="auto">
            <a:xfrm>
              <a:off x="4122" y="989"/>
              <a:ext cx="193" cy="19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186" name="Group 83"/>
            <p:cNvGrpSpPr>
              <a:grpSpLocks/>
            </p:cNvGrpSpPr>
            <p:nvPr/>
          </p:nvGrpSpPr>
          <p:grpSpPr bwMode="auto">
            <a:xfrm>
              <a:off x="3052" y="1025"/>
              <a:ext cx="108" cy="238"/>
              <a:chOff x="4456" y="623"/>
              <a:chExt cx="108" cy="238"/>
            </a:xfrm>
          </p:grpSpPr>
          <p:sp>
            <p:nvSpPr>
              <p:cNvPr id="201" name="Line 84"/>
              <p:cNvSpPr>
                <a:spLocks noChangeShapeType="1"/>
              </p:cNvSpPr>
              <p:nvPr/>
            </p:nvSpPr>
            <p:spPr bwMode="auto">
              <a:xfrm>
                <a:off x="4456" y="623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02" name="Line 85"/>
              <p:cNvSpPr>
                <a:spLocks noChangeShapeType="1"/>
              </p:cNvSpPr>
              <p:nvPr/>
            </p:nvSpPr>
            <p:spPr bwMode="auto">
              <a:xfrm>
                <a:off x="4564" y="62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 sz="200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87" name="Line 86"/>
            <p:cNvSpPr>
              <a:spLocks noChangeShapeType="1"/>
            </p:cNvSpPr>
            <p:nvPr/>
          </p:nvSpPr>
          <p:spPr bwMode="auto">
            <a:xfrm>
              <a:off x="2734" y="1140"/>
              <a:ext cx="3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8" name="Rectangle 87"/>
            <p:cNvSpPr>
              <a:spLocks noChangeArrowheads="1"/>
            </p:cNvSpPr>
            <p:nvPr/>
          </p:nvSpPr>
          <p:spPr bwMode="auto">
            <a:xfrm>
              <a:off x="4374" y="357"/>
              <a:ext cx="29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89" name="Rectangle 88"/>
            <p:cNvSpPr>
              <a:spLocks noChangeArrowheads="1"/>
            </p:cNvSpPr>
            <p:nvPr/>
          </p:nvSpPr>
          <p:spPr bwMode="auto">
            <a:xfrm>
              <a:off x="2921" y="748"/>
              <a:ext cx="295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90" name="Rectangle 89"/>
            <p:cNvSpPr>
              <a:spLocks noChangeArrowheads="1"/>
            </p:cNvSpPr>
            <p:nvPr/>
          </p:nvSpPr>
          <p:spPr bwMode="auto">
            <a:xfrm>
              <a:off x="3156" y="852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91" name="Rectangle 90"/>
            <p:cNvSpPr>
              <a:spLocks noChangeArrowheads="1"/>
            </p:cNvSpPr>
            <p:nvPr/>
          </p:nvSpPr>
          <p:spPr bwMode="auto">
            <a:xfrm>
              <a:off x="4259" y="489"/>
              <a:ext cx="220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92" name="Rectangle 91"/>
            <p:cNvSpPr>
              <a:spLocks noChangeArrowheads="1"/>
            </p:cNvSpPr>
            <p:nvPr/>
          </p:nvSpPr>
          <p:spPr bwMode="auto">
            <a:xfrm>
              <a:off x="3082" y="321"/>
              <a:ext cx="362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93" name="Rectangle 92"/>
            <p:cNvSpPr>
              <a:spLocks noChangeArrowheads="1"/>
            </p:cNvSpPr>
            <p:nvPr/>
          </p:nvSpPr>
          <p:spPr bwMode="auto">
            <a:xfrm>
              <a:off x="4518" y="1489"/>
              <a:ext cx="308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sz="20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94" name="Rectangle 93"/>
            <p:cNvSpPr>
              <a:spLocks noChangeArrowheads="1"/>
            </p:cNvSpPr>
            <p:nvPr/>
          </p:nvSpPr>
          <p:spPr bwMode="auto">
            <a:xfrm>
              <a:off x="3805" y="1456"/>
              <a:ext cx="298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95" name="Rectangle 94"/>
            <p:cNvSpPr>
              <a:spLocks noChangeArrowheads="1"/>
            </p:cNvSpPr>
            <p:nvPr/>
          </p:nvSpPr>
          <p:spPr bwMode="auto">
            <a:xfrm>
              <a:off x="4872" y="245"/>
              <a:ext cx="497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196" name="Rectangle 43"/>
            <p:cNvSpPr>
              <a:spLocks noChangeArrowheads="1"/>
            </p:cNvSpPr>
            <p:nvPr/>
          </p:nvSpPr>
          <p:spPr bwMode="auto">
            <a:xfrm>
              <a:off x="5041" y="1138"/>
              <a:ext cx="90" cy="265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7" name="Rectangle 53"/>
            <p:cNvSpPr>
              <a:spLocks noChangeArrowheads="1"/>
            </p:cNvSpPr>
            <p:nvPr/>
          </p:nvSpPr>
          <p:spPr bwMode="auto">
            <a:xfrm>
              <a:off x="5151" y="1151"/>
              <a:ext cx="266" cy="26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0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0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8" name="Rectangle 91"/>
            <p:cNvSpPr>
              <a:spLocks noChangeArrowheads="1"/>
            </p:cNvSpPr>
            <p:nvPr/>
          </p:nvSpPr>
          <p:spPr bwMode="auto">
            <a:xfrm>
              <a:off x="2880" y="555"/>
              <a:ext cx="560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100kΩ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9" name="Rectangle 91"/>
            <p:cNvSpPr>
              <a:spLocks noChangeArrowheads="1"/>
            </p:cNvSpPr>
            <p:nvPr/>
          </p:nvSpPr>
          <p:spPr bwMode="auto">
            <a:xfrm>
              <a:off x="2993" y="1616"/>
              <a:ext cx="481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30kΩ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0" name="Rectangle 91"/>
            <p:cNvSpPr>
              <a:spLocks noChangeArrowheads="1"/>
            </p:cNvSpPr>
            <p:nvPr/>
          </p:nvSpPr>
          <p:spPr bwMode="auto">
            <a:xfrm>
              <a:off x="3701" y="1680"/>
              <a:ext cx="402" cy="2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2kΩ</a:t>
              </a:r>
              <a:endPara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8" name="Rectangle 93"/>
            <p:cNvSpPr>
              <a:spLocks noChangeArrowheads="1"/>
            </p:cNvSpPr>
            <p:nvPr/>
          </p:nvSpPr>
          <p:spPr bwMode="auto">
            <a:xfrm>
              <a:off x="3462" y="869"/>
              <a:ext cx="234" cy="2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i="1" dirty="0" smtClean="0">
                  <a:solidFill>
                    <a:srgbClr val="0070C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000" b="1" baseline="-25000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207" name="对象 206"/>
          <p:cNvGraphicFramePr>
            <a:graphicFrameLocks noChangeAspect="1"/>
          </p:cNvGraphicFramePr>
          <p:nvPr/>
        </p:nvGraphicFramePr>
        <p:xfrm>
          <a:off x="813705" y="911679"/>
          <a:ext cx="3750004" cy="1918607"/>
        </p:xfrm>
        <a:graphic>
          <a:graphicData uri="http://schemas.openxmlformats.org/presentationml/2006/ole">
            <p:oleObj spid="_x0000_s16386" name="Equation" r:id="rId3" imgW="1638000" imgH="838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998085" y="3860800"/>
            <a:ext cx="638242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B1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B2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3200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8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100 // 30 // 1.27 = 1.29kΩ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043668" y="4349750"/>
            <a:ext cx="272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600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40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4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= 5.1kΩ</a:t>
            </a:r>
          </a:p>
        </p:txBody>
      </p:sp>
      <p:grpSp>
        <p:nvGrpSpPr>
          <p:cNvPr id="16" name="Group 18"/>
          <p:cNvGrpSpPr>
            <a:grpSpLocks/>
          </p:cNvGrpSpPr>
          <p:nvPr/>
        </p:nvGrpSpPr>
        <p:grpSpPr bwMode="auto">
          <a:xfrm>
            <a:off x="1295176" y="105909"/>
            <a:ext cx="6415090" cy="2295525"/>
            <a:chOff x="952" y="354"/>
            <a:chExt cx="4041" cy="1446"/>
          </a:xfrm>
        </p:grpSpPr>
        <p:grpSp>
          <p:nvGrpSpPr>
            <p:cNvPr id="17" name="Group 19"/>
            <p:cNvGrpSpPr>
              <a:grpSpLocks/>
            </p:cNvGrpSpPr>
            <p:nvPr/>
          </p:nvGrpSpPr>
          <p:grpSpPr bwMode="auto">
            <a:xfrm>
              <a:off x="1879" y="453"/>
              <a:ext cx="103" cy="1225"/>
              <a:chOff x="1763" y="527"/>
              <a:chExt cx="103" cy="1225"/>
            </a:xfrm>
          </p:grpSpPr>
          <p:sp>
            <p:nvSpPr>
              <p:cNvPr id="66" name="Line 20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7" name="Rectangle 21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 flipV="1">
              <a:off x="1103" y="463"/>
              <a:ext cx="1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2626" y="463"/>
              <a:ext cx="0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 flipV="1">
              <a:off x="1124" y="1687"/>
              <a:ext cx="3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5"/>
            <p:cNvSpPr>
              <a:spLocks noChangeShapeType="1"/>
            </p:cNvSpPr>
            <p:nvPr/>
          </p:nvSpPr>
          <p:spPr bwMode="auto">
            <a:xfrm>
              <a:off x="3000" y="1687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2891" y="1789"/>
              <a:ext cx="2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2239" y="677"/>
              <a:ext cx="4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28"/>
            <p:cNvSpPr txBox="1">
              <a:spLocks noChangeArrowheads="1"/>
            </p:cNvSpPr>
            <p:nvPr/>
          </p:nvSpPr>
          <p:spPr bwMode="auto">
            <a:xfrm>
              <a:off x="3055" y="952"/>
              <a:ext cx="35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5" name="Text Box 29"/>
            <p:cNvSpPr txBox="1">
              <a:spLocks noChangeArrowheads="1"/>
            </p:cNvSpPr>
            <p:nvPr/>
          </p:nvSpPr>
          <p:spPr bwMode="auto">
            <a:xfrm>
              <a:off x="2151" y="46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Text Box 30"/>
            <p:cNvSpPr txBox="1">
              <a:spLocks noChangeArrowheads="1"/>
            </p:cNvSpPr>
            <p:nvPr/>
          </p:nvSpPr>
          <p:spPr bwMode="auto">
            <a:xfrm>
              <a:off x="3703" y="430"/>
              <a:ext cx="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Oval 31"/>
            <p:cNvSpPr>
              <a:spLocks noChangeArrowheads="1"/>
            </p:cNvSpPr>
            <p:nvPr/>
          </p:nvSpPr>
          <p:spPr bwMode="auto">
            <a:xfrm>
              <a:off x="2971" y="1656"/>
              <a:ext cx="53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Line 32"/>
            <p:cNvSpPr>
              <a:spLocks noChangeShapeType="1"/>
            </p:cNvSpPr>
            <p:nvPr/>
          </p:nvSpPr>
          <p:spPr bwMode="auto">
            <a:xfrm>
              <a:off x="3415" y="415"/>
              <a:ext cx="7" cy="8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>
              <a:off x="3284" y="642"/>
              <a:ext cx="276" cy="392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>
              <a:off x="4081" y="435"/>
              <a:ext cx="0" cy="1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>
              <a:off x="3422" y="1067"/>
              <a:ext cx="0" cy="196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Rectangle 36"/>
            <p:cNvSpPr>
              <a:spLocks noChangeArrowheads="1"/>
            </p:cNvSpPr>
            <p:nvPr/>
          </p:nvSpPr>
          <p:spPr bwMode="auto">
            <a:xfrm>
              <a:off x="3699" y="984"/>
              <a:ext cx="32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33" name="Rectangle 37"/>
            <p:cNvSpPr>
              <a:spLocks noChangeArrowheads="1"/>
            </p:cNvSpPr>
            <p:nvPr/>
          </p:nvSpPr>
          <p:spPr bwMode="auto">
            <a:xfrm>
              <a:off x="1979" y="978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34" name="Line 38"/>
            <p:cNvSpPr>
              <a:spLocks noChangeShapeType="1"/>
            </p:cNvSpPr>
            <p:nvPr/>
          </p:nvSpPr>
          <p:spPr bwMode="auto">
            <a:xfrm>
              <a:off x="3415" y="424"/>
              <a:ext cx="1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39"/>
            <p:cNvSpPr>
              <a:spLocks noChangeShapeType="1"/>
            </p:cNvSpPr>
            <p:nvPr/>
          </p:nvSpPr>
          <p:spPr bwMode="auto">
            <a:xfrm rot="-5400000">
              <a:off x="2381" y="317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40"/>
            <p:cNvSpPr>
              <a:spLocks noChangeShapeType="1"/>
            </p:cNvSpPr>
            <p:nvPr/>
          </p:nvSpPr>
          <p:spPr bwMode="auto">
            <a:xfrm rot="5400000">
              <a:off x="3710" y="282"/>
              <a:ext cx="0" cy="291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Rectangle 41"/>
            <p:cNvSpPr>
              <a:spLocks noChangeArrowheads="1"/>
            </p:cNvSpPr>
            <p:nvPr/>
          </p:nvSpPr>
          <p:spPr bwMode="auto">
            <a:xfrm>
              <a:off x="2569" y="698"/>
              <a:ext cx="113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>
              <a:off x="4025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43"/>
            <p:cNvSpPr>
              <a:spLocks noChangeShapeType="1"/>
            </p:cNvSpPr>
            <p:nvPr/>
          </p:nvSpPr>
          <p:spPr bwMode="auto">
            <a:xfrm>
              <a:off x="4620" y="424"/>
              <a:ext cx="0" cy="1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4266" y="975"/>
              <a:ext cx="30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>
              <a:off x="4563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46"/>
            <p:cNvSpPr>
              <a:spLocks noChangeArrowheads="1"/>
            </p:cNvSpPr>
            <p:nvPr/>
          </p:nvSpPr>
          <p:spPr bwMode="auto">
            <a:xfrm>
              <a:off x="2189" y="354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43" name="Group 47"/>
            <p:cNvGrpSpPr>
              <a:grpSpLocks/>
            </p:cNvGrpSpPr>
            <p:nvPr/>
          </p:nvGrpSpPr>
          <p:grpSpPr bwMode="auto">
            <a:xfrm>
              <a:off x="4638" y="439"/>
              <a:ext cx="355" cy="1213"/>
              <a:chOff x="4700" y="410"/>
              <a:chExt cx="355" cy="1213"/>
            </a:xfrm>
          </p:grpSpPr>
          <p:sp>
            <p:nvSpPr>
              <p:cNvPr id="62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63" name="Text Box 49"/>
              <p:cNvSpPr txBox="1">
                <a:spLocks noChangeArrowheads="1"/>
              </p:cNvSpPr>
              <p:nvPr/>
            </p:nvSpPr>
            <p:spPr bwMode="auto">
              <a:xfrm>
                <a:off x="4779" y="133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64" name="Text Box 50"/>
              <p:cNvSpPr txBox="1">
                <a:spLocks noChangeArrowheads="1"/>
              </p:cNvSpPr>
              <p:nvPr/>
            </p:nvSpPr>
            <p:spPr bwMode="auto">
              <a:xfrm>
                <a:off x="4700" y="410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65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44" name="Group 52"/>
            <p:cNvGrpSpPr>
              <a:grpSpLocks/>
            </p:cNvGrpSpPr>
            <p:nvPr/>
          </p:nvGrpSpPr>
          <p:grpSpPr bwMode="auto">
            <a:xfrm>
              <a:off x="952" y="434"/>
              <a:ext cx="311" cy="1276"/>
              <a:chOff x="1110" y="439"/>
              <a:chExt cx="311" cy="1276"/>
            </a:xfrm>
          </p:grpSpPr>
          <p:sp>
            <p:nvSpPr>
              <p:cNvPr id="56" name="Text Box 53"/>
              <p:cNvSpPr txBox="1">
                <a:spLocks noChangeArrowheads="1"/>
              </p:cNvSpPr>
              <p:nvPr/>
            </p:nvSpPr>
            <p:spPr bwMode="auto">
              <a:xfrm>
                <a:off x="1110" y="96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Text Box 54"/>
              <p:cNvSpPr txBox="1">
                <a:spLocks noChangeArrowheads="1"/>
              </p:cNvSpPr>
              <p:nvPr/>
            </p:nvSpPr>
            <p:spPr bwMode="auto">
              <a:xfrm>
                <a:off x="1113" y="512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58" name="Text Box 55"/>
              <p:cNvSpPr txBox="1">
                <a:spLocks noChangeArrowheads="1"/>
              </p:cNvSpPr>
              <p:nvPr/>
            </p:nvSpPr>
            <p:spPr bwMode="auto">
              <a:xfrm>
                <a:off x="1194" y="133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59" name="Oval 56"/>
              <p:cNvSpPr>
                <a:spLocks noChangeArrowheads="1"/>
              </p:cNvSpPr>
              <p:nvPr/>
            </p:nvSpPr>
            <p:spPr bwMode="auto">
              <a:xfrm>
                <a:off x="1255" y="1667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0" name="Oval 57"/>
              <p:cNvSpPr>
                <a:spLocks noChangeArrowheads="1"/>
              </p:cNvSpPr>
              <p:nvPr/>
            </p:nvSpPr>
            <p:spPr bwMode="auto">
              <a:xfrm>
                <a:off x="1249" y="439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1" name="Rectangle 58"/>
              <p:cNvSpPr>
                <a:spLocks noChangeArrowheads="1"/>
              </p:cNvSpPr>
              <p:nvPr/>
            </p:nvSpPr>
            <p:spPr bwMode="auto">
              <a:xfrm>
                <a:off x="1189" y="848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45" name="Rectangle 59"/>
            <p:cNvSpPr>
              <a:spLocks noChangeArrowheads="1"/>
            </p:cNvSpPr>
            <p:nvPr/>
          </p:nvSpPr>
          <p:spPr bwMode="auto">
            <a:xfrm>
              <a:off x="3194" y="855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46" name="Rectangle 60"/>
            <p:cNvSpPr>
              <a:spLocks noChangeArrowheads="1"/>
            </p:cNvSpPr>
            <p:nvPr/>
          </p:nvSpPr>
          <p:spPr bwMode="auto">
            <a:xfrm>
              <a:off x="3746" y="360"/>
              <a:ext cx="16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47" name="Line 61"/>
            <p:cNvSpPr>
              <a:spLocks noChangeShapeType="1"/>
            </p:cNvSpPr>
            <p:nvPr/>
          </p:nvSpPr>
          <p:spPr bwMode="auto">
            <a:xfrm>
              <a:off x="2626" y="1263"/>
              <a:ext cx="8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62"/>
            <p:cNvSpPr>
              <a:spLocks noChangeShapeType="1"/>
            </p:cNvSpPr>
            <p:nvPr/>
          </p:nvSpPr>
          <p:spPr bwMode="auto">
            <a:xfrm flipV="1">
              <a:off x="2997" y="126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9" name="Group 63"/>
            <p:cNvGrpSpPr>
              <a:grpSpLocks/>
            </p:cNvGrpSpPr>
            <p:nvPr/>
          </p:nvGrpSpPr>
          <p:grpSpPr bwMode="auto">
            <a:xfrm>
              <a:off x="1395" y="453"/>
              <a:ext cx="103" cy="1225"/>
              <a:chOff x="1763" y="527"/>
              <a:chExt cx="103" cy="1225"/>
            </a:xfrm>
          </p:grpSpPr>
          <p:sp>
            <p:nvSpPr>
              <p:cNvPr id="54" name="Line 64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5" name="Rectangle 65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0" name="Rectangle 66"/>
            <p:cNvSpPr>
              <a:spLocks noChangeArrowheads="1"/>
            </p:cNvSpPr>
            <p:nvPr/>
          </p:nvSpPr>
          <p:spPr bwMode="auto">
            <a:xfrm>
              <a:off x="1492" y="971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51" name="Text Box 67"/>
            <p:cNvSpPr txBox="1">
              <a:spLocks noChangeArrowheads="1"/>
            </p:cNvSpPr>
            <p:nvPr/>
          </p:nvSpPr>
          <p:spPr bwMode="auto">
            <a:xfrm>
              <a:off x="2622" y="431"/>
              <a:ext cx="202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2" name="Text Box 68"/>
            <p:cNvSpPr txBox="1">
              <a:spLocks noChangeArrowheads="1"/>
            </p:cNvSpPr>
            <p:nvPr/>
          </p:nvSpPr>
          <p:spPr bwMode="auto">
            <a:xfrm>
              <a:off x="2891" y="958"/>
              <a:ext cx="193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3" name="Text Box 69"/>
            <p:cNvSpPr txBox="1">
              <a:spLocks noChangeArrowheads="1"/>
            </p:cNvSpPr>
            <p:nvPr/>
          </p:nvSpPr>
          <p:spPr bwMode="auto">
            <a:xfrm>
              <a:off x="3176" y="379"/>
              <a:ext cx="20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132113" y="2237720"/>
          <a:ext cx="6743701" cy="987425"/>
        </p:xfrm>
        <a:graphic>
          <a:graphicData uri="http://schemas.openxmlformats.org/presentationml/2006/ole">
            <p:oleObj spid="_x0000_s17410" name="Equation" r:id="rId3" imgW="2946240" imgH="431640" progId="Equation.DSMT4">
              <p:embed/>
            </p:oleObj>
          </a:graphicData>
        </a:graphic>
      </p:graphicFrame>
      <p:graphicFrame>
        <p:nvGraphicFramePr>
          <p:cNvPr id="69" name="Object 2"/>
          <p:cNvGraphicFramePr>
            <a:graphicFrameLocks noChangeAspect="1"/>
          </p:cNvGraphicFramePr>
          <p:nvPr/>
        </p:nvGraphicFramePr>
        <p:xfrm>
          <a:off x="1080860" y="3036207"/>
          <a:ext cx="5668963" cy="1046163"/>
        </p:xfrm>
        <a:graphic>
          <a:graphicData uri="http://schemas.openxmlformats.org/presentationml/2006/ole">
            <p:oleObj spid="_x0000_s17411" name="Equation" r:id="rId4" imgW="2476440" imgH="457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430440" y="2684135"/>
            <a:ext cx="80592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因为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静态工作点无变化，所以 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8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1.27kΩ</a:t>
            </a:r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392565" y="3108551"/>
            <a:ext cx="8120063" cy="1414463"/>
            <a:chOff x="240" y="2244"/>
            <a:chExt cx="5115" cy="891"/>
          </a:xfrm>
        </p:grpSpPr>
        <p:grpSp>
          <p:nvGrpSpPr>
            <p:cNvPr id="6" name="Group 7"/>
            <p:cNvGrpSpPr>
              <a:grpSpLocks/>
            </p:cNvGrpSpPr>
            <p:nvPr/>
          </p:nvGrpSpPr>
          <p:grpSpPr bwMode="auto">
            <a:xfrm>
              <a:off x="240" y="2453"/>
              <a:ext cx="5115" cy="613"/>
              <a:chOff x="96" y="2453"/>
              <a:chExt cx="5115" cy="613"/>
            </a:xfrm>
          </p:grpSpPr>
          <p:sp>
            <p:nvSpPr>
              <p:cNvPr id="13" name="Text Box 8"/>
              <p:cNvSpPr txBox="1">
                <a:spLocks noChangeArrowheads="1"/>
              </p:cNvSpPr>
              <p:nvPr/>
            </p:nvSpPr>
            <p:spPr bwMode="auto">
              <a:xfrm>
                <a:off x="96" y="2592"/>
                <a:ext cx="511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8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 —  = 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- —————  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 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- ——————— 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 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-1.25</a:t>
                </a:r>
                <a:endPara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1221" y="2453"/>
                <a:ext cx="121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l-GR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(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// 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</a:t>
                </a:r>
                <a:endPara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1035" y="2723"/>
                <a:ext cx="152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</a:t>
                </a:r>
                <a:r>
                  <a:rPr lang="en-US" altLang="zh-CN" sz="28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+(1+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)</a:t>
                </a: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8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endPara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2798" y="2469"/>
                <a:ext cx="153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80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×(5.1</a:t>
                </a: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//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5.1)</a:t>
                </a:r>
                <a:endPara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2743" y="2736"/>
                <a:ext cx="174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1.27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+(1+80)×2</a:t>
                </a:r>
                <a:endPara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7" name="Group 13"/>
            <p:cNvGrpSpPr>
              <a:grpSpLocks/>
            </p:cNvGrpSpPr>
            <p:nvPr/>
          </p:nvGrpSpPr>
          <p:grpSpPr bwMode="auto">
            <a:xfrm>
              <a:off x="672" y="2604"/>
              <a:ext cx="365" cy="531"/>
              <a:chOff x="2594" y="1836"/>
              <a:chExt cx="365" cy="531"/>
            </a:xfrm>
          </p:grpSpPr>
          <p:sp>
            <p:nvSpPr>
              <p:cNvPr id="11" name="Rectangle 14"/>
              <p:cNvSpPr>
                <a:spLocks noChangeArrowheads="1"/>
              </p:cNvSpPr>
              <p:nvPr/>
            </p:nvSpPr>
            <p:spPr bwMode="auto">
              <a:xfrm>
                <a:off x="2594" y="2037"/>
                <a:ext cx="36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28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2673" y="1836"/>
                <a:ext cx="17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</p:grpSp>
        <p:grpSp>
          <p:nvGrpSpPr>
            <p:cNvPr id="8" name="Group 16"/>
            <p:cNvGrpSpPr>
              <a:grpSpLocks/>
            </p:cNvGrpSpPr>
            <p:nvPr/>
          </p:nvGrpSpPr>
          <p:grpSpPr bwMode="auto">
            <a:xfrm>
              <a:off x="702" y="2244"/>
              <a:ext cx="605" cy="528"/>
              <a:chOff x="702" y="2131"/>
              <a:chExt cx="605" cy="528"/>
            </a:xfrm>
          </p:grpSpPr>
          <p:sp>
            <p:nvSpPr>
              <p:cNvPr id="9" name="Rectangle 17"/>
              <p:cNvSpPr>
                <a:spLocks noChangeArrowheads="1"/>
              </p:cNvSpPr>
              <p:nvPr/>
            </p:nvSpPr>
            <p:spPr bwMode="auto">
              <a:xfrm>
                <a:off x="702" y="2329"/>
                <a:ext cx="605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10" name="Rectangle 18"/>
              <p:cNvSpPr>
                <a:spLocks noChangeArrowheads="1"/>
              </p:cNvSpPr>
              <p:nvPr/>
            </p:nvSpPr>
            <p:spPr bwMode="auto">
              <a:xfrm>
                <a:off x="797" y="2131"/>
                <a:ext cx="17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</p:grpSp>
      </p:grpSp>
      <p:grpSp>
        <p:nvGrpSpPr>
          <p:cNvPr id="18" name="Group 18"/>
          <p:cNvGrpSpPr>
            <a:grpSpLocks/>
          </p:cNvGrpSpPr>
          <p:nvPr/>
        </p:nvGrpSpPr>
        <p:grpSpPr bwMode="auto">
          <a:xfrm>
            <a:off x="1295176" y="192995"/>
            <a:ext cx="6415090" cy="2295525"/>
            <a:chOff x="952" y="354"/>
            <a:chExt cx="4041" cy="1446"/>
          </a:xfrm>
        </p:grpSpPr>
        <p:grpSp>
          <p:nvGrpSpPr>
            <p:cNvPr id="19" name="Group 19"/>
            <p:cNvGrpSpPr>
              <a:grpSpLocks/>
            </p:cNvGrpSpPr>
            <p:nvPr/>
          </p:nvGrpSpPr>
          <p:grpSpPr bwMode="auto">
            <a:xfrm>
              <a:off x="1879" y="453"/>
              <a:ext cx="103" cy="1225"/>
              <a:chOff x="1763" y="527"/>
              <a:chExt cx="103" cy="1225"/>
            </a:xfrm>
          </p:grpSpPr>
          <p:sp>
            <p:nvSpPr>
              <p:cNvPr id="68" name="Line 20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9" name="Rectangle 21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 flipV="1">
              <a:off x="1103" y="463"/>
              <a:ext cx="1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2626" y="463"/>
              <a:ext cx="0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flipV="1">
              <a:off x="1124" y="1687"/>
              <a:ext cx="3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3000" y="1687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2891" y="1789"/>
              <a:ext cx="2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2239" y="677"/>
              <a:ext cx="4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3055" y="952"/>
              <a:ext cx="35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2151" y="46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3703" y="430"/>
              <a:ext cx="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Oval 31"/>
            <p:cNvSpPr>
              <a:spLocks noChangeArrowheads="1"/>
            </p:cNvSpPr>
            <p:nvPr/>
          </p:nvSpPr>
          <p:spPr bwMode="auto">
            <a:xfrm>
              <a:off x="2971" y="1656"/>
              <a:ext cx="53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32"/>
            <p:cNvSpPr>
              <a:spLocks noChangeShapeType="1"/>
            </p:cNvSpPr>
            <p:nvPr/>
          </p:nvSpPr>
          <p:spPr bwMode="auto">
            <a:xfrm>
              <a:off x="3415" y="415"/>
              <a:ext cx="7" cy="8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AutoShape 33"/>
            <p:cNvSpPr>
              <a:spLocks noChangeArrowheads="1"/>
            </p:cNvSpPr>
            <p:nvPr/>
          </p:nvSpPr>
          <p:spPr bwMode="auto">
            <a:xfrm>
              <a:off x="3284" y="642"/>
              <a:ext cx="276" cy="392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/>
          </p:nvSpPr>
          <p:spPr bwMode="auto">
            <a:xfrm>
              <a:off x="4081" y="435"/>
              <a:ext cx="0" cy="1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35"/>
            <p:cNvSpPr>
              <a:spLocks noChangeShapeType="1"/>
            </p:cNvSpPr>
            <p:nvPr/>
          </p:nvSpPr>
          <p:spPr bwMode="auto">
            <a:xfrm>
              <a:off x="3422" y="1067"/>
              <a:ext cx="0" cy="196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3699" y="984"/>
              <a:ext cx="32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1979" y="978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36" name="Line 38"/>
            <p:cNvSpPr>
              <a:spLocks noChangeShapeType="1"/>
            </p:cNvSpPr>
            <p:nvPr/>
          </p:nvSpPr>
          <p:spPr bwMode="auto">
            <a:xfrm>
              <a:off x="3415" y="424"/>
              <a:ext cx="1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39"/>
            <p:cNvSpPr>
              <a:spLocks noChangeShapeType="1"/>
            </p:cNvSpPr>
            <p:nvPr/>
          </p:nvSpPr>
          <p:spPr bwMode="auto">
            <a:xfrm rot="-5400000">
              <a:off x="2381" y="317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40"/>
            <p:cNvSpPr>
              <a:spLocks noChangeShapeType="1"/>
            </p:cNvSpPr>
            <p:nvPr/>
          </p:nvSpPr>
          <p:spPr bwMode="auto">
            <a:xfrm rot="5400000">
              <a:off x="3710" y="282"/>
              <a:ext cx="0" cy="291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Rectangle 41"/>
            <p:cNvSpPr>
              <a:spLocks noChangeArrowheads="1"/>
            </p:cNvSpPr>
            <p:nvPr/>
          </p:nvSpPr>
          <p:spPr bwMode="auto">
            <a:xfrm>
              <a:off x="2569" y="698"/>
              <a:ext cx="113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Rectangle 42"/>
            <p:cNvSpPr>
              <a:spLocks noChangeArrowheads="1"/>
            </p:cNvSpPr>
            <p:nvPr/>
          </p:nvSpPr>
          <p:spPr bwMode="auto">
            <a:xfrm>
              <a:off x="4025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43"/>
            <p:cNvSpPr>
              <a:spLocks noChangeShapeType="1"/>
            </p:cNvSpPr>
            <p:nvPr/>
          </p:nvSpPr>
          <p:spPr bwMode="auto">
            <a:xfrm>
              <a:off x="4620" y="424"/>
              <a:ext cx="0" cy="1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44"/>
            <p:cNvSpPr>
              <a:spLocks noChangeArrowheads="1"/>
            </p:cNvSpPr>
            <p:nvPr/>
          </p:nvSpPr>
          <p:spPr bwMode="auto">
            <a:xfrm>
              <a:off x="4266" y="975"/>
              <a:ext cx="30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43" name="Rectangle 45"/>
            <p:cNvSpPr>
              <a:spLocks noChangeArrowheads="1"/>
            </p:cNvSpPr>
            <p:nvPr/>
          </p:nvSpPr>
          <p:spPr bwMode="auto">
            <a:xfrm>
              <a:off x="4563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189" y="354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45" name="Group 47"/>
            <p:cNvGrpSpPr>
              <a:grpSpLocks/>
            </p:cNvGrpSpPr>
            <p:nvPr/>
          </p:nvGrpSpPr>
          <p:grpSpPr bwMode="auto">
            <a:xfrm>
              <a:off x="4638" y="439"/>
              <a:ext cx="355" cy="1213"/>
              <a:chOff x="4700" y="410"/>
              <a:chExt cx="355" cy="1213"/>
            </a:xfrm>
          </p:grpSpPr>
          <p:sp>
            <p:nvSpPr>
              <p:cNvPr id="64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65" name="Text Box 49"/>
              <p:cNvSpPr txBox="1">
                <a:spLocks noChangeArrowheads="1"/>
              </p:cNvSpPr>
              <p:nvPr/>
            </p:nvSpPr>
            <p:spPr bwMode="auto">
              <a:xfrm>
                <a:off x="4779" y="133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66" name="Text Box 50"/>
              <p:cNvSpPr txBox="1">
                <a:spLocks noChangeArrowheads="1"/>
              </p:cNvSpPr>
              <p:nvPr/>
            </p:nvSpPr>
            <p:spPr bwMode="auto">
              <a:xfrm>
                <a:off x="4700" y="410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67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46" name="Group 52"/>
            <p:cNvGrpSpPr>
              <a:grpSpLocks/>
            </p:cNvGrpSpPr>
            <p:nvPr/>
          </p:nvGrpSpPr>
          <p:grpSpPr bwMode="auto">
            <a:xfrm>
              <a:off x="952" y="434"/>
              <a:ext cx="311" cy="1276"/>
              <a:chOff x="1110" y="439"/>
              <a:chExt cx="311" cy="1276"/>
            </a:xfrm>
          </p:grpSpPr>
          <p:sp>
            <p:nvSpPr>
              <p:cNvPr id="58" name="Text Box 53"/>
              <p:cNvSpPr txBox="1">
                <a:spLocks noChangeArrowheads="1"/>
              </p:cNvSpPr>
              <p:nvPr/>
            </p:nvSpPr>
            <p:spPr bwMode="auto">
              <a:xfrm>
                <a:off x="1110" y="96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9" name="Text Box 54"/>
              <p:cNvSpPr txBox="1">
                <a:spLocks noChangeArrowheads="1"/>
              </p:cNvSpPr>
              <p:nvPr/>
            </p:nvSpPr>
            <p:spPr bwMode="auto">
              <a:xfrm>
                <a:off x="1113" y="512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60" name="Text Box 55"/>
              <p:cNvSpPr txBox="1">
                <a:spLocks noChangeArrowheads="1"/>
              </p:cNvSpPr>
              <p:nvPr/>
            </p:nvSpPr>
            <p:spPr bwMode="auto">
              <a:xfrm>
                <a:off x="1194" y="133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61" name="Oval 56"/>
              <p:cNvSpPr>
                <a:spLocks noChangeArrowheads="1"/>
              </p:cNvSpPr>
              <p:nvPr/>
            </p:nvSpPr>
            <p:spPr bwMode="auto">
              <a:xfrm>
                <a:off x="1255" y="1667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2" name="Oval 57"/>
              <p:cNvSpPr>
                <a:spLocks noChangeArrowheads="1"/>
              </p:cNvSpPr>
              <p:nvPr/>
            </p:nvSpPr>
            <p:spPr bwMode="auto">
              <a:xfrm>
                <a:off x="1249" y="439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3" name="Rectangle 58"/>
              <p:cNvSpPr>
                <a:spLocks noChangeArrowheads="1"/>
              </p:cNvSpPr>
              <p:nvPr/>
            </p:nvSpPr>
            <p:spPr bwMode="auto">
              <a:xfrm>
                <a:off x="1189" y="848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47" name="Rectangle 59"/>
            <p:cNvSpPr>
              <a:spLocks noChangeArrowheads="1"/>
            </p:cNvSpPr>
            <p:nvPr/>
          </p:nvSpPr>
          <p:spPr bwMode="auto">
            <a:xfrm>
              <a:off x="3194" y="855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48" name="Rectangle 60"/>
            <p:cNvSpPr>
              <a:spLocks noChangeArrowheads="1"/>
            </p:cNvSpPr>
            <p:nvPr/>
          </p:nvSpPr>
          <p:spPr bwMode="auto">
            <a:xfrm>
              <a:off x="3746" y="360"/>
              <a:ext cx="16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49" name="Line 61"/>
            <p:cNvSpPr>
              <a:spLocks noChangeShapeType="1"/>
            </p:cNvSpPr>
            <p:nvPr/>
          </p:nvSpPr>
          <p:spPr bwMode="auto">
            <a:xfrm>
              <a:off x="2626" y="1263"/>
              <a:ext cx="8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Line 62"/>
            <p:cNvSpPr>
              <a:spLocks noChangeShapeType="1"/>
            </p:cNvSpPr>
            <p:nvPr/>
          </p:nvSpPr>
          <p:spPr bwMode="auto">
            <a:xfrm flipV="1">
              <a:off x="2997" y="126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1" name="Group 63"/>
            <p:cNvGrpSpPr>
              <a:grpSpLocks/>
            </p:cNvGrpSpPr>
            <p:nvPr/>
          </p:nvGrpSpPr>
          <p:grpSpPr bwMode="auto">
            <a:xfrm>
              <a:off x="1395" y="453"/>
              <a:ext cx="103" cy="1225"/>
              <a:chOff x="1763" y="527"/>
              <a:chExt cx="103" cy="1225"/>
            </a:xfrm>
          </p:grpSpPr>
          <p:sp>
            <p:nvSpPr>
              <p:cNvPr id="56" name="Line 64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Rectangle 65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1492" y="971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53" name="Text Box 67"/>
            <p:cNvSpPr txBox="1">
              <a:spLocks noChangeArrowheads="1"/>
            </p:cNvSpPr>
            <p:nvPr/>
          </p:nvSpPr>
          <p:spPr bwMode="auto">
            <a:xfrm>
              <a:off x="2622" y="431"/>
              <a:ext cx="202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4" name="Text Box 68"/>
            <p:cNvSpPr txBox="1">
              <a:spLocks noChangeArrowheads="1"/>
            </p:cNvSpPr>
            <p:nvPr/>
          </p:nvSpPr>
          <p:spPr bwMode="auto">
            <a:xfrm>
              <a:off x="2891" y="958"/>
              <a:ext cx="193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5" name="Text Box 69"/>
            <p:cNvSpPr txBox="1">
              <a:spLocks noChangeArrowheads="1"/>
            </p:cNvSpPr>
            <p:nvPr/>
          </p:nvSpPr>
          <p:spPr bwMode="auto">
            <a:xfrm>
              <a:off x="3176" y="379"/>
              <a:ext cx="20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731157" y="2914196"/>
            <a:ext cx="22510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由图可得：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461532" y="2558598"/>
            <a:ext cx="3524250" cy="1198563"/>
            <a:chOff x="864" y="2816"/>
            <a:chExt cx="2220" cy="755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864" y="3024"/>
              <a:ext cx="222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32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r'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— = </a:t>
              </a:r>
              <a:r>
                <a:rPr lang="en-US" altLang="zh-CN" sz="32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8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1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 </a:t>
              </a:r>
              <a:r>
                <a:rPr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1+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1248" y="2816"/>
              <a:ext cx="311" cy="499"/>
              <a:chOff x="2511" y="2304"/>
              <a:chExt cx="311" cy="499"/>
            </a:xfrm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2592" y="2304"/>
                <a:ext cx="17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2511" y="2473"/>
                <a:ext cx="31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1400" b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1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1319" y="3072"/>
              <a:ext cx="249" cy="499"/>
              <a:chOff x="1271" y="3127"/>
              <a:chExt cx="249" cy="499"/>
            </a:xfrm>
          </p:grpSpPr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1311" y="3127"/>
                <a:ext cx="173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  <p:sp>
            <p:nvSpPr>
              <p:cNvPr id="8" name="Rectangle 10"/>
              <p:cNvSpPr>
                <a:spLocks noChangeArrowheads="1"/>
              </p:cNvSpPr>
              <p:nvPr/>
            </p:nvSpPr>
            <p:spPr bwMode="auto">
              <a:xfrm>
                <a:off x="1271" y="3296"/>
                <a:ext cx="249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</p:grpSp>
      </p:grp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828245" y="3644446"/>
            <a:ext cx="5029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1.27 + 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+ 80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×2 = 163.37kΩ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45671" y="4112532"/>
            <a:ext cx="23018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444070" y="4177846"/>
            <a:ext cx="647164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B1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B2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3200" b="1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3200" b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'</a:t>
            </a:r>
            <a:r>
              <a:rPr lang="en-US" altLang="zh-CN" sz="1400" b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1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100 // 30 //163.37 = 20.22kΩ </a:t>
            </a:r>
          </a:p>
        </p:txBody>
      </p:sp>
      <p:grpSp>
        <p:nvGrpSpPr>
          <p:cNvPr id="14" name="Group 71"/>
          <p:cNvGrpSpPr>
            <a:grpSpLocks/>
          </p:cNvGrpSpPr>
          <p:nvPr/>
        </p:nvGrpSpPr>
        <p:grpSpPr bwMode="auto">
          <a:xfrm>
            <a:off x="3049134" y="1619252"/>
            <a:ext cx="534425" cy="1131888"/>
            <a:chOff x="272" y="2363"/>
            <a:chExt cx="436" cy="713"/>
          </a:xfrm>
        </p:grpSpPr>
        <p:sp>
          <p:nvSpPr>
            <p:cNvPr id="15" name="Text Box 72"/>
            <p:cNvSpPr txBox="1">
              <a:spLocks noChangeArrowheads="1"/>
            </p:cNvSpPr>
            <p:nvPr/>
          </p:nvSpPr>
          <p:spPr bwMode="auto">
            <a:xfrm>
              <a:off x="326" y="2746"/>
              <a:ext cx="382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r'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16" name="AutoShape 73"/>
            <p:cNvSpPr>
              <a:spLocks noChangeArrowheads="1"/>
            </p:cNvSpPr>
            <p:nvPr/>
          </p:nvSpPr>
          <p:spPr bwMode="auto">
            <a:xfrm>
              <a:off x="272" y="2363"/>
              <a:ext cx="314" cy="5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1 w 21600"/>
                <a:gd name="T13" fmla="*/ 2927 h 21600"/>
                <a:gd name="T14" fmla="*/ 18229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" name="Group 74"/>
          <p:cNvGrpSpPr>
            <a:grpSpLocks/>
          </p:cNvGrpSpPr>
          <p:nvPr/>
        </p:nvGrpSpPr>
        <p:grpSpPr bwMode="auto">
          <a:xfrm>
            <a:off x="1628548" y="1660755"/>
            <a:ext cx="507276" cy="1131888"/>
            <a:chOff x="272" y="2363"/>
            <a:chExt cx="414" cy="713"/>
          </a:xfrm>
        </p:grpSpPr>
        <p:sp>
          <p:nvSpPr>
            <p:cNvPr id="18" name="Text Box 75"/>
            <p:cNvSpPr txBox="1">
              <a:spLocks noChangeArrowheads="1"/>
            </p:cNvSpPr>
            <p:nvPr/>
          </p:nvSpPr>
          <p:spPr bwMode="auto">
            <a:xfrm>
              <a:off x="367" y="2746"/>
              <a:ext cx="319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</a:p>
          </p:txBody>
        </p:sp>
        <p:sp>
          <p:nvSpPr>
            <p:cNvPr id="19" name="AutoShape 76"/>
            <p:cNvSpPr>
              <a:spLocks noChangeArrowheads="1"/>
            </p:cNvSpPr>
            <p:nvPr/>
          </p:nvSpPr>
          <p:spPr bwMode="auto">
            <a:xfrm>
              <a:off x="272" y="2363"/>
              <a:ext cx="314" cy="5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1 w 21600"/>
                <a:gd name="T13" fmla="*/ 2927 h 21600"/>
                <a:gd name="T14" fmla="*/ 18229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7" name="Group 18"/>
          <p:cNvGrpSpPr>
            <a:grpSpLocks/>
          </p:cNvGrpSpPr>
          <p:nvPr/>
        </p:nvGrpSpPr>
        <p:grpSpPr bwMode="auto">
          <a:xfrm>
            <a:off x="1295176" y="192995"/>
            <a:ext cx="6415090" cy="2295525"/>
            <a:chOff x="952" y="354"/>
            <a:chExt cx="4041" cy="1446"/>
          </a:xfrm>
        </p:grpSpPr>
        <p:grpSp>
          <p:nvGrpSpPr>
            <p:cNvPr id="78" name="Group 19"/>
            <p:cNvGrpSpPr>
              <a:grpSpLocks/>
            </p:cNvGrpSpPr>
            <p:nvPr/>
          </p:nvGrpSpPr>
          <p:grpSpPr bwMode="auto">
            <a:xfrm>
              <a:off x="1879" y="453"/>
              <a:ext cx="103" cy="1225"/>
              <a:chOff x="1763" y="527"/>
              <a:chExt cx="103" cy="1225"/>
            </a:xfrm>
          </p:grpSpPr>
          <p:sp>
            <p:nvSpPr>
              <p:cNvPr id="127" name="Line 20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8" name="Rectangle 21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V="1">
              <a:off x="1103" y="463"/>
              <a:ext cx="1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23"/>
            <p:cNvSpPr>
              <a:spLocks noChangeShapeType="1"/>
            </p:cNvSpPr>
            <p:nvPr/>
          </p:nvSpPr>
          <p:spPr bwMode="auto">
            <a:xfrm>
              <a:off x="2626" y="463"/>
              <a:ext cx="0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 flipV="1">
              <a:off x="1124" y="1687"/>
              <a:ext cx="3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3000" y="1687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26"/>
            <p:cNvSpPr>
              <a:spLocks noChangeShapeType="1"/>
            </p:cNvSpPr>
            <p:nvPr/>
          </p:nvSpPr>
          <p:spPr bwMode="auto">
            <a:xfrm>
              <a:off x="2891" y="1789"/>
              <a:ext cx="2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2239" y="677"/>
              <a:ext cx="4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3055" y="952"/>
              <a:ext cx="35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2151" y="46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Text Box 30"/>
            <p:cNvSpPr txBox="1">
              <a:spLocks noChangeArrowheads="1"/>
            </p:cNvSpPr>
            <p:nvPr/>
          </p:nvSpPr>
          <p:spPr bwMode="auto">
            <a:xfrm>
              <a:off x="3703" y="430"/>
              <a:ext cx="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Oval 31"/>
            <p:cNvSpPr>
              <a:spLocks noChangeArrowheads="1"/>
            </p:cNvSpPr>
            <p:nvPr/>
          </p:nvSpPr>
          <p:spPr bwMode="auto">
            <a:xfrm>
              <a:off x="2971" y="1656"/>
              <a:ext cx="53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3415" y="415"/>
              <a:ext cx="7" cy="8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AutoShape 33"/>
            <p:cNvSpPr>
              <a:spLocks noChangeArrowheads="1"/>
            </p:cNvSpPr>
            <p:nvPr/>
          </p:nvSpPr>
          <p:spPr bwMode="auto">
            <a:xfrm>
              <a:off x="3284" y="642"/>
              <a:ext cx="276" cy="392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34"/>
            <p:cNvSpPr>
              <a:spLocks noChangeShapeType="1"/>
            </p:cNvSpPr>
            <p:nvPr/>
          </p:nvSpPr>
          <p:spPr bwMode="auto">
            <a:xfrm>
              <a:off x="4081" y="435"/>
              <a:ext cx="0" cy="1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35"/>
            <p:cNvSpPr>
              <a:spLocks noChangeShapeType="1"/>
            </p:cNvSpPr>
            <p:nvPr/>
          </p:nvSpPr>
          <p:spPr bwMode="auto">
            <a:xfrm>
              <a:off x="3422" y="1067"/>
              <a:ext cx="0" cy="196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Rectangle 36"/>
            <p:cNvSpPr>
              <a:spLocks noChangeArrowheads="1"/>
            </p:cNvSpPr>
            <p:nvPr/>
          </p:nvSpPr>
          <p:spPr bwMode="auto">
            <a:xfrm>
              <a:off x="3699" y="984"/>
              <a:ext cx="32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4" name="Rectangle 37"/>
            <p:cNvSpPr>
              <a:spLocks noChangeArrowheads="1"/>
            </p:cNvSpPr>
            <p:nvPr/>
          </p:nvSpPr>
          <p:spPr bwMode="auto">
            <a:xfrm>
              <a:off x="1979" y="978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95" name="Line 38"/>
            <p:cNvSpPr>
              <a:spLocks noChangeShapeType="1"/>
            </p:cNvSpPr>
            <p:nvPr/>
          </p:nvSpPr>
          <p:spPr bwMode="auto">
            <a:xfrm>
              <a:off x="3415" y="424"/>
              <a:ext cx="1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39"/>
            <p:cNvSpPr>
              <a:spLocks noChangeShapeType="1"/>
            </p:cNvSpPr>
            <p:nvPr/>
          </p:nvSpPr>
          <p:spPr bwMode="auto">
            <a:xfrm rot="-5400000">
              <a:off x="2381" y="317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40"/>
            <p:cNvSpPr>
              <a:spLocks noChangeShapeType="1"/>
            </p:cNvSpPr>
            <p:nvPr/>
          </p:nvSpPr>
          <p:spPr bwMode="auto">
            <a:xfrm rot="5400000">
              <a:off x="3710" y="282"/>
              <a:ext cx="0" cy="291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41"/>
            <p:cNvSpPr>
              <a:spLocks noChangeArrowheads="1"/>
            </p:cNvSpPr>
            <p:nvPr/>
          </p:nvSpPr>
          <p:spPr bwMode="auto">
            <a:xfrm>
              <a:off x="2569" y="698"/>
              <a:ext cx="113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Rectangle 42"/>
            <p:cNvSpPr>
              <a:spLocks noChangeArrowheads="1"/>
            </p:cNvSpPr>
            <p:nvPr/>
          </p:nvSpPr>
          <p:spPr bwMode="auto">
            <a:xfrm>
              <a:off x="4025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>
              <a:off x="4620" y="424"/>
              <a:ext cx="0" cy="1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Rectangle 44"/>
            <p:cNvSpPr>
              <a:spLocks noChangeArrowheads="1"/>
            </p:cNvSpPr>
            <p:nvPr/>
          </p:nvSpPr>
          <p:spPr bwMode="auto">
            <a:xfrm>
              <a:off x="4266" y="975"/>
              <a:ext cx="30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2" name="Rectangle 45"/>
            <p:cNvSpPr>
              <a:spLocks noChangeArrowheads="1"/>
            </p:cNvSpPr>
            <p:nvPr/>
          </p:nvSpPr>
          <p:spPr bwMode="auto">
            <a:xfrm>
              <a:off x="4563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46"/>
            <p:cNvSpPr>
              <a:spLocks noChangeArrowheads="1"/>
            </p:cNvSpPr>
            <p:nvPr/>
          </p:nvSpPr>
          <p:spPr bwMode="auto">
            <a:xfrm>
              <a:off x="2189" y="354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04" name="Group 47"/>
            <p:cNvGrpSpPr>
              <a:grpSpLocks/>
            </p:cNvGrpSpPr>
            <p:nvPr/>
          </p:nvGrpSpPr>
          <p:grpSpPr bwMode="auto">
            <a:xfrm>
              <a:off x="4638" y="439"/>
              <a:ext cx="355" cy="1213"/>
              <a:chOff x="4700" y="410"/>
              <a:chExt cx="355" cy="1213"/>
            </a:xfrm>
          </p:grpSpPr>
          <p:sp>
            <p:nvSpPr>
              <p:cNvPr id="123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124" name="Text Box 49"/>
              <p:cNvSpPr txBox="1">
                <a:spLocks noChangeArrowheads="1"/>
              </p:cNvSpPr>
              <p:nvPr/>
            </p:nvSpPr>
            <p:spPr bwMode="auto">
              <a:xfrm>
                <a:off x="4779" y="133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5" name="Text Box 50"/>
              <p:cNvSpPr txBox="1">
                <a:spLocks noChangeArrowheads="1"/>
              </p:cNvSpPr>
              <p:nvPr/>
            </p:nvSpPr>
            <p:spPr bwMode="auto">
              <a:xfrm>
                <a:off x="4700" y="410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26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105" name="Group 52"/>
            <p:cNvGrpSpPr>
              <a:grpSpLocks/>
            </p:cNvGrpSpPr>
            <p:nvPr/>
          </p:nvGrpSpPr>
          <p:grpSpPr bwMode="auto">
            <a:xfrm>
              <a:off x="952" y="434"/>
              <a:ext cx="311" cy="1276"/>
              <a:chOff x="1110" y="439"/>
              <a:chExt cx="311" cy="1276"/>
            </a:xfrm>
          </p:grpSpPr>
          <p:sp>
            <p:nvSpPr>
              <p:cNvPr id="117" name="Text Box 53"/>
              <p:cNvSpPr txBox="1">
                <a:spLocks noChangeArrowheads="1"/>
              </p:cNvSpPr>
              <p:nvPr/>
            </p:nvSpPr>
            <p:spPr bwMode="auto">
              <a:xfrm>
                <a:off x="1110" y="96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8" name="Text Box 54"/>
              <p:cNvSpPr txBox="1">
                <a:spLocks noChangeArrowheads="1"/>
              </p:cNvSpPr>
              <p:nvPr/>
            </p:nvSpPr>
            <p:spPr bwMode="auto">
              <a:xfrm>
                <a:off x="1113" y="512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19" name="Text Box 55"/>
              <p:cNvSpPr txBox="1">
                <a:spLocks noChangeArrowheads="1"/>
              </p:cNvSpPr>
              <p:nvPr/>
            </p:nvSpPr>
            <p:spPr bwMode="auto">
              <a:xfrm>
                <a:off x="1194" y="133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0" name="Oval 56"/>
              <p:cNvSpPr>
                <a:spLocks noChangeArrowheads="1"/>
              </p:cNvSpPr>
              <p:nvPr/>
            </p:nvSpPr>
            <p:spPr bwMode="auto">
              <a:xfrm>
                <a:off x="1255" y="1667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1" name="Oval 57"/>
              <p:cNvSpPr>
                <a:spLocks noChangeArrowheads="1"/>
              </p:cNvSpPr>
              <p:nvPr/>
            </p:nvSpPr>
            <p:spPr bwMode="auto">
              <a:xfrm>
                <a:off x="1249" y="439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2" name="Rectangle 58"/>
              <p:cNvSpPr>
                <a:spLocks noChangeArrowheads="1"/>
              </p:cNvSpPr>
              <p:nvPr/>
            </p:nvSpPr>
            <p:spPr bwMode="auto">
              <a:xfrm>
                <a:off x="1189" y="848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06" name="Rectangle 59"/>
            <p:cNvSpPr>
              <a:spLocks noChangeArrowheads="1"/>
            </p:cNvSpPr>
            <p:nvPr/>
          </p:nvSpPr>
          <p:spPr bwMode="auto">
            <a:xfrm>
              <a:off x="3194" y="855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07" name="Rectangle 60"/>
            <p:cNvSpPr>
              <a:spLocks noChangeArrowheads="1"/>
            </p:cNvSpPr>
            <p:nvPr/>
          </p:nvSpPr>
          <p:spPr bwMode="auto">
            <a:xfrm>
              <a:off x="3746" y="360"/>
              <a:ext cx="16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08" name="Line 61"/>
            <p:cNvSpPr>
              <a:spLocks noChangeShapeType="1"/>
            </p:cNvSpPr>
            <p:nvPr/>
          </p:nvSpPr>
          <p:spPr bwMode="auto">
            <a:xfrm>
              <a:off x="2626" y="1263"/>
              <a:ext cx="8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62"/>
            <p:cNvSpPr>
              <a:spLocks noChangeShapeType="1"/>
            </p:cNvSpPr>
            <p:nvPr/>
          </p:nvSpPr>
          <p:spPr bwMode="auto">
            <a:xfrm flipV="1">
              <a:off x="2997" y="126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0" name="Group 63"/>
            <p:cNvGrpSpPr>
              <a:grpSpLocks/>
            </p:cNvGrpSpPr>
            <p:nvPr/>
          </p:nvGrpSpPr>
          <p:grpSpPr bwMode="auto">
            <a:xfrm>
              <a:off x="1395" y="453"/>
              <a:ext cx="103" cy="1225"/>
              <a:chOff x="1763" y="527"/>
              <a:chExt cx="103" cy="1225"/>
            </a:xfrm>
          </p:grpSpPr>
          <p:sp>
            <p:nvSpPr>
              <p:cNvPr id="115" name="Line 64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6" name="Rectangle 65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11" name="Rectangle 66"/>
            <p:cNvSpPr>
              <a:spLocks noChangeArrowheads="1"/>
            </p:cNvSpPr>
            <p:nvPr/>
          </p:nvSpPr>
          <p:spPr bwMode="auto">
            <a:xfrm>
              <a:off x="1492" y="971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12" name="Text Box 67"/>
            <p:cNvSpPr txBox="1">
              <a:spLocks noChangeArrowheads="1"/>
            </p:cNvSpPr>
            <p:nvPr/>
          </p:nvSpPr>
          <p:spPr bwMode="auto">
            <a:xfrm>
              <a:off x="2622" y="431"/>
              <a:ext cx="202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3" name="Text Box 68"/>
            <p:cNvSpPr txBox="1">
              <a:spLocks noChangeArrowheads="1"/>
            </p:cNvSpPr>
            <p:nvPr/>
          </p:nvSpPr>
          <p:spPr bwMode="auto">
            <a:xfrm>
              <a:off x="2891" y="958"/>
              <a:ext cx="193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14" name="Text Box 69"/>
            <p:cNvSpPr txBox="1">
              <a:spLocks noChangeArrowheads="1"/>
            </p:cNvSpPr>
            <p:nvPr/>
          </p:nvSpPr>
          <p:spPr bwMode="auto">
            <a:xfrm>
              <a:off x="3176" y="379"/>
              <a:ext cx="20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11" grpId="0" autoUpdateAnimBg="0"/>
      <p:bldP spid="12" grpId="0" autoUpdateAnimBg="0"/>
      <p:bldP spid="1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7"/>
          <p:cNvSpPr>
            <a:spLocks noChangeArrowheads="1"/>
          </p:cNvSpPr>
          <p:nvPr/>
        </p:nvSpPr>
        <p:spPr bwMode="auto">
          <a:xfrm>
            <a:off x="1137557" y="3021013"/>
            <a:ext cx="1606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28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输出电阻</a:t>
            </a:r>
          </a:p>
        </p:txBody>
      </p:sp>
      <p:sp>
        <p:nvSpPr>
          <p:cNvPr id="21" name="Rectangle 78"/>
          <p:cNvSpPr>
            <a:spLocks noChangeArrowheads="1"/>
          </p:cNvSpPr>
          <p:nvPr/>
        </p:nvSpPr>
        <p:spPr bwMode="auto">
          <a:xfrm>
            <a:off x="2921907" y="3040063"/>
            <a:ext cx="264069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b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5.1kΩ</a:t>
            </a:r>
            <a:endParaRPr lang="en-US" altLang="zh-CN" sz="14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2" name="Group 79"/>
          <p:cNvGrpSpPr>
            <a:grpSpLocks/>
          </p:cNvGrpSpPr>
          <p:nvPr/>
        </p:nvGrpSpPr>
        <p:grpSpPr bwMode="auto">
          <a:xfrm flipH="1">
            <a:off x="6417128" y="1660754"/>
            <a:ext cx="458788" cy="1131888"/>
            <a:chOff x="272" y="2363"/>
            <a:chExt cx="374" cy="713"/>
          </a:xfrm>
        </p:grpSpPr>
        <p:sp>
          <p:nvSpPr>
            <p:cNvPr id="23" name="Text Box 80"/>
            <p:cNvSpPr txBox="1">
              <a:spLocks noChangeArrowheads="1"/>
            </p:cNvSpPr>
            <p:nvPr/>
          </p:nvSpPr>
          <p:spPr bwMode="auto">
            <a:xfrm>
              <a:off x="301" y="2746"/>
              <a:ext cx="345" cy="33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6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24" name="AutoShape 81"/>
            <p:cNvSpPr>
              <a:spLocks noChangeArrowheads="1"/>
            </p:cNvSpPr>
            <p:nvPr/>
          </p:nvSpPr>
          <p:spPr bwMode="auto">
            <a:xfrm>
              <a:off x="272" y="2363"/>
              <a:ext cx="314" cy="54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51 w 21600"/>
                <a:gd name="T13" fmla="*/ 2927 h 21600"/>
                <a:gd name="T14" fmla="*/ 18229 w 21600"/>
                <a:gd name="T15" fmla="*/ 9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close/>
                </a:path>
              </a:pathLst>
            </a:custGeom>
            <a:solidFill>
              <a:srgbClr val="0070C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7" name="Group 18"/>
          <p:cNvGrpSpPr>
            <a:grpSpLocks/>
          </p:cNvGrpSpPr>
          <p:nvPr/>
        </p:nvGrpSpPr>
        <p:grpSpPr bwMode="auto">
          <a:xfrm>
            <a:off x="1295176" y="192995"/>
            <a:ext cx="6415090" cy="2295525"/>
            <a:chOff x="952" y="354"/>
            <a:chExt cx="4041" cy="1446"/>
          </a:xfrm>
        </p:grpSpPr>
        <p:grpSp>
          <p:nvGrpSpPr>
            <p:cNvPr id="78" name="Group 19"/>
            <p:cNvGrpSpPr>
              <a:grpSpLocks/>
            </p:cNvGrpSpPr>
            <p:nvPr/>
          </p:nvGrpSpPr>
          <p:grpSpPr bwMode="auto">
            <a:xfrm>
              <a:off x="1879" y="453"/>
              <a:ext cx="103" cy="1225"/>
              <a:chOff x="1763" y="527"/>
              <a:chExt cx="103" cy="1225"/>
            </a:xfrm>
          </p:grpSpPr>
          <p:sp>
            <p:nvSpPr>
              <p:cNvPr id="127" name="Line 20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8" name="Rectangle 21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79" name="Line 22"/>
            <p:cNvSpPr>
              <a:spLocks noChangeShapeType="1"/>
            </p:cNvSpPr>
            <p:nvPr/>
          </p:nvSpPr>
          <p:spPr bwMode="auto">
            <a:xfrm flipV="1">
              <a:off x="1103" y="463"/>
              <a:ext cx="15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23"/>
            <p:cNvSpPr>
              <a:spLocks noChangeShapeType="1"/>
            </p:cNvSpPr>
            <p:nvPr/>
          </p:nvSpPr>
          <p:spPr bwMode="auto">
            <a:xfrm>
              <a:off x="2626" y="463"/>
              <a:ext cx="0" cy="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24"/>
            <p:cNvSpPr>
              <a:spLocks noChangeShapeType="1"/>
            </p:cNvSpPr>
            <p:nvPr/>
          </p:nvSpPr>
          <p:spPr bwMode="auto">
            <a:xfrm flipV="1">
              <a:off x="1124" y="1687"/>
              <a:ext cx="3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3000" y="1687"/>
              <a:ext cx="0" cy="1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26"/>
            <p:cNvSpPr>
              <a:spLocks noChangeShapeType="1"/>
            </p:cNvSpPr>
            <p:nvPr/>
          </p:nvSpPr>
          <p:spPr bwMode="auto">
            <a:xfrm>
              <a:off x="2891" y="1789"/>
              <a:ext cx="212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27"/>
            <p:cNvSpPr txBox="1">
              <a:spLocks noChangeArrowheads="1"/>
            </p:cNvSpPr>
            <p:nvPr/>
          </p:nvSpPr>
          <p:spPr bwMode="auto">
            <a:xfrm>
              <a:off x="2239" y="677"/>
              <a:ext cx="47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Text Box 28"/>
            <p:cNvSpPr txBox="1">
              <a:spLocks noChangeArrowheads="1"/>
            </p:cNvSpPr>
            <p:nvPr/>
          </p:nvSpPr>
          <p:spPr bwMode="auto">
            <a:xfrm>
              <a:off x="3055" y="952"/>
              <a:ext cx="35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6" name="Text Box 29"/>
            <p:cNvSpPr txBox="1">
              <a:spLocks noChangeArrowheads="1"/>
            </p:cNvSpPr>
            <p:nvPr/>
          </p:nvSpPr>
          <p:spPr bwMode="auto">
            <a:xfrm>
              <a:off x="2151" y="466"/>
              <a:ext cx="24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Text Box 30"/>
            <p:cNvSpPr txBox="1">
              <a:spLocks noChangeArrowheads="1"/>
            </p:cNvSpPr>
            <p:nvPr/>
          </p:nvSpPr>
          <p:spPr bwMode="auto">
            <a:xfrm>
              <a:off x="3703" y="430"/>
              <a:ext cx="2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Oval 31"/>
            <p:cNvSpPr>
              <a:spLocks noChangeArrowheads="1"/>
            </p:cNvSpPr>
            <p:nvPr/>
          </p:nvSpPr>
          <p:spPr bwMode="auto">
            <a:xfrm>
              <a:off x="2971" y="1656"/>
              <a:ext cx="53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32"/>
            <p:cNvSpPr>
              <a:spLocks noChangeShapeType="1"/>
            </p:cNvSpPr>
            <p:nvPr/>
          </p:nvSpPr>
          <p:spPr bwMode="auto">
            <a:xfrm>
              <a:off x="3415" y="415"/>
              <a:ext cx="7" cy="8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AutoShape 33"/>
            <p:cNvSpPr>
              <a:spLocks noChangeArrowheads="1"/>
            </p:cNvSpPr>
            <p:nvPr/>
          </p:nvSpPr>
          <p:spPr bwMode="auto">
            <a:xfrm>
              <a:off x="3284" y="642"/>
              <a:ext cx="276" cy="392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34"/>
            <p:cNvSpPr>
              <a:spLocks noChangeShapeType="1"/>
            </p:cNvSpPr>
            <p:nvPr/>
          </p:nvSpPr>
          <p:spPr bwMode="auto">
            <a:xfrm>
              <a:off x="4081" y="435"/>
              <a:ext cx="0" cy="124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35"/>
            <p:cNvSpPr>
              <a:spLocks noChangeShapeType="1"/>
            </p:cNvSpPr>
            <p:nvPr/>
          </p:nvSpPr>
          <p:spPr bwMode="auto">
            <a:xfrm>
              <a:off x="3422" y="1067"/>
              <a:ext cx="0" cy="196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Rectangle 36"/>
            <p:cNvSpPr>
              <a:spLocks noChangeArrowheads="1"/>
            </p:cNvSpPr>
            <p:nvPr/>
          </p:nvSpPr>
          <p:spPr bwMode="auto">
            <a:xfrm>
              <a:off x="3699" y="984"/>
              <a:ext cx="32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4" name="Rectangle 37"/>
            <p:cNvSpPr>
              <a:spLocks noChangeArrowheads="1"/>
            </p:cNvSpPr>
            <p:nvPr/>
          </p:nvSpPr>
          <p:spPr bwMode="auto">
            <a:xfrm>
              <a:off x="1979" y="978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B2</a:t>
              </a:r>
            </a:p>
          </p:txBody>
        </p:sp>
        <p:sp>
          <p:nvSpPr>
            <p:cNvPr id="95" name="Line 38"/>
            <p:cNvSpPr>
              <a:spLocks noChangeShapeType="1"/>
            </p:cNvSpPr>
            <p:nvPr/>
          </p:nvSpPr>
          <p:spPr bwMode="auto">
            <a:xfrm>
              <a:off x="3415" y="424"/>
              <a:ext cx="12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39"/>
            <p:cNvSpPr>
              <a:spLocks noChangeShapeType="1"/>
            </p:cNvSpPr>
            <p:nvPr/>
          </p:nvSpPr>
          <p:spPr bwMode="auto">
            <a:xfrm rot="-5400000">
              <a:off x="2381" y="317"/>
              <a:ext cx="0" cy="292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40"/>
            <p:cNvSpPr>
              <a:spLocks noChangeShapeType="1"/>
            </p:cNvSpPr>
            <p:nvPr/>
          </p:nvSpPr>
          <p:spPr bwMode="auto">
            <a:xfrm rot="5400000">
              <a:off x="3710" y="282"/>
              <a:ext cx="0" cy="291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41"/>
            <p:cNvSpPr>
              <a:spLocks noChangeArrowheads="1"/>
            </p:cNvSpPr>
            <p:nvPr/>
          </p:nvSpPr>
          <p:spPr bwMode="auto">
            <a:xfrm>
              <a:off x="2569" y="698"/>
              <a:ext cx="113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Rectangle 42"/>
            <p:cNvSpPr>
              <a:spLocks noChangeArrowheads="1"/>
            </p:cNvSpPr>
            <p:nvPr/>
          </p:nvSpPr>
          <p:spPr bwMode="auto">
            <a:xfrm>
              <a:off x="4025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43"/>
            <p:cNvSpPr>
              <a:spLocks noChangeShapeType="1"/>
            </p:cNvSpPr>
            <p:nvPr/>
          </p:nvSpPr>
          <p:spPr bwMode="auto">
            <a:xfrm>
              <a:off x="4620" y="424"/>
              <a:ext cx="0" cy="12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Rectangle 44"/>
            <p:cNvSpPr>
              <a:spLocks noChangeArrowheads="1"/>
            </p:cNvSpPr>
            <p:nvPr/>
          </p:nvSpPr>
          <p:spPr bwMode="auto">
            <a:xfrm>
              <a:off x="4266" y="975"/>
              <a:ext cx="30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2" name="Rectangle 45"/>
            <p:cNvSpPr>
              <a:spLocks noChangeArrowheads="1"/>
            </p:cNvSpPr>
            <p:nvPr/>
          </p:nvSpPr>
          <p:spPr bwMode="auto">
            <a:xfrm>
              <a:off x="4563" y="995"/>
              <a:ext cx="114" cy="336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46"/>
            <p:cNvSpPr>
              <a:spLocks noChangeArrowheads="1"/>
            </p:cNvSpPr>
            <p:nvPr/>
          </p:nvSpPr>
          <p:spPr bwMode="auto">
            <a:xfrm>
              <a:off x="2189" y="354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04" name="Group 47"/>
            <p:cNvGrpSpPr>
              <a:grpSpLocks/>
            </p:cNvGrpSpPr>
            <p:nvPr/>
          </p:nvGrpSpPr>
          <p:grpSpPr bwMode="auto">
            <a:xfrm>
              <a:off x="4638" y="439"/>
              <a:ext cx="355" cy="1213"/>
              <a:chOff x="4700" y="410"/>
              <a:chExt cx="355" cy="1213"/>
            </a:xfrm>
          </p:grpSpPr>
          <p:sp>
            <p:nvSpPr>
              <p:cNvPr id="123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124" name="Text Box 49"/>
              <p:cNvSpPr txBox="1">
                <a:spLocks noChangeArrowheads="1"/>
              </p:cNvSpPr>
              <p:nvPr/>
            </p:nvSpPr>
            <p:spPr bwMode="auto">
              <a:xfrm>
                <a:off x="4779" y="1332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5" name="Text Box 50"/>
              <p:cNvSpPr txBox="1">
                <a:spLocks noChangeArrowheads="1"/>
              </p:cNvSpPr>
              <p:nvPr/>
            </p:nvSpPr>
            <p:spPr bwMode="auto">
              <a:xfrm>
                <a:off x="4700" y="410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26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grpSp>
          <p:nvGrpSpPr>
            <p:cNvPr id="105" name="Group 52"/>
            <p:cNvGrpSpPr>
              <a:grpSpLocks/>
            </p:cNvGrpSpPr>
            <p:nvPr/>
          </p:nvGrpSpPr>
          <p:grpSpPr bwMode="auto">
            <a:xfrm>
              <a:off x="952" y="434"/>
              <a:ext cx="311" cy="1276"/>
              <a:chOff x="1110" y="439"/>
              <a:chExt cx="311" cy="1276"/>
            </a:xfrm>
          </p:grpSpPr>
          <p:sp>
            <p:nvSpPr>
              <p:cNvPr id="117" name="Text Box 53"/>
              <p:cNvSpPr txBox="1">
                <a:spLocks noChangeArrowheads="1"/>
              </p:cNvSpPr>
              <p:nvPr/>
            </p:nvSpPr>
            <p:spPr bwMode="auto">
              <a:xfrm>
                <a:off x="1110" y="962"/>
                <a:ext cx="29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8" name="Text Box 54"/>
              <p:cNvSpPr txBox="1">
                <a:spLocks noChangeArrowheads="1"/>
              </p:cNvSpPr>
              <p:nvPr/>
            </p:nvSpPr>
            <p:spPr bwMode="auto">
              <a:xfrm>
                <a:off x="1113" y="512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19" name="Text Box 55"/>
              <p:cNvSpPr txBox="1">
                <a:spLocks noChangeArrowheads="1"/>
              </p:cNvSpPr>
              <p:nvPr/>
            </p:nvSpPr>
            <p:spPr bwMode="auto">
              <a:xfrm>
                <a:off x="1194" y="1339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0" name="Oval 56"/>
              <p:cNvSpPr>
                <a:spLocks noChangeArrowheads="1"/>
              </p:cNvSpPr>
              <p:nvPr/>
            </p:nvSpPr>
            <p:spPr bwMode="auto">
              <a:xfrm>
                <a:off x="1255" y="1667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1" name="Oval 57"/>
              <p:cNvSpPr>
                <a:spLocks noChangeArrowheads="1"/>
              </p:cNvSpPr>
              <p:nvPr/>
            </p:nvSpPr>
            <p:spPr bwMode="auto">
              <a:xfrm>
                <a:off x="1249" y="439"/>
                <a:ext cx="53" cy="48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2" name="Rectangle 58"/>
              <p:cNvSpPr>
                <a:spLocks noChangeArrowheads="1"/>
              </p:cNvSpPr>
              <p:nvPr/>
            </p:nvSpPr>
            <p:spPr bwMode="auto">
              <a:xfrm>
                <a:off x="1189" y="848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06" name="Rectangle 59"/>
            <p:cNvSpPr>
              <a:spLocks noChangeArrowheads="1"/>
            </p:cNvSpPr>
            <p:nvPr/>
          </p:nvSpPr>
          <p:spPr bwMode="auto">
            <a:xfrm>
              <a:off x="3194" y="855"/>
              <a:ext cx="162" cy="21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07" name="Rectangle 60"/>
            <p:cNvSpPr>
              <a:spLocks noChangeArrowheads="1"/>
            </p:cNvSpPr>
            <p:nvPr/>
          </p:nvSpPr>
          <p:spPr bwMode="auto">
            <a:xfrm>
              <a:off x="3746" y="360"/>
              <a:ext cx="167" cy="23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08" name="Line 61"/>
            <p:cNvSpPr>
              <a:spLocks noChangeShapeType="1"/>
            </p:cNvSpPr>
            <p:nvPr/>
          </p:nvSpPr>
          <p:spPr bwMode="auto">
            <a:xfrm>
              <a:off x="2626" y="1263"/>
              <a:ext cx="8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62"/>
            <p:cNvSpPr>
              <a:spLocks noChangeShapeType="1"/>
            </p:cNvSpPr>
            <p:nvPr/>
          </p:nvSpPr>
          <p:spPr bwMode="auto">
            <a:xfrm flipV="1">
              <a:off x="2997" y="1263"/>
              <a:ext cx="0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10" name="Group 63"/>
            <p:cNvGrpSpPr>
              <a:grpSpLocks/>
            </p:cNvGrpSpPr>
            <p:nvPr/>
          </p:nvGrpSpPr>
          <p:grpSpPr bwMode="auto">
            <a:xfrm>
              <a:off x="1395" y="453"/>
              <a:ext cx="103" cy="1225"/>
              <a:chOff x="1763" y="527"/>
              <a:chExt cx="103" cy="1225"/>
            </a:xfrm>
          </p:grpSpPr>
          <p:sp>
            <p:nvSpPr>
              <p:cNvPr id="115" name="Line 64"/>
              <p:cNvSpPr>
                <a:spLocks noChangeShapeType="1"/>
              </p:cNvSpPr>
              <p:nvPr/>
            </p:nvSpPr>
            <p:spPr bwMode="auto">
              <a:xfrm>
                <a:off x="1817" y="527"/>
                <a:ext cx="0" cy="122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6" name="Rectangle 65"/>
              <p:cNvSpPr>
                <a:spLocks noChangeArrowheads="1"/>
              </p:cNvSpPr>
              <p:nvPr/>
            </p:nvSpPr>
            <p:spPr bwMode="auto">
              <a:xfrm>
                <a:off x="1763" y="1042"/>
                <a:ext cx="103" cy="336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11" name="Rectangle 66"/>
            <p:cNvSpPr>
              <a:spLocks noChangeArrowheads="1"/>
            </p:cNvSpPr>
            <p:nvPr/>
          </p:nvSpPr>
          <p:spPr bwMode="auto">
            <a:xfrm>
              <a:off x="1492" y="971"/>
              <a:ext cx="38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</a:p>
          </p:txBody>
        </p:sp>
        <p:sp>
          <p:nvSpPr>
            <p:cNvPr id="112" name="Text Box 67"/>
            <p:cNvSpPr txBox="1">
              <a:spLocks noChangeArrowheads="1"/>
            </p:cNvSpPr>
            <p:nvPr/>
          </p:nvSpPr>
          <p:spPr bwMode="auto">
            <a:xfrm>
              <a:off x="2622" y="431"/>
              <a:ext cx="202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3" name="Text Box 68"/>
            <p:cNvSpPr txBox="1">
              <a:spLocks noChangeArrowheads="1"/>
            </p:cNvSpPr>
            <p:nvPr/>
          </p:nvSpPr>
          <p:spPr bwMode="auto">
            <a:xfrm>
              <a:off x="2891" y="958"/>
              <a:ext cx="193" cy="2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14" name="Text Box 69"/>
            <p:cNvSpPr txBox="1">
              <a:spLocks noChangeArrowheads="1"/>
            </p:cNvSpPr>
            <p:nvPr/>
          </p:nvSpPr>
          <p:spPr bwMode="auto">
            <a:xfrm>
              <a:off x="3176" y="379"/>
              <a:ext cx="20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tx1"/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3266</TotalTime>
  <Words>1428</Words>
  <Application>Microsoft Office PowerPoint</Application>
  <PresentationFormat>全屏显示(16:9)</PresentationFormat>
  <Paragraphs>709</Paragraphs>
  <Slides>25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Office 主题</vt:lpstr>
      <vt:lpstr>Equation</vt:lpstr>
      <vt:lpstr>9.2  放大电路的分析和工作点的稳定 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4） 频率响应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224</cp:revision>
  <dcterms:created xsi:type="dcterms:W3CDTF">2017-07-05T02:13:24Z</dcterms:created>
  <dcterms:modified xsi:type="dcterms:W3CDTF">2017-10-14T23:43:24Z</dcterms:modified>
</cp:coreProperties>
</file>