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9" r:id="rId5"/>
    <p:sldId id="291" r:id="rId6"/>
    <p:sldId id="347" r:id="rId7"/>
    <p:sldId id="284" r:id="rId8"/>
    <p:sldId id="264" r:id="rId9"/>
    <p:sldId id="288" r:id="rId10"/>
    <p:sldId id="308" r:id="rId11"/>
    <p:sldId id="309" r:id="rId12"/>
    <p:sldId id="285" r:id="rId13"/>
    <p:sldId id="271" r:id="rId14"/>
    <p:sldId id="273" r:id="rId15"/>
    <p:sldId id="274" r:id="rId16"/>
    <p:sldId id="283" r:id="rId17"/>
    <p:sldId id="276" r:id="rId18"/>
    <p:sldId id="310" r:id="rId19"/>
    <p:sldId id="381" r:id="rId20"/>
    <p:sldId id="311" r:id="rId21"/>
    <p:sldId id="382" r:id="rId22"/>
    <p:sldId id="286" r:id="rId23"/>
    <p:sldId id="312" r:id="rId24"/>
    <p:sldId id="383" r:id="rId25"/>
    <p:sldId id="384" r:id="rId26"/>
    <p:sldId id="277" r:id="rId27"/>
    <p:sldId id="278" r:id="rId28"/>
    <p:sldId id="386" r:id="rId29"/>
    <p:sldId id="385" r:id="rId30"/>
    <p:sldId id="279" r:id="rId31"/>
    <p:sldId id="289" r:id="rId32"/>
    <p:sldId id="290" r:id="rId33"/>
    <p:sldId id="314" r:id="rId34"/>
    <p:sldId id="315" r:id="rId35"/>
    <p:sldId id="375" r:id="rId36"/>
    <p:sldId id="374" r:id="rId37"/>
    <p:sldId id="377" r:id="rId38"/>
    <p:sldId id="378" r:id="rId39"/>
  </p:sldIdLst>
  <p:sldSz cx="9144000" cy="6858000" type="screen4x3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54" y="10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gs" Target="tags/tag1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7" Type="http://schemas.openxmlformats.org/officeDocument/2006/relationships/image" Target="../media/image9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421"/>
            <a:ext cx="6858000" cy="238772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223"/>
            <a:ext cx="6858000" cy="165584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826"/>
            <a:ext cx="7886700" cy="285288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699"/>
            <a:ext cx="7886700" cy="150026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719"/>
            <a:ext cx="3886200" cy="43515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719"/>
            <a:ext cx="3886200" cy="43515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44"/>
            <a:ext cx="7886700" cy="132563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250"/>
            <a:ext cx="3868340" cy="82395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204"/>
            <a:ext cx="3868340" cy="36847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250"/>
            <a:ext cx="3887391" cy="82395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204"/>
            <a:ext cx="3887391" cy="36847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24"/>
            <a:ext cx="2949178" cy="160028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76"/>
            <a:ext cx="4629150" cy="487387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506"/>
            <a:ext cx="2949178" cy="381178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24"/>
            <a:ext cx="2949178" cy="160028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76"/>
            <a:ext cx="4629150" cy="487387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835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506"/>
            <a:ext cx="2949178" cy="381178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44"/>
            <a:ext cx="1971675" cy="58121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44"/>
            <a:ext cx="5800725" cy="58121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421"/>
            <a:ext cx="6858000" cy="238772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223"/>
            <a:ext cx="6858000" cy="165584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826"/>
            <a:ext cx="7886700" cy="285288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699"/>
            <a:ext cx="7886700" cy="150026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719"/>
            <a:ext cx="3886200" cy="43515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719"/>
            <a:ext cx="3886200" cy="43515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44"/>
            <a:ext cx="7886700" cy="132563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250"/>
            <a:ext cx="3868340" cy="82395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204"/>
            <a:ext cx="3868340" cy="36847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250"/>
            <a:ext cx="3887391" cy="82395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204"/>
            <a:ext cx="3887391" cy="36847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24"/>
            <a:ext cx="2949178" cy="160028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76"/>
            <a:ext cx="4629150" cy="487387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506"/>
            <a:ext cx="2949178" cy="381178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24"/>
            <a:ext cx="2949178" cy="160028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76"/>
            <a:ext cx="4629150" cy="487387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835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506"/>
            <a:ext cx="2949178" cy="381178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44"/>
            <a:ext cx="1971675" cy="58121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44"/>
            <a:ext cx="5800725" cy="58121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44"/>
            <a:ext cx="7886700" cy="13256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719"/>
            <a:ext cx="7886700" cy="4351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677"/>
            <a:ext cx="205740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677"/>
            <a:ext cx="308610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677"/>
            <a:ext cx="205740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44"/>
            <a:ext cx="7886700" cy="13256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719"/>
            <a:ext cx="7886700" cy="4351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677"/>
            <a:ext cx="205740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677"/>
            <a:ext cx="308610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677"/>
            <a:ext cx="205740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1" Type="http://schemas.openxmlformats.org/officeDocument/2006/relationships/vmlDrawing" Target="../drawings/vmlDrawing1.v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9" Type="http://schemas.openxmlformats.org/officeDocument/2006/relationships/image" Target="../media/image13.png"/><Relationship Id="rId18" Type="http://schemas.openxmlformats.org/officeDocument/2006/relationships/image" Target="../media/image12.png"/><Relationship Id="rId17" Type="http://schemas.openxmlformats.org/officeDocument/2006/relationships/image" Target="../media/image11.png"/><Relationship Id="rId16" Type="http://schemas.openxmlformats.org/officeDocument/2006/relationships/image" Target="../media/image10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9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8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3.png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70.png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8.png"/><Relationship Id="rId8" Type="http://schemas.openxmlformats.org/officeDocument/2006/relationships/image" Target="../media/image77.png"/><Relationship Id="rId7" Type="http://schemas.openxmlformats.org/officeDocument/2006/relationships/image" Target="../media/image76.png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4" Type="http://schemas.openxmlformats.org/officeDocument/2006/relationships/slideLayout" Target="../slideLayouts/slideLayout13.xml"/><Relationship Id="rId13" Type="http://schemas.openxmlformats.org/officeDocument/2006/relationships/image" Target="../media/image82.png"/><Relationship Id="rId12" Type="http://schemas.openxmlformats.org/officeDocument/2006/relationships/image" Target="../media/image81.png"/><Relationship Id="rId11" Type="http://schemas.openxmlformats.org/officeDocument/2006/relationships/image" Target="../media/image80.png"/><Relationship Id="rId10" Type="http://schemas.openxmlformats.org/officeDocument/2006/relationships/image" Target="../media/image79.png"/><Relationship Id="rId1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1.png"/><Relationship Id="rId8" Type="http://schemas.openxmlformats.org/officeDocument/2006/relationships/image" Target="../media/image90.png"/><Relationship Id="rId7" Type="http://schemas.openxmlformats.org/officeDocument/2006/relationships/image" Target="../media/image89.png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3" Type="http://schemas.openxmlformats.org/officeDocument/2006/relationships/slideLayout" Target="../slideLayouts/slideLayout13.xml"/><Relationship Id="rId12" Type="http://schemas.openxmlformats.org/officeDocument/2006/relationships/image" Target="../media/image94.png"/><Relationship Id="rId11" Type="http://schemas.openxmlformats.org/officeDocument/2006/relationships/image" Target="../media/image93.png"/><Relationship Id="rId10" Type="http://schemas.openxmlformats.org/officeDocument/2006/relationships/image" Target="../media/image92.png"/><Relationship Id="rId1" Type="http://schemas.openxmlformats.org/officeDocument/2006/relationships/image" Target="../media/image83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4.png"/><Relationship Id="rId8" Type="http://schemas.openxmlformats.org/officeDocument/2006/relationships/image" Target="../media/image102.png"/><Relationship Id="rId7" Type="http://schemas.openxmlformats.org/officeDocument/2006/relationships/image" Target="../media/image101.png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2" Type="http://schemas.openxmlformats.org/officeDocument/2006/relationships/slideLayout" Target="../slideLayouts/slideLayout13.xml"/><Relationship Id="rId11" Type="http://schemas.openxmlformats.org/officeDocument/2006/relationships/image" Target="../media/image104.png"/><Relationship Id="rId10" Type="http://schemas.openxmlformats.org/officeDocument/2006/relationships/image" Target="../media/image103.png"/><Relationship Id="rId1" Type="http://schemas.openxmlformats.org/officeDocument/2006/relationships/image" Target="../media/image95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3.png"/><Relationship Id="rId8" Type="http://schemas.openxmlformats.org/officeDocument/2006/relationships/image" Target="../media/image112.png"/><Relationship Id="rId7" Type="http://schemas.openxmlformats.org/officeDocument/2006/relationships/image" Target="../media/image111.png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14.png"/><Relationship Id="rId1" Type="http://schemas.openxmlformats.org/officeDocument/2006/relationships/image" Target="../media/image10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6.png"/><Relationship Id="rId1" Type="http://schemas.openxmlformats.org/officeDocument/2006/relationships/image" Target="../media/image115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5.png"/><Relationship Id="rId8" Type="http://schemas.openxmlformats.org/officeDocument/2006/relationships/image" Target="../media/image124.png"/><Relationship Id="rId7" Type="http://schemas.openxmlformats.org/officeDocument/2006/relationships/image" Target="../media/image123.png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4" Type="http://schemas.openxmlformats.org/officeDocument/2006/relationships/slideLayout" Target="../slideLayouts/slideLayout13.xml"/><Relationship Id="rId13" Type="http://schemas.openxmlformats.org/officeDocument/2006/relationships/image" Target="../media/image129.png"/><Relationship Id="rId12" Type="http://schemas.openxmlformats.org/officeDocument/2006/relationships/image" Target="../media/image128.png"/><Relationship Id="rId11" Type="http://schemas.openxmlformats.org/officeDocument/2006/relationships/image" Target="../media/image127.png"/><Relationship Id="rId10" Type="http://schemas.openxmlformats.org/officeDocument/2006/relationships/image" Target="../media/image126.png"/><Relationship Id="rId1" Type="http://schemas.openxmlformats.org/officeDocument/2006/relationships/image" Target="../media/image117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7.png"/><Relationship Id="rId8" Type="http://schemas.openxmlformats.org/officeDocument/2006/relationships/image" Target="../media/image136.png"/><Relationship Id="rId7" Type="http://schemas.openxmlformats.org/officeDocument/2006/relationships/image" Target="../media/image135.png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Relationship Id="rId3" Type="http://schemas.openxmlformats.org/officeDocument/2006/relationships/image" Target="../media/image124.png"/><Relationship Id="rId2" Type="http://schemas.openxmlformats.org/officeDocument/2006/relationships/image" Target="../media/image131.png"/><Relationship Id="rId11" Type="http://schemas.openxmlformats.org/officeDocument/2006/relationships/slideLayout" Target="../slideLayouts/slideLayout13.xml"/><Relationship Id="rId10" Type="http://schemas.openxmlformats.org/officeDocument/2006/relationships/image" Target="../media/image120.png"/><Relationship Id="rId1" Type="http://schemas.openxmlformats.org/officeDocument/2006/relationships/image" Target="../media/image1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9.png"/><Relationship Id="rId1" Type="http://schemas.openxmlformats.org/officeDocument/2006/relationships/image" Target="../media/image13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46.png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4" Type="http://schemas.openxmlformats.org/officeDocument/2006/relationships/image" Target="../media/image143.png"/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image" Target="../media/image14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53.png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image" Target="../media/image147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61.png"/><Relationship Id="rId7" Type="http://schemas.openxmlformats.org/officeDocument/2006/relationships/image" Target="../media/image160.png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image" Target="../media/image15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68.png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65.png"/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image" Target="../media/image162.pn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image" Target="../media/image16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6.png"/><Relationship Id="rId1" Type="http://schemas.openxmlformats.org/officeDocument/2006/relationships/image" Target="../media/image17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183.png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4" Type="http://schemas.openxmlformats.org/officeDocument/2006/relationships/image" Target="../media/image180.png"/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image" Target="../media/image177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2.png"/><Relationship Id="rId8" Type="http://schemas.openxmlformats.org/officeDocument/2006/relationships/image" Target="../media/image191.png"/><Relationship Id="rId7" Type="http://schemas.openxmlformats.org/officeDocument/2006/relationships/image" Target="../media/image190.png"/><Relationship Id="rId6" Type="http://schemas.openxmlformats.org/officeDocument/2006/relationships/image" Target="../media/image189.png"/><Relationship Id="rId5" Type="http://schemas.openxmlformats.org/officeDocument/2006/relationships/image" Target="../media/image188.png"/><Relationship Id="rId4" Type="http://schemas.openxmlformats.org/officeDocument/2006/relationships/image" Target="../media/image187.png"/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184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97.png"/><Relationship Id="rId4" Type="http://schemas.openxmlformats.org/officeDocument/2006/relationships/image" Target="../media/image196.png"/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image" Target="../media/image19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8.png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04.png"/><Relationship Id="rId5" Type="http://schemas.openxmlformats.org/officeDocument/2006/relationships/image" Target="../media/image203.png"/><Relationship Id="rId4" Type="http://schemas.openxmlformats.org/officeDocument/2006/relationships/image" Target="../media/image202.png"/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image" Target="../media/image199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09.png"/><Relationship Id="rId4" Type="http://schemas.openxmlformats.org/officeDocument/2006/relationships/image" Target="../media/image208.png"/><Relationship Id="rId3" Type="http://schemas.openxmlformats.org/officeDocument/2006/relationships/image" Target="../media/image207.png"/><Relationship Id="rId2" Type="http://schemas.openxmlformats.org/officeDocument/2006/relationships/image" Target="../media/image206.png"/><Relationship Id="rId1" Type="http://schemas.openxmlformats.org/officeDocument/2006/relationships/image" Target="../media/image20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3554997" y="-1142259"/>
            <a:ext cx="16253993" cy="91428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3550933" y="303892"/>
            <a:ext cx="16249930" cy="4391734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6" name="Picture 1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r="8214" b="45501"/>
          <a:stretch>
            <a:fillRect/>
          </a:stretch>
        </p:blipFill>
        <p:spPr>
          <a:xfrm flipV="1">
            <a:off x="-3554997" y="-1142259"/>
            <a:ext cx="16253992" cy="5963744"/>
          </a:xfrm>
          <a:custGeom>
            <a:avLst/>
            <a:gdLst>
              <a:gd name="connsiteX0" fmla="*/ 0 w 12191999"/>
              <a:gd name="connsiteY0" fmla="*/ 4473360 h 4473360"/>
              <a:gd name="connsiteX1" fmla="*/ 12191999 w 12191999"/>
              <a:gd name="connsiteY1" fmla="*/ 4473360 h 4473360"/>
              <a:gd name="connsiteX2" fmla="*/ 12191999 w 12191999"/>
              <a:gd name="connsiteY2" fmla="*/ 0 h 4473360"/>
              <a:gd name="connsiteX3" fmla="*/ 0 w 12191999"/>
              <a:gd name="connsiteY3" fmla="*/ 0 h 4473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473360">
                <a:moveTo>
                  <a:pt x="0" y="4473360"/>
                </a:moveTo>
                <a:lnTo>
                  <a:pt x="12191999" y="4473360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2549887" y="1625999"/>
            <a:ext cx="14243776" cy="1793291"/>
          </a:xfrm>
        </p:spPr>
        <p:txBody>
          <a:bodyPr anchor="ctr">
            <a:noAutofit/>
          </a:bodyPr>
          <a:lstStyle/>
          <a:p>
            <a:r>
              <a:rPr lang="zh-CN" altLang="en-US" sz="7465" b="1">
                <a:solidFill>
                  <a:srgbClr val="FFFF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复变函数与积分变换</a:t>
            </a:r>
            <a:endParaRPr lang="zh-CN" altLang="en-US" sz="7465" b="1">
              <a:solidFill>
                <a:srgbClr val="FFFF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-1993089" y="4821485"/>
            <a:ext cx="12624056" cy="1154043"/>
          </a:xfrm>
        </p:spPr>
        <p:txBody>
          <a:bodyPr anchor="ctr">
            <a:normAutofit/>
          </a:bodyPr>
          <a:lstStyle/>
          <a:p>
            <a:r>
              <a:rPr lang="zh-CN" altLang="en-US" sz="3735" dirty="0">
                <a:solidFill>
                  <a:srgbClr val="000000"/>
                </a:solidFill>
              </a:rPr>
              <a:t>狄艳媚</a:t>
            </a:r>
            <a:endParaRPr lang="zh-CN" altLang="en-US" sz="3735" dirty="0">
              <a:solidFill>
                <a:srgbClr val="00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54998" y="5921247"/>
            <a:ext cx="16253995" cy="16761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051192" y="1102043"/>
            <a:ext cx="6849110" cy="1402715"/>
          </a:xfrm>
          <a:prstGeom prst="rect">
            <a:avLst/>
          </a:prstGeom>
        </p:spPr>
        <p:txBody>
          <a:bodyPr vert="horz" lIns="121904" tIns="60952" rIns="121904" bIns="60952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5405" b="1" dirty="0">
                <a:latin typeface="楷体" panose="02010609060101010101" pitchFamily="49" charset="-122"/>
                <a:ea typeface="楷体" panose="02010609060101010101" pitchFamily="49" charset="-122"/>
              </a:rPr>
              <a:t>2.4</a:t>
            </a:r>
            <a:r>
              <a:rPr lang="zh-CN" altLang="en-US" sz="5405" b="1" dirty="0">
                <a:latin typeface="楷体" panose="02010609060101010101" pitchFamily="49" charset="-122"/>
                <a:ea typeface="楷体" panose="02010609060101010101" pitchFamily="49" charset="-122"/>
              </a:rPr>
              <a:t>  复变函数的积分</a:t>
            </a:r>
            <a:endParaRPr lang="zh-CN" altLang="en-US" sz="5405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122036" y="2222183"/>
            <a:ext cx="8815705" cy="1296035"/>
          </a:xfrm>
          <a:prstGeom prst="rect">
            <a:avLst/>
          </a:prstGeom>
        </p:spPr>
        <p:txBody>
          <a:bodyPr vert="horz" lIns="121904" tIns="60952" rIns="121904" bIns="60952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555" dirty="0">
                <a:latin typeface="楷体" panose="02010609060101010101" pitchFamily="49" charset="-122"/>
                <a:ea typeface="楷体" panose="02010609060101010101" pitchFamily="49" charset="-122"/>
              </a:rPr>
              <a:t>先介绍复变函数积分的概念，进而给出性质</a:t>
            </a:r>
            <a:endParaRPr lang="zh-CN" altLang="en-US" sz="3555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122036" y="3258503"/>
            <a:ext cx="2527300" cy="1009015"/>
          </a:xfrm>
          <a:prstGeom prst="rect">
            <a:avLst/>
          </a:prstGeom>
        </p:spPr>
        <p:txBody>
          <a:bodyPr vert="horz" lIns="121904" tIns="60952" rIns="121904" bIns="60952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和计算方法；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239511" y="4162743"/>
            <a:ext cx="6251575" cy="1006475"/>
          </a:xfrm>
          <a:prstGeom prst="rect">
            <a:avLst/>
          </a:prstGeom>
        </p:spPr>
        <p:txBody>
          <a:bodyPr vert="horz" lIns="121904" tIns="60952" rIns="121904" bIns="60952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155" dirty="0">
                <a:latin typeface="楷体" panose="02010609060101010101" pitchFamily="49" charset="-122"/>
                <a:ea typeface="楷体" panose="02010609060101010101" pitchFamily="49" charset="-122"/>
              </a:rPr>
              <a:t>出复积分上的牛顿</a:t>
            </a:r>
            <a:r>
              <a:rPr lang="en-US" altLang="zh-CN" sz="3155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sz="3155" dirty="0">
                <a:latin typeface="楷体" panose="02010609060101010101" pitchFamily="49" charset="-122"/>
                <a:ea typeface="楷体" panose="02010609060101010101" pitchFamily="49" charset="-122"/>
              </a:rPr>
              <a:t>莱布尼兹定理。</a:t>
            </a:r>
            <a:endParaRPr lang="en-US" altLang="zh-CN" sz="3155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2649336" y="3363278"/>
            <a:ext cx="6388100" cy="799465"/>
          </a:xfrm>
          <a:prstGeom prst="rect">
            <a:avLst/>
          </a:prstGeom>
        </p:spPr>
        <p:txBody>
          <a:bodyPr vert="horz" lIns="121904" tIns="60952" rIns="121904" bIns="60952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155" dirty="0">
                <a:latin typeface="楷体" panose="02010609060101010101" pitchFamily="49" charset="-122"/>
                <a:ea typeface="楷体" panose="02010609060101010101" pitchFamily="49" charset="-122"/>
              </a:rPr>
              <a:t>接着讨论复积分和路径的关系，引</a:t>
            </a:r>
            <a:endParaRPr lang="zh-CN" altLang="en-US" sz="3155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2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8" grpId="0"/>
      <p:bldP spid="9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122036" y="527284"/>
            <a:ext cx="2086610" cy="853440"/>
          </a:xfrm>
          <a:prstGeom prst="rect">
            <a:avLst/>
          </a:prstGeom>
        </p:spPr>
        <p:txBody>
          <a:bodyPr vert="horz" lIns="121904" tIns="60952" rIns="121904" bIns="60952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教学目标：</a:t>
            </a:r>
            <a:endParaRPr lang="zh-CN" altLang="en-US" sz="3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293336" y="1255511"/>
            <a:ext cx="8924925" cy="920115"/>
          </a:xfrm>
          <a:prstGeom prst="rect">
            <a:avLst/>
          </a:prstGeom>
        </p:spPr>
        <p:txBody>
          <a:bodyPr vert="horz" lIns="121904" tIns="60952" rIns="121904" bIns="60952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知道复积分的定义、性质，掌握用代入法求复积分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293336" y="2161774"/>
            <a:ext cx="8536940" cy="1177925"/>
          </a:xfrm>
          <a:prstGeom prst="rect">
            <a:avLst/>
          </a:prstGeom>
        </p:spPr>
        <p:txBody>
          <a:bodyPr vert="horz" lIns="121904" tIns="60952" rIns="121904" bIns="60952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zh-CN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熟知复积分与路径无关的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zh-CN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个等价条件，不定积分的概念以及用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Newton-Leibniz</a:t>
            </a:r>
            <a:r>
              <a:rPr lang="zh-CN" altLang="zh-CN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公式计算复积分。</a:t>
            </a:r>
            <a:endParaRPr lang="en-US" altLang="zh-CN" sz="3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171951" y="3290269"/>
            <a:ext cx="1757045" cy="826135"/>
          </a:xfrm>
          <a:prstGeom prst="rect">
            <a:avLst/>
          </a:prstGeom>
        </p:spPr>
        <p:txBody>
          <a:bodyPr vert="horz" lIns="121904" tIns="60952" rIns="121904" bIns="60952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重难点：</a:t>
            </a:r>
            <a:endParaRPr lang="zh-CN" altLang="en-US" sz="3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233362" y="4151095"/>
            <a:ext cx="8677275" cy="932180"/>
          </a:xfrm>
          <a:prstGeom prst="rect">
            <a:avLst/>
          </a:prstGeom>
        </p:spPr>
        <p:txBody>
          <a:bodyPr vert="horz" lIns="121904" tIns="60952" rIns="121904" bIns="60952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重点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复积分的计算、与路径无关的等价条件；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233362" y="4927800"/>
            <a:ext cx="8372475" cy="1036955"/>
          </a:xfrm>
          <a:prstGeom prst="rect">
            <a:avLst/>
          </a:prstGeom>
        </p:spPr>
        <p:txBody>
          <a:bodyPr vert="horz" lIns="121904" tIns="60952" rIns="121904" bIns="60952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难点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复积分与路径无关的判别。</a:t>
            </a:r>
            <a:endParaRPr lang="en-US" altLang="zh-CN" sz="3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4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8" grpId="0"/>
      <p:bldP spid="2" grpId="0"/>
      <p:bldP spid="3" grpId="0"/>
      <p:bldP spid="4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240665" y="567422"/>
            <a:ext cx="2086610" cy="853440"/>
          </a:xfrm>
          <a:prstGeom prst="rect">
            <a:avLst/>
          </a:prstGeom>
        </p:spPr>
        <p:txBody>
          <a:bodyPr vert="horz" lIns="121904" tIns="60952" rIns="121904" bIns="60952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题外话：</a:t>
            </a:r>
            <a:endParaRPr lang="zh-CN" altLang="en-US" sz="3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 rot="10800000" flipV="1">
            <a:off x="311150" y="1223645"/>
            <a:ext cx="8521700" cy="4277360"/>
          </a:xfrm>
          <a:prstGeom prst="rect">
            <a:avLst/>
          </a:prstGeom>
        </p:spPr>
        <p:txBody>
          <a:bodyPr vert="horz" lIns="121904" tIns="60952" rIns="121904" bIns="60952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复积分的概念来源于求是定积分值得问题。由于很多实积分很难求出，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18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世纪的数学家们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以欧拉和拉普拉斯为代表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创造了实积分转换为复积分来进行计算的独特方法。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19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世纪初，柯西进一步完善和发展了这一方法，提出了复积分的概念，并得到关于复积分的一些最基本的公式和定理。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9253" y="680225"/>
            <a:ext cx="3366770" cy="894080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一、复积分</a:t>
            </a:r>
            <a:endParaRPr lang="zh-CN" altLang="en-US" sz="4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9" name="Group 17"/>
          <p:cNvGrpSpPr/>
          <p:nvPr/>
        </p:nvGrpSpPr>
        <p:grpSpPr bwMode="auto">
          <a:xfrm>
            <a:off x="4742795" y="779803"/>
            <a:ext cx="3427095" cy="4073354"/>
            <a:chOff x="3312" y="474"/>
            <a:chExt cx="2134" cy="2166"/>
          </a:xfrm>
        </p:grpSpPr>
        <p:sp>
          <p:nvSpPr>
            <p:cNvPr id="10" name="Line 18"/>
            <p:cNvSpPr>
              <a:spLocks noChangeShapeType="1"/>
            </p:cNvSpPr>
            <p:nvPr/>
          </p:nvSpPr>
          <p:spPr bwMode="auto">
            <a:xfrm>
              <a:off x="3312" y="2448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1" name="Line 19"/>
            <p:cNvSpPr>
              <a:spLocks noChangeShapeType="1"/>
            </p:cNvSpPr>
            <p:nvPr/>
          </p:nvSpPr>
          <p:spPr bwMode="auto">
            <a:xfrm flipV="1">
              <a:off x="3504" y="672"/>
              <a:ext cx="0" cy="19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" name="Text Box 20"/>
            <p:cNvSpPr txBox="1">
              <a:spLocks noChangeArrowheads="1"/>
            </p:cNvSpPr>
            <p:nvPr/>
          </p:nvSpPr>
          <p:spPr bwMode="auto">
            <a:xfrm>
              <a:off x="5270" y="2346"/>
              <a:ext cx="176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3000" b="0" i="1">
                  <a:latin typeface="楷体" panose="02010609060101010101" pitchFamily="49" charset="-122"/>
                  <a:ea typeface="楷体" panose="02010609060101010101" pitchFamily="49" charset="-122"/>
                </a:rPr>
                <a:t>x</a:t>
              </a:r>
              <a:endParaRPr lang="en-US" altLang="zh-CN" sz="3000" b="0" i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" name="Text Box 21"/>
            <p:cNvSpPr txBox="1">
              <a:spLocks noChangeArrowheads="1"/>
            </p:cNvSpPr>
            <p:nvPr/>
          </p:nvSpPr>
          <p:spPr bwMode="auto">
            <a:xfrm>
              <a:off x="3590" y="474"/>
              <a:ext cx="176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3000" i="1">
                  <a:latin typeface="楷体" panose="02010609060101010101" pitchFamily="49" charset="-122"/>
                  <a:ea typeface="楷体" panose="02010609060101010101" pitchFamily="49" charset="-122"/>
                </a:rPr>
                <a:t>y</a:t>
              </a:r>
              <a:endParaRPr lang="en-US" altLang="zh-CN" sz="3000" i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" name="Text Box 22"/>
            <p:cNvSpPr txBox="1">
              <a:spLocks noChangeArrowheads="1"/>
            </p:cNvSpPr>
            <p:nvPr/>
          </p:nvSpPr>
          <p:spPr bwMode="auto">
            <a:xfrm>
              <a:off x="3312" y="2160"/>
              <a:ext cx="176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3000">
                  <a:latin typeface="楷体" panose="02010609060101010101" pitchFamily="49" charset="-122"/>
                  <a:ea typeface="楷体" panose="02010609060101010101" pitchFamily="49" charset="-122"/>
                </a:rPr>
                <a:t>o</a:t>
              </a:r>
              <a:endParaRPr lang="en-US" altLang="zh-CN" sz="3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5" name="Group 11"/>
          <p:cNvGrpSpPr/>
          <p:nvPr/>
        </p:nvGrpSpPr>
        <p:grpSpPr bwMode="auto">
          <a:xfrm>
            <a:off x="5496764" y="1594873"/>
            <a:ext cx="2809875" cy="2693670"/>
            <a:chOff x="3648" y="912"/>
            <a:chExt cx="1847" cy="1444"/>
          </a:xfrm>
        </p:grpSpPr>
        <p:sp>
          <p:nvSpPr>
            <p:cNvPr id="16" name="Freeform 12"/>
            <p:cNvSpPr/>
            <p:nvPr/>
          </p:nvSpPr>
          <p:spPr bwMode="auto">
            <a:xfrm>
              <a:off x="3696" y="1081"/>
              <a:ext cx="1584" cy="1127"/>
            </a:xfrm>
            <a:custGeom>
              <a:avLst/>
              <a:gdLst>
                <a:gd name="T0" fmla="*/ 0 w 1584"/>
                <a:gd name="T1" fmla="*/ 1127 h 1127"/>
                <a:gd name="T2" fmla="*/ 20 w 1584"/>
                <a:gd name="T3" fmla="*/ 1008 h 1127"/>
                <a:gd name="T4" fmla="*/ 48 w 1584"/>
                <a:gd name="T5" fmla="*/ 887 h 1127"/>
                <a:gd name="T6" fmla="*/ 96 w 1584"/>
                <a:gd name="T7" fmla="*/ 791 h 1127"/>
                <a:gd name="T8" fmla="*/ 192 w 1584"/>
                <a:gd name="T9" fmla="*/ 647 h 1127"/>
                <a:gd name="T10" fmla="*/ 234 w 1584"/>
                <a:gd name="T11" fmla="*/ 568 h 1127"/>
                <a:gd name="T12" fmla="*/ 384 w 1584"/>
                <a:gd name="T13" fmla="*/ 407 h 1127"/>
                <a:gd name="T14" fmla="*/ 573 w 1584"/>
                <a:gd name="T15" fmla="*/ 229 h 1127"/>
                <a:gd name="T16" fmla="*/ 697 w 1584"/>
                <a:gd name="T17" fmla="*/ 161 h 1127"/>
                <a:gd name="T18" fmla="*/ 816 w 1584"/>
                <a:gd name="T19" fmla="*/ 119 h 1127"/>
                <a:gd name="T20" fmla="*/ 946 w 1584"/>
                <a:gd name="T21" fmla="*/ 60 h 1127"/>
                <a:gd name="T22" fmla="*/ 1104 w 1584"/>
                <a:gd name="T23" fmla="*/ 23 h 1127"/>
                <a:gd name="T24" fmla="*/ 1217 w 1584"/>
                <a:gd name="T25" fmla="*/ 3 h 1127"/>
                <a:gd name="T26" fmla="*/ 1319 w 1584"/>
                <a:gd name="T27" fmla="*/ 3 h 1127"/>
                <a:gd name="T28" fmla="*/ 1477 w 1584"/>
                <a:gd name="T29" fmla="*/ 3 h 1127"/>
                <a:gd name="T30" fmla="*/ 1584 w 1584"/>
                <a:gd name="T31" fmla="*/ 23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84" h="1127">
                  <a:moveTo>
                    <a:pt x="0" y="1127"/>
                  </a:moveTo>
                  <a:cubicBezTo>
                    <a:pt x="3" y="1107"/>
                    <a:pt x="12" y="1048"/>
                    <a:pt x="20" y="1008"/>
                  </a:cubicBezTo>
                  <a:cubicBezTo>
                    <a:pt x="28" y="968"/>
                    <a:pt x="35" y="923"/>
                    <a:pt x="48" y="887"/>
                  </a:cubicBezTo>
                  <a:cubicBezTo>
                    <a:pt x="61" y="851"/>
                    <a:pt x="72" y="831"/>
                    <a:pt x="96" y="791"/>
                  </a:cubicBezTo>
                  <a:cubicBezTo>
                    <a:pt x="120" y="751"/>
                    <a:pt x="169" y="684"/>
                    <a:pt x="192" y="647"/>
                  </a:cubicBezTo>
                  <a:cubicBezTo>
                    <a:pt x="215" y="610"/>
                    <a:pt x="202" y="608"/>
                    <a:pt x="234" y="568"/>
                  </a:cubicBezTo>
                  <a:cubicBezTo>
                    <a:pt x="266" y="528"/>
                    <a:pt x="328" y="463"/>
                    <a:pt x="384" y="407"/>
                  </a:cubicBezTo>
                  <a:cubicBezTo>
                    <a:pt x="440" y="351"/>
                    <a:pt x="521" y="270"/>
                    <a:pt x="573" y="229"/>
                  </a:cubicBezTo>
                  <a:cubicBezTo>
                    <a:pt x="625" y="188"/>
                    <a:pt x="657" y="179"/>
                    <a:pt x="697" y="161"/>
                  </a:cubicBezTo>
                  <a:cubicBezTo>
                    <a:pt x="737" y="143"/>
                    <a:pt x="775" y="136"/>
                    <a:pt x="816" y="119"/>
                  </a:cubicBezTo>
                  <a:cubicBezTo>
                    <a:pt x="857" y="102"/>
                    <a:pt x="898" y="76"/>
                    <a:pt x="946" y="60"/>
                  </a:cubicBezTo>
                  <a:cubicBezTo>
                    <a:pt x="994" y="44"/>
                    <a:pt x="1059" y="32"/>
                    <a:pt x="1104" y="23"/>
                  </a:cubicBezTo>
                  <a:cubicBezTo>
                    <a:pt x="1149" y="14"/>
                    <a:pt x="1181" y="6"/>
                    <a:pt x="1217" y="3"/>
                  </a:cubicBezTo>
                  <a:cubicBezTo>
                    <a:pt x="1253" y="0"/>
                    <a:pt x="1276" y="3"/>
                    <a:pt x="1319" y="3"/>
                  </a:cubicBezTo>
                  <a:cubicBezTo>
                    <a:pt x="1362" y="3"/>
                    <a:pt x="1433" y="0"/>
                    <a:pt x="1477" y="3"/>
                  </a:cubicBezTo>
                  <a:cubicBezTo>
                    <a:pt x="1521" y="6"/>
                    <a:pt x="1562" y="19"/>
                    <a:pt x="1584" y="23"/>
                  </a:cubicBez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7" name="Oval 13"/>
            <p:cNvSpPr>
              <a:spLocks noChangeArrowheads="1"/>
            </p:cNvSpPr>
            <p:nvPr/>
          </p:nvSpPr>
          <p:spPr bwMode="auto">
            <a:xfrm>
              <a:off x="3648" y="216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8" name="Oval 14"/>
            <p:cNvSpPr>
              <a:spLocks noChangeArrowheads="1"/>
            </p:cNvSpPr>
            <p:nvPr/>
          </p:nvSpPr>
          <p:spPr bwMode="auto">
            <a:xfrm>
              <a:off x="5232" y="105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graphicFrame>
          <p:nvGraphicFramePr>
            <p:cNvPr id="19" name="Object 15"/>
            <p:cNvGraphicFramePr>
              <a:graphicFrameLocks noChangeAspect="1"/>
            </p:cNvGraphicFramePr>
            <p:nvPr/>
          </p:nvGraphicFramePr>
          <p:xfrm>
            <a:off x="3792" y="2160"/>
            <a:ext cx="196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1" imgW="165100" imgH="165100" progId="Equation.3">
                    <p:embed/>
                  </p:oleObj>
                </mc:Choice>
                <mc:Fallback>
                  <p:oleObj name="Equation" r:id="rId1" imgW="165100" imgH="1651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2160"/>
                          <a:ext cx="196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5328" y="912"/>
              <a:ext cx="167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2400" i="1">
                  <a:ea typeface="宋体" panose="02010600030101010101" pitchFamily="2" charset="-122"/>
                </a:rPr>
                <a:t>B</a:t>
              </a:r>
              <a:endParaRPr lang="en-US" altLang="zh-CN" sz="3200" b="0">
                <a:ea typeface="宋体" panose="02010600030101010101" pitchFamily="2" charset="-122"/>
              </a:endParaRPr>
            </a:p>
          </p:txBody>
        </p:sp>
      </p:grpSp>
      <p:grpSp>
        <p:nvGrpSpPr>
          <p:cNvPr id="21" name="Group 23"/>
          <p:cNvGrpSpPr/>
          <p:nvPr/>
        </p:nvGrpSpPr>
        <p:grpSpPr bwMode="auto">
          <a:xfrm>
            <a:off x="5038226" y="3395428"/>
            <a:ext cx="711112" cy="550265"/>
            <a:chOff x="3408" y="1920"/>
            <a:chExt cx="336" cy="260"/>
          </a:xfrm>
        </p:grpSpPr>
        <p:sp>
          <p:nvSpPr>
            <p:cNvPr id="22" name="Oval 24"/>
            <p:cNvSpPr>
              <a:spLocks noChangeArrowheads="1"/>
            </p:cNvSpPr>
            <p:nvPr/>
          </p:nvSpPr>
          <p:spPr bwMode="auto">
            <a:xfrm>
              <a:off x="3648" y="2016"/>
              <a:ext cx="96" cy="96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graphicFrame>
          <p:nvGraphicFramePr>
            <p:cNvPr id="23" name="Object 25"/>
            <p:cNvGraphicFramePr>
              <a:graphicFrameLocks noChangeAspect="1"/>
            </p:cNvGraphicFramePr>
            <p:nvPr/>
          </p:nvGraphicFramePr>
          <p:xfrm>
            <a:off x="3408" y="1920"/>
            <a:ext cx="214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3" imgW="177800" imgH="215900" progId="Equation.3">
                    <p:embed/>
                  </p:oleObj>
                </mc:Choice>
                <mc:Fallback>
                  <p:oleObj name="Equation" r:id="rId3" imgW="177800" imgH="2159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1920"/>
                          <a:ext cx="214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26"/>
          <p:cNvGrpSpPr/>
          <p:nvPr/>
        </p:nvGrpSpPr>
        <p:grpSpPr bwMode="auto">
          <a:xfrm>
            <a:off x="5267757" y="2754307"/>
            <a:ext cx="609525" cy="711112"/>
            <a:chOff x="3504" y="1632"/>
            <a:chExt cx="288" cy="336"/>
          </a:xfrm>
        </p:grpSpPr>
        <p:sp>
          <p:nvSpPr>
            <p:cNvPr id="25" name="Oval 27"/>
            <p:cNvSpPr>
              <a:spLocks noChangeArrowheads="1"/>
            </p:cNvSpPr>
            <p:nvPr/>
          </p:nvSpPr>
          <p:spPr bwMode="auto">
            <a:xfrm>
              <a:off x="3696" y="187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graphicFrame>
          <p:nvGraphicFramePr>
            <p:cNvPr id="26" name="Object 28"/>
            <p:cNvGraphicFramePr>
              <a:graphicFrameLocks noChangeAspect="1"/>
            </p:cNvGraphicFramePr>
            <p:nvPr/>
          </p:nvGraphicFramePr>
          <p:xfrm>
            <a:off x="3504" y="1632"/>
            <a:ext cx="217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5" imgW="152400" imgH="215900" progId="Equation.3">
                    <p:embed/>
                  </p:oleObj>
                </mc:Choice>
                <mc:Fallback>
                  <p:oleObj name="Equation" r:id="rId5" imgW="152400" imgH="2159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632"/>
                          <a:ext cx="217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Group 29"/>
          <p:cNvGrpSpPr/>
          <p:nvPr/>
        </p:nvGrpSpPr>
        <p:grpSpPr bwMode="auto">
          <a:xfrm>
            <a:off x="5332598" y="2275294"/>
            <a:ext cx="812700" cy="711112"/>
            <a:chOff x="3744" y="1200"/>
            <a:chExt cx="384" cy="336"/>
          </a:xfrm>
        </p:grpSpPr>
        <p:sp>
          <p:nvSpPr>
            <p:cNvPr id="28" name="Oval 30"/>
            <p:cNvSpPr>
              <a:spLocks noChangeArrowheads="1"/>
            </p:cNvSpPr>
            <p:nvPr/>
          </p:nvSpPr>
          <p:spPr bwMode="auto">
            <a:xfrm>
              <a:off x="4032" y="144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graphicFrame>
          <p:nvGraphicFramePr>
            <p:cNvPr id="29" name="Object 31"/>
            <p:cNvGraphicFramePr>
              <a:graphicFrameLocks noChangeAspect="1"/>
            </p:cNvGraphicFramePr>
            <p:nvPr/>
          </p:nvGraphicFramePr>
          <p:xfrm>
            <a:off x="3744" y="1200"/>
            <a:ext cx="372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Equation" r:id="rId7" imgW="266700" imgH="228600" progId="Equation.3">
                    <p:embed/>
                  </p:oleObj>
                </mc:Choice>
                <mc:Fallback>
                  <p:oleObj name="Equation" r:id="rId7" imgW="266700" imgH="22860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1200"/>
                          <a:ext cx="372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Group 41"/>
          <p:cNvGrpSpPr/>
          <p:nvPr/>
        </p:nvGrpSpPr>
        <p:grpSpPr bwMode="auto">
          <a:xfrm>
            <a:off x="6088136" y="2067190"/>
            <a:ext cx="1202118" cy="996001"/>
            <a:chOff x="4088" y="1220"/>
            <a:chExt cx="568" cy="364"/>
          </a:xfrm>
        </p:grpSpPr>
        <p:sp>
          <p:nvSpPr>
            <p:cNvPr id="34" name="Freeform 42"/>
            <p:cNvSpPr/>
            <p:nvPr/>
          </p:nvSpPr>
          <p:spPr bwMode="auto">
            <a:xfrm>
              <a:off x="4088" y="1220"/>
              <a:ext cx="430" cy="271"/>
            </a:xfrm>
            <a:custGeom>
              <a:avLst/>
              <a:gdLst>
                <a:gd name="T0" fmla="*/ 0 w 430"/>
                <a:gd name="T1" fmla="*/ 271 h 271"/>
                <a:gd name="T2" fmla="*/ 430 w 430"/>
                <a:gd name="T3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30" h="271">
                  <a:moveTo>
                    <a:pt x="0" y="271"/>
                  </a:moveTo>
                  <a:lnTo>
                    <a:pt x="43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graphicFrame>
          <p:nvGraphicFramePr>
            <p:cNvPr id="35" name="Object 43"/>
            <p:cNvGraphicFramePr>
              <a:graphicFrameLocks noChangeAspect="1"/>
            </p:cNvGraphicFramePr>
            <p:nvPr/>
          </p:nvGraphicFramePr>
          <p:xfrm>
            <a:off x="4320" y="1296"/>
            <a:ext cx="33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Equation" r:id="rId9" imgW="266700" imgH="228600" progId="Equation.3">
                    <p:embed/>
                  </p:oleObj>
                </mc:Choice>
                <mc:Fallback>
                  <p:oleObj name="Equation" r:id="rId9" imgW="266700" imgH="22860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1296"/>
                          <a:ext cx="33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Group 32"/>
          <p:cNvGrpSpPr/>
          <p:nvPr/>
        </p:nvGrpSpPr>
        <p:grpSpPr bwMode="auto">
          <a:xfrm>
            <a:off x="5915937" y="1810946"/>
            <a:ext cx="651853" cy="660318"/>
            <a:chOff x="4012" y="1052"/>
            <a:chExt cx="308" cy="312"/>
          </a:xfrm>
        </p:grpSpPr>
        <p:sp>
          <p:nvSpPr>
            <p:cNvPr id="37" name="Oval 33"/>
            <p:cNvSpPr>
              <a:spLocks noChangeArrowheads="1"/>
            </p:cNvSpPr>
            <p:nvPr/>
          </p:nvSpPr>
          <p:spPr bwMode="auto">
            <a:xfrm>
              <a:off x="4224" y="1248"/>
              <a:ext cx="96" cy="96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graphicFrame>
          <p:nvGraphicFramePr>
            <p:cNvPr id="38" name="Object 34"/>
            <p:cNvGraphicFramePr>
              <a:graphicFrameLocks noChangeAspect="1"/>
            </p:cNvGraphicFramePr>
            <p:nvPr/>
          </p:nvGraphicFramePr>
          <p:xfrm>
            <a:off x="4012" y="1052"/>
            <a:ext cx="26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Equation" r:id="rId11" imgW="190500" imgH="228600" progId="Equation.3">
                    <p:embed/>
                  </p:oleObj>
                </mc:Choice>
                <mc:Fallback>
                  <p:oleObj name="Equation" r:id="rId11" imgW="190500" imgH="22860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2" y="1052"/>
                          <a:ext cx="26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" name="Group 35"/>
          <p:cNvGrpSpPr/>
          <p:nvPr/>
        </p:nvGrpSpPr>
        <p:grpSpPr bwMode="auto">
          <a:xfrm>
            <a:off x="6618151" y="1242003"/>
            <a:ext cx="546033" cy="914287"/>
            <a:chOff x="4320" y="816"/>
            <a:chExt cx="258" cy="432"/>
          </a:xfrm>
        </p:grpSpPr>
        <p:sp>
          <p:nvSpPr>
            <p:cNvPr id="40" name="Oval 36"/>
            <p:cNvSpPr>
              <a:spLocks noChangeArrowheads="1"/>
            </p:cNvSpPr>
            <p:nvPr/>
          </p:nvSpPr>
          <p:spPr bwMode="auto">
            <a:xfrm>
              <a:off x="4464" y="115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graphicFrame>
          <p:nvGraphicFramePr>
            <p:cNvPr id="41" name="Object 37"/>
            <p:cNvGraphicFramePr>
              <a:graphicFrameLocks noChangeAspect="1"/>
            </p:cNvGraphicFramePr>
            <p:nvPr/>
          </p:nvGraphicFramePr>
          <p:xfrm>
            <a:off x="4320" y="816"/>
            <a:ext cx="258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" name="Equation" r:id="rId13" imgW="165100" imgH="228600" progId="Equation.3">
                    <p:embed/>
                  </p:oleObj>
                </mc:Choice>
                <mc:Fallback>
                  <p:oleObj name="Equation" r:id="rId13" imgW="165100" imgH="22860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816"/>
                          <a:ext cx="258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Group 38"/>
          <p:cNvGrpSpPr/>
          <p:nvPr/>
        </p:nvGrpSpPr>
        <p:grpSpPr bwMode="auto">
          <a:xfrm>
            <a:off x="7278189" y="1089645"/>
            <a:ext cx="787303" cy="914287"/>
            <a:chOff x="4800" y="720"/>
            <a:chExt cx="372" cy="432"/>
          </a:xfrm>
        </p:grpSpPr>
        <p:sp>
          <p:nvSpPr>
            <p:cNvPr id="43" name="Oval 39"/>
            <p:cNvSpPr>
              <a:spLocks noChangeArrowheads="1"/>
            </p:cNvSpPr>
            <p:nvPr/>
          </p:nvSpPr>
          <p:spPr bwMode="auto">
            <a:xfrm>
              <a:off x="4944" y="105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graphicFrame>
          <p:nvGraphicFramePr>
            <p:cNvPr id="44" name="Object 40"/>
            <p:cNvGraphicFramePr>
              <a:graphicFrameLocks noChangeAspect="1"/>
            </p:cNvGraphicFramePr>
            <p:nvPr/>
          </p:nvGraphicFramePr>
          <p:xfrm>
            <a:off x="4800" y="720"/>
            <a:ext cx="372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" name="Equation" r:id="rId15" imgW="266700" imgH="228600" progId="Equation.3">
                    <p:embed/>
                  </p:oleObj>
                </mc:Choice>
                <mc:Fallback>
                  <p:oleObj name="Equation" r:id="rId15" imgW="266700" imgH="22860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720"/>
                          <a:ext cx="372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标题 1"/>
              <p:cNvSpPr txBox="1"/>
              <p:nvPr/>
            </p:nvSpPr>
            <p:spPr>
              <a:xfrm>
                <a:off x="307340" y="5220970"/>
                <a:ext cx="8506460" cy="98679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割成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个小弧段。在每一个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sz="3000" b="0" i="1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小弧段上任取</a:t>
                </a:r>
                <a:r>
                  <a:rPr lang="en-US" altLang="zh-CN" sz="3000" b="1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  </a:t>
                </a:r>
                <a:endParaRPr lang="en-US" altLang="zh-CN" sz="3000" b="1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40" y="5220970"/>
                <a:ext cx="8506460" cy="986790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标题 1"/>
              <p:cNvSpPr txBox="1"/>
              <p:nvPr/>
            </p:nvSpPr>
            <p:spPr>
              <a:xfrm>
                <a:off x="307975" y="1717040"/>
                <a:ext cx="4495165" cy="240157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𝐶</m:t>
                    </m:r>
                    <m:r>
                      <a:rPr lang="zh-CN" altLang="en-US" sz="3000" b="0" i="1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区域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内一条有向简单曲线，起点为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ea"/>
                  </a:rPr>
                  <a:t>终点为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𝐵</m:t>
                    </m:r>
                    <m:r>
                      <a:rPr lang="zh-CN" altLang="en-US" sz="3000" b="0" i="1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，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ea"/>
                  </a:rPr>
                  <a:t>为定义在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𝐷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内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ea"/>
                  </a:rPr>
                  <a:t>的函数。在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ea"/>
                  </a:rPr>
                  <a:t>上从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ea"/>
                  </a:rPr>
                  <a:t>任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ea"/>
                </a:endParaRPr>
              </a:p>
            </p:txBody>
          </p:sp>
        </mc:Choice>
        <mc:Fallback>
          <p:sp>
            <p:nvSpPr>
              <p:cNvPr id="4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75" y="1717040"/>
                <a:ext cx="4495165" cy="2401570"/>
              </a:xfrm>
              <a:prstGeom prst="rect">
                <a:avLst/>
              </a:prstGeom>
              <a:blipFill rotWithShape="1">
                <a:blip r:embed="rId18"/>
                <a:stretch>
                  <a:fillRect t="-7906" b="-79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标题 1"/>
              <p:cNvSpPr txBox="1"/>
              <p:nvPr/>
            </p:nvSpPr>
            <p:spPr>
              <a:xfrm>
                <a:off x="273050" y="4381500"/>
                <a:ext cx="8597265" cy="89154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意插入分点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𝐴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，将曲线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ea"/>
                  </a:rPr>
                  <a:t>分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50" y="4381500"/>
                <a:ext cx="8597265" cy="891540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组合 31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4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5" grpId="0"/>
      <p:bldP spid="46" grpId="0"/>
      <p:bldP spid="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 1"/>
          <p:cNvSpPr txBox="1"/>
          <p:nvPr/>
        </p:nvSpPr>
        <p:spPr>
          <a:xfrm>
            <a:off x="-3304453" y="3710599"/>
            <a:ext cx="15871043" cy="2552741"/>
          </a:xfrm>
          <a:prstGeom prst="rect">
            <a:avLst/>
          </a:prstGeom>
        </p:spPr>
        <p:txBody>
          <a:bodyPr vert="horz" lIns="121904" tIns="60952" rIns="121904" bIns="60952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3465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595796" y="3136449"/>
                <a:ext cx="7151370" cy="1312839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  <m:r>
                          <a:rPr lang="en-US" altLang="zh-CN" sz="3000" b="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</m:e>
                    </m:nary>
                    <m:r>
                      <m:rPr>
                        <m:nor/>
                      </m:rPr>
                      <a:rPr lang="zh-CN" altLang="en-US" sz="3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𝜁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lang="zh-CN" altLang="en-US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zh-CN" altLang="en-US" sz="30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func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796" y="3136449"/>
                <a:ext cx="7151370" cy="1312839"/>
              </a:xfrm>
              <a:prstGeom prst="rect">
                <a:avLst/>
              </a:prstGeom>
              <a:blipFill rotWithShape="1">
                <a:blip r:embed="rId1"/>
                <a:stretch>
                  <a:fillRect l="-1" t="-14" r="1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49860" y="893910"/>
                <a:ext cx="8815070" cy="231965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一点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𝜁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m:rPr>
                        <m:sty m:val="p"/>
                      </m:rPr>
                      <a:rPr lang="el-GR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altLang="zh-CN" sz="3000" dirty="0">
                        <a:latin typeface="黑体" panose="02010609060101010101" pitchFamily="49" charset="-122"/>
                        <a:ea typeface="黑体" panose="02010609060101010101" pitchFamily="49" charset="-122"/>
                      </a:rPr>
                      <m:t>=</m:t>
                    </m:r>
                    <m:r>
                      <m:rPr>
                        <m:nor/>
                      </m:rPr>
                      <a:rPr lang="en-US" altLang="zh-CN" sz="3000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𝑚𝑎𝑥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,⋯,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为所有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小线段弧的最大长度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.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若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𝜁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sz="30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lang="zh-CN" altLang="en-US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zh-CN" altLang="en-US" sz="30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不依赖曲线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的分给方法和点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𝜁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取法而存在，则此极限为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0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30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沿曲线</a:t>
                </a: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的复积分，记为</a:t>
                </a:r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60" y="893910"/>
                <a:ext cx="8815070" cy="2319655"/>
              </a:xfrm>
              <a:prstGeom prst="rect">
                <a:avLst/>
              </a:prstGeom>
              <a:blipFill rotWithShape="1">
                <a:blip r:embed="rId2"/>
                <a:stretch>
                  <a:fillRect t="-2347" b="-23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49860" y="4743450"/>
                <a:ext cx="8681720" cy="83883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  <m:r>
                      <a:rPr lang="en-US" altLang="zh-CN" sz="3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C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逐段光滑，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上连续，则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上可积。</a:t>
                </a:r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60" y="4743450"/>
                <a:ext cx="8681720" cy="838835"/>
              </a:xfrm>
              <a:prstGeom prst="rect">
                <a:avLst/>
              </a:prstGeom>
              <a:blipFill rotWithShape="1">
                <a:blip r:embed="rId3"/>
                <a:stretch>
                  <a:fillRect r="-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 1"/>
          <p:cNvSpPr txBox="1"/>
          <p:nvPr/>
        </p:nvSpPr>
        <p:spPr>
          <a:xfrm>
            <a:off x="-3304453" y="3710599"/>
            <a:ext cx="15871043" cy="2552741"/>
          </a:xfrm>
          <a:prstGeom prst="rect">
            <a:avLst/>
          </a:prstGeom>
        </p:spPr>
        <p:txBody>
          <a:bodyPr vert="horz" lIns="121904" tIns="60952" rIns="121904" bIns="60952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3465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76548" y="640790"/>
                <a:ext cx="8713470" cy="7604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nary>
                      <m:nary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 ,</m:t>
                        </m:r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brk m:alnAt="23"/>
                      </m:rP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为起点为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𝑎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终点为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𝑏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的任意简单曲线。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8" y="640790"/>
                <a:ext cx="8713470" cy="760401"/>
              </a:xfrm>
              <a:prstGeom prst="rect">
                <a:avLst/>
              </a:prstGeom>
              <a:blipFill rotWithShape="1">
                <a:blip r:embed="rId1"/>
                <a:stretch>
                  <a:fillRect l="-4" t="-10" r="4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-3008463" y="2360468"/>
            <a:ext cx="1198161" cy="748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265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注：</a:t>
            </a:r>
            <a:endParaRPr lang="en-US" altLang="zh-CN" sz="4265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76548" y="1515860"/>
                <a:ext cx="8713470" cy="8376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000" dirty="0">
                    <a:ea typeface="楷体" panose="02010609060101010101" pitchFamily="49" charset="-122"/>
                  </a:rPr>
                  <a:t>解：根据定义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</m:e>
                    </m:nary>
                    <m:r>
                      <m:rPr>
                        <m:nor/>
                      </m:rPr>
                      <a:rPr lang="zh-CN" altLang="en-US" sz="3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𝜁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lang="zh-CN" altLang="en-US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zh-CN" altLang="en-US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有：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8" y="1515860"/>
                <a:ext cx="8713470" cy="837602"/>
              </a:xfrm>
              <a:prstGeom prst="rect">
                <a:avLst/>
              </a:prstGeom>
              <a:blipFill rotWithShape="1">
                <a:blip r:embed="rId2"/>
                <a:stretch>
                  <a:fillRect l="-4" t="-14" r="4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938113" y="2536762"/>
                <a:ext cx="4312313" cy="8376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unc>
                      <m:funcPr>
                        <m:ctrlP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altLang="zh-CN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3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lang="zh-CN" altLang="en-US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zh-CN" altLang="en-US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func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113" y="2536762"/>
                <a:ext cx="4312313" cy="837602"/>
              </a:xfrm>
              <a:prstGeom prst="rect">
                <a:avLst/>
              </a:prstGeom>
              <a:blipFill rotWithShape="1">
                <a:blip r:embed="rId3"/>
                <a:stretch>
                  <a:fillRect l="-5" t="-68" r="6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2049159" y="3643260"/>
                <a:ext cx="4115667" cy="696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altLang="zh-CN" sz="3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zh-CN" altLang="en-US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</m:nary>
                      </m:e>
                    </m:func>
                  </m:oMath>
                </a14:m>
                <a:r>
                  <a:rPr lang="zh-CN" altLang="en-US" sz="3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159" y="3643260"/>
                <a:ext cx="4115667" cy="696666"/>
              </a:xfrm>
              <a:prstGeom prst="rect">
                <a:avLst/>
              </a:prstGeom>
              <a:blipFill rotWithShape="1">
                <a:blip r:embed="rId4"/>
                <a:stretch>
                  <a:fillRect t="-38" r="6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2049158" y="4593694"/>
                <a:ext cx="4115667" cy="696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r>
                  <a:rPr lang="zh-CN" altLang="en-US" sz="3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lim>
                        <m: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lim>
                    </m:limLow>
                    <m:r>
                      <a:rPr lang="en-US" altLang="zh-CN" sz="3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158" y="4593694"/>
                <a:ext cx="4115667" cy="696666"/>
              </a:xfrm>
              <a:prstGeom prst="rect">
                <a:avLst/>
              </a:prstGeom>
              <a:blipFill rotWithShape="1">
                <a:blip r:embed="rId5"/>
                <a:stretch>
                  <a:fillRect t="-15" r="6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2049158" y="5587883"/>
                <a:ext cx="4115667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r>
                  <a:rPr lang="zh-CN" altLang="en-US" sz="3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158" y="5587883"/>
                <a:ext cx="4115667" cy="553998"/>
              </a:xfrm>
              <a:prstGeom prst="rect">
                <a:avLst/>
              </a:prstGeom>
              <a:blipFill rotWithShape="1">
                <a:blip r:embed="rId6"/>
                <a:stretch>
                  <a:fillRect t="-94" r="6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10" grpId="0"/>
      <p:bldP spid="11" grpId="0"/>
      <p:bldP spid="12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 1"/>
          <p:cNvSpPr txBox="1"/>
          <p:nvPr/>
        </p:nvSpPr>
        <p:spPr>
          <a:xfrm>
            <a:off x="-3304453" y="3710599"/>
            <a:ext cx="15871043" cy="2552741"/>
          </a:xfrm>
          <a:prstGeom prst="rect">
            <a:avLst/>
          </a:prstGeom>
        </p:spPr>
        <p:txBody>
          <a:bodyPr vert="horz" lIns="121904" tIns="60952" rIns="121904" bIns="60952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3465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22036" y="640790"/>
                <a:ext cx="8679180" cy="7604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nary>
                      <m:nary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𝑧𝑑𝑧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 ,</m:t>
                        </m:r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brk m:alnAt="23"/>
                      </m:rP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为起点为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𝑎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终点为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𝑏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的任意简单曲线。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640790"/>
                <a:ext cx="8679180" cy="760401"/>
              </a:xfrm>
              <a:prstGeom prst="rect">
                <a:avLst/>
              </a:prstGeom>
              <a:blipFill rotWithShape="1">
                <a:blip r:embed="rId1"/>
                <a:stretch>
                  <a:fillRect l="-1" t="-10" r="1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-3008463" y="2360468"/>
            <a:ext cx="1198161" cy="748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265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注：</a:t>
            </a:r>
            <a:endParaRPr lang="en-US" altLang="zh-CN" sz="4265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22036" y="1443013"/>
                <a:ext cx="6249267" cy="8376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000" dirty="0"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𝑧𝑑𝑧</m:t>
                        </m:r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unc>
                      <m:funcPr>
                        <m:ctrlP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altLang="zh-CN" sz="3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𝜁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  <m:r>
                              <a:rPr lang="en-US" altLang="zh-CN" sz="3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b>
                              <m:sSubPr>
                                <m:ctrlPr>
                                  <a:rPr lang="zh-CN" altLang="en-US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zh-CN" altLang="en-US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func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443013"/>
                <a:ext cx="6249267" cy="837602"/>
              </a:xfrm>
              <a:prstGeom prst="rect">
                <a:avLst/>
              </a:prstGeom>
              <a:blipFill rotWithShape="1">
                <a:blip r:embed="rId2"/>
                <a:stretch>
                  <a:fillRect l="-2" t="-35" r="6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2152396" y="2386150"/>
                <a:ext cx="6249267" cy="696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unc>
                      <m:funcPr>
                        <m:ctrlPr>
                          <a:rPr lang="zh-CN" alt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sz="3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zh-CN" altLang="en-US" sz="3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zh-CN" altLang="en-US" sz="3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zh-CN" altLang="en-US" sz="3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zh-CN" altLang="en-US" sz="3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zh-CN" altLang="en-US" sz="3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3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3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sz="3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3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3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sz="3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sz="3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zh-CN" altLang="en-US" sz="3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3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zh-CN" altLang="en-US" sz="3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func>
                  </m:oMath>
                </a14:m>
                <a:r>
                  <a:rPr lang="en-US" altLang="zh-CN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396" y="2386150"/>
                <a:ext cx="6249267" cy="696666"/>
              </a:xfrm>
              <a:prstGeom prst="rect">
                <a:avLst/>
              </a:prstGeom>
              <a:blipFill rotWithShape="1">
                <a:blip r:embed="rId3"/>
                <a:stretch>
                  <a:fillRect l="-6" t="-65" r="10" b="-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2186809" y="3194531"/>
                <a:ext cx="6249267" cy="696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unc>
                      <m:funcPr>
                        <m:ctrlPr>
                          <a:rPr lang="zh-CN" altLang="en-US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sz="3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zh-CN" altLang="en-US" sz="3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zh-CN" altLang="en-US" sz="3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zh-CN" altLang="en-US" sz="3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zh-CN" altLang="en-US" sz="3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zh-CN" altLang="en-US" sz="3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3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3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sz="3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3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30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30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zh-CN" sz="3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sz="30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zh-CN" altLang="en-US" sz="30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30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zh-CN" altLang="en-US" sz="30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func>
                  </m:oMath>
                </a14:m>
                <a:r>
                  <a:rPr lang="en-US" altLang="zh-CN" sz="3000" dirty="0">
                    <a:solidFill>
                      <a:srgbClr val="00B05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rgbClr val="00B05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809" y="3194531"/>
                <a:ext cx="6249267" cy="696666"/>
              </a:xfrm>
              <a:prstGeom prst="rect">
                <a:avLst/>
              </a:prstGeom>
              <a:blipFill rotWithShape="1">
                <a:blip r:embed="rId4"/>
                <a:stretch>
                  <a:fillRect l="-8" t="-69" r="2" b="-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2186809" y="4003955"/>
                <a:ext cx="6558985" cy="7895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unc>
                      <m:funcPr>
                        <m:ctrlPr>
                          <a:rPr lang="zh-CN" altLang="en-US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ctrlPr>
                                  <a:rPr lang="en-US" altLang="zh-CN" sz="3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  <m:r>
                              <a:rPr lang="en-US" altLang="zh-CN" sz="3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en-US" sz="3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zh-CN" altLang="en-US" sz="3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3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zh-CN" altLang="en-US" sz="3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func>
                  </m:oMath>
                </a14:m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809" y="4003955"/>
                <a:ext cx="6558985" cy="789575"/>
              </a:xfrm>
              <a:prstGeom prst="rect">
                <a:avLst/>
              </a:prstGeom>
              <a:blipFill rotWithShape="1">
                <a:blip r:embed="rId5"/>
                <a:stretch>
                  <a:fillRect l="-8" t="-35" r="9" b="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2186809" y="4822383"/>
                <a:ext cx="6558985" cy="7895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zh-CN" altLang="en-US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𝑘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−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func>
                  </m:oMath>
                </a14:m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809" y="4822383"/>
                <a:ext cx="6558985" cy="789575"/>
              </a:xfrm>
              <a:prstGeom prst="rect">
                <a:avLst/>
              </a:prstGeom>
              <a:blipFill rotWithShape="1">
                <a:blip r:embed="rId6"/>
                <a:stretch>
                  <a:fillRect l="-8" t="-24" r="9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2196465" y="5684520"/>
                <a:ext cx="3562985" cy="771525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zh-CN" altLang="en-US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zh-CN" altLang="en-US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465" y="5684520"/>
                <a:ext cx="3562985" cy="77152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5220565" y="5689023"/>
                <a:ext cx="3097955" cy="744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565" y="5689023"/>
                <a:ext cx="3097955" cy="744306"/>
              </a:xfrm>
              <a:prstGeom prst="rect">
                <a:avLst/>
              </a:prstGeom>
              <a:blipFill rotWithShape="1">
                <a:blip r:embed="rId8"/>
                <a:stretch>
                  <a:fillRect l="-7" t="-8" r="1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/>
      <p:bldP spid="9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83515" y="724535"/>
            <a:ext cx="839152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复积分的定义与高数中定积分定义在形式上非常相似，也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是“和式极限”。不同的是：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3592" y="1786307"/>
            <a:ext cx="416687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、被积函数不同</a:t>
            </a:r>
            <a:endParaRPr lang="en-US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06905" y="2423795"/>
            <a:ext cx="416687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、积分路径</a:t>
            </a:r>
            <a:endParaRPr lang="en-US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7024" y="3061283"/>
            <a:ext cx="810450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、积分的值不仅和起点终点有关，一般情况下还和积分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路径有关。</a:t>
            </a:r>
            <a:endParaRPr lang="en-US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3592" y="4262621"/>
            <a:ext cx="825690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由上可知，复积分与第二类曲线积分类似。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9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/>
              <p:cNvSpPr txBox="1"/>
              <p:nvPr/>
            </p:nvSpPr>
            <p:spPr>
              <a:xfrm>
                <a:off x="327024" y="4882452"/>
                <a:ext cx="8031480" cy="7604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𝑎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24" y="4882452"/>
                <a:ext cx="8031480" cy="760401"/>
              </a:xfrm>
              <a:prstGeom prst="rect">
                <a:avLst/>
              </a:prstGeom>
              <a:blipFill rotWithShape="1">
                <a:blip r:embed="rId1"/>
                <a:stretch>
                  <a:fillRect l="-8" t="-75" r="8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3556920" y="5768031"/>
                <a:ext cx="3715782" cy="7284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𝑎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𝑢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𝑖𝑣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𝑑𝑥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920" y="5768031"/>
                <a:ext cx="3715782" cy="728469"/>
              </a:xfrm>
              <a:prstGeom prst="rect">
                <a:avLst/>
              </a:prstGeom>
              <a:blipFill rotWithShape="1">
                <a:blip r:embed="rId2"/>
                <a:stretch>
                  <a:fillRect l="-8" t="-45" r="1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2" grpId="0"/>
      <p:bldP spid="4" grpId="0"/>
      <p:bldP spid="47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 1"/>
          <p:cNvSpPr txBox="1"/>
          <p:nvPr/>
        </p:nvSpPr>
        <p:spPr>
          <a:xfrm>
            <a:off x="-3304453" y="3710599"/>
            <a:ext cx="15871043" cy="2552741"/>
          </a:xfrm>
          <a:prstGeom prst="rect">
            <a:avLst/>
          </a:prstGeom>
        </p:spPr>
        <p:txBody>
          <a:bodyPr vert="horz" lIns="121904" tIns="60952" rIns="121904" bIns="60952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3465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0787" y="2304167"/>
            <a:ext cx="830752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它用来求复流形的体积并且有一般的上同调理论。虽描述不出直接的物理意义，但在量子理论许多算符是复值的，而且很多时候要对时空积分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0787" y="922398"/>
            <a:ext cx="824294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：复积分不能用二维或三维空间表示，所以</a:t>
            </a:r>
            <a:r>
              <a:rPr lang="zh-CN" altLang="en-US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没有几何意义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9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>
              <a:xfrm>
                <a:off x="162560" y="1172463"/>
                <a:ext cx="8145780" cy="725805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𝑖𝑣</m:t>
                    </m:r>
                    <m:r>
                      <a:rPr lang="zh-CN" altLang="en-US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𝜍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62560" y="1172463"/>
                <a:ext cx="8145780" cy="725805"/>
              </a:xfrm>
              <a:blipFill rotWithShape="1">
                <a:blip r:embed="rId1"/>
                <a:stretch>
                  <a:fillRect t="-35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/>
          <p:cNvSpPr txBox="1"/>
          <p:nvPr/>
        </p:nvSpPr>
        <p:spPr>
          <a:xfrm>
            <a:off x="0" y="638810"/>
            <a:ext cx="7241540" cy="742950"/>
          </a:xfrm>
          <a:prstGeom prst="rect">
            <a:avLst/>
          </a:prstGeom>
        </p:spPr>
        <p:txBody>
          <a:bodyPr vert="horz" lIns="121904" tIns="60952" rIns="121904" bIns="60952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二、复积分和实积分的关系</a:t>
            </a:r>
            <a:endParaRPr lang="zh-CN" altLang="en-US" sz="3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80645" y="2484976"/>
                <a:ext cx="11030305" cy="999298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𝑑𝑧</m:t>
                        </m:r>
                        <m: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e>
                    </m:nary>
                  </m:oMath>
                </a14:m>
                <a:r>
                  <a:rPr lang="zh-CN" altLang="en-US" sz="3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zh-CN" altLang="en-US" sz="3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30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en-US" altLang="zh-CN" sz="30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300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300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</m:e>
                                      <m:sub>
                                        <m:r>
                                          <a:rPr lang="en-US" altLang="zh-CN" sz="300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altLang="zh-CN" sz="30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CN" sz="300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300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  <m:sub>
                                        <m:r>
                                          <a:rPr lang="en-US" altLang="zh-CN" sz="300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zh-CN" sz="30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altLang="zh-CN" sz="30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0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zh-CN" sz="30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30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zh-CN" sz="30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3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3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zh-CN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3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3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zh-CN" sz="30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altLang="zh-CN" sz="3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altLang="zh-CN" sz="30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func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5" y="2484976"/>
                <a:ext cx="11030305" cy="999298"/>
              </a:xfrm>
              <a:prstGeom prst="rect">
                <a:avLst/>
              </a:prstGeom>
              <a:blipFill rotWithShape="1">
                <a:blip r:embed="rId2"/>
                <a:stretch>
                  <a:fillRect t="-4280" r="3" b="-4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80645" y="1967165"/>
                <a:ext cx="8309610" cy="53276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30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记</m:t>
                    </m:r>
                    <m:r>
                      <a:rPr lang="en-US" altLang="zh-CN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，</m:t>
                    </m:r>
                    <m:sSub>
                      <m:sSubPr>
                        <m:ctrlPr>
                          <a:rPr lang="en-US" altLang="zh-CN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宋体" panose="02010600030101010101" pitchFamily="2" charset="-122"/>
                  </a:rPr>
                  <a:t>，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有：</a:t>
                </a:r>
                <a:endParaRPr lang="zh-CN" altLang="en-US" sz="3000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5" y="1967165"/>
                <a:ext cx="8309610" cy="532765"/>
              </a:xfrm>
              <a:prstGeom prst="rect">
                <a:avLst/>
              </a:prstGeom>
              <a:blipFill rotWithShape="1">
                <a:blip r:embed="rId3"/>
                <a:stretch>
                  <a:fillRect t="-18939" b="-18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881652" y="4301424"/>
                <a:ext cx="5993130" cy="86360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𝑢𝑑𝑥</m:t>
                        </m:r>
                        <m:r>
                          <a:rPr lang="en-US" altLang="zh-CN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𝑣𝑑𝑦</m:t>
                        </m:r>
                        <m:r>
                          <a:rPr lang="en-US" altLang="zh-CN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nary>
                          <m:naryPr>
                            <m:ctrlPr>
                              <a:rPr lang="en-US" altLang="zh-CN" sz="3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sub>
                          <m:sup/>
                          <m:e>
                            <m:r>
                              <a:rPr lang="en-US" altLang="zh-CN" sz="3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𝑣𝑑𝑥</m:t>
                            </m:r>
                            <m:r>
                              <a:rPr lang="en-US" altLang="zh-CN" sz="3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𝑢𝑑𝑦</m:t>
                            </m:r>
                          </m:e>
                        </m:nary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652" y="4301424"/>
                <a:ext cx="5993130" cy="863600"/>
              </a:xfrm>
              <a:prstGeom prst="rect">
                <a:avLst/>
              </a:prstGeom>
              <a:blipFill rotWithShape="1">
                <a:blip r:embed="rId4"/>
                <a:stretch>
                  <a:fillRect l="-2" t="-6610" r="2" b="-66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2573869" y="3442934"/>
                <a:ext cx="6397739" cy="810992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nary>
                      <m:naryPr>
                        <m:chr m:val="∑"/>
                        <m:ctrlP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CN" altLang="en-US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altLang="zh-CN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3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3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zh-CN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3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3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sSub>
                              <m:sSubPr>
                                <m:ctrlPr>
                                  <a:rPr lang="en-US" altLang="zh-CN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altLang="zh-CN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altLang="zh-CN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869" y="3442934"/>
                <a:ext cx="6397739" cy="810992"/>
              </a:xfrm>
              <a:prstGeom prst="rect">
                <a:avLst/>
              </a:prstGeom>
              <a:blipFill rotWithShape="1">
                <a:blip r:embed="rId5"/>
                <a:stretch>
                  <a:fillRect l="-3" t="-152" r="5" b="-1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1881652" y="5165024"/>
                <a:ext cx="5158740" cy="1047504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𝑖𝑣</m:t>
                        </m:r>
                        <m: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)(</m:t>
                        </m:r>
                        <m: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  <m: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𝑖𝑑𝑦</m:t>
                        </m:r>
                        <m: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652" y="5165024"/>
                <a:ext cx="5158740" cy="1047504"/>
              </a:xfrm>
              <a:prstGeom prst="rect">
                <a:avLst/>
              </a:prstGeom>
              <a:blipFill rotWithShape="1">
                <a:blip r:embed="rId6"/>
                <a:stretch>
                  <a:fillRect l="-3" t="-54" r="3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5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  <p:bldP spid="9" grpId="0"/>
      <p:bldP spid="10" grpId="0"/>
      <p:bldP spid="12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5420" y="517189"/>
            <a:ext cx="5455438" cy="76093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3335" dirty="0">
                <a:latin typeface="楷体" panose="02010609060101010101" pitchFamily="49" charset="-122"/>
                <a:ea typeface="楷体" panose="02010609060101010101" pitchFamily="49" charset="-122"/>
              </a:rPr>
              <a:t>由实函数可积的条件得：</a:t>
            </a:r>
            <a:endParaRPr lang="zh-CN" altLang="en-US" sz="3335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272983" y="1755639"/>
                <a:ext cx="7980680" cy="76073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𝑖𝑦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groupChr>
                      <m:groupChrPr>
                        <m:chr m:val="→"/>
                        <m:vertJc m:val="bot"/>
                        <m:ctrlPr>
                          <a:rPr lang="zh-CN" altLang="en-US" sz="30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  <m:r>
                      <a:rPr lang="zh-CN" altLang="en-US" sz="3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参数方程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83" y="1755639"/>
                <a:ext cx="7980680" cy="760730"/>
              </a:xfrm>
              <a:prstGeom prst="rect">
                <a:avLst/>
              </a:prstGeom>
              <a:blipFill rotWithShape="1">
                <a:blip r:embed="rId1"/>
                <a:stretch>
                  <a:fillRect l="-7" t="-13254" r="7" b="-132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2044700" y="4193305"/>
                <a:ext cx="6045334" cy="77724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𝛼</m:t>
                        </m:r>
                      </m:sub>
                      <m:sup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𝛽</m:t>
                        </m:r>
                      </m:sup>
                      <m:e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𝑢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𝑖𝑣</m:t>
                            </m:r>
                          </m:e>
                        </m:d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𝑑𝑡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700" y="4193305"/>
                <a:ext cx="6045334" cy="777240"/>
              </a:xfrm>
              <a:prstGeom prst="rect">
                <a:avLst/>
              </a:prstGeom>
              <a:blipFill rotWithShape="1">
                <a:blip r:embed="rId2"/>
                <a:stretch>
                  <a:fillRect t="-10672" r="2" b="-10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236354" y="1134304"/>
                <a:ext cx="9143999" cy="82105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𝑇ℎ𝑚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逐段光滑，</a:t>
                </a:r>
                <a:r>
                  <a:rPr lang="en-US" altLang="zh-CN" sz="3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在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上连续，则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上可积。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54" y="1134304"/>
                <a:ext cx="9143999" cy="821055"/>
              </a:xfrm>
              <a:prstGeom prst="rect">
                <a:avLst/>
              </a:prstGeom>
              <a:blipFill rotWithShape="1">
                <a:blip r:embed="rId3"/>
                <a:stretch>
                  <a:fillRect l="-1" t="-24" r="1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236354" y="2448754"/>
                <a:ext cx="7439660" cy="1030438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</m:e>
                    </m:nary>
                    <m:nary>
                      <m:nary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𝛼</m:t>
                        </m:r>
                      </m:sub>
                      <m:sup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𝛽</m:t>
                        </m:r>
                      </m:sup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𝑢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54" y="2448754"/>
                <a:ext cx="7439660" cy="1030438"/>
              </a:xfrm>
              <a:prstGeom prst="rect">
                <a:avLst/>
              </a:prstGeom>
              <a:blipFill rotWithShape="1">
                <a:blip r:embed="rId4"/>
                <a:stretch>
                  <a:fillRect l="-2" t="-19" r="2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2044700" y="4627128"/>
                <a:ext cx="4307205" cy="150622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zh-CN" alt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𝛼</m:t>
                        </m:r>
                      </m:sub>
                      <m:sup>
                        <m:r>
                          <a:rPr lang="zh-CN" altLang="en-US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𝛽</m:t>
                        </m:r>
                      </m:sup>
                      <m:e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</m:t>
                        </m:r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))∙</m:t>
                        </m:r>
                        <m:sSup>
                          <m:sSupPr>
                            <m:ctrlPr>
                              <a:rPr lang="en-US" altLang="zh-CN" sz="3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3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700" y="4627128"/>
                <a:ext cx="4307205" cy="1506220"/>
              </a:xfrm>
              <a:prstGeom prst="rect">
                <a:avLst/>
              </a:prstGeom>
              <a:blipFill rotWithShape="1">
                <a:blip r:embed="rId5"/>
                <a:stretch>
                  <a:fillRect t="-34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3749274" y="3230482"/>
                <a:ext cx="4888865" cy="111115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nary>
                      <m:nary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𝛼</m:t>
                        </m:r>
                      </m:sub>
                      <m:sup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𝛽</m:t>
                        </m:r>
                      </m:sup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𝑣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274" y="3230482"/>
                <a:ext cx="4888865" cy="1111150"/>
              </a:xfrm>
              <a:prstGeom prst="rect">
                <a:avLst/>
              </a:prstGeom>
              <a:blipFill rotWithShape="1">
                <a:blip r:embed="rId6"/>
                <a:stretch>
                  <a:fillRect l="-5" t="-21" r="5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2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标题 1"/>
          <p:cNvSpPr txBox="1"/>
          <p:nvPr/>
        </p:nvSpPr>
        <p:spPr>
          <a:xfrm>
            <a:off x="3686476" y="5789930"/>
            <a:ext cx="5308333" cy="760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335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sz="3335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复积分的变量代换公式</a:t>
            </a:r>
            <a:endParaRPr lang="zh-CN" altLang="en-US" sz="3335" dirty="0">
              <a:solidFill>
                <a:srgbClr val="00B05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3" grpId="0"/>
      <p:bldP spid="6" grpId="0"/>
      <p:bldP spid="7" grpId="0"/>
      <p:bldP spid="8" grpId="0"/>
      <p:bldP spid="13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810" y="593859"/>
            <a:ext cx="4035425" cy="693420"/>
          </a:xfrm>
        </p:spPr>
        <p:txBody>
          <a:bodyPr>
            <a:normAutofit/>
          </a:bodyPr>
          <a:lstStyle/>
          <a:p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三、积分性质</a:t>
            </a:r>
            <a:endParaRPr lang="zh-CN" altLang="en-US" sz="3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130810" y="1303337"/>
                <a:ext cx="8726805" cy="84772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29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  <m:r>
                      <a:rPr lang="en-US" altLang="zh-CN" sz="29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29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9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29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为逐段光滑的有向简单曲线，</a:t>
                </a:r>
                <a:r>
                  <a:rPr lang="en-US" altLang="zh-CN" sz="29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9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29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9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𝑔</m:t>
                    </m:r>
                  </m:oMath>
                </a14:m>
                <a:r>
                  <a:rPr lang="zh-CN" altLang="en-US" sz="29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为定义在</a:t>
                </a:r>
                <a14:m>
                  <m:oMath xmlns:m="http://schemas.openxmlformats.org/officeDocument/2006/math">
                    <m:r>
                      <a:rPr lang="en-US" altLang="zh-CN" sz="29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29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上的连续函数，则：</a:t>
                </a:r>
                <a:endParaRPr lang="zh-CN" altLang="en-US" sz="2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10" y="1303337"/>
                <a:ext cx="8726805" cy="847725"/>
              </a:xfrm>
              <a:prstGeom prst="rect">
                <a:avLst/>
              </a:prstGeom>
              <a:blipFill rotWithShape="1">
                <a:blip r:embed="rId1"/>
                <a:stretch>
                  <a:fillRect t="-12547" b="-12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84762" y="2256607"/>
                <a:ext cx="8719185" cy="82423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1.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𝛼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𝛽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𝑔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𝛼</m:t>
                        </m:r>
                        <m:nary>
                          <m:naryPr>
                            <m:ctrlPr>
                              <a:rPr lang="zh-CN" altLang="en-US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sub>
                          <m:sup/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𝑓𝑑𝑧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𝛽</m:t>
                            </m:r>
                            <m:nary>
                              <m:naryPr>
                                <m:ctrlPr>
                                  <a:rPr lang="zh-CN" altLang="en-US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𝐶</m:t>
                                </m:r>
                              </m:sub>
                              <m:sup/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𝑔𝑑𝑧</m:t>
                                </m:r>
                              </m:e>
                            </m:nary>
                            <m:r>
                              <a:rPr lang="zh-CN" altLang="en-US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；</m:t>
                            </m:r>
                          </m:e>
                        </m:nary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62" y="2256607"/>
                <a:ext cx="8719185" cy="824230"/>
              </a:xfrm>
              <a:prstGeom prst="rect">
                <a:avLst/>
              </a:prstGeom>
              <a:blipFill rotWithShape="1">
                <a:blip r:embed="rId2"/>
                <a:stretch>
                  <a:fillRect l="-7" t="-9300" r="7" b="-93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232366" y="2995328"/>
                <a:ext cx="8856345" cy="112966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</m:sup>
                    </m:sSup>
                  </m:oMath>
                </a14:m>
                <a:r>
                  <a:rPr lang="zh-CN" altLang="en-US" sz="3000" dirty="0"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dirty="0">
                    <a:ea typeface="楷体" panose="02010609060101010101" pitchFamily="49" charset="-122"/>
                  </a:rPr>
                  <a:t>的反向曲线，则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</m:sup>
                        </m:sSup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=−</m:t>
                        </m:r>
                        <m:nary>
                          <m:nary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sub>
                          <m:sup/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</m:e>
                        </m:nary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;</m:t>
                        </m:r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66" y="2995328"/>
                <a:ext cx="8856345" cy="1129665"/>
              </a:xfrm>
              <a:prstGeom prst="rect">
                <a:avLst/>
              </a:prstGeom>
              <a:blipFill rotWithShape="1">
                <a:blip r:embed="rId3"/>
                <a:stretch>
                  <a:fillRect l="-7" t="-3" r="7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232366" y="3946458"/>
                <a:ext cx="8856980" cy="112966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3.</a:t>
                </a:r>
                <a:r>
                  <a:rPr lang="en-US" altLang="zh-CN" sz="28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nary>
                          <m:nary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nary>
                              <m:nary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naryPr>
                              <m:sub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  <m:sup/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𝑑𝑧</m:t>
                                </m:r>
                              </m:e>
                            </m:nary>
                          </m:e>
                        </m:nary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;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66" y="3946458"/>
                <a:ext cx="8856980" cy="1129665"/>
              </a:xfrm>
              <a:prstGeom prst="rect">
                <a:avLst/>
              </a:prstGeom>
              <a:blipFill rotWithShape="1">
                <a:blip r:embed="rId4"/>
                <a:stretch>
                  <a:fillRect l="-7" t="-50" r="7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0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框 4"/>
          <p:cNvSpPr txBox="1"/>
          <p:nvPr/>
        </p:nvSpPr>
        <p:spPr>
          <a:xfrm>
            <a:off x="1928495" y="5024755"/>
            <a:ext cx="4572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000" dirty="0">
                <a:ea typeface="楷体" panose="02010609060101010101" pitchFamily="49" charset="-122"/>
                <a:sym typeface="+mn-ea"/>
              </a:rPr>
              <a:t>(</a:t>
            </a:r>
            <a:r>
              <a:rPr lang="zh-CN" altLang="en-US" sz="3000" dirty="0">
                <a:ea typeface="楷体" panose="02010609060101010101" pitchFamily="49" charset="-122"/>
                <a:sym typeface="+mn-ea"/>
              </a:rPr>
              <a:t>头尾相接</a:t>
            </a:r>
            <a:r>
              <a:rPr lang="en-US" altLang="zh-CN" sz="3000" dirty="0">
                <a:ea typeface="楷体" panose="02010609060101010101" pitchFamily="49" charset="-122"/>
                <a:sym typeface="+mn-ea"/>
              </a:rPr>
              <a:t>)</a:t>
            </a:r>
            <a:endParaRPr lang="en-US" altLang="zh-CN" sz="3000" dirty="0">
              <a:ea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3" grpId="0"/>
      <p:bldP spid="4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155892" y="730350"/>
                <a:ext cx="8832215" cy="91567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4.(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估值定理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:r>
                  <a:rPr lang="zh-CN" altLang="en-US" sz="3000" b="0" dirty="0"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zh-CN" altLang="en-US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曲线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为长度为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𝐿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上满足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d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92" y="730350"/>
                <a:ext cx="8832215" cy="915670"/>
              </a:xfrm>
              <a:prstGeom prst="rect">
                <a:avLst/>
              </a:prstGeom>
              <a:blipFill rotWithShape="1">
                <a:blip r:embed="rId1"/>
                <a:stretch>
                  <a:fillRect l="-4" t="-26225" r="4" b="-262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99206" y="1912085"/>
                <a:ext cx="3810000" cy="99822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𝑝𝑓</m:t>
                    </m:r>
                    <m:r>
                      <a:rPr lang="zh-CN" altLang="en-US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：</m:t>
                    </m:r>
                  </m:oMath>
                </a14:m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𝜍</m:t>
                                </m:r>
                              </m:e>
                              <m:sub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06" y="1912085"/>
                <a:ext cx="3810000" cy="998220"/>
              </a:xfrm>
              <a:prstGeom prst="rect">
                <a:avLst/>
              </a:prstGeom>
              <a:blipFill rotWithShape="1">
                <a:blip r:embed="rId2"/>
                <a:stretch>
                  <a:fillRect l="-12" t="-10" r="12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2718468" y="730350"/>
                <a:ext cx="6340475" cy="1420896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en-US" altLang="zh-CN" sz="300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sub>
                          <m:sup/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</m:e>
                        </m:nary>
                      </m:e>
                    </m:d>
                    <m:r>
                      <a:rPr lang="en-US" altLang="zh-CN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nary>
                      <m:nary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𝑑𝑆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468" y="730350"/>
                <a:ext cx="6340475" cy="1420896"/>
              </a:xfrm>
              <a:prstGeom prst="rect">
                <a:avLst/>
              </a:prstGeom>
              <a:blipFill rotWithShape="1">
                <a:blip r:embed="rId3"/>
                <a:stretch>
                  <a:fillRect l="-1" t="-7" r="1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1236428" y="3471645"/>
                <a:ext cx="1980565" cy="70294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/>
                    </m:groupChr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428" y="3471645"/>
                <a:ext cx="1980565" cy="702945"/>
              </a:xfrm>
              <a:prstGeom prst="rect">
                <a:avLst/>
              </a:prstGeom>
              <a:blipFill rotWithShape="1">
                <a:blip r:embed="rId4"/>
                <a:stretch>
                  <a:fillRect l="-4" t="-18262" r="-2048" b="-183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3729505" y="1892568"/>
                <a:ext cx="3903612" cy="99822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30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30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𝜍</m:t>
                                    </m:r>
                                  </m:e>
                                  <m:sub>
                                    <m:r>
                                      <a:rPr lang="en-US" altLang="zh-CN" sz="30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CN" sz="30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altLang="zh-CN" sz="3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505" y="1892568"/>
                <a:ext cx="3903612" cy="998220"/>
              </a:xfrm>
              <a:prstGeom prst="rect">
                <a:avLst/>
              </a:prstGeom>
              <a:blipFill rotWithShape="1">
                <a:blip r:embed="rId5"/>
                <a:stretch>
                  <a:fillRect l="-4" t="-27" r="11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3777932" y="2762985"/>
                <a:ext cx="3470910" cy="99822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3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𝜍</m:t>
                                    </m:r>
                                  </m:e>
                                  <m:sub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∙∆</m:t>
                        </m:r>
                        <m:sSub>
                          <m:sSub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30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altLang="zh-CN" sz="3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932" y="2762985"/>
                <a:ext cx="3470910" cy="998220"/>
              </a:xfrm>
              <a:prstGeom prst="rect">
                <a:avLst/>
              </a:prstGeom>
              <a:blipFill rotWithShape="1">
                <a:blip r:embed="rId6"/>
                <a:stretch>
                  <a:fillRect l="-9" t="-10" r="9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236428" y="4258410"/>
                <a:ext cx="5028565" cy="99822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sub>
                          <m:sup/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</m:e>
                        </m:nary>
                      </m:e>
                    </m:d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nary>
                      <m:nary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𝑑𝑆</m:t>
                        </m:r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428" y="4258410"/>
                <a:ext cx="5028565" cy="998220"/>
              </a:xfrm>
              <a:prstGeom prst="rect">
                <a:avLst/>
              </a:prstGeom>
              <a:blipFill rotWithShape="1">
                <a:blip r:embed="rId7"/>
                <a:stretch>
                  <a:fillRect l="-2" t="-3636" r="2" b="-36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6031380" y="4469949"/>
                <a:ext cx="1506220" cy="70294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3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3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3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1380" y="4469949"/>
                <a:ext cx="1506220" cy="702945"/>
              </a:xfrm>
              <a:prstGeom prst="rect">
                <a:avLst/>
              </a:prstGeom>
              <a:blipFill rotWithShape="1">
                <a:blip r:embed="rId8"/>
                <a:stretch>
                  <a:fillRect l="-10" t="-26" r="10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4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6" grpId="0"/>
      <p:bldP spid="7" grpId="0"/>
      <p:bldP spid="8" grpId="0"/>
      <p:bldP spid="9" grpId="0"/>
      <p:bldP spid="10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122036" y="487414"/>
                <a:ext cx="6995795" cy="88646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证明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den>
                            </m:f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</m:e>
                        </m:nary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8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487414"/>
                <a:ext cx="6995795" cy="886460"/>
              </a:xfrm>
              <a:prstGeom prst="rect">
                <a:avLst/>
              </a:prstGeom>
              <a:blipFill rotWithShape="1">
                <a:blip r:embed="rId1"/>
                <a:stretch>
                  <a:fillRect l="-2" t="-10428" r="2" b="-10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22036" y="1599378"/>
                <a:ext cx="3328621" cy="88646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𝑝𝑓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599378"/>
                <a:ext cx="3328621" cy="886460"/>
              </a:xfrm>
              <a:prstGeom prst="rect">
                <a:avLst/>
              </a:prstGeom>
              <a:blipFill rotWithShape="1">
                <a:blip r:embed="rId2"/>
                <a:stretch>
                  <a:fillRect l="-3" t="-7071" r="2" b="-70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3113888" y="1599378"/>
                <a:ext cx="1764329" cy="88646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888" y="1599378"/>
                <a:ext cx="1764329" cy="886460"/>
              </a:xfrm>
              <a:prstGeom prst="rect">
                <a:avLst/>
              </a:prstGeom>
              <a:blipFill rotWithShape="1">
                <a:blip r:embed="rId3"/>
                <a:stretch>
                  <a:fillRect l="-27" t="-10222" r="8" b="-101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4572000" y="1611523"/>
                <a:ext cx="1910615" cy="88646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611523"/>
                <a:ext cx="1910615" cy="886460"/>
              </a:xfrm>
              <a:prstGeom prst="rect">
                <a:avLst/>
              </a:prstGeom>
              <a:blipFill rotWithShape="1">
                <a:blip r:embed="rId4"/>
                <a:stretch>
                  <a:fillRect t="-4859" r="28" b="-48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122036" y="2711342"/>
                <a:ext cx="4108267" cy="88646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den>
                            </m:f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</m:e>
                        </m:nary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𝑑𝑆</m:t>
                        </m:r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2711342"/>
                <a:ext cx="4108267" cy="886460"/>
              </a:xfrm>
              <a:prstGeom prst="rect">
                <a:avLst/>
              </a:prstGeom>
              <a:blipFill rotWithShape="1">
                <a:blip r:embed="rId5"/>
                <a:stretch>
                  <a:fillRect l="-3" t="-10446" r="14" b="-103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2314993" y="3608590"/>
                <a:ext cx="1987500" cy="88646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zh-CN" alt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993" y="3608590"/>
                <a:ext cx="1987500" cy="886460"/>
              </a:xfrm>
              <a:prstGeom prst="rect">
                <a:avLst/>
              </a:prstGeom>
              <a:blipFill rotWithShape="1">
                <a:blip r:embed="rId6"/>
                <a:stretch>
                  <a:fillRect l="-21" t="-59" r="19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3958876" y="3608590"/>
                <a:ext cx="1170957" cy="88646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8</m:t>
                      </m:r>
                      <m:r>
                        <a:rPr lang="zh-CN" alt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876" y="3608590"/>
                <a:ext cx="1170957" cy="886460"/>
              </a:xfrm>
              <a:prstGeom prst="rect">
                <a:avLst/>
              </a:prstGeom>
              <a:blipFill rotWithShape="1">
                <a:blip r:embed="rId7"/>
                <a:stretch>
                  <a:fillRect l="-24" t="-59" r="26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114595" y="756752"/>
                <a:ext cx="8859520" cy="99250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计算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acc>
                          <m:accPr>
                            <m:chr m:val="̅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acc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:1)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𝑂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4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的直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线段；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2)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𝑂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000" b="0" i="0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B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，再到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4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的折线段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95" y="756752"/>
                <a:ext cx="8859520" cy="992505"/>
              </a:xfrm>
              <a:prstGeom prst="rect">
                <a:avLst/>
              </a:prstGeom>
              <a:blipFill rotWithShape="1">
                <a:blip r:embed="rId1"/>
                <a:stretch>
                  <a:fillRect l="-3" t="-17066" r="3" b="-17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14595" y="1963119"/>
                <a:ext cx="5809754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1)</a:t>
                </a:r>
                <a:r>
                  <a:rPr lang="zh-CN" altLang="en-US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𝑦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4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→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3000" b="0" i="1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MS Mincho" panose="02020609040205080304" charset="-128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95" y="1963119"/>
                <a:ext cx="5809754" cy="741581"/>
              </a:xfrm>
              <a:prstGeom prst="rect">
                <a:avLst/>
              </a:prstGeom>
              <a:blipFill rotWithShape="1">
                <a:blip r:embed="rId2"/>
                <a:stretch>
                  <a:fillRect l="-5" t="-45" r="7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878200" y="2704700"/>
                <a:ext cx="6860512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acc>
                          <m:accPr>
                            <m:chr m:val="̅"/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acc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3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p>
                      <m:e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4</m:t>
                            </m:r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e>
                        </m:d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4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200" y="2704700"/>
                <a:ext cx="6860512" cy="741581"/>
              </a:xfrm>
              <a:prstGeom prst="rect">
                <a:avLst/>
              </a:prstGeom>
              <a:blipFill rotWithShape="1">
                <a:blip r:embed="rId3"/>
                <a:stretch>
                  <a:fillRect l="-9" t="-2772" r="9" b="-2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6071029" y="1963118"/>
                <a:ext cx="2317388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3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𝑡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𝑖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4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  <a:cs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altLang="zh-CN" sz="3000" b="0" i="1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029" y="1963118"/>
                <a:ext cx="2317388" cy="741581"/>
              </a:xfrm>
              <a:prstGeom prst="rect">
                <a:avLst/>
              </a:prstGeom>
              <a:blipFill rotWithShape="1">
                <a:blip r:embed="rId4"/>
                <a:stretch>
                  <a:fillRect l="-19" t="-45" r="3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1114099" y="3554931"/>
                <a:ext cx="4651434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p>
                      <m:e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4</m:t>
                            </m:r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e>
                        </m:d>
                      </m:e>
                    </m:nary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𝑑𝑡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099" y="3554931"/>
                <a:ext cx="4651434" cy="741581"/>
              </a:xfrm>
              <a:prstGeom prst="rect">
                <a:avLst/>
              </a:prstGeom>
              <a:blipFill rotWithShape="1">
                <a:blip r:embed="rId5"/>
                <a:stretch>
                  <a:fillRect l="-7" t="-284" r="8" b="-2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1114098" y="4308178"/>
                <a:ext cx="4906503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4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nary>
                      <m:naryPr>
                        <m:ctrlPr>
                          <a:rPr lang="en-US" altLang="zh-CN" sz="3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p>
                      <m:e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𝑡𝑑𝑡</m:t>
                        </m:r>
                      </m:e>
                    </m:nary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098" y="4308178"/>
                <a:ext cx="4906503" cy="741581"/>
              </a:xfrm>
              <a:prstGeom prst="rect">
                <a:avLst/>
              </a:prstGeom>
              <a:blipFill rotWithShape="1">
                <a:blip r:embed="rId6"/>
                <a:stretch>
                  <a:fillRect l="-6" t="-302" r="3" b="-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1164526" y="5044651"/>
                <a:ext cx="4906503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4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nary>
                      <m:naryPr>
                        <m:ctrlPr>
                          <a:rPr lang="en-US" altLang="zh-CN" sz="3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p>
                      <m:e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𝑡𝑑𝑡</m:t>
                        </m:r>
                      </m:e>
                    </m:nary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526" y="5044651"/>
                <a:ext cx="4906503" cy="741581"/>
              </a:xfrm>
              <a:prstGeom prst="rect">
                <a:avLst/>
              </a:prstGeom>
              <a:blipFill rotWithShape="1">
                <a:blip r:embed="rId6"/>
                <a:stretch>
                  <a:fillRect l="-12" t="-285" r="9" b="-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1164527" y="5635001"/>
                <a:ext cx="1578674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25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527" y="5635001"/>
                <a:ext cx="1578674" cy="741581"/>
              </a:xfrm>
              <a:prstGeom prst="rect">
                <a:avLst/>
              </a:prstGeom>
              <a:blipFill rotWithShape="1">
                <a:blip r:embed="rId7"/>
                <a:stretch>
                  <a:fillRect l="-36" t="-2399" b="-24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114595" y="756752"/>
                <a:ext cx="8859520" cy="99250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计算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acc>
                          <m:accPr>
                            <m:chr m:val="̅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acc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:1)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𝑂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4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的直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线段；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2)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𝑂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000" b="0" i="0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B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，再到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4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的折线段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95" y="756752"/>
                <a:ext cx="8859520" cy="992505"/>
              </a:xfrm>
              <a:prstGeom prst="rect">
                <a:avLst/>
              </a:prstGeom>
              <a:blipFill rotWithShape="1">
                <a:blip r:embed="rId1"/>
                <a:stretch>
                  <a:fillRect l="-3" t="-17066" r="3" b="-17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017070" y="2742911"/>
                <a:ext cx="4655232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𝑂𝐵</m:t>
                        </m:r>
                      </m:sub>
                    </m:sSub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𝑦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→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sz="3000" b="0" i="1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MS Mincho" panose="02020609040205080304" charset="-128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070" y="2742911"/>
                <a:ext cx="4655232" cy="741581"/>
              </a:xfrm>
              <a:prstGeom prst="rect">
                <a:avLst/>
              </a:prstGeom>
              <a:blipFill rotWithShape="1">
                <a:blip r:embed="rId2"/>
                <a:stretch>
                  <a:fillRect l="-9" t="-47" r="10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75556" y="1951006"/>
                <a:ext cx="6860512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 </m:t>
                    </m:r>
                    <m:r>
                      <a:rPr lang="en-US" altLang="zh-CN" sz="3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acc>
                          <m:accPr>
                            <m:chr m:val="̅"/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acc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3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𝑂𝐵</m:t>
                            </m:r>
                          </m:sub>
                        </m:sSub>
                      </m:sub>
                      <m:sup/>
                      <m:e>
                        <m:acc>
                          <m:accPr>
                            <m:chr m:val="̅"/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acc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𝐵</m:t>
                            </m:r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</m:sub>
                        </m:sSub>
                      </m:sub>
                      <m:sup/>
                      <m:e>
                        <m:acc>
                          <m:accPr>
                            <m:chr m:val="̅"/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acc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𝑑𝑧</m:t>
                    </m:r>
                  </m:oMath>
                </a14:m>
                <a:endParaRPr lang="en-US" altLang="zh-CN" sz="3000" i="1" dirty="0">
                  <a:solidFill>
                    <a:schemeClr val="bg1"/>
                  </a:solidFill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56" y="1951006"/>
                <a:ext cx="6860512" cy="741581"/>
              </a:xfrm>
              <a:prstGeom prst="rect">
                <a:avLst/>
              </a:prstGeom>
              <a:blipFill rotWithShape="1">
                <a:blip r:embed="rId3"/>
                <a:stretch>
                  <a:fillRect l="-4" t="-7317" r="4" b="-72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5926594" y="2781413"/>
                <a:ext cx="1114230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  <a:cs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altLang="zh-CN" sz="3000" b="0" i="1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594" y="2781413"/>
                <a:ext cx="1114230" cy="741581"/>
              </a:xfrm>
              <a:prstGeom prst="rect">
                <a:avLst/>
              </a:prstGeom>
              <a:blipFill rotWithShape="1">
                <a:blip r:embed="rId4"/>
                <a:stretch>
                  <a:fillRect l="-12" t="-15" r="52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029833" y="3484492"/>
                <a:ext cx="4642469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𝐵𝐴</m:t>
                          </m:r>
                        </m:sub>
                      </m:sSub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: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3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𝑦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𝑡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𝑡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: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→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altLang="zh-CN" sz="3000" b="0" i="1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MS Mincho" panose="02020609040205080304" charset="-128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33" y="3484492"/>
                <a:ext cx="4642469" cy="741581"/>
              </a:xfrm>
              <a:prstGeom prst="rect">
                <a:avLst/>
              </a:prstGeom>
              <a:blipFill rotWithShape="1">
                <a:blip r:embed="rId5"/>
                <a:stretch>
                  <a:fillRect l="-11" t="-33" r="10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5876676" y="3484491"/>
                <a:ext cx="2008925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3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  <a:cs typeface="Cambria Math" panose="02040503050406030204" pitchFamily="18" charset="0"/>
                        </a:rPr>
                        <m:t>𝑖𝑡</m:t>
                      </m:r>
                    </m:oMath>
                  </m:oMathPara>
                </a14:m>
                <a:endParaRPr lang="en-US" altLang="zh-CN" sz="3000" b="0" i="1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676" y="3484491"/>
                <a:ext cx="2008925" cy="741581"/>
              </a:xfrm>
              <a:prstGeom prst="rect">
                <a:avLst/>
              </a:prstGeom>
              <a:blipFill rotWithShape="1">
                <a:blip r:embed="rId6"/>
                <a:stretch>
                  <a:fillRect l="-19" t="-33" r="9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891032" y="4207840"/>
                <a:ext cx="1808853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sup>
                      <m:e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</m:t>
                        </m:r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032" y="4207840"/>
                <a:ext cx="1808853" cy="741581"/>
              </a:xfrm>
              <a:prstGeom prst="rect">
                <a:avLst/>
              </a:prstGeom>
              <a:blipFill rotWithShape="1">
                <a:blip r:embed="rId7"/>
                <a:stretch>
                  <a:fillRect l="-7" t="-387" r="28" b="-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2377240" y="4207839"/>
                <a:ext cx="3980246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</m:sup>
                      <m:e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𝑖𝑡</m:t>
                            </m:r>
                          </m:e>
                        </m:d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𝑖𝑡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240" y="4207839"/>
                <a:ext cx="3980246" cy="741581"/>
              </a:xfrm>
              <a:prstGeom prst="rect">
                <a:avLst/>
              </a:prstGeom>
              <a:blipFill rotWithShape="1">
                <a:blip r:embed="rId8"/>
                <a:stretch>
                  <a:fillRect l="-11" t="-216" r="13" b="-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1561465" y="4947920"/>
                <a:ext cx="3133090" cy="74168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</m:sup>
                      <m:e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𝑖𝑡</m:t>
                            </m:r>
                          </m:e>
                        </m:d>
                      </m:e>
                    </m:nary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1465" y="4947920"/>
                <a:ext cx="3133090" cy="741680"/>
              </a:xfrm>
              <a:prstGeom prst="rect">
                <a:avLst/>
              </a:prstGeom>
              <a:blipFill rotWithShape="1">
                <a:blip r:embed="rId9"/>
                <a:stretch>
                  <a:fillRect t="-171" b="-2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891031" y="4964287"/>
                <a:ext cx="831891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9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031" y="4964287"/>
                <a:ext cx="831891" cy="741581"/>
              </a:xfrm>
              <a:prstGeom prst="rect">
                <a:avLst/>
              </a:prstGeom>
              <a:blipFill rotWithShape="1">
                <a:blip r:embed="rId10"/>
                <a:stretch>
                  <a:fillRect l="-15" t="-2464" r="20" b="-24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标题 1"/>
              <p:cNvSpPr txBox="1"/>
              <p:nvPr/>
            </p:nvSpPr>
            <p:spPr>
              <a:xfrm>
                <a:off x="4186093" y="4947934"/>
                <a:ext cx="3699508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9</m:t>
                        </m:r>
                      </m:num>
                      <m:den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</m:t>
                        </m:r>
                      </m:e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sSubSup>
                      <m:sSubSup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</m:sup>
                    </m:sSubSup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093" y="4947934"/>
                <a:ext cx="3699508" cy="741581"/>
              </a:xfrm>
              <a:prstGeom prst="rect">
                <a:avLst/>
              </a:prstGeom>
              <a:blipFill rotWithShape="1">
                <a:blip r:embed="rId11"/>
                <a:stretch>
                  <a:fillRect l="-5" t="-2399" r="5" b="-24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标题 1"/>
              <p:cNvSpPr txBox="1"/>
              <p:nvPr/>
            </p:nvSpPr>
            <p:spPr>
              <a:xfrm>
                <a:off x="891031" y="5756192"/>
                <a:ext cx="2963887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9</m:t>
                        </m:r>
                      </m:num>
                      <m:den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12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8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031" y="5756192"/>
                <a:ext cx="2963887" cy="741581"/>
              </a:xfrm>
              <a:prstGeom prst="rect">
                <a:avLst/>
              </a:prstGeom>
              <a:blipFill rotWithShape="1">
                <a:blip r:embed="rId12"/>
                <a:stretch>
                  <a:fillRect l="-4" t="-2472" r="16" b="-24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标题 1"/>
              <p:cNvSpPr txBox="1"/>
              <p:nvPr/>
            </p:nvSpPr>
            <p:spPr>
              <a:xfrm>
                <a:off x="3605812" y="5760121"/>
                <a:ext cx="2963887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25</m:t>
                        </m:r>
                      </m:num>
                      <m:den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12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5812" y="5760121"/>
                <a:ext cx="2963887" cy="741581"/>
              </a:xfrm>
              <a:prstGeom prst="rect">
                <a:avLst/>
              </a:prstGeom>
              <a:blipFill rotWithShape="1">
                <a:blip r:embed="rId13"/>
                <a:stretch>
                  <a:fillRect l="-10" t="-2916" r="21" b="-30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2" grpId="0"/>
      <p:bldP spid="3" grpId="0"/>
      <p:bldP spid="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22036" y="640790"/>
                <a:ext cx="8795385" cy="1713297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计算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acc>
                              <m:accPr>
                                <m:chr m:val="̅"/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acc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A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沿圆弧到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000" b="0" i="0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B</m:t>
                    </m:r>
                    <m:d>
                      <m:d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</m:oMath>
                </a14:m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再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沿实轴到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,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沿圆弧到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,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最后沿实轴回到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A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的曲线。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640790"/>
                <a:ext cx="8795385" cy="1713297"/>
              </a:xfrm>
              <a:prstGeom prst="rect">
                <a:avLst/>
              </a:prstGeom>
              <a:blipFill rotWithShape="1">
                <a:blip r:embed="rId1"/>
                <a:stretch>
                  <a:fillRect l="-1" t="-6602" r="1" b="-66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146662" y="2354087"/>
                <a:ext cx="8795385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3000" dirty="0">
                    <a:solidFill>
                      <a:schemeClr val="bg1"/>
                    </a:solidFill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acc>
                              <m:accPr>
                                <m:chr m:val="̅"/>
                                <m:ctrlP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acc>
                          </m:den>
                        </m:f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acc>
                              <m:accPr>
                                <m:chr m:val="̅"/>
                                <m:ctrlP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acc>
                          </m:den>
                        </m:f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acc>
                              <m:accPr>
                                <m:chr m:val="̅"/>
                                <m:ctrlP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acc>
                          </m:den>
                        </m:f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4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acc>
                              <m:accPr>
                                <m:chr m:val="̅"/>
                                <m:ctrlP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acc>
                          </m:den>
                        </m:f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𝑑𝑧</m:t>
                    </m:r>
                  </m:oMath>
                </a14:m>
                <a:endParaRPr lang="en-US" altLang="zh-CN" sz="3000" i="1" dirty="0">
                  <a:solidFill>
                    <a:schemeClr val="bg1"/>
                  </a:solidFill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62" y="2354087"/>
                <a:ext cx="8795385" cy="741581"/>
              </a:xfrm>
              <a:prstGeom prst="rect">
                <a:avLst/>
              </a:prstGeom>
              <a:blipFill rotWithShape="1">
                <a:blip r:embed="rId2"/>
                <a:stretch>
                  <a:fillRect l="-7" t="-7212" r="7" b="-71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809202" y="3095668"/>
                <a:ext cx="4069016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3000" dirty="0">
                    <a:solidFill>
                      <a:schemeClr val="bg1"/>
                    </a:solidFill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sSup>
                      <m:sSup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zh-CN" altLang="en-US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sup>
                    </m:sSup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zh-CN" altLang="en-US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𝜋</m:t>
                    </m:r>
                  </m:oMath>
                </a14:m>
                <a:endParaRPr lang="zh-CN" altLang="en-US" sz="3000" b="0" i="1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MS Mincho" panose="02020609040205080304" charset="-128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202" y="3095668"/>
                <a:ext cx="4069016" cy="741581"/>
              </a:xfrm>
              <a:prstGeom prst="rect">
                <a:avLst/>
              </a:prstGeom>
              <a:blipFill rotWithShape="1">
                <a:blip r:embed="rId3"/>
                <a:stretch>
                  <a:fillRect l="-5" t="-6" r="4" b="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1534304" y="3845682"/>
                <a:ext cx="4414109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acc>
                              <m:accPr>
                                <m:chr m:val="̅"/>
                                <m:ctrlP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acc>
                          </m:den>
                        </m:f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zh-CN" altLang="en-US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zh-CN" altLang="en-US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zh-CN" altLang="en-US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</m:t>
                    </m:r>
                    <m:sSup>
                      <m:sSup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zh-CN" altLang="en-US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304" y="3845682"/>
                <a:ext cx="4414109" cy="741581"/>
              </a:xfrm>
              <a:prstGeom prst="rect">
                <a:avLst/>
              </a:prstGeom>
              <a:blipFill rotWithShape="1">
                <a:blip r:embed="rId4"/>
                <a:stretch>
                  <a:fillRect l="-3" t="-9350" r="8" b="-94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5498308" y="3837249"/>
                <a:ext cx="3491688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zh-CN" altLang="en-US" sz="3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zh-CN" altLang="en-US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sSup>
                      <m:sSupPr>
                        <m:ctrlPr>
                          <a:rPr lang="en-US" altLang="zh-CN" sz="3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zh-CN" altLang="en-US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sup>
                    </m:sSup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𝑑𝑖</m:t>
                    </m:r>
                    <m:r>
                      <a:rPr lang="zh-CN" altLang="en-US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308" y="3837249"/>
                <a:ext cx="3491688" cy="741581"/>
              </a:xfrm>
              <a:prstGeom prst="rect">
                <a:avLst/>
              </a:prstGeom>
              <a:blipFill rotWithShape="1">
                <a:blip r:embed="rId5"/>
                <a:stretch>
                  <a:fillRect l="-14" t="-78" r="9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标题 1"/>
              <p:cNvSpPr txBox="1"/>
              <p:nvPr/>
            </p:nvSpPr>
            <p:spPr>
              <a:xfrm>
                <a:off x="2798510" y="4658604"/>
                <a:ext cx="2699798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zh-CN" altLang="en-US" sz="3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zh-CN" altLang="en-US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𝑑𝑖</m:t>
                    </m:r>
                    <m:r>
                      <a:rPr lang="zh-CN" altLang="en-US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510" y="4658604"/>
                <a:ext cx="2699798" cy="741581"/>
              </a:xfrm>
              <a:prstGeom prst="rect">
                <a:avLst/>
              </a:prstGeom>
              <a:blipFill rotWithShape="1">
                <a:blip r:embed="rId6"/>
                <a:stretch>
                  <a:fillRect l="-2" t="-33" r="18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标题 1"/>
              <p:cNvSpPr txBox="1"/>
              <p:nvPr/>
            </p:nvSpPr>
            <p:spPr>
              <a:xfrm>
                <a:off x="5265786" y="4622991"/>
                <a:ext cx="1919473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zh-CN" altLang="en-US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sup>
                    </m:sSup>
                    <m:sSubSup>
                      <m:sSubSupPr>
                        <m:ctrlPr>
                          <a:rPr lang="en-US" altLang="zh-CN" sz="3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zh-CN" altLang="en-US" sz="3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</m:sSubSup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786" y="4622991"/>
                <a:ext cx="1919473" cy="741581"/>
              </a:xfrm>
              <a:prstGeom prst="rect">
                <a:avLst/>
              </a:prstGeom>
              <a:blipFill rotWithShape="1">
                <a:blip r:embed="rId7"/>
                <a:stretch>
                  <a:fillRect l="-19" t="-2509" r="12" b="-2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标题 1"/>
              <p:cNvSpPr txBox="1"/>
              <p:nvPr/>
            </p:nvSpPr>
            <p:spPr>
              <a:xfrm>
                <a:off x="6929352" y="4614558"/>
                <a:ext cx="1919473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352" y="4614558"/>
                <a:ext cx="1919473" cy="741581"/>
              </a:xfrm>
              <a:prstGeom prst="rect">
                <a:avLst/>
              </a:prstGeom>
              <a:blipFill rotWithShape="1">
                <a:blip r:embed="rId8"/>
                <a:stretch>
                  <a:fillRect l="-12" t="-2485" r="5" b="-24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标题 1"/>
              <p:cNvSpPr txBox="1"/>
              <p:nvPr/>
            </p:nvSpPr>
            <p:spPr>
              <a:xfrm>
                <a:off x="874975" y="5343282"/>
                <a:ext cx="4069016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3000" dirty="0">
                    <a:solidFill>
                      <a:schemeClr val="bg1"/>
                    </a:solidFill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:−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→−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3000" b="0" i="1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MS Mincho" panose="02020609040205080304" charset="-128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975" y="5343282"/>
                <a:ext cx="4069016" cy="741581"/>
              </a:xfrm>
              <a:prstGeom prst="rect">
                <a:avLst/>
              </a:prstGeom>
              <a:blipFill rotWithShape="1">
                <a:blip r:embed="rId9"/>
                <a:stretch>
                  <a:fillRect l="-14" t="-24029" r="13" b="-239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标题 1"/>
              <p:cNvSpPr txBox="1"/>
              <p:nvPr/>
            </p:nvSpPr>
            <p:spPr>
              <a:xfrm>
                <a:off x="1534304" y="5913758"/>
                <a:ext cx="3343914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acc>
                              <m:accPr>
                                <m:chr m:val="̅"/>
                                <m:ctrlP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acc>
                          </m:den>
                        </m:f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304" y="5913758"/>
                <a:ext cx="3343914" cy="741581"/>
              </a:xfrm>
              <a:prstGeom prst="rect">
                <a:avLst/>
              </a:prstGeom>
              <a:blipFill rotWithShape="1">
                <a:blip r:embed="rId10"/>
                <a:stretch>
                  <a:fillRect l="-4" t="-7022" r="4" b="-7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标题 1"/>
              <p:cNvSpPr txBox="1"/>
              <p:nvPr/>
            </p:nvSpPr>
            <p:spPr>
              <a:xfrm>
                <a:off x="4545210" y="5942744"/>
                <a:ext cx="1837195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p>
                      <m:e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210" y="5942744"/>
                <a:ext cx="1837195" cy="741581"/>
              </a:xfrm>
              <a:prstGeom prst="rect">
                <a:avLst/>
              </a:prstGeom>
              <a:blipFill rotWithShape="1">
                <a:blip r:embed="rId11"/>
                <a:stretch>
                  <a:fillRect l="-28" t="-141" r="1" b="-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标题 1"/>
              <p:cNvSpPr txBox="1"/>
              <p:nvPr/>
            </p:nvSpPr>
            <p:spPr>
              <a:xfrm>
                <a:off x="5948413" y="6011649"/>
                <a:ext cx="1133366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CN" sz="3000" b="0" i="1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MS Mincho" panose="02020609040205080304" charset="-128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413" y="6011649"/>
                <a:ext cx="1133366" cy="741581"/>
              </a:xfrm>
              <a:prstGeom prst="rect">
                <a:avLst/>
              </a:prstGeom>
              <a:blipFill rotWithShape="1">
                <a:blip r:embed="rId12"/>
                <a:stretch>
                  <a:fillRect l="-32" t="-14" r="23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348615" y="4365662"/>
                <a:ext cx="8795385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acc>
                              <m:accPr>
                                <m:chr m:val="̅"/>
                                <m:ctrlP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acc>
                          </m:den>
                        </m:f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acc>
                              <m:accPr>
                                <m:chr m:val="̅"/>
                                <m:ctrlP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acc>
                          </m:den>
                        </m:f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acc>
                              <m:accPr>
                                <m:chr m:val="̅"/>
                                <m:ctrlP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acc>
                          </m:den>
                        </m:f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4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acc>
                              <m:accPr>
                                <m:chr m:val="̅"/>
                                <m:ctrlP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acc>
                          </m:den>
                        </m:f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𝑑𝑧</m:t>
                    </m:r>
                  </m:oMath>
                </a14:m>
                <a:endParaRPr lang="en-US" altLang="zh-CN" sz="3000" i="1" dirty="0">
                  <a:solidFill>
                    <a:schemeClr val="bg1"/>
                  </a:solidFill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15" y="4365662"/>
                <a:ext cx="8795385" cy="741581"/>
              </a:xfrm>
              <a:prstGeom prst="rect">
                <a:avLst/>
              </a:prstGeom>
              <a:blipFill rotWithShape="1">
                <a:blip r:embed="rId1"/>
                <a:stretch>
                  <a:fillRect t="-7198" b="-72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870163" y="573451"/>
                <a:ext cx="4069016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sub>
                    </m:sSub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3000" dirty="0">
                    <a:solidFill>
                      <a:schemeClr val="bg1"/>
                    </a:solidFill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zh-CN" altLang="en-US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sup>
                    </m:sSup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zh-CN" altLang="en-US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zh-CN" altLang="en-US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3000" b="0" i="1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MS Mincho" panose="02020609040205080304" charset="-128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163" y="573451"/>
                <a:ext cx="4069016" cy="741581"/>
              </a:xfrm>
              <a:prstGeom prst="rect">
                <a:avLst/>
              </a:prstGeom>
              <a:blipFill rotWithShape="1">
                <a:blip r:embed="rId2"/>
                <a:stretch>
                  <a:fillRect l="-5" t="-6" r="4" b="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1512895" y="1229480"/>
                <a:ext cx="3848377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acc>
                              <m:accPr>
                                <m:chr m:val="̅"/>
                                <m:ctrlP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acc>
                          </m:den>
                        </m:f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zh-CN" altLang="en-US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zh-CN" altLang="en-US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zh-CN" altLang="en-US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</m:t>
                    </m:r>
                    <m:sSup>
                      <m:sSup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zh-CN" altLang="en-US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895" y="1229480"/>
                <a:ext cx="3848377" cy="741581"/>
              </a:xfrm>
              <a:prstGeom prst="rect">
                <a:avLst/>
              </a:prstGeom>
              <a:blipFill rotWithShape="1">
                <a:blip r:embed="rId3"/>
                <a:stretch>
                  <a:fillRect l="-8" t="-9350" r="16" b="-94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5098859" y="1290738"/>
                <a:ext cx="3636067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</m:t>
                    </m:r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zh-CN" altLang="en-US" sz="3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zh-CN" altLang="en-US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sSup>
                      <m:sSupPr>
                        <m:ctrlPr>
                          <a:rPr lang="en-US" altLang="zh-CN" sz="3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zh-CN" altLang="en-US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sup>
                    </m:sSup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𝑑𝑖</m:t>
                    </m:r>
                    <m:r>
                      <a:rPr lang="zh-CN" altLang="en-US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859" y="1290738"/>
                <a:ext cx="3636067" cy="741581"/>
              </a:xfrm>
              <a:prstGeom prst="rect">
                <a:avLst/>
              </a:prstGeom>
              <a:blipFill rotWithShape="1">
                <a:blip r:embed="rId4"/>
                <a:stretch>
                  <a:fillRect l="-12" t="-56" r="14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标题 1"/>
              <p:cNvSpPr txBox="1"/>
              <p:nvPr/>
            </p:nvSpPr>
            <p:spPr>
              <a:xfrm>
                <a:off x="2840220" y="2025558"/>
                <a:ext cx="2258639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zh-CN" altLang="en-US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sup>
                    </m:sSup>
                    <m:sSubSup>
                      <m:sSubSupPr>
                        <m:ctrlPr>
                          <a:rPr lang="en-US" altLang="zh-CN" sz="3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zh-CN" altLang="en-US" sz="3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</m:sSubSup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220" y="2025558"/>
                <a:ext cx="2258639" cy="741581"/>
              </a:xfrm>
              <a:prstGeom prst="rect">
                <a:avLst/>
              </a:prstGeom>
              <a:blipFill rotWithShape="1">
                <a:blip r:embed="rId5"/>
                <a:stretch>
                  <a:fillRect l="-22" t="-2556" r="20" b="-2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标题 1"/>
              <p:cNvSpPr txBox="1"/>
              <p:nvPr/>
            </p:nvSpPr>
            <p:spPr>
              <a:xfrm>
                <a:off x="4939179" y="2039966"/>
                <a:ext cx="1919473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179" y="2039966"/>
                <a:ext cx="1919473" cy="741581"/>
              </a:xfrm>
              <a:prstGeom prst="rect">
                <a:avLst/>
              </a:prstGeom>
              <a:blipFill rotWithShape="1">
                <a:blip r:embed="rId6"/>
                <a:stretch>
                  <a:fillRect l="-8" t="-2530" r="1" b="-25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标题 1"/>
              <p:cNvSpPr txBox="1"/>
              <p:nvPr/>
            </p:nvSpPr>
            <p:spPr>
              <a:xfrm>
                <a:off x="870163" y="2744690"/>
                <a:ext cx="4069016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</m:sub>
                    </m:sSub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3000" dirty="0">
                    <a:solidFill>
                      <a:schemeClr val="bg1"/>
                    </a:solidFill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→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3000" b="0" i="1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MS Mincho" panose="02020609040205080304" charset="-128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163" y="2744690"/>
                <a:ext cx="4069016" cy="741581"/>
              </a:xfrm>
              <a:prstGeom prst="rect">
                <a:avLst/>
              </a:prstGeom>
              <a:blipFill rotWithShape="1">
                <a:blip r:embed="rId7"/>
                <a:stretch>
                  <a:fillRect l="-5" t="-30" r="4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标题 1"/>
              <p:cNvSpPr txBox="1"/>
              <p:nvPr/>
            </p:nvSpPr>
            <p:spPr>
              <a:xfrm>
                <a:off x="1452490" y="3463822"/>
                <a:ext cx="3343914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4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acc>
                              <m:accPr>
                                <m:chr m:val="̅"/>
                                <m:ctrlP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acc>
                          </m:den>
                        </m:f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490" y="3463822"/>
                <a:ext cx="3343914" cy="741581"/>
              </a:xfrm>
              <a:prstGeom prst="rect">
                <a:avLst/>
              </a:prstGeom>
              <a:blipFill rotWithShape="1">
                <a:blip r:embed="rId8"/>
                <a:stretch>
                  <a:fillRect l="-7" t="-7093" r="7" b="-70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标题 1"/>
              <p:cNvSpPr txBox="1"/>
              <p:nvPr/>
            </p:nvSpPr>
            <p:spPr>
              <a:xfrm>
                <a:off x="4227906" y="3555176"/>
                <a:ext cx="1133366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CN" sz="3000" b="0" i="1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MS Mincho" panose="02020609040205080304" charset="-128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906" y="3555176"/>
                <a:ext cx="1133366" cy="741581"/>
              </a:xfrm>
              <a:prstGeom prst="rect">
                <a:avLst/>
              </a:prstGeom>
              <a:blipFill rotWithShape="1">
                <a:blip r:embed="rId9"/>
                <a:stretch>
                  <a:fillRect l="-7" t="-60" r="53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920747" y="5257729"/>
                <a:ext cx="3246992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den>
                    </m:f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den>
                    </m:f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747" y="5257729"/>
                <a:ext cx="3246992" cy="741581"/>
              </a:xfrm>
              <a:prstGeom prst="rect">
                <a:avLst/>
              </a:prstGeom>
              <a:blipFill rotWithShape="1">
                <a:blip r:embed="rId10"/>
                <a:stretch>
                  <a:fillRect l="-19" t="-2559" r="7" b="-25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3816347" y="5241407"/>
                <a:ext cx="3246992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6347" y="5241407"/>
                <a:ext cx="3246992" cy="741581"/>
              </a:xfrm>
              <a:prstGeom prst="rect">
                <a:avLst/>
              </a:prstGeom>
              <a:blipFill rotWithShape="1">
                <a:blip r:embed="rId11"/>
                <a:stretch>
                  <a:fillRect l="-19" t="-2499" r="7" b="-2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5" grpId="0"/>
      <p:bldP spid="2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204704" y="1288226"/>
            <a:ext cx="1852930" cy="533366"/>
          </a:xfrm>
          <a:prstGeom prst="rect">
            <a:avLst/>
          </a:prstGeom>
        </p:spPr>
        <p:txBody>
          <a:bodyPr vert="horz" lIns="121904" tIns="60952" rIns="121904" bIns="60952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重要结论</a:t>
            </a:r>
            <a:endParaRPr lang="zh-CN" altLang="en-US" sz="3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378861" y="504926"/>
                <a:ext cx="7463155" cy="62738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，以及正数</a:t>
                </a:r>
                <a14:m>
                  <m:oMath xmlns:m="http://schemas.openxmlformats.org/officeDocument/2006/math">
                    <m:r>
                      <a:rPr lang="zh-CN" altLang="en-US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和整数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，有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61" y="504926"/>
                <a:ext cx="7463155" cy="627380"/>
              </a:xfrm>
              <a:prstGeom prst="rect">
                <a:avLst/>
              </a:prstGeom>
              <a:blipFill rotWithShape="1">
                <a:blip r:embed="rId1"/>
                <a:stretch>
                  <a:fillRect l="-5" t="-4571" r="5" b="-4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1797451" y="670661"/>
                <a:ext cx="6215380" cy="149225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sz="3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，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zh-CN" sz="3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zh-CN" altLang="en-US" sz="300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，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451" y="670661"/>
                <a:ext cx="6215380" cy="1492250"/>
              </a:xfrm>
              <a:prstGeom prst="rect">
                <a:avLst/>
              </a:prstGeom>
              <a:blipFill rotWithShape="1">
                <a:blip r:embed="rId2"/>
                <a:stretch>
                  <a:fillRect l="-6" t="-7" r="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1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242915" y="2162911"/>
                <a:ext cx="4993229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𝑝𝑓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: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3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3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3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zh-CN" altLang="en-US" sz="30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𝜌</m:t>
                      </m:r>
                      <m:sSup>
                        <m:sSup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𝑖</m:t>
                          </m:r>
                          <m:r>
                            <a:rPr lang="zh-CN" altLang="en-US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𝜃</m:t>
                          </m:r>
                        </m:sup>
                      </m:sSup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zh-CN" altLang="en-US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𝜃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: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zh-CN" alt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15" y="2162911"/>
                <a:ext cx="4993229" cy="741581"/>
              </a:xfrm>
              <a:prstGeom prst="rect">
                <a:avLst/>
              </a:prstGeom>
              <a:blipFill rotWithShape="1">
                <a:blip r:embed="rId3"/>
                <a:stretch>
                  <a:fillRect l="-7" t="-14" r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1015464" y="2904492"/>
                <a:ext cx="6665495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nary>
                      <m:naryPr>
                        <m:chr m:val="∮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𝜌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zh-CN" altLang="en-US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𝑖𝑛</m:t>
                                </m:r>
                                <m:r>
                                  <a:rPr lang="zh-CN" altLang="en-US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464" y="2904492"/>
                <a:ext cx="6665495" cy="741581"/>
              </a:xfrm>
              <a:prstGeom prst="rect">
                <a:avLst/>
              </a:prstGeom>
              <a:blipFill rotWithShape="1">
                <a:blip r:embed="rId4"/>
                <a:stretch>
                  <a:fillRect l="-1" t="-13786" r="10" b="-138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6477047" y="2904491"/>
                <a:ext cx="2729937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𝜌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zh-CN" altLang="en-US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𝑖𝑛</m:t>
                                </m:r>
                                <m:r>
                                  <a:rPr lang="zh-CN" altLang="en-US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47" y="2904491"/>
                <a:ext cx="2729937" cy="741581"/>
              </a:xfrm>
              <a:prstGeom prst="rect">
                <a:avLst/>
              </a:prstGeom>
              <a:blipFill rotWithShape="1">
                <a:blip r:embed="rId5"/>
                <a:stretch>
                  <a:fillRect l="-2" t="-13786" r="4" b="-137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2282958" y="3846162"/>
                <a:ext cx="3654960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zh-CN" altLang="en-US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958" y="3846162"/>
                <a:ext cx="3654960" cy="741581"/>
              </a:xfrm>
              <a:prstGeom prst="rect">
                <a:avLst/>
              </a:prstGeom>
              <a:blipFill rotWithShape="1">
                <a:blip r:embed="rId6"/>
                <a:stretch>
                  <a:fillRect l="-4" t="-9243" r="1" b="-9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592119" y="4679183"/>
                <a:ext cx="4831717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时，上式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19" y="4679183"/>
                <a:ext cx="4831717" cy="741581"/>
              </a:xfrm>
              <a:prstGeom prst="rect">
                <a:avLst/>
              </a:prstGeom>
              <a:blipFill rotWithShape="1">
                <a:blip r:embed="rId7"/>
                <a:stretch>
                  <a:fillRect l="-6" t="-410" r="6" b="-2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5125618" y="4679183"/>
                <a:ext cx="1116366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brk m:alnAt="7"/>
                        </m:rPr>
                        <a:rPr lang="en-US" altLang="zh-CN" sz="3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zh-CN" altLang="en-US" sz="3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3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618" y="4679183"/>
                <a:ext cx="1116366" cy="741581"/>
              </a:xfrm>
              <a:prstGeom prst="rect">
                <a:avLst/>
              </a:prstGeom>
              <a:blipFill rotWithShape="1">
                <a:blip r:embed="rId8"/>
                <a:stretch>
                  <a:fillRect l="-48" t="-68" r="51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标题 1"/>
              <p:cNvSpPr txBox="1"/>
              <p:nvPr/>
            </p:nvSpPr>
            <p:spPr>
              <a:xfrm>
                <a:off x="592118" y="5407885"/>
                <a:ext cx="6958901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时，上式</a:t>
                </a:r>
                <a14:m>
                  <m:oMath xmlns:m="http://schemas.openxmlformats.org/officeDocument/2006/math"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nary>
                      <m:nary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p>
                        </m:sSup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18" y="5407885"/>
                <a:ext cx="6958901" cy="741581"/>
              </a:xfrm>
              <a:prstGeom prst="rect">
                <a:avLst/>
              </a:prstGeom>
              <a:blipFill rotWithShape="1">
                <a:blip r:embed="rId9"/>
                <a:stretch>
                  <a:fillRect l="-4" t="-9021" r="3" b="-89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标题 1"/>
              <p:cNvSpPr txBox="1"/>
              <p:nvPr/>
            </p:nvSpPr>
            <p:spPr>
              <a:xfrm>
                <a:off x="7189352" y="5445758"/>
                <a:ext cx="723335" cy="74158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3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52" y="5445758"/>
                <a:ext cx="723335" cy="741581"/>
              </a:xfrm>
              <a:prstGeom prst="rect">
                <a:avLst/>
              </a:prstGeom>
              <a:blipFill rotWithShape="1">
                <a:blip r:embed="rId10"/>
                <a:stretch>
                  <a:fillRect l="-71" t="-85" r="81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22036" y="901370"/>
            <a:ext cx="5176520" cy="287655"/>
          </a:xfrm>
          <a:prstGeom prst="rect">
            <a:avLst/>
          </a:prstGeom>
        </p:spPr>
        <p:txBody>
          <a:bodyPr vert="horz" lIns="121904" tIns="60952" rIns="121904" bIns="60952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练习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计算如下几题：</a:t>
            </a:r>
            <a:endParaRPr lang="en-US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322513" y="1256364"/>
                <a:ext cx="8721090" cy="121221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</m:d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      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nary>
                      <m:naryPr>
                        <m:chr m:val="∮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nary>
                      <m:naryPr>
                        <m:chr m:val="∮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𝑑𝑧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13" y="1256364"/>
                <a:ext cx="8721090" cy="1212215"/>
              </a:xfrm>
              <a:prstGeom prst="rect">
                <a:avLst/>
              </a:prstGeom>
              <a:blipFill rotWithShape="1">
                <a:blip r:embed="rId1"/>
                <a:stretch>
                  <a:fillRect l="-7" t="-28" r="7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439353" y="2468579"/>
                <a:ext cx="7814945" cy="81915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(4)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𝑑𝑧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    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5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nary>
                      <m:naryPr>
                        <m:chr m:val="∮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acc>
                          <m:accPr>
                            <m:chr m:val="̅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acc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353" y="2468579"/>
                <a:ext cx="7814945" cy="819150"/>
              </a:xfrm>
              <a:prstGeom prst="rect">
                <a:avLst/>
              </a:prstGeom>
              <a:blipFill rotWithShape="1">
                <a:blip r:embed="rId2"/>
                <a:stretch>
                  <a:fillRect l="-7" t="-18490" r="7" b="-18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0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55289" y="462845"/>
                <a:ext cx="2141554" cy="995948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</m:d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9" y="462845"/>
                <a:ext cx="2141554" cy="995948"/>
              </a:xfrm>
              <a:prstGeom prst="rect">
                <a:avLst/>
              </a:prstGeom>
              <a:blipFill rotWithShape="1">
                <a:blip r:embed="rId1"/>
                <a:stretch>
                  <a:fillRect l="-2" t="-2926" r="18" b="-29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0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55289" y="1876242"/>
                <a:ext cx="2064552" cy="121221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nary>
                      <m:naryPr>
                        <m:chr m:val="∮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9" y="1876242"/>
                <a:ext cx="2064552" cy="1212215"/>
              </a:xfrm>
              <a:prstGeom prst="rect">
                <a:avLst/>
              </a:prstGeom>
              <a:blipFill rotWithShape="1">
                <a:blip r:embed="rId2"/>
                <a:stretch>
                  <a:fillRect l="-2" t="-37" r="10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576818" y="573451"/>
                <a:ext cx="1994156" cy="995948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zh-CN" altLang="en-US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𝜋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𝑖</m:t>
                      </m:r>
                    </m:oMath>
                  </m:oMathPara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818" y="573451"/>
                <a:ext cx="1994156" cy="995948"/>
              </a:xfrm>
              <a:prstGeom prst="rect">
                <a:avLst/>
              </a:prstGeom>
              <a:blipFill rotWithShape="1">
                <a:blip r:embed="rId3"/>
                <a:stretch>
                  <a:fillRect l="-6" t="-5" r="19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3640690" y="281247"/>
                <a:ext cx="5310805" cy="149225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sz="3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，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zh-CN" sz="3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zh-CN" altLang="en-US" sz="300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，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90" y="281247"/>
                <a:ext cx="5310805" cy="1492250"/>
              </a:xfrm>
              <a:prstGeom prst="rect">
                <a:avLst/>
              </a:prstGeom>
              <a:blipFill rotWithShape="1">
                <a:blip r:embed="rId4"/>
                <a:stretch>
                  <a:fillRect l="-4" t="-39" r="10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2001965" y="1876241"/>
                <a:ext cx="2064552" cy="121221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∮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965" y="1876241"/>
                <a:ext cx="2064552" cy="1212215"/>
              </a:xfrm>
              <a:prstGeom prst="rect">
                <a:avLst/>
              </a:prstGeom>
              <a:blipFill rotWithShape="1">
                <a:blip r:embed="rId5"/>
                <a:stretch>
                  <a:fillRect l="-22" t="-37" r="30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3785848" y="2204829"/>
                <a:ext cx="863155" cy="84594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848" y="2204829"/>
                <a:ext cx="863155" cy="845941"/>
              </a:xfrm>
              <a:prstGeom prst="rect">
                <a:avLst/>
              </a:prstGeom>
              <a:blipFill rotWithShape="1">
                <a:blip r:embed="rId6"/>
                <a:stretch>
                  <a:fillRect l="-71" t="-13" r="19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55289" y="3208458"/>
                <a:ext cx="2237874" cy="121221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nary>
                      <m:naryPr>
                        <m:chr m:val="∮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𝑑𝑧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9" y="3208458"/>
                <a:ext cx="2237874" cy="1212215"/>
              </a:xfrm>
              <a:prstGeom prst="rect">
                <a:avLst/>
              </a:prstGeom>
              <a:blipFill rotWithShape="1">
                <a:blip r:embed="rId7"/>
                <a:stretch>
                  <a:fillRect l="-2" t="-36" r="8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2449629" y="3256245"/>
                <a:ext cx="4312119" cy="121221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ea typeface="楷体" panose="02010609060101010101" pitchFamily="49" charset="-122"/>
                  </a:rPr>
                  <a:t>令：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629" y="3256245"/>
                <a:ext cx="4312119" cy="1212215"/>
              </a:xfrm>
              <a:prstGeom prst="rect">
                <a:avLst/>
              </a:prstGeom>
              <a:blipFill rotWithShape="1">
                <a:blip r:embed="rId8"/>
                <a:stretch>
                  <a:fillRect l="-10" t="-49" r="6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799577" y="4132885"/>
                <a:ext cx="2184255" cy="121221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|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zh-CN" altLang="en-US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|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zh-CN" altLang="en-US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77" y="4132885"/>
                <a:ext cx="2184255" cy="1212215"/>
              </a:xfrm>
              <a:prstGeom prst="rect">
                <a:avLst/>
              </a:prstGeom>
              <a:blipFill rotWithShape="1">
                <a:blip r:embed="rId9"/>
                <a:stretch>
                  <a:fillRect l="-5" t="-25" r="28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2693962" y="4132884"/>
                <a:ext cx="2455554" cy="121221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zh-CN" altLang="en-US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𝑖𝑑</m:t>
                            </m:r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|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zh-CN" altLang="en-US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962" y="4132884"/>
                <a:ext cx="2455554" cy="1212215"/>
              </a:xfrm>
              <a:prstGeom prst="rect">
                <a:avLst/>
              </a:prstGeom>
              <a:blipFill rotWithShape="1">
                <a:blip r:embed="rId10"/>
                <a:stretch>
                  <a:fillRect l="-12" t="-25" r="12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4854154" y="4134358"/>
                <a:ext cx="1811341" cy="121221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</m:t>
                            </m:r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zh-CN" altLang="en-US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154" y="4134358"/>
                <a:ext cx="1811341" cy="1212215"/>
              </a:xfrm>
              <a:prstGeom prst="rect">
                <a:avLst/>
              </a:prstGeom>
              <a:blipFill rotWithShape="1">
                <a:blip r:embed="rId11"/>
                <a:stretch>
                  <a:fillRect l="-12" t="-42" r="30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799577" y="5185888"/>
                <a:ext cx="4210372" cy="121221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𝑐𝑜𝑠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𝑖𝑠𝑖𝑛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77" y="5185888"/>
                <a:ext cx="4210372" cy="1212215"/>
              </a:xfrm>
              <a:prstGeom prst="rect">
                <a:avLst/>
              </a:prstGeom>
              <a:blipFill rotWithShape="1">
                <a:blip r:embed="rId12"/>
                <a:stretch>
                  <a:fillRect l="-3" t="-39" r="10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标题 1"/>
              <p:cNvSpPr txBox="1"/>
              <p:nvPr/>
            </p:nvSpPr>
            <p:spPr>
              <a:xfrm>
                <a:off x="4757901" y="5233675"/>
                <a:ext cx="1811341" cy="121221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901" y="5233675"/>
                <a:ext cx="1811341" cy="1212215"/>
              </a:xfrm>
              <a:prstGeom prst="rect">
                <a:avLst/>
              </a:prstGeom>
              <a:blipFill rotWithShape="1">
                <a:blip r:embed="rId13"/>
                <a:stretch>
                  <a:fillRect l="-27" r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/>
      <p:bldP spid="4" grpId="0"/>
      <p:bldP spid="5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22036" y="687905"/>
                <a:ext cx="2236153" cy="81915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(4)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𝑑𝑧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687905"/>
                <a:ext cx="2236153" cy="819150"/>
              </a:xfrm>
              <a:prstGeom prst="rect">
                <a:avLst/>
              </a:prstGeom>
              <a:blipFill rotWithShape="1">
                <a:blip r:embed="rId1"/>
                <a:stretch>
                  <a:fillRect l="-5" t="-18474" r="19" b="-18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0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22036" y="2943425"/>
                <a:ext cx="2367699" cy="81915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5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nary>
                      <m:naryPr>
                        <m:chr m:val="∮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acc>
                          <m:accPr>
                            <m:chr m:val="̅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acc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2943425"/>
                <a:ext cx="2367699" cy="819150"/>
              </a:xfrm>
              <a:prstGeom prst="rect">
                <a:avLst/>
              </a:prstGeom>
              <a:blipFill rotWithShape="1">
                <a:blip r:embed="rId2"/>
                <a:stretch>
                  <a:fillRect l="-5" t="-13668" r="23" b="-1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2579570" y="491372"/>
                <a:ext cx="4312119" cy="121221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ea typeface="楷体" panose="02010609060101010101" pitchFamily="49" charset="-122"/>
                  </a:rPr>
                  <a:t>令：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𝜃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𝜃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570" y="491372"/>
                <a:ext cx="4312119" cy="1212215"/>
              </a:xfrm>
              <a:prstGeom prst="rect">
                <a:avLst/>
              </a:prstGeom>
              <a:blipFill rotWithShape="1">
                <a:blip r:embed="rId3"/>
                <a:stretch>
                  <a:fillRect l="-5" t="-43" r="1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683510" y="1602622"/>
                <a:ext cx="2236153" cy="81915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|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zh-CN" altLang="en-US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sup>
                            </m:s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|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zh-CN" altLang="en-US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𝜃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|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10" y="1602622"/>
                <a:ext cx="2236153" cy="819150"/>
              </a:xfrm>
              <a:prstGeom prst="rect">
                <a:avLst/>
              </a:prstGeom>
              <a:blipFill rotWithShape="1">
                <a:blip r:embed="rId4"/>
                <a:stretch>
                  <a:fillRect l="-11" t="-22234" r="25" b="-222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2579571" y="1602622"/>
                <a:ext cx="1718110" cy="81915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𝜋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</m:t>
                            </m:r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𝜃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571" y="1602622"/>
                <a:ext cx="1718110" cy="819150"/>
              </a:xfrm>
              <a:prstGeom prst="rect">
                <a:avLst/>
              </a:prstGeom>
              <a:blipFill rotWithShape="1">
                <a:blip r:embed="rId5"/>
                <a:stretch>
                  <a:fillRect l="-12" t="-11614" b="-116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4045820" y="1692940"/>
                <a:ext cx="1142197" cy="81915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𝜋</m:t>
                      </m:r>
                    </m:oMath>
                  </m:oMathPara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5820" y="1692940"/>
                <a:ext cx="1142197" cy="819150"/>
              </a:xfrm>
              <a:prstGeom prst="rect">
                <a:avLst/>
              </a:prstGeom>
              <a:blipFill rotWithShape="1">
                <a:blip r:embed="rId6"/>
                <a:stretch>
                  <a:fillRect l="-21" t="-4" r="6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837515" y="3762575"/>
                <a:ext cx="2367699" cy="81915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∮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acc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15" y="3762575"/>
                <a:ext cx="2367699" cy="819150"/>
              </a:xfrm>
              <a:prstGeom prst="rect">
                <a:avLst/>
              </a:prstGeom>
              <a:blipFill rotWithShape="1">
                <a:blip r:embed="rId7"/>
                <a:stretch>
                  <a:fillRect l="-25" t="-14288" r="16" b="-143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2977532" y="3813910"/>
                <a:ext cx="2367699" cy="81915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∮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532" y="3813910"/>
                <a:ext cx="2367699" cy="819150"/>
              </a:xfrm>
              <a:prstGeom prst="rect">
                <a:avLst/>
              </a:prstGeom>
              <a:blipFill rotWithShape="1">
                <a:blip r:embed="rId8"/>
                <a:stretch>
                  <a:fillRect l="-1" t="-14276" r="18" b="-144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4948991" y="3938835"/>
                <a:ext cx="1142197" cy="81915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𝜋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𝑖</m:t>
                      </m:r>
                    </m:oMath>
                  </m:oMathPara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8991" y="3938835"/>
                <a:ext cx="1142197" cy="819150"/>
              </a:xfrm>
              <a:prstGeom prst="rect">
                <a:avLst/>
              </a:prstGeom>
              <a:blipFill rotWithShape="1">
                <a:blip r:embed="rId9"/>
                <a:stretch>
                  <a:fillRect l="-38" t="-69" r="23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780383" y="4677845"/>
                <a:ext cx="5310805" cy="149225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sz="3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，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zh-CN" sz="3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zh-CN" altLang="en-US" sz="300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，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altLang="zh-CN" sz="3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383" y="4677845"/>
                <a:ext cx="5310805" cy="1492250"/>
              </a:xfrm>
              <a:prstGeom prst="rect">
                <a:avLst/>
              </a:prstGeom>
              <a:blipFill rotWithShape="1">
                <a:blip r:embed="rId10"/>
                <a:stretch>
                  <a:fillRect l="-11" t="-29" r="5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3" grpId="0"/>
      <p:bldP spid="4" grpId="0"/>
      <p:bldP spid="5" grpId="0"/>
      <p:bldP spid="6" grpId="0"/>
      <p:bldP spid="12" grpId="0"/>
      <p:bldP spid="13" grpId="0"/>
      <p:bldP spid="15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146" y="772264"/>
            <a:ext cx="6775450" cy="657225"/>
          </a:xfrm>
        </p:spPr>
        <p:txBody>
          <a:bodyPr>
            <a:noAutofit/>
          </a:bodyPr>
          <a:lstStyle/>
          <a:p>
            <a:r>
              <a:rPr lang="zh-CN" altLang="en-US" sz="3500" b="1" dirty="0">
                <a:latin typeface="楷体" panose="02010609060101010101" pitchFamily="49" charset="-122"/>
                <a:ea typeface="楷体" panose="02010609060101010101" pitchFamily="49" charset="-122"/>
              </a:rPr>
              <a:t>四、复积分与路径的关系</a:t>
            </a:r>
            <a:endParaRPr lang="zh-CN" altLang="en-US" sz="35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68146" y="1285152"/>
                <a:ext cx="8863330" cy="1941508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𝐷𝑒𝑓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为定义在区域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内的函数，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r>
                      <a:rPr lang="zh-CN" altLang="en-US" sz="3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内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路径无关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是指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内任意给定两点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,</a:t>
                </a:r>
                <a:r>
                  <a:rPr lang="en-US" altLang="zh-CN" sz="3000" dirty="0">
                    <a:ea typeface="楷体" panose="02010609060101010101" pitchFamily="49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，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以及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内任意连接起点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的简单曲线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，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有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46" y="1285152"/>
                <a:ext cx="8863330" cy="1941508"/>
              </a:xfrm>
              <a:prstGeom prst="rect">
                <a:avLst/>
              </a:prstGeom>
              <a:blipFill rotWithShape="1">
                <a:blip r:embed="rId1"/>
                <a:stretch>
                  <a:fillRect l="-2" t="-2939" r="2" b="-2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2148195" y="3190655"/>
                <a:ext cx="4695401" cy="1169856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20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nary>
                          <m:nary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zh-CN" sz="320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altLang="zh-CN" sz="4265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4265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195" y="3190655"/>
                <a:ext cx="4695401" cy="1169856"/>
              </a:xfrm>
              <a:prstGeom prst="rect">
                <a:avLst/>
              </a:prstGeom>
              <a:blipFill rotWithShape="1">
                <a:blip r:embed="rId2"/>
                <a:stretch>
                  <a:fillRect l="-13" t="-35" r="4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8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177967" y="802456"/>
                <a:ext cx="8484235" cy="79819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为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定义在区域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内的连续函数，则以下事实等价：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67" y="802456"/>
                <a:ext cx="8484235" cy="798195"/>
              </a:xfrm>
              <a:prstGeom prst="rect">
                <a:avLst/>
              </a:prstGeom>
              <a:blipFill rotWithShape="1">
                <a:blip r:embed="rId1"/>
                <a:stretch>
                  <a:fillRect l="-2" t="-24798" r="2" b="-248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327977" y="1838155"/>
                <a:ext cx="7743825" cy="63690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.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  <m:r>
                          <a:rPr lang="zh-CN" altLang="en-US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在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𝐷</m:t>
                        </m:r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内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与</m:t>
                        </m:r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路径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无关</m:t>
                        </m:r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；</m:t>
                        </m:r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77" y="1838155"/>
                <a:ext cx="7743825" cy="636905"/>
              </a:xfrm>
              <a:prstGeom prst="rect">
                <a:avLst/>
              </a:prstGeom>
              <a:blipFill rotWithShape="1">
                <a:blip r:embed="rId2"/>
                <a:stretch>
                  <a:fillRect l="-4" t="-1170" r="4" b="-12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327977" y="2712565"/>
                <a:ext cx="8159115" cy="63690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.</m:t>
                    </m:r>
                  </m:oMath>
                </a14:m>
                <a:r>
                  <a:rPr lang="zh-CN" altLang="en-US" sz="3000" dirty="0">
                    <a:ea typeface="楷体" panose="02010609060101010101" pitchFamily="49" charset="-122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内</m:t>
                    </m:r>
                  </m:oMath>
                </a14:m>
                <a:r>
                  <a:rPr lang="zh-CN" altLang="en-US" sz="3000" dirty="0">
                    <a:ea typeface="楷体" panose="02010609060101010101" pitchFamily="49" charset="-122"/>
                  </a:rPr>
                  <a:t>任一简单闭曲线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:r>
                  <a:rPr lang="zh-CN" altLang="en-US" sz="3000" dirty="0"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有</m:t>
                    </m:r>
                    <m:nary>
                      <m:naryPr>
                        <m:chr m:val="∮"/>
                        <m:ctrlPr>
                          <a:rPr lang="zh-CN" altLang="en-US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;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77" y="2712565"/>
                <a:ext cx="8159115" cy="636905"/>
              </a:xfrm>
              <a:prstGeom prst="rect">
                <a:avLst/>
              </a:prstGeom>
              <a:blipFill rotWithShape="1">
                <a:blip r:embed="rId3"/>
                <a:stretch>
                  <a:fillRect l="-4" t="-1172" r="4" b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360340" y="3538175"/>
                <a:ext cx="8368030" cy="67627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.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在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内</m:t>
                    </m:r>
                  </m:oMath>
                </a14:m>
                <a:r>
                  <a:rPr lang="zh-CN" altLang="en-US" sz="3000" dirty="0">
                    <a:ea typeface="楷体" panose="02010609060101010101" pitchFamily="49" charset="-122"/>
                  </a:rPr>
                  <a:t>存在函数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:r>
                  <a:rPr lang="zh-CN" altLang="en-US" sz="3000" dirty="0">
                    <a:ea typeface="楷体" panose="02010609060101010101" pitchFamily="49" charset="-122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.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40" y="3538175"/>
                <a:ext cx="8368030" cy="676275"/>
              </a:xfrm>
              <a:prstGeom prst="rect">
                <a:avLst/>
              </a:prstGeom>
              <a:blipFill rotWithShape="1">
                <a:blip r:embed="rId4"/>
                <a:stretch>
                  <a:fillRect l="-4" t="-87" r="4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785963" y="4287920"/>
                <a:ext cx="6673850" cy="67627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称为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在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内的一个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原函数</a:t>
                </a:r>
                <a:endParaRPr lang="en-US" altLang="zh-CN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63" y="4287920"/>
                <a:ext cx="6673850" cy="676275"/>
              </a:xfrm>
              <a:prstGeom prst="rect">
                <a:avLst/>
              </a:prstGeom>
              <a:blipFill rotWithShape="1">
                <a:blip r:embed="rId5"/>
                <a:stretch>
                  <a:fillRect l="-7" t="-59" r="7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0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242403" y="4802282"/>
                <a:ext cx="7785735" cy="103060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solidFill>
                      <a:srgbClr val="FF0000"/>
                    </a:solidFill>
                    <a:ea typeface="楷体" panose="02010609060101010101" pitchFamily="49" charset="-122"/>
                  </a:rPr>
                  <a:t>注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.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与路径无关时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nary>
                          <m:nary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b>
                            </m:sSub>
                          </m:sup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</m:e>
                        </m:nary>
                        <m: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；</m:t>
                        </m:r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403" y="4802282"/>
                <a:ext cx="7785735" cy="1030605"/>
              </a:xfrm>
              <a:prstGeom prst="rect">
                <a:avLst/>
              </a:prstGeom>
              <a:blipFill rotWithShape="1">
                <a:blip r:embed="rId6"/>
                <a:stretch>
                  <a:fillRect l="-6" t="-1334" r="6"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785963" y="5696679"/>
                <a:ext cx="7117715" cy="91059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.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任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两个原函数只相差一个常数。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63" y="5696679"/>
                <a:ext cx="7117715" cy="910590"/>
              </a:xfrm>
              <a:prstGeom prst="rect">
                <a:avLst/>
              </a:prstGeom>
              <a:blipFill rotWithShape="1">
                <a:blip r:embed="rId7"/>
                <a:stretch>
                  <a:fillRect l="-7" t="-10" r="7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3" grpId="0"/>
      <p:bldP spid="11" grpId="0"/>
      <p:bldP spid="7" grpId="0"/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122036" y="687646"/>
                <a:ext cx="3518641" cy="45967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2800" dirty="0">
                    <a:ea typeface="楷体" panose="02010609060101010101" pitchFamily="49" charset="-122"/>
                  </a:rPr>
                  <a:t>证明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ea typeface="楷体" panose="02010609060101010101" pitchFamily="49" charset="-122"/>
                  </a:rPr>
                  <a:t>等价：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687646"/>
                <a:ext cx="3518641" cy="459670"/>
              </a:xfrm>
              <a:prstGeom prst="rect">
                <a:avLst/>
              </a:prstGeom>
              <a:blipFill rotWithShape="1">
                <a:blip r:embed="rId1"/>
                <a:stretch>
                  <a:fillRect l="-3" t="-125" r="6" b="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0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735718" y="1345201"/>
                <a:ext cx="3518641" cy="45967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2800" dirty="0">
                    <a:ea typeface="楷体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𝑑𝑡</m:t>
                        </m:r>
                      </m:e>
                    </m:nary>
                  </m:oMath>
                </a14:m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18" y="1345201"/>
                <a:ext cx="3518641" cy="459670"/>
              </a:xfrm>
              <a:prstGeom prst="rect">
                <a:avLst/>
              </a:prstGeom>
              <a:blipFill rotWithShape="1">
                <a:blip r:embed="rId2"/>
                <a:stretch>
                  <a:fillRect l="-11" t="-16222" r="14" b="-161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735718" y="2007843"/>
                <a:ext cx="6899593" cy="94386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ℎ</m:t>
                            </m:r>
                          </m:e>
                        </m:d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ℎ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ℎ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[</m:t>
                    </m:r>
                    <m:nary>
                      <m:nary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𝑎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ℎ</m:t>
                        </m:r>
                      </m:sup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𝑑𝑡</m:t>
                        </m:r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𝑎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sup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𝑑𝑡</m:t>
                        </m:r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18" y="2007843"/>
                <a:ext cx="6899593" cy="943865"/>
              </a:xfrm>
              <a:prstGeom prst="rect">
                <a:avLst/>
              </a:prstGeom>
              <a:blipFill rotWithShape="1">
                <a:blip r:embed="rId3"/>
                <a:stretch>
                  <a:fillRect l="-6" t="-64" r="1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3846336" y="1403371"/>
                <a:ext cx="2199256" cy="45967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𝑎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sup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336" y="1403371"/>
                <a:ext cx="2199256" cy="459670"/>
              </a:xfrm>
              <a:prstGeom prst="rect">
                <a:avLst/>
              </a:prstGeom>
              <a:blipFill rotWithShape="1">
                <a:blip r:embed="rId4"/>
                <a:stretch>
                  <a:fillRect l="-6" t="-7326" r="18" b="-73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2495038" y="2906594"/>
                <a:ext cx="2826578" cy="94386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ℎ</m:t>
                        </m:r>
                      </m:den>
                    </m:f>
                    <m:nary>
                      <m:nary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ℎ</m:t>
                        </m:r>
                      </m:sup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038" y="2906594"/>
                <a:ext cx="2826578" cy="943865"/>
              </a:xfrm>
              <a:prstGeom prst="rect">
                <a:avLst/>
              </a:prstGeom>
              <a:blipFill rotWithShape="1">
                <a:blip r:embed="rId5"/>
                <a:stretch>
                  <a:fillRect l="-4" t="-21" r="11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680559" y="3874358"/>
                <a:ext cx="7948747" cy="94386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ℎ</m:t>
                            </m:r>
                          </m:e>
                        </m:d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ℎ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ℎ</m:t>
                        </m:r>
                      </m:den>
                    </m:f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ℎ</m:t>
                        </m:r>
                      </m:sup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𝑑𝑡</m:t>
                        </m:r>
                      </m:e>
                    </m:nary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f>
                      <m:fPr>
                        <m:ctrlPr>
                          <a:rPr lang="en-US" altLang="zh-C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ℎ</m:t>
                        </m:r>
                      </m:den>
                    </m:f>
                    <m:nary>
                      <m:nary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ℎ</m:t>
                        </m:r>
                      </m:sup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59" y="3874358"/>
                <a:ext cx="7948747" cy="943865"/>
              </a:xfrm>
              <a:prstGeom prst="rect">
                <a:avLst/>
              </a:prstGeom>
              <a:blipFill rotWithShape="1">
                <a:blip r:embed="rId6"/>
                <a:stretch>
                  <a:fillRect l="-6" t="-24" r="4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3519883" y="4797008"/>
                <a:ext cx="4050591" cy="94386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ℎ</m:t>
                        </m:r>
                      </m:den>
                    </m:f>
                    <m:nary>
                      <m:nary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ℎ</m:t>
                        </m:r>
                      </m:sup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[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]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883" y="4797008"/>
                <a:ext cx="4050591" cy="943865"/>
              </a:xfrm>
              <a:prstGeom prst="rect">
                <a:avLst/>
              </a:prstGeom>
              <a:blipFill rotWithShape="1">
                <a:blip r:embed="rId7"/>
                <a:stretch>
                  <a:fillRect l="-2" t="-23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  <p:bldP spid="6" grpId="0"/>
      <p:bldP spid="8" grpId="0"/>
      <p:bldP spid="15" grpId="0"/>
      <p:bldP spid="16" grpId="0"/>
      <p:bldP spid="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0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276039" y="4302936"/>
                <a:ext cx="5446179" cy="94386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altLang="zh-CN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altLang="zh-CN" sz="28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ℎ</m:t>
                              </m:r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[</m:t>
                          </m:r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+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ℎ</m:t>
                                  </m:r>
                                </m:e>
                              </m:d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ℎ</m:t>
                              </m:r>
                            </m:den>
                          </m:f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]</m:t>
                          </m:r>
                        </m:e>
                      </m:func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39" y="4302936"/>
                <a:ext cx="5446179" cy="943865"/>
              </a:xfrm>
              <a:prstGeom prst="rect">
                <a:avLst/>
              </a:prstGeom>
              <a:blipFill rotWithShape="1">
                <a:blip r:embed="rId1"/>
                <a:stretch>
                  <a:fillRect l="-8" t="-19" r="4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标题 1"/>
              <p:cNvSpPr txBox="1"/>
              <p:nvPr/>
            </p:nvSpPr>
            <p:spPr>
              <a:xfrm>
                <a:off x="1626785" y="5547803"/>
                <a:ext cx="4466007" cy="94386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altLang="zh-CN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altLang="zh-CN" sz="28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ℎ</m:t>
                              </m:r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+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ℎ</m:t>
                                  </m:r>
                                </m:e>
                              </m:d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ℎ</m:t>
                              </m:r>
                            </m:den>
                          </m:f>
                        </m:e>
                      </m:func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𝑓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785" y="5547803"/>
                <a:ext cx="4466007" cy="943865"/>
              </a:xfrm>
              <a:prstGeom prst="rect">
                <a:avLst/>
              </a:prstGeom>
              <a:blipFill rotWithShape="1">
                <a:blip r:embed="rId2"/>
                <a:stretch>
                  <a:fillRect l="-12" t="-47" r="13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标题 1"/>
              <p:cNvSpPr txBox="1"/>
              <p:nvPr/>
            </p:nvSpPr>
            <p:spPr>
              <a:xfrm>
                <a:off x="276039" y="5589512"/>
                <a:ext cx="1613720" cy="94386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39" y="5589512"/>
                <a:ext cx="1613720" cy="943865"/>
              </a:xfrm>
              <a:prstGeom prst="rect">
                <a:avLst/>
              </a:prstGeom>
              <a:blipFill rotWithShape="1">
                <a:blip r:embed="rId3"/>
                <a:stretch>
                  <a:fillRect l="-28" t="-26" r="39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标题 1"/>
              <p:cNvSpPr txBox="1"/>
              <p:nvPr/>
            </p:nvSpPr>
            <p:spPr>
              <a:xfrm>
                <a:off x="73050" y="756601"/>
                <a:ext cx="1688373" cy="578677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连续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50" y="756601"/>
                <a:ext cx="1688373" cy="578677"/>
              </a:xfrm>
              <a:prstGeom prst="rect">
                <a:avLst/>
              </a:prstGeom>
              <a:blipFill rotWithShape="1">
                <a:blip r:embed="rId4"/>
                <a:stretch>
                  <a:fillRect l="-1" t="-55" r="34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标题 1"/>
              <p:cNvSpPr txBox="1"/>
              <p:nvPr/>
            </p:nvSpPr>
            <p:spPr>
              <a:xfrm>
                <a:off x="73050" y="2469437"/>
                <a:ext cx="8526262" cy="94386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|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ℎ</m:t>
                        </m:r>
                      </m:den>
                    </m:f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ℎ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d>
                          </m:e>
                        </m:d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𝑑𝑡</m:t>
                        </m:r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|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50" y="2469437"/>
                <a:ext cx="8526262" cy="943865"/>
              </a:xfrm>
              <a:prstGeom prst="rect">
                <a:avLst/>
              </a:prstGeom>
              <a:blipFill rotWithShape="1">
                <a:blip r:embed="rId5"/>
                <a:stretch>
                  <a:fillRect t="-59" r="2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标题 1"/>
              <p:cNvSpPr txBox="1"/>
              <p:nvPr/>
            </p:nvSpPr>
            <p:spPr>
              <a:xfrm>
                <a:off x="4092083" y="3386187"/>
                <a:ext cx="3164620" cy="94386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</m:sup>
                      <m:e>
                        <m:r>
                          <a:rPr lang="zh-CN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𝑑𝑆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083" y="3386187"/>
                <a:ext cx="3164620" cy="943865"/>
              </a:xfrm>
              <a:prstGeom prst="rect">
                <a:avLst/>
              </a:prstGeom>
              <a:blipFill rotWithShape="1">
                <a:blip r:embed="rId6"/>
                <a:stretch>
                  <a:fillRect l="-5" t="-39" r="18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 27"/>
          <p:cNvSpPr/>
          <p:nvPr/>
        </p:nvSpPr>
        <p:spPr>
          <a:xfrm>
            <a:off x="2679776" y="1442410"/>
            <a:ext cx="1063591" cy="5363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标题 1"/>
              <p:cNvSpPr txBox="1"/>
              <p:nvPr/>
            </p:nvSpPr>
            <p:spPr>
              <a:xfrm>
                <a:off x="3357174" y="867010"/>
                <a:ext cx="1801106" cy="681303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zh-CN" alt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zh-CN" sz="28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8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7174" y="867010"/>
                <a:ext cx="1801106" cy="681303"/>
              </a:xfrm>
              <a:prstGeom prst="rect">
                <a:avLst/>
              </a:prstGeom>
              <a:blipFill rotWithShape="1">
                <a:blip r:embed="rId7"/>
                <a:stretch>
                  <a:fillRect l="-31" t="-34" r="10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标题 1"/>
              <p:cNvSpPr txBox="1"/>
              <p:nvPr/>
            </p:nvSpPr>
            <p:spPr>
              <a:xfrm>
                <a:off x="73050" y="1457388"/>
                <a:ext cx="8997900" cy="578677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zh-CN" altLang="en-US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⇒∀</m:t>
                    </m:r>
                    <m:r>
                      <a:rPr lang="zh-CN" altLang="en-US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𝜀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zh-CN" alt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𝛿</m:t>
                    </m:r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𝜀</m:t>
                    </m:r>
                  </m:oMath>
                </a14:m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50" y="1457388"/>
                <a:ext cx="8997900" cy="578677"/>
              </a:xfrm>
              <a:prstGeom prst="rect">
                <a:avLst/>
              </a:prstGeom>
              <a:blipFill rotWithShape="1">
                <a:blip r:embed="rId8"/>
                <a:stretch>
                  <a:fillRect t="-11" r="7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24" grpId="0"/>
      <p:bldP spid="25" grpId="0"/>
      <p:bldP spid="26" grpId="0"/>
      <p:bldP spid="27" grpId="0"/>
      <p:bldP spid="28" grpId="0" animBg="1"/>
      <p:bldP spid="29" grpId="0"/>
      <p:bldP spid="3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22036" y="484213"/>
                <a:ext cx="8703945" cy="229108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zh-CN" altLang="en-US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牛顿</m:t>
                    </m:r>
                    <m:r>
                      <a:rPr lang="en-US" altLang="zh-CN" sz="3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zh-CN" altLang="en-US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莱布尼兹</m:t>
                    </m:r>
                    <m:r>
                      <a:rPr lang="zh-CN" altLang="en-US" sz="3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公式</m:t>
                    </m:r>
                    <m:r>
                      <a:rPr lang="zh-CN" altLang="en-US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）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内连续函数，且在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  <m:r>
                      <a:rPr lang="zh-CN" altLang="en-US" sz="3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内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存在原函数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zh-CN" altLang="en-US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，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则对</a:t>
                </a:r>
                <a14:m>
                  <m:oMath xmlns:m="http://schemas.openxmlformats.org/officeDocument/2006/math">
                    <m:r>
                      <a:rPr lang="en-US" altLang="zh-CN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zh-CN" altLang="en-US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及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连接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的曲线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    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484213"/>
                <a:ext cx="8703945" cy="2291080"/>
              </a:xfrm>
              <a:prstGeom prst="rect">
                <a:avLst/>
              </a:prstGeom>
              <a:blipFill rotWithShape="1">
                <a:blip r:embed="rId1"/>
                <a:stretch>
                  <a:fillRect l="-1" t="-15" r="1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006082" y="2775293"/>
                <a:ext cx="5408930" cy="760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  <m:d>
                          <m:d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sz="3000" dirty="0"/>
                  <a:t> </a:t>
                </a:r>
                <a:endParaRPr lang="zh-CN" altLang="en-US" sz="3000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082" y="2775293"/>
                <a:ext cx="5408930" cy="760401"/>
              </a:xfrm>
              <a:prstGeom prst="rect">
                <a:avLst/>
              </a:prstGeom>
              <a:blipFill rotWithShape="1">
                <a:blip r:embed="rId2"/>
                <a:stretch>
                  <a:fillRect l="-2" t="-45" r="2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9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182245" y="3696302"/>
                <a:ext cx="8779510" cy="106489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nary>
                      <m:nary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为抛物线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𝑦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上从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𝑂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的一段弧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45" y="3696302"/>
                <a:ext cx="8779510" cy="1064895"/>
              </a:xfrm>
              <a:prstGeom prst="rect">
                <a:avLst/>
              </a:prstGeom>
              <a:blipFill rotWithShape="1">
                <a:blip r:embed="rId3"/>
                <a:stretch>
                  <a:fillRect t="-12519" b="-124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154600" y="5061698"/>
                <a:ext cx="2444221" cy="886927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00" y="5061698"/>
                <a:ext cx="2444221" cy="886927"/>
              </a:xfrm>
              <a:prstGeom prst="rect">
                <a:avLst/>
              </a:prstGeom>
              <a:blipFill rotWithShape="1">
                <a:blip r:embed="rId4"/>
                <a:stretch>
                  <a:fillRect l="-12" t="-13" r="16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2284806" y="5061697"/>
                <a:ext cx="2138004" cy="886927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0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  <m:sup>
                          <m:r>
                            <a:rPr lang="en-US" altLang="zh-CN" sz="30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30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|</m:t>
                          </m:r>
                        </m:e>
                        <m:sub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0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0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</m:t>
                          </m:r>
                        </m:sub>
                        <m:sup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806" y="5061697"/>
                <a:ext cx="2138004" cy="886927"/>
              </a:xfrm>
              <a:prstGeom prst="rect">
                <a:avLst/>
              </a:prstGeom>
              <a:blipFill rotWithShape="1">
                <a:blip r:embed="rId5"/>
                <a:stretch>
                  <a:fillRect l="-4" t="-7602" r="2" b="-75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4160128" y="5061696"/>
                <a:ext cx="2138004" cy="886927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0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𝑖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lang="en-US" altLang="zh-CN" sz="30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128" y="5061696"/>
                <a:ext cx="2138004" cy="886927"/>
              </a:xfrm>
              <a:prstGeom prst="rect">
                <a:avLst/>
              </a:prstGeom>
              <a:blipFill rotWithShape="1">
                <a:blip r:embed="rId6"/>
                <a:stretch>
                  <a:fillRect l="-11" t="-7602" r="9" b="-7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6179830" y="5061695"/>
                <a:ext cx="2138004" cy="886927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sz="30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den>
                      </m:f>
                      <m:r>
                        <a:rPr lang="en-US" altLang="zh-CN" sz="3000" b="0" i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den>
                      </m:f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𝑖</m:t>
                      </m:r>
                    </m:oMath>
                  </m:oMathPara>
                </a14:m>
                <a:endParaRPr lang="en-US" altLang="zh-CN" sz="3000" i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830" y="5061695"/>
                <a:ext cx="2138004" cy="886927"/>
              </a:xfrm>
              <a:prstGeom prst="rect">
                <a:avLst/>
              </a:prstGeom>
              <a:blipFill rotWithShape="1">
                <a:blip r:embed="rId7"/>
                <a:stretch>
                  <a:fillRect t="-7602" r="28" b="-7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12" grpId="0"/>
      <p:bldP spid="13" grpId="0"/>
      <p:bldP spid="14" grpId="0"/>
      <p:bldP spid="15" grpId="0"/>
      <p:bldP spid="1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73021" y="618525"/>
            <a:ext cx="8272145" cy="541655"/>
          </a:xfrm>
          <a:prstGeom prst="rect">
            <a:avLst/>
          </a:prstGeom>
        </p:spPr>
        <p:txBody>
          <a:bodyPr vert="horz" lIns="121904" tIns="60952" rIns="121904" bIns="60952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solidFill>
                  <a:srgbClr val="FF0000"/>
                </a:solidFill>
                <a:ea typeface="楷体" panose="02010609060101010101" pitchFamily="49" charset="-122"/>
                <a:sym typeface="+mn-ea"/>
              </a:rPr>
              <a:t>思考：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换元法和分部积分法成立吗？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22036" y="1337913"/>
                <a:ext cx="1626870" cy="38608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换元法</m:t>
                      </m:r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:</m:t>
                      </m:r>
                    </m:oMath>
                  </m:oMathPara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337913"/>
                <a:ext cx="1626870" cy="386080"/>
              </a:xfrm>
              <a:prstGeom prst="rect">
                <a:avLst/>
              </a:prstGeom>
              <a:blipFill rotWithShape="1">
                <a:blip r:embed="rId1"/>
                <a:stretch>
                  <a:fillRect l="-7" t="-42097" r="7" b="-419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300789" y="1623026"/>
                <a:ext cx="8787921" cy="131000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在区域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内解析，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)≠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且它将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内光滑曲</a:t>
                </a:r>
                <a:r>
                  <a:rPr lang="zh-CN" altLang="en-US" sz="3000" dirty="0">
                    <a:ea typeface="楷体" panose="02010609060101010101" pitchFamily="49" charset="-122"/>
                    <a:sym typeface="+mn-ea"/>
                  </a:rPr>
                  <a:t>线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映成区域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𝐷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内的光滑曲线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.</a:t>
                </a:r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89" y="1623026"/>
                <a:ext cx="8787921" cy="1310005"/>
              </a:xfrm>
              <a:prstGeom prst="rect">
                <a:avLst/>
              </a:prstGeom>
              <a:blipFill rotWithShape="1">
                <a:blip r:embed="rId2"/>
                <a:stretch>
                  <a:fillRect l="-5" t="-2373" r="7" b="-23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300789" y="2840636"/>
                <a:ext cx="5178425" cy="75501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是连续函数，则有</a:t>
                </a:r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89" y="2840636"/>
                <a:ext cx="5178425" cy="755015"/>
              </a:xfrm>
              <a:prstGeom prst="rect">
                <a:avLst/>
              </a:prstGeom>
              <a:blipFill rotWithShape="1">
                <a:blip r:embed="rId3"/>
                <a:stretch>
                  <a:fillRect l="-8" t="-37" r="8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1275515" y="3067651"/>
                <a:ext cx="7002780" cy="152781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l-GR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l-GR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nary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l-GR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)]</m:t>
                        </m:r>
                      </m:e>
                    </m:nary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𝑑𝑧</m:t>
                    </m:r>
                  </m:oMath>
                </a14:m>
                <a:r>
                  <a:rPr lang="en-US" altLang="zh-CN" sz="3000" b="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b="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515" y="3067651"/>
                <a:ext cx="7002780" cy="1527810"/>
              </a:xfrm>
              <a:prstGeom prst="rect">
                <a:avLst/>
              </a:prstGeom>
              <a:blipFill rotWithShape="1">
                <a:blip r:embed="rId4"/>
                <a:stretch>
                  <a:fillRect l="-6" t="-39" r="6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300789" y="4317324"/>
                <a:ext cx="8405262" cy="78994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是解析函数，并且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𝐷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都是单连域，则</a:t>
                </a:r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89" y="4317324"/>
                <a:ext cx="8405262" cy="789940"/>
              </a:xfrm>
              <a:prstGeom prst="rect">
                <a:avLst/>
              </a:prstGeom>
              <a:blipFill rotWithShape="1">
                <a:blip r:embed="rId5"/>
                <a:stretch>
                  <a:fillRect l="-5" t="-75" r="2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1236809" y="4979944"/>
                <a:ext cx="7282815" cy="119380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zh-CN" altLang="en-US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zh-CN" altLang="en-US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m:rPr>
                            <m:sty m:val="p"/>
                          </m:rPr>
                          <a:rPr lang="el-GR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nary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m:rPr>
                            <m:sty m:val="p"/>
                          </m:rPr>
                          <a:rPr lang="el-GR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)]</m:t>
                        </m:r>
                      </m:e>
                    </m:nary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𝑑𝑧</m:t>
                    </m:r>
                  </m:oMath>
                </a14:m>
                <a:r>
                  <a:rPr lang="en-US" altLang="zh-CN" sz="3000" b="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b="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809" y="4979944"/>
                <a:ext cx="7282815" cy="1193800"/>
              </a:xfrm>
              <a:prstGeom prst="rect">
                <a:avLst/>
              </a:prstGeom>
              <a:blipFill rotWithShape="1">
                <a:blip r:embed="rId6"/>
                <a:stretch>
                  <a:fillRect l="-6" t="-23" r="6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7" grpId="0"/>
      <p:bldP spid="9" grpId="0"/>
      <p:bldP spid="11" grpId="0"/>
      <p:bldP spid="12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133885" y="713909"/>
            <a:ext cx="2527500" cy="491256"/>
          </a:xfrm>
          <a:prstGeom prst="rect">
            <a:avLst/>
          </a:prstGeom>
        </p:spPr>
        <p:txBody>
          <a:bodyPr vert="horz" lIns="121904" tIns="60952" rIns="121904" bIns="60952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3000" dirty="0">
                <a:solidFill>
                  <a:srgbClr val="FF0000"/>
                </a:solidFill>
                <a:ea typeface="楷体" panose="02010609060101010101" pitchFamily="49" charset="-122"/>
              </a:rPr>
              <a:t>分部积分法：</a:t>
            </a:r>
            <a:endParaRPr lang="en-US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466090" y="1454785"/>
            <a:ext cx="8678545" cy="1195705"/>
          </a:xfrm>
          <a:prstGeom prst="rect">
            <a:avLst/>
          </a:prstGeom>
        </p:spPr>
        <p:txBody>
          <a:bodyPr vert="horz" lIns="121904" tIns="60952" rIns="121904" bIns="60952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altLang="zh-CN" sz="30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250090" y="1837690"/>
                <a:ext cx="8728710" cy="162560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solidFill>
                      <a:srgbClr val="FF0000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𝑑𝑧</m:t>
                        </m:r>
                      </m:e>
                    </m:nary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𝑔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d>
                      <m:dPr>
                        <m:begChr m:val="|"/>
                        <m:endChr m:val=""/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nary>
                      <m:nary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𝑔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sSup>
                      <m:sSup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𝑑𝑧</m:t>
                    </m:r>
                  </m:oMath>
                </a14:m>
                <a:endParaRPr lang="en-US" altLang="zh-CN" sz="3000" b="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90" y="1837690"/>
                <a:ext cx="8728710" cy="1625600"/>
              </a:xfrm>
              <a:prstGeom prst="rect">
                <a:avLst/>
              </a:prstGeom>
              <a:blipFill rotWithShape="1">
                <a:blip r:embed="rId1"/>
                <a:stretch>
                  <a:fillRect l="-6" r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250090" y="1363345"/>
                <a:ext cx="8961120" cy="94869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3000" dirty="0"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𝑔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在单连域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𝐵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内解析，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𝐵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内两点，则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90" y="1363345"/>
                <a:ext cx="8961120" cy="948690"/>
              </a:xfrm>
              <a:prstGeom prst="rect">
                <a:avLst/>
              </a:prstGeom>
              <a:blipFill rotWithShape="1">
                <a:blip r:embed="rId2"/>
                <a:stretch>
                  <a:fillRect l="-6" t="-7764" r="6" b="-78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/>
      <p:bldP spid="13" grpId="0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29740" y="296712"/>
                <a:ext cx="8754745" cy="100711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𝑡𝑎𝑛𝑧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𝑐𝑜𝑠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为连结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的直线段</a:t>
                </a:r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40" y="296712"/>
                <a:ext cx="8754745" cy="1007110"/>
              </a:xfrm>
              <a:prstGeom prst="rect">
                <a:avLst/>
              </a:prstGeom>
              <a:blipFill rotWithShape="1">
                <a:blip r:embed="rId1"/>
                <a:stretch>
                  <a:fillRect l="-2" t="-2476" r="2" b="-25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22036" y="1236846"/>
                <a:ext cx="4839787" cy="78492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solidFill>
                      <a:schemeClr val="bg1"/>
                    </a:solidFill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𝑐𝑜𝑠𝑧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⇒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zh-CN" altLang="en-US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sz="3000" b="0" i="1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236846"/>
                <a:ext cx="4839787" cy="784920"/>
              </a:xfrm>
              <a:prstGeom prst="rect">
                <a:avLst/>
              </a:prstGeom>
              <a:blipFill rotWithShape="1">
                <a:blip r:embed="rId2"/>
                <a:stretch>
                  <a:fillRect l="-2" t="-6536" r="12" b="-65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928954" y="2010399"/>
                <a:ext cx="5385219" cy="78492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f>
                      <m:f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𝑡𝑎𝑛𝑧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𝑐𝑜𝑠</m:t>
                            </m:r>
                          </m:e>
                          <m:sup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</m:oMath>
                </a14:m>
                <a:r>
                  <a:rPr lang="zh-CN" altLang="en-US" sz="3000" b="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在圆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3000" b="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内处处解析</a:t>
                </a:r>
                <a:endParaRPr lang="zh-CN" altLang="en-US" sz="3000" b="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954" y="2010399"/>
                <a:ext cx="5385219" cy="784920"/>
              </a:xfrm>
              <a:prstGeom prst="rect">
                <a:avLst/>
              </a:prstGeom>
              <a:blipFill rotWithShape="1">
                <a:blip r:embed="rId3"/>
                <a:stretch>
                  <a:fillRect l="-11" t="-12134" r="7" b="-12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4777338" y="1810305"/>
                <a:ext cx="2335615" cy="52962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</m:oMath>
                </a14:m>
                <a:r>
                  <a:rPr lang="zh-CN" altLang="en-US" sz="3000" b="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均在圆内</a:t>
                </a:r>
                <a:endParaRPr lang="zh-CN" altLang="en-US" sz="3000" b="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338" y="1810305"/>
                <a:ext cx="2335615" cy="529620"/>
              </a:xfrm>
              <a:prstGeom prst="rect">
                <a:avLst/>
              </a:prstGeom>
              <a:blipFill rotWithShape="1">
                <a:blip r:embed="rId4"/>
                <a:stretch>
                  <a:fillRect l="-10" t="-14732" r="14" b="-147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725255" y="2995413"/>
                <a:ext cx="6312758" cy="78492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nary>
                      <m:nary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𝑡𝑎𝑛𝑧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𝑐𝑜𝑠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e>
                    </m:nary>
                    <m:r>
                      <a:rPr lang="en-US" altLang="zh-CN" sz="3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sup>
                      <m:e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𝑡𝑎𝑛𝑧</m:t>
                        </m:r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𝑑𝑡𝑎𝑛𝑧</m:t>
                    </m:r>
                  </m:oMath>
                </a14:m>
                <a:r>
                  <a:rPr lang="en-US" altLang="zh-CN" sz="3000" b="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b="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55" y="2995413"/>
                <a:ext cx="6312758" cy="784920"/>
              </a:xfrm>
              <a:prstGeom prst="rect">
                <a:avLst/>
              </a:prstGeom>
              <a:blipFill rotWithShape="1">
                <a:blip r:embed="rId5"/>
                <a:stretch>
                  <a:fillRect l="-1" t="-17328" r="5" b="-173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2179932" y="3793188"/>
                <a:ext cx="3527849" cy="78492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=[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𝑡𝑎𝑛𝑧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𝑡𝑎𝑛</m:t>
                        </m:r>
                      </m:e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sSubSup>
                      <m:sSubSup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]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altLang="zh-CN" sz="3000" b="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b="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932" y="3793188"/>
                <a:ext cx="3527849" cy="784920"/>
              </a:xfrm>
              <a:prstGeom prst="rect">
                <a:avLst/>
              </a:prstGeom>
              <a:blipFill rotWithShape="1">
                <a:blip r:embed="rId6"/>
                <a:stretch>
                  <a:fillRect l="-17" t="-11854" r="11" b="-11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2189557" y="4698839"/>
                <a:ext cx="5924540" cy="78492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𝑡𝑎𝑛𝑖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𝑡𝑎𝑛</m:t>
                        </m:r>
                      </m:e>
                      <m:sup>
                        <m:r>
                          <a:rPr lang="en-US" altLang="zh-CN" sz="3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𝑡𝑎𝑛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𝑡𝑎𝑛</m:t>
                        </m:r>
                      </m:e>
                      <m:sup>
                        <m:r>
                          <a:rPr lang="en-US" altLang="zh-CN" sz="3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3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3000" b="0" i="1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MS Mincho" panose="02020609040205080304" charset="-128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557" y="4698839"/>
                <a:ext cx="5924540" cy="784920"/>
              </a:xfrm>
              <a:prstGeom prst="rect">
                <a:avLst/>
              </a:prstGeom>
              <a:blipFill rotWithShape="1">
                <a:blip r:embed="rId7"/>
                <a:stretch>
                  <a:fillRect l="-1" t="-11872" r="1" b="-11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4" grpId="0"/>
      <p:bldP spid="17" grpId="0"/>
      <p:bldP spid="1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122035" y="395672"/>
                <a:ext cx="8810949" cy="89598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nary>
                      <m:naryPr>
                        <m:supHide m:val="on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𝑙𝑛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⁡(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r>
                  <a:rPr lang="zh-CN" altLang="en-US" sz="28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沿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28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的第一象限部分从</a:t>
                </a:r>
                <a:r>
                  <a:rPr lang="en-US" altLang="zh-CN" sz="28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28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到</a:t>
                </a:r>
                <a:r>
                  <a:rPr lang="en-US" altLang="zh-CN" sz="2800" b="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endParaRPr lang="en-US" altLang="zh-CN" sz="28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5" y="395672"/>
                <a:ext cx="8810949" cy="895985"/>
              </a:xfrm>
              <a:prstGeom prst="rect">
                <a:avLst/>
              </a:prstGeom>
              <a:blipFill rotWithShape="1">
                <a:blip r:embed="rId1"/>
                <a:stretch>
                  <a:fillRect l="-1" t="-7" r="5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22036" y="1190009"/>
                <a:ext cx="8743950" cy="89598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8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𝑙𝑛</m:t>
                    </m:r>
                    <m:r>
                      <a:rPr lang="en-US" altLang="zh-CN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⁡(</m:t>
                    </m:r>
                    <m:r>
                      <a:rPr lang="en-US" altLang="zh-CN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b="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zh-CN" altLang="en-US" sz="28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28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func>
                      <m:funcPr>
                        <m:ctrlPr>
                          <a:rPr lang="en-US" altLang="zh-CN" sz="2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arg</m:t>
                        </m:r>
                      </m:fName>
                      <m:e>
                        <m:d>
                          <m:dPr>
                            <m:ctrlPr>
                              <a:rPr lang="en-US" altLang="zh-CN" sz="2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2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e>
                        </m:d>
                      </m:e>
                    </m:func>
                    <m:r>
                      <a:rPr lang="en-US" altLang="zh-CN" sz="28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zh-CN" altLang="en-US" sz="28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</m:oMath>
                </a14:m>
                <a:r>
                  <a:rPr lang="zh-CN" altLang="en-US" sz="2800" b="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内解析</a:t>
                </a:r>
                <a:endParaRPr lang="zh-CN" altLang="en-US" sz="2800" b="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190009"/>
                <a:ext cx="8743950" cy="895985"/>
              </a:xfrm>
              <a:prstGeom prst="rect">
                <a:avLst/>
              </a:prstGeom>
              <a:blipFill rotWithShape="1">
                <a:blip r:embed="rId2"/>
                <a:stretch>
                  <a:fillRect l="-1" t="-2" r="1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743359" y="1882698"/>
                <a:ext cx="5535521" cy="89598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zh-CN" altLang="en-US" sz="2800" b="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存在包含</a:t>
                </a:r>
                <a:r>
                  <a:rPr lang="en-US" altLang="zh-CN" sz="2800" b="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2800" b="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:r>
                  <a:rPr lang="en-US" altLang="zh-CN" sz="2800" b="0" dirty="0" err="1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zh-CN" altLang="en-US" sz="2800" b="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的单连通解析区域</a:t>
                </a:r>
                <a:endParaRPr lang="zh-CN" altLang="en-US" sz="2800" b="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359" y="1882698"/>
                <a:ext cx="5535521" cy="895985"/>
              </a:xfrm>
              <a:prstGeom prst="rect">
                <a:avLst/>
              </a:prstGeom>
              <a:blipFill rotWithShape="1">
                <a:blip r:embed="rId3"/>
                <a:stretch>
                  <a:fillRect l="-7" t="-62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743359" y="2533015"/>
                <a:ext cx="5535521" cy="89598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US" altLang="zh-CN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𝑙𝑛</m:t>
                        </m:r>
                        <m: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⁡(</m:t>
                        </m:r>
                        <m: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r>
                      <a:rPr lang="en-US" altLang="zh-CN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sup>
                      <m:e>
                        <m:func>
                          <m:funcPr>
                            <m:ctrlPr>
                              <a:rPr lang="en-US" altLang="zh-C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a:rPr lang="en-US" altLang="zh-C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𝑙𝑛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</m:oMath>
                </a14:m>
                <a:r>
                  <a:rPr lang="en-US" altLang="zh-CN" sz="2800" b="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800" b="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359" y="2533015"/>
                <a:ext cx="5535521" cy="895985"/>
              </a:xfrm>
              <a:prstGeom prst="rect">
                <a:avLst/>
              </a:prstGeom>
              <a:blipFill rotWithShape="1">
                <a:blip r:embed="rId4"/>
                <a:stretch>
                  <a:fillRect l="-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3073906" y="3225704"/>
                <a:ext cx="5535521" cy="89598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func>
                      <m:funcPr>
                        <m:ctrlP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𝑙𝑛</m:t>
                        </m:r>
                      </m:fName>
                      <m:e>
                        <m:d>
                          <m:dPr>
                            <m:ctrlPr>
                              <a:rPr lang="en-US" altLang="zh-C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e>
                        </m:d>
                        <m:sSubSup>
                          <m:sSubSupPr>
                            <m:ctrlPr>
                              <a:rPr lang="en-US" altLang="zh-CN" sz="2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|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sup>
                        </m:sSubSup>
                      </m:e>
                    </m:func>
                    <m:r>
                      <a:rPr lang="en-US" altLang="zh-C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nary>
                      <m:naryPr>
                        <m:ctrlPr>
                          <a:rPr lang="en-US" altLang="zh-C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sup>
                      <m:e>
                        <m:f>
                          <m:fPr>
                            <m:ctrlPr>
                              <a:rPr lang="en-US" altLang="zh-C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a:rPr lang="en-US" altLang="zh-C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r>
                  <a:rPr lang="en-US" altLang="zh-CN" sz="2800" b="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800" b="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906" y="3225704"/>
                <a:ext cx="5535521" cy="895985"/>
              </a:xfrm>
              <a:prstGeom prst="rect">
                <a:avLst/>
              </a:prstGeom>
              <a:blipFill rotWithShape="1">
                <a:blip r:embed="rId5"/>
                <a:stretch>
                  <a:fillRect l="-9" t="-2753" r="2" b="-27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6278880" y="2729384"/>
                <a:ext cx="1495750" cy="64034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altLang="zh-CN" sz="2800" b="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800" b="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880" y="2729384"/>
                <a:ext cx="1495750" cy="640340"/>
              </a:xfrm>
              <a:prstGeom prst="rect">
                <a:avLst/>
              </a:prstGeom>
              <a:blipFill rotWithShape="1">
                <a:blip r:embed="rId6"/>
                <a:stretch>
                  <a:fillRect t="-21543" r="22" b="-216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3073905" y="3925320"/>
                <a:ext cx="5624618" cy="89598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func>
                        <m:funcPr>
                          <m:ctrlP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𝑙𝑛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+</m:t>
                              </m:r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altLang="zh-CN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|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𝑖</m:t>
                              </m:r>
                            </m:sup>
                          </m:sSubSup>
                        </m:e>
                      </m:func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−(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𝑙𝑛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))</m:t>
                      </m:r>
                      <m:sSubSup>
                        <m:sSubSupPr>
                          <m:ctrlP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|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en-US" altLang="zh-CN" sz="2800" b="0" i="1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905" y="3925320"/>
                <a:ext cx="5624618" cy="895985"/>
              </a:xfrm>
              <a:prstGeom prst="rect">
                <a:avLst/>
              </a:prstGeom>
              <a:blipFill rotWithShape="1">
                <a:blip r:embed="rId7"/>
                <a:stretch>
                  <a:fillRect l="-9" t="-43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618978" y="4568710"/>
                <a:ext cx="7854461" cy="74891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𝑖𝑙𝑛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𝑙𝑛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+[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𝑙𝑛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𝑙𝑛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sz="2800" b="0" i="1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MS Mincho" panose="02020609040205080304" charset="-128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78" y="4568710"/>
                <a:ext cx="7854461" cy="748915"/>
              </a:xfrm>
              <a:prstGeom prst="rect">
                <a:avLst/>
              </a:prstGeom>
              <a:blipFill rotWithShape="1">
                <a:blip r:embed="rId8"/>
                <a:stretch>
                  <a:fillRect l="-6" t="-69" r="8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605025" y="5164542"/>
                <a:ext cx="5955209" cy="74891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𝑙𝑛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zh-CN" alt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𝜋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4</m:t>
                          </m:r>
                        </m:den>
                      </m:f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𝑖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𝑙𝑛</m:t>
                      </m:r>
                      <m:rad>
                        <m:radPr>
                          <m:degHide m:val="on"/>
                          <m:ctrlP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lang="en-US" altLang="zh-C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e>
                      </m:rad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𝜋</m:t>
                          </m:r>
                        </m:num>
                        <m:den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4</m:t>
                          </m:r>
                        </m:den>
                      </m:f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b="0" i="1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MS Mincho" panose="02020609040205080304" charset="-128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25" y="5164542"/>
                <a:ext cx="5955209" cy="748915"/>
              </a:xfrm>
              <a:prstGeom prst="rect">
                <a:avLst/>
              </a:prstGeom>
              <a:blipFill rotWithShape="1">
                <a:blip r:embed="rId9"/>
                <a:stretch>
                  <a:fillRect l="-8" t="-29264" r="1" b="-29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/>
      <p:bldP spid="9" grpId="0"/>
      <p:bldP spid="10" grpId="0"/>
      <p:bldP spid="11" grpId="0"/>
      <p:bldP spid="13" grpId="0"/>
      <p:bldP spid="14" grpId="0"/>
      <p:bldP spid="16" grpId="0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200025" y="573451"/>
                <a:ext cx="8743950" cy="94678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思考题：是否有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𝑅𝑒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[</m:t>
                    </m:r>
                    <m:nary>
                      <m:naryPr>
                        <m:limLoc m:val="subSup"/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𝑑𝑧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]=</m:t>
                    </m:r>
                    <m:nary>
                      <m:naryPr>
                        <m:limLoc m:val="subSup"/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𝑅𝑒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)]</m:t>
                        </m:r>
                      </m:e>
                    </m:nary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𝑑𝑧</m:t>
                    </m:r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?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5" y="573451"/>
                <a:ext cx="8743950" cy="946785"/>
              </a:xfrm>
              <a:prstGeom prst="rect">
                <a:avLst/>
              </a:prstGeom>
              <a:blipFill rotWithShape="1">
                <a:blip r:embed="rId1"/>
                <a:stretch>
                  <a:fillRect t="-5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标题 1"/>
          <p:cNvSpPr txBox="1"/>
          <p:nvPr/>
        </p:nvSpPr>
        <p:spPr>
          <a:xfrm>
            <a:off x="200025" y="1550625"/>
            <a:ext cx="1319286" cy="634026"/>
          </a:xfrm>
          <a:prstGeom prst="rect">
            <a:avLst/>
          </a:prstGeom>
        </p:spPr>
        <p:txBody>
          <a:bodyPr vert="horz" lIns="121904" tIns="60952" rIns="121904" bIns="60952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不一定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613828" y="1517663"/>
                <a:ext cx="5148043" cy="699951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如：</a:t>
                </a:r>
                <a:r>
                  <a:rPr lang="en-US" altLang="zh-CN" sz="2800" dirty="0">
                    <a:ea typeface="楷体" panose="02010609060101010101" pitchFamily="49" charset="-122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𝐶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: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𝑖𝑡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𝑡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: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0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→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828" y="1517663"/>
                <a:ext cx="5148043" cy="699951"/>
              </a:xfrm>
              <a:prstGeom prst="rect">
                <a:avLst/>
              </a:prstGeom>
              <a:blipFill rotWithShape="1">
                <a:blip r:embed="rId2"/>
                <a:stretch>
                  <a:fillRect l="-6" t="-2" r="8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663798" y="2217614"/>
                <a:ext cx="5426319" cy="835663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𝑅𝑒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)]</m:t>
                        </m:r>
                      </m:e>
                    </m:nary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𝑑𝑧</m:t>
                    </m:r>
                    <m:r>
                      <a:rPr lang="en-US" altLang="zh-CN" sz="2800" b="0" i="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p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𝑖𝑡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798" y="2217614"/>
                <a:ext cx="5426319" cy="835663"/>
              </a:xfrm>
              <a:prstGeom prst="rect">
                <a:avLst/>
              </a:prstGeom>
              <a:blipFill rotWithShape="1">
                <a:blip r:embed="rId3"/>
                <a:stretch>
                  <a:fillRect l="-2" t="-23" r="6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1613828" y="3053277"/>
                <a:ext cx="5426319" cy="835663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𝑅𝑒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[</m:t>
                    </m:r>
                    <m:nary>
                      <m:naryPr>
                        <m:limLoc m:val="subSup"/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nary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𝑑𝑧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]=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𝑅𝑒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[</m:t>
                    </m:r>
                    <m:nary>
                      <m:nary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p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𝑖𝑡𝑑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𝑖𝑡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828" y="3053277"/>
                <a:ext cx="5426319" cy="835663"/>
              </a:xfrm>
              <a:prstGeom prst="rect">
                <a:avLst/>
              </a:prstGeom>
              <a:blipFill rotWithShape="1">
                <a:blip r:embed="rId4"/>
                <a:stretch>
                  <a:fillRect l="-5" t="-24" r="10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4022480" y="3790742"/>
                <a:ext cx="3578763" cy="835663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𝑅𝑒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  <m:e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𝑡𝑑𝑡</m:t>
                            </m:r>
                          </m:e>
                        </m:nary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480" y="3790742"/>
                <a:ext cx="3578763" cy="835663"/>
              </a:xfrm>
              <a:prstGeom prst="rect">
                <a:avLst/>
              </a:prstGeom>
              <a:blipFill rotWithShape="1">
                <a:blip r:embed="rId5"/>
                <a:stretch>
                  <a:fillRect l="-11" t="-51" r="8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/>
      <p:bldP spid="9" grpId="0"/>
      <p:bldP spid="10" grpId="0"/>
      <p:bldP spid="11" grpId="0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200025" y="450166"/>
                <a:ext cx="8743950" cy="1591310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𝐸𝑔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:</m:t>
                    </m:r>
                    <m:r>
                      <a:rPr lang="en-US" altLang="zh-CN" sz="2800" b="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8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表示半圆周路径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𝜃</m:t>
                        </m:r>
                      </m:sup>
                    </m:sSup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0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𝜃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CN" altLang="en-US" sz="28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，起点和终点分别是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3.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28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e>
                    </m:nary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𝑑𝑧</m:t>
                    </m:r>
                  </m:oMath>
                </a14:m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5" y="450166"/>
                <a:ext cx="8743950" cy="1591310"/>
              </a:xfrm>
              <a:prstGeom prst="rect">
                <a:avLst/>
              </a:prstGeom>
              <a:blipFill rotWithShape="1">
                <a:blip r:embed="rId1"/>
                <a:stretch>
                  <a:fillRect t="-37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2.4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复变函数的积分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 txBox="1"/>
          <p:nvPr/>
        </p:nvSpPr>
        <p:spPr>
          <a:xfrm>
            <a:off x="88265" y="80645"/>
            <a:ext cx="3518535" cy="601345"/>
          </a:xfrm>
          <a:prstGeom prst="rect">
            <a:avLst/>
          </a:prstGeom>
        </p:spPr>
        <p:txBody>
          <a:bodyPr vert="horz" lIns="121904" tIns="60952" rIns="121904" bIns="60952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复积分的物理意义</a:t>
            </a:r>
            <a:endParaRPr lang="en-US" altLang="zh-CN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54304" y="684371"/>
                <a:ext cx="5230495" cy="60134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2800" dirty="0"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acc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𝑢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𝑖𝑣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04" y="684371"/>
                <a:ext cx="5230495" cy="601345"/>
              </a:xfrm>
              <a:prstGeom prst="rect">
                <a:avLst/>
              </a:prstGeom>
              <a:blipFill rotWithShape="1">
                <a:blip r:embed="rId1"/>
                <a:stretch>
                  <a:fillRect l="-12" t="-79" r="12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893442" y="1352550"/>
                <a:ext cx="7602856" cy="60134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acc>
                          <m:accPr>
                            <m:chr m:val="̅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</m:acc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𝑢𝑑𝑥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𝑣𝑑𝑦</m:t>
                        </m:r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nary>
                      <m:nary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𝑣𝑑𝑥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𝑢𝑑𝑦</m:t>
                        </m:r>
                      </m:e>
                    </m:nary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42" y="1352550"/>
                <a:ext cx="7602856" cy="601345"/>
              </a:xfrm>
              <a:prstGeom prst="rect">
                <a:avLst/>
              </a:prstGeom>
              <a:blipFill rotWithShape="1">
                <a:blip r:embed="rId2"/>
                <a:stretch>
                  <a:fillRect l="-8" t="-528" r="8" b="-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205105" y="2051209"/>
                <a:ext cx="8857615" cy="127190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2800" dirty="0">
                    <a:ea typeface="楷体" panose="02010609060101010101" pitchFamily="49" charset="-122"/>
                  </a:rPr>
                  <a:t>记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𝜑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𝑅𝑒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sub>
                          <m:sup/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acc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</m:e>
                        </m:nary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𝜓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𝐼𝑚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[</m:t>
                    </m:r>
                    <m:nary>
                      <m:nary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acc>
                          <m:accPr>
                            <m:chr m:val="̅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</m:acc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这里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𝜑</m:t>
                    </m:r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𝜓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都是重要的基本物理量：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05" y="2051209"/>
                <a:ext cx="8857615" cy="1271905"/>
              </a:xfrm>
              <a:prstGeom prst="rect">
                <a:avLst/>
              </a:prstGeom>
              <a:blipFill rotWithShape="1">
                <a:blip r:embed="rId3"/>
                <a:stretch>
                  <a:fillRect t="-13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285750" y="3212464"/>
                <a:ext cx="8857615" cy="127190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2800" dirty="0">
                    <a:ea typeface="楷体" panose="02010609060101010101" pitchFamily="49" charset="-122"/>
                  </a:rPr>
                  <a:t>表示一个力场，则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𝜑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表示场力沿有向曲线</a:t>
                </a:r>
                <a14:m>
                  <m:oMath xmlns:m="http://schemas.openxmlformats.org/officeDocument/2006/math">
                    <m:r>
                      <m:rPr>
                        <m:brk m:alnAt="23"/>
                      </m:rP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所做的功；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0" y="3212464"/>
                <a:ext cx="8857615" cy="1271905"/>
              </a:xfrm>
              <a:prstGeom prst="rect">
                <a:avLst/>
              </a:prstGeom>
              <a:blipFill rotWithShape="1">
                <a:blip r:embed="rId4"/>
                <a:stretch>
                  <a:fillRect t="-50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286385" y="4373719"/>
                <a:ext cx="8857615" cy="127190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2800" dirty="0">
                    <a:ea typeface="楷体" panose="02010609060101010101" pitchFamily="49" charset="-122"/>
                  </a:rPr>
                  <a:t>表示一个不可压缩流体的流速场，且</a:t>
                </a:r>
                <a14:m>
                  <m:oMath xmlns:m="http://schemas.openxmlformats.org/officeDocument/2006/math">
                    <m:r>
                      <m:rPr>
                        <m:brk m:alnAt="23"/>
                      </m:rP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是闭曲线，则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𝜑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表示流体沿曲线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正向的环流量，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𝜓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表示流体从闭曲线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的内部向外部的通量；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85" y="4373719"/>
                <a:ext cx="8857615" cy="1271905"/>
              </a:xfrm>
              <a:prstGeom prst="rect">
                <a:avLst/>
              </a:prstGeom>
              <a:blipFill rotWithShape="1">
                <a:blip r:embed="rId5"/>
                <a:stretch>
                  <a:fillRect t="-337" b="-3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286385" y="5505450"/>
                <a:ext cx="8857615" cy="127190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2800" dirty="0">
                    <a:ea typeface="楷体" panose="02010609060101010101" pitchFamily="49" charset="-122"/>
                  </a:rPr>
                  <a:t>表示一个磁场，则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𝜓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表示该磁场通过曲线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的磁通量。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85" y="5505450"/>
                <a:ext cx="8857615" cy="127190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  <p:bldP spid="3" grpId="0"/>
      <p:bldP spid="4" grpId="0"/>
      <p:bldP spid="6" grpId="0"/>
      <p:bldP spid="7" grpId="0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00025" y="60165"/>
                <a:ext cx="8689975" cy="1715453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𝑔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设不可压缩流体的流速场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</m:e>
                    </m:acc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e>
                    </m:acc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𝑗</m:t>
                        </m:r>
                      </m:e>
                    </m:acc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.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为该流速场内的正向圆周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28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1.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求流体沿曲线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的环流量及流体从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的内部流向外部的流量</a:t>
                </a:r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5" y="60165"/>
                <a:ext cx="8689975" cy="1715453"/>
              </a:xfrm>
              <a:prstGeom prst="rect">
                <a:avLst/>
              </a:prstGeom>
              <a:blipFill rotWithShape="1">
                <a:blip r:embed="rId1"/>
                <a:stretch>
                  <a:fillRect t="-28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292734" y="1838959"/>
                <a:ext cx="7602856" cy="60134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2800" dirty="0">
                    <a:ea typeface="楷体" panose="02010609060101010101" pitchFamily="49" charset="-122"/>
                  </a:rPr>
                  <a:t>解：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</m:e>
                    </m:acc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e>
                    </m:acc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𝑗</m:t>
                        </m:r>
                      </m:e>
                    </m:acc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̅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den>
                    </m:f>
                  </m:oMath>
                </a14:m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34" y="1838959"/>
                <a:ext cx="7602856" cy="601345"/>
              </a:xfrm>
              <a:prstGeom prst="rect">
                <a:avLst/>
              </a:prstGeom>
              <a:blipFill rotWithShape="1">
                <a:blip r:embed="rId2"/>
                <a:stretch>
                  <a:fillRect l="-8" t="-2745" b="-26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121726" y="2678270"/>
                <a:ext cx="2210754" cy="60134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∴</m:t>
                    </m:r>
                    <m:acc>
                      <m:accPr>
                        <m:chr m:val="̅"/>
                        <m:ctrlPr>
                          <a:rPr lang="zh-CN" altLang="en-US" sz="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acc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26" y="2678270"/>
                <a:ext cx="2210754" cy="601345"/>
              </a:xfrm>
              <a:prstGeom prst="rect">
                <a:avLst/>
              </a:prstGeom>
              <a:blipFill rotWithShape="1">
                <a:blip r:embed="rId3"/>
                <a:stretch>
                  <a:fillRect l="-14" t="-185" b="-2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121726" y="3429000"/>
                <a:ext cx="8021639" cy="601345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∴</m:t>
                    </m:r>
                    <m:nary>
                      <m:naryPr>
                        <m:chr m:val="∮"/>
                        <m:ctrlPr>
                          <a:rPr lang="zh-CN" altLang="en-US" sz="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acc>
                          <m:accPr>
                            <m:chr m:val="̅"/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</m:acc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∮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e>
                    </m:nary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26" y="3429000"/>
                <a:ext cx="8021639" cy="601345"/>
              </a:xfrm>
              <a:prstGeom prst="rect">
                <a:avLst/>
              </a:prstGeom>
              <a:blipFill rotWithShape="1">
                <a:blip r:embed="rId4"/>
                <a:stretch>
                  <a:fillRect l="-4" t="-4435" b="-46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070926" y="4262121"/>
                <a:ext cx="8021639" cy="1061719"/>
              </a:xfrm>
              <a:prstGeom prst="rect">
                <a:avLst/>
              </a:prstGeom>
            </p:spPr>
            <p:txBody>
              <a:bodyPr vert="horz" lIns="121904" tIns="60952" rIns="121904" bIns="60952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∴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流体沿曲线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的环流量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𝜑</m:t>
                    </m:r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=</a:t>
                </a:r>
                <a:r>
                  <a:rPr lang="en-US" altLang="zh-CN" sz="28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，流体从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的内部流向外部的流量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𝜓</m:t>
                    </m:r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=</a:t>
                </a:r>
                <a:r>
                  <a:rPr lang="en-US" altLang="zh-CN" sz="28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𝜋</m:t>
                    </m:r>
                  </m:oMath>
                </a14:m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926" y="4262121"/>
                <a:ext cx="8021639" cy="1061719"/>
              </a:xfrm>
              <a:prstGeom prst="rect">
                <a:avLst/>
              </a:prstGeom>
              <a:blipFill rotWithShape="1">
                <a:blip r:embed="rId5"/>
                <a:stretch>
                  <a:fillRect l="-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  <p:bldP spid="9" grpId="0"/>
      <p:bldP spid="10" grpId="0"/>
    </p:bldLst>
  </p:timing>
</p:sld>
</file>

<file path=ppt/tags/tag1.xml><?xml version="1.0" encoding="utf-8"?>
<p:tagLst xmlns:p="http://schemas.openxmlformats.org/presentationml/2006/main">
  <p:tag name="COMMONDATA" val="eyJoZGlkIjoiMTAyMzJkOGNiMDEyZDQzM2FkNGM4ODJmZGE4NDczMDMifQ=="/>
  <p:tag name="KSO_WPP_MARK_KEY" val="4a441d18-6d3d-470e-aecb-618775f98695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9170</Words>
  <Application>WPS 演示</Application>
  <PresentationFormat>全屏显示(4:3)</PresentationFormat>
  <Paragraphs>557</Paragraphs>
  <Slides>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36</vt:i4>
      </vt:variant>
    </vt:vector>
  </HeadingPairs>
  <TitlesOfParts>
    <vt:vector size="58" baseType="lpstr">
      <vt:lpstr>Arial</vt:lpstr>
      <vt:lpstr>宋体</vt:lpstr>
      <vt:lpstr>Wingdings</vt:lpstr>
      <vt:lpstr>楷体</vt:lpstr>
      <vt:lpstr>Cambria Math</vt:lpstr>
      <vt:lpstr>MS Mincho</vt:lpstr>
      <vt:lpstr>黑体</vt:lpstr>
      <vt:lpstr>等线</vt:lpstr>
      <vt:lpstr>微软雅黑</vt:lpstr>
      <vt:lpstr>Arial Unicode MS</vt:lpstr>
      <vt:lpstr>等线 Light</vt:lpstr>
      <vt:lpstr>Calibri</vt:lpstr>
      <vt:lpstr>Office 主题​​</vt:lpstr>
      <vt:lpstr>1_Office 主题​​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复变函数与积分变换</vt:lpstr>
      <vt:lpstr>PowerPoint 演示文稿</vt:lpstr>
      <vt:lpstr>PowerPoint 演示文稿</vt:lpstr>
      <vt:lpstr>PowerPoint 演示文稿</vt:lpstr>
      <vt:lpstr>一、复积分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，</vt:lpstr>
      <vt:lpstr>由实函数可积的条件得：</vt:lpstr>
      <vt:lpstr>三、积分性质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四、复积分与路径的关系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复变函数与积分变换</dc:title>
  <dc:creator>dym</dc:creator>
  <cp:lastModifiedBy>DhyWay</cp:lastModifiedBy>
  <cp:revision>143</cp:revision>
  <dcterms:created xsi:type="dcterms:W3CDTF">2020-09-10T08:53:00Z</dcterms:created>
  <dcterms:modified xsi:type="dcterms:W3CDTF">2025-10-13T04:46:56Z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BCEC776F070545F28DE24954C71F1F38</vt:lpwstr>
  </property>
  <property fmtid="{D5CDD505-2E9C-101B-9397-08002B2CF9AE}" pid="3" name="KSOProductBuildVer">
    <vt:lpwstr>2052-12.1.0.22529</vt:lpwstr>
  </property>
</Properties>
</file>