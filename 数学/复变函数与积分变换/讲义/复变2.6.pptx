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9" r:id="rId5"/>
    <p:sldId id="265" r:id="rId6"/>
    <p:sldId id="271" r:id="rId7"/>
    <p:sldId id="260" r:id="rId8"/>
    <p:sldId id="272" r:id="rId9"/>
    <p:sldId id="273" r:id="rId10"/>
    <p:sldId id="262" r:id="rId11"/>
    <p:sldId id="263" r:id="rId12"/>
    <p:sldId id="264" r:id="rId13"/>
    <p:sldId id="331" r:id="rId14"/>
    <p:sldId id="332" r:id="rId15"/>
    <p:sldId id="274" r:id="rId16"/>
    <p:sldId id="275" r:id="rId17"/>
    <p:sldId id="333" r:id="rId18"/>
    <p:sldId id="334" r:id="rId19"/>
    <p:sldId id="277" r:id="rId20"/>
    <p:sldId id="285" r:id="rId21"/>
    <p:sldId id="278" r:id="rId22"/>
    <p:sldId id="326" r:id="rId23"/>
    <p:sldId id="327" r:id="rId24"/>
    <p:sldId id="328" r:id="rId25"/>
    <p:sldId id="329" r:id="rId26"/>
    <p:sldId id="330" r:id="rId27"/>
  </p:sldIdLst>
  <p:sldSz cx="9144000" cy="6858000" type="screen4x3"/>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7" d="100"/>
          <a:sy n="97" d="100"/>
        </p:scale>
        <p:origin x="123"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1" Type="http://schemas.openxmlformats.org/officeDocument/2006/relationships/tags" Target="tags/tag2.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9B83175-4722-4A10-8460-97CF65A54AB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A54CBFD-70A7-4979-A18C-0C8BAF40B62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3175-4722-4A10-8460-97CF65A54AB8}"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54CBFD-70A7-4979-A18C-0C8BAF40B62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jpeg"/><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0" Type="http://schemas.openxmlformats.org/officeDocument/2006/relationships/slideLayout" Target="../slideLayouts/slideLayout2.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9.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image" Target="../media/image42.png"/><Relationship Id="rId7" Type="http://schemas.openxmlformats.org/officeDocument/2006/relationships/image" Target="../media/image41.png"/><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5" Type="http://schemas.openxmlformats.org/officeDocument/2006/relationships/slideLayout" Target="../slideLayouts/slideLayout2.xml"/><Relationship Id="rId14" Type="http://schemas.openxmlformats.org/officeDocument/2006/relationships/image" Target="../media/image48.png"/><Relationship Id="rId13" Type="http://schemas.openxmlformats.org/officeDocument/2006/relationships/image" Target="../media/image47.png"/><Relationship Id="rId12" Type="http://schemas.openxmlformats.org/officeDocument/2006/relationships/image" Target="../media/image46.png"/><Relationship Id="rId11" Type="http://schemas.openxmlformats.org/officeDocument/2006/relationships/image" Target="../media/image45.png"/><Relationship Id="rId10" Type="http://schemas.openxmlformats.org/officeDocument/2006/relationships/image" Target="../media/image44.png"/><Relationship Id="rId1" Type="http://schemas.openxmlformats.org/officeDocument/2006/relationships/image" Target="../media/image35.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56.png"/><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png"/></Relationships>
</file>

<file path=ppt/slides/_rels/slide11.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png"/><Relationship Id="rId7" Type="http://schemas.openxmlformats.org/officeDocument/2006/relationships/image" Target="../media/image62.png"/><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3" Type="http://schemas.openxmlformats.org/officeDocument/2006/relationships/slideLayout" Target="../slideLayouts/slideLayout2.xml"/><Relationship Id="rId12" Type="http://schemas.openxmlformats.org/officeDocument/2006/relationships/image" Target="../media/image55.png"/><Relationship Id="rId11" Type="http://schemas.openxmlformats.org/officeDocument/2006/relationships/image" Target="../media/image54.png"/><Relationship Id="rId10" Type="http://schemas.openxmlformats.org/officeDocument/2006/relationships/image" Target="../media/image65.png"/><Relationship Id="rId1" Type="http://schemas.openxmlformats.org/officeDocument/2006/relationships/image" Target="../media/image49.png"/></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71.png"/><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49.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78.png"/><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14.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86.pn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1" Type="http://schemas.openxmlformats.org/officeDocument/2006/relationships/slideLayout" Target="../slideLayouts/slideLayout13.xml"/><Relationship Id="rId10" Type="http://schemas.openxmlformats.org/officeDocument/2006/relationships/image" Target="../media/image88.png"/><Relationship Id="rId1" Type="http://schemas.openxmlformats.org/officeDocument/2006/relationships/image" Target="../media/image79.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image" Target="../media/image94.png"/><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79.png"/></Relationships>
</file>

<file path=ppt/slides/_rels/slide16.xml.rels><?xml version="1.0" encoding="UTF-8" standalone="yes"?>
<Relationships xmlns="http://schemas.openxmlformats.org/package/2006/relationships"><Relationship Id="rId9" Type="http://schemas.openxmlformats.org/officeDocument/2006/relationships/image" Target="../media/image103.png"/><Relationship Id="rId8" Type="http://schemas.openxmlformats.org/officeDocument/2006/relationships/image" Target="../media/image102.png"/><Relationship Id="rId7" Type="http://schemas.openxmlformats.org/officeDocument/2006/relationships/image" Target="../media/image101.png"/><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png"/><Relationship Id="rId11" Type="http://schemas.openxmlformats.org/officeDocument/2006/relationships/slideLayout" Target="../slideLayouts/slideLayout13.xml"/><Relationship Id="rId10" Type="http://schemas.openxmlformats.org/officeDocument/2006/relationships/image" Target="../media/image104.png"/><Relationship Id="rId1" Type="http://schemas.openxmlformats.org/officeDocument/2006/relationships/image" Target="../media/image9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image" Target="../media/image113.png"/><Relationship Id="rId8" Type="http://schemas.openxmlformats.org/officeDocument/2006/relationships/image" Target="../media/image112.png"/><Relationship Id="rId7" Type="http://schemas.openxmlformats.org/officeDocument/2006/relationships/image" Target="../media/image111.png"/><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107.png"/><Relationship Id="rId2" Type="http://schemas.openxmlformats.org/officeDocument/2006/relationships/image" Target="../media/image106.png"/><Relationship Id="rId14" Type="http://schemas.openxmlformats.org/officeDocument/2006/relationships/slideLayout" Target="../slideLayouts/slideLayout13.xml"/><Relationship Id="rId13" Type="http://schemas.openxmlformats.org/officeDocument/2006/relationships/image" Target="../media/image117.png"/><Relationship Id="rId12" Type="http://schemas.openxmlformats.org/officeDocument/2006/relationships/image" Target="../media/image116.png"/><Relationship Id="rId11" Type="http://schemas.openxmlformats.org/officeDocument/2006/relationships/image" Target="../media/image115.png"/><Relationship Id="rId10" Type="http://schemas.openxmlformats.org/officeDocument/2006/relationships/image" Target="../media/image114.png"/><Relationship Id="rId1" Type="http://schemas.openxmlformats.org/officeDocument/2006/relationships/image" Target="../media/image10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9.png"/><Relationship Id="rId1" Type="http://schemas.openxmlformats.org/officeDocument/2006/relationships/image" Target="../media/image118.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23.png"/><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image" Target="../media/image120.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image" Target="../media/image128.png"/><Relationship Id="rId4" Type="http://schemas.openxmlformats.org/officeDocument/2006/relationships/image" Target="../media/image127.png"/><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image" Target="../media/image124.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0.png"/><Relationship Id="rId1" Type="http://schemas.openxmlformats.org/officeDocument/2006/relationships/image" Target="../media/image129.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34.png"/><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image" Target="../media/image1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a:spLocks noGrp="1" noRot="1" noChangeAspect="1" noMove="1" noResize="1" noEditPoints="1" noAdjustHandles="1" noChangeArrowheads="1" noChangeShapeType="1" noTextEdit="1"/>
          </p:cNvSpPr>
          <p:nvPr/>
        </p:nvSpPr>
        <p:spPr>
          <a:xfrm>
            <a:off x="0" y="85725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a:spLocks noGrp="1" noRot="1" noChangeAspect="1" noMove="1" noResize="1" noEditPoints="1" noAdjustHandles="1" noChangeArrowheads="1" noChangeShapeType="1" noTextEdit="1"/>
          </p:cNvSpPr>
          <p:nvPr/>
        </p:nvSpPr>
        <p:spPr>
          <a:xfrm>
            <a:off x="2286" y="1670810"/>
            <a:ext cx="9141714" cy="2470655"/>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6" name="Picture 15"/>
          <p:cNvPicPr>
            <a:picLocks noGrp="1" noRot="1" noChangeAspect="1" noMove="1" noResize="1" noEditPoints="1" noAdjustHandles="1" noChangeArrowheads="1" noChangeShapeType="1" noCrop="1"/>
          </p:cNvPicPr>
          <p:nvPr/>
        </p:nvPicPr>
        <p:blipFill>
          <a:blip r:embed="rId1">
            <a:extLst>
              <a:ext uri="{28A0092B-C50C-407E-A947-70E740481C1C}">
                <a14:useLocalDpi xmlns:a14="http://schemas.microsoft.com/office/drawing/2010/main" val="0"/>
              </a:ext>
            </a:extLst>
          </a:blip>
          <a:srcRect l="8235" r="8214" b="45501"/>
          <a:stretch>
            <a:fillRect/>
          </a:stretch>
        </p:blipFill>
        <p:spPr>
          <a:xfrm flipV="1">
            <a:off x="0" y="857250"/>
            <a:ext cx="9143999" cy="335502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2" name="标题 1"/>
          <p:cNvSpPr>
            <a:spLocks noGrp="1"/>
          </p:cNvSpPr>
          <p:nvPr>
            <p:ph type="ctrTitle"/>
          </p:nvPr>
        </p:nvSpPr>
        <p:spPr>
          <a:xfrm>
            <a:off x="565444" y="2414588"/>
            <a:ext cx="8013113" cy="1008851"/>
          </a:xfrm>
        </p:spPr>
        <p:txBody>
          <a:bodyPr anchor="ctr">
            <a:noAutofit/>
          </a:bodyPr>
          <a:lstStyle/>
          <a:p>
            <a:r>
              <a:rPr lang="zh-CN" altLang="en-US" sz="4200" b="1">
                <a:solidFill>
                  <a:srgbClr val="FFFFFF"/>
                </a:solidFill>
                <a:latin typeface="楷体" panose="02010609060101010101" pitchFamily="49" charset="-122"/>
                <a:ea typeface="楷体" panose="02010609060101010101" pitchFamily="49" charset="-122"/>
              </a:rPr>
              <a:t>复变函数与积分变换</a:t>
            </a:r>
            <a:endParaRPr lang="zh-CN" altLang="en-US" sz="4200" b="1">
              <a:solidFill>
                <a:srgbClr val="FFFFFF"/>
              </a:solidFill>
              <a:latin typeface="楷体" panose="02010609060101010101" pitchFamily="49" charset="-122"/>
              <a:ea typeface="楷体" panose="02010609060101010101" pitchFamily="49" charset="-122"/>
            </a:endParaRPr>
          </a:p>
        </p:txBody>
      </p:sp>
      <p:sp>
        <p:nvSpPr>
          <p:cNvPr id="3" name="副标题 2"/>
          <p:cNvSpPr>
            <a:spLocks noGrp="1"/>
          </p:cNvSpPr>
          <p:nvPr>
            <p:ph type="subTitle" idx="1"/>
          </p:nvPr>
        </p:nvSpPr>
        <p:spPr>
          <a:xfrm>
            <a:off x="878681" y="4212270"/>
            <a:ext cx="7101908" cy="649229"/>
          </a:xfrm>
        </p:spPr>
        <p:txBody>
          <a:bodyPr anchor="ctr">
            <a:normAutofit/>
          </a:bodyPr>
          <a:lstStyle/>
          <a:p>
            <a:r>
              <a:rPr lang="zh-CN" altLang="en-US" sz="2100" dirty="0">
                <a:solidFill>
                  <a:srgbClr val="000000"/>
                </a:solidFill>
              </a:rPr>
              <a:t>狄艳媚</a:t>
            </a:r>
            <a:endParaRPr lang="zh-CN" altLang="en-US" sz="2100" dirty="0">
              <a:solidFill>
                <a:srgbClr val="000000"/>
              </a:solidFill>
            </a:endParaRPr>
          </a:p>
        </p:txBody>
      </p:sp>
      <p:pic>
        <p:nvPicPr>
          <p:cNvPr id="7" name="图片 6"/>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540" y="5915025"/>
            <a:ext cx="9144000" cy="9429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2393683" y="681300"/>
            <a:ext cx="3383915" cy="5949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200" b="1" dirty="0">
                <a:latin typeface="楷体" panose="02010609060101010101" pitchFamily="49" charset="-122"/>
                <a:ea typeface="楷体" panose="02010609060101010101" pitchFamily="49" charset="-122"/>
                <a:cs typeface="楷体" panose="02010609060101010101" pitchFamily="49" charset="-122"/>
              </a:rPr>
              <a:t>2.6</a:t>
            </a:r>
            <a:r>
              <a:rPr lang="zh-CN" altLang="en-US" sz="3200" b="1" dirty="0">
                <a:latin typeface="楷体" panose="02010609060101010101" pitchFamily="49" charset="-122"/>
                <a:ea typeface="楷体" panose="02010609060101010101" pitchFamily="49" charset="-122"/>
                <a:cs typeface="楷体" panose="02010609060101010101" pitchFamily="49" charset="-122"/>
              </a:rPr>
              <a:t>  调和函数</a:t>
            </a:r>
            <a:endParaRPr lang="zh-CN" altLang="en-US" sz="3200" b="1" dirty="0">
              <a:latin typeface="楷体" panose="02010609060101010101" pitchFamily="49" charset="-122"/>
              <a:ea typeface="楷体" panose="02010609060101010101" pitchFamily="49" charset="-122"/>
              <a:cs typeface="楷体" panose="02010609060101010101" pitchFamily="49" charset="-122"/>
            </a:endParaRPr>
          </a:p>
        </p:txBody>
      </p:sp>
      <p:sp>
        <p:nvSpPr>
          <p:cNvPr id="10" name="标题 1"/>
          <p:cNvSpPr txBox="1"/>
          <p:nvPr/>
        </p:nvSpPr>
        <p:spPr>
          <a:xfrm>
            <a:off x="659447" y="2476697"/>
            <a:ext cx="6541135" cy="5949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zh-CN" sz="3000" dirty="0">
                <a:latin typeface="楷体" panose="02010609060101010101" pitchFamily="49" charset="-122"/>
                <a:ea typeface="楷体" panose="02010609060101010101" pitchFamily="49" charset="-122"/>
              </a:rPr>
              <a:t>已知调和函数会求相应的解析函数</a:t>
            </a:r>
            <a:r>
              <a:rPr lang="zh-CN" altLang="en-US"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p:sp>
        <p:nvSpPr>
          <p:cNvPr id="2" name="标题 1"/>
          <p:cNvSpPr txBox="1"/>
          <p:nvPr/>
        </p:nvSpPr>
        <p:spPr>
          <a:xfrm>
            <a:off x="122036" y="1255990"/>
            <a:ext cx="2051050" cy="4940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b="1" dirty="0">
                <a:latin typeface="楷体" panose="02010609060101010101" pitchFamily="49" charset="-122"/>
                <a:ea typeface="楷体" panose="02010609060101010101" pitchFamily="49" charset="-122"/>
              </a:rPr>
              <a:t>教学目标：</a:t>
            </a:r>
            <a:endParaRPr lang="zh-CN" altLang="en-US" sz="3000" b="1" dirty="0">
              <a:latin typeface="楷体" panose="02010609060101010101" pitchFamily="49" charset="-122"/>
              <a:ea typeface="楷体" panose="02010609060101010101" pitchFamily="49" charset="-122"/>
            </a:endParaRPr>
          </a:p>
        </p:txBody>
      </p:sp>
      <p:sp>
        <p:nvSpPr>
          <p:cNvPr id="8" name="标题 1"/>
          <p:cNvSpPr txBox="1"/>
          <p:nvPr/>
        </p:nvSpPr>
        <p:spPr>
          <a:xfrm>
            <a:off x="659447" y="1698856"/>
            <a:ext cx="7825105" cy="5949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zh-CN" sz="3000" dirty="0">
                <a:latin typeface="楷体" panose="02010609060101010101" pitchFamily="49" charset="-122"/>
                <a:ea typeface="楷体" panose="02010609060101010101" pitchFamily="49" charset="-122"/>
              </a:rPr>
              <a:t>理解调和函数的定义及与解析函数的关系</a:t>
            </a:r>
            <a:r>
              <a:rPr lang="zh-CN" altLang="en-US"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p:sp>
        <p:nvSpPr>
          <p:cNvPr id="3" name="标题 1"/>
          <p:cNvSpPr txBox="1"/>
          <p:nvPr/>
        </p:nvSpPr>
        <p:spPr>
          <a:xfrm>
            <a:off x="163629" y="3343090"/>
            <a:ext cx="1440815"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b="1" dirty="0">
                <a:latin typeface="楷体" panose="02010609060101010101" pitchFamily="49" charset="-122"/>
                <a:ea typeface="楷体" panose="02010609060101010101" pitchFamily="49" charset="-122"/>
              </a:rPr>
              <a:t>重难点：</a:t>
            </a:r>
            <a:endParaRPr lang="zh-CN" altLang="en-US" sz="3000" b="1" dirty="0">
              <a:latin typeface="楷体" panose="02010609060101010101" pitchFamily="49" charset="-122"/>
              <a:ea typeface="楷体" panose="02010609060101010101" pitchFamily="49" charset="-122"/>
            </a:endParaRPr>
          </a:p>
        </p:txBody>
      </p:sp>
      <p:sp>
        <p:nvSpPr>
          <p:cNvPr id="4" name="标题 1"/>
          <p:cNvSpPr txBox="1"/>
          <p:nvPr/>
        </p:nvSpPr>
        <p:spPr>
          <a:xfrm>
            <a:off x="596581" y="4042642"/>
            <a:ext cx="7950835" cy="5949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cs typeface="楷体" panose="02010609060101010101" pitchFamily="49" charset="-122"/>
              </a:rPr>
              <a:t>重点</a:t>
            </a:r>
            <a:r>
              <a:rPr lang="en-US" altLang="zh-CN" sz="3000" dirty="0">
                <a:latin typeface="楷体" panose="02010609060101010101" pitchFamily="49" charset="-122"/>
                <a:ea typeface="楷体" panose="02010609060101010101" pitchFamily="49" charset="-122"/>
                <a:cs typeface="楷体" panose="02010609060101010101" pitchFamily="49" charset="-122"/>
              </a:rPr>
              <a:t>—</a:t>
            </a:r>
            <a:r>
              <a:rPr lang="zh-CN" altLang="en-US" sz="3000" dirty="0">
                <a:latin typeface="楷体" panose="02010609060101010101" pitchFamily="49" charset="-122"/>
                <a:ea typeface="楷体" panose="02010609060101010101" pitchFamily="49" charset="-122"/>
                <a:cs typeface="楷体" panose="02010609060101010101" pitchFamily="49" charset="-122"/>
              </a:rPr>
              <a:t>由调和函数计算相应的解析函数；</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sp>
        <p:nvSpPr>
          <p:cNvPr id="12" name="标题 1"/>
          <p:cNvSpPr txBox="1"/>
          <p:nvPr/>
        </p:nvSpPr>
        <p:spPr>
          <a:xfrm>
            <a:off x="533717" y="4664744"/>
            <a:ext cx="7950835" cy="6896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cs typeface="楷体" panose="02010609060101010101" pitchFamily="49" charset="-122"/>
              </a:rPr>
              <a:t>难点</a:t>
            </a:r>
            <a:r>
              <a:rPr lang="en-US" altLang="zh-CN" sz="3000" dirty="0">
                <a:latin typeface="楷体" panose="02010609060101010101" pitchFamily="49" charset="-122"/>
                <a:ea typeface="楷体" panose="02010609060101010101" pitchFamily="49" charset="-122"/>
                <a:cs typeface="楷体" panose="02010609060101010101" pitchFamily="49" charset="-122"/>
              </a:rPr>
              <a:t>—</a:t>
            </a:r>
            <a:r>
              <a:rPr lang="zh-CN" altLang="en-US" sz="3000" dirty="0">
                <a:latin typeface="楷体" panose="02010609060101010101" pitchFamily="49" charset="-122"/>
                <a:ea typeface="楷体" panose="02010609060101010101" pitchFamily="49" charset="-122"/>
                <a:cs typeface="楷体" panose="02010609060101010101" pitchFamily="49" charset="-122"/>
              </a:rPr>
              <a:t>关于复函数微分和积分的综合应用。</a:t>
            </a:r>
            <a:endParaRPr lang="zh-CN" altLang="en-US" sz="3000" dirty="0">
              <a:latin typeface="楷体" panose="02010609060101010101" pitchFamily="49" charset="-122"/>
              <a:ea typeface="楷体" panose="02010609060101010101" pitchFamily="49" charset="-122"/>
              <a:cs typeface="楷体" panose="02010609060101010101" pitchFamily="49" charset="-122"/>
            </a:endParaRPr>
          </a:p>
        </p:txBody>
      </p:sp>
      <p:grpSp>
        <p:nvGrpSpPr>
          <p:cNvPr id="11" name="组合 10"/>
          <p:cNvGrpSpPr/>
          <p:nvPr/>
        </p:nvGrpSpPr>
        <p:grpSpPr>
          <a:xfrm>
            <a:off x="0" y="82323"/>
            <a:ext cx="9088711" cy="516645"/>
            <a:chOff x="0" y="82323"/>
            <a:chExt cx="9088711" cy="516645"/>
          </a:xfrm>
        </p:grpSpPr>
        <p:sp>
          <p:nvSpPr>
            <p:cNvPr id="13"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4" name="直接连接符 13"/>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2" grpId="0"/>
      <p:bldP spid="8" grpId="0"/>
      <p:bldP spid="3" grpId="0"/>
      <p:bldP spid="4"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3285490" y="2751085"/>
                <a:ext cx="3112135" cy="8502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f>
                      <m:fPr>
                        <m:ctrlPr>
                          <a:rPr lang="en-US" altLang="zh-CN" sz="3500" i="1" smtClean="0">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500" i="1" smtClean="0">
                                <a:latin typeface="Cambria Math" panose="02040503050406030204" pitchFamily="18" charset="0"/>
                                <a:ea typeface="楷体" panose="02010609060101010101" pitchFamily="49" charset="-122"/>
                                <a:cs typeface="Cambria Math" panose="02040503050406030204" pitchFamily="18" charset="0"/>
                              </a:rPr>
                            </m:ctrlPr>
                          </m:sSupPr>
                          <m:e>
                            <m:r>
                              <a:rPr lang="zh-CN" altLang="en-US" sz="3500" i="1" smtClean="0">
                                <a:latin typeface="Cambria Math" panose="02040503050406030204" pitchFamily="18" charset="0"/>
                                <a:ea typeface="MS Mincho" panose="02020609040205080304" charset="-128"/>
                                <a:cs typeface="Cambria Math" panose="02040503050406030204" pitchFamily="18" charset="0"/>
                              </a:rPr>
                              <m:t>𝜕</m:t>
                            </m:r>
                          </m:e>
                          <m:sup>
                            <m:r>
                              <a:rPr lang="en-US" altLang="zh-CN" sz="3500" i="1">
                                <a:latin typeface="Cambria Math" panose="02040503050406030204" pitchFamily="18" charset="0"/>
                                <a:ea typeface="MS Mincho" panose="02020609040205080304" charset="-128"/>
                                <a:cs typeface="Cambria Math" panose="02040503050406030204" pitchFamily="18" charset="0"/>
                              </a:rPr>
                              <m:t>2</m:t>
                            </m:r>
                          </m:sup>
                        </m:sSup>
                        <m:r>
                          <a:rPr lang="en-US" altLang="zh-CN" sz="3500" b="0" i="1" smtClean="0">
                            <a:latin typeface="Cambria Math" panose="02040503050406030204" pitchFamily="18" charset="0"/>
                            <a:ea typeface="楷体" panose="02010609060101010101" pitchFamily="49" charset="-122"/>
                            <a:cs typeface="Cambria Math" panose="02040503050406030204" pitchFamily="18" charset="0"/>
                          </a:rPr>
                          <m:t>𝐻</m:t>
                        </m:r>
                      </m:num>
                      <m:den>
                        <m:r>
                          <a:rPr lang="zh-CN" altLang="en-US" sz="3500" i="1" smtClean="0">
                            <a:latin typeface="Cambria Math" panose="02040503050406030204" pitchFamily="18" charset="0"/>
                            <a:ea typeface="MS Mincho" panose="02020609040205080304" charset="-128"/>
                            <a:cs typeface="Cambria Math" panose="02040503050406030204" pitchFamily="18" charset="0"/>
                          </a:rPr>
                          <m:t>𝜕</m:t>
                        </m:r>
                        <m:sSup>
                          <m:sSupPr>
                            <m:ctrlPr>
                              <a:rPr lang="en-US" altLang="zh-CN" sz="350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500" b="0" i="1" smtClean="0">
                                <a:latin typeface="Cambria Math" panose="02040503050406030204" pitchFamily="18" charset="0"/>
                                <a:ea typeface="楷体" panose="02010609060101010101" pitchFamily="49" charset="-122"/>
                                <a:cs typeface="Cambria Math" panose="02040503050406030204" pitchFamily="18" charset="0"/>
                              </a:rPr>
                              <m:t>𝑥</m:t>
                            </m:r>
                          </m:e>
                          <m:sup>
                            <m:r>
                              <a:rPr lang="en-US" altLang="zh-CN" sz="3500" b="0" i="1" smtClean="0">
                                <a:latin typeface="Cambria Math" panose="02040503050406030204" pitchFamily="18" charset="0"/>
                                <a:ea typeface="MS Mincho" panose="02020609040205080304" charset="-128"/>
                                <a:cs typeface="Cambria Math" panose="02040503050406030204" pitchFamily="18" charset="0"/>
                              </a:rPr>
                              <m:t>2</m:t>
                            </m:r>
                          </m:sup>
                        </m:sSup>
                      </m:den>
                    </m:f>
                    <m:r>
                      <a:rPr lang="en-US" altLang="zh-CN" sz="3500" b="0" i="1" smtClean="0">
                        <a:latin typeface="Cambria Math" panose="02040503050406030204" pitchFamily="18" charset="0"/>
                        <a:ea typeface="MS Mincho" panose="02020609040205080304" charset="-128"/>
                        <a:cs typeface="Cambria Math" panose="02040503050406030204" pitchFamily="18" charset="0"/>
                      </a:rPr>
                      <m:t>+</m:t>
                    </m:r>
                    <m:f>
                      <m:fPr>
                        <m:ctrlPr>
                          <a:rPr lang="en-US" altLang="zh-CN" sz="3500" i="1">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500" i="1">
                                <a:latin typeface="Cambria Math" panose="02040503050406030204" pitchFamily="18" charset="0"/>
                                <a:ea typeface="楷体" panose="02010609060101010101" pitchFamily="49" charset="-122"/>
                                <a:cs typeface="Cambria Math" panose="02040503050406030204" pitchFamily="18" charset="0"/>
                              </a:rPr>
                            </m:ctrlPr>
                          </m:sSupPr>
                          <m:e>
                            <m:r>
                              <a:rPr lang="zh-CN" altLang="en-US" sz="3500" i="1">
                                <a:latin typeface="Cambria Math" panose="02040503050406030204" pitchFamily="18" charset="0"/>
                                <a:ea typeface="MS Mincho" panose="02020609040205080304" charset="-128"/>
                                <a:cs typeface="Cambria Math" panose="02040503050406030204" pitchFamily="18" charset="0"/>
                              </a:rPr>
                              <m:t>𝜕</m:t>
                            </m:r>
                          </m:e>
                          <m:sup>
                            <m:r>
                              <a:rPr lang="en-US" altLang="zh-CN" sz="3500" i="1">
                                <a:latin typeface="Cambria Math" panose="02040503050406030204" pitchFamily="18" charset="0"/>
                                <a:ea typeface="MS Mincho" panose="02020609040205080304" charset="-128"/>
                                <a:cs typeface="Cambria Math" panose="02040503050406030204" pitchFamily="18" charset="0"/>
                              </a:rPr>
                              <m:t>2</m:t>
                            </m:r>
                          </m:sup>
                        </m:sSup>
                        <m:r>
                          <a:rPr lang="en-US" altLang="zh-CN" sz="3500" i="1">
                            <a:latin typeface="Cambria Math" panose="02040503050406030204" pitchFamily="18" charset="0"/>
                            <a:ea typeface="楷体" panose="02010609060101010101" pitchFamily="49" charset="-122"/>
                            <a:cs typeface="Cambria Math" panose="02040503050406030204" pitchFamily="18" charset="0"/>
                          </a:rPr>
                          <m:t>𝐻</m:t>
                        </m:r>
                      </m:num>
                      <m:den>
                        <m:r>
                          <a:rPr lang="zh-CN" altLang="en-US" sz="3500" i="1">
                            <a:latin typeface="Cambria Math" panose="02040503050406030204" pitchFamily="18" charset="0"/>
                            <a:ea typeface="MS Mincho" panose="02020609040205080304" charset="-128"/>
                            <a:cs typeface="Cambria Math" panose="02040503050406030204" pitchFamily="18" charset="0"/>
                          </a:rPr>
                          <m:t>𝜕</m:t>
                        </m:r>
                        <m:sSup>
                          <m:sSupPr>
                            <m:ctrlPr>
                              <a:rPr lang="en-US" altLang="zh-CN" sz="3500" i="1">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500" b="0" i="1" smtClean="0">
                                <a:latin typeface="Cambria Math" panose="02040503050406030204" pitchFamily="18" charset="0"/>
                                <a:ea typeface="楷体" panose="02010609060101010101" pitchFamily="49" charset="-122"/>
                                <a:cs typeface="Cambria Math" panose="02040503050406030204" pitchFamily="18" charset="0"/>
                              </a:rPr>
                              <m:t>𝑦</m:t>
                            </m:r>
                          </m:e>
                          <m:sup>
                            <m:r>
                              <a:rPr lang="en-US" altLang="zh-CN" sz="3500" i="1">
                                <a:latin typeface="Cambria Math" panose="02040503050406030204" pitchFamily="18" charset="0"/>
                                <a:ea typeface="MS Mincho" panose="02020609040205080304" charset="-128"/>
                                <a:cs typeface="Cambria Math" panose="02040503050406030204" pitchFamily="18" charset="0"/>
                              </a:rPr>
                              <m:t>2</m:t>
                            </m:r>
                          </m:sup>
                        </m:sSup>
                      </m:den>
                    </m:f>
                    <m:r>
                      <a:rPr lang="en-US" altLang="zh-CN" sz="3500" b="0" i="1" smtClean="0">
                        <a:latin typeface="Cambria Math" panose="02040503050406030204" pitchFamily="18" charset="0"/>
                        <a:ea typeface="MS Mincho" panose="02020609040205080304" charset="-128"/>
                        <a:cs typeface="Cambria Math" panose="02040503050406030204" pitchFamily="18" charset="0"/>
                      </a:rPr>
                      <m:t>=</m:t>
                    </m:r>
                    <m:r>
                      <a:rPr lang="en-US" altLang="zh-CN" sz="3500" b="0" i="1" smtClean="0">
                        <a:latin typeface="Cambria Math" panose="02040503050406030204" pitchFamily="18" charset="0"/>
                        <a:ea typeface="MS Mincho" panose="02020609040205080304" charset="-128"/>
                        <a:cs typeface="Cambria Math" panose="02040503050406030204" pitchFamily="18" charset="0"/>
                      </a:rPr>
                      <m:t>0</m:t>
                    </m:r>
                  </m:oMath>
                </a14:m>
                <a:r>
                  <a:rPr lang="zh-CN" altLang="en-US" sz="3500" dirty="0">
                    <a:latin typeface="楷体" panose="02010609060101010101" pitchFamily="49" charset="-122"/>
                    <a:ea typeface="楷体" panose="02010609060101010101" pitchFamily="49" charset="-122"/>
                    <a:cs typeface="楷体" panose="02010609060101010101" pitchFamily="49" charset="-122"/>
                  </a:rPr>
                  <a:t>，</a:t>
                </a:r>
                <a:endParaRPr lang="zh-CN" altLang="en-US" sz="35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3285490" y="2751085"/>
                <a:ext cx="3112135" cy="850265"/>
              </a:xfrm>
              <a:prstGeom prst="rect">
                <a:avLst/>
              </a:prstGeom>
              <a:blipFill rotWithShape="1">
                <a:blip r:embed="rId1"/>
                <a:stretch>
                  <a:fillRect t="-27813" b="-27900"/>
                </a:stretch>
              </a:blipFill>
            </p:spPr>
            <p:txBody>
              <a:bodyPr/>
              <a:lstStyle/>
              <a:p>
                <a:r>
                  <a:rPr lang="zh-CN" altLang="en-US">
                    <a:noFill/>
                  </a:rPr>
                  <a:t> </a:t>
                </a:r>
              </a:p>
            </p:txBody>
          </p:sp>
        </mc:Fallback>
      </mc:AlternateContent>
      <p:sp>
        <p:nvSpPr>
          <p:cNvPr id="2" name="标题 1"/>
          <p:cNvSpPr txBox="1"/>
          <p:nvPr/>
        </p:nvSpPr>
        <p:spPr>
          <a:xfrm>
            <a:off x="122036" y="676158"/>
            <a:ext cx="2475758" cy="657940"/>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000" b="1" dirty="0">
                <a:latin typeface="楷体" panose="02010609060101010101" pitchFamily="49" charset="-122"/>
                <a:ea typeface="楷体" panose="02010609060101010101" pitchFamily="49" charset="-122"/>
              </a:rPr>
              <a:t>一、调和函数</a:t>
            </a:r>
            <a:endParaRPr lang="zh-CN" altLang="en-US" sz="3000" b="1"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7" name="标题 1"/>
              <p:cNvSpPr txBox="1"/>
              <p:nvPr/>
            </p:nvSpPr>
            <p:spPr>
              <a:xfrm>
                <a:off x="207847" y="1245785"/>
                <a:ext cx="778286" cy="65794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cs typeface="Cambria Math" panose="02040503050406030204" pitchFamily="18" charset="0"/>
                        </a:rPr>
                        <m:t>𝐷𝑒𝑓</m:t>
                      </m:r>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oMath>
                  </m:oMathPara>
                </a14:m>
                <a:endParaRPr lang="en-US" altLang="zh-CN" sz="2500" b="0" i="1" dirty="0">
                  <a:latin typeface="Cambria Math" panose="02040503050406030204" pitchFamily="18" charset="0"/>
                  <a:ea typeface="MS Mincho" panose="02020609040205080304" charset="-128"/>
                  <a:cs typeface="Cambria Math" panose="02040503050406030204" pitchFamily="18" charset="0"/>
                </a:endParaRPr>
              </a:p>
            </p:txBody>
          </p:sp>
        </mc:Choice>
        <mc:Fallback>
          <p:sp>
            <p:nvSpPr>
              <p:cNvPr id="7" name="标题 1"/>
              <p:cNvSpPr txBox="1">
                <a:spLocks noRot="1" noChangeAspect="1" noMove="1" noResize="1" noEditPoints="1" noAdjustHandles="1" noChangeArrowheads="1" noChangeShapeType="1" noTextEdit="1"/>
              </p:cNvSpPr>
              <p:nvPr/>
            </p:nvSpPr>
            <p:spPr>
              <a:xfrm>
                <a:off x="207847" y="1245785"/>
                <a:ext cx="778286" cy="657940"/>
              </a:xfrm>
              <a:prstGeom prst="rect">
                <a:avLst/>
              </a:prstGeom>
              <a:blipFill rotWithShape="1">
                <a:blip r:embed="rId2"/>
                <a:stretch>
                  <a:fillRect l="-26" t="-2110" r="-6775" b="-21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097871" y="1168030"/>
                <a:ext cx="7990840" cy="15830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530" dirty="0">
                    <a:latin typeface="楷体" panose="02010609060101010101" pitchFamily="49" charset="-122"/>
                    <a:ea typeface="楷体" panose="02010609060101010101" pitchFamily="49" charset="-122"/>
                    <a:cs typeface="楷体" panose="02010609060101010101" pitchFamily="49" charset="-122"/>
                  </a:rPr>
                  <a:t>设二元实函数</a:t>
                </a:r>
                <a14:m>
                  <m:oMath xmlns:m="http://schemas.openxmlformats.org/officeDocument/2006/math">
                    <m:r>
                      <a:rPr lang="en-US" altLang="zh-CN" sz="3530" b="0" i="1" smtClean="0">
                        <a:latin typeface="Cambria Math" panose="02040503050406030204" pitchFamily="18" charset="0"/>
                        <a:ea typeface="楷体" panose="02010609060101010101" pitchFamily="49" charset="-122"/>
                        <a:cs typeface="Cambria Math" panose="02040503050406030204" pitchFamily="18" charset="0"/>
                      </a:rPr>
                      <m:t>𝐻</m:t>
                    </m:r>
                    <m:r>
                      <a:rPr lang="en-US" altLang="zh-CN" sz="3530" b="0" i="1" smtClean="0">
                        <a:latin typeface="Cambria Math" panose="02040503050406030204" pitchFamily="18" charset="0"/>
                        <a:ea typeface="MS Mincho" panose="02020609040205080304" charset="-128"/>
                        <a:cs typeface="Cambria Math" panose="02040503050406030204" pitchFamily="18" charset="0"/>
                      </a:rPr>
                      <m:t>(</m:t>
                    </m:r>
                    <m:r>
                      <a:rPr lang="en-US" altLang="zh-CN" sz="3530" b="0" i="1" smtClean="0">
                        <a:latin typeface="Cambria Math" panose="02040503050406030204" pitchFamily="18" charset="0"/>
                        <a:ea typeface="楷体" panose="02010609060101010101" pitchFamily="49" charset="-122"/>
                        <a:cs typeface="Cambria Math" panose="02040503050406030204" pitchFamily="18" charset="0"/>
                      </a:rPr>
                      <m:t>𝑥</m:t>
                    </m:r>
                    <m:r>
                      <a:rPr lang="en-US" altLang="zh-CN" sz="3530" b="0" i="1" smtClean="0">
                        <a:latin typeface="Cambria Math" panose="02040503050406030204" pitchFamily="18" charset="0"/>
                        <a:ea typeface="MS Mincho" panose="02020609040205080304" charset="-128"/>
                        <a:cs typeface="Cambria Math" panose="02040503050406030204" pitchFamily="18" charset="0"/>
                      </a:rPr>
                      <m:t>,</m:t>
                    </m:r>
                    <m:r>
                      <a:rPr lang="en-US" altLang="zh-CN" sz="3530" b="0" i="1" smtClean="0">
                        <a:latin typeface="Cambria Math" panose="02040503050406030204" pitchFamily="18" charset="0"/>
                        <a:ea typeface="楷体" panose="02010609060101010101" pitchFamily="49" charset="-122"/>
                        <a:cs typeface="Cambria Math" panose="02040503050406030204" pitchFamily="18" charset="0"/>
                      </a:rPr>
                      <m:t>𝑦</m:t>
                    </m:r>
                    <m:r>
                      <a:rPr lang="en-US" altLang="zh-CN" sz="3530" b="0" i="1" smtClean="0">
                        <a:latin typeface="Cambria Math" panose="02040503050406030204" pitchFamily="18" charset="0"/>
                        <a:ea typeface="MS Mincho" panose="02020609040205080304" charset="-128"/>
                        <a:cs typeface="Cambria Math" panose="02040503050406030204" pitchFamily="18" charset="0"/>
                      </a:rPr>
                      <m:t>)</m:t>
                    </m:r>
                  </m:oMath>
                </a14:m>
                <a:r>
                  <a:rPr lang="zh-CN" altLang="en-US" sz="3530" dirty="0">
                    <a:latin typeface="楷体" panose="02010609060101010101" pitchFamily="49" charset="-122"/>
                    <a:ea typeface="楷体" panose="02010609060101010101" pitchFamily="49" charset="-122"/>
                    <a:cs typeface="楷体" panose="02010609060101010101" pitchFamily="49" charset="-122"/>
                  </a:rPr>
                  <a:t>在平面区域</a:t>
                </a:r>
                <a14:m>
                  <m:oMath xmlns:m="http://schemas.openxmlformats.org/officeDocument/2006/math">
                    <m:r>
                      <a:rPr lang="en-US" altLang="zh-CN" sz="3530" i="1">
                        <a:latin typeface="Cambria Math" panose="02040503050406030204" pitchFamily="18" charset="0"/>
                        <a:ea typeface="楷体" panose="02010609060101010101" pitchFamily="49" charset="-122"/>
                        <a:cs typeface="Cambria Math" panose="02040503050406030204" pitchFamily="18" charset="0"/>
                      </a:rPr>
                      <m:t>𝐷</m:t>
                    </m:r>
                  </m:oMath>
                </a14:m>
                <a:r>
                  <a:rPr lang="zh-CN" altLang="en-US" sz="3530" dirty="0">
                    <a:latin typeface="楷体" panose="02010609060101010101" pitchFamily="49" charset="-122"/>
                    <a:ea typeface="楷体" panose="02010609060101010101" pitchFamily="49" charset="-122"/>
                    <a:cs typeface="楷体" panose="02010609060101010101" pitchFamily="49" charset="-122"/>
                  </a:rPr>
                  <a:t>内有二阶连续的偏导数，且满足</a:t>
                </a:r>
                <a14:m>
                  <m:oMath xmlns:m="http://schemas.openxmlformats.org/officeDocument/2006/math">
                    <m:r>
                      <a:rPr lang="en-US" altLang="zh-CN" sz="3525" b="0" i="1" smtClean="0">
                        <a:latin typeface="Cambria Math" panose="02040503050406030204" pitchFamily="18" charset="0"/>
                        <a:ea typeface="楷体" panose="02010609060101010101" pitchFamily="49" charset="-122"/>
                        <a:cs typeface="Cambria Math" panose="02040503050406030204" pitchFamily="18" charset="0"/>
                      </a:rPr>
                      <m:t>𝐿𝑎𝑝𝑙𝑎𝑐𝑒</m:t>
                    </m:r>
                  </m:oMath>
                </a14:m>
                <a:r>
                  <a:rPr lang="zh-CN" altLang="en-US" sz="3525" dirty="0">
                    <a:latin typeface="Cambria Math" panose="02040503050406030204" pitchFamily="18" charset="0"/>
                    <a:ea typeface="楷体" panose="02010609060101010101" pitchFamily="49" charset="-122"/>
                    <a:cs typeface="Cambria Math" panose="02040503050406030204" pitchFamily="18" charset="0"/>
                  </a:rPr>
                  <a:t>方程</a:t>
                </a:r>
                <a:endParaRPr lang="zh-CN" altLang="en-US" sz="3525"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097871" y="1168030"/>
                <a:ext cx="7990840" cy="1583055"/>
              </a:xfrm>
              <a:prstGeom prst="rect">
                <a:avLst/>
              </a:prstGeom>
              <a:blipFill rotWithShape="1">
                <a:blip r:embed="rId3"/>
                <a:stretch>
                  <a:fillRect l="-7" t="-939" r="7" b="-9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1097871" y="3429000"/>
                <a:ext cx="7959090" cy="22980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620" dirty="0">
                    <a:latin typeface="楷体" panose="02010609060101010101" pitchFamily="49" charset="-122"/>
                    <a:ea typeface="楷体" panose="02010609060101010101" pitchFamily="49" charset="-122"/>
                    <a:cs typeface="楷体" panose="02010609060101010101" pitchFamily="49" charset="-122"/>
                    <a:sym typeface="+mn-ea"/>
                  </a:rPr>
                  <a:t>称其为</a:t>
                </a:r>
                <a14:m>
                  <m:oMath xmlns:m="http://schemas.openxmlformats.org/officeDocument/2006/math">
                    <m:r>
                      <a:rPr lang="en-US" altLang="zh-CN" sz="3620" i="1">
                        <a:latin typeface="Cambria Math" panose="02040503050406030204" pitchFamily="18" charset="0"/>
                        <a:ea typeface="楷体" panose="02010609060101010101" pitchFamily="49" charset="-122"/>
                        <a:cs typeface="Cambria Math" panose="02040503050406030204" pitchFamily="18" charset="0"/>
                      </a:rPr>
                      <m:t>𝐷</m:t>
                    </m:r>
                    <m:r>
                      <m:rPr>
                        <m:nor/>
                      </m:rPr>
                      <a:rPr lang="zh-CN" altLang="en-US" sz="3620" dirty="0">
                        <a:latin typeface="楷体" panose="02010609060101010101" pitchFamily="49" charset="-122"/>
                        <a:ea typeface="楷体" panose="02010609060101010101" pitchFamily="49" charset="-122"/>
                        <a:cs typeface="楷体" panose="02010609060101010101" pitchFamily="49" charset="-122"/>
                        <a:sym typeface="+mn-ea"/>
                      </a:rPr>
                      <m:t>内</m:t>
                    </m:r>
                    <m:r>
                      <a:rPr lang="zh-CN" altLang="en-US" sz="3620" dirty="0">
                        <a:latin typeface="Cambria Math" panose="02040503050406030204" pitchFamily="18" charset="0"/>
                        <a:ea typeface="楷体" panose="02010609060101010101" pitchFamily="49" charset="-122"/>
                        <a:cs typeface="楷体" panose="02010609060101010101" pitchFamily="49" charset="-122"/>
                        <a:sym typeface="+mn-ea"/>
                      </a:rPr>
                      <m:t>的</m:t>
                    </m:r>
                    <m:r>
                      <a:rPr lang="zh-CN" altLang="en-US" sz="3620" dirty="0">
                        <a:solidFill>
                          <a:srgbClr val="FF0000"/>
                        </a:solidFill>
                        <a:latin typeface="Cambria Math" panose="02040503050406030204" pitchFamily="18" charset="0"/>
                        <a:ea typeface="楷体" panose="02010609060101010101" pitchFamily="49" charset="-122"/>
                        <a:cs typeface="楷体" panose="02010609060101010101" pitchFamily="49" charset="-122"/>
                        <a:sym typeface="+mn-ea"/>
                      </a:rPr>
                      <m:t>调和函数</m:t>
                    </m:r>
                    <m:r>
                      <a:rPr lang="en-US" altLang="zh-CN" sz="3620" dirty="0">
                        <a:solidFill>
                          <a:srgbClr val="FF0000"/>
                        </a:solidFill>
                        <a:latin typeface="Cambria Math" panose="02040503050406030204" pitchFamily="18" charset="0"/>
                        <a:ea typeface="楷体" panose="02010609060101010101" pitchFamily="49" charset="-122"/>
                        <a:cs typeface="楷体" panose="02010609060101010101" pitchFamily="49" charset="-122"/>
                        <a:sym typeface="+mn-ea"/>
                      </a:rPr>
                      <m:t>，</m:t>
                    </m:r>
                    <m:r>
                      <a:rPr lang="en-US" altLang="zh-CN" sz="3620" i="1" smtClean="0">
                        <a:solidFill>
                          <a:srgbClr val="FF0000"/>
                        </a:solidFill>
                        <a:latin typeface="Cambria Math" panose="02040503050406030204" pitchFamily="18" charset="0"/>
                        <a:ea typeface="MS Mincho" panose="02020609040205080304" charset="-128"/>
                        <a:cs typeface="Cambria Math" panose="02040503050406030204" pitchFamily="18" charset="0"/>
                      </a:rPr>
                      <m:t>∆</m:t>
                    </m:r>
                    <m:r>
                      <a:rPr lang="en-US" altLang="zh-CN" sz="3620" i="1">
                        <a:solidFill>
                          <a:srgbClr val="FF0000"/>
                        </a:solidFill>
                        <a:latin typeface="Cambria Math" panose="02040503050406030204" pitchFamily="18" charset="0"/>
                        <a:ea typeface="MS Mincho" panose="02020609040205080304" charset="-128"/>
                        <a:cs typeface="Cambria Math" panose="02040503050406030204" pitchFamily="18" charset="0"/>
                      </a:rPr>
                      <m:t>=</m:t>
                    </m:r>
                    <m:f>
                      <m:fPr>
                        <m:ctrlP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sSupPr>
                          <m:e>
                            <m:r>
                              <a:rPr lang="zh-CN" altLang="en-US" sz="3620" i="1">
                                <a:solidFill>
                                  <a:srgbClr val="FF0000"/>
                                </a:solidFill>
                                <a:latin typeface="Cambria Math" panose="02040503050406030204" pitchFamily="18" charset="0"/>
                                <a:ea typeface="MS Mincho" panose="02020609040205080304" charset="-128"/>
                                <a:cs typeface="Cambria Math" panose="02040503050406030204" pitchFamily="18" charset="0"/>
                              </a:rPr>
                              <m:t>𝜕</m:t>
                            </m:r>
                          </m:e>
                          <m:sup>
                            <m:r>
                              <a:rPr lang="en-US" altLang="zh-CN" sz="3620" i="1">
                                <a:solidFill>
                                  <a:srgbClr val="FF0000"/>
                                </a:solidFill>
                                <a:latin typeface="Cambria Math" panose="02040503050406030204" pitchFamily="18" charset="0"/>
                                <a:ea typeface="MS Mincho" panose="02020609040205080304" charset="-128"/>
                                <a:cs typeface="Cambria Math" panose="02040503050406030204" pitchFamily="18" charset="0"/>
                              </a:rPr>
                              <m:t>2</m:t>
                            </m:r>
                          </m:sup>
                        </m:sSup>
                      </m:num>
                      <m:den>
                        <m:r>
                          <a:rPr lang="zh-CN" altLang="en-US" sz="3620" i="1">
                            <a:solidFill>
                              <a:srgbClr val="FF0000"/>
                            </a:solidFill>
                            <a:latin typeface="Cambria Math" panose="02040503050406030204" pitchFamily="18" charset="0"/>
                            <a:ea typeface="MS Mincho" panose="02020609040205080304" charset="-128"/>
                            <a:cs typeface="Cambria Math" panose="02040503050406030204" pitchFamily="18" charset="0"/>
                          </a:rPr>
                          <m:t>𝜕</m:t>
                        </m:r>
                        <m:sSup>
                          <m:sSupPr>
                            <m:ctrlP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t>𝑥</m:t>
                            </m:r>
                          </m:e>
                          <m:sup>
                            <m:r>
                              <a:rPr lang="en-US" altLang="zh-CN" sz="3620" i="1">
                                <a:solidFill>
                                  <a:srgbClr val="FF0000"/>
                                </a:solidFill>
                                <a:latin typeface="Cambria Math" panose="02040503050406030204" pitchFamily="18" charset="0"/>
                                <a:ea typeface="MS Mincho" panose="02020609040205080304" charset="-128"/>
                                <a:cs typeface="Cambria Math" panose="02040503050406030204" pitchFamily="18" charset="0"/>
                              </a:rPr>
                              <m:t>2</m:t>
                            </m:r>
                          </m:sup>
                        </m:sSup>
                      </m:den>
                    </m:f>
                    <m:r>
                      <a:rPr lang="en-US" altLang="zh-CN" sz="3620" i="1">
                        <a:solidFill>
                          <a:srgbClr val="FF0000"/>
                        </a:solidFill>
                        <a:latin typeface="Cambria Math" panose="02040503050406030204" pitchFamily="18" charset="0"/>
                        <a:ea typeface="MS Mincho" panose="02020609040205080304" charset="-128"/>
                        <a:cs typeface="Cambria Math" panose="02040503050406030204" pitchFamily="18" charset="0"/>
                      </a:rPr>
                      <m:t>+</m:t>
                    </m:r>
                    <m:f>
                      <m:fPr>
                        <m:ctrlP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sSupPr>
                          <m:e>
                            <m:r>
                              <a:rPr lang="zh-CN" altLang="en-US" sz="3620" i="1">
                                <a:solidFill>
                                  <a:srgbClr val="FF0000"/>
                                </a:solidFill>
                                <a:latin typeface="Cambria Math" panose="02040503050406030204" pitchFamily="18" charset="0"/>
                                <a:ea typeface="MS Mincho" panose="02020609040205080304" charset="-128"/>
                                <a:cs typeface="Cambria Math" panose="02040503050406030204" pitchFamily="18" charset="0"/>
                              </a:rPr>
                              <m:t>𝜕</m:t>
                            </m:r>
                          </m:e>
                          <m:sup>
                            <m:r>
                              <a:rPr lang="en-US" altLang="zh-CN" sz="3620" i="1">
                                <a:solidFill>
                                  <a:srgbClr val="FF0000"/>
                                </a:solidFill>
                                <a:latin typeface="Cambria Math" panose="02040503050406030204" pitchFamily="18" charset="0"/>
                                <a:ea typeface="MS Mincho" panose="02020609040205080304" charset="-128"/>
                                <a:cs typeface="Cambria Math" panose="02040503050406030204" pitchFamily="18" charset="0"/>
                              </a:rPr>
                              <m:t>2</m:t>
                            </m:r>
                          </m:sup>
                        </m:sSup>
                      </m:num>
                      <m:den>
                        <m:r>
                          <a:rPr lang="zh-CN" altLang="en-US" sz="3620" i="1">
                            <a:solidFill>
                              <a:srgbClr val="FF0000"/>
                            </a:solidFill>
                            <a:latin typeface="Cambria Math" panose="02040503050406030204" pitchFamily="18" charset="0"/>
                            <a:ea typeface="MS Mincho" panose="02020609040205080304" charset="-128"/>
                            <a:cs typeface="Cambria Math" panose="02040503050406030204" pitchFamily="18" charset="0"/>
                          </a:rPr>
                          <m:t>𝜕</m:t>
                        </m:r>
                        <m:sSup>
                          <m:sSupPr>
                            <m:ctrlP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t>𝑦</m:t>
                            </m:r>
                          </m:e>
                          <m:sup>
                            <m:r>
                              <a:rPr lang="en-US" altLang="zh-CN" sz="3620" i="1">
                                <a:solidFill>
                                  <a:srgbClr val="FF0000"/>
                                </a:solidFill>
                                <a:latin typeface="Cambria Math" panose="02040503050406030204" pitchFamily="18" charset="0"/>
                                <a:ea typeface="MS Mincho" panose="02020609040205080304" charset="-128"/>
                                <a:cs typeface="Cambria Math" panose="02040503050406030204" pitchFamily="18" charset="0"/>
                              </a:rPr>
                              <m:t>2</m:t>
                            </m:r>
                          </m:sup>
                        </m:sSup>
                      </m:den>
                    </m:f>
                    <m:r>
                      <m:rPr>
                        <m:nor/>
                      </m:rPr>
                      <a:rPr lang="zh-CN" altLang="en-US" sz="3620" dirty="0">
                        <a:solidFill>
                          <a:srgbClr val="FF0000"/>
                        </a:solidFill>
                        <a:latin typeface="楷体" panose="02010609060101010101" pitchFamily="49" charset="-122"/>
                        <a:ea typeface="楷体" panose="02010609060101010101" pitchFamily="49" charset="-122"/>
                        <a:cs typeface="楷体" panose="02010609060101010101" pitchFamily="49" charset="-122"/>
                      </a:rPr>
                      <m:t>为</m:t>
                    </m:r>
                    <m:r>
                      <a:rPr lang="en-US" altLang="zh-CN" sz="3620" i="1">
                        <a:solidFill>
                          <a:srgbClr val="FF0000"/>
                        </a:solidFill>
                        <a:latin typeface="Cambria Math" panose="02040503050406030204" pitchFamily="18" charset="0"/>
                        <a:ea typeface="楷体" panose="02010609060101010101" pitchFamily="49" charset="-122"/>
                        <a:cs typeface="Cambria Math" panose="02040503050406030204" pitchFamily="18" charset="0"/>
                      </a:rPr>
                      <m:t>𝐿𝑎𝑝𝑙𝑎𝑐</m:t>
                    </m:r>
                  </m:oMath>
                </a14:m>
                <a:r>
                  <a:rPr lang="zh-CN" altLang="en-US" sz="3620" dirty="0">
                    <a:solidFill>
                      <a:srgbClr val="FF0000"/>
                    </a:solidFill>
                    <a:latin typeface="楷体" panose="02010609060101010101" pitchFamily="49" charset="-122"/>
                    <a:ea typeface="楷体" panose="02010609060101010101" pitchFamily="49" charset="-122"/>
                    <a:cs typeface="楷体" panose="02010609060101010101" pitchFamily="49" charset="-122"/>
                  </a:rPr>
                  <a:t>算子</a:t>
                </a:r>
                <a:r>
                  <a:rPr lang="zh-CN" altLang="en-US" sz="3620" dirty="0">
                    <a:latin typeface="楷体" panose="02010609060101010101" pitchFamily="49" charset="-122"/>
                    <a:ea typeface="楷体" panose="02010609060101010101" pitchFamily="49" charset="-122"/>
                    <a:cs typeface="楷体" panose="02010609060101010101" pitchFamily="49" charset="-122"/>
                  </a:rPr>
                  <a:t>。</a:t>
                </a:r>
                <a:endParaRPr lang="en-US" altLang="zh-CN" sz="362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1097871" y="3429000"/>
                <a:ext cx="7959090" cy="2298065"/>
              </a:xfrm>
              <a:prstGeom prst="rect">
                <a:avLst/>
              </a:prstGeom>
              <a:blipFill rotWithShape="1">
                <a:blip r:embed="rId4"/>
                <a:stretch>
                  <a:fillRect l="-7" r="7"/>
                </a:stretch>
              </a:blipFill>
            </p:spPr>
            <p:txBody>
              <a:bodyPr/>
              <a:lstStyle/>
              <a:p>
                <a:r>
                  <a:rPr lang="zh-CN" altLang="en-US">
                    <a:noFill/>
                  </a:rPr>
                  <a:t> </a:t>
                </a:r>
              </a:p>
            </p:txBody>
          </p:sp>
        </mc:Fallback>
      </mc:AlternateContent>
      <p:grpSp>
        <p:nvGrpSpPr>
          <p:cNvPr id="6" name="组合 5"/>
          <p:cNvGrpSpPr/>
          <p:nvPr/>
        </p:nvGrpSpPr>
        <p:grpSpPr>
          <a:xfrm>
            <a:off x="0" y="82323"/>
            <a:ext cx="9088711" cy="516645"/>
            <a:chOff x="0" y="82323"/>
            <a:chExt cx="9088711" cy="516645"/>
          </a:xfrm>
        </p:grpSpPr>
        <p:sp>
          <p:nvSpPr>
            <p:cNvPr id="11"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2" name="直接连接符 11"/>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标题 1"/>
              <p:cNvSpPr txBox="1"/>
              <p:nvPr/>
            </p:nvSpPr>
            <p:spPr>
              <a:xfrm>
                <a:off x="122036" y="449279"/>
                <a:ext cx="8714740" cy="8502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cs typeface="Cambria Math" panose="02040503050406030204" pitchFamily="18" charset="0"/>
                      </a:rPr>
                      <m:t>𝐸𝑔</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oMath>
                </a14:m>
                <a:r>
                  <a:rPr lang="zh-CN" altLang="en-US" sz="3000" dirty="0">
                    <a:latin typeface="楷体" panose="02010609060101010101" pitchFamily="49" charset="-122"/>
                    <a:ea typeface="楷体" panose="02010609060101010101" pitchFamily="49" charset="-122"/>
                    <a:cs typeface="楷体" panose="02010609060101010101" pitchFamily="49" charset="-122"/>
                  </a:rPr>
                  <a:t>验证</a:t>
                </a:r>
                <a14:m>
                  <m:oMath xmlns:m="http://schemas.openxmlformats.org/officeDocument/2006/math">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𝑢</m:t>
                    </m:r>
                    <m:d>
                      <m:d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d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𝑥</m:t>
                        </m:r>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𝑦</m:t>
                        </m:r>
                      </m:e>
                    </m:d>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sSup>
                      <m:sSup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𝑥</m:t>
                        </m:r>
                      </m:e>
                      <m:sup>
                        <m:r>
                          <a:rPr lang="en-US" altLang="zh-CN" sz="3000" b="0" i="1" smtClean="0">
                            <a:latin typeface="Cambria Math" panose="02040503050406030204" pitchFamily="18" charset="0"/>
                            <a:ea typeface="MS Mincho" panose="02020609040205080304" charset="-128"/>
                            <a:cs typeface="Cambria Math" panose="02040503050406030204" pitchFamily="18" charset="0"/>
                          </a:rPr>
                          <m:t>3</m:t>
                        </m:r>
                      </m:sup>
                    </m:sSup>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3</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𝑥</m:t>
                    </m:r>
                    <m:sSup>
                      <m:sSup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𝑦</m:t>
                        </m:r>
                      </m:e>
                      <m:sup>
                        <m:r>
                          <a:rPr lang="en-US" altLang="zh-CN" sz="3000" b="0" i="1" smtClean="0">
                            <a:latin typeface="Cambria Math" panose="02040503050406030204" pitchFamily="18" charset="0"/>
                            <a:ea typeface="MS Mincho" panose="02020609040205080304" charset="-128"/>
                            <a:cs typeface="Cambria Math" panose="02040503050406030204" pitchFamily="18" charset="0"/>
                          </a:rPr>
                          <m:t>2</m:t>
                        </m:r>
                      </m:sup>
                    </m:sSup>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9</m:t>
                    </m:r>
                  </m:oMath>
                </a14:m>
                <a:r>
                  <a:rPr lang="zh-CN" altLang="en-US" sz="3000" dirty="0">
                    <a:latin typeface="楷体" panose="02010609060101010101" pitchFamily="49" charset="-122"/>
                    <a:ea typeface="楷体" panose="02010609060101010101" pitchFamily="49" charset="-122"/>
                    <a:cs typeface="楷体" panose="02010609060101010101" pitchFamily="49" charset="-122"/>
                  </a:rPr>
                  <a:t>是调和函数</a:t>
                </a:r>
                <a:r>
                  <a:rPr lang="en-US" altLang="zh-CN" sz="3000" dirty="0">
                    <a:latin typeface="楷体" panose="02010609060101010101" pitchFamily="49" charset="-122"/>
                    <a:ea typeface="楷体" panose="02010609060101010101" pitchFamily="49" charset="-122"/>
                    <a:cs typeface="楷体" panose="02010609060101010101" pitchFamily="49" charset="-122"/>
                  </a:rPr>
                  <a:t>.</a:t>
                </a:r>
                <a:endParaRPr lang="en-US" altLang="zh-CN" sz="30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22036" y="449279"/>
                <a:ext cx="8714740" cy="850265"/>
              </a:xfrm>
              <a:prstGeom prst="rect">
                <a:avLst/>
              </a:prstGeom>
              <a:blipFill rotWithShape="1">
                <a:blip r:embed="rId1"/>
                <a:stretch>
                  <a:fillRect l="-1" t="-39" r="1" b="39"/>
                </a:stretch>
              </a:blipFill>
            </p:spPr>
            <p:txBody>
              <a:bodyPr/>
              <a:lstStyle/>
              <a:p>
                <a:r>
                  <a:rPr lang="zh-CN" altLang="en-US">
                    <a:noFill/>
                  </a:rPr>
                  <a:t> </a:t>
                </a:r>
              </a:p>
            </p:txBody>
          </p:sp>
        </mc:Fallback>
      </mc:AlternateContent>
      <p:grpSp>
        <p:nvGrpSpPr>
          <p:cNvPr id="7" name="组合 6"/>
          <p:cNvGrpSpPr/>
          <p:nvPr/>
        </p:nvGrpSpPr>
        <p:grpSpPr>
          <a:xfrm>
            <a:off x="0" y="82323"/>
            <a:ext cx="9088711" cy="516645"/>
            <a:chOff x="0" y="82323"/>
            <a:chExt cx="9088711" cy="516645"/>
          </a:xfrm>
        </p:grpSpPr>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122036" y="1417432"/>
                <a:ext cx="6168073" cy="8502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𝑝𝑓</m:t>
                      </m:r>
                      <m:r>
                        <a:rPr lang="en-US" altLang="zh-CN" sz="3000" i="1">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smtClean="0">
                              <a:latin typeface="Cambria Math" panose="02040503050406030204" pitchFamily="18" charset="0"/>
                              <a:ea typeface="楷体" panose="02010609060101010101" pitchFamily="49" charset="-122"/>
                              <a:cs typeface="Cambria Math" panose="02040503050406030204" pitchFamily="18" charset="0"/>
                            </a:rPr>
                          </m:ctrlPr>
                        </m:fPr>
                        <m:num>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𝑢</m:t>
                          </m:r>
                        </m:num>
                        <m:den>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𝑥</m:t>
                          </m:r>
                        </m:den>
                      </m:f>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3</m:t>
                      </m:r>
                      <m:sSup>
                        <m:sSup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𝑥</m:t>
                          </m:r>
                        </m:e>
                        <m: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2</m:t>
                          </m:r>
                        </m:sup>
                      </m:sSup>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3</m:t>
                      </m:r>
                      <m:sSup>
                        <m:sSupPr>
                          <m:ctrlP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𝑦</m:t>
                          </m:r>
                        </m:e>
                        <m:sup>
                          <m:r>
                            <a:rPr lang="en-US" altLang="zh-CN" sz="3000" b="0" i="1" smtClean="0">
                              <a:latin typeface="Cambria Math" panose="02040503050406030204" pitchFamily="18" charset="0"/>
                              <a:ea typeface="MS Mincho" panose="02020609040205080304" charset="-128"/>
                              <a:cs typeface="Cambria Math" panose="02040503050406030204" pitchFamily="18" charset="0"/>
                            </a:rPr>
                            <m:t>2</m:t>
                          </m:r>
                        </m:sup>
                      </m:sSup>
                      <m:r>
                        <a:rPr lang="en-US" altLang="zh-CN" sz="3000" b="0" i="1" smtClean="0">
                          <a:latin typeface="Cambria Math" panose="02040503050406030204" pitchFamily="18" charset="0"/>
                          <a:ea typeface="MS Mincho" panose="02020609040205080304" charset="-128"/>
                          <a:cs typeface="Cambria Math" panose="02040503050406030204" pitchFamily="18" charset="0"/>
                        </a:rPr>
                        <m:t>,   </m:t>
                      </m:r>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i="1">
                              <a:latin typeface="Cambria Math" panose="02040503050406030204" pitchFamily="18" charset="0"/>
                              <a:ea typeface="楷体" panose="02010609060101010101" pitchFamily="49" charset="-122"/>
                              <a:cs typeface="Cambria Math" panose="02040503050406030204" pitchFamily="18" charset="0"/>
                            </a:rPr>
                            <m:t>𝑢</m:t>
                          </m:r>
                        </m:num>
                        <m:den>
                          <m:r>
                            <a:rPr lang="en-US" altLang="zh-CN" sz="3000" i="1">
                              <a:latin typeface="Cambria Math" panose="02040503050406030204" pitchFamily="18" charset="0"/>
                              <a:ea typeface="楷体" panose="02010609060101010101" pitchFamily="49" charset="-122"/>
                              <a:cs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𝑦</m:t>
                          </m:r>
                        </m:den>
                      </m:f>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6</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𝑥𝑦</m:t>
                      </m:r>
                    </m:oMath>
                  </m:oMathPara>
                </a14:m>
                <a:endParaRPr lang="en-US" altLang="zh-CN" sz="30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22036" y="1417432"/>
                <a:ext cx="6168073" cy="850265"/>
              </a:xfrm>
              <a:prstGeom prst="rect">
                <a:avLst/>
              </a:prstGeom>
              <a:blipFill rotWithShape="1">
                <a:blip r:embed="rId2"/>
                <a:stretch>
                  <a:fillRect l="-2" t="-32874" r="7" b="-329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558382" y="2652674"/>
                <a:ext cx="5621037" cy="8502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f>
                        <m:fPr>
                          <m:ctrlPr>
                            <a:rPr lang="en-US" altLang="zh-CN" sz="3000" i="1" smtClean="0">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000" i="1" smtClean="0">
                                  <a:latin typeface="Cambria Math" panose="02040503050406030204" pitchFamily="18" charset="0"/>
                                  <a:ea typeface="楷体" panose="02010609060101010101" pitchFamily="49" charset="-122"/>
                                </a:rPr>
                              </m:ctrlPr>
                            </m:sSupPr>
                            <m:e>
                              <m:r>
                                <a:rPr lang="zh-CN" altLang="en-US" sz="300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𝑢</m:t>
                          </m:r>
                        </m:num>
                        <m:den>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𝑥</m:t>
                              </m:r>
                            </m:e>
                            <m:sup>
                              <m:r>
                                <a:rPr lang="en-US" altLang="zh-CN" sz="3000" b="0" i="1" smtClean="0">
                                  <a:latin typeface="Cambria Math" panose="02040503050406030204" pitchFamily="18" charset="0"/>
                                  <a:ea typeface="楷体" panose="02010609060101010101" pitchFamily="49" charset="-122"/>
                                </a:rPr>
                                <m:t>2</m:t>
                              </m:r>
                            </m:sup>
                          </m:sSup>
                        </m:den>
                      </m:f>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6</m:t>
                      </m:r>
                      <m:r>
                        <a:rPr lang="en-US" altLang="zh-CN" sz="3000" b="0" i="1" smtClean="0">
                          <a:latin typeface="Cambria Math" panose="02040503050406030204" pitchFamily="18" charset="0"/>
                          <a:ea typeface="MS Mincho" panose="02020609040205080304" charset="-128"/>
                          <a:cs typeface="Cambria Math" panose="02040503050406030204" pitchFamily="18" charset="0"/>
                        </a:rPr>
                        <m:t>𝑥</m:t>
                      </m:r>
                      <m:r>
                        <a:rPr lang="en-US" altLang="zh-CN" sz="3000" b="0" i="1" smtClean="0">
                          <a:latin typeface="Cambria Math" panose="02040503050406030204" pitchFamily="18" charset="0"/>
                          <a:ea typeface="MS Mincho" panose="02020609040205080304" charset="-128"/>
                          <a:cs typeface="Cambria Math" panose="02040503050406030204" pitchFamily="18" charset="0"/>
                        </a:rPr>
                        <m:t>,               </m:t>
                      </m:r>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000" i="1">
                                  <a:latin typeface="Cambria Math" panose="02040503050406030204" pitchFamily="18" charset="0"/>
                                  <a:ea typeface="楷体" panose="02010609060101010101" pitchFamily="49" charset="-122"/>
                                </a:rPr>
                              </m:ctrlPr>
                            </m:sSupPr>
                            <m:e>
                              <m:r>
                                <a:rPr lang="zh-CN" altLang="en-US"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2</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𝑢</m:t>
                          </m:r>
                        </m:num>
                        <m:den>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𝑦</m:t>
                              </m:r>
                            </m:e>
                            <m:sup>
                              <m:r>
                                <a:rPr lang="en-US" altLang="zh-CN" sz="3000" i="1">
                                  <a:latin typeface="Cambria Math" panose="02040503050406030204" pitchFamily="18" charset="0"/>
                                  <a:ea typeface="楷体" panose="02010609060101010101" pitchFamily="49" charset="-122"/>
                                </a:rPr>
                                <m:t>2</m:t>
                              </m:r>
                            </m:sup>
                          </m:sSup>
                        </m:den>
                      </m:f>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6</m:t>
                      </m:r>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𝑥</m:t>
                      </m:r>
                    </m:oMath>
                  </m:oMathPara>
                </a14:m>
                <a:endParaRPr lang="en-US" altLang="zh-CN" sz="30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558382" y="2652674"/>
                <a:ext cx="5621037" cy="850265"/>
              </a:xfrm>
              <a:prstGeom prst="rect">
                <a:avLst/>
              </a:prstGeom>
              <a:blipFill rotWithShape="1">
                <a:blip r:embed="rId3"/>
                <a:stretch>
                  <a:fillRect l="-4" t="-37523" r="4" b="-375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558382" y="4017857"/>
                <a:ext cx="2786398" cy="8502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f>
                        <m:fPr>
                          <m:ctrlPr>
                            <a:rPr lang="en-US" altLang="zh-CN" sz="3000" i="1" smtClean="0">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000" i="1" smtClean="0">
                                  <a:latin typeface="Cambria Math" panose="02040503050406030204" pitchFamily="18" charset="0"/>
                                  <a:ea typeface="楷体" panose="02010609060101010101" pitchFamily="49" charset="-122"/>
                                </a:rPr>
                              </m:ctrlPr>
                            </m:sSupPr>
                            <m:e>
                              <m:r>
                                <a:rPr lang="zh-CN" altLang="en-US" sz="3000" i="1" smtClean="0">
                                  <a:latin typeface="Cambria Math" panose="02040503050406030204" pitchFamily="18" charset="0"/>
                                  <a:ea typeface="楷体" panose="02010609060101010101" pitchFamily="49" charset="-122"/>
                                </a:rPr>
                                <m:t>𝜕</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𝑢</m:t>
                          </m:r>
                        </m:num>
                        <m:den>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𝑥</m:t>
                              </m:r>
                            </m:e>
                            <m:sup>
                              <m:r>
                                <a:rPr lang="en-US" altLang="zh-CN" sz="3000" b="0" i="1" smtClean="0">
                                  <a:latin typeface="Cambria Math" panose="02040503050406030204" pitchFamily="18" charset="0"/>
                                  <a:ea typeface="楷体" panose="02010609060101010101" pitchFamily="49" charset="-122"/>
                                </a:rPr>
                                <m:t>2</m:t>
                              </m:r>
                            </m:sup>
                          </m:sSup>
                        </m:den>
                      </m:f>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m:t>
                      </m:r>
                      <m:f>
                        <m:fPr>
                          <m:ctrlPr>
                            <a:rPr lang="en-US" altLang="zh-CN" sz="3000" i="1">
                              <a:latin typeface="Cambria Math" panose="02040503050406030204" pitchFamily="18" charset="0"/>
                              <a:ea typeface="楷体" panose="02010609060101010101" pitchFamily="49" charset="-122"/>
                              <a:cs typeface="Cambria Math" panose="02040503050406030204" pitchFamily="18" charset="0"/>
                            </a:rPr>
                          </m:ctrlPr>
                        </m:fPr>
                        <m:num>
                          <m:sSup>
                            <m:sSupPr>
                              <m:ctrlPr>
                                <a:rPr lang="en-US" altLang="zh-CN" sz="3000" i="1">
                                  <a:latin typeface="Cambria Math" panose="02040503050406030204" pitchFamily="18" charset="0"/>
                                  <a:ea typeface="楷体" panose="02010609060101010101" pitchFamily="49" charset="-122"/>
                                </a:rPr>
                              </m:ctrlPr>
                            </m:sSupPr>
                            <m:e>
                              <m:r>
                                <a:rPr lang="zh-CN" altLang="en-US" sz="3000" i="1">
                                  <a:latin typeface="Cambria Math" panose="02040503050406030204" pitchFamily="18" charset="0"/>
                                  <a:ea typeface="楷体" panose="02010609060101010101" pitchFamily="49" charset="-122"/>
                                </a:rPr>
                                <m:t>𝜕</m:t>
                              </m:r>
                            </m:e>
                            <m:sup>
                              <m:r>
                                <a:rPr lang="en-US" altLang="zh-CN" sz="3000" i="1">
                                  <a:latin typeface="Cambria Math" panose="02040503050406030204" pitchFamily="18" charset="0"/>
                                  <a:ea typeface="楷体" panose="02010609060101010101" pitchFamily="49" charset="-122"/>
                                </a:rPr>
                                <m:t>2</m:t>
                              </m:r>
                            </m:sup>
                          </m:sSup>
                          <m:r>
                            <a:rPr lang="en-US" altLang="zh-CN" sz="3000" i="1">
                              <a:latin typeface="Cambria Math" panose="02040503050406030204" pitchFamily="18" charset="0"/>
                              <a:ea typeface="楷体" panose="02010609060101010101" pitchFamily="49" charset="-122"/>
                              <a:cs typeface="Cambria Math" panose="02040503050406030204" pitchFamily="18" charset="0"/>
                            </a:rPr>
                            <m:t>𝑢</m:t>
                          </m:r>
                        </m:num>
                        <m:den>
                          <m:r>
                            <a:rPr lang="en-US" altLang="zh-CN" sz="3000" i="1">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𝑦</m:t>
                              </m:r>
                            </m:e>
                            <m:sup>
                              <m:r>
                                <a:rPr lang="en-US" altLang="zh-CN" sz="3000" i="1">
                                  <a:latin typeface="Cambria Math" panose="02040503050406030204" pitchFamily="18" charset="0"/>
                                  <a:ea typeface="楷体" panose="02010609060101010101" pitchFamily="49" charset="-122"/>
                                </a:rPr>
                                <m:t>2</m:t>
                              </m:r>
                            </m:sup>
                          </m:sSup>
                        </m:den>
                      </m:f>
                      <m:r>
                        <a:rPr lang="en-US" altLang="zh-CN" sz="3000" i="1">
                          <a:latin typeface="Cambria Math" panose="02040503050406030204" pitchFamily="18" charset="0"/>
                          <a:ea typeface="MS Mincho" panose="02020609040205080304" charset="-128"/>
                          <a:cs typeface="Cambria Math" panose="02040503050406030204" pitchFamily="18" charset="0"/>
                        </a:rPr>
                        <m:t>=</m:t>
                      </m:r>
                      <m:r>
                        <a:rPr lang="en-US" altLang="zh-CN" sz="3000" b="0" i="1" smtClean="0">
                          <a:latin typeface="Cambria Math" panose="02040503050406030204" pitchFamily="18" charset="0"/>
                          <a:ea typeface="MS Mincho" panose="02020609040205080304" charset="-128"/>
                          <a:cs typeface="Cambria Math" panose="02040503050406030204" pitchFamily="18" charset="0"/>
                        </a:rPr>
                        <m:t>0</m:t>
                      </m:r>
                    </m:oMath>
                  </m:oMathPara>
                </a14:m>
                <a:endParaRPr lang="en-US" altLang="zh-CN" sz="30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558382" y="4017857"/>
                <a:ext cx="2786398" cy="850265"/>
              </a:xfrm>
              <a:prstGeom prst="rect">
                <a:avLst/>
              </a:prstGeom>
              <a:blipFill rotWithShape="1">
                <a:blip r:embed="rId4"/>
                <a:stretch>
                  <a:fillRect l="-8" t="-37516" r="8" b="-375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619342" y="5315663"/>
                <a:ext cx="2786398" cy="8502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cs typeface="Cambria Math" panose="02040503050406030204" pitchFamily="18" charset="0"/>
                      </a:rPr>
                      <m:t>𝑢</m:t>
                    </m:r>
                  </m:oMath>
                </a14:m>
                <a:r>
                  <a:rPr lang="zh-CN" altLang="en-US" sz="3000" dirty="0">
                    <a:latin typeface="楷体" panose="02010609060101010101" pitchFamily="49" charset="-122"/>
                    <a:ea typeface="楷体" panose="02010609060101010101" pitchFamily="49" charset="-122"/>
                    <a:cs typeface="楷体" panose="02010609060101010101" pitchFamily="49" charset="-122"/>
                  </a:rPr>
                  <a:t>是调和函数</a:t>
                </a:r>
                <a:endParaRPr lang="en-US" altLang="zh-CN" sz="30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619342" y="5315663"/>
                <a:ext cx="2786398" cy="850265"/>
              </a:xfrm>
              <a:prstGeom prst="rect">
                <a:avLst/>
              </a:prstGeom>
              <a:blipFill rotWithShape="1">
                <a:blip r:embed="rId5"/>
                <a:stretch>
                  <a:fillRect l="-8" t="-9" r="8" b="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3" grpId="0"/>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203702" y="1018239"/>
                <a:ext cx="8207375" cy="14852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𝑇ℎ𝑚</m:t>
                    </m:r>
                    <m:r>
                      <a:rPr lang="en-US" altLang="zh-CN" sz="3000" b="0" i="1" smtClean="0">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若</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在区域</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𝐷</m:t>
                    </m:r>
                  </m:oMath>
                </a14:m>
                <a:r>
                  <a:rPr lang="zh-CN" altLang="en-US" sz="3000" dirty="0">
                    <a:latin typeface="楷体" panose="02010609060101010101" pitchFamily="49" charset="-122"/>
                    <a:ea typeface="楷体" panose="02010609060101010101" pitchFamily="49" charset="-122"/>
                  </a:rPr>
                  <a:t>内解析，则</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𝑣</m:t>
                    </m:r>
                    <m:r>
                      <a:rPr lang="zh-CN" altLang="en-US" sz="3000" i="1">
                        <a:latin typeface="Cambria Math" panose="02040503050406030204" pitchFamily="18" charset="0"/>
                        <a:ea typeface="楷体" panose="02010609060101010101" pitchFamily="49" charset="-122"/>
                      </a:rPr>
                      <m:t>是</m:t>
                    </m:r>
                    <m:r>
                      <a:rPr lang="en-US" altLang="zh-CN" sz="3000" b="0" i="1" smtClean="0">
                        <a:latin typeface="Cambria Math" panose="02040503050406030204" pitchFamily="18" charset="0"/>
                        <a:ea typeface="楷体" panose="02010609060101010101" pitchFamily="49" charset="-122"/>
                      </a:rPr>
                      <m:t>𝐷</m:t>
                    </m:r>
                    <m:r>
                      <a:rPr lang="zh-CN" altLang="en-US" sz="3000" i="1">
                        <a:latin typeface="Cambria Math" panose="02040503050406030204" pitchFamily="18" charset="0"/>
                        <a:ea typeface="楷体" panose="02010609060101010101" pitchFamily="49" charset="-122"/>
                      </a:rPr>
                      <m:t>内</m:t>
                    </m:r>
                  </m:oMath>
                </a14:m>
                <a:r>
                  <a:rPr lang="zh-CN" altLang="en-US" sz="3000" dirty="0">
                    <a:latin typeface="楷体" panose="02010609060101010101" pitchFamily="49" charset="-122"/>
                    <a:ea typeface="楷体" panose="02010609060101010101" pitchFamily="49" charset="-122"/>
                  </a:rPr>
                  <a:t>的调和函数。</a:t>
                </a:r>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203702" y="1018239"/>
                <a:ext cx="8207375" cy="1485265"/>
              </a:xfrm>
              <a:prstGeom prst="rect">
                <a:avLst/>
              </a:prstGeom>
              <a:blipFill rotWithShape="1">
                <a:blip r:embed="rId1"/>
                <a:stretch>
                  <a:fillRect l="-6" t="-22" r="-682" b="22"/>
                </a:stretch>
              </a:blipFill>
            </p:spPr>
            <p:txBody>
              <a:bodyPr/>
              <a:lstStyle/>
              <a:p>
                <a:r>
                  <a:rPr lang="zh-CN" altLang="en-US">
                    <a:noFill/>
                  </a:rPr>
                  <a:t> </a:t>
                </a:r>
              </a:p>
            </p:txBody>
          </p:sp>
        </mc:Fallback>
      </mc:AlternateContent>
      <p:sp>
        <p:nvSpPr>
          <p:cNvPr id="2" name="标题 1"/>
          <p:cNvSpPr txBox="1"/>
          <p:nvPr/>
        </p:nvSpPr>
        <p:spPr>
          <a:xfrm>
            <a:off x="136396" y="408940"/>
            <a:ext cx="5865581" cy="99417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400" b="1" dirty="0">
                <a:latin typeface="楷体" panose="02010609060101010101" pitchFamily="49" charset="-122"/>
                <a:ea typeface="楷体" panose="02010609060101010101" pitchFamily="49" charset="-122"/>
              </a:rPr>
              <a:t>二、解析与调和的关系</a:t>
            </a:r>
            <a:endParaRPr lang="zh-CN" altLang="en-US" sz="3400" b="1" dirty="0">
              <a:latin typeface="楷体" panose="02010609060101010101" pitchFamily="49" charset="-122"/>
              <a:ea typeface="楷体" panose="02010609060101010101" pitchFamily="49" charset="-122"/>
            </a:endParaRPr>
          </a:p>
        </p:txBody>
      </p:sp>
      <p:grpSp>
        <p:nvGrpSpPr>
          <p:cNvPr id="6" name="组合 5"/>
          <p:cNvGrpSpPr/>
          <p:nvPr/>
        </p:nvGrpSpPr>
        <p:grpSpPr>
          <a:xfrm>
            <a:off x="0" y="82323"/>
            <a:ext cx="9088711" cy="516645"/>
            <a:chOff x="0" y="82323"/>
            <a:chExt cx="9088711" cy="516645"/>
          </a:xfrm>
        </p:grpSpPr>
        <p:sp>
          <p:nvSpPr>
            <p:cNvPr id="7"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 name="标题 1"/>
              <p:cNvSpPr txBox="1"/>
              <p:nvPr/>
            </p:nvSpPr>
            <p:spPr>
              <a:xfrm>
                <a:off x="203702" y="2354548"/>
                <a:ext cx="3800407"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𝑝𝑓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zh-CN" altLang="en-US" sz="3000" dirty="0">
                    <a:latin typeface="楷体" panose="02010609060101010101" pitchFamily="49" charset="-122"/>
                    <a:ea typeface="楷体" panose="02010609060101010101" pitchFamily="49" charset="-122"/>
                  </a:rPr>
                  <a:t>解析</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03702" y="2354548"/>
                <a:ext cx="3800407" cy="807352"/>
              </a:xfrm>
              <a:prstGeom prst="rect">
                <a:avLst/>
              </a:prstGeom>
              <a:blipFill rotWithShape="1">
                <a:blip r:embed="rId2"/>
                <a:stretch>
                  <a:fillRect l="-13" t="-75" r="11" b="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3801947" y="2340988"/>
                <a:ext cx="3800407"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𝑢</m:t>
                          </m:r>
                        </m:e>
                        <m:sub>
                          <m:r>
                            <a:rPr lang="en-US" altLang="zh-CN" sz="3000" b="0" i="1" smtClean="0">
                              <a:latin typeface="Cambria Math" panose="02040503050406030204" pitchFamily="18" charset="0"/>
                              <a:ea typeface="Cambria Math" panose="02040503050406030204" pitchFamily="18" charset="0"/>
                            </a:rPr>
                            <m:t>𝑥</m:t>
                          </m:r>
                        </m:sub>
                      </m:sSub>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b="0" i="1" smtClean="0">
                              <a:latin typeface="Cambria Math" panose="02040503050406030204" pitchFamily="18" charset="0"/>
                              <a:ea typeface="Cambria Math" panose="02040503050406030204" pitchFamily="18" charset="0"/>
                            </a:rPr>
                            <m:t>𝑦</m:t>
                          </m:r>
                        </m:sub>
                      </m:sSub>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𝑢</m:t>
                          </m:r>
                        </m:e>
                        <m:sub>
                          <m:r>
                            <a:rPr lang="en-US" altLang="zh-CN" sz="3000" b="0" i="1" smtClean="0">
                              <a:latin typeface="Cambria Math" panose="02040503050406030204" pitchFamily="18" charset="0"/>
                              <a:ea typeface="Cambria Math" panose="02040503050406030204" pitchFamily="18" charset="0"/>
                            </a:rPr>
                            <m:t>𝑦</m:t>
                          </m:r>
                        </m:sub>
                      </m:sSub>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b="0" i="1" smtClean="0">
                              <a:latin typeface="Cambria Math" panose="02040503050406030204" pitchFamily="18" charset="0"/>
                              <a:ea typeface="Cambria Math" panose="02040503050406030204" pitchFamily="18" charset="0"/>
                            </a:rPr>
                            <m:t>𝑥</m:t>
                          </m:r>
                        </m:sub>
                      </m:sSub>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3801947" y="2340988"/>
                <a:ext cx="3800407" cy="807352"/>
              </a:xfrm>
              <a:prstGeom prst="rect">
                <a:avLst/>
              </a:prstGeom>
              <a:blipFill rotWithShape="1">
                <a:blip r:embed="rId3"/>
                <a:stretch>
                  <a:fillRect l="-5" t="-47" r="4"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3804994" y="2888749"/>
                <a:ext cx="4393966"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𝑢</m:t>
                          </m:r>
                        </m:e>
                        <m:sub>
                          <m:r>
                            <a:rPr lang="en-US" altLang="zh-CN" sz="3000" b="0" i="1" smtClean="0">
                              <a:latin typeface="Cambria Math" panose="02040503050406030204" pitchFamily="18" charset="0"/>
                              <a:ea typeface="Cambria Math" panose="02040503050406030204" pitchFamily="18" charset="0"/>
                            </a:rPr>
                            <m:t>𝑥𝑥</m:t>
                          </m:r>
                        </m:sub>
                      </m:sSub>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b="0" i="1" smtClean="0">
                              <a:latin typeface="Cambria Math" panose="02040503050406030204" pitchFamily="18" charset="0"/>
                              <a:ea typeface="Cambria Math" panose="02040503050406030204" pitchFamily="18" charset="0"/>
                            </a:rPr>
                            <m:t>𝑦𝑥</m:t>
                          </m:r>
                        </m:sub>
                      </m:sSub>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𝑢</m:t>
                          </m:r>
                        </m:e>
                        <m:sub>
                          <m:r>
                            <a:rPr lang="en-US" altLang="zh-CN" sz="3000" b="0" i="1" smtClean="0">
                              <a:latin typeface="Cambria Math" panose="02040503050406030204" pitchFamily="18" charset="0"/>
                              <a:ea typeface="Cambria Math" panose="02040503050406030204" pitchFamily="18" charset="0"/>
                            </a:rPr>
                            <m:t>𝑦𝑦</m:t>
                          </m:r>
                        </m:sub>
                      </m:sSub>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b="0" i="1" smtClean="0">
                              <a:latin typeface="Cambria Math" panose="02040503050406030204" pitchFamily="18" charset="0"/>
                              <a:ea typeface="Cambria Math" panose="02040503050406030204" pitchFamily="18" charset="0"/>
                            </a:rPr>
                            <m:t>𝑥𝑦</m:t>
                          </m:r>
                        </m:sub>
                      </m:sSub>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3804994" y="2888749"/>
                <a:ext cx="4393966" cy="807352"/>
              </a:xfrm>
              <a:prstGeom prst="rect">
                <a:avLst/>
              </a:prstGeom>
              <a:blipFill rotWithShape="1">
                <a:blip r:embed="rId4"/>
                <a:stretch>
                  <a:fillRect l="-2" t="-17" r="11" b="50"/>
                </a:stretch>
              </a:blipFill>
            </p:spPr>
            <p:txBody>
              <a:bodyPr/>
              <a:lstStyle/>
              <a:p>
                <a:r>
                  <a:rPr lang="zh-CN" altLang="en-US">
                    <a:noFill/>
                  </a:rPr>
                  <a:t> </a:t>
                </a:r>
              </a:p>
            </p:txBody>
          </p:sp>
        </mc:Fallback>
      </mc:AlternateContent>
      <p:sp>
        <p:nvSpPr>
          <p:cNvPr id="9" name="标题 1"/>
          <p:cNvSpPr txBox="1"/>
          <p:nvPr/>
        </p:nvSpPr>
        <p:spPr>
          <a:xfrm>
            <a:off x="721860" y="3547145"/>
            <a:ext cx="4393966"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解析函数具有任意阶导数</a:t>
            </a:r>
            <a:endParaRPr lang="zh-CN" altLang="en-US" sz="30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11" name="标题 1"/>
              <p:cNvSpPr txBox="1"/>
              <p:nvPr/>
            </p:nvSpPr>
            <p:spPr>
              <a:xfrm>
                <a:off x="721860" y="4204871"/>
                <a:ext cx="4918544"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𝑢</m:t>
                    </m:r>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具有任意阶的连续导数</a:t>
                </a:r>
                <a:endParaRPr lang="zh-CN" altLang="en-US"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721860" y="4204871"/>
                <a:ext cx="4918544" cy="807352"/>
              </a:xfrm>
              <a:prstGeom prst="rect">
                <a:avLst/>
              </a:prstGeom>
              <a:blipFill rotWithShape="1">
                <a:blip r:embed="rId5"/>
                <a:stretch>
                  <a:fillRect l="-10" t="-66" r="7"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5439684" y="4204871"/>
                <a:ext cx="2260527"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b="0" i="1" smtClean="0">
                              <a:latin typeface="Cambria Math" panose="02040503050406030204" pitchFamily="18" charset="0"/>
                              <a:ea typeface="Cambria Math" panose="02040503050406030204" pitchFamily="18" charset="0"/>
                            </a:rPr>
                            <m:t>𝑦𝑥</m:t>
                          </m:r>
                        </m:sub>
                      </m:sSub>
                      <m:r>
                        <a:rPr lang="en-US" altLang="zh-CN" sz="3000" i="1">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b="0" i="1" smtClean="0">
                              <a:latin typeface="Cambria Math" panose="02040503050406030204" pitchFamily="18" charset="0"/>
                              <a:ea typeface="Cambria Math" panose="02040503050406030204" pitchFamily="18" charset="0"/>
                            </a:rPr>
                            <m:t>𝑥𝑦</m:t>
                          </m:r>
                        </m:sub>
                      </m:sSub>
                    </m:oMath>
                  </m:oMathPara>
                </a14:m>
                <a:endParaRPr lang="zh-CN" altLang="en-US"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5439684" y="4204871"/>
                <a:ext cx="2260527" cy="807352"/>
              </a:xfrm>
              <a:prstGeom prst="rect">
                <a:avLst/>
              </a:prstGeom>
              <a:blipFill rotWithShape="1">
                <a:blip r:embed="rId6"/>
                <a:stretch>
                  <a:fillRect l="-12" t="-66" r="9"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721860" y="4853641"/>
                <a:ext cx="2776923"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i="1" dirty="0" smtClean="0">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𝑢</m:t>
                        </m:r>
                      </m:e>
                      <m:sub>
                        <m:r>
                          <a:rPr lang="en-US" altLang="zh-CN" sz="3000" i="1">
                            <a:latin typeface="Cambria Math" panose="02040503050406030204" pitchFamily="18" charset="0"/>
                            <a:ea typeface="Cambria Math" panose="02040503050406030204" pitchFamily="18" charset="0"/>
                          </a:rPr>
                          <m:t>𝑥𝑥</m:t>
                        </m:r>
                      </m:sub>
                    </m:sSub>
                    <m:r>
                      <a:rPr lang="en-US" altLang="zh-CN" sz="3000" i="1" smtClean="0">
                        <a:latin typeface="Cambria Math" panose="02040503050406030204" pitchFamily="18" charset="0"/>
                        <a:ea typeface="Cambria Math" panose="02040503050406030204" pitchFamily="18" charset="0"/>
                      </a:rPr>
                      <m:t>+</m:t>
                    </m:r>
                  </m:oMath>
                </a14:m>
                <a:r>
                  <a:rPr lang="en-US" altLang="zh-CN" sz="3000" dirty="0">
                    <a:ea typeface="Cambria Math" panose="02040503050406030204" pitchFamily="18" charset="0"/>
                  </a:rPr>
                  <a:t> </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𝑢</m:t>
                        </m:r>
                      </m:e>
                      <m:sub>
                        <m:r>
                          <a:rPr lang="en-US" altLang="zh-CN" sz="3000" i="1">
                            <a:latin typeface="Cambria Math" panose="02040503050406030204" pitchFamily="18" charset="0"/>
                            <a:ea typeface="Cambria Math" panose="02040503050406030204" pitchFamily="18" charset="0"/>
                          </a:rPr>
                          <m:t>𝑦𝑦</m:t>
                        </m:r>
                      </m:sub>
                    </m:sSub>
                    <m:r>
                      <a:rPr lang="en-US" altLang="zh-CN" sz="300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0</a:t>
                </a:r>
                <a:endParaRPr lang="zh-CN" altLang="en-US"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721860" y="4853641"/>
                <a:ext cx="2776923" cy="807352"/>
              </a:xfrm>
              <a:prstGeom prst="rect">
                <a:avLst/>
              </a:prstGeom>
              <a:blipFill rotWithShape="1">
                <a:blip r:embed="rId7"/>
                <a:stretch>
                  <a:fillRect l="-18" t="-42" r="20" b="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3640641" y="4873964"/>
                <a:ext cx="3274228"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i="1" dirty="0" smtClean="0">
                        <a:latin typeface="Cambria Math" panose="02040503050406030204" pitchFamily="18" charset="0"/>
                        <a:ea typeface="楷体" panose="02010609060101010101" pitchFamily="49" charset="-122"/>
                      </a:rPr>
                      <m:t>同理</m:t>
                    </m:r>
                    <m:sSub>
                      <m:sSubPr>
                        <m:ctrlPr>
                          <a:rPr lang="en-US" altLang="zh-CN" sz="3000" i="1">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i="1">
                            <a:latin typeface="Cambria Math" panose="02040503050406030204" pitchFamily="18" charset="0"/>
                            <a:ea typeface="Cambria Math" panose="02040503050406030204" pitchFamily="18" charset="0"/>
                          </a:rPr>
                          <m:t>𝑥𝑥</m:t>
                        </m:r>
                      </m:sub>
                    </m:sSub>
                    <m:r>
                      <a:rPr lang="en-US" altLang="zh-CN" sz="3000" i="1" smtClean="0">
                        <a:latin typeface="Cambria Math" panose="02040503050406030204" pitchFamily="18" charset="0"/>
                        <a:ea typeface="Cambria Math" panose="02040503050406030204" pitchFamily="18" charset="0"/>
                      </a:rPr>
                      <m:t>+</m:t>
                    </m:r>
                  </m:oMath>
                </a14:m>
                <a:r>
                  <a:rPr lang="en-US" altLang="zh-CN" sz="3000" dirty="0">
                    <a:ea typeface="Cambria Math" panose="02040503050406030204" pitchFamily="18" charset="0"/>
                  </a:rPr>
                  <a:t> </a:t>
                </a:r>
                <a14:m>
                  <m:oMath xmlns:m="http://schemas.openxmlformats.org/officeDocument/2006/math">
                    <m:sSub>
                      <m:sSubPr>
                        <m:ctrlPr>
                          <a:rPr lang="en-US" altLang="zh-CN" sz="3000" i="1">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𝑣</m:t>
                        </m:r>
                      </m:e>
                      <m:sub>
                        <m:r>
                          <a:rPr lang="en-US" altLang="zh-CN" sz="3000" i="1">
                            <a:latin typeface="Cambria Math" panose="02040503050406030204" pitchFamily="18" charset="0"/>
                            <a:ea typeface="Cambria Math" panose="02040503050406030204" pitchFamily="18" charset="0"/>
                          </a:rPr>
                          <m:t>𝑦𝑦</m:t>
                        </m:r>
                      </m:sub>
                    </m:sSub>
                    <m:r>
                      <a:rPr lang="en-US" altLang="zh-CN" sz="300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0</a:t>
                </a:r>
                <a:endParaRPr lang="zh-CN" altLang="en-US"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3640641" y="4873964"/>
                <a:ext cx="3274228" cy="807352"/>
              </a:xfrm>
              <a:prstGeom prst="rect">
                <a:avLst/>
              </a:prstGeom>
              <a:blipFill rotWithShape="1">
                <a:blip r:embed="rId8"/>
                <a:stretch>
                  <a:fillRect l="-6" t="-42" r="11" b="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721860" y="5498486"/>
                <a:ext cx="6193009" cy="80735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i="1" dirty="0"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Cambria Math" panose="02040503050406030204" pitchFamily="18" charset="0"/>
                      </a:rPr>
                      <m:t>𝑢</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𝑣</m:t>
                    </m:r>
                    <m:r>
                      <a:rPr lang="zh-CN" altLang="en-US" sz="3000" i="1">
                        <a:latin typeface="Cambria Math" panose="02040503050406030204" pitchFamily="18" charset="0"/>
                        <a:ea typeface="楷体" panose="02010609060101010101" pitchFamily="49" charset="-122"/>
                      </a:rPr>
                      <m:t>是</m:t>
                    </m:r>
                    <m:r>
                      <a:rPr lang="en-US" altLang="zh-CN" sz="3000" i="1">
                        <a:latin typeface="Cambria Math" panose="02040503050406030204" pitchFamily="18" charset="0"/>
                        <a:ea typeface="楷体" panose="02010609060101010101" pitchFamily="49" charset="-122"/>
                      </a:rPr>
                      <m:t>𝐷</m:t>
                    </m:r>
                    <m:r>
                      <a:rPr lang="zh-CN" altLang="en-US" sz="3000" i="1">
                        <a:latin typeface="Cambria Math" panose="02040503050406030204" pitchFamily="18" charset="0"/>
                        <a:ea typeface="楷体" panose="02010609060101010101" pitchFamily="49" charset="-122"/>
                      </a:rPr>
                      <m:t>内</m:t>
                    </m:r>
                  </m:oMath>
                </a14:m>
                <a:r>
                  <a:rPr lang="zh-CN" altLang="en-US" sz="3000" dirty="0">
                    <a:latin typeface="楷体" panose="02010609060101010101" pitchFamily="49" charset="-122"/>
                    <a:ea typeface="楷体" panose="02010609060101010101" pitchFamily="49" charset="-122"/>
                  </a:rPr>
                  <a:t>的调和函数</a:t>
                </a:r>
                <a:endParaRPr lang="zh-CN" altLang="en-US"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721860" y="5498486"/>
                <a:ext cx="6193009" cy="807352"/>
              </a:xfrm>
              <a:prstGeom prst="rect">
                <a:avLst/>
              </a:prstGeom>
              <a:blipFill rotWithShape="1">
                <a:blip r:embed="rId9"/>
                <a:stretch>
                  <a:fillRect l="-8" t="-3" r="6" b="3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4" grpId="0"/>
      <p:bldP spid="5" grpId="0"/>
      <p:bldP spid="9" grpId="0"/>
      <p:bldP spid="11" grpId="0"/>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标题 1"/>
              <p:cNvSpPr txBox="1"/>
              <p:nvPr/>
            </p:nvSpPr>
            <p:spPr>
              <a:xfrm>
                <a:off x="247283" y="327259"/>
                <a:ext cx="8207375" cy="9785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i="1" smtClean="0">
                        <a:solidFill>
                          <a:srgbClr val="FF0000"/>
                        </a:solidFill>
                        <a:latin typeface="Cambria Math" panose="02040503050406030204" pitchFamily="18" charset="0"/>
                        <a:ea typeface="楷体" panose="02010609060101010101" pitchFamily="49" charset="-122"/>
                      </a:rPr>
                      <m:t>反之</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𝑣</m:t>
                    </m:r>
                    <m:r>
                      <a:rPr lang="zh-CN" altLang="en-US" sz="3000" i="1">
                        <a:latin typeface="Cambria Math" panose="02040503050406030204" pitchFamily="18" charset="0"/>
                        <a:ea typeface="楷体" panose="02010609060101010101" pitchFamily="49" charset="-122"/>
                      </a:rPr>
                      <m:t>是</m:t>
                    </m:r>
                    <m:r>
                      <a:rPr lang="en-US" altLang="zh-CN" sz="3000" b="0" i="1" smtClean="0">
                        <a:latin typeface="Cambria Math" panose="02040503050406030204" pitchFamily="18" charset="0"/>
                        <a:ea typeface="楷体" panose="02010609060101010101" pitchFamily="49" charset="-122"/>
                      </a:rPr>
                      <m:t>𝐷</m:t>
                    </m:r>
                    <m:r>
                      <a:rPr lang="zh-CN" altLang="en-US" sz="3000" i="1">
                        <a:latin typeface="Cambria Math" panose="02040503050406030204" pitchFamily="18" charset="0"/>
                        <a:ea typeface="楷体" panose="02010609060101010101" pitchFamily="49" charset="-122"/>
                      </a:rPr>
                      <m:t>内</m:t>
                    </m:r>
                  </m:oMath>
                </a14:m>
                <a:r>
                  <a:rPr lang="zh-CN" altLang="en-US" sz="3000" dirty="0">
                    <a:latin typeface="楷体" panose="02010609060101010101" pitchFamily="49" charset="-122"/>
                    <a:ea typeface="楷体" panose="02010609060101010101" pitchFamily="49" charset="-122"/>
                  </a:rPr>
                  <a:t>的调和函数</a:t>
                </a:r>
                <a14:m>
                  <m:oMath xmlns:m="http://schemas.openxmlformats.org/officeDocument/2006/math">
                    <m:groupChr>
                      <m:groupChrPr>
                        <m:chr m:val="⇒"/>
                        <m:vertJc m:val="bot"/>
                        <m:ctrlPr>
                          <a:rPr lang="zh-CN" altLang="en-US" sz="3000" i="1" smtClean="0">
                            <a:latin typeface="Cambria Math" panose="02040503050406030204" pitchFamily="18" charset="0"/>
                            <a:ea typeface="楷体" panose="02010609060101010101" pitchFamily="49" charset="-122"/>
                          </a:rPr>
                        </m:ctrlPr>
                      </m:groupChrPr>
                      <m:e/>
                    </m:groupChr>
                  </m:oMath>
                </a14:m>
                <a:r>
                  <a:rPr lang="en-US" altLang="zh-CN" sz="3000" dirty="0">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i="1">
                        <a:latin typeface="Cambria Math" panose="02040503050406030204" pitchFamily="18" charset="0"/>
                        <a:ea typeface="楷体" panose="02010609060101010101" pitchFamily="49" charset="-122"/>
                      </a:rPr>
                      <m:t>𝐷</m:t>
                    </m:r>
                  </m:oMath>
                </a14:m>
                <a:r>
                  <a:rPr lang="zh-CN" altLang="en-US" sz="3000" dirty="0">
                    <a:latin typeface="楷体" panose="02010609060101010101" pitchFamily="49" charset="-122"/>
                    <a:ea typeface="楷体" panose="02010609060101010101" pitchFamily="49" charset="-122"/>
                  </a:rPr>
                  <a:t>内解析？</a:t>
                </a:r>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47283" y="327259"/>
                <a:ext cx="8207375" cy="978535"/>
              </a:xfrm>
              <a:prstGeom prst="rect">
                <a:avLst/>
              </a:prstGeom>
              <a:blipFill rotWithShape="1">
                <a:blip r:embed="rId1"/>
                <a:stretch>
                  <a:fillRect l="-3" t="-24" r="3"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1154363" y="1183740"/>
                <a:ext cx="5445125" cy="6940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不能，如</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acc>
                      <m:accPr>
                        <m:chr m:val="̅"/>
                        <m:ctrlPr>
                          <a:rPr lang="en-US" altLang="zh-CN" sz="3000" b="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𝑧</m:t>
                        </m:r>
                      </m:e>
                    </m:ac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𝑖𝑦</m:t>
                    </m:r>
                  </m:oMath>
                </a14:m>
                <a:endParaRPr lang="en-US" altLang="zh-CN"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1154363" y="1183740"/>
                <a:ext cx="5445125" cy="694055"/>
              </a:xfrm>
              <a:prstGeom prst="rect">
                <a:avLst/>
              </a:prstGeom>
              <a:blipFill rotWithShape="1">
                <a:blip r:embed="rId2"/>
                <a:stretch>
                  <a:fillRect l="-10" t="-14" r="10"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247283" y="1738262"/>
                <a:ext cx="8622030" cy="211264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𝐷𝑒𝑓</m:t>
                    </m:r>
                    <m:r>
                      <a:rPr lang="en-US" altLang="zh-CN" sz="3000" b="0" i="1" smtClean="0">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设</m:t>
                    </m:r>
                    <m:r>
                      <a:rPr lang="en-US" altLang="zh-CN" sz="3000" i="1">
                        <a:latin typeface="Cambria Math" panose="02040503050406030204" pitchFamily="18" charset="0"/>
                        <a:ea typeface="楷体" panose="02010609060101010101" pitchFamily="49" charset="-122"/>
                      </a:rPr>
                      <m:t>𝑢</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r>
                          <a:rPr lang="en-US" altLang="zh-CN" sz="300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e>
                    </m:d>
                    <m:r>
                      <a:rPr lang="zh-CN" altLang="en-US" sz="3000" i="1">
                        <a:latin typeface="Cambria Math" panose="02040503050406030204" pitchFamily="18" charset="0"/>
                        <a:ea typeface="楷体" panose="02010609060101010101" pitchFamily="49" charset="-122"/>
                      </a:rPr>
                      <m:t>为</m:t>
                    </m:r>
                    <m:r>
                      <a:rPr lang="en-US" altLang="zh-CN" sz="3000" i="1">
                        <a:latin typeface="Cambria Math" panose="02040503050406030204" pitchFamily="18" charset="0"/>
                        <a:ea typeface="楷体" panose="02010609060101010101" pitchFamily="49" charset="-122"/>
                      </a:rPr>
                      <m:t>𝐷</m:t>
                    </m:r>
                  </m:oMath>
                </a14:m>
                <a:r>
                  <a:rPr lang="zh-CN" altLang="en-US" sz="3000" dirty="0">
                    <a:latin typeface="楷体" panose="02010609060101010101" pitchFamily="49" charset="-122"/>
                    <a:ea typeface="楷体" panose="02010609060101010101" pitchFamily="49" charset="-122"/>
                  </a:rPr>
                  <a:t>内的调和函数，</a:t>
                </a:r>
                <a:r>
                  <a:rPr lang="zh-CN" altLang="en-US" sz="3000" dirty="0">
                    <a:latin typeface="楷体" panose="02010609060101010101" pitchFamily="49" charset="-122"/>
                    <a:ea typeface="楷体" panose="02010609060101010101" pitchFamily="49" charset="-122"/>
                    <a:sym typeface="+mn-ea"/>
                  </a:rPr>
                  <a:t>称使得</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r>
                      <a:rPr lang="en-US" altLang="zh-CN" sz="3000" i="1">
                        <a:latin typeface="Cambria Math" panose="02040503050406030204" pitchFamily="18" charset="0"/>
                        <a:ea typeface="楷体" panose="02010609060101010101" pitchFamily="49" charset="-122"/>
                      </a:rPr>
                      <m:t> </m:t>
                    </m:r>
                  </m:oMath>
                </a14:m>
                <a:r>
                  <a:rPr lang="zh-CN" altLang="en-US" sz="3000" dirty="0">
                    <a:latin typeface="Cambria Math" panose="02040503050406030204" pitchFamily="18" charset="0"/>
                    <a:ea typeface="楷体" panose="02010609060101010101" pitchFamily="49" charset="-122"/>
                  </a:rPr>
                  <a:t>在</a:t>
                </a:r>
                <a:br>
                  <a:rPr lang="en-US" altLang="zh-CN" sz="3000" i="1" dirty="0">
                    <a:latin typeface="Cambria Math" panose="02040503050406030204" pitchFamily="18" charset="0"/>
                    <a:ea typeface="楷体" panose="02010609060101010101" pitchFamily="49" charset="-122"/>
                  </a:rPr>
                </a:br>
                <a14:m>
                  <m:oMath xmlns:m="http://schemas.openxmlformats.org/officeDocument/2006/math">
                    <m:r>
                      <a:rPr lang="en-US" altLang="zh-CN" sz="3000" i="1">
                        <a:latin typeface="Cambria Math" panose="02040503050406030204" pitchFamily="18" charset="0"/>
                        <a:ea typeface="楷体" panose="02010609060101010101" pitchFamily="49" charset="-122"/>
                      </a:rPr>
                      <m:t>𝐷</m:t>
                    </m:r>
                    <m:r>
                      <a:rPr lang="en-US" altLang="zh-CN" sz="3000" i="1">
                        <a:latin typeface="Cambria Math" panose="02040503050406030204" pitchFamily="18" charset="0"/>
                        <a:ea typeface="楷体" panose="02010609060101010101" pitchFamily="49" charset="-122"/>
                      </a:rPr>
                      <m:t> </m:t>
                    </m:r>
                  </m:oMath>
                </a14:m>
                <a:r>
                  <a:rPr lang="zh-CN" altLang="en-US" sz="3000" dirty="0">
                    <a:latin typeface="楷体" panose="02010609060101010101" pitchFamily="49" charset="-122"/>
                    <a:ea typeface="楷体" panose="02010609060101010101" pitchFamily="49" charset="-122"/>
                    <a:sym typeface="+mn-ea"/>
                  </a:rPr>
                  <a:t>内构成解析函数的调和函数</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r>
                          <a:rPr lang="en-US" altLang="zh-CN" sz="300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e>
                    </m:d>
                    <m:r>
                      <a:rPr lang="en-US" altLang="zh-CN" sz="3000" i="1">
                        <a:latin typeface="Cambria Math" panose="02040503050406030204" pitchFamily="18" charset="0"/>
                        <a:ea typeface="楷体" panose="02010609060101010101" pitchFamily="49" charset="-122"/>
                      </a:rPr>
                      <m:t> </m:t>
                    </m:r>
                    <m:r>
                      <a:rPr lang="zh-CN" altLang="en-US"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sym typeface="+mn-ea"/>
                  </a:rPr>
                  <a:t>为</a:t>
                </a:r>
                <a14:m>
                  <m:oMath xmlns:m="http://schemas.openxmlformats.org/officeDocument/2006/math">
                    <m:r>
                      <a:rPr lang="en-US" altLang="zh-CN" sz="3000" i="1">
                        <a:latin typeface="Cambria Math" panose="02040503050406030204" pitchFamily="18" charset="0"/>
                        <a:ea typeface="楷体" panose="02010609060101010101" pitchFamily="49" charset="-122"/>
                      </a:rPr>
                      <m:t>𝑢</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r>
                          <a:rPr lang="en-US" altLang="zh-CN" sz="300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e>
                    </m:d>
                  </m:oMath>
                </a14:m>
                <a:r>
                  <a:rPr lang="zh-CN" altLang="en-US" sz="3000" dirty="0">
                    <a:latin typeface="楷体" panose="02010609060101010101" pitchFamily="49" charset="-122"/>
                    <a:ea typeface="楷体" panose="02010609060101010101" pitchFamily="49" charset="-122"/>
                    <a:sym typeface="+mn-ea"/>
                  </a:rPr>
                  <a:t>的共轭调和函数</a:t>
                </a:r>
                <a:r>
                  <a:rPr lang="en-US" altLang="zh-CN" sz="3000" dirty="0">
                    <a:latin typeface="楷体" panose="02010609060101010101" pitchFamily="49" charset="-122"/>
                    <a:ea typeface="楷体" panose="02010609060101010101" pitchFamily="49" charset="-122"/>
                    <a:sym typeface="+mn-ea"/>
                  </a:rPr>
                  <a:t>.</a:t>
                </a:r>
                <a:endParaRPr lang="en-US" altLang="zh-CN" sz="3000" dirty="0">
                  <a:latin typeface="楷体" panose="02010609060101010101" pitchFamily="49" charset="-122"/>
                  <a:ea typeface="楷体" panose="02010609060101010101" pitchFamily="49" charset="-122"/>
                  <a:sym typeface="+mn-ea"/>
                </a:endParaRPr>
              </a:p>
            </p:txBody>
          </p:sp>
        </mc:Choice>
        <mc:Fallback>
          <p:sp>
            <p:nvSpPr>
              <p:cNvPr id="2" name="标题 1"/>
              <p:cNvSpPr txBox="1">
                <a:spLocks noRot="1" noChangeAspect="1" noMove="1" noResize="1" noEditPoints="1" noAdjustHandles="1" noChangeArrowheads="1" noChangeShapeType="1" noTextEdit="1"/>
              </p:cNvSpPr>
              <p:nvPr/>
            </p:nvSpPr>
            <p:spPr>
              <a:xfrm>
                <a:off x="247283" y="1738262"/>
                <a:ext cx="8622030" cy="2112645"/>
              </a:xfrm>
              <a:prstGeom prst="rect">
                <a:avLst/>
              </a:prstGeom>
              <a:blipFill rotWithShape="1">
                <a:blip r:embed="rId3"/>
                <a:stretch>
                  <a:fillRect l="-3" t="-13" r="3" b="13"/>
                </a:stretch>
              </a:blipFill>
            </p:spPr>
            <p:txBody>
              <a:bodyPr/>
              <a:lstStyle/>
              <a:p>
                <a:r>
                  <a:rPr lang="zh-CN" altLang="en-US">
                    <a:noFill/>
                  </a:rPr>
                  <a:t> </a:t>
                </a:r>
              </a:p>
            </p:txBody>
          </p:sp>
        </mc:Fallback>
      </mc:AlternateContent>
      <p:sp>
        <p:nvSpPr>
          <p:cNvPr id="4" name="标题 1"/>
          <p:cNvSpPr txBox="1"/>
          <p:nvPr/>
        </p:nvSpPr>
        <p:spPr>
          <a:xfrm>
            <a:off x="247283" y="4063615"/>
            <a:ext cx="678815" cy="47307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rgbClr val="FF0000"/>
                </a:solidFill>
                <a:latin typeface="楷体" panose="02010609060101010101" pitchFamily="49" charset="-122"/>
                <a:ea typeface="楷体" panose="02010609060101010101" pitchFamily="49" charset="-122"/>
                <a:cs typeface="Cambria Math" panose="02040503050406030204" pitchFamily="18" charset="0"/>
              </a:rPr>
              <a:t>注</a:t>
            </a:r>
            <a:endParaRPr lang="zh-CN" altLang="en-US" sz="3000" dirty="0">
              <a:solidFill>
                <a:srgbClr val="FF0000"/>
              </a:solidFill>
              <a:latin typeface="楷体" panose="02010609060101010101" pitchFamily="49" charset="-122"/>
              <a:ea typeface="楷体" panose="02010609060101010101" pitchFamily="49" charset="-122"/>
              <a:cs typeface="Cambria Math" panose="02040503050406030204" pitchFamily="18" charset="0"/>
            </a:endParaRPr>
          </a:p>
        </p:txBody>
      </p:sp>
      <p:sp>
        <p:nvSpPr>
          <p:cNvPr id="7" name="标题 1"/>
          <p:cNvSpPr txBox="1"/>
          <p:nvPr/>
        </p:nvSpPr>
        <p:spPr>
          <a:xfrm>
            <a:off x="720993" y="3988050"/>
            <a:ext cx="7690485" cy="68707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一个调和函数的共轭调和函数不唯一</a:t>
            </a:r>
            <a:endParaRPr lang="en-US" altLang="zh-CN" sz="30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8" name="标题 1"/>
              <p:cNvSpPr txBox="1"/>
              <p:nvPr/>
            </p:nvSpPr>
            <p:spPr>
              <a:xfrm>
                <a:off x="926098" y="4536690"/>
                <a:ext cx="8042275" cy="8318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如</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r>
                          <a:rPr lang="en-US" altLang="zh-CN" sz="300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r>
                      <a:rPr lang="zh-CN" altLang="en-US" sz="3000" i="1">
                        <a:latin typeface="Cambria Math" panose="02040503050406030204" pitchFamily="18" charset="0"/>
                        <a:ea typeface="楷体" panose="02010609060101010101" pitchFamily="49" charset="-122"/>
                      </a:rPr>
                      <m:t>也是</m:t>
                    </m:r>
                    <m:r>
                      <a:rPr lang="en-US" altLang="zh-CN" sz="3000" i="1">
                        <a:latin typeface="Cambria Math" panose="02040503050406030204" pitchFamily="18" charset="0"/>
                        <a:ea typeface="楷体" panose="02010609060101010101" pitchFamily="49" charset="-122"/>
                      </a:rPr>
                      <m:t>𝑢</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r>
                          <a:rPr lang="en-US" altLang="zh-CN" sz="300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e>
                    </m:d>
                  </m:oMath>
                </a14:m>
                <a:r>
                  <a:rPr lang="zh-CN" altLang="en-US" sz="3000" dirty="0">
                    <a:latin typeface="楷体" panose="02010609060101010101" pitchFamily="49" charset="-122"/>
                    <a:ea typeface="楷体" panose="02010609060101010101" pitchFamily="49" charset="-122"/>
                  </a:rPr>
                  <a:t>的共轭调和函数；</a:t>
                </a:r>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926098" y="4536690"/>
                <a:ext cx="8042275" cy="831850"/>
              </a:xfrm>
              <a:prstGeom prst="rect">
                <a:avLst/>
              </a:prstGeom>
              <a:blipFill rotWithShape="1">
                <a:blip r:embed="rId4"/>
                <a:stretch>
                  <a:fillRect l="-3" t="-30" r="3" b="30"/>
                </a:stretch>
              </a:blipFill>
            </p:spPr>
            <p:txBody>
              <a:bodyPr/>
              <a:lstStyle/>
              <a:p>
                <a:r>
                  <a:rPr lang="zh-CN" altLang="en-US">
                    <a:noFill/>
                  </a:rPr>
                  <a:t> </a:t>
                </a:r>
              </a:p>
            </p:txBody>
          </p:sp>
        </mc:Fallback>
      </mc:AlternateContent>
      <p:grpSp>
        <p:nvGrpSpPr>
          <p:cNvPr id="11" name="组合 10"/>
          <p:cNvGrpSpPr/>
          <p:nvPr/>
        </p:nvGrpSpPr>
        <p:grpSpPr>
          <a:xfrm>
            <a:off x="0" y="82323"/>
            <a:ext cx="9088711" cy="516645"/>
            <a:chOff x="0" y="82323"/>
            <a:chExt cx="9088711" cy="516645"/>
          </a:xfrm>
        </p:grpSpPr>
        <p:sp>
          <p:nvSpPr>
            <p:cNvPr id="12"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3" name="直接连接符 12"/>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2" grpId="0"/>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324384" y="531629"/>
            <a:ext cx="7082790" cy="7575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调和函数的共轭关系不具自反性</a:t>
            </a:r>
            <a:endParaRPr lang="en-US" altLang="zh-CN" sz="3000" dirty="0">
              <a:latin typeface="楷体" panose="02010609060101010101" pitchFamily="49" charset="-122"/>
              <a:ea typeface="楷体" panose="02010609060101010101" pitchFamily="49" charset="-122"/>
            </a:endParaRPr>
          </a:p>
        </p:txBody>
      </p:sp>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727040" y="1255515"/>
                <a:ext cx="5259873" cy="7575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是</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的共轭调和函数，则</a:t>
                </a:r>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727040" y="1255515"/>
                <a:ext cx="5259873" cy="757555"/>
              </a:xfrm>
              <a:prstGeom prst="rect">
                <a:avLst/>
              </a:prstGeom>
              <a:blipFill rotWithShape="1">
                <a:blip r:embed="rId1"/>
                <a:stretch>
                  <a:fillRect l="-11" t="-16" r="3"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129697" y="1865115"/>
                <a:ext cx="6743767" cy="7575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a14:m>
                <a:r>
                  <a:rPr lang="zh-CN" altLang="en-US" sz="3000" dirty="0">
                    <a:latin typeface="楷体" panose="02010609060101010101" pitchFamily="49" charset="-122"/>
                    <a:ea typeface="楷体" panose="02010609060101010101" pitchFamily="49" charset="-122"/>
                  </a:rPr>
                  <a:t>且</a:t>
                </a:r>
                <a14:m>
                  <m:oMath xmlns:m="http://schemas.openxmlformats.org/officeDocument/2006/math">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𝑢</m:t>
                        </m:r>
                      </m:e>
                      <m:sub>
                        <m:r>
                          <a:rPr lang="en-US" altLang="zh-CN" sz="3000" b="0" i="1" dirty="0" smtClean="0">
                            <a:latin typeface="Cambria Math" panose="02040503050406030204" pitchFamily="18" charset="0"/>
                            <a:ea typeface="楷体" panose="02010609060101010101" pitchFamily="49" charset="-122"/>
                          </a:rPr>
                          <m:t>𝑥</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𝑢</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𝑥</m:t>
                        </m:r>
                      </m:sub>
                    </m:sSub>
                  </m:oMath>
                </a14:m>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129697" y="1865115"/>
                <a:ext cx="6743767" cy="757555"/>
              </a:xfrm>
              <a:prstGeom prst="rect">
                <a:avLst/>
              </a:prstGeom>
              <a:blipFill rotWithShape="1">
                <a:blip r:embed="rId2"/>
                <a:stretch>
                  <a:fillRect t="-519" r="1" b="-6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727040" y="2559929"/>
                <a:ext cx="3527326" cy="7575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的共轭调和函数：</a:t>
                </a:r>
                <a:endParaRPr lang="en-US" altLang="zh-CN"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727040" y="2559929"/>
                <a:ext cx="3527326" cy="757555"/>
              </a:xfrm>
              <a:prstGeom prst="rect">
                <a:avLst/>
              </a:prstGeom>
              <a:blipFill rotWithShape="1">
                <a:blip r:embed="rId3"/>
                <a:stretch>
                  <a:fillRect l="-17" t="-32" r="14" b="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145739" y="3171069"/>
                <a:ext cx="6743767" cy="7575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oMath>
                </a14:m>
                <a:r>
                  <a:rPr lang="zh-CN" altLang="en-US" sz="3000" dirty="0">
                    <a:latin typeface="楷体" panose="02010609060101010101" pitchFamily="49" charset="-122"/>
                    <a:ea typeface="楷体" panose="02010609060101010101" pitchFamily="49" charset="-122"/>
                  </a:rPr>
                  <a:t>且</a:t>
                </a:r>
                <a14:m>
                  <m:oMath xmlns:m="http://schemas.openxmlformats.org/officeDocument/2006/math">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𝑥</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m:t>
                        </m:r>
                      </m:e>
                      <m:sub>
                        <m:r>
                          <a:rPr lang="en-US" altLang="zh-CN" sz="3000" b="0" i="1" dirty="0" smtClean="0">
                            <a:latin typeface="Cambria Math" panose="02040503050406030204" pitchFamily="18" charset="0"/>
                            <a:ea typeface="楷体" panose="02010609060101010101" pitchFamily="49" charset="-122"/>
                          </a:rPr>
                          <m:t>𝑥</m:t>
                        </m:r>
                      </m:sub>
                    </m:sSub>
                  </m:oMath>
                </a14:m>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145739" y="3171069"/>
                <a:ext cx="6743767" cy="757555"/>
              </a:xfrm>
              <a:prstGeom prst="rect">
                <a:avLst/>
              </a:prstGeom>
              <a:blipFill rotWithShape="1">
                <a:blip r:embed="rId4"/>
                <a:stretch>
                  <a:fillRect l="-3" t="-68" r="4"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727040" y="3928624"/>
                <a:ext cx="6743767" cy="7575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由上可知</a:t>
                </a:r>
                <a14:m>
                  <m:oMath xmlns:m="http://schemas.openxmlformats.org/officeDocument/2006/math">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𝑥</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𝑢</m:t>
                        </m:r>
                        <m:r>
                          <a:rPr lang="en-US" altLang="zh-CN" sz="3000" b="0" i="1" dirty="0" smtClean="0">
                            <a:latin typeface="Cambria Math" panose="02040503050406030204" pitchFamily="18" charset="0"/>
                            <a:ea typeface="楷体" panose="02010609060101010101" pitchFamily="49" charset="-122"/>
                          </a:rPr>
                          <m:t>)</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𝑢</m:t>
                        </m:r>
                        <m:r>
                          <a:rPr lang="en-US" altLang="zh-CN" sz="3000" b="0" i="1" dirty="0" smtClean="0">
                            <a:latin typeface="Cambria Math" panose="02040503050406030204" pitchFamily="18" charset="0"/>
                            <a:ea typeface="楷体" panose="02010609060101010101" pitchFamily="49" charset="-122"/>
                          </a:rPr>
                          <m:t>)</m:t>
                        </m:r>
                      </m:e>
                      <m:sub>
                        <m:r>
                          <a:rPr lang="en-US" altLang="zh-CN" sz="3000" b="0" i="1" dirty="0" smtClean="0">
                            <a:latin typeface="Cambria Math" panose="02040503050406030204" pitchFamily="18" charset="0"/>
                            <a:ea typeface="楷体" panose="02010609060101010101" pitchFamily="49" charset="-122"/>
                          </a:rPr>
                          <m:t>𝑥</m:t>
                        </m:r>
                      </m:sub>
                    </m:sSub>
                  </m:oMath>
                </a14:m>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727040" y="3928624"/>
                <a:ext cx="6743767" cy="757555"/>
              </a:xfrm>
              <a:prstGeom prst="rect">
                <a:avLst/>
              </a:prstGeom>
              <a:blipFill rotWithShape="1">
                <a:blip r:embed="rId5"/>
                <a:stretch>
                  <a:fillRect l="-9" t="-68"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727039" y="4634477"/>
                <a:ext cx="6743767" cy="7575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即</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的共轭调和函数是</a:t>
                </a:r>
                <a14:m>
                  <m:oMath xmlns:m="http://schemas.openxmlformats.org/officeDocument/2006/math">
                    <m:r>
                      <a:rPr lang="en-US" altLang="zh-CN" sz="3000" i="1" dirty="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𝑢</m:t>
                    </m:r>
                  </m:oMath>
                </a14:m>
                <a:endParaRPr lang="en-US" altLang="zh-CN"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727039" y="4634477"/>
                <a:ext cx="6743767" cy="757555"/>
              </a:xfrm>
              <a:prstGeom prst="rect">
                <a:avLst/>
              </a:prstGeom>
              <a:blipFill rotWithShape="1">
                <a:blip r:embed="rId6"/>
                <a:stretch>
                  <a:fillRect l="-9" t="-33" b="3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5" grpId="0"/>
      <p:bldP spid="8"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210331" y="458915"/>
                <a:ext cx="8607817" cy="146233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𝑇ℎ𝑚</m:t>
                    </m:r>
                    <m:r>
                      <a:rPr lang="en-US" altLang="zh-CN" sz="3000" b="0" i="1" smtClean="0">
                        <a:latin typeface="Cambria Math" panose="02040503050406030204" pitchFamily="18" charset="0"/>
                        <a:ea typeface="楷体" panose="02010609060101010101" pitchFamily="49" charset="-122"/>
                      </a:rPr>
                      <m:t>:</m:t>
                    </m:r>
                  </m:oMath>
                </a14:m>
                <a:r>
                  <a:rPr lang="en-US" altLang="zh-CN" sz="3000" dirty="0">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𝐷</m:t>
                    </m:r>
                    <m:r>
                      <a:rPr lang="zh-CN" altLang="en-US" sz="3000" i="1">
                        <a:latin typeface="Cambria Math" panose="02040503050406030204" pitchFamily="18" charset="0"/>
                        <a:ea typeface="楷体" panose="02010609060101010101" pitchFamily="49" charset="-122"/>
                      </a:rPr>
                      <m:t>内</m:t>
                    </m:r>
                  </m:oMath>
                </a14:m>
                <a:r>
                  <a:rPr lang="zh-CN" altLang="en-US" sz="3000" dirty="0">
                    <a:latin typeface="楷体" panose="02010609060101010101" pitchFamily="49" charset="-122"/>
                    <a:ea typeface="楷体" panose="02010609060101010101" pitchFamily="49" charset="-122"/>
                  </a:rPr>
                  <a:t>解析</a:t>
                </a:r>
                <a14:m>
                  <m:oMath xmlns:m="http://schemas.openxmlformats.org/officeDocument/2006/math">
                    <m:groupChr>
                      <m:groupChrPr>
                        <m:chr m:val="⇔"/>
                        <m:vertJc m:val="bot"/>
                        <m:ctrlPr>
                          <a:rPr lang="en-US" altLang="zh-CN" sz="3000" i="1" smtClean="0">
                            <a:latin typeface="Cambria Math" panose="02040503050406030204" pitchFamily="18" charset="0"/>
                            <a:ea typeface="楷体" panose="02010609060101010101" pitchFamily="49" charset="-122"/>
                          </a:rPr>
                        </m:ctrlPr>
                      </m:groupChrPr>
                      <m:e/>
                    </m:groupChr>
                    <m:r>
                      <a:rPr lang="zh-CN" altLang="en-US" sz="3000" i="1">
                        <a:latin typeface="Cambria Math" panose="02040503050406030204" pitchFamily="18" charset="0"/>
                        <a:ea typeface="楷体" panose="02010609060101010101" pitchFamily="49" charset="-122"/>
                      </a:rPr>
                      <m:t>在</m:t>
                    </m:r>
                    <m:r>
                      <a:rPr lang="en-US" altLang="zh-CN" sz="3000" i="1">
                        <a:latin typeface="Cambria Math" panose="02040503050406030204" pitchFamily="18" charset="0"/>
                        <a:ea typeface="楷体" panose="02010609060101010101" pitchFamily="49" charset="-122"/>
                      </a:rPr>
                      <m:t>𝐷</m:t>
                    </m:r>
                    <m:r>
                      <a:rPr lang="zh-CN" altLang="en-US" sz="3000" i="1">
                        <a:latin typeface="Cambria Math" panose="02040503050406030204" pitchFamily="18" charset="0"/>
                        <a:ea typeface="楷体" panose="02010609060101010101" pitchFamily="49" charset="-122"/>
                      </a:rPr>
                      <m:t>内</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𝑣</m:t>
                    </m:r>
                    <m:r>
                      <a:rPr lang="zh-CN" altLang="en-US" sz="3000" i="1">
                        <a:latin typeface="Cambria Math" panose="02040503050406030204" pitchFamily="18" charset="0"/>
                        <a:ea typeface="楷体" panose="02010609060101010101" pitchFamily="49" charset="-122"/>
                      </a:rPr>
                      <m:t>为</m:t>
                    </m:r>
                  </m:oMath>
                </a14:m>
                <a:r>
                  <a:rPr lang="zh-CN" altLang="en-US" sz="3000" dirty="0">
                    <a:latin typeface="楷体" panose="02010609060101010101" pitchFamily="49" charset="-122"/>
                    <a:ea typeface="楷体" panose="02010609060101010101" pitchFamily="49" charset="-122"/>
                  </a:rPr>
                  <a:t>调和函数，且满足</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𝐶</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𝑅</m:t>
                    </m:r>
                  </m:oMath>
                </a14:m>
                <a:r>
                  <a:rPr lang="zh-CN" altLang="en-US" sz="3000" dirty="0">
                    <a:latin typeface="楷体" panose="02010609060101010101" pitchFamily="49" charset="-122"/>
                    <a:ea typeface="楷体" panose="02010609060101010101" pitchFamily="49" charset="-122"/>
                  </a:rPr>
                  <a:t>方程。</a:t>
                </a:r>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210331" y="458915"/>
                <a:ext cx="8607817" cy="1462338"/>
              </a:xfrm>
              <a:prstGeom prst="rect">
                <a:avLst/>
              </a:prstGeom>
              <a:blipFill rotWithShape="1">
                <a:blip r:embed="rId1"/>
                <a:stretch>
                  <a:fillRect l="-2" t="-8064" r="6" b="-80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90779" y="3566116"/>
                <a:ext cx="3521402" cy="69663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zh-CN" altLang="en-US" sz="3000" b="1" i="1" smtClean="0">
                        <a:solidFill>
                          <a:schemeClr val="tx1"/>
                        </a:solidFill>
                        <a:latin typeface="Cambria Math" panose="02040503050406030204" pitchFamily="18" charset="0"/>
                        <a:ea typeface="楷体" panose="02010609060101010101" pitchFamily="49" charset="-122"/>
                      </a:rPr>
                      <m:t>三</m:t>
                    </m:r>
                  </m:oMath>
                </a14:m>
                <a:r>
                  <a:rPr lang="zh-CN" altLang="en-US" sz="3000" b="1" dirty="0">
                    <a:solidFill>
                      <a:schemeClr val="tx1"/>
                    </a:solidFill>
                    <a:latin typeface="楷体" panose="02010609060101010101" pitchFamily="49" charset="-122"/>
                    <a:ea typeface="楷体" panose="02010609060101010101" pitchFamily="49" charset="-122"/>
                  </a:rPr>
                  <a:t>、构造解析函数</a:t>
                </a:r>
                <a:endParaRPr lang="en-US" altLang="zh-CN" sz="3000" b="1" dirty="0">
                  <a:solidFill>
                    <a:schemeClr val="tx1"/>
                  </a:solidFill>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90779" y="3566116"/>
                <a:ext cx="3521402" cy="696633"/>
              </a:xfrm>
              <a:prstGeom prst="rect">
                <a:avLst/>
              </a:prstGeom>
              <a:blipFill rotWithShape="1">
                <a:blip r:embed="rId2"/>
                <a:stretch>
                  <a:fillRect l="-8" t="-996" r="17" b="-10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190500" y="4328421"/>
                <a:ext cx="8763000" cy="159702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solidFill>
                      <a:schemeClr val="tx1"/>
                    </a:solidFill>
                    <a:latin typeface="楷体" panose="02010609060101010101" pitchFamily="49" charset="-122"/>
                    <a:ea typeface="楷体" panose="02010609060101010101" pitchFamily="49" charset="-122"/>
                  </a:rPr>
                  <a:t>已知调和函数</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m:t>
                    </m:r>
                  </m:oMath>
                </a14:m>
                <a:r>
                  <a:rPr lang="zh-CN" altLang="en-US" sz="3000" dirty="0">
                    <a:solidFill>
                      <a:schemeClr val="tx1"/>
                    </a:solidFill>
                    <a:latin typeface="楷体" panose="02010609060101010101" pitchFamily="49" charset="-122"/>
                    <a:ea typeface="楷体" panose="02010609060101010101" pitchFamily="49" charset="-122"/>
                  </a:rPr>
                  <a:t>利用</a:t>
                </a:r>
                <a14:m>
                  <m:oMath xmlns:m="http://schemas.openxmlformats.org/officeDocument/2006/math">
                    <m:r>
                      <a:rPr lang="en-US" altLang="zh-CN" sz="3000" i="1">
                        <a:latin typeface="Cambria Math" panose="02040503050406030204" pitchFamily="18" charset="0"/>
                        <a:ea typeface="楷体" panose="02010609060101010101" pitchFamily="49" charset="-122"/>
                      </a:rPr>
                      <m:t>𝐶</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𝑅</m:t>
                    </m:r>
                  </m:oMath>
                </a14:m>
                <a:r>
                  <a:rPr lang="zh-CN" altLang="en-US" sz="3000" dirty="0">
                    <a:solidFill>
                      <a:schemeClr val="tx1"/>
                    </a:solidFill>
                    <a:latin typeface="楷体" panose="02010609060101010101" pitchFamily="49" charset="-122"/>
                    <a:ea typeface="楷体" panose="02010609060101010101" pitchFamily="49" charset="-122"/>
                  </a:rPr>
                  <a:t>方程，可求得共轭调和函数</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r>
                      <a:rPr lang="en-US" altLang="zh-CN" sz="3000" i="1">
                        <a:latin typeface="Cambria Math" panose="02040503050406030204" pitchFamily="18" charset="0"/>
                        <a:ea typeface="楷体" panose="02010609060101010101" pitchFamily="49" charset="-122"/>
                      </a:rPr>
                      <m:t>)</m:t>
                    </m:r>
                  </m:oMath>
                </a14:m>
                <a:r>
                  <a:rPr lang="en-US" altLang="zh-CN" sz="3000" dirty="0">
                    <a:solidFill>
                      <a:schemeClr val="tx1"/>
                    </a:solidFill>
                    <a:latin typeface="楷体" panose="02010609060101010101" pitchFamily="49" charset="-122"/>
                    <a:ea typeface="楷体" panose="02010609060101010101" pitchFamily="49" charset="-122"/>
                  </a:rPr>
                  <a:t>,</a:t>
                </a:r>
                <a:r>
                  <a:rPr lang="zh-CN" altLang="en-US" sz="3000" dirty="0">
                    <a:solidFill>
                      <a:schemeClr val="tx1"/>
                    </a:solidFill>
                    <a:latin typeface="楷体" panose="02010609060101010101" pitchFamily="49" charset="-122"/>
                    <a:ea typeface="楷体" panose="02010609060101010101" pitchFamily="49" charset="-122"/>
                  </a:rPr>
                  <a:t>从而构成解析函数</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r>
                      <a:rPr lang="en-US" altLang="zh-CN" sz="3000" b="0" i="1" smtClean="0">
                        <a:latin typeface="Cambria Math" panose="02040503050406030204" pitchFamily="18" charset="0"/>
                        <a:ea typeface="楷体" panose="02010609060101010101" pitchFamily="49" charset="-122"/>
                      </a:rPr>
                      <m:t>.</m:t>
                    </m:r>
                  </m:oMath>
                </a14:m>
                <a:endParaRPr lang="en-US" altLang="zh-CN" sz="3000" dirty="0">
                  <a:solidFill>
                    <a:schemeClr val="tx1"/>
                  </a:solidFill>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90500" y="4328421"/>
                <a:ext cx="8763000" cy="1597025"/>
              </a:xfrm>
              <a:prstGeom prst="rect">
                <a:avLst/>
              </a:prstGeom>
              <a:blipFill rotWithShape="1">
                <a:blip r:embed="rId3"/>
                <a:stretch>
                  <a:fillRect t="-16" b="16"/>
                </a:stretch>
              </a:blipFill>
            </p:spPr>
            <p:txBody>
              <a:bodyPr/>
              <a:lstStyle/>
              <a:p>
                <a:r>
                  <a:rPr lang="zh-CN" altLang="en-US">
                    <a:noFill/>
                  </a:rPr>
                  <a:t> </a:t>
                </a:r>
              </a:p>
            </p:txBody>
          </p:sp>
        </mc:Fallback>
      </mc:AlternateContent>
      <p:grpSp>
        <p:nvGrpSpPr>
          <p:cNvPr id="7" name="组合 6"/>
          <p:cNvGrpSpPr/>
          <p:nvPr/>
        </p:nvGrpSpPr>
        <p:grpSpPr>
          <a:xfrm>
            <a:off x="0" y="82323"/>
            <a:ext cx="9088711" cy="516645"/>
            <a:chOff x="0" y="82323"/>
            <a:chExt cx="9088711" cy="516645"/>
          </a:xfrm>
        </p:grpSpPr>
        <p:sp>
          <p:nvSpPr>
            <p:cNvPr id="8"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9" name="直接连接符 8"/>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4" name="标题 1"/>
              <p:cNvSpPr txBox="1"/>
              <p:nvPr/>
            </p:nvSpPr>
            <p:spPr>
              <a:xfrm>
                <a:off x="240446" y="1897184"/>
                <a:ext cx="8607817" cy="146233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𝑇ℎ𝑚</m:t>
                    </m:r>
                    <m:r>
                      <a:rPr lang="en-US" altLang="zh-CN" sz="3000" b="0" i="1" smtClean="0">
                        <a:latin typeface="Cambria Math" panose="02040503050406030204" pitchFamily="18" charset="0"/>
                        <a:ea typeface="楷体" panose="02010609060101010101" pitchFamily="49" charset="-122"/>
                      </a:rPr>
                      <m:t>:</m:t>
                    </m:r>
                  </m:oMath>
                </a14:m>
                <a:r>
                  <a:rPr lang="en-US" altLang="zh-CN" sz="3000" dirty="0">
                    <a:ea typeface="楷体" panose="02010609060101010101" pitchFamily="49" charset="-122"/>
                  </a:rPr>
                  <a:t> </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𝐷</m:t>
                    </m:r>
                    <m:r>
                      <a:rPr lang="zh-CN" altLang="en-US" sz="3000" i="1">
                        <a:latin typeface="Cambria Math" panose="02040503050406030204" pitchFamily="18" charset="0"/>
                        <a:ea typeface="楷体" panose="02010609060101010101" pitchFamily="49" charset="-122"/>
                      </a:rPr>
                      <m:t>内</m:t>
                    </m:r>
                  </m:oMath>
                </a14:m>
                <a:r>
                  <a:rPr lang="zh-CN" altLang="en-US" sz="3000" dirty="0">
                    <a:latin typeface="楷体" panose="02010609060101010101" pitchFamily="49" charset="-122"/>
                    <a:ea typeface="楷体" panose="02010609060101010101" pitchFamily="49" charset="-122"/>
                  </a:rPr>
                  <a:t>解析</a:t>
                </a:r>
                <a14:m>
                  <m:oMath xmlns:m="http://schemas.openxmlformats.org/officeDocument/2006/math">
                    <m:groupChr>
                      <m:groupChrPr>
                        <m:chr m:val="⇔"/>
                        <m:vertJc m:val="bot"/>
                        <m:ctrlPr>
                          <a:rPr lang="en-US" altLang="zh-CN" sz="3000" i="1" smtClean="0">
                            <a:latin typeface="Cambria Math" panose="02040503050406030204" pitchFamily="18" charset="0"/>
                            <a:ea typeface="楷体" panose="02010609060101010101" pitchFamily="49" charset="-122"/>
                          </a:rPr>
                        </m:ctrlPr>
                      </m:groupChrPr>
                      <m:e/>
                    </m:groupChr>
                    <m:r>
                      <a:rPr lang="zh-CN" altLang="en-US" sz="3000" i="1">
                        <a:latin typeface="Cambria Math" panose="02040503050406030204" pitchFamily="18" charset="0"/>
                        <a:ea typeface="楷体" panose="02010609060101010101" pitchFamily="49" charset="-122"/>
                      </a:rPr>
                      <m:t>在</m:t>
                    </m:r>
                    <m:r>
                      <a:rPr lang="en-US" altLang="zh-CN" sz="3000" i="1">
                        <a:latin typeface="Cambria Math" panose="02040503050406030204" pitchFamily="18" charset="0"/>
                        <a:ea typeface="楷体" panose="02010609060101010101" pitchFamily="49" charset="-122"/>
                      </a:rPr>
                      <m:t>𝐷</m:t>
                    </m:r>
                    <m:r>
                      <a:rPr lang="zh-CN" altLang="en-US" sz="3000" i="1">
                        <a:latin typeface="Cambria Math" panose="02040503050406030204" pitchFamily="18" charset="0"/>
                        <a:ea typeface="楷体" panose="02010609060101010101" pitchFamily="49" charset="-122"/>
                      </a:rPr>
                      <m:t>内</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𝑣</m:t>
                    </m:r>
                    <m:r>
                      <a:rPr lang="zh-CN" altLang="en-US" sz="3000" i="1">
                        <a:latin typeface="Cambria Math" panose="02040503050406030204" pitchFamily="18" charset="0"/>
                        <a:ea typeface="楷体" panose="02010609060101010101" pitchFamily="49" charset="-122"/>
                      </a:rPr>
                      <m:t>为</m:t>
                    </m:r>
                  </m:oMath>
                </a14:m>
                <a:r>
                  <a:rPr lang="zh-CN" altLang="en-US" sz="3000" dirty="0">
                    <a:latin typeface="楷体" panose="02010609060101010101" pitchFamily="49" charset="-122"/>
                    <a:ea typeface="楷体" panose="02010609060101010101" pitchFamily="49" charset="-122"/>
                  </a:rPr>
                  <a:t>调和函数，且</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为</a:t>
                </a:r>
                <a14:m>
                  <m:oMath xmlns:m="http://schemas.openxmlformats.org/officeDocument/2006/math">
                    <m:r>
                      <a:rPr lang="en-US" altLang="zh-CN" sz="3000" i="1">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的共轭调和函数。</a:t>
                </a:r>
                <a:endParaRPr lang="en-US" altLang="zh-CN"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240446" y="1897184"/>
                <a:ext cx="8607817" cy="1462338"/>
              </a:xfrm>
              <a:prstGeom prst="rect">
                <a:avLst/>
              </a:prstGeom>
              <a:blipFill rotWithShape="1">
                <a:blip r:embed="rId4"/>
                <a:stretch>
                  <a:fillRect l="-5" t="-8063" r="2" b="-800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197145" y="1053315"/>
                <a:ext cx="8694420" cy="8782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由</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𝐶</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𝑅</m:t>
                    </m:r>
                  </m:oMath>
                </a14:m>
                <a:r>
                  <a:rPr lang="zh-CN" altLang="en-US" sz="3000" dirty="0">
                    <a:latin typeface="楷体" panose="02010609060101010101" pitchFamily="49" charset="-122"/>
                    <a:ea typeface="楷体" panose="02010609060101010101" pitchFamily="49" charset="-122"/>
                  </a:rPr>
                  <a:t>方程</a:t>
                </a:r>
                <a14:m>
                  <m:oMath xmlns:m="http://schemas.openxmlformats.org/officeDocument/2006/math">
                    <m:sSub>
                      <m:sSubPr>
                        <m:ctrlPr>
                          <a:rPr lang="en-US" altLang="zh-CN" sz="300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𝑢</m:t>
                        </m:r>
                      </m:e>
                      <m:sub>
                        <m:r>
                          <a:rPr lang="en-US" altLang="zh-CN" sz="3000" b="0" i="1" dirty="0" smtClean="0">
                            <a:latin typeface="Cambria Math" panose="02040503050406030204" pitchFamily="18" charset="0"/>
                            <a:ea typeface="楷体" panose="02010609060101010101" pitchFamily="49" charset="-122"/>
                          </a:rPr>
                          <m:t>𝑥</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b="0" i="1" dirty="0" smtClean="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b="0" i="1" dirty="0" smtClean="0">
                        <a:latin typeface="Cambria Math" panose="02040503050406030204" pitchFamily="18" charset="0"/>
                        <a:ea typeface="楷体" panose="02010609060101010101" pitchFamily="49" charset="-122"/>
                      </a:rPr>
                      <m:t>,</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i="1" dirty="0">
                            <a:latin typeface="Cambria Math" panose="02040503050406030204" pitchFamily="18" charset="0"/>
                            <a:ea typeface="楷体" panose="02010609060101010101" pitchFamily="49" charset="-122"/>
                          </a:rPr>
                          <m:t>𝑢</m:t>
                        </m:r>
                      </m:e>
                      <m:sub>
                        <m:r>
                          <a:rPr lang="en-US" altLang="zh-CN" sz="3000" b="0" i="1" dirty="0" smtClean="0">
                            <a:latin typeface="Cambria Math" panose="02040503050406030204" pitchFamily="18" charset="0"/>
                            <a:ea typeface="楷体" panose="02010609060101010101" pitchFamily="49" charset="-122"/>
                          </a:rPr>
                          <m:t>𝑦</m:t>
                        </m:r>
                      </m:sub>
                    </m:sSub>
                    <m:r>
                      <a:rPr lang="en-US" altLang="zh-CN" sz="3000" i="1" dirty="0">
                        <a:latin typeface="Cambria Math" panose="02040503050406030204" pitchFamily="18" charset="0"/>
                        <a:ea typeface="楷体" panose="02010609060101010101" pitchFamily="49" charset="-122"/>
                      </a:rPr>
                      <m:t>=</m:t>
                    </m:r>
                    <m:sSub>
                      <m:sSubPr>
                        <m:ctrlPr>
                          <a:rPr lang="en-US" altLang="zh-CN" sz="3000" i="1" dirty="0">
                            <a:latin typeface="Cambria Math" panose="02040503050406030204" pitchFamily="18" charset="0"/>
                            <a:ea typeface="楷体" panose="02010609060101010101" pitchFamily="49" charset="-122"/>
                          </a:rPr>
                        </m:ctrlPr>
                      </m:sSubPr>
                      <m:e>
                        <m:r>
                          <a:rPr lang="en-US" altLang="zh-CN" sz="3000" b="0" i="1" dirty="0" smtClean="0">
                            <a:latin typeface="Cambria Math" panose="02040503050406030204" pitchFamily="18" charset="0"/>
                            <a:ea typeface="楷体" panose="02010609060101010101" pitchFamily="49" charset="-122"/>
                          </a:rPr>
                          <m:t>−</m:t>
                        </m:r>
                        <m:r>
                          <a:rPr lang="en-US" altLang="zh-CN" sz="3000" i="1" dirty="0">
                            <a:latin typeface="Cambria Math" panose="02040503050406030204" pitchFamily="18" charset="0"/>
                            <a:ea typeface="楷体" panose="02010609060101010101" pitchFamily="49" charset="-122"/>
                          </a:rPr>
                          <m:t>𝑣</m:t>
                        </m:r>
                      </m:e>
                      <m:sub>
                        <m:r>
                          <a:rPr lang="en-US" altLang="zh-CN" sz="3000" b="0" i="1" dirty="0" smtClean="0">
                            <a:latin typeface="Cambria Math" panose="02040503050406030204" pitchFamily="18" charset="0"/>
                            <a:ea typeface="楷体" panose="02010609060101010101" pitchFamily="49" charset="-122"/>
                          </a:rPr>
                          <m:t>𝑥</m:t>
                        </m:r>
                      </m:sub>
                    </m:sSub>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有：</a:t>
                </a:r>
                <a:endParaRPr lang="zh-CN" altLang="en-US"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97145" y="1053315"/>
                <a:ext cx="8694420" cy="878205"/>
              </a:xfrm>
              <a:prstGeom prst="rect">
                <a:avLst/>
              </a:prstGeom>
              <a:blipFill rotWithShape="1">
                <a:blip r:embed="rId1"/>
                <a:stretch>
                  <a:fillRect l="-3" t="-55" r="3" b="5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252435" y="1783882"/>
                <a:ext cx="3630930" cy="7581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150000"/>
                  </a:lnSpc>
                  <a:buFont typeface="Arial" panose="020B0604020202020204" pitchFamily="34" charset="0"/>
                  <a:buChar char="•"/>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𝑑𝑣</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𝑑𝑥</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𝑑𝑦</m:t>
                    </m:r>
                  </m:oMath>
                </a14:m>
                <a:endParaRPr lang="en-US" altLang="zh-CN" sz="2700" b="0" i="1" dirty="0">
                  <a:latin typeface="Cambria Math" panose="02040503050406030204" pitchFamily="18" charset="0"/>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252435" y="1783882"/>
                <a:ext cx="3630930" cy="758190"/>
              </a:xfrm>
              <a:prstGeom prst="rect">
                <a:avLst/>
              </a:prstGeom>
              <a:blipFill rotWithShape="1">
                <a:blip r:embed="rId2"/>
                <a:stretch>
                  <a:fillRect l="-9" t="-22" r="9"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3706835" y="1711492"/>
                <a:ext cx="3432175" cy="9036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𝑑𝑥</m:t>
                      </m:r>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cs typeface="Cambria Math" panose="02040503050406030204" pitchFamily="18" charset="0"/>
                        </a:rPr>
                        <m:t>𝑑𝑦</m:t>
                      </m:r>
                    </m:oMath>
                  </m:oMathPara>
                </a14:m>
                <a:endParaRPr lang="en-US" altLang="zh-CN" sz="3000" b="0" i="1" dirty="0">
                  <a:latin typeface="Cambria Math" panose="02040503050406030204" pitchFamily="18" charset="0"/>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3706835" y="1711492"/>
                <a:ext cx="3432175" cy="903605"/>
              </a:xfrm>
              <a:prstGeom prst="rect">
                <a:avLst/>
              </a:prstGeom>
              <a:blipFill rotWithShape="1">
                <a:blip r:embed="rId3"/>
                <a:stretch>
                  <a:fillRect l="-10" t="-18" r="10"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2649487" y="3254911"/>
                <a:ext cx="2066290" cy="112585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a:latin typeface="Cambria Math" panose="02040503050406030204" pitchFamily="18" charset="0"/>
                    <a:ea typeface="楷体" panose="02010609060101010101" pitchFamily="49" charset="-122"/>
                  </a:rPr>
                  <a:t>=</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limLoc m:val="undOvr"/>
                        <m:subHide m:val="on"/>
                        <m:supHide m:val="on"/>
                        <m:ctrlPr>
                          <a:rPr lang="en-US" altLang="zh-CN" sz="3000" b="0" i="1" smtClean="0">
                            <a:latin typeface="Cambria Math" panose="02040503050406030204" pitchFamily="18" charset="0"/>
                            <a:ea typeface="楷体" panose="02010609060101010101" pitchFamily="49" charset="-122"/>
                          </a:rPr>
                        </m:ctrlPr>
                      </m:naryPr>
                      <m:sub/>
                      <m:sup/>
                      <m:e>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e>
                    </m:nary>
                    <m:r>
                      <a:rPr lang="en-US" altLang="zh-CN" sz="3000" b="0" i="1" smtClean="0">
                        <a:latin typeface="Cambria Math" panose="02040503050406030204" pitchFamily="18" charset="0"/>
                        <a:ea typeface="楷体" panose="02010609060101010101" pitchFamily="49" charset="-122"/>
                      </a:rPr>
                      <m:t>𝑑𝑥</m:t>
                    </m:r>
                  </m:oMath>
                </a14:m>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2649487" y="3254911"/>
                <a:ext cx="2066290" cy="1125855"/>
              </a:xfrm>
              <a:prstGeom prst="rect">
                <a:avLst/>
              </a:prstGeom>
              <a:blipFill rotWithShape="1">
                <a:blip r:embed="rId4"/>
                <a:stretch>
                  <a:fillRect l="-13" t="-48" r="13"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215532" y="3340636"/>
                <a:ext cx="3630930" cy="9277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150000"/>
                  </a:lnSpc>
                  <a:buFont typeface="Arial" panose="020B0604020202020204" pitchFamily="34" charset="0"/>
                  <a:buChar char="•"/>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nary>
                      <m:naryPr>
                        <m:limLoc m:val="undOvr"/>
                        <m:subHide m:val="on"/>
                        <m:supHide m:val="on"/>
                        <m:ctrlPr>
                          <a:rPr lang="en-US" altLang="zh-CN" sz="3000" b="0" i="1" smtClean="0">
                            <a:latin typeface="Cambria Math" panose="02040503050406030204" pitchFamily="18" charset="0"/>
                            <a:ea typeface="楷体" panose="02010609060101010101" pitchFamily="49" charset="-122"/>
                          </a:rPr>
                        </m:ctrlPr>
                      </m:naryPr>
                      <m:sub/>
                      <m:sup/>
                      <m:e>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e>
                    </m:nary>
                    <m:r>
                      <a:rPr lang="en-US" altLang="zh-CN" sz="3000" b="0" i="1" smtClean="0">
                        <a:latin typeface="Cambria Math" panose="02040503050406030204" pitchFamily="18" charset="0"/>
                        <a:ea typeface="楷体" panose="02010609060101010101" pitchFamily="49" charset="-122"/>
                      </a:rPr>
                      <m:t>𝑑𝑥</m:t>
                    </m:r>
                  </m:oMath>
                </a14:m>
                <a:endParaRPr lang="en-US" altLang="zh-CN"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215532" y="3340636"/>
                <a:ext cx="3630930" cy="927735"/>
              </a:xfrm>
              <a:prstGeom prst="rect">
                <a:avLst/>
              </a:prstGeom>
              <a:blipFill rotWithShape="1">
                <a:blip r:embed="rId5"/>
                <a:stretch>
                  <a:fillRect l="-7" t="-58" r="7"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1945619" y="2297914"/>
                <a:ext cx="6630035" cy="115252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Cambria Math" panose="02040503050406030204" pitchFamily="18" charset="0"/>
                    <a:ea typeface="楷体" panose="02010609060101010101" pitchFamily="49" charset="-122"/>
                  </a:rPr>
                  <a:t>则</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nary>
                      <m:naryPr>
                        <m:ctrlPr>
                          <a:rPr lang="en-US" altLang="zh-CN" sz="3000" b="0" i="1" smtClean="0">
                            <a:latin typeface="Cambria Math" panose="02040503050406030204" pitchFamily="18" charset="0"/>
                            <a:ea typeface="楷体" panose="02010609060101010101" pitchFamily="49" charset="-122"/>
                          </a:rPr>
                        </m:ctrlPr>
                      </m:naryPr>
                      <m:sub>
                        <m:d>
                          <m:dPr>
                            <m:ctrlPr>
                              <a:rPr lang="en-US" altLang="zh-CN" sz="3000" b="0" i="1" smtClean="0">
                                <a:latin typeface="Cambria Math" panose="02040503050406030204" pitchFamily="18" charset="0"/>
                                <a:ea typeface="楷体" panose="02010609060101010101" pitchFamily="49" charset="-122"/>
                              </a:rPr>
                            </m:ctrlPr>
                          </m:dPr>
                          <m:e>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𝑥</m:t>
                                </m:r>
                              </m:e>
                              <m:sub>
                                <m:r>
                                  <a:rPr lang="en-US" altLang="zh-CN" sz="3000" b="0" i="1" smtClean="0">
                                    <a:latin typeface="Cambria Math" panose="02040503050406030204" pitchFamily="18" charset="0"/>
                                    <a:ea typeface="楷体" panose="02010609060101010101" pitchFamily="49" charset="-122"/>
                                  </a:rPr>
                                  <m:t>0</m:t>
                                </m:r>
                              </m:sub>
                            </m:sSub>
                            <m:r>
                              <m:rPr>
                                <m:brk m:alnAt="23"/>
                              </m:rP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𝑦</m:t>
                                </m:r>
                              </m:e>
                              <m:sub>
                                <m:r>
                                  <a:rPr lang="en-US" altLang="zh-CN" sz="3000" b="0" i="1" smtClean="0">
                                    <a:latin typeface="Cambria Math" panose="02040503050406030204" pitchFamily="18" charset="0"/>
                                    <a:ea typeface="楷体" panose="02010609060101010101" pitchFamily="49" charset="-122"/>
                                  </a:rPr>
                                  <m:t>0</m:t>
                                </m:r>
                              </m:sub>
                            </m:sSub>
                          </m:e>
                        </m:d>
                      </m:sub>
                      <m:sup>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e>
                        </m:d>
                      </m:sup>
                      <m:e>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𝑢</m:t>
                            </m:r>
                          </m:e>
                          <m:sub>
                            <m:r>
                              <a:rPr lang="en-US" altLang="zh-CN" sz="3000" i="1">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𝑑𝑥</m:t>
                        </m:r>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𝑢</m:t>
                            </m:r>
                          </m:e>
                          <m:sub>
                            <m:r>
                              <a:rPr lang="en-US" altLang="zh-CN" sz="3000" i="1">
                                <a:latin typeface="Cambria Math" panose="02040503050406030204" pitchFamily="18" charset="0"/>
                                <a:ea typeface="楷体" panose="02010609060101010101" pitchFamily="49" charset="-122"/>
                              </a:rPr>
                              <m:t>𝑥</m:t>
                            </m:r>
                          </m:sub>
                        </m:sSub>
                        <m:r>
                          <a:rPr lang="en-US" altLang="zh-CN" sz="3000" i="1">
                            <a:latin typeface="Cambria Math" panose="02040503050406030204" pitchFamily="18" charset="0"/>
                            <a:ea typeface="楷体" panose="02010609060101010101" pitchFamily="49" charset="-122"/>
                          </a:rPr>
                          <m:t>𝑑𝑦</m:t>
                        </m:r>
                      </m:e>
                    </m:nary>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a14:m>
                <a:endParaRPr lang="en-US" altLang="zh-CN"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1945619" y="2297914"/>
                <a:ext cx="6630035" cy="1152525"/>
              </a:xfrm>
              <a:prstGeom prst="rect">
                <a:avLst/>
              </a:prstGeom>
              <a:blipFill rotWithShape="1">
                <a:blip r:embed="rId6"/>
                <a:stretch>
                  <a:fillRect l="-9" t="-42" r="9"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4481462" y="3560346"/>
                <a:ext cx="2337435" cy="6851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zh-CN" altLang="en-US" sz="3000" b="0" i="1" smtClean="0">
                          <a:latin typeface="Cambria Math" panose="02040503050406030204" pitchFamily="18" charset="0"/>
                          <a:ea typeface="楷体" panose="02010609060101010101" pitchFamily="49" charset="-122"/>
                        </a:rPr>
                        <m:t>𝜑</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4481462" y="3560346"/>
                <a:ext cx="2337435" cy="685165"/>
              </a:xfrm>
              <a:prstGeom prst="rect">
                <a:avLst/>
              </a:prstGeom>
              <a:blipFill rotWithShape="1">
                <a:blip r:embed="rId7"/>
                <a:stretch>
                  <a:fillRect l="-11" t="-78" r="11"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377390" y="4270276"/>
                <a:ext cx="3561715" cy="79248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3000" b="0" i="1" smtClean="0">
                              <a:latin typeface="Cambria Math" panose="02040503050406030204" pitchFamily="18" charset="0"/>
                              <a:ea typeface="楷体" panose="02010609060101010101" pitchFamily="49" charset="-122"/>
                            </a:rPr>
                          </m:ctrlPr>
                        </m:sSupPr>
                        <m:e>
                          <m:r>
                            <a:rPr lang="zh-CN" altLang="en-US" sz="3000" b="0" i="1" smtClean="0">
                              <a:latin typeface="Cambria Math" panose="02040503050406030204" pitchFamily="18" charset="0"/>
                              <a:ea typeface="楷体" panose="02010609060101010101" pitchFamily="49" charset="-122"/>
                            </a:rPr>
                            <m:t>𝜑</m:t>
                          </m:r>
                        </m:e>
                        <m:sup>
                          <m:r>
                            <a:rPr lang="en-US" altLang="zh-CN" sz="3000" b="0" i="1" smtClean="0">
                              <a:latin typeface="Cambria Math" panose="02040503050406030204" pitchFamily="18" charset="0"/>
                              <a:ea typeface="楷体" panose="02010609060101010101" pitchFamily="49" charset="-122"/>
                            </a:rPr>
                            <m:t>′</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𝐶</m:t>
                          </m:r>
                        </m:e>
                        <m:sup>
                          <m:r>
                            <a:rPr lang="en-US" altLang="zh-CN" sz="3000" b="0" i="1" smtClean="0">
                              <a:latin typeface="Cambria Math" panose="02040503050406030204" pitchFamily="18" charset="0"/>
                              <a:ea typeface="楷体" panose="02010609060101010101" pitchFamily="49" charset="-122"/>
                            </a:rPr>
                            <m:t>′</m:t>
                          </m:r>
                        </m:sup>
                      </m:sSup>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377390" y="4270276"/>
                <a:ext cx="3561715" cy="792480"/>
              </a:xfrm>
              <a:prstGeom prst="rect">
                <a:avLst/>
              </a:prstGeom>
              <a:blipFill rotWithShape="1">
                <a:blip r:embed="rId8"/>
                <a:stretch>
                  <a:fillRect l="-6" t="-68" r="6"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3483810" y="4369336"/>
                <a:ext cx="1021715" cy="64516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3483810" y="4369336"/>
                <a:ext cx="1021715" cy="645160"/>
              </a:xfrm>
              <a:prstGeom prst="rect">
                <a:avLst/>
              </a:prstGeom>
              <a:blipFill rotWithShape="1">
                <a:blip r:embed="rId9"/>
                <a:stretch>
                  <a:fillRect l="-20" t="-3134" r="20" b="-31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4391860" y="4268371"/>
                <a:ext cx="3041650" cy="87693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 </m:t>
                      </m:r>
                      <m:r>
                        <a:rPr lang="en-US" altLang="zh-CN" sz="3000" b="0" i="1" smtClean="0">
                          <a:latin typeface="Cambria Math" panose="02040503050406030204" pitchFamily="18" charset="0"/>
                          <a:ea typeface="楷体" panose="02010609060101010101" pitchFamily="49" charset="-122"/>
                        </a:rPr>
                        <m:t>𝐶</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r>
                        <a:rPr lang="zh-CN" altLang="en-US" sz="3000" b="0" i="1" smtClean="0">
                          <a:latin typeface="Cambria Math" panose="02040503050406030204" pitchFamily="18" charset="0"/>
                          <a:ea typeface="楷体" panose="02010609060101010101" pitchFamily="49" charset="-122"/>
                        </a:rPr>
                        <m:t>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4391860" y="4268371"/>
                <a:ext cx="3041650" cy="876935"/>
              </a:xfrm>
              <a:prstGeom prst="rect">
                <a:avLst/>
              </a:prstGeom>
              <a:blipFill rotWithShape="1">
                <a:blip r:embed="rId10"/>
                <a:stretch>
                  <a:fillRect l="-7" t="-61" r="7" b="6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242208" y="5190443"/>
                <a:ext cx="3448050" cy="79121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lnSpc>
                    <a:spcPct val="150000"/>
                  </a:lnSpc>
                  <a:buFont typeface="Arial" panose="020B0604020202020204" pitchFamily="34" charset="0"/>
                  <a:buChar char="•"/>
                </a:pPr>
                <a14:m>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oMath>
                </a14:m>
                <a:endParaRPr lang="en-US" altLang="zh-CN" sz="30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242208" y="5190443"/>
                <a:ext cx="3448050" cy="791210"/>
              </a:xfrm>
              <a:prstGeom prst="rect">
                <a:avLst/>
              </a:prstGeom>
              <a:blipFill rotWithShape="1">
                <a:blip r:embed="rId11"/>
                <a:stretch>
                  <a:fillRect l="-8" t="-74" r="8" b="7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标题 1"/>
              <p:cNvSpPr txBox="1"/>
              <p:nvPr/>
            </p:nvSpPr>
            <p:spPr>
              <a:xfrm>
                <a:off x="3319418" y="5190443"/>
                <a:ext cx="2117725" cy="77279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20" name="标题 1"/>
              <p:cNvSpPr txBox="1">
                <a:spLocks noRot="1" noChangeAspect="1" noMove="1" noResize="1" noEditPoints="1" noAdjustHandles="1" noChangeArrowheads="1" noChangeShapeType="1" noTextEdit="1"/>
              </p:cNvSpPr>
              <p:nvPr/>
            </p:nvSpPr>
            <p:spPr>
              <a:xfrm>
                <a:off x="3319418" y="5190443"/>
                <a:ext cx="2117725" cy="772795"/>
              </a:xfrm>
              <a:prstGeom prst="rect">
                <a:avLst/>
              </a:prstGeom>
              <a:blipFill rotWithShape="1">
                <a:blip r:embed="rId12"/>
                <a:stretch>
                  <a:fillRect l="-13" t="-76" r="13" b="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标题 1"/>
              <p:cNvSpPr txBox="1"/>
              <p:nvPr/>
            </p:nvSpPr>
            <p:spPr>
              <a:xfrm>
                <a:off x="5216163" y="5190443"/>
                <a:ext cx="1433195" cy="8585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21" name="标题 1"/>
              <p:cNvSpPr txBox="1">
                <a:spLocks noRot="1" noChangeAspect="1" noMove="1" noResize="1" noEditPoints="1" noAdjustHandles="1" noChangeArrowheads="1" noChangeShapeType="1" noTextEdit="1"/>
              </p:cNvSpPr>
              <p:nvPr/>
            </p:nvSpPr>
            <p:spPr>
              <a:xfrm>
                <a:off x="5216163" y="5190443"/>
                <a:ext cx="1433195" cy="858520"/>
              </a:xfrm>
              <a:prstGeom prst="rect">
                <a:avLst/>
              </a:prstGeom>
              <a:blipFill rotWithShape="1">
                <a:blip r:embed="rId13"/>
                <a:stretch>
                  <a:fillRect l="-19" t="-68" r="19"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标题 1"/>
              <p:cNvSpPr txBox="1"/>
              <p:nvPr/>
            </p:nvSpPr>
            <p:spPr>
              <a:xfrm>
                <a:off x="134252" y="404662"/>
                <a:ext cx="8694420" cy="87820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𝑢</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是</a:t>
                </a:r>
                <a14:m>
                  <m:oMath xmlns:m="http://schemas.openxmlformats.org/officeDocument/2006/math">
                    <m:r>
                      <a:rPr lang="en-US" altLang="zh-CN" sz="3000" i="1" dirty="0">
                        <a:latin typeface="Cambria Math" panose="02040503050406030204" pitchFamily="18" charset="0"/>
                        <a:ea typeface="楷体" panose="02010609060101010101" pitchFamily="49" charset="-122"/>
                        <a:cs typeface="Cambria Math" panose="02040503050406030204" pitchFamily="18" charset="0"/>
                      </a:rPr>
                      <m:t>𝐷</m:t>
                    </m:r>
                  </m:oMath>
                </a14:m>
                <a:r>
                  <a:rPr lang="zh-CN" altLang="en-US" sz="3000" dirty="0">
                    <a:latin typeface="Cambria Math" panose="02040503050406030204" pitchFamily="18" charset="0"/>
                    <a:ea typeface="楷体" panose="02010609060101010101" pitchFamily="49" charset="-122"/>
                    <a:cs typeface="Cambria Math" panose="02040503050406030204" pitchFamily="18" charset="0"/>
                  </a:rPr>
                  <a:t>内的调和函数</a:t>
                </a:r>
                <a:endParaRPr lang="zh-CN" altLang="en-US" sz="30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 name="标题 1"/>
              <p:cNvSpPr txBox="1">
                <a:spLocks noRot="1" noChangeAspect="1" noMove="1" noResize="1" noEditPoints="1" noAdjustHandles="1" noChangeArrowheads="1" noChangeShapeType="1" noTextEdit="1"/>
              </p:cNvSpPr>
              <p:nvPr/>
            </p:nvSpPr>
            <p:spPr>
              <a:xfrm>
                <a:off x="134252" y="404662"/>
                <a:ext cx="8694420" cy="878205"/>
              </a:xfrm>
              <a:prstGeom prst="rect">
                <a:avLst/>
              </a:prstGeom>
              <a:blipFill rotWithShape="1">
                <a:blip r:embed="rId14"/>
                <a:stretch>
                  <a:fillRect l="-3" t="-19" r="3" b="19"/>
                </a:stretch>
              </a:blipFill>
            </p:spPr>
            <p:txBody>
              <a:bodyPr/>
              <a:lstStyle/>
              <a:p>
                <a:r>
                  <a:rPr lang="zh-CN" altLang="en-US">
                    <a:noFill/>
                  </a:rPr>
                  <a:t> </a:t>
                </a:r>
              </a:p>
            </p:txBody>
          </p:sp>
        </mc:Fallback>
      </mc:AlternateContent>
      <p:grpSp>
        <p:nvGrpSpPr>
          <p:cNvPr id="6" name="组合 5"/>
          <p:cNvGrpSpPr/>
          <p:nvPr/>
        </p:nvGrpSpPr>
        <p:grpSpPr>
          <a:xfrm>
            <a:off x="0" y="82323"/>
            <a:ext cx="9088711" cy="516645"/>
            <a:chOff x="0" y="82323"/>
            <a:chExt cx="9088711" cy="516645"/>
          </a:xfrm>
        </p:grpSpPr>
        <p:sp>
          <p:nvSpPr>
            <p:cNvPr id="11"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8" name="直接连接符 17"/>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p:bldP spid="8" grpId="0"/>
      <p:bldP spid="9" grpId="0"/>
      <p:bldP spid="12" grpId="0"/>
      <p:bldP spid="13" grpId="0"/>
      <p:bldP spid="14" grpId="0"/>
      <p:bldP spid="15" grpId="0"/>
      <p:bldP spid="16" grpId="0"/>
      <p:bldP spid="17" grpId="0"/>
      <p:bldP spid="19" grpId="0"/>
      <p:bldP spid="20" grpId="0"/>
      <p:bldP spid="21"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55289" y="390127"/>
                <a:ext cx="8907101" cy="9368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2800" i="1" smtClean="0">
                        <a:latin typeface="Cambria Math" panose="02040503050406030204" pitchFamily="18" charset="0"/>
                        <a:ea typeface="楷体" panose="02010609060101010101" pitchFamily="49" charset="-122"/>
                      </a:rPr>
                      <m:t>𝐸𝑔</m:t>
                    </m:r>
                    <m:r>
                      <a:rPr lang="en-US" altLang="zh-CN" sz="2800" i="1" smtClean="0">
                        <a:latin typeface="Cambria Math" panose="02040503050406030204" pitchFamily="18" charset="0"/>
                        <a:ea typeface="楷体" panose="02010609060101010101" pitchFamily="49" charset="-122"/>
                      </a:rPr>
                      <m:t>:</m:t>
                    </m:r>
                  </m:oMath>
                </a14:m>
                <a:r>
                  <a:rPr lang="zh-CN" altLang="en-US" sz="2800" dirty="0">
                    <a:latin typeface="楷体" panose="02010609060101010101" pitchFamily="49" charset="-122"/>
                    <a:ea typeface="楷体" panose="02010609060101010101" pitchFamily="49" charset="-122"/>
                  </a:rPr>
                  <a:t>设</a:t>
                </a: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𝑢</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𝑥</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𝑦</m:t>
                        </m:r>
                      </m:e>
                    </m:d>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𝑥</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2</m:t>
                    </m:r>
                    <m:r>
                      <a:rPr lang="en-US" altLang="zh-CN" sz="2800" b="0" i="1" smtClean="0">
                        <a:latin typeface="Cambria Math" panose="02040503050406030204" pitchFamily="18" charset="0"/>
                        <a:ea typeface="楷体" panose="02010609060101010101" pitchFamily="49" charset="-122"/>
                      </a:rPr>
                      <m:t>𝑥𝑦</m:t>
                    </m:r>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𝑦</m:t>
                        </m:r>
                      </m:e>
                      <m:sup>
                        <m:r>
                          <a:rPr lang="en-US" altLang="zh-CN" sz="2800" b="0" i="1" smtClean="0">
                            <a:latin typeface="Cambria Math" panose="02040503050406030204" pitchFamily="18" charset="0"/>
                            <a:ea typeface="楷体" panose="02010609060101010101" pitchFamily="49" charset="-122"/>
                          </a:rPr>
                          <m:t>2</m:t>
                        </m:r>
                      </m:sup>
                    </m:sSup>
                  </m:oMath>
                </a14:m>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求解析函数</a:t>
                </a: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𝑓</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𝑧</m:t>
                        </m:r>
                      </m:e>
                    </m:d>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𝑢</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𝑖𝑣</m:t>
                    </m:r>
                  </m:oMath>
                </a14:m>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5289" y="390127"/>
                <a:ext cx="8907101" cy="936850"/>
              </a:xfrm>
              <a:prstGeom prst="rect">
                <a:avLst/>
              </a:prstGeom>
              <a:blipFill rotWithShape="1">
                <a:blip r:embed="rId1"/>
                <a:stretch>
                  <a:fillRect t="-25" b="4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55289" y="1120492"/>
                <a:ext cx="8712200"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a:t>
                </a:r>
                <a:r>
                  <a:rPr lang="en-US" altLang="zh-CN" sz="3000" dirty="0">
                    <a:latin typeface="楷体" panose="02010609060101010101" pitchFamily="49" charset="-122"/>
                    <a:ea typeface="楷体" panose="02010609060101010101" pitchFamily="49" charset="-122"/>
                  </a:rPr>
                  <a:t>:</a:t>
                </a:r>
                <a14:m>
                  <m:oMath xmlns:m="http://schemas.openxmlformats.org/officeDocument/2006/math">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1</m:t>
                        </m:r>
                      </m:e>
                      <m:sup>
                        <m:r>
                          <a:rPr lang="en-US" altLang="zh-CN" sz="3000" b="0" i="1" smtClean="0">
                            <a:latin typeface="Cambria Math" panose="02040503050406030204" pitchFamily="18" charset="0"/>
                            <a:ea typeface="楷体" panose="02010609060101010101" pitchFamily="49" charset="-122"/>
                          </a:rPr>
                          <m:t>𝑜</m:t>
                        </m:r>
                      </m:sup>
                    </m:sSup>
                    <m:r>
                      <a:rPr lang="en-US" altLang="zh-CN" sz="3000" b="0" i="1" smtClean="0">
                        <a:latin typeface="Cambria Math" panose="02040503050406030204" pitchFamily="18" charset="0"/>
                        <a:ea typeface="楷体" panose="02010609060101010101" pitchFamily="49" charset="-122"/>
                      </a:rPr>
                      <m:t> </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r>
                      <a:rPr lang="en-US" altLang="zh-CN" sz="3000" b="0" i="0"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oMath>
                </a14:m>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55289" y="1120492"/>
                <a:ext cx="8712200" cy="779618"/>
              </a:xfrm>
              <a:prstGeom prst="rect">
                <a:avLst/>
              </a:prstGeom>
              <a:blipFill rotWithShape="1">
                <a:blip r:embed="rId2"/>
                <a:stretch>
                  <a:fillRect l="-1" t="-45" r="1"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136960" y="1779722"/>
                <a:ext cx="8095530"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nary>
                      <m:naryPr>
                        <m:ctrlPr>
                          <a:rPr lang="en-US" altLang="zh-CN" sz="3000" b="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0</m:t>
                        </m:r>
                        <m:r>
                          <a:rPr lang="en-US" altLang="zh-CN" sz="3000" b="0" i="1" smtClean="0">
                            <a:latin typeface="Cambria Math" panose="02040503050406030204" pitchFamily="18" charset="0"/>
                            <a:ea typeface="楷体" panose="02010609060101010101" pitchFamily="49" charset="-122"/>
                          </a:rPr>
                          <m:t>)</m:t>
                        </m:r>
                      </m:sub>
                      <m: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sup>
                      <m:e>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𝑑𝑥</m:t>
                        </m:r>
                        <m:r>
                          <a:rPr lang="en-US" altLang="zh-CN" sz="3000" b="0" i="1" smtClean="0">
                            <a:latin typeface="Cambria Math" panose="02040503050406030204" pitchFamily="18" charset="0"/>
                            <a:ea typeface="楷体" panose="02010609060101010101" pitchFamily="49" charset="-122"/>
                          </a:rPr>
                          <m:t>+</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𝑑𝑦</m:t>
                        </m:r>
                      </m:e>
                    </m:nary>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136960" y="1779722"/>
                <a:ext cx="8095530" cy="779618"/>
              </a:xfrm>
              <a:prstGeom prst="rect">
                <a:avLst/>
              </a:prstGeom>
              <a:blipFill rotWithShape="1">
                <a:blip r:embed="rId3"/>
                <a:stretch>
                  <a:fillRect l="-4" t="-16267" r="3" b="-162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1444797" y="2595057"/>
                <a:ext cx="6199116"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ctrlPr>
                          <a:rPr lang="en-US" altLang="zh-CN" sz="3000" b="0" i="1" smtClean="0">
                            <a:latin typeface="Cambria Math" panose="02040503050406030204" pitchFamily="18" charset="0"/>
                            <a:ea typeface="楷体" panose="02010609060101010101" pitchFamily="49" charset="-122"/>
                          </a:rPr>
                        </m:ctrlPr>
                      </m:naryPr>
                      <m:sub>
                        <m:r>
                          <m:rPr>
                            <m:brk m:alnAt="23"/>
                          </m:rPr>
                          <a:rPr lang="en-US" altLang="zh-CN" sz="3000" b="0" i="1" smtClean="0">
                            <a:latin typeface="Cambria Math" panose="02040503050406030204" pitchFamily="18" charset="0"/>
                            <a:ea typeface="楷体" panose="02010609060101010101" pitchFamily="49" charset="-122"/>
                          </a:rPr>
                          <m:t>0</m:t>
                        </m:r>
                      </m:sub>
                      <m:sup>
                        <m:r>
                          <a:rPr lang="en-US" altLang="zh-CN" sz="3000" b="0" i="1" smtClean="0">
                            <a:latin typeface="Cambria Math" panose="02040503050406030204" pitchFamily="18" charset="0"/>
                            <a:ea typeface="楷体" panose="02010609060101010101" pitchFamily="49" charset="-122"/>
                          </a:rPr>
                          <m:t>𝑥</m:t>
                        </m:r>
                      </m:sup>
                      <m:e>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𝑥</m:t>
                        </m:r>
                      </m:e>
                    </m:nary>
                    <m:r>
                      <a:rPr lang="en-US" altLang="zh-CN" sz="3000" b="0" i="1" smtClean="0">
                        <a:latin typeface="Cambria Math" panose="02040503050406030204" pitchFamily="18" charset="0"/>
                        <a:ea typeface="楷体" panose="02010609060101010101" pitchFamily="49" charset="-122"/>
                      </a:rPr>
                      <m:t>𝑑𝑥</m:t>
                    </m:r>
                    <m:r>
                      <a:rPr lang="en-US" altLang="zh-CN" sz="3000" b="0" i="1" smtClean="0">
                        <a:latin typeface="Cambria Math" panose="02040503050406030204" pitchFamily="18" charset="0"/>
                        <a:ea typeface="楷体" panose="02010609060101010101" pitchFamily="49" charset="-122"/>
                      </a:rPr>
                      <m:t>+</m:t>
                    </m:r>
                    <m:nary>
                      <m:naryPr>
                        <m:ctrlPr>
                          <a:rPr lang="en-US" altLang="zh-CN" sz="3000" i="1">
                            <a:latin typeface="Cambria Math" panose="02040503050406030204" pitchFamily="18" charset="0"/>
                            <a:ea typeface="楷体" panose="02010609060101010101" pitchFamily="49" charset="-122"/>
                          </a:rPr>
                        </m:ctrlPr>
                      </m:naryPr>
                      <m:sub>
                        <m:r>
                          <m:rPr>
                            <m:brk m:alnAt="23"/>
                          </m:rPr>
                          <a:rPr lang="en-US" altLang="zh-CN" sz="3000" i="1">
                            <a:latin typeface="Cambria Math" panose="02040503050406030204" pitchFamily="18" charset="0"/>
                            <a:ea typeface="楷体" panose="02010609060101010101" pitchFamily="49" charset="-122"/>
                          </a:rPr>
                          <m:t>0</m:t>
                        </m:r>
                      </m:sub>
                      <m:sup>
                        <m:r>
                          <a:rPr lang="en-US" altLang="zh-CN" sz="3000" b="0" i="1" smtClean="0">
                            <a:latin typeface="Cambria Math" panose="02040503050406030204" pitchFamily="18" charset="0"/>
                            <a:ea typeface="楷体" panose="02010609060101010101" pitchFamily="49" charset="-122"/>
                          </a:rPr>
                          <m:t>𝑦</m:t>
                        </m:r>
                      </m:sup>
                      <m:e>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e>
                    </m:nary>
                    <m:r>
                      <a:rPr lang="en-US" altLang="zh-CN" sz="3000" i="1">
                        <a:latin typeface="Cambria Math" panose="02040503050406030204" pitchFamily="18" charset="0"/>
                        <a:ea typeface="楷体" panose="02010609060101010101" pitchFamily="49" charset="-122"/>
                      </a:rPr>
                      <m:t>𝑑</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1444797" y="2595057"/>
                <a:ext cx="6199116" cy="779618"/>
              </a:xfrm>
              <a:prstGeom prst="rect">
                <a:avLst/>
              </a:prstGeom>
              <a:blipFill rotWithShape="1">
                <a:blip r:embed="rId4"/>
                <a:stretch>
                  <a:fillRect l="-3" t="-4619" r="7" b="-460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444797" y="3290299"/>
                <a:ext cx="6199116"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𝑥</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𝑥𝑦</m:t>
                    </m:r>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𝑦</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1444797" y="3290299"/>
                <a:ext cx="6199116" cy="779618"/>
              </a:xfrm>
              <a:prstGeom prst="rect">
                <a:avLst/>
              </a:prstGeom>
              <a:blipFill rotWithShape="1">
                <a:blip r:embed="rId5"/>
                <a:stretch>
                  <a:fillRect l="-3" t="-47" r="7"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704484" y="3908852"/>
                <a:ext cx="8347465"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𝑓</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𝑧</m:t>
                        </m:r>
                      </m:e>
                    </m:d>
                    <m:r>
                      <a:rPr lang="en-US" altLang="zh-CN" sz="2800" b="0" i="1" smtClean="0">
                        <a:latin typeface="Cambria Math" panose="02040503050406030204" pitchFamily="18" charset="0"/>
                        <a:ea typeface="楷体" panose="02010609060101010101" pitchFamily="49" charset="-122"/>
                      </a:rPr>
                      <m:t>=</m:t>
                    </m:r>
                    <m:d>
                      <m:dPr>
                        <m:ctrlPr>
                          <a:rPr lang="en-US" altLang="zh-CN" sz="2800" b="0" i="1" smtClean="0">
                            <a:latin typeface="Cambria Math" panose="02040503050406030204" pitchFamily="18" charset="0"/>
                            <a:ea typeface="Cambria Math" panose="02040503050406030204" pitchFamily="18" charset="0"/>
                          </a:rPr>
                        </m:ctrlPr>
                      </m:dPr>
                      <m:e>
                        <m:sSup>
                          <m:sSupPr>
                            <m:ctrlPr>
                              <a:rPr lang="en-US" altLang="zh-CN" sz="2800" i="1">
                                <a:latin typeface="Cambria Math" panose="02040503050406030204" pitchFamily="18" charset="0"/>
                                <a:ea typeface="楷体" panose="02010609060101010101" pitchFamily="49" charset="-122"/>
                              </a:rPr>
                            </m:ctrlPr>
                          </m:sSupPr>
                          <m:e>
                            <m:r>
                              <a:rPr lang="en-US" altLang="zh-CN" sz="2800" i="1">
                                <a:latin typeface="Cambria Math" panose="02040503050406030204" pitchFamily="18" charset="0"/>
                                <a:ea typeface="楷体" panose="02010609060101010101" pitchFamily="49" charset="-122"/>
                              </a:rPr>
                              <m:t>𝑥</m:t>
                            </m:r>
                          </m:e>
                          <m:sup>
                            <m:r>
                              <a:rPr lang="en-US" altLang="zh-CN" sz="2800" i="1">
                                <a:latin typeface="Cambria Math" panose="02040503050406030204" pitchFamily="18" charset="0"/>
                                <a:ea typeface="楷体" panose="02010609060101010101" pitchFamily="49" charset="-122"/>
                              </a:rPr>
                              <m:t>2</m:t>
                            </m:r>
                          </m:sup>
                        </m:sSup>
                        <m:r>
                          <a:rPr lang="en-US" altLang="zh-CN" sz="2800" i="1">
                            <a:latin typeface="Cambria Math" panose="02040503050406030204" pitchFamily="18" charset="0"/>
                            <a:ea typeface="楷体" panose="02010609060101010101" pitchFamily="49" charset="-122"/>
                          </a:rPr>
                          <m:t>+</m:t>
                        </m:r>
                        <m:r>
                          <a:rPr lang="en-US" altLang="zh-CN" sz="2800" i="1">
                            <a:latin typeface="Cambria Math" panose="02040503050406030204" pitchFamily="18" charset="0"/>
                            <a:ea typeface="楷体" panose="02010609060101010101" pitchFamily="49" charset="-122"/>
                          </a:rPr>
                          <m:t>2</m:t>
                        </m:r>
                        <m:r>
                          <a:rPr lang="en-US" altLang="zh-CN" sz="2800" i="1">
                            <a:latin typeface="Cambria Math" panose="02040503050406030204" pitchFamily="18" charset="0"/>
                            <a:ea typeface="楷体" panose="02010609060101010101" pitchFamily="49" charset="-122"/>
                          </a:rPr>
                          <m:t>𝑥𝑦</m:t>
                        </m:r>
                        <m:r>
                          <a:rPr lang="en-US" altLang="zh-CN" sz="2800" i="1">
                            <a:latin typeface="Cambria Math" panose="02040503050406030204" pitchFamily="18" charset="0"/>
                            <a:ea typeface="楷体" panose="02010609060101010101" pitchFamily="49" charset="-122"/>
                          </a:rPr>
                          <m:t>−</m:t>
                        </m:r>
                        <m:sSup>
                          <m:sSupPr>
                            <m:ctrlPr>
                              <a:rPr lang="en-US" altLang="zh-CN" sz="2800" i="1">
                                <a:latin typeface="Cambria Math" panose="02040503050406030204" pitchFamily="18" charset="0"/>
                                <a:ea typeface="楷体" panose="02010609060101010101" pitchFamily="49" charset="-122"/>
                              </a:rPr>
                            </m:ctrlPr>
                          </m:sSupPr>
                          <m:e>
                            <m:r>
                              <a:rPr lang="en-US" altLang="zh-CN" sz="2800" i="1">
                                <a:latin typeface="Cambria Math" panose="02040503050406030204" pitchFamily="18" charset="0"/>
                                <a:ea typeface="楷体" panose="02010609060101010101" pitchFamily="49" charset="-122"/>
                              </a:rPr>
                              <m:t>𝑦</m:t>
                            </m:r>
                          </m:e>
                          <m:sup>
                            <m:r>
                              <a:rPr lang="en-US" altLang="zh-CN" sz="2800" i="1">
                                <a:latin typeface="Cambria Math" panose="02040503050406030204" pitchFamily="18" charset="0"/>
                                <a:ea typeface="楷体" panose="02010609060101010101" pitchFamily="49" charset="-122"/>
                              </a:rPr>
                              <m:t>2</m:t>
                            </m:r>
                          </m:sup>
                        </m:sSup>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𝑖</m:t>
                    </m:r>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𝑥</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2</m:t>
                    </m:r>
                    <m:r>
                      <a:rPr lang="en-US" altLang="zh-CN" sz="2800" b="0" i="1" smtClean="0">
                        <a:latin typeface="Cambria Math" panose="02040503050406030204" pitchFamily="18" charset="0"/>
                        <a:ea typeface="楷体" panose="02010609060101010101" pitchFamily="49" charset="-122"/>
                      </a:rPr>
                      <m:t>𝑥𝑦</m:t>
                    </m:r>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𝑦</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𝐶</m:t>
                    </m:r>
                    <m:r>
                      <a:rPr lang="en-US" altLang="zh-CN" sz="2800" b="0" i="1" smtClean="0">
                        <a:latin typeface="Cambria Math" panose="02040503050406030204" pitchFamily="18" charset="0"/>
                        <a:ea typeface="楷体" panose="02010609060101010101" pitchFamily="49" charset="-122"/>
                      </a:rPr>
                      <m:t>)</m:t>
                    </m:r>
                  </m:oMath>
                </a14:m>
                <a:r>
                  <a:rPr lang="en-US" altLang="zh-CN" sz="2800" dirty="0">
                    <a:latin typeface="楷体" panose="02010609060101010101" pitchFamily="49" charset="-122"/>
                    <a:ea typeface="楷体" panose="02010609060101010101" pitchFamily="49" charset="-122"/>
                  </a:rPr>
                  <a:t> </a:t>
                </a:r>
                <a:endParaRPr lang="en-US" altLang="zh-CN" sz="28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704484" y="3908852"/>
                <a:ext cx="8347465" cy="779618"/>
              </a:xfrm>
              <a:prstGeom prst="rect">
                <a:avLst/>
              </a:prstGeom>
              <a:blipFill rotWithShape="1">
                <a:blip r:embed="rId6"/>
                <a:stretch>
                  <a:fillRect l="-3" t="-55"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1748326" y="4592002"/>
                <a:ext cx="2663063"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楷体" panose="02010609060101010101" pitchFamily="49" charset="-122"/>
                        </a:rPr>
                        <m:t>=</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1</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𝑖</m:t>
                          </m:r>
                        </m:e>
                      </m:d>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𝑧</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𝑖𝑐</m:t>
                      </m:r>
                    </m:oMath>
                  </m:oMathPara>
                </a14:m>
                <a:endParaRPr lang="en-US" altLang="zh-CN" sz="28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748326" y="4592002"/>
                <a:ext cx="2663063" cy="779618"/>
              </a:xfrm>
              <a:prstGeom prst="rect">
                <a:avLst/>
              </a:prstGeom>
              <a:blipFill rotWithShape="1">
                <a:blip r:embed="rId7"/>
                <a:stretch>
                  <a:fillRect l="-6" t="-41" r="2" b="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637281" y="5258364"/>
                <a:ext cx="8251080"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𝑃</m:t>
                    </m:r>
                    <m:r>
                      <a:rPr lang="en-US" altLang="zh-CN" sz="2800" b="0" i="1" smtClean="0">
                        <a:latin typeface="Cambria Math" panose="02040503050406030204" pitchFamily="18" charset="0"/>
                        <a:ea typeface="楷体" panose="02010609060101010101" pitchFamily="49" charset="-122"/>
                      </a:rPr>
                      <m:t>67</m:t>
                    </m:r>
                    <m:r>
                      <a:rPr lang="en-US" altLang="zh-CN" sz="2800" b="0" i="1" smtClean="0">
                        <a:latin typeface="Cambria Math" panose="02040503050406030204" pitchFamily="18" charset="0"/>
                        <a:ea typeface="楷体" panose="02010609060101010101" pitchFamily="49" charset="-122"/>
                      </a:rPr>
                      <m:t>:</m:t>
                    </m:r>
                  </m:oMath>
                </a14:m>
                <a:r>
                  <a:rPr lang="zh-CN" altLang="en-US" sz="2800" dirty="0">
                    <a:latin typeface="楷体" panose="02010609060101010101" pitchFamily="49" charset="-122"/>
                    <a:ea typeface="楷体" panose="02010609060101010101" pitchFamily="49" charset="-122"/>
                  </a:rPr>
                  <a:t>令</a:t>
                </a:r>
                <a14:m>
                  <m:oMath xmlns:m="http://schemas.openxmlformats.org/officeDocument/2006/math">
                    <m:r>
                      <a:rPr lang="en-US" altLang="zh-CN" sz="2800" b="0" i="1" dirty="0" smtClean="0">
                        <a:latin typeface="Cambria Math" panose="02040503050406030204" pitchFamily="18" charset="0"/>
                        <a:ea typeface="楷体" panose="02010609060101010101" pitchFamily="49" charset="-122"/>
                      </a:rPr>
                      <m:t>𝑥</m:t>
                    </m:r>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𝑧</m:t>
                    </m:r>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𝑦</m:t>
                    </m:r>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0</m:t>
                    </m:r>
                    <m:r>
                      <a:rPr lang="zh-CN" altLang="en-US" sz="2800" i="1" dirty="0">
                        <a:latin typeface="Cambria Math" panose="02040503050406030204" pitchFamily="18" charset="0"/>
                        <a:ea typeface="楷体" panose="02010609060101010101" pitchFamily="49" charset="-122"/>
                      </a:rPr>
                      <m:t>，</m:t>
                    </m:r>
                  </m:oMath>
                </a14:m>
                <a:r>
                  <a:rPr lang="zh-CN" altLang="en-US" sz="2800" dirty="0">
                    <a:latin typeface="楷体" panose="02010609060101010101" pitchFamily="49" charset="-122"/>
                    <a:ea typeface="楷体" panose="02010609060101010101" pitchFamily="49" charset="-122"/>
                  </a:rPr>
                  <a:t>得到关于</a:t>
                </a:r>
                <a14:m>
                  <m:oMath xmlns:m="http://schemas.openxmlformats.org/officeDocument/2006/math">
                    <m:r>
                      <a:rPr lang="en-US" altLang="zh-CN" sz="2800" i="1" dirty="0">
                        <a:latin typeface="Cambria Math" panose="02040503050406030204" pitchFamily="18" charset="0"/>
                        <a:ea typeface="楷体" panose="02010609060101010101" pitchFamily="49" charset="-122"/>
                      </a:rPr>
                      <m:t>𝑧</m:t>
                    </m:r>
                  </m:oMath>
                </a14:m>
                <a:r>
                  <a:rPr lang="zh-CN" altLang="en-US" sz="2800" dirty="0">
                    <a:latin typeface="楷体" panose="02010609060101010101" pitchFamily="49" charset="-122"/>
                    <a:ea typeface="楷体" panose="02010609060101010101" pitchFamily="49" charset="-122"/>
                  </a:rPr>
                  <a:t>的表达式</a:t>
                </a:r>
                <a:endParaRPr lang="en-US" altLang="zh-CN" sz="28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637281" y="5258364"/>
                <a:ext cx="8251080" cy="779618"/>
              </a:xfrm>
              <a:prstGeom prst="rect">
                <a:avLst/>
              </a:prstGeom>
              <a:blipFill rotWithShape="1">
                <a:blip r:embed="rId8"/>
                <a:stretch>
                  <a:fillRect l="-5" t="-72" r="3" b="5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5" grpId="0"/>
      <p:bldP spid="8" grpId="0"/>
      <p:bldP spid="9"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55289" y="390127"/>
                <a:ext cx="8907101" cy="9368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2800" i="1" smtClean="0">
                        <a:latin typeface="Cambria Math" panose="02040503050406030204" pitchFamily="18" charset="0"/>
                        <a:ea typeface="楷体" panose="02010609060101010101" pitchFamily="49" charset="-122"/>
                      </a:rPr>
                      <m:t>𝐸𝑔</m:t>
                    </m:r>
                    <m:r>
                      <a:rPr lang="en-US" altLang="zh-CN" sz="2800" i="1" smtClean="0">
                        <a:latin typeface="Cambria Math" panose="02040503050406030204" pitchFamily="18" charset="0"/>
                        <a:ea typeface="楷体" panose="02010609060101010101" pitchFamily="49" charset="-122"/>
                      </a:rPr>
                      <m:t>:</m:t>
                    </m:r>
                  </m:oMath>
                </a14:m>
                <a:r>
                  <a:rPr lang="zh-CN" altLang="en-US" sz="2800" dirty="0">
                    <a:latin typeface="楷体" panose="02010609060101010101" pitchFamily="49" charset="-122"/>
                    <a:ea typeface="楷体" panose="02010609060101010101" pitchFamily="49" charset="-122"/>
                  </a:rPr>
                  <a:t>设</a:t>
                </a: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𝑢</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𝑥</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𝑦</m:t>
                        </m:r>
                      </m:e>
                    </m:d>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𝑥</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2</m:t>
                    </m:r>
                    <m:r>
                      <a:rPr lang="en-US" altLang="zh-CN" sz="2800" b="0" i="1" smtClean="0">
                        <a:latin typeface="Cambria Math" panose="02040503050406030204" pitchFamily="18" charset="0"/>
                        <a:ea typeface="楷体" panose="02010609060101010101" pitchFamily="49" charset="-122"/>
                      </a:rPr>
                      <m:t>𝑥𝑦</m:t>
                    </m:r>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𝑦</m:t>
                        </m:r>
                      </m:e>
                      <m:sup>
                        <m:r>
                          <a:rPr lang="en-US" altLang="zh-CN" sz="2800" b="0" i="1" smtClean="0">
                            <a:latin typeface="Cambria Math" panose="02040503050406030204" pitchFamily="18" charset="0"/>
                            <a:ea typeface="楷体" panose="02010609060101010101" pitchFamily="49" charset="-122"/>
                          </a:rPr>
                          <m:t>2</m:t>
                        </m:r>
                      </m:sup>
                    </m:sSup>
                  </m:oMath>
                </a14:m>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求解析函数</a:t>
                </a: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𝑓</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𝑧</m:t>
                        </m:r>
                      </m:e>
                    </m:d>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𝑢</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𝑖𝑣</m:t>
                    </m:r>
                  </m:oMath>
                </a14:m>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5289" y="390127"/>
                <a:ext cx="8907101" cy="936850"/>
              </a:xfrm>
              <a:prstGeom prst="rect">
                <a:avLst/>
              </a:prstGeom>
              <a:blipFill rotWithShape="1">
                <a:blip r:embed="rId1"/>
                <a:stretch>
                  <a:fillRect t="-25" b="4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55289" y="1120492"/>
                <a:ext cx="8712200"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a:t>
                </a:r>
                <a:r>
                  <a:rPr lang="en-US" altLang="zh-CN" sz="3000" dirty="0">
                    <a:latin typeface="楷体" panose="02010609060101010101" pitchFamily="49" charset="-122"/>
                    <a:ea typeface="楷体" panose="02010609060101010101" pitchFamily="49" charset="-122"/>
                  </a:rPr>
                  <a:t>:</a:t>
                </a:r>
                <a14:m>
                  <m:oMath xmlns:m="http://schemas.openxmlformats.org/officeDocument/2006/math">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2</m:t>
                        </m:r>
                      </m:e>
                      <m:sup>
                        <m:r>
                          <a:rPr lang="en-US" altLang="zh-CN" sz="3000" b="0" i="1" smtClean="0">
                            <a:latin typeface="Cambria Math" panose="02040503050406030204" pitchFamily="18" charset="0"/>
                            <a:ea typeface="楷体" panose="02010609060101010101" pitchFamily="49" charset="-122"/>
                          </a:rPr>
                          <m:t>𝑜</m:t>
                        </m:r>
                      </m:sup>
                    </m:sSup>
                    <m:r>
                      <a:rPr lang="en-US" altLang="zh-CN" sz="3000" b="0" i="1" smtClean="0">
                        <a:latin typeface="Cambria Math" panose="02040503050406030204" pitchFamily="18" charset="0"/>
                        <a:ea typeface="楷体" panose="02010609060101010101" pitchFamily="49" charset="-122"/>
                      </a:rPr>
                      <m:t> </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r>
                      <a:rPr lang="en-US" altLang="zh-CN" sz="3000" b="0" i="0"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oMath>
                </a14:m>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55289" y="1120492"/>
                <a:ext cx="8712200" cy="779618"/>
              </a:xfrm>
              <a:prstGeom prst="rect">
                <a:avLst/>
              </a:prstGeom>
              <a:blipFill rotWithShape="1">
                <a:blip r:embed="rId2"/>
                <a:stretch>
                  <a:fillRect l="-1" t="-45" r="1"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136650" y="1779905"/>
                <a:ext cx="3565525" cy="77978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nary>
                      <m:naryPr>
                        <m:limLoc m:val="undOvr"/>
                        <m:subHide m:val="on"/>
                        <m:supHide m:val="on"/>
                        <m:ctrlPr>
                          <a:rPr lang="en-US" altLang="zh-CN" sz="3000" b="0" i="1" smtClean="0">
                            <a:latin typeface="Cambria Math" panose="02040503050406030204" pitchFamily="18" charset="0"/>
                            <a:ea typeface="楷体" panose="02010609060101010101" pitchFamily="49" charset="-122"/>
                          </a:rPr>
                        </m:ctrlPr>
                      </m:naryPr>
                      <m:sub/>
                      <m:sup/>
                      <m:e>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e>
                    </m:nary>
                    <m:r>
                      <a:rPr lang="en-US" altLang="zh-CN" sz="3000" b="0" i="1" smtClean="0">
                        <a:latin typeface="Cambria Math" panose="02040503050406030204" pitchFamily="18" charset="0"/>
                        <a:ea typeface="楷体" panose="02010609060101010101" pitchFamily="49" charset="-122"/>
                      </a:rPr>
                      <m:t>𝑑𝑦</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136650" y="1779905"/>
                <a:ext cx="3565525" cy="77978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3079856" y="1802326"/>
                <a:ext cx="2765421"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nary>
                      <m:naryPr>
                        <m:limLoc m:val="undOvr"/>
                        <m:subHide m:val="on"/>
                        <m:supHide m:val="on"/>
                        <m:ctrlPr>
                          <a:rPr lang="en-US" altLang="zh-CN" sz="3000" b="0" i="1" smtClean="0">
                            <a:latin typeface="Cambria Math" panose="02040503050406030204" pitchFamily="18" charset="0"/>
                            <a:ea typeface="楷体" panose="02010609060101010101" pitchFamily="49" charset="-122"/>
                          </a:rPr>
                        </m:ctrlPr>
                      </m:naryPr>
                      <m:sub/>
                      <m:sup/>
                      <m:e>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𝑦</m:t>
                        </m:r>
                      </m:e>
                    </m:nary>
                    <m:r>
                      <a:rPr lang="en-US" altLang="zh-CN" sz="3000" b="0" i="1" smtClean="0">
                        <a:latin typeface="Cambria Math" panose="02040503050406030204" pitchFamily="18" charset="0"/>
                        <a:ea typeface="楷体" panose="02010609060101010101" pitchFamily="49" charset="-122"/>
                      </a:rPr>
                      <m:t>𝑑𝑦</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3079856" y="1802326"/>
                <a:ext cx="2765421" cy="779618"/>
              </a:xfrm>
              <a:prstGeom prst="rect">
                <a:avLst/>
              </a:prstGeom>
              <a:blipFill rotWithShape="1">
                <a:blip r:embed="rId4"/>
                <a:stretch>
                  <a:fillRect l="-4" t="-25" r="4"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5626411" y="1858041"/>
                <a:ext cx="3335979"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𝑥𝑦</m:t>
                      </m:r>
                      <m:r>
                        <a:rPr lang="en-US" altLang="zh-CN" sz="3000" b="0" i="1" smtClean="0">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𝑦</m:t>
                          </m:r>
                        </m:e>
                        <m:sup>
                          <m:r>
                            <a:rPr lang="en-US" altLang="zh-CN" sz="3000" i="1">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zh-CN" altLang="en-US" sz="3000" b="0" i="1" smtClean="0">
                          <a:latin typeface="Cambria Math" panose="02040503050406030204" pitchFamily="18" charset="0"/>
                          <a:ea typeface="楷体" panose="02010609060101010101" pitchFamily="49" charset="-122"/>
                        </a:rPr>
                        <m:t>𝜑</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5626411" y="1858041"/>
                <a:ext cx="3335979" cy="779618"/>
              </a:xfrm>
              <a:prstGeom prst="rect">
                <a:avLst/>
              </a:prstGeom>
              <a:blipFill rotWithShape="1">
                <a:blip r:embed="rId5"/>
                <a:stretch>
                  <a:fillRect l="-9" t="-4" b="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1136960" y="2667484"/>
                <a:ext cx="2864769"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3000" i="1" smtClean="0">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zh-CN" altLang="en-US" sz="3000" b="0" i="1" smtClean="0">
                              <a:latin typeface="Cambria Math" panose="02040503050406030204" pitchFamily="18" charset="0"/>
                              <a:ea typeface="楷体" panose="02010609060101010101" pitchFamily="49" charset="-122"/>
                            </a:rPr>
                            <m:t>𝜑</m:t>
                          </m:r>
                        </m:e>
                        <m:sup>
                          <m:r>
                            <a:rPr lang="en-US" altLang="zh-CN" sz="3000" b="0" i="1" smtClean="0">
                              <a:latin typeface="Cambria Math" panose="02040503050406030204" pitchFamily="18" charset="0"/>
                              <a:ea typeface="楷体" panose="02010609060101010101" pitchFamily="49" charset="-122"/>
                            </a:rPr>
                            <m:t>′</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1136960" y="2667484"/>
                <a:ext cx="2864769" cy="779618"/>
              </a:xfrm>
              <a:prstGeom prst="rect">
                <a:avLst/>
              </a:prstGeom>
              <a:blipFill rotWithShape="1">
                <a:blip r:embed="rId6"/>
                <a:stretch>
                  <a:fillRect l="-11" t="-62" r="21" b="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3834497" y="2667484"/>
                <a:ext cx="2202509"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3834497" y="2667484"/>
                <a:ext cx="2202509" cy="779618"/>
              </a:xfrm>
              <a:prstGeom prst="rect">
                <a:avLst/>
              </a:prstGeom>
              <a:blipFill rotWithShape="1">
                <a:blip r:embed="rId7"/>
                <a:stretch>
                  <a:fillRect l="-17" t="-62" r="3" b="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5909103" y="2693374"/>
                <a:ext cx="2762949"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楷体" panose="02010609060101010101" pitchFamily="49" charset="-122"/>
                            </a:rPr>
                          </m:ctrlPr>
                        </m:sSupPr>
                        <m:e>
                          <m:r>
                            <a:rPr lang="zh-CN" altLang="en-US" sz="3000" i="1">
                              <a:latin typeface="Cambria Math" panose="02040503050406030204" pitchFamily="18" charset="0"/>
                              <a:ea typeface="楷体" panose="02010609060101010101" pitchFamily="49" charset="-122"/>
                            </a:rPr>
                            <m:t>𝜑</m:t>
                          </m:r>
                        </m:e>
                        <m:sup>
                          <m:r>
                            <a:rPr lang="en-US" altLang="zh-CN" sz="3000" i="1">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5909103" y="2693374"/>
                <a:ext cx="2762949" cy="779618"/>
              </a:xfrm>
              <a:prstGeom prst="rect">
                <a:avLst/>
              </a:prstGeom>
              <a:blipFill rotWithShape="1">
                <a:blip r:embed="rId8"/>
                <a:stretch>
                  <a:fillRect l="-15" t="-43" r="18"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1174829" y="3429000"/>
                <a:ext cx="3239855"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zh-CN" altLang="en-US" sz="3000" i="1" smtClean="0">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𝜑</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e>
                      </m:d>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𝑥</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1174829" y="3429000"/>
                <a:ext cx="3239855" cy="779618"/>
              </a:xfrm>
              <a:prstGeom prst="rect">
                <a:avLst/>
              </a:prstGeom>
              <a:blipFill rotWithShape="1">
                <a:blip r:embed="rId9"/>
                <a:stretch>
                  <a:fillRect l="-2" r="5" b="6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1174829" y="4068097"/>
                <a:ext cx="4572126"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zh-CN" altLang="en-US" sz="3000" i="1" smtClean="0">
                          <a:latin typeface="Cambria Math" panose="02040503050406030204" pitchFamily="18" charset="0"/>
                          <a:ea typeface="楷体" panose="02010609060101010101" pitchFamily="49" charset="-122"/>
                        </a:rPr>
                        <m:t>即</m:t>
                      </m:r>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𝑥</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𝑥𝑦</m:t>
                      </m:r>
                      <m:r>
                        <a:rPr lang="en-US" altLang="zh-CN" sz="3000" i="1">
                          <a:latin typeface="Cambria Math" panose="02040503050406030204" pitchFamily="18" charset="0"/>
                          <a:ea typeface="楷体" panose="02010609060101010101" pitchFamily="49" charset="-122"/>
                        </a:rPr>
                        <m:t>+</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𝑦</m:t>
                          </m:r>
                        </m:e>
                        <m:sup>
                          <m:r>
                            <a:rPr lang="en-US" altLang="zh-CN" sz="3000" i="1">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1174829" y="4068097"/>
                <a:ext cx="4572126" cy="779618"/>
              </a:xfrm>
              <a:prstGeom prst="rect">
                <a:avLst/>
              </a:prstGeom>
              <a:blipFill rotWithShape="1">
                <a:blip r:embed="rId10"/>
                <a:stretch>
                  <a:fillRect l="-2" t="-37" r="4"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标题 1"/>
              <p:cNvSpPr txBox="1"/>
              <p:nvPr/>
            </p:nvSpPr>
            <p:spPr>
              <a:xfrm>
                <a:off x="1136960" y="4636440"/>
                <a:ext cx="8347465"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𝑓</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𝑧</m:t>
                        </m:r>
                      </m:e>
                    </m:d>
                    <m:r>
                      <a:rPr lang="en-US" altLang="zh-CN" sz="2800" b="0" i="1" smtClean="0">
                        <a:latin typeface="Cambria Math" panose="02040503050406030204" pitchFamily="18" charset="0"/>
                        <a:ea typeface="楷体" panose="02010609060101010101" pitchFamily="49" charset="-122"/>
                      </a:rPr>
                      <m:t>=</m:t>
                    </m:r>
                    <m:d>
                      <m:dPr>
                        <m:ctrlPr>
                          <a:rPr lang="en-US" altLang="zh-CN" sz="2800" b="0" i="1" smtClean="0">
                            <a:latin typeface="Cambria Math" panose="02040503050406030204" pitchFamily="18" charset="0"/>
                            <a:ea typeface="Cambria Math" panose="02040503050406030204" pitchFamily="18" charset="0"/>
                          </a:rPr>
                        </m:ctrlPr>
                      </m:dPr>
                      <m:e>
                        <m:sSup>
                          <m:sSupPr>
                            <m:ctrlPr>
                              <a:rPr lang="en-US" altLang="zh-CN" sz="2800" i="1">
                                <a:latin typeface="Cambria Math" panose="02040503050406030204" pitchFamily="18" charset="0"/>
                                <a:ea typeface="楷体" panose="02010609060101010101" pitchFamily="49" charset="-122"/>
                              </a:rPr>
                            </m:ctrlPr>
                          </m:sSupPr>
                          <m:e>
                            <m:r>
                              <a:rPr lang="en-US" altLang="zh-CN" sz="2800" i="1">
                                <a:latin typeface="Cambria Math" panose="02040503050406030204" pitchFamily="18" charset="0"/>
                                <a:ea typeface="楷体" panose="02010609060101010101" pitchFamily="49" charset="-122"/>
                              </a:rPr>
                              <m:t>𝑥</m:t>
                            </m:r>
                          </m:e>
                          <m:sup>
                            <m:r>
                              <a:rPr lang="en-US" altLang="zh-CN" sz="2800" i="1">
                                <a:latin typeface="Cambria Math" panose="02040503050406030204" pitchFamily="18" charset="0"/>
                                <a:ea typeface="楷体" panose="02010609060101010101" pitchFamily="49" charset="-122"/>
                              </a:rPr>
                              <m:t>2</m:t>
                            </m:r>
                          </m:sup>
                        </m:sSup>
                        <m:r>
                          <a:rPr lang="en-US" altLang="zh-CN" sz="2800" i="1">
                            <a:latin typeface="Cambria Math" panose="02040503050406030204" pitchFamily="18" charset="0"/>
                            <a:ea typeface="楷体" panose="02010609060101010101" pitchFamily="49" charset="-122"/>
                          </a:rPr>
                          <m:t>+</m:t>
                        </m:r>
                        <m:r>
                          <a:rPr lang="en-US" altLang="zh-CN" sz="2800" i="1">
                            <a:latin typeface="Cambria Math" panose="02040503050406030204" pitchFamily="18" charset="0"/>
                            <a:ea typeface="楷体" panose="02010609060101010101" pitchFamily="49" charset="-122"/>
                          </a:rPr>
                          <m:t>2</m:t>
                        </m:r>
                        <m:r>
                          <a:rPr lang="en-US" altLang="zh-CN" sz="2800" i="1">
                            <a:latin typeface="Cambria Math" panose="02040503050406030204" pitchFamily="18" charset="0"/>
                            <a:ea typeface="楷体" panose="02010609060101010101" pitchFamily="49" charset="-122"/>
                          </a:rPr>
                          <m:t>𝑥𝑦</m:t>
                        </m:r>
                        <m:r>
                          <a:rPr lang="en-US" altLang="zh-CN" sz="2800" i="1">
                            <a:latin typeface="Cambria Math" panose="02040503050406030204" pitchFamily="18" charset="0"/>
                            <a:ea typeface="楷体" panose="02010609060101010101" pitchFamily="49" charset="-122"/>
                          </a:rPr>
                          <m:t>−</m:t>
                        </m:r>
                        <m:sSup>
                          <m:sSupPr>
                            <m:ctrlPr>
                              <a:rPr lang="en-US" altLang="zh-CN" sz="2800" i="1">
                                <a:latin typeface="Cambria Math" panose="02040503050406030204" pitchFamily="18" charset="0"/>
                                <a:ea typeface="楷体" panose="02010609060101010101" pitchFamily="49" charset="-122"/>
                              </a:rPr>
                            </m:ctrlPr>
                          </m:sSupPr>
                          <m:e>
                            <m:r>
                              <a:rPr lang="en-US" altLang="zh-CN" sz="2800" i="1">
                                <a:latin typeface="Cambria Math" panose="02040503050406030204" pitchFamily="18" charset="0"/>
                                <a:ea typeface="楷体" panose="02010609060101010101" pitchFamily="49" charset="-122"/>
                              </a:rPr>
                              <m:t>𝑦</m:t>
                            </m:r>
                          </m:e>
                          <m:sup>
                            <m:r>
                              <a:rPr lang="en-US" altLang="zh-CN" sz="2800" i="1">
                                <a:latin typeface="Cambria Math" panose="02040503050406030204" pitchFamily="18" charset="0"/>
                                <a:ea typeface="楷体" panose="02010609060101010101" pitchFamily="49" charset="-122"/>
                              </a:rPr>
                              <m:t>2</m:t>
                            </m:r>
                          </m:sup>
                        </m:sSup>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𝑖</m:t>
                    </m:r>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𝑥</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2</m:t>
                    </m:r>
                    <m:r>
                      <a:rPr lang="en-US" altLang="zh-CN" sz="2800" b="0" i="1" smtClean="0">
                        <a:latin typeface="Cambria Math" panose="02040503050406030204" pitchFamily="18" charset="0"/>
                        <a:ea typeface="楷体" panose="02010609060101010101" pitchFamily="49" charset="-122"/>
                      </a:rPr>
                      <m:t>𝑥𝑦</m:t>
                    </m:r>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𝑦</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𝐶</m:t>
                    </m:r>
                    <m:r>
                      <a:rPr lang="en-US" altLang="zh-CN" sz="2800" b="0" i="1" smtClean="0">
                        <a:latin typeface="Cambria Math" panose="02040503050406030204" pitchFamily="18" charset="0"/>
                        <a:ea typeface="楷体" panose="02010609060101010101" pitchFamily="49" charset="-122"/>
                      </a:rPr>
                      <m:t>)</m:t>
                    </m:r>
                  </m:oMath>
                </a14:m>
                <a:r>
                  <a:rPr lang="en-US" altLang="zh-CN" sz="2800" dirty="0">
                    <a:latin typeface="楷体" panose="02010609060101010101" pitchFamily="49" charset="-122"/>
                    <a:ea typeface="楷体" panose="02010609060101010101" pitchFamily="49" charset="-122"/>
                  </a:rPr>
                  <a:t> </a:t>
                </a:r>
                <a:endParaRPr lang="en-US" altLang="zh-CN" sz="2800" dirty="0">
                  <a:latin typeface="楷体" panose="02010609060101010101" pitchFamily="49" charset="-122"/>
                  <a:ea typeface="楷体" panose="02010609060101010101" pitchFamily="49" charset="-122"/>
                </a:endParaRPr>
              </a:p>
            </p:txBody>
          </p:sp>
        </mc:Choice>
        <mc:Fallback>
          <p:sp>
            <p:nvSpPr>
              <p:cNvPr id="21" name="标题 1"/>
              <p:cNvSpPr txBox="1">
                <a:spLocks noRot="1" noChangeAspect="1" noMove="1" noResize="1" noEditPoints="1" noAdjustHandles="1" noChangeArrowheads="1" noChangeShapeType="1" noTextEdit="1"/>
              </p:cNvSpPr>
              <p:nvPr/>
            </p:nvSpPr>
            <p:spPr>
              <a:xfrm>
                <a:off x="1136960" y="4636440"/>
                <a:ext cx="8347465" cy="779618"/>
              </a:xfrm>
              <a:prstGeom prst="rect">
                <a:avLst/>
              </a:prstGeom>
              <a:blipFill rotWithShape="1">
                <a:blip r:embed="rId11"/>
                <a:stretch>
                  <a:fillRect l="-4" t="-39" r="1"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标题 1"/>
              <p:cNvSpPr txBox="1"/>
              <p:nvPr/>
            </p:nvSpPr>
            <p:spPr>
              <a:xfrm>
                <a:off x="2176029" y="5275537"/>
                <a:ext cx="2663063"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楷体" panose="02010609060101010101" pitchFamily="49" charset="-122"/>
                        </a:rPr>
                        <m:t>=</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1</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𝑖</m:t>
                          </m:r>
                        </m:e>
                      </m:d>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𝑧</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𝑖𝑐</m:t>
                      </m:r>
                    </m:oMath>
                  </m:oMathPara>
                </a14:m>
                <a:endParaRPr lang="en-US" altLang="zh-CN" sz="2800" dirty="0">
                  <a:latin typeface="楷体" panose="02010609060101010101" pitchFamily="49" charset="-122"/>
                  <a:ea typeface="楷体" panose="02010609060101010101" pitchFamily="49" charset="-122"/>
                </a:endParaRPr>
              </a:p>
            </p:txBody>
          </p:sp>
        </mc:Choice>
        <mc:Fallback>
          <p:sp>
            <p:nvSpPr>
              <p:cNvPr id="22" name="标题 1"/>
              <p:cNvSpPr txBox="1">
                <a:spLocks noRot="1" noChangeAspect="1" noMove="1" noResize="1" noEditPoints="1" noAdjustHandles="1" noChangeArrowheads="1" noChangeShapeType="1" noTextEdit="1"/>
              </p:cNvSpPr>
              <p:nvPr/>
            </p:nvSpPr>
            <p:spPr>
              <a:xfrm>
                <a:off x="2176029" y="5275537"/>
                <a:ext cx="2663063" cy="779618"/>
              </a:xfrm>
              <a:prstGeom prst="rect">
                <a:avLst/>
              </a:prstGeom>
              <a:blipFill rotWithShape="1">
                <a:blip r:embed="rId12"/>
                <a:stretch>
                  <a:fillRect l="-19" t="-76" r="15" b="5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p:bldP spid="13" grpId="0"/>
      <p:bldP spid="14" grpId="0"/>
      <p:bldP spid="15" grpId="0"/>
      <p:bldP spid="16" grpId="0"/>
      <p:bldP spid="17" grpId="0"/>
      <p:bldP spid="18" grpId="0"/>
      <p:bldP spid="19" grpId="0"/>
      <p:bldP spid="21" grpId="0"/>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标题 1"/>
              <p:cNvSpPr txBox="1"/>
              <p:nvPr/>
            </p:nvSpPr>
            <p:spPr>
              <a:xfrm>
                <a:off x="55289" y="390127"/>
                <a:ext cx="8907101" cy="93685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2800" i="1" smtClean="0">
                        <a:latin typeface="Cambria Math" panose="02040503050406030204" pitchFamily="18" charset="0"/>
                        <a:ea typeface="楷体" panose="02010609060101010101" pitchFamily="49" charset="-122"/>
                      </a:rPr>
                      <m:t>𝐸𝑔</m:t>
                    </m:r>
                    <m:r>
                      <a:rPr lang="en-US" altLang="zh-CN" sz="2800" i="1" smtClean="0">
                        <a:latin typeface="Cambria Math" panose="02040503050406030204" pitchFamily="18" charset="0"/>
                        <a:ea typeface="楷体" panose="02010609060101010101" pitchFamily="49" charset="-122"/>
                      </a:rPr>
                      <m:t>:</m:t>
                    </m:r>
                  </m:oMath>
                </a14:m>
                <a:r>
                  <a:rPr lang="zh-CN" altLang="en-US" sz="2800" dirty="0">
                    <a:latin typeface="楷体" panose="02010609060101010101" pitchFamily="49" charset="-122"/>
                    <a:ea typeface="楷体" panose="02010609060101010101" pitchFamily="49" charset="-122"/>
                  </a:rPr>
                  <a:t>设</a:t>
                </a: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𝑢</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𝑥</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𝑦</m:t>
                        </m:r>
                      </m:e>
                    </m:d>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𝑥</m:t>
                        </m:r>
                      </m:e>
                      <m:sup>
                        <m:r>
                          <a:rPr lang="en-US" altLang="zh-CN" sz="2800" b="0" i="1" smtClean="0">
                            <a:latin typeface="Cambria Math" panose="02040503050406030204" pitchFamily="18" charset="0"/>
                            <a:ea typeface="楷体" panose="02010609060101010101" pitchFamily="49" charset="-122"/>
                          </a:rPr>
                          <m:t>2</m:t>
                        </m:r>
                      </m:sup>
                    </m:sSup>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2</m:t>
                    </m:r>
                    <m:r>
                      <a:rPr lang="en-US" altLang="zh-CN" sz="2800" b="0" i="1" smtClean="0">
                        <a:latin typeface="Cambria Math" panose="02040503050406030204" pitchFamily="18" charset="0"/>
                        <a:ea typeface="楷体" panose="02010609060101010101" pitchFamily="49" charset="-122"/>
                      </a:rPr>
                      <m:t>𝑥𝑦</m:t>
                    </m:r>
                    <m:r>
                      <a:rPr lang="en-US" altLang="zh-CN" sz="2800" b="0" i="1" smtClean="0">
                        <a:latin typeface="Cambria Math" panose="02040503050406030204" pitchFamily="18" charset="0"/>
                        <a:ea typeface="楷体" panose="02010609060101010101" pitchFamily="49" charset="-122"/>
                      </a:rPr>
                      <m:t>−</m:t>
                    </m:r>
                    <m:sSup>
                      <m:sSupPr>
                        <m:ctrlPr>
                          <a:rPr lang="en-US" altLang="zh-CN" sz="2800" b="0" i="1" smtClean="0">
                            <a:latin typeface="Cambria Math" panose="02040503050406030204" pitchFamily="18" charset="0"/>
                            <a:ea typeface="楷体" panose="02010609060101010101" pitchFamily="49" charset="-122"/>
                          </a:rPr>
                        </m:ctrlPr>
                      </m:sSupPr>
                      <m:e>
                        <m:r>
                          <a:rPr lang="en-US" altLang="zh-CN" sz="2800" b="0" i="1" smtClean="0">
                            <a:latin typeface="Cambria Math" panose="02040503050406030204" pitchFamily="18" charset="0"/>
                            <a:ea typeface="楷体" panose="02010609060101010101" pitchFamily="49" charset="-122"/>
                          </a:rPr>
                          <m:t>𝑦</m:t>
                        </m:r>
                      </m:e>
                      <m:sup>
                        <m:r>
                          <a:rPr lang="en-US" altLang="zh-CN" sz="2800" b="0" i="1" smtClean="0">
                            <a:latin typeface="Cambria Math" panose="02040503050406030204" pitchFamily="18" charset="0"/>
                            <a:ea typeface="楷体" panose="02010609060101010101" pitchFamily="49" charset="-122"/>
                          </a:rPr>
                          <m:t>2</m:t>
                        </m:r>
                      </m:sup>
                    </m:sSup>
                  </m:oMath>
                </a14:m>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求解析函数</a:t>
                </a: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𝑓</m:t>
                    </m:r>
                    <m:d>
                      <m:dPr>
                        <m:ctrlPr>
                          <a:rPr lang="en-US" altLang="zh-CN" sz="2800" b="0" i="1" smtClean="0">
                            <a:latin typeface="Cambria Math" panose="02040503050406030204" pitchFamily="18" charset="0"/>
                            <a:ea typeface="楷体" panose="02010609060101010101" pitchFamily="49" charset="-122"/>
                          </a:rPr>
                        </m:ctrlPr>
                      </m:dPr>
                      <m:e>
                        <m:r>
                          <a:rPr lang="en-US" altLang="zh-CN" sz="2800" b="0" i="1" smtClean="0">
                            <a:latin typeface="Cambria Math" panose="02040503050406030204" pitchFamily="18" charset="0"/>
                            <a:ea typeface="楷体" panose="02010609060101010101" pitchFamily="49" charset="-122"/>
                          </a:rPr>
                          <m:t>𝑧</m:t>
                        </m:r>
                      </m:e>
                    </m:d>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𝑢</m:t>
                    </m:r>
                    <m:r>
                      <a:rPr lang="en-US" altLang="zh-CN" sz="2800" b="0" i="1" smtClean="0">
                        <a:latin typeface="Cambria Math" panose="02040503050406030204" pitchFamily="18" charset="0"/>
                        <a:ea typeface="楷体" panose="02010609060101010101" pitchFamily="49" charset="-122"/>
                      </a:rPr>
                      <m:t>+</m:t>
                    </m:r>
                    <m:r>
                      <a:rPr lang="en-US" altLang="zh-CN" sz="2800" b="0" i="1" smtClean="0">
                        <a:latin typeface="Cambria Math" panose="02040503050406030204" pitchFamily="18" charset="0"/>
                        <a:ea typeface="楷体" panose="02010609060101010101" pitchFamily="49" charset="-122"/>
                      </a:rPr>
                      <m:t>𝑖𝑣</m:t>
                    </m:r>
                  </m:oMath>
                </a14:m>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5289" y="390127"/>
                <a:ext cx="8907101" cy="936850"/>
              </a:xfrm>
              <a:prstGeom prst="rect">
                <a:avLst/>
              </a:prstGeom>
              <a:blipFill rotWithShape="1">
                <a:blip r:embed="rId1"/>
                <a:stretch>
                  <a:fillRect t="-25" b="4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55289" y="1120492"/>
                <a:ext cx="8712200"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a:t>
                </a:r>
                <a:r>
                  <a:rPr lang="en-US" altLang="zh-CN" sz="3000" dirty="0">
                    <a:latin typeface="楷体" panose="02010609060101010101" pitchFamily="49" charset="-122"/>
                    <a:ea typeface="楷体" panose="02010609060101010101" pitchFamily="49" charset="-122"/>
                  </a:rPr>
                  <a:t>:</a:t>
                </a:r>
                <a14:m>
                  <m:oMath xmlns:m="http://schemas.openxmlformats.org/officeDocument/2006/math">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3</m:t>
                        </m:r>
                      </m:e>
                      <m:sup>
                        <m:r>
                          <a:rPr lang="en-US" altLang="zh-CN" sz="3000" b="0" i="1" smtClean="0">
                            <a:latin typeface="Cambria Math" panose="02040503050406030204" pitchFamily="18" charset="0"/>
                            <a:ea typeface="楷体" panose="02010609060101010101" pitchFamily="49" charset="-122"/>
                          </a:rPr>
                          <m:t>𝑜</m:t>
                        </m:r>
                      </m:sup>
                    </m:sSup>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𝑢</m:t>
                        </m:r>
                      </m:e>
                      <m:sub>
                        <m:r>
                          <a:rPr lang="en-US" altLang="zh-CN" sz="3000" i="1">
                            <a:latin typeface="Cambria Math" panose="02040503050406030204" pitchFamily="18" charset="0"/>
                            <a:ea typeface="楷体" panose="02010609060101010101" pitchFamily="49" charset="-122"/>
                          </a:rPr>
                          <m:t>𝑥</m:t>
                        </m:r>
                      </m:sub>
                    </m:sSub>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 </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r>
                      <a:rPr lang="en-US" altLang="zh-CN" sz="3000" b="0" i="0"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 </m:t>
                    </m:r>
                  </m:oMath>
                </a14:m>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55289" y="1120492"/>
                <a:ext cx="8712200" cy="779618"/>
              </a:xfrm>
              <a:prstGeom prst="rect">
                <a:avLst/>
              </a:prstGeom>
              <a:blipFill rotWithShape="1">
                <a:blip r:embed="rId2"/>
                <a:stretch>
                  <a:fillRect l="-1" t="-45" r="1"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标题 1"/>
              <p:cNvSpPr txBox="1"/>
              <p:nvPr/>
            </p:nvSpPr>
            <p:spPr>
              <a:xfrm>
                <a:off x="880198" y="1856889"/>
                <a:ext cx="7541131"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sSup>
                        <m:sSupPr>
                          <m:ctrlPr>
                            <a:rPr lang="en-US" altLang="zh-CN" sz="300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𝑓</m:t>
                          </m:r>
                        </m:e>
                        <m:sup>
                          <m:r>
                            <a:rPr lang="en-US" altLang="zh-CN" sz="3000" b="0" i="1" smtClean="0">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880198" y="1856889"/>
                <a:ext cx="7541131" cy="779618"/>
              </a:xfrm>
              <a:prstGeom prst="rect">
                <a:avLst/>
              </a:prstGeom>
              <a:blipFill rotWithShape="1">
                <a:blip r:embed="rId3"/>
                <a:stretch>
                  <a:fillRect l="-1" t="-19" r="8" b="8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880198" y="3232080"/>
                <a:ext cx="4134254"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𝑓</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e>
                      </m:d>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𝐶</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880198" y="3232080"/>
                <a:ext cx="4134254" cy="779618"/>
              </a:xfrm>
              <a:prstGeom prst="rect">
                <a:avLst/>
              </a:prstGeom>
              <a:blipFill rotWithShape="1">
                <a:blip r:embed="rId4"/>
                <a:stretch>
                  <a:fillRect l="-2" t="-72" r="12" b="5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1730477" y="2566095"/>
                <a:ext cx="2227007"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1</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e>
                      </m:d>
                      <m:r>
                        <a:rPr lang="en-US" altLang="zh-CN" sz="3000" b="0" i="1" smtClean="0">
                          <a:latin typeface="Cambria Math" panose="02040503050406030204" pitchFamily="18" charset="0"/>
                          <a:ea typeface="楷体" panose="02010609060101010101" pitchFamily="49" charset="-122"/>
                        </a:rPr>
                        <m:t>𝑧</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1730477" y="2566095"/>
                <a:ext cx="2227007" cy="779618"/>
              </a:xfrm>
              <a:prstGeom prst="rect">
                <a:avLst/>
              </a:prstGeom>
              <a:blipFill rotWithShape="1">
                <a:blip r:embed="rId5"/>
                <a:stretch>
                  <a:fillRect l="-5" t="-8" r="7"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880198" y="3841092"/>
                <a:ext cx="4134254"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由实部</a:t>
                </a:r>
                <a14:m>
                  <m:oMath xmlns:m="http://schemas.openxmlformats.org/officeDocument/2006/math">
                    <m:r>
                      <a:rPr lang="en-US" altLang="zh-CN" sz="3200" i="1">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表达式</a:t>
                </a:r>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880198" y="3841092"/>
                <a:ext cx="4134254" cy="779618"/>
              </a:xfrm>
              <a:prstGeom prst="rect">
                <a:avLst/>
              </a:prstGeom>
              <a:blipFill rotWithShape="1">
                <a:blip r:embed="rId6"/>
                <a:stretch>
                  <a:fillRect l="-2" t="-78" r="12"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862155" y="4568082"/>
                <a:ext cx="4134254" cy="779618"/>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𝑓</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e>
                      </m:d>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𝑖𝐶</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862155" y="4568082"/>
                <a:ext cx="4134254" cy="779618"/>
              </a:xfrm>
              <a:prstGeom prst="rect">
                <a:avLst/>
              </a:prstGeom>
              <a:blipFill rotWithShape="1">
                <a:blip r:embed="rId7"/>
                <a:stretch>
                  <a:fillRect l="-11" t="-68" r="6" b="4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18" grpId="0"/>
      <p:bldP spid="19" grpId="0"/>
      <p:bldP spid="5"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标题 1"/>
              <p:cNvSpPr txBox="1"/>
              <p:nvPr/>
            </p:nvSpPr>
            <p:spPr>
              <a:xfrm>
                <a:off x="0" y="531629"/>
                <a:ext cx="9166343" cy="68877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𝐸𝑔</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设</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𝑥</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𝑥𝑦</m:t>
                    </m:r>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𝑦</m:t>
                        </m:r>
                      </m:e>
                      <m:sup>
                        <m:r>
                          <a:rPr lang="en-US" altLang="zh-CN" sz="3000" b="0" i="1" smtClean="0">
                            <a:latin typeface="Cambria Math" panose="02040503050406030204" pitchFamily="18" charset="0"/>
                            <a:ea typeface="楷体" panose="02010609060101010101" pitchFamily="49" charset="-122"/>
                          </a:rPr>
                          <m:t>2</m:t>
                        </m:r>
                      </m:sup>
                    </m:sSup>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求</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和</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𝑣</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和解析函数</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a:t>
                </a:r>
                <a:endParaRPr lang="en-US" altLang="zh-CN"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0" y="531629"/>
                <a:ext cx="9166343" cy="688774"/>
              </a:xfrm>
              <a:prstGeom prst="rect">
                <a:avLst/>
              </a:prstGeom>
              <a:blipFill rotWithShape="1">
                <a:blip r:embed="rId1"/>
                <a:stretch>
                  <a:fillRect t="-1126" r="1" b="-1208"/>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8" name="直接连接符 7"/>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63911" y="950308"/>
                <a:ext cx="4301612" cy="14388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a:t>
                </a:r>
                <a:r>
                  <a:rPr lang="en-US" altLang="zh-CN" sz="3000" dirty="0">
                    <a:latin typeface="楷体" panose="02010609060101010101" pitchFamily="49" charset="-122"/>
                    <a:ea typeface="楷体" panose="02010609060101010101" pitchFamily="49" charset="-122"/>
                  </a:rPr>
                  <a:t>:</a:t>
                </a:r>
                <a14:m>
                  <m:oMath xmlns:m="http://schemas.openxmlformats.org/officeDocument/2006/math">
                    <m:d>
                      <m:dPr>
                        <m:begChr m:val="{"/>
                        <m:endChr m:val=""/>
                        <m:ctrlPr>
                          <a:rPr lang="en-US" altLang="zh-CN" sz="3000" i="1" smtClean="0">
                            <a:latin typeface="Cambria Math" panose="02040503050406030204" pitchFamily="18" charset="0"/>
                            <a:ea typeface="楷体" panose="02010609060101010101" pitchFamily="49" charset="-122"/>
                          </a:rPr>
                        </m:ctrlPr>
                      </m:dPr>
                      <m:e>
                        <m:eqArr>
                          <m:eqArrPr>
                            <m:ctrlPr>
                              <a:rPr lang="en-US" altLang="zh-CN" sz="3000" i="1" smtClean="0">
                                <a:latin typeface="Cambria Math" panose="02040503050406030204" pitchFamily="18" charset="0"/>
                                <a:ea typeface="楷体" panose="02010609060101010101" pitchFamily="49" charset="-122"/>
                              </a:rPr>
                            </m:ctrlPr>
                          </m:eqArrPr>
                          <m:e>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𝑦</m:t>
                            </m:r>
                          </m:e>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𝑦</m:t>
                            </m:r>
                          </m:e>
                        </m:eqArr>
                      </m:e>
                    </m:d>
                  </m:oMath>
                </a14:m>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63911" y="950308"/>
                <a:ext cx="4301612" cy="1438801"/>
              </a:xfrm>
              <a:prstGeom prst="rect">
                <a:avLst/>
              </a:prstGeom>
              <a:blipFill rotWithShape="1">
                <a:blip r:embed="rId2"/>
                <a:stretch>
                  <a:fillRect l="-10" t="-24" r="12"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4237704" y="940346"/>
                <a:ext cx="2369573" cy="14388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ea typeface="楷体" panose="02010609060101010101" pitchFamily="49" charset="-122"/>
                  </a:rPr>
                  <a:t>且</a:t>
                </a:r>
                <a14:m>
                  <m:oMath xmlns:m="http://schemas.openxmlformats.org/officeDocument/2006/math">
                    <m:d>
                      <m:dPr>
                        <m:begChr m:val="{"/>
                        <m:endChr m:val=""/>
                        <m:ctrlPr>
                          <a:rPr lang="en-US" altLang="zh-CN" sz="3000" i="1" smtClean="0">
                            <a:latin typeface="Cambria Math" panose="02040503050406030204" pitchFamily="18" charset="0"/>
                            <a:ea typeface="楷体" panose="02010609060101010101" pitchFamily="49" charset="-122"/>
                          </a:rPr>
                        </m:ctrlPr>
                      </m:dPr>
                      <m:e>
                        <m:eqArr>
                          <m:eqArrPr>
                            <m:ctrlPr>
                              <a:rPr lang="en-US" altLang="zh-CN" sz="3000" i="1" smtClean="0">
                                <a:latin typeface="Cambria Math" panose="02040503050406030204" pitchFamily="18" charset="0"/>
                                <a:ea typeface="楷体" panose="02010609060101010101" pitchFamily="49" charset="-122"/>
                              </a:rPr>
                            </m:ctrlPr>
                          </m:eqArrPr>
                          <m:e>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i="1">
                                    <a:latin typeface="Cambria Math" panose="02040503050406030204" pitchFamily="18" charset="0"/>
                                    <a:ea typeface="楷体" panose="02010609060101010101" pitchFamily="49" charset="-122"/>
                                  </a:rPr>
                                  <m:t>𝑦</m:t>
                                </m:r>
                              </m:sub>
                            </m:sSub>
                          </m:e>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e>
                        </m:eqArr>
                      </m:e>
                    </m:d>
                  </m:oMath>
                </a14:m>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4237704" y="940346"/>
                <a:ext cx="2369573" cy="1438801"/>
              </a:xfrm>
              <a:prstGeom prst="rect">
                <a:avLst/>
              </a:prstGeom>
              <a:blipFill rotWithShape="1">
                <a:blip r:embed="rId3"/>
                <a:stretch>
                  <a:fillRect l="-15" t="-38" r="4"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584254" y="2130179"/>
                <a:ext cx="3845180" cy="143880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d>
                        <m:dPr>
                          <m:begChr m:val="{"/>
                          <m:endChr m:val=""/>
                          <m:ctrlPr>
                            <a:rPr lang="en-US" altLang="zh-CN" sz="3000" i="1" smtClean="0">
                              <a:latin typeface="Cambria Math" panose="02040503050406030204" pitchFamily="18" charset="0"/>
                              <a:ea typeface="楷体" panose="02010609060101010101" pitchFamily="49" charset="-122"/>
                            </a:rPr>
                          </m:ctrlPr>
                        </m:dPr>
                        <m:e>
                          <m:eqArr>
                            <m:eqArrPr>
                              <m:ctrlPr>
                                <a:rPr lang="en-US" altLang="zh-CN" sz="3000" i="1" smtClean="0">
                                  <a:latin typeface="Cambria Math" panose="02040503050406030204" pitchFamily="18" charset="0"/>
                                  <a:ea typeface="楷体" panose="02010609060101010101" pitchFamily="49" charset="-122"/>
                                </a:rPr>
                              </m:ctrlPr>
                            </m:eqArrPr>
                            <m:e>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𝑥</m:t>
                              </m:r>
                            </m:e>
                            <m:e>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𝑢</m:t>
                                  </m:r>
                                </m:e>
                                <m:sub>
                                  <m:r>
                                    <a:rPr lang="en-US" altLang="zh-CN" sz="3000" b="0" i="1" smtClean="0">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𝑣</m:t>
                                  </m:r>
                                </m:e>
                                <m:sub>
                                  <m:r>
                                    <a:rPr lang="en-US" altLang="zh-CN" sz="3000" b="0" i="1" smtClean="0">
                                      <a:latin typeface="Cambria Math" panose="02040503050406030204" pitchFamily="18" charset="0"/>
                                      <a:ea typeface="楷体" panose="02010609060101010101" pitchFamily="49" charset="-122"/>
                                    </a:rPr>
                                    <m:t>𝑥</m:t>
                                  </m:r>
                                </m:sub>
                              </m:sSub>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2</m:t>
                              </m:r>
                              <m:r>
                                <a:rPr lang="en-US" altLang="zh-CN" sz="3000" i="1">
                                  <a:latin typeface="Cambria Math" panose="02040503050406030204" pitchFamily="18" charset="0"/>
                                  <a:ea typeface="楷体" panose="02010609060101010101" pitchFamily="49" charset="-122"/>
                                </a:rPr>
                                <m:t>𝑦</m:t>
                              </m:r>
                            </m:e>
                          </m:eqArr>
                        </m:e>
                      </m:d>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584254" y="2130179"/>
                <a:ext cx="3845180" cy="1438801"/>
              </a:xfrm>
              <a:prstGeom prst="rect">
                <a:avLst/>
              </a:prstGeom>
              <a:blipFill rotWithShape="1">
                <a:blip r:embed="rId4"/>
                <a:stretch>
                  <a:fillRect l="-1" t="-27" r="8"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584254" y="3482115"/>
                <a:ext cx="4425281" cy="8244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r>
                            <a:rPr lang="en-US" altLang="zh-CN" sz="3000" b="0" i="1" smtClean="0">
                              <a:latin typeface="Cambria Math" panose="02040503050406030204" pitchFamily="18" charset="0"/>
                              <a:ea typeface="Cambria Math" panose="02040503050406030204" pitchFamily="18" charset="0"/>
                            </a:rPr>
                            <m:t>′</m:t>
                          </m:r>
                        </m:sup>
                      </m:sSup>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𝑥</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𝑦</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𝑧</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584254" y="3482115"/>
                <a:ext cx="4425281" cy="824415"/>
              </a:xfrm>
              <a:prstGeom prst="rect">
                <a:avLst/>
              </a:prstGeom>
              <a:blipFill rotWithShape="1">
                <a:blip r:embed="rId5"/>
                <a:stretch>
                  <a:fillRect l="-1" t="-50" b="7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584253" y="4160541"/>
                <a:ext cx="8284444" cy="8244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r>
                        <a:rPr lang="en-US" altLang="zh-CN" sz="3000" i="1" smtClean="0">
                          <a:latin typeface="Cambria Math" panose="02040503050406030204" pitchFamily="18" charset="0"/>
                          <a:ea typeface="Cambria Math" panose="02040503050406030204" pitchFamily="18" charset="0"/>
                        </a:rPr>
                        <m:t>𝑓</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𝑧</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𝐶</m:t>
                      </m:r>
                      <m:r>
                        <a:rPr lang="en-US" altLang="zh-CN" sz="3000" b="0" i="1" smtClean="0">
                          <a:latin typeface="Cambria Math" panose="02040503050406030204" pitchFamily="18" charset="0"/>
                          <a:ea typeface="Cambria Math" panose="02040503050406030204" pitchFamily="18" charset="0"/>
                        </a:rPr>
                        <m:t>=</m:t>
                      </m:r>
                      <m:d>
                        <m:dPr>
                          <m:ctrlPr>
                            <a:rPr lang="en-US" altLang="zh-CN" sz="3000" b="0" i="1" smtClean="0">
                              <a:latin typeface="Cambria Math" panose="02040503050406030204" pitchFamily="18" charset="0"/>
                              <a:ea typeface="Cambria Math" panose="02040503050406030204" pitchFamily="18" charset="0"/>
                            </a:rPr>
                          </m:ctrlPr>
                        </m:dPr>
                        <m:e>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𝑥</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𝑦</m:t>
                              </m:r>
                            </m:e>
                            <m:sup>
                              <m:r>
                                <a:rPr lang="en-US" altLang="zh-CN" sz="3000" b="0" i="1" smtClean="0">
                                  <a:latin typeface="Cambria Math" panose="02040503050406030204" pitchFamily="18" charset="0"/>
                                  <a:ea typeface="Cambria Math" panose="02040503050406030204" pitchFamily="18" charset="0"/>
                                </a:rPr>
                                <m:t>2</m:t>
                              </m:r>
                            </m:sup>
                          </m:sSup>
                        </m:e>
                      </m:d>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𝑥𝑦𝑖</m:t>
                      </m:r>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𝐶</m:t>
                          </m:r>
                        </m:e>
                        <m:sub>
                          <m:r>
                            <a:rPr lang="en-US" altLang="zh-CN" sz="3000" b="0" i="1" smtClean="0">
                              <a:latin typeface="Cambria Math" panose="02040503050406030204" pitchFamily="18" charset="0"/>
                              <a:ea typeface="Cambria Math" panose="02040503050406030204" pitchFamily="18" charset="0"/>
                            </a:rPr>
                            <m:t>1</m:t>
                          </m:r>
                        </m:sub>
                      </m:sSub>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𝐶</m:t>
                          </m:r>
                        </m:e>
                        <m:sub>
                          <m:r>
                            <a:rPr lang="en-US" altLang="zh-CN" sz="3000" b="0" i="1" smtClean="0">
                              <a:latin typeface="Cambria Math" panose="02040503050406030204" pitchFamily="18" charset="0"/>
                              <a:ea typeface="Cambria Math" panose="02040503050406030204" pitchFamily="18" charset="0"/>
                            </a:rPr>
                            <m:t>2</m:t>
                          </m:r>
                        </m:sub>
                      </m:sSub>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584253" y="4160541"/>
                <a:ext cx="8284444" cy="824415"/>
              </a:xfrm>
              <a:prstGeom prst="rect">
                <a:avLst/>
              </a:prstGeom>
              <a:blipFill rotWithShape="1">
                <a:blip r:embed="rId6"/>
                <a:stretch>
                  <a:fillRect l="-1" t="-3" r="3"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584252" y="4848800"/>
                <a:ext cx="6150845" cy="8244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𝑢</m:t>
                      </m:r>
                      <m:r>
                        <a:rPr lang="en-US" altLang="zh-CN" sz="3000" b="0" i="1" smtClean="0">
                          <a:latin typeface="Cambria Math" panose="02040503050406030204" pitchFamily="18" charset="0"/>
                          <a:ea typeface="Cambria Math" panose="02040503050406030204" pitchFamily="18" charset="0"/>
                        </a:rPr>
                        <m:t>=</m:t>
                      </m:r>
                      <m:d>
                        <m:dPr>
                          <m:ctrlPr>
                            <a:rPr lang="en-US" altLang="zh-CN" sz="3000" b="0" i="1" smtClean="0">
                              <a:latin typeface="Cambria Math" panose="02040503050406030204" pitchFamily="18" charset="0"/>
                              <a:ea typeface="Cambria Math" panose="02040503050406030204" pitchFamily="18" charset="0"/>
                            </a:rPr>
                          </m:ctrlPr>
                        </m:dPr>
                        <m:e>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𝑥</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𝑦</m:t>
                              </m:r>
                            </m:e>
                            <m:sup>
                              <m:r>
                                <a:rPr lang="en-US" altLang="zh-CN" sz="3000" b="0" i="1" smtClean="0">
                                  <a:latin typeface="Cambria Math" panose="02040503050406030204" pitchFamily="18" charset="0"/>
                                  <a:ea typeface="Cambria Math" panose="02040503050406030204" pitchFamily="18" charset="0"/>
                                </a:rPr>
                                <m:t>2</m:t>
                              </m:r>
                            </m:sup>
                          </m:sSup>
                        </m:e>
                      </m:d>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𝐶</m:t>
                          </m:r>
                        </m:e>
                        <m:sub>
                          <m:r>
                            <a:rPr lang="en-US" altLang="zh-CN" sz="3000" b="0" i="1" smtClean="0">
                              <a:latin typeface="Cambria Math" panose="02040503050406030204" pitchFamily="18" charset="0"/>
                              <a:ea typeface="Cambria Math" panose="02040503050406030204" pitchFamily="18" charset="0"/>
                            </a:rPr>
                            <m:t>1</m:t>
                          </m:r>
                        </m:sub>
                      </m:sSub>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𝑣</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𝑥𝑦</m:t>
                      </m:r>
                      <m:r>
                        <a:rPr lang="en-US" altLang="zh-CN" sz="3000" b="0" i="1" smtClean="0">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𝐶</m:t>
                          </m:r>
                        </m:e>
                        <m:sub>
                          <m:r>
                            <a:rPr lang="en-US" altLang="zh-CN" sz="3000" i="1">
                              <a:latin typeface="Cambria Math" panose="02040503050406030204" pitchFamily="18" charset="0"/>
                              <a:ea typeface="Cambria Math" panose="02040503050406030204" pitchFamily="18" charset="0"/>
                            </a:rPr>
                            <m:t>2</m:t>
                          </m:r>
                        </m:sub>
                      </m:sSub>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584252" y="4848800"/>
                <a:ext cx="6150845" cy="824415"/>
              </a:xfrm>
              <a:prstGeom prst="rect">
                <a:avLst/>
              </a:prstGeom>
              <a:blipFill rotWithShape="1">
                <a:blip r:embed="rId7"/>
                <a:stretch>
                  <a:fillRect l="-1" t="-70" r="5" b="1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5"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 name="标题 1"/>
              <p:cNvSpPr txBox="1"/>
              <p:nvPr/>
            </p:nvSpPr>
            <p:spPr>
              <a:xfrm>
                <a:off x="172085" y="365831"/>
                <a:ext cx="7348855"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𝐸𝑔</m:t>
                    </m:r>
                    <m:r>
                      <a:rPr lang="en-US" altLang="zh-CN" sz="3000" i="1">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确定形如</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𝑦</m:t>
                        </m:r>
                      </m:num>
                      <m:den>
                        <m:r>
                          <a:rPr lang="en-US" altLang="zh-CN" sz="3000" b="0" i="1" smtClean="0">
                            <a:latin typeface="Cambria Math" panose="02040503050406030204" pitchFamily="18" charset="0"/>
                            <a:ea typeface="楷体" panose="02010609060101010101" pitchFamily="49" charset="-122"/>
                          </a:rPr>
                          <m:t>𝑥</m:t>
                        </m:r>
                      </m:den>
                    </m:f>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的所有调和函数；</a:t>
                </a:r>
                <a:endParaRPr lang="en-US" altLang="zh-CN"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172085" y="365831"/>
                <a:ext cx="7348855" cy="934720"/>
              </a:xfrm>
              <a:prstGeom prst="rect">
                <a:avLst/>
              </a:prstGeom>
              <a:blipFill rotWithShape="1">
                <a:blip r:embed="rId1"/>
                <a:stretch>
                  <a:fillRect t="-8"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标题 1"/>
              <p:cNvSpPr txBox="1"/>
              <p:nvPr/>
            </p:nvSpPr>
            <p:spPr>
              <a:xfrm>
                <a:off x="777140" y="1328389"/>
                <a:ext cx="7975600" cy="101111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知如上</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，试求共轭调和函数</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，使</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zh-CN" altLang="en-US" sz="3000" dirty="0">
                    <a:latin typeface="楷体" panose="02010609060101010101" pitchFamily="49" charset="-122"/>
                    <a:ea typeface="楷体" panose="02010609060101010101" pitchFamily="49" charset="-122"/>
                  </a:rPr>
                  <a:t>解析</a:t>
                </a:r>
                <a:endParaRPr lang="zh-CN" altLang="en-US" sz="3000" dirty="0">
                  <a:latin typeface="楷体" panose="02010609060101010101" pitchFamily="49" charset="-122"/>
                  <a:ea typeface="楷体" panose="02010609060101010101" pitchFamily="49" charset="-122"/>
                </a:endParaRPr>
              </a:p>
            </p:txBody>
          </p:sp>
        </mc:Choice>
        <mc:Fallback>
          <p:sp>
            <p:nvSpPr>
              <p:cNvPr id="22" name="标题 1"/>
              <p:cNvSpPr txBox="1">
                <a:spLocks noRot="1" noChangeAspect="1" noMove="1" noResize="1" noEditPoints="1" noAdjustHandles="1" noChangeArrowheads="1" noChangeShapeType="1" noTextEdit="1"/>
              </p:cNvSpPr>
              <p:nvPr/>
            </p:nvSpPr>
            <p:spPr>
              <a:xfrm>
                <a:off x="777140" y="1328389"/>
                <a:ext cx="7975600" cy="1011113"/>
              </a:xfrm>
              <a:prstGeom prst="rect">
                <a:avLst/>
              </a:prstGeom>
              <a:blipFill rotWithShape="1">
                <a:blip r:embed="rId2"/>
                <a:stretch>
                  <a:fillRect l="-7" t="-60" r="7" b="16"/>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122037" y="2134203"/>
                <a:ext cx="2773564"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解：</a:t>
                </a:r>
                <a:r>
                  <a:rPr lang="en-US" altLang="zh-CN" sz="3000" dirty="0">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令</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𝑡</m:t>
                    </m:r>
                    <m:r>
                      <a:rPr lang="en-US" altLang="zh-CN" sz="3000" b="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𝑦</m:t>
                        </m:r>
                      </m:num>
                      <m:den>
                        <m:r>
                          <a:rPr lang="en-US" altLang="zh-CN" sz="3000" i="1">
                            <a:latin typeface="Cambria Math" panose="02040503050406030204" pitchFamily="18" charset="0"/>
                            <a:ea typeface="楷体" panose="02010609060101010101" pitchFamily="49" charset="-122"/>
                          </a:rPr>
                          <m:t>𝑥</m:t>
                        </m:r>
                      </m:den>
                    </m:f>
                  </m:oMath>
                </a14:m>
                <a:endParaRPr lang="en-US" altLang="zh-CN"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22037" y="2134203"/>
                <a:ext cx="2773564" cy="934720"/>
              </a:xfrm>
              <a:prstGeom prst="rect">
                <a:avLst/>
              </a:prstGeom>
              <a:blipFill rotWithShape="1">
                <a:blip r:embed="rId3"/>
                <a:stretch>
                  <a:fillRect l="-4" t="-65" b="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2767781" y="2103700"/>
                <a:ext cx="3923071"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f>
                      <m:fPr>
                        <m:ctrlPr>
                          <a:rPr lang="en-US" altLang="zh-CN" sz="3000" i="1" smtClean="0">
                            <a:latin typeface="Cambria Math" panose="02040503050406030204" pitchFamily="18" charset="0"/>
                            <a:ea typeface="Cambria Math" panose="02040503050406030204" pitchFamily="18" charset="0"/>
                          </a:rPr>
                        </m:ctrlPr>
                      </m:fPr>
                      <m:num>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𝑢</m:t>
                        </m:r>
                      </m:num>
                      <m:den>
                        <m:r>
                          <a:rPr lang="en-US" altLang="zh-CN" sz="3000" i="1" smtClean="0">
                            <a:latin typeface="Cambria Math" panose="02040503050406030204" pitchFamily="18" charset="0"/>
                            <a:ea typeface="Cambria Math" panose="02040503050406030204" pitchFamily="18" charset="0"/>
                          </a:rPr>
                          <m:t>𝜕</m:t>
                        </m:r>
                        <m:r>
                          <a:rPr lang="en-US" altLang="zh-CN" sz="3000" i="1" smtClean="0">
                            <a:latin typeface="Cambria Math" panose="02040503050406030204" pitchFamily="18" charset="0"/>
                            <a:ea typeface="Cambria Math" panose="02040503050406030204" pitchFamily="18" charset="0"/>
                          </a:rPr>
                          <m:t>𝑥</m:t>
                        </m:r>
                      </m:den>
                    </m:f>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r>
                          <a:rPr lang="en-US" altLang="zh-CN" sz="3000" b="0" i="1" smtClean="0">
                            <a:latin typeface="Cambria Math" panose="02040503050406030204" pitchFamily="18" charset="0"/>
                            <a:ea typeface="Cambria Math" panose="02040503050406030204" pitchFamily="18" charset="0"/>
                          </a:rPr>
                          <m:t>′</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𝑡</m:t>
                    </m:r>
                    <m:r>
                      <a:rPr lang="en-US" altLang="zh-CN" sz="3000" b="0" i="1" smtClean="0">
                        <a:latin typeface="Cambria Math" panose="02040503050406030204" pitchFamily="18" charset="0"/>
                        <a:ea typeface="Cambria Math" panose="02040503050406030204" pitchFamily="18" charset="0"/>
                      </a:rPr>
                      <m:t>)∙(−</m:t>
                    </m:r>
                    <m:f>
                      <m:fPr>
                        <m:ctrlPr>
                          <a:rPr lang="en-US" altLang="zh-CN" sz="3000" b="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𝑦</m:t>
                        </m:r>
                      </m:num>
                      <m:den>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𝑥</m:t>
                            </m:r>
                          </m:e>
                          <m:sup>
                            <m:r>
                              <a:rPr lang="en-US" altLang="zh-CN" sz="3000" b="0" i="1" smtClean="0">
                                <a:latin typeface="Cambria Math" panose="02040503050406030204" pitchFamily="18" charset="0"/>
                                <a:ea typeface="Cambria Math" panose="02040503050406030204" pitchFamily="18" charset="0"/>
                              </a:rPr>
                              <m:t>2</m:t>
                            </m:r>
                          </m:sup>
                        </m:sSup>
                      </m:den>
                    </m:f>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2767781" y="2103700"/>
                <a:ext cx="3923071" cy="934720"/>
              </a:xfrm>
              <a:prstGeom prst="rect">
                <a:avLst/>
              </a:prstGeom>
              <a:blipFill rotWithShape="1">
                <a:blip r:embed="rId4"/>
                <a:stretch>
                  <a:fillRect l="-11" t="-2779" r="13" b="-27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6543949" y="2103700"/>
                <a:ext cx="2355694"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f>
                      <m:fPr>
                        <m:ctrlPr>
                          <a:rPr lang="en-US" altLang="zh-CN" sz="3000" i="1" smtClean="0">
                            <a:latin typeface="Cambria Math" panose="02040503050406030204" pitchFamily="18" charset="0"/>
                            <a:ea typeface="Cambria Math" panose="02040503050406030204" pitchFamily="18" charset="0"/>
                          </a:rPr>
                        </m:ctrlPr>
                      </m:fPr>
                      <m:num>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𝑢</m:t>
                        </m:r>
                      </m:num>
                      <m:den>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𝑦</m:t>
                        </m:r>
                      </m:den>
                    </m:f>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r>
                          <a:rPr lang="en-US" altLang="zh-CN" sz="3000" b="0" i="1" smtClean="0">
                            <a:latin typeface="Cambria Math" panose="02040503050406030204" pitchFamily="18" charset="0"/>
                            <a:ea typeface="Cambria Math" panose="02040503050406030204" pitchFamily="18" charset="0"/>
                          </a:rPr>
                          <m:t>′</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𝑡</m:t>
                    </m:r>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r>
                          <a:rPr lang="en-US" altLang="zh-CN" sz="3000" i="1">
                            <a:latin typeface="Cambria Math" panose="02040503050406030204" pitchFamily="18" charset="0"/>
                            <a:ea typeface="Cambria Math" panose="02040503050406030204" pitchFamily="18" charset="0"/>
                          </a:rPr>
                          <m:t>𝑥</m:t>
                        </m:r>
                      </m:den>
                    </m:f>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6543949" y="2103700"/>
                <a:ext cx="2355694" cy="934720"/>
              </a:xfrm>
              <a:prstGeom prst="rect">
                <a:avLst/>
              </a:prstGeom>
              <a:blipFill rotWithShape="1">
                <a:blip r:embed="rId5"/>
                <a:stretch>
                  <a:fillRect l="-12" t="-7263" r="5" b="-72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235422" y="2897418"/>
                <a:ext cx="5170557"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𝑢</m:t>
                        </m:r>
                      </m:num>
                      <m:den>
                        <m:r>
                          <a:rPr lang="en-US" altLang="zh-CN" sz="3000" i="1" smtClean="0">
                            <a:latin typeface="Cambria Math" panose="02040503050406030204" pitchFamily="18" charset="0"/>
                            <a:ea typeface="Cambria Math" panose="02040503050406030204" pitchFamily="18" charset="0"/>
                          </a:rPr>
                          <m:t>𝜕</m:t>
                        </m:r>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𝑥</m:t>
                            </m:r>
                          </m:e>
                          <m:sup>
                            <m:r>
                              <a:rPr lang="en-US" altLang="zh-CN" sz="3000" b="0" i="1" smtClean="0">
                                <a:latin typeface="Cambria Math" panose="02040503050406030204" pitchFamily="18" charset="0"/>
                                <a:ea typeface="Cambria Math" panose="02040503050406030204" pitchFamily="18" charset="0"/>
                              </a:rPr>
                              <m:t>2</m:t>
                            </m:r>
                          </m:sup>
                        </m:sSup>
                      </m:den>
                    </m:f>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r>
                          <a:rPr lang="en-US" altLang="zh-CN" sz="3000" b="0" i="1" smtClean="0">
                            <a:latin typeface="Cambria Math" panose="02040503050406030204" pitchFamily="18" charset="0"/>
                            <a:ea typeface="Cambria Math" panose="02040503050406030204" pitchFamily="18" charset="0"/>
                          </a:rPr>
                          <m:t>′′</m:t>
                        </m:r>
                      </m:sup>
                    </m:sSup>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𝑡</m:t>
                        </m:r>
                      </m:e>
                    </m:d>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𝑦</m:t>
                            </m:r>
                          </m:e>
                          <m:sup>
                            <m:r>
                              <a:rPr lang="en-US" altLang="zh-CN" sz="3000" i="1">
                                <a:latin typeface="Cambria Math" panose="02040503050406030204" pitchFamily="18" charset="0"/>
                                <a:ea typeface="Cambria Math" panose="02040503050406030204" pitchFamily="18" charset="0"/>
                              </a:rPr>
                              <m:t>2</m:t>
                            </m:r>
                          </m:sup>
                        </m:sSup>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4</m:t>
                            </m:r>
                          </m:sup>
                        </m:sSup>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𝑦</m:t>
                        </m:r>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b="0" i="1" smtClean="0">
                                <a:latin typeface="Cambria Math" panose="02040503050406030204" pitchFamily="18" charset="0"/>
                                <a:ea typeface="Cambria Math" panose="02040503050406030204" pitchFamily="18" charset="0"/>
                              </a:rPr>
                              <m:t>3</m:t>
                            </m:r>
                          </m:sup>
                        </m:sSup>
                      </m:den>
                    </m:f>
                  </m:oMath>
                </a14:m>
                <a:r>
                  <a:rPr lang="en-US" altLang="zh-CN" sz="3000" dirty="0">
                    <a:ea typeface="Cambria Math" panose="02040503050406030204" pitchFamily="18" charset="0"/>
                  </a:rPr>
                  <a:t> </a:t>
                </a:r>
                <a14:m>
                  <m:oMath xmlns:m="http://schemas.openxmlformats.org/officeDocument/2006/math">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𝑡</m:t>
                    </m:r>
                    <m:r>
                      <a:rPr lang="en-US" altLang="zh-CN" sz="3000" i="1">
                        <a:latin typeface="Cambria Math" panose="02040503050406030204" pitchFamily="18" charset="0"/>
                        <a:ea typeface="Cambria Math" panose="02040503050406030204" pitchFamily="18" charset="0"/>
                      </a:rPr>
                      <m:t>)</m:t>
                    </m:r>
                  </m:oMath>
                </a14:m>
                <a:endParaRPr lang="en-US" altLang="zh-CN" sz="3000" dirty="0">
                  <a:latin typeface="楷体" panose="02010609060101010101" pitchFamily="49" charset="-122"/>
                  <a:ea typeface="楷体" panose="02010609060101010101" pitchFamily="49" charset="-122"/>
                </a:endParaRPr>
              </a:p>
            </p:txBody>
          </p:sp>
        </mc:Choice>
        <mc:Fallback>
          <p:sp>
            <p:nvSpPr>
              <p:cNvPr id="8" name="标题 1"/>
              <p:cNvSpPr txBox="1">
                <a:spLocks noRot="1" noChangeAspect="1" noMove="1" noResize="1" noEditPoints="1" noAdjustHandles="1" noChangeArrowheads="1" noChangeShapeType="1" noTextEdit="1"/>
              </p:cNvSpPr>
              <p:nvPr/>
            </p:nvSpPr>
            <p:spPr>
              <a:xfrm>
                <a:off x="235422" y="2897418"/>
                <a:ext cx="5170557" cy="934720"/>
              </a:xfrm>
              <a:prstGeom prst="rect">
                <a:avLst/>
              </a:prstGeom>
              <a:blipFill rotWithShape="1">
                <a:blip r:embed="rId6"/>
                <a:stretch>
                  <a:fillRect l="-9" t="-6444" r="4" b="-64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5294671" y="2879011"/>
                <a:ext cx="2643667"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𝑢</m:t>
                        </m:r>
                      </m:num>
                      <m:den>
                        <m:r>
                          <a:rPr lang="en-US" altLang="zh-CN" sz="3000" i="1" smtClean="0">
                            <a:latin typeface="Cambria Math" panose="02040503050406030204" pitchFamily="18" charset="0"/>
                            <a:ea typeface="Cambria Math" panose="02040503050406030204" pitchFamily="18" charset="0"/>
                          </a:rPr>
                          <m:t>𝜕</m:t>
                        </m:r>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𝑦</m:t>
                            </m:r>
                          </m:e>
                          <m:sup>
                            <m:r>
                              <a:rPr lang="en-US" altLang="zh-CN" sz="3000" b="0" i="1" smtClean="0">
                                <a:latin typeface="Cambria Math" panose="02040503050406030204" pitchFamily="18" charset="0"/>
                                <a:ea typeface="Cambria Math" panose="02040503050406030204" pitchFamily="18" charset="0"/>
                              </a:rPr>
                              <m:t>2</m:t>
                            </m:r>
                          </m:sup>
                        </m:sSup>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2</m:t>
                            </m:r>
                          </m:sup>
                        </m:sSup>
                      </m:den>
                    </m:f>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r>
                          <a:rPr lang="en-US" altLang="zh-CN" sz="3000" b="0" i="1" smtClean="0">
                            <a:latin typeface="Cambria Math" panose="02040503050406030204" pitchFamily="18" charset="0"/>
                            <a:ea typeface="Cambria Math" panose="02040503050406030204" pitchFamily="18" charset="0"/>
                          </a:rPr>
                          <m:t>′′</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𝑡</m:t>
                    </m:r>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9" name="标题 1"/>
              <p:cNvSpPr txBox="1">
                <a:spLocks noRot="1" noChangeAspect="1" noMove="1" noResize="1" noEditPoints="1" noAdjustHandles="1" noChangeArrowheads="1" noChangeShapeType="1" noTextEdit="1"/>
              </p:cNvSpPr>
              <p:nvPr/>
            </p:nvSpPr>
            <p:spPr>
              <a:xfrm>
                <a:off x="5294671" y="2879011"/>
                <a:ext cx="2643667" cy="934720"/>
              </a:xfrm>
              <a:prstGeom prst="rect">
                <a:avLst/>
              </a:prstGeom>
              <a:blipFill rotWithShape="1">
                <a:blip r:embed="rId7"/>
                <a:stretch>
                  <a:fillRect l="-2" t="-10454" r="8" b="-1047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193868" y="3739484"/>
                <a:ext cx="3962833"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Cambria Math" panose="02040503050406030204" pitchFamily="18" charset="0"/>
                      </a:rPr>
                      <m:t>𝑢</m:t>
                    </m:r>
                    <m:r>
                      <m:rPr>
                        <m:nor/>
                      </m:rPr>
                      <a:rPr lang="zh-CN" altLang="en-US" sz="3000" dirty="0">
                        <a:latin typeface="楷体" panose="02010609060101010101" pitchFamily="49" charset="-122"/>
                        <a:ea typeface="楷体" panose="02010609060101010101" pitchFamily="49" charset="-122"/>
                      </a:rPr>
                      <m:t>调和</m:t>
                    </m:r>
                    <m:r>
                      <a:rPr lang="en-US" altLang="zh-CN" sz="3000" i="1" smtClean="0">
                        <a:latin typeface="Cambria Math" panose="02040503050406030204" pitchFamily="18" charset="0"/>
                        <a:ea typeface="Cambria Math" panose="02040503050406030204" pitchFamily="18" charset="0"/>
                      </a:rPr>
                      <m:t>⇒</m:t>
                    </m:r>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m:t>
                            </m:r>
                          </m:e>
                          <m:sup>
                            <m:r>
                              <a:rPr lang="en-US" altLang="zh-CN" sz="3000" b="0" i="1" smtClean="0">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𝑢</m:t>
                        </m:r>
                      </m:num>
                      <m:den>
                        <m:r>
                          <a:rPr lang="en-US" altLang="zh-CN" sz="3000" i="1" smtClean="0">
                            <a:latin typeface="Cambria Math" panose="02040503050406030204" pitchFamily="18" charset="0"/>
                            <a:ea typeface="Cambria Math" panose="02040503050406030204" pitchFamily="18" charset="0"/>
                          </a:rPr>
                          <m:t>𝜕</m:t>
                        </m:r>
                        <m:sSup>
                          <m:sSupPr>
                            <m:ctrlPr>
                              <a:rPr lang="en-US" altLang="zh-CN" sz="300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𝑥</m:t>
                            </m:r>
                          </m:e>
                          <m:sup>
                            <m:r>
                              <a:rPr lang="en-US" altLang="zh-CN" sz="3000" b="0" i="1" smtClean="0">
                                <a:latin typeface="Cambria Math" panose="02040503050406030204" pitchFamily="18" charset="0"/>
                                <a:ea typeface="Cambria Math" panose="02040503050406030204" pitchFamily="18" charset="0"/>
                              </a:rPr>
                              <m:t>2</m:t>
                            </m:r>
                          </m:sup>
                        </m:sSup>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m:t>
                            </m:r>
                          </m:e>
                          <m:sup>
                            <m:r>
                              <a:rPr lang="en-US" altLang="zh-CN" sz="3000" i="1">
                                <a:latin typeface="Cambria Math" panose="02040503050406030204" pitchFamily="18" charset="0"/>
                                <a:ea typeface="Cambria Math" panose="02040503050406030204" pitchFamily="18" charset="0"/>
                              </a:rPr>
                              <m:t>2</m:t>
                            </m:r>
                          </m:sup>
                        </m:sSup>
                        <m:r>
                          <a:rPr lang="en-US" altLang="zh-CN" sz="3000" i="1">
                            <a:latin typeface="Cambria Math" panose="02040503050406030204" pitchFamily="18" charset="0"/>
                            <a:ea typeface="Cambria Math" panose="02040503050406030204" pitchFamily="18" charset="0"/>
                          </a:rPr>
                          <m:t>𝑢</m:t>
                        </m:r>
                      </m:num>
                      <m:den>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𝑦</m:t>
                            </m:r>
                          </m:e>
                          <m:sup>
                            <m:r>
                              <a:rPr lang="en-US" altLang="zh-CN" sz="3000" i="1">
                                <a:latin typeface="Cambria Math" panose="02040503050406030204" pitchFamily="18" charset="0"/>
                                <a:ea typeface="Cambria Math" panose="02040503050406030204" pitchFamily="18" charset="0"/>
                              </a:rPr>
                              <m:t>2</m:t>
                            </m:r>
                          </m:sup>
                        </m:sSup>
                      </m:den>
                    </m:f>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0</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0" name="标题 1"/>
              <p:cNvSpPr txBox="1">
                <a:spLocks noRot="1" noChangeAspect="1" noMove="1" noResize="1" noEditPoints="1" noAdjustHandles="1" noChangeArrowheads="1" noChangeShapeType="1" noTextEdit="1"/>
              </p:cNvSpPr>
              <p:nvPr/>
            </p:nvSpPr>
            <p:spPr>
              <a:xfrm>
                <a:off x="193868" y="3739484"/>
                <a:ext cx="3962833" cy="934720"/>
              </a:xfrm>
              <a:prstGeom prst="rect">
                <a:avLst/>
              </a:prstGeom>
              <a:blipFill rotWithShape="1">
                <a:blip r:embed="rId8"/>
                <a:stretch>
                  <a:fillRect l="-5" t="-10459" r="16" b="-104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1286736" y="4573655"/>
                <a:ext cx="6234204"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𝑓</m:t>
                        </m:r>
                      </m:e>
                      <m:sup>
                        <m:r>
                          <a:rPr lang="en-US" altLang="zh-CN" sz="3000" b="0" i="1" smtClean="0">
                            <a:latin typeface="Cambria Math" panose="02040503050406030204" pitchFamily="18" charset="0"/>
                            <a:ea typeface="Cambria Math" panose="02040503050406030204" pitchFamily="18" charset="0"/>
                          </a:rPr>
                          <m:t>′′</m:t>
                        </m:r>
                      </m:sup>
                    </m:sSup>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𝑡</m:t>
                        </m:r>
                      </m:e>
                    </m:d>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𝑦</m:t>
                            </m:r>
                          </m:e>
                          <m:sup>
                            <m:r>
                              <a:rPr lang="en-US" altLang="zh-CN" sz="3000" i="1">
                                <a:latin typeface="Cambria Math" panose="02040503050406030204" pitchFamily="18" charset="0"/>
                                <a:ea typeface="Cambria Math" panose="02040503050406030204" pitchFamily="18" charset="0"/>
                              </a:rPr>
                              <m:t>2</m:t>
                            </m:r>
                          </m:sup>
                        </m:sSup>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4</m:t>
                            </m:r>
                          </m:sup>
                        </m:sSup>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𝑦</m:t>
                        </m:r>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b="0" i="1" smtClean="0">
                                <a:latin typeface="Cambria Math" panose="02040503050406030204" pitchFamily="18" charset="0"/>
                                <a:ea typeface="Cambria Math" panose="02040503050406030204" pitchFamily="18" charset="0"/>
                              </a:rPr>
                              <m:t>3</m:t>
                            </m:r>
                          </m:sup>
                        </m:sSup>
                      </m:den>
                    </m:f>
                  </m:oMath>
                </a14:m>
                <a:r>
                  <a:rPr lang="en-US" altLang="zh-CN" sz="3000" dirty="0">
                    <a:ea typeface="Cambria Math" panose="02040503050406030204" pitchFamily="18" charset="0"/>
                  </a:rPr>
                  <a:t> </a:t>
                </a:r>
                <a14:m>
                  <m:oMath xmlns:m="http://schemas.openxmlformats.org/officeDocument/2006/math">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𝑡</m:t>
                        </m:r>
                      </m:e>
                    </m:d>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1</m:t>
                        </m:r>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2</m:t>
                            </m:r>
                          </m:sup>
                        </m:sSup>
                      </m:den>
                    </m:f>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𝑡</m:t>
                    </m:r>
                    <m:r>
                      <a:rPr lang="en-US" altLang="zh-CN" sz="3000" i="1">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0</a:t>
                </a:r>
                <a:endParaRPr lang="en-US" altLang="zh-CN" sz="3000" dirty="0">
                  <a:latin typeface="楷体" panose="02010609060101010101" pitchFamily="49" charset="-122"/>
                  <a:ea typeface="楷体" panose="02010609060101010101" pitchFamily="49" charset="-122"/>
                </a:endParaRPr>
              </a:p>
            </p:txBody>
          </p:sp>
        </mc:Choice>
        <mc:Fallback>
          <p:sp>
            <p:nvSpPr>
              <p:cNvPr id="11" name="标题 1"/>
              <p:cNvSpPr txBox="1">
                <a:spLocks noRot="1" noChangeAspect="1" noMove="1" noResize="1" noEditPoints="1" noAdjustHandles="1" noChangeArrowheads="1" noChangeShapeType="1" noTextEdit="1"/>
              </p:cNvSpPr>
              <p:nvPr/>
            </p:nvSpPr>
            <p:spPr>
              <a:xfrm>
                <a:off x="1286736" y="4573655"/>
                <a:ext cx="6234204" cy="934720"/>
              </a:xfrm>
              <a:prstGeom prst="rect">
                <a:avLst/>
              </a:prstGeom>
              <a:blipFill rotWithShape="1">
                <a:blip r:embed="rId9"/>
                <a:stretch>
                  <a:fillRect l="-4" t="-6427" b="-64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1208078" y="5349829"/>
                <a:ext cx="6234204"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𝑡</m:t>
                            </m:r>
                          </m:e>
                        </m:d>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𝑡</m:t>
                        </m:r>
                        <m:r>
                          <a:rPr lang="en-US" altLang="zh-CN" sz="3000" i="1">
                            <a:latin typeface="Cambria Math" panose="02040503050406030204" pitchFamily="18" charset="0"/>
                            <a:ea typeface="Cambria Math" panose="02040503050406030204" pitchFamily="18" charset="0"/>
                          </a:rPr>
                          <m:t>)</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b="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𝑡</m:t>
                        </m:r>
                      </m:num>
                      <m:den>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𝑡</m:t>
                            </m:r>
                          </m:e>
                          <m:sup>
                            <m:r>
                              <a:rPr lang="en-US" altLang="zh-CN" sz="3000" b="0" i="1" smtClean="0">
                                <a:latin typeface="Cambria Math" panose="02040503050406030204" pitchFamily="18" charset="0"/>
                                <a:ea typeface="Cambria Math" panose="02040503050406030204" pitchFamily="18" charset="0"/>
                              </a:rPr>
                              <m:t>2</m:t>
                            </m:r>
                          </m:sup>
                        </m:sSup>
                      </m:den>
                    </m:f>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1208078" y="5349829"/>
                <a:ext cx="6234204" cy="934720"/>
              </a:xfrm>
              <a:prstGeom prst="rect">
                <a:avLst/>
              </a:prstGeom>
              <a:blipFill rotWithShape="1">
                <a:blip r:embed="rId10"/>
                <a:stretch>
                  <a:fillRect l="-5" t="-11068" r="1" b="-1107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 grpId="0"/>
      <p:bldP spid="3" grpId="0"/>
      <p:bldP spid="5" grpId="0"/>
      <p:bldP spid="8" grpId="0"/>
      <p:bldP spid="9" grpId="0"/>
      <p:bldP spid="10"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 name="标题 1"/>
              <p:cNvSpPr txBox="1"/>
              <p:nvPr/>
            </p:nvSpPr>
            <p:spPr>
              <a:xfrm>
                <a:off x="172085" y="365831"/>
                <a:ext cx="7348855"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a:latin typeface="Cambria Math" panose="02040503050406030204" pitchFamily="18" charset="0"/>
                        <a:ea typeface="楷体" panose="02010609060101010101" pitchFamily="49" charset="-122"/>
                      </a:rPr>
                      <m:t>𝐸𝑔</m:t>
                    </m:r>
                    <m:r>
                      <a:rPr lang="en-US" altLang="zh-CN" sz="3000" i="1">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(1)</a:t>
                </a:r>
                <a:r>
                  <a:rPr lang="zh-CN" altLang="en-US" sz="3000" dirty="0">
                    <a:latin typeface="楷体" panose="02010609060101010101" pitchFamily="49" charset="-122"/>
                    <a:ea typeface="楷体" panose="02010609060101010101" pitchFamily="49" charset="-122"/>
                  </a:rPr>
                  <a:t>确定形如</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𝑦</m:t>
                        </m:r>
                      </m:num>
                      <m:den>
                        <m:r>
                          <a:rPr lang="en-US" altLang="zh-CN" sz="3000" b="0" i="1" smtClean="0">
                            <a:latin typeface="Cambria Math" panose="02040503050406030204" pitchFamily="18" charset="0"/>
                            <a:ea typeface="楷体" panose="02010609060101010101" pitchFamily="49" charset="-122"/>
                          </a:rPr>
                          <m:t>𝑥</m:t>
                        </m:r>
                      </m:den>
                    </m:f>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的所有调和函数；</a:t>
                </a:r>
                <a:endParaRPr lang="en-US" altLang="zh-CN" sz="3000" dirty="0">
                  <a:latin typeface="楷体" panose="02010609060101010101" pitchFamily="49" charset="-122"/>
                  <a:ea typeface="楷体" panose="02010609060101010101" pitchFamily="49" charset="-122"/>
                </a:endParaRPr>
              </a:p>
            </p:txBody>
          </p:sp>
        </mc:Choice>
        <mc:Fallback>
          <p:sp>
            <p:nvSpPr>
              <p:cNvPr id="18" name="标题 1"/>
              <p:cNvSpPr txBox="1">
                <a:spLocks noRot="1" noChangeAspect="1" noMove="1" noResize="1" noEditPoints="1" noAdjustHandles="1" noChangeArrowheads="1" noChangeShapeType="1" noTextEdit="1"/>
              </p:cNvSpPr>
              <p:nvPr/>
            </p:nvSpPr>
            <p:spPr>
              <a:xfrm>
                <a:off x="172085" y="365831"/>
                <a:ext cx="7348855" cy="934720"/>
              </a:xfrm>
              <a:prstGeom prst="rect">
                <a:avLst/>
              </a:prstGeom>
              <a:blipFill rotWithShape="1">
                <a:blip r:embed="rId1"/>
                <a:stretch>
                  <a:fillRect t="-8" b="8"/>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2" name="标题 1"/>
              <p:cNvSpPr txBox="1"/>
              <p:nvPr/>
            </p:nvSpPr>
            <p:spPr>
              <a:xfrm>
                <a:off x="863949" y="1040811"/>
                <a:ext cx="2641251"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f>
                      <m:fPr>
                        <m:ctrlPr>
                          <a:rPr lang="en-US" altLang="zh-CN" sz="3000" i="1" smtClean="0">
                            <a:latin typeface="Cambria Math" panose="02040503050406030204" pitchFamily="18" charset="0"/>
                            <a:ea typeface="Cambria Math" panose="02040503050406030204" pitchFamily="18" charset="0"/>
                          </a:rPr>
                        </m:ctrlPr>
                      </m:fPr>
                      <m:num>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𝑡</m:t>
                            </m:r>
                          </m:e>
                        </m:d>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𝑡</m:t>
                        </m:r>
                        <m:r>
                          <a:rPr lang="en-US" altLang="zh-CN" sz="3000" i="1">
                            <a:latin typeface="Cambria Math" panose="02040503050406030204" pitchFamily="18" charset="0"/>
                            <a:ea typeface="Cambria Math" panose="02040503050406030204" pitchFamily="18" charset="0"/>
                          </a:rPr>
                          <m:t>)</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b="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2</m:t>
                        </m:r>
                        <m:r>
                          <a:rPr lang="en-US" altLang="zh-CN" sz="3000" b="0" i="1" smtClean="0">
                            <a:latin typeface="Cambria Math" panose="02040503050406030204" pitchFamily="18" charset="0"/>
                            <a:ea typeface="Cambria Math" panose="02040503050406030204" pitchFamily="18" charset="0"/>
                          </a:rPr>
                          <m:t>𝑡</m:t>
                        </m:r>
                      </m:num>
                      <m:den>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𝑡</m:t>
                            </m:r>
                          </m:e>
                          <m:sup>
                            <m:r>
                              <a:rPr lang="en-US" altLang="zh-CN" sz="3000" b="0" i="1" smtClean="0">
                                <a:latin typeface="Cambria Math" panose="02040503050406030204" pitchFamily="18" charset="0"/>
                                <a:ea typeface="Cambria Math" panose="02040503050406030204" pitchFamily="18" charset="0"/>
                              </a:rPr>
                              <m:t>2</m:t>
                            </m:r>
                          </m:sup>
                        </m:sSup>
                      </m:den>
                    </m:f>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2" name="标题 1"/>
              <p:cNvSpPr txBox="1">
                <a:spLocks noRot="1" noChangeAspect="1" noMove="1" noResize="1" noEditPoints="1" noAdjustHandles="1" noChangeArrowheads="1" noChangeShapeType="1" noTextEdit="1"/>
              </p:cNvSpPr>
              <p:nvPr/>
            </p:nvSpPr>
            <p:spPr>
              <a:xfrm>
                <a:off x="863949" y="1040811"/>
                <a:ext cx="2641251" cy="934720"/>
              </a:xfrm>
              <a:prstGeom prst="rect">
                <a:avLst/>
              </a:prstGeom>
              <a:blipFill rotWithShape="1">
                <a:blip r:embed="rId2"/>
                <a:stretch>
                  <a:fillRect l="-13" t="-11010" b="-111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3351510" y="1040811"/>
                <a:ext cx="4081677"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nary>
                      <m:naryPr>
                        <m:limLoc m:val="undOvr"/>
                        <m:subHide m:val="on"/>
                        <m:supHide m:val="on"/>
                        <m:ctrlPr>
                          <a:rPr lang="en-US" altLang="zh-CN" sz="3000" i="1" smtClean="0">
                            <a:latin typeface="Cambria Math" panose="02040503050406030204" pitchFamily="18" charset="0"/>
                            <a:ea typeface="Cambria Math" panose="02040503050406030204" pitchFamily="18" charset="0"/>
                          </a:rPr>
                        </m:ctrlPr>
                      </m:naryPr>
                      <m:sub/>
                      <m:sup/>
                      <m:e>
                        <m:f>
                          <m:fPr>
                            <m:ctrlPr>
                              <a:rPr lang="en-US" altLang="zh-CN" sz="3000" i="1">
                                <a:latin typeface="Cambria Math" panose="02040503050406030204" pitchFamily="18" charset="0"/>
                                <a:ea typeface="Cambria Math" panose="02040503050406030204" pitchFamily="18" charset="0"/>
                              </a:rPr>
                            </m:ctrlPr>
                          </m:fPr>
                          <m:num>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𝑡</m:t>
                                </m:r>
                              </m:e>
                            </m:d>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𝑡</m:t>
                            </m:r>
                            <m:r>
                              <a:rPr lang="en-US" altLang="zh-CN" sz="3000" i="1">
                                <a:latin typeface="Cambria Math" panose="02040503050406030204" pitchFamily="18" charset="0"/>
                                <a:ea typeface="Cambria Math" panose="02040503050406030204" pitchFamily="18" charset="0"/>
                              </a:rPr>
                              <m:t>)</m:t>
                            </m:r>
                          </m:den>
                        </m:f>
                      </m:e>
                    </m:nary>
                    <m:r>
                      <a:rPr lang="en-US" altLang="zh-CN" sz="3000" b="0" i="1" smtClean="0">
                        <a:latin typeface="Cambria Math" panose="02040503050406030204" pitchFamily="18" charset="0"/>
                        <a:ea typeface="Cambria Math" panose="02040503050406030204" pitchFamily="18" charset="0"/>
                      </a:rPr>
                      <m:t>𝑑𝑡</m:t>
                    </m:r>
                    <m:r>
                      <a:rPr lang="en-US" altLang="zh-CN" sz="3000" b="0" i="1" smtClean="0">
                        <a:latin typeface="Cambria Math" panose="02040503050406030204" pitchFamily="18" charset="0"/>
                        <a:ea typeface="Cambria Math" panose="02040503050406030204" pitchFamily="18" charset="0"/>
                      </a:rPr>
                      <m:t>=</m:t>
                    </m:r>
                    <m:nary>
                      <m:naryPr>
                        <m:limLoc m:val="undOvr"/>
                        <m:subHide m:val="on"/>
                        <m:supHide m:val="on"/>
                        <m:ctrlPr>
                          <a:rPr lang="en-US" altLang="zh-CN" sz="3000" b="0" i="1" smtClean="0">
                            <a:latin typeface="Cambria Math" panose="02040503050406030204" pitchFamily="18" charset="0"/>
                            <a:ea typeface="Cambria Math" panose="02040503050406030204" pitchFamily="18" charset="0"/>
                          </a:rPr>
                        </m:ctrlPr>
                      </m:naryPr>
                      <m:sub/>
                      <m:sup/>
                      <m:e>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2</m:t>
                            </m:r>
                            <m:r>
                              <a:rPr lang="en-US" altLang="zh-CN" sz="3000" i="1">
                                <a:latin typeface="Cambria Math" panose="02040503050406030204" pitchFamily="18" charset="0"/>
                                <a:ea typeface="Cambria Math" panose="02040503050406030204" pitchFamily="18" charset="0"/>
                              </a:rPr>
                              <m:t>𝑡</m:t>
                            </m:r>
                          </m:num>
                          <m:den>
                            <m:r>
                              <a:rPr lang="en-US" altLang="zh-CN" sz="3000" i="1">
                                <a:latin typeface="Cambria Math" panose="02040503050406030204" pitchFamily="18" charset="0"/>
                                <a:ea typeface="Cambria Math" panose="02040503050406030204" pitchFamily="18" charset="0"/>
                              </a:rPr>
                              <m:t>1</m:t>
                            </m:r>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𝑡</m:t>
                                </m:r>
                              </m:e>
                              <m:sup>
                                <m:r>
                                  <a:rPr lang="en-US" altLang="zh-CN" sz="3000" i="1">
                                    <a:latin typeface="Cambria Math" panose="02040503050406030204" pitchFamily="18" charset="0"/>
                                    <a:ea typeface="Cambria Math" panose="02040503050406030204" pitchFamily="18" charset="0"/>
                                  </a:rPr>
                                  <m:t>2</m:t>
                                </m:r>
                              </m:sup>
                            </m:sSup>
                          </m:den>
                        </m:f>
                      </m:e>
                    </m:nary>
                    <m:r>
                      <a:rPr lang="en-US" altLang="zh-CN" sz="3000" b="0" i="1" smtClean="0">
                        <a:latin typeface="Cambria Math" panose="02040503050406030204" pitchFamily="18" charset="0"/>
                        <a:ea typeface="Cambria Math" panose="02040503050406030204" pitchFamily="18" charset="0"/>
                      </a:rPr>
                      <m:t>𝑑𝑡</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3351510" y="1040811"/>
                <a:ext cx="4081677" cy="934720"/>
              </a:xfrm>
              <a:prstGeom prst="rect">
                <a:avLst/>
              </a:prstGeom>
              <a:blipFill rotWithShape="1">
                <a:blip r:embed="rId3"/>
                <a:stretch>
                  <a:fillRect l="-15" t="-11010" r="13" b="-111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863949" y="2073198"/>
                <a:ext cx="5281212"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𝑙𝑛</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𝑡</m:t>
                          </m:r>
                        </m:e>
                      </m:d>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m:t>
                      </m:r>
                      <m:func>
                        <m:funcPr>
                          <m:ctrlPr>
                            <a:rPr lang="en-US" altLang="zh-CN" sz="3000" b="0" i="1" smtClean="0">
                              <a:latin typeface="Cambria Math" panose="02040503050406030204" pitchFamily="18" charset="0"/>
                              <a:ea typeface="Cambria Math" panose="02040503050406030204" pitchFamily="18" charset="0"/>
                            </a:rPr>
                          </m:ctrlPr>
                        </m:funcPr>
                        <m:fName>
                          <m:r>
                            <m:rPr>
                              <m:sty m:val="p"/>
                            </m:rPr>
                            <a:rPr lang="en-US" altLang="zh-CN" sz="3000" b="0" i="0" smtClean="0">
                              <a:latin typeface="Cambria Math" panose="02040503050406030204" pitchFamily="18" charset="0"/>
                              <a:ea typeface="Cambria Math" panose="02040503050406030204" pitchFamily="18" charset="0"/>
                            </a:rPr>
                            <m:t>ln</m:t>
                          </m:r>
                        </m:fName>
                        <m:e>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𝑡</m:t>
                                  </m:r>
                                </m:e>
                                <m:sup>
                                  <m:r>
                                    <a:rPr lang="en-US" altLang="zh-CN" sz="3000" b="0" i="1" smtClean="0">
                                      <a:latin typeface="Cambria Math" panose="02040503050406030204" pitchFamily="18" charset="0"/>
                                      <a:ea typeface="Cambria Math" panose="02040503050406030204" pitchFamily="18" charset="0"/>
                                    </a:rPr>
                                    <m:t>2</m:t>
                                  </m:r>
                                </m:sup>
                              </m:sSup>
                            </m:e>
                          </m:d>
                        </m:e>
                      </m:func>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𝑙𝑛𝑐</m:t>
                      </m:r>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863949" y="2073198"/>
                <a:ext cx="5281212" cy="934720"/>
              </a:xfrm>
              <a:prstGeom prst="rect">
                <a:avLst/>
              </a:prstGeom>
              <a:blipFill rotWithShape="1">
                <a:blip r:embed="rId4"/>
                <a:stretch>
                  <a:fillRect l="-7" t="-60" r="5" b="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863949" y="2731960"/>
                <a:ext cx="2946051"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Para xmlns:m="http://schemas.openxmlformats.org/officeDocument/2006/math">
                    <m:oMathParaPr>
                      <m:jc m:val="centerGroup"/>
                    </m:oMathParaPr>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𝑓</m:t>
                          </m:r>
                        </m:e>
                        <m:sup>
                          <m:r>
                            <a:rPr lang="en-US" altLang="zh-CN" sz="3000" i="1">
                              <a:latin typeface="Cambria Math" panose="02040503050406030204" pitchFamily="18" charset="0"/>
                              <a:ea typeface="Cambria Math" panose="02040503050406030204" pitchFamily="18" charset="0"/>
                            </a:rPr>
                            <m:t>′</m:t>
                          </m:r>
                        </m:sup>
                      </m:sSup>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𝑡</m:t>
                          </m:r>
                        </m:e>
                      </m:d>
                      <m:r>
                        <a:rPr lang="en-US" altLang="zh-CN" sz="3000" b="0" i="1" smtClean="0">
                          <a:latin typeface="Cambria Math" panose="02040503050406030204" pitchFamily="18" charset="0"/>
                          <a:ea typeface="Cambria Math" panose="02040503050406030204" pitchFamily="18" charset="0"/>
                        </a:rPr>
                        <m:t>=</m:t>
                      </m:r>
                      <m:f>
                        <m:fPr>
                          <m:ctrlPr>
                            <a:rPr lang="en-US" altLang="zh-CN" sz="3000" b="0" i="1" smtClean="0">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𝑐</m:t>
                          </m:r>
                        </m:num>
                        <m:den>
                          <m:r>
                            <a:rPr lang="en-US" altLang="zh-CN" sz="3000" b="0" i="1" smtClean="0">
                              <a:latin typeface="Cambria Math" panose="02040503050406030204" pitchFamily="18" charset="0"/>
                              <a:ea typeface="Cambria Math" panose="02040503050406030204" pitchFamily="18" charset="0"/>
                            </a:rPr>
                            <m:t>1</m:t>
                          </m:r>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𝑡</m:t>
                              </m:r>
                            </m:e>
                            <m:sup>
                              <m:r>
                                <a:rPr lang="en-US" altLang="zh-CN" sz="3000" b="0" i="1" smtClean="0">
                                  <a:latin typeface="Cambria Math" panose="02040503050406030204" pitchFamily="18" charset="0"/>
                                  <a:ea typeface="Cambria Math" panose="02040503050406030204" pitchFamily="18" charset="0"/>
                                </a:rPr>
                                <m:t>2</m:t>
                              </m:r>
                            </m:sup>
                          </m:sSup>
                        </m:den>
                      </m:f>
                    </m:oMath>
                  </m:oMathPara>
                </a14:m>
                <a:endParaRPr lang="en-US" altLang="zh-CN"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863949" y="2731960"/>
                <a:ext cx="2946051" cy="934720"/>
              </a:xfrm>
              <a:prstGeom prst="rect">
                <a:avLst/>
              </a:prstGeom>
              <a:blipFill rotWithShape="1">
                <a:blip r:embed="rId5"/>
                <a:stretch>
                  <a:fillRect l="-12" t="-13471" b="-135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863948" y="3597199"/>
                <a:ext cx="6656992"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𝑓</m:t>
                    </m:r>
                    <m:d>
                      <m:dPr>
                        <m:ctrlPr>
                          <a:rPr lang="en-US" altLang="zh-CN" sz="3000" i="1">
                            <a:latin typeface="Cambria Math" panose="02040503050406030204" pitchFamily="18" charset="0"/>
                            <a:ea typeface="Cambria Math" panose="02040503050406030204" pitchFamily="18" charset="0"/>
                          </a:rPr>
                        </m:ctrlPr>
                      </m:dPr>
                      <m:e>
                        <m:r>
                          <a:rPr lang="en-US" altLang="zh-CN" sz="3000" i="1">
                            <a:latin typeface="Cambria Math" panose="02040503050406030204" pitchFamily="18" charset="0"/>
                            <a:ea typeface="Cambria Math" panose="02040503050406030204" pitchFamily="18" charset="0"/>
                          </a:rPr>
                          <m:t>𝑡</m:t>
                        </m:r>
                      </m:e>
                    </m:d>
                    <m:r>
                      <a:rPr lang="en-US" altLang="zh-CN" sz="3000" b="0" i="1" smtClean="0">
                        <a:latin typeface="Cambria Math" panose="02040503050406030204" pitchFamily="18" charset="0"/>
                        <a:ea typeface="Cambria Math" panose="02040503050406030204" pitchFamily="18" charset="0"/>
                      </a:rPr>
                      <m:t>=</m:t>
                    </m:r>
                    <m:nary>
                      <m:naryPr>
                        <m:limLoc m:val="undOvr"/>
                        <m:subHide m:val="on"/>
                        <m:supHide m:val="on"/>
                        <m:ctrlPr>
                          <a:rPr lang="en-US" altLang="zh-CN" sz="3000" b="0" i="1" smtClean="0">
                            <a:latin typeface="Cambria Math" panose="02040503050406030204" pitchFamily="18" charset="0"/>
                            <a:ea typeface="Cambria Math" panose="02040503050406030204" pitchFamily="18" charset="0"/>
                          </a:rPr>
                        </m:ctrlPr>
                      </m:naryPr>
                      <m:sub/>
                      <m:sup/>
                      <m:e>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𝑐</m:t>
                            </m:r>
                          </m:num>
                          <m:den>
                            <m:r>
                              <a:rPr lang="en-US" altLang="zh-CN" sz="3000" i="1">
                                <a:latin typeface="Cambria Math" panose="02040503050406030204" pitchFamily="18" charset="0"/>
                                <a:ea typeface="Cambria Math" panose="02040503050406030204" pitchFamily="18" charset="0"/>
                              </a:rPr>
                              <m:t>1</m:t>
                            </m:r>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𝑡</m:t>
                                </m:r>
                              </m:e>
                              <m:sup>
                                <m:r>
                                  <a:rPr lang="en-US" altLang="zh-CN" sz="3000" i="1">
                                    <a:latin typeface="Cambria Math" panose="02040503050406030204" pitchFamily="18" charset="0"/>
                                    <a:ea typeface="Cambria Math" panose="02040503050406030204" pitchFamily="18" charset="0"/>
                                  </a:rPr>
                                  <m:t>2</m:t>
                                </m:r>
                              </m:sup>
                            </m:sSup>
                          </m:den>
                        </m:f>
                        <m:r>
                          <a:rPr lang="en-US" altLang="zh-CN" sz="3000" b="0" i="1" smtClean="0">
                            <a:latin typeface="Cambria Math" panose="02040503050406030204" pitchFamily="18" charset="0"/>
                            <a:ea typeface="Cambria Math" panose="02040503050406030204" pitchFamily="18" charset="0"/>
                          </a:rPr>
                          <m:t>𝑑𝑡</m:t>
                        </m:r>
                      </m:e>
                    </m:nary>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𝑐</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𝑎𝑟𝑐𝑡𝑎𝑛𝑡</m:t>
                    </m:r>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𝑐</m:t>
                        </m:r>
                      </m:e>
                      <m:sub>
                        <m:r>
                          <a:rPr lang="en-US" altLang="zh-CN" sz="3000" b="0" i="1" smtClean="0">
                            <a:latin typeface="Cambria Math" panose="02040503050406030204" pitchFamily="18" charset="0"/>
                            <a:ea typeface="Cambria Math" panose="02040503050406030204" pitchFamily="18" charset="0"/>
                          </a:rPr>
                          <m:t>1</m:t>
                        </m:r>
                      </m:sub>
                    </m:sSub>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863948" y="3597199"/>
                <a:ext cx="6656992" cy="934720"/>
              </a:xfrm>
              <a:prstGeom prst="rect">
                <a:avLst/>
              </a:prstGeom>
              <a:blipFill rotWithShape="1">
                <a:blip r:embed="rId6"/>
                <a:stretch>
                  <a:fillRect l="-5" t="-60" b="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863948" y="4369846"/>
                <a:ext cx="6656992"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𝑢</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𝑥</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𝑦</m:t>
                        </m:r>
                      </m:e>
                    </m:d>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𝑐</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𝑎𝑟𝑐𝑡𝑎𝑛</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𝑦</m:t>
                        </m:r>
                      </m:num>
                      <m:den>
                        <m:r>
                          <a:rPr lang="en-US" altLang="zh-CN" sz="3000" i="1">
                            <a:latin typeface="Cambria Math" panose="02040503050406030204" pitchFamily="18" charset="0"/>
                            <a:ea typeface="楷体" panose="02010609060101010101" pitchFamily="49" charset="-122"/>
                          </a:rPr>
                          <m:t>𝑥</m:t>
                        </m:r>
                      </m:den>
                    </m:f>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𝑐</m:t>
                        </m:r>
                      </m:e>
                      <m:sub>
                        <m:r>
                          <a:rPr lang="en-US" altLang="zh-CN" sz="3000" b="0" i="1" smtClean="0">
                            <a:latin typeface="Cambria Math" panose="02040503050406030204" pitchFamily="18" charset="0"/>
                            <a:ea typeface="Cambria Math" panose="02040503050406030204" pitchFamily="18" charset="0"/>
                          </a:rPr>
                          <m:t>1</m:t>
                        </m:r>
                      </m:sub>
                    </m:sSub>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863948" y="4369846"/>
                <a:ext cx="6656992" cy="934720"/>
              </a:xfrm>
              <a:prstGeom prst="rect">
                <a:avLst/>
              </a:prstGeom>
              <a:blipFill rotWithShape="1">
                <a:blip r:embed="rId7"/>
                <a:stretch>
                  <a:fillRect l="-5" t="-44" b="4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2" grpId="0"/>
      <p:bldP spid="13" grpId="0"/>
      <p:bldP spid="14" grpId="0"/>
      <p:bldP spid="15" grpId="0"/>
      <p:bldP spid="16"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2" name="标题 1"/>
              <p:cNvSpPr txBox="1"/>
              <p:nvPr/>
            </p:nvSpPr>
            <p:spPr>
              <a:xfrm>
                <a:off x="88486" y="695728"/>
                <a:ext cx="8630704" cy="53696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altLang="zh-CN" sz="3000" dirty="0">
                    <a:latin typeface="楷体" panose="02010609060101010101" pitchFamily="49" charset="-122"/>
                    <a:ea typeface="楷体" panose="02010609060101010101" pitchFamily="49" charset="-122"/>
                  </a:rPr>
                  <a:t>(2)</a:t>
                </a:r>
                <a:r>
                  <a:rPr lang="zh-CN" altLang="en-US" sz="3000" dirty="0">
                    <a:latin typeface="楷体" panose="02010609060101010101" pitchFamily="49" charset="-122"/>
                    <a:ea typeface="楷体" panose="02010609060101010101" pitchFamily="49" charset="-122"/>
                  </a:rPr>
                  <a:t>知如上</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，试求</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，使</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zh-CN" altLang="en-US" sz="3000" dirty="0">
                    <a:latin typeface="楷体" panose="02010609060101010101" pitchFamily="49" charset="-122"/>
                    <a:ea typeface="楷体" panose="02010609060101010101" pitchFamily="49" charset="-122"/>
                  </a:rPr>
                  <a:t>解析</a:t>
                </a:r>
                <a:endParaRPr lang="zh-CN" altLang="en-US" sz="3000" dirty="0">
                  <a:latin typeface="楷体" panose="02010609060101010101" pitchFamily="49" charset="-122"/>
                  <a:ea typeface="楷体" panose="02010609060101010101" pitchFamily="49" charset="-122"/>
                </a:endParaRPr>
              </a:p>
            </p:txBody>
          </p:sp>
        </mc:Choice>
        <mc:Fallback>
          <p:sp>
            <p:nvSpPr>
              <p:cNvPr id="22" name="标题 1"/>
              <p:cNvSpPr txBox="1">
                <a:spLocks noRot="1" noChangeAspect="1" noMove="1" noResize="1" noEditPoints="1" noAdjustHandles="1" noChangeArrowheads="1" noChangeShapeType="1" noTextEdit="1"/>
              </p:cNvSpPr>
              <p:nvPr/>
            </p:nvSpPr>
            <p:spPr>
              <a:xfrm>
                <a:off x="88486" y="695728"/>
                <a:ext cx="8630704" cy="536965"/>
              </a:xfrm>
              <a:prstGeom prst="rect">
                <a:avLst/>
              </a:prstGeom>
              <a:blipFill rotWithShape="1">
                <a:blip r:embed="rId1"/>
                <a:stretch>
                  <a:fillRect l="-3" t="-75" b="29"/>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 name="标题 1"/>
              <p:cNvSpPr txBox="1"/>
              <p:nvPr/>
            </p:nvSpPr>
            <p:spPr>
              <a:xfrm>
                <a:off x="693175" y="1148656"/>
                <a:ext cx="3755922"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f>
                      <m:fPr>
                        <m:ctrlPr>
                          <a:rPr lang="en-US" altLang="zh-CN" sz="3000" i="1" smtClean="0">
                            <a:latin typeface="Cambria Math" panose="02040503050406030204" pitchFamily="18" charset="0"/>
                            <a:ea typeface="Cambria Math" panose="02040503050406030204" pitchFamily="18" charset="0"/>
                          </a:rPr>
                        </m:ctrlPr>
                      </m:fPr>
                      <m:num>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𝑣</m:t>
                        </m:r>
                      </m:num>
                      <m:den>
                        <m:r>
                          <a:rPr lang="en-US" altLang="zh-CN" sz="3000" i="1" smtClean="0">
                            <a:latin typeface="Cambria Math" panose="02040503050406030204" pitchFamily="18" charset="0"/>
                            <a:ea typeface="Cambria Math" panose="02040503050406030204" pitchFamily="18" charset="0"/>
                          </a:rPr>
                          <m:t>𝜕</m:t>
                        </m:r>
                        <m:r>
                          <a:rPr lang="en-US" altLang="zh-CN" sz="3000" i="1" smtClean="0">
                            <a:latin typeface="Cambria Math" panose="02040503050406030204" pitchFamily="18" charset="0"/>
                            <a:ea typeface="Cambria Math" panose="02040503050406030204" pitchFamily="18" charset="0"/>
                          </a:rPr>
                          <m:t>𝑥</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𝑢</m:t>
                        </m:r>
                      </m:num>
                      <m:den>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𝑦</m:t>
                        </m:r>
                      </m:den>
                    </m:f>
                    <m:r>
                      <a:rPr lang="en-US" altLang="zh-CN" sz="3000" b="0" i="1" smtClean="0">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𝑐</m:t>
                    </m:r>
                    <m:f>
                      <m:fPr>
                        <m:ctrlPr>
                          <a:rPr lang="en-US" altLang="zh-CN" sz="3000" i="1">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𝑥</m:t>
                        </m:r>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𝑦</m:t>
                            </m:r>
                          </m:e>
                          <m:sup>
                            <m:r>
                              <a:rPr lang="en-US" altLang="zh-CN" sz="3000" i="1">
                                <a:latin typeface="Cambria Math" panose="02040503050406030204" pitchFamily="18" charset="0"/>
                                <a:ea typeface="Cambria Math" panose="02040503050406030204" pitchFamily="18" charset="0"/>
                              </a:rPr>
                              <m:t>2</m:t>
                            </m:r>
                          </m:sup>
                        </m:sSup>
                      </m:den>
                    </m:f>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693175" y="1148656"/>
                <a:ext cx="3755922" cy="934720"/>
              </a:xfrm>
              <a:prstGeom prst="rect">
                <a:avLst/>
              </a:prstGeom>
              <a:blipFill rotWithShape="1">
                <a:blip r:embed="rId2"/>
                <a:stretch>
                  <a:fillRect l="-10" t="-7263" r="8" b="-72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565356" y="1990630"/>
                <a:ext cx="8367250"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3000" dirty="0">
                    <a:ea typeface="Cambria Math" panose="02040503050406030204" pitchFamily="18" charset="0"/>
                  </a:rPr>
                  <a:t> </a:t>
                </a:r>
                <a14:m>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𝑣</m:t>
                    </m:r>
                    <m:r>
                      <a:rPr lang="en-US" altLang="zh-CN" sz="2800" b="0" i="1" smtClean="0">
                        <a:latin typeface="Cambria Math" panose="02040503050406030204" pitchFamily="18" charset="0"/>
                        <a:ea typeface="Cambria Math" panose="02040503050406030204" pitchFamily="18" charset="0"/>
                      </a:rPr>
                      <m:t>=</m:t>
                    </m:r>
                    <m:nary>
                      <m:naryPr>
                        <m:limLoc m:val="undOvr"/>
                        <m:subHide m:val="on"/>
                        <m:supHide m:val="on"/>
                        <m:ctrlPr>
                          <a:rPr lang="en-US" altLang="zh-CN" sz="2800" b="0" i="1" smtClean="0">
                            <a:latin typeface="Cambria Math" panose="02040503050406030204" pitchFamily="18" charset="0"/>
                            <a:ea typeface="Cambria Math" panose="02040503050406030204" pitchFamily="18" charset="0"/>
                          </a:rPr>
                        </m:ctrlPr>
                      </m:naryPr>
                      <m:sub/>
                      <m:sup/>
                      <m:e>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𝑣</m:t>
                            </m:r>
                          </m:num>
                          <m:den>
                            <m:r>
                              <a:rPr lang="en-US" altLang="zh-CN" sz="2800" i="1">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𝑥</m:t>
                            </m:r>
                          </m:den>
                        </m:f>
                        <m:r>
                          <a:rPr lang="en-US" altLang="zh-CN" sz="2800" b="0" i="1" smtClean="0">
                            <a:latin typeface="Cambria Math" panose="02040503050406030204" pitchFamily="18" charset="0"/>
                            <a:ea typeface="Cambria Math" panose="02040503050406030204" pitchFamily="18" charset="0"/>
                          </a:rPr>
                          <m:t>𝑑𝑥</m:t>
                        </m:r>
                      </m:e>
                    </m:nary>
                    <m:r>
                      <a:rPr lang="en-US" altLang="zh-CN" sz="2800" b="0" i="1" smtClean="0">
                        <a:latin typeface="Cambria Math" panose="02040503050406030204" pitchFamily="18" charset="0"/>
                        <a:ea typeface="Cambria Math" panose="02040503050406030204" pitchFamily="18" charset="0"/>
                      </a:rPr>
                      <m:t>=</m:t>
                    </m:r>
                    <m:nary>
                      <m:naryPr>
                        <m:limLoc m:val="undOvr"/>
                        <m:subHide m:val="on"/>
                        <m:supHide m:val="on"/>
                        <m:ctrlPr>
                          <a:rPr lang="en-US" altLang="zh-CN" sz="2800" b="0" i="1" smtClean="0">
                            <a:latin typeface="Cambria Math" panose="02040503050406030204" pitchFamily="18" charset="0"/>
                            <a:ea typeface="Cambria Math" panose="02040503050406030204" pitchFamily="18" charset="0"/>
                          </a:rPr>
                        </m:ctrlPr>
                      </m:naryPr>
                      <m:sub/>
                      <m:sup/>
                      <m:e>
                        <m:f>
                          <m:fPr>
                            <m:ctrlPr>
                              <a:rPr lang="en-US" altLang="zh-CN" sz="2800" i="1">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𝑐𝑥</m:t>
                            </m:r>
                          </m:num>
                          <m:den>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𝑥</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𝑦</m:t>
                                </m:r>
                              </m:e>
                              <m:sup>
                                <m:r>
                                  <a:rPr lang="en-US" altLang="zh-CN" sz="2800" i="1">
                                    <a:latin typeface="Cambria Math" panose="02040503050406030204" pitchFamily="18" charset="0"/>
                                    <a:ea typeface="Cambria Math" panose="02040503050406030204" pitchFamily="18" charset="0"/>
                                  </a:rPr>
                                  <m:t>2</m:t>
                                </m:r>
                              </m:sup>
                            </m:sSup>
                          </m:den>
                        </m:f>
                      </m:e>
                    </m:nary>
                    <m:r>
                      <a:rPr lang="en-US" altLang="zh-CN" sz="2800" b="0" i="1" smtClean="0">
                        <a:latin typeface="Cambria Math" panose="02040503050406030204" pitchFamily="18" charset="0"/>
                        <a:ea typeface="Cambria Math" panose="02040503050406030204" pitchFamily="18" charset="0"/>
                      </a:rPr>
                      <m:t>𝑑𝑥</m:t>
                    </m:r>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𝑐</m:t>
                        </m:r>
                      </m:num>
                      <m:den>
                        <m:r>
                          <a:rPr lang="en-US" altLang="zh-CN" sz="2800" b="0" i="1" smtClean="0">
                            <a:latin typeface="Cambria Math" panose="02040503050406030204" pitchFamily="18" charset="0"/>
                            <a:ea typeface="Cambria Math" panose="02040503050406030204" pitchFamily="18" charset="0"/>
                          </a:rPr>
                          <m:t>2</m:t>
                        </m:r>
                      </m:den>
                    </m:f>
                    <m:func>
                      <m:funcPr>
                        <m:ctrlPr>
                          <a:rPr lang="en-US" altLang="zh-CN" sz="2800" b="0" i="1" smtClean="0">
                            <a:latin typeface="Cambria Math" panose="02040503050406030204" pitchFamily="18" charset="0"/>
                            <a:ea typeface="Cambria Math" panose="02040503050406030204" pitchFamily="18" charset="0"/>
                          </a:rPr>
                        </m:ctrlPr>
                      </m:funcPr>
                      <m:fName>
                        <m:r>
                          <m:rPr>
                            <m:sty m:val="p"/>
                          </m:rPr>
                          <a:rPr lang="en-US" altLang="zh-CN" sz="2800" b="0" i="0" smtClean="0">
                            <a:latin typeface="Cambria Math" panose="02040503050406030204" pitchFamily="18" charset="0"/>
                            <a:ea typeface="Cambria Math" panose="02040503050406030204" pitchFamily="18" charset="0"/>
                          </a:rPr>
                          <m:t>ln</m:t>
                        </m:r>
                      </m:fName>
                      <m:e>
                        <m:d>
                          <m:dPr>
                            <m:ctrlPr>
                              <a:rPr lang="en-US" altLang="zh-CN" sz="2800" b="0" i="1" smtClean="0">
                                <a:latin typeface="Cambria Math" panose="02040503050406030204" pitchFamily="18" charset="0"/>
                                <a:ea typeface="Cambria Math" panose="02040503050406030204" pitchFamily="18" charset="0"/>
                              </a:rPr>
                            </m:ctrlPr>
                          </m:dPr>
                          <m:e>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𝑥</m:t>
                                </m:r>
                              </m:e>
                              <m:sup>
                                <m:r>
                                  <a:rPr lang="en-US" altLang="zh-CN" sz="2800" i="1">
                                    <a:latin typeface="Cambria Math" panose="02040503050406030204" pitchFamily="18" charset="0"/>
                                    <a:ea typeface="Cambria Math" panose="02040503050406030204" pitchFamily="18" charset="0"/>
                                  </a:rPr>
                                  <m:t>2</m:t>
                                </m:r>
                              </m:sup>
                            </m:sSup>
                            <m:r>
                              <a:rPr lang="en-US" altLang="zh-CN" sz="2800" i="1">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ea typeface="Cambria Math" panose="02040503050406030204" pitchFamily="18" charset="0"/>
                                  </a:rPr>
                                </m:ctrlPr>
                              </m:sSupPr>
                              <m:e>
                                <m:r>
                                  <a:rPr lang="en-US" altLang="zh-CN" sz="2800" i="1">
                                    <a:latin typeface="Cambria Math" panose="02040503050406030204" pitchFamily="18" charset="0"/>
                                    <a:ea typeface="Cambria Math" panose="02040503050406030204" pitchFamily="18" charset="0"/>
                                  </a:rPr>
                                  <m:t>𝑦</m:t>
                                </m:r>
                              </m:e>
                              <m:sup>
                                <m:r>
                                  <a:rPr lang="en-US" altLang="zh-CN" sz="2800" i="1">
                                    <a:latin typeface="Cambria Math" panose="02040503050406030204" pitchFamily="18" charset="0"/>
                                    <a:ea typeface="Cambria Math" panose="02040503050406030204" pitchFamily="18" charset="0"/>
                                  </a:rPr>
                                  <m:t>2</m:t>
                                </m:r>
                              </m:sup>
                            </m:sSup>
                          </m:e>
                        </m:d>
                      </m:e>
                    </m:func>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𝑔</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𝑦</m:t>
                    </m:r>
                    <m:r>
                      <a:rPr lang="en-US" altLang="zh-CN" sz="2800" b="0" i="1" smtClean="0">
                        <a:latin typeface="Cambria Math" panose="02040503050406030204" pitchFamily="18" charset="0"/>
                        <a:ea typeface="Cambria Math" panose="02040503050406030204" pitchFamily="18" charset="0"/>
                      </a:rPr>
                      <m:t>)</m:t>
                    </m:r>
                  </m:oMath>
                </a14:m>
                <a:r>
                  <a:rPr lang="en-US" altLang="zh-CN" sz="2800" dirty="0">
                    <a:latin typeface="楷体" panose="02010609060101010101" pitchFamily="49" charset="-122"/>
                    <a:ea typeface="楷体" panose="02010609060101010101" pitchFamily="49" charset="-122"/>
                  </a:rPr>
                  <a:t> </a:t>
                </a:r>
                <a:endParaRPr lang="en-US" altLang="zh-CN" sz="2800" dirty="0">
                  <a:latin typeface="楷体" panose="02010609060101010101" pitchFamily="49" charset="-122"/>
                  <a:ea typeface="楷体" panose="02010609060101010101" pitchFamily="49" charset="-122"/>
                </a:endParaRPr>
              </a:p>
            </p:txBody>
          </p:sp>
        </mc:Choice>
        <mc:Fallback>
          <p:sp>
            <p:nvSpPr>
              <p:cNvPr id="5" name="标题 1"/>
              <p:cNvSpPr txBox="1">
                <a:spLocks noRot="1" noChangeAspect="1" noMove="1" noResize="1" noEditPoints="1" noAdjustHandles="1" noChangeArrowheads="1" noChangeShapeType="1" noTextEdit="1"/>
              </p:cNvSpPr>
              <p:nvPr/>
            </p:nvSpPr>
            <p:spPr>
              <a:xfrm>
                <a:off x="565356" y="1990630"/>
                <a:ext cx="8367250" cy="934720"/>
              </a:xfrm>
              <a:prstGeom prst="rect">
                <a:avLst/>
              </a:prstGeom>
              <a:blipFill rotWithShape="1">
                <a:blip r:embed="rId3"/>
                <a:stretch>
                  <a:fillRect l="-2" t="-2911" r="1" b="-29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693175" y="2747504"/>
                <a:ext cx="3185651"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又</a:t>
                </a:r>
                <a14:m>
                  <m:oMath xmlns:m="http://schemas.openxmlformats.org/officeDocument/2006/math">
                    <m:f>
                      <m:fPr>
                        <m:ctrlPr>
                          <a:rPr lang="en-US" altLang="zh-CN" sz="3000" i="1" smtClean="0">
                            <a:latin typeface="Cambria Math" panose="02040503050406030204" pitchFamily="18" charset="0"/>
                            <a:ea typeface="Cambria Math" panose="02040503050406030204" pitchFamily="18" charset="0"/>
                          </a:rPr>
                        </m:ctrlPr>
                      </m:fPr>
                      <m:num>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𝑣</m:t>
                        </m:r>
                      </m:num>
                      <m:den>
                        <m:r>
                          <a:rPr lang="en-US" altLang="zh-CN" sz="300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𝑦</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𝑢</m:t>
                        </m:r>
                      </m:num>
                      <m:den>
                        <m:r>
                          <a:rPr lang="en-US" altLang="zh-CN" sz="3000" i="1">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𝑥</m:t>
                        </m:r>
                      </m:den>
                    </m:f>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𝑐𝑦</m:t>
                        </m:r>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𝑦</m:t>
                            </m:r>
                          </m:e>
                          <m:sup>
                            <m:r>
                              <a:rPr lang="en-US" altLang="zh-CN" sz="3000" i="1">
                                <a:latin typeface="Cambria Math" panose="02040503050406030204" pitchFamily="18" charset="0"/>
                                <a:ea typeface="Cambria Math" panose="02040503050406030204" pitchFamily="18" charset="0"/>
                              </a:rPr>
                              <m:t>2</m:t>
                            </m:r>
                          </m:sup>
                        </m:sSup>
                      </m:den>
                    </m:f>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3" name="标题 1"/>
              <p:cNvSpPr txBox="1">
                <a:spLocks noRot="1" noChangeAspect="1" noMove="1" noResize="1" noEditPoints="1" noAdjustHandles="1" noChangeArrowheads="1" noChangeShapeType="1" noTextEdit="1"/>
              </p:cNvSpPr>
              <p:nvPr/>
            </p:nvSpPr>
            <p:spPr>
              <a:xfrm>
                <a:off x="693175" y="2747504"/>
                <a:ext cx="3185651" cy="934720"/>
              </a:xfrm>
              <a:prstGeom prst="rect">
                <a:avLst/>
              </a:prstGeom>
              <a:blipFill rotWithShape="1">
                <a:blip r:embed="rId4"/>
                <a:stretch>
                  <a:fillRect l="-12" t="-7254" r="8" b="-72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3672350" y="2798024"/>
                <a:ext cx="3185651"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𝑐𝑦</m:t>
                        </m:r>
                      </m:num>
                      <m:den>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2</m:t>
                            </m:r>
                          </m:sup>
                        </m:sSup>
                        <m:r>
                          <a:rPr lang="en-US" altLang="zh-CN" sz="3000" b="0" i="1" smtClean="0">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𝑦</m:t>
                            </m:r>
                          </m:e>
                          <m:sup>
                            <m:r>
                              <a:rPr lang="en-US" altLang="zh-CN" sz="3000" i="1">
                                <a:latin typeface="Cambria Math" panose="02040503050406030204" pitchFamily="18" charset="0"/>
                                <a:ea typeface="Cambria Math" panose="02040503050406030204" pitchFamily="18" charset="0"/>
                              </a:rPr>
                              <m:t>2</m:t>
                            </m:r>
                          </m:sup>
                        </m:sSup>
                      </m:den>
                    </m:f>
                    <m:r>
                      <a:rPr lang="en-US" altLang="zh-CN" sz="3000" b="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𝑔</m:t>
                        </m:r>
                      </m:e>
                      <m:sup>
                        <m:r>
                          <a:rPr lang="en-US" altLang="zh-CN" sz="3000" b="0" i="1" smtClean="0">
                            <a:latin typeface="Cambria Math" panose="02040503050406030204" pitchFamily="18" charset="0"/>
                            <a:ea typeface="Cambria Math" panose="02040503050406030204" pitchFamily="18" charset="0"/>
                          </a:rPr>
                          <m:t>′</m:t>
                        </m:r>
                      </m:sup>
                    </m:sSup>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𝑦</m:t>
                    </m:r>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4" name="标题 1"/>
              <p:cNvSpPr txBox="1">
                <a:spLocks noRot="1" noChangeAspect="1" noMove="1" noResize="1" noEditPoints="1" noAdjustHandles="1" noChangeArrowheads="1" noChangeShapeType="1" noTextEdit="1"/>
              </p:cNvSpPr>
              <p:nvPr/>
            </p:nvSpPr>
            <p:spPr>
              <a:xfrm>
                <a:off x="3672350" y="2798024"/>
                <a:ext cx="3185651" cy="934720"/>
              </a:xfrm>
              <a:prstGeom prst="rect">
                <a:avLst/>
              </a:prstGeom>
              <a:blipFill rotWithShape="1">
                <a:blip r:embed="rId5"/>
                <a:stretch>
                  <a:fillRect l="-5" t="-1789" b="-18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693174" y="3554898"/>
                <a:ext cx="2231924"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rPr>
                      <m:t>⇒</m:t>
                    </m:r>
                    <m:sSup>
                      <m:sSupPr>
                        <m:ctrlPr>
                          <a:rPr lang="en-US" altLang="zh-CN" sz="3000" b="0" i="1" smtClean="0">
                            <a:latin typeface="Cambria Math" panose="02040503050406030204" pitchFamily="18" charset="0"/>
                            <a:ea typeface="Cambria Math" panose="02040503050406030204" pitchFamily="18" charset="0"/>
                          </a:rPr>
                        </m:ctrlPr>
                      </m:sSupPr>
                      <m:e>
                        <m:r>
                          <a:rPr lang="en-US" altLang="zh-CN" sz="3000" b="0" i="1" smtClean="0">
                            <a:latin typeface="Cambria Math" panose="02040503050406030204" pitchFamily="18" charset="0"/>
                            <a:ea typeface="Cambria Math" panose="02040503050406030204" pitchFamily="18" charset="0"/>
                          </a:rPr>
                          <m:t>𝑔</m:t>
                        </m:r>
                      </m:e>
                      <m:sup>
                        <m:r>
                          <a:rPr lang="en-US" altLang="zh-CN" sz="3000" b="0" i="1" smtClean="0">
                            <a:latin typeface="Cambria Math" panose="02040503050406030204" pitchFamily="18" charset="0"/>
                            <a:ea typeface="Cambria Math" panose="02040503050406030204" pitchFamily="18" charset="0"/>
                          </a:rPr>
                          <m:t>′</m:t>
                        </m:r>
                      </m:sup>
                    </m:sSup>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𝑦</m:t>
                        </m:r>
                      </m:e>
                    </m:d>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0</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5" name="标题 1"/>
              <p:cNvSpPr txBox="1">
                <a:spLocks noRot="1" noChangeAspect="1" noMove="1" noResize="1" noEditPoints="1" noAdjustHandles="1" noChangeArrowheads="1" noChangeShapeType="1" noTextEdit="1"/>
              </p:cNvSpPr>
              <p:nvPr/>
            </p:nvSpPr>
            <p:spPr>
              <a:xfrm>
                <a:off x="693174" y="3554898"/>
                <a:ext cx="2231924" cy="934720"/>
              </a:xfrm>
              <a:prstGeom prst="rect">
                <a:avLst/>
              </a:prstGeom>
              <a:blipFill rotWithShape="1">
                <a:blip r:embed="rId6"/>
                <a:stretch>
                  <a:fillRect l="-17" t="-18" r="13"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2797276" y="3518780"/>
                <a:ext cx="2467899"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𝑔</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𝑦</m:t>
                        </m:r>
                      </m:e>
                    </m:d>
                    <m:r>
                      <a:rPr lang="en-US" altLang="zh-CN" sz="3000" b="0" i="1" smtClean="0">
                        <a:latin typeface="Cambria Math" panose="02040503050406030204" pitchFamily="18" charset="0"/>
                        <a:ea typeface="Cambria Math" panose="02040503050406030204" pitchFamily="18" charset="0"/>
                      </a:rPr>
                      <m:t>=</m:t>
                    </m:r>
                    <m:sSub>
                      <m:sSubPr>
                        <m:ctrlPr>
                          <a:rPr lang="en-US" altLang="zh-CN" sz="3000" b="0" i="1" smtClean="0">
                            <a:latin typeface="Cambria Math" panose="02040503050406030204" pitchFamily="18" charset="0"/>
                            <a:ea typeface="Cambria Math" panose="02040503050406030204" pitchFamily="18" charset="0"/>
                          </a:rPr>
                        </m:ctrlPr>
                      </m:sSubPr>
                      <m:e>
                        <m:r>
                          <a:rPr lang="en-US" altLang="zh-CN" sz="3000" b="0" i="1" smtClean="0">
                            <a:latin typeface="Cambria Math" panose="02040503050406030204" pitchFamily="18" charset="0"/>
                            <a:ea typeface="Cambria Math" panose="02040503050406030204" pitchFamily="18" charset="0"/>
                          </a:rPr>
                          <m:t>𝑐</m:t>
                        </m:r>
                      </m:e>
                      <m:sub>
                        <m:r>
                          <a:rPr lang="en-US" altLang="zh-CN" sz="3000" b="0" i="1" smtClean="0">
                            <a:latin typeface="Cambria Math" panose="02040503050406030204" pitchFamily="18" charset="0"/>
                            <a:ea typeface="Cambria Math" panose="02040503050406030204" pitchFamily="18" charset="0"/>
                          </a:rPr>
                          <m:t>2</m:t>
                        </m:r>
                      </m:sub>
                    </m:sSub>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6" name="标题 1"/>
              <p:cNvSpPr txBox="1">
                <a:spLocks noRot="1" noChangeAspect="1" noMove="1" noResize="1" noEditPoints="1" noAdjustHandles="1" noChangeArrowheads="1" noChangeShapeType="1" noTextEdit="1"/>
              </p:cNvSpPr>
              <p:nvPr/>
            </p:nvSpPr>
            <p:spPr>
              <a:xfrm>
                <a:off x="2797276" y="3518780"/>
                <a:ext cx="2467899" cy="934720"/>
              </a:xfrm>
              <a:prstGeom prst="rect">
                <a:avLst/>
              </a:prstGeom>
              <a:blipFill rotWithShape="1">
                <a:blip r:embed="rId7"/>
                <a:stretch>
                  <a:fillRect l="-4" t="-26" r="16"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标题 1"/>
              <p:cNvSpPr txBox="1"/>
              <p:nvPr/>
            </p:nvSpPr>
            <p:spPr>
              <a:xfrm>
                <a:off x="693174" y="4236534"/>
                <a:ext cx="6233652"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𝑣</m:t>
                    </m:r>
                    <m:r>
                      <a:rPr lang="en-US" altLang="zh-CN" sz="3200" b="0" i="1" smtClean="0">
                        <a:latin typeface="Cambria Math" panose="02040503050406030204" pitchFamily="18" charset="0"/>
                        <a:ea typeface="Cambria Math" panose="02040503050406030204" pitchFamily="18" charset="0"/>
                      </a:rPr>
                      <m:t>=−</m:t>
                    </m:r>
                    <m:f>
                      <m:fPr>
                        <m:ctrlPr>
                          <a:rPr lang="en-US" altLang="zh-CN" sz="3200" i="1">
                            <a:latin typeface="Cambria Math" panose="02040503050406030204" pitchFamily="18" charset="0"/>
                            <a:ea typeface="Cambria Math" panose="02040503050406030204" pitchFamily="18" charset="0"/>
                          </a:rPr>
                        </m:ctrlPr>
                      </m:fPr>
                      <m:num>
                        <m:r>
                          <a:rPr lang="en-US" altLang="zh-CN" sz="3200" i="1">
                            <a:latin typeface="Cambria Math" panose="02040503050406030204" pitchFamily="18" charset="0"/>
                            <a:ea typeface="Cambria Math" panose="02040503050406030204" pitchFamily="18" charset="0"/>
                          </a:rPr>
                          <m:t>𝑐</m:t>
                        </m:r>
                      </m:num>
                      <m:den>
                        <m:r>
                          <a:rPr lang="en-US" altLang="zh-CN" sz="3200" i="1">
                            <a:latin typeface="Cambria Math" panose="02040503050406030204" pitchFamily="18" charset="0"/>
                            <a:ea typeface="Cambria Math" panose="02040503050406030204" pitchFamily="18" charset="0"/>
                          </a:rPr>
                          <m:t>2</m:t>
                        </m:r>
                      </m:den>
                    </m:f>
                    <m:func>
                      <m:funcPr>
                        <m:ctrlPr>
                          <a:rPr lang="en-US" altLang="zh-CN" sz="3200" i="1">
                            <a:latin typeface="Cambria Math" panose="02040503050406030204" pitchFamily="18" charset="0"/>
                            <a:ea typeface="Cambria Math" panose="02040503050406030204" pitchFamily="18" charset="0"/>
                          </a:rPr>
                        </m:ctrlPr>
                      </m:funcPr>
                      <m:fName>
                        <m:r>
                          <m:rPr>
                            <m:sty m:val="p"/>
                          </m:rPr>
                          <a:rPr lang="en-US" altLang="zh-CN" sz="3200">
                            <a:latin typeface="Cambria Math" panose="02040503050406030204" pitchFamily="18" charset="0"/>
                            <a:ea typeface="Cambria Math" panose="02040503050406030204" pitchFamily="18" charset="0"/>
                          </a:rPr>
                          <m:t>ln</m:t>
                        </m:r>
                      </m:fName>
                      <m:e>
                        <m:d>
                          <m:dPr>
                            <m:ctrlPr>
                              <a:rPr lang="en-US" altLang="zh-CN" sz="3200" i="1">
                                <a:latin typeface="Cambria Math" panose="02040503050406030204" pitchFamily="18" charset="0"/>
                                <a:ea typeface="Cambria Math" panose="02040503050406030204" pitchFamily="18" charset="0"/>
                              </a:rPr>
                            </m:ctrlPr>
                          </m:dPr>
                          <m:e>
                            <m:sSup>
                              <m:sSupPr>
                                <m:ctrlPr>
                                  <a:rPr lang="en-US" altLang="zh-CN" sz="3200" i="1">
                                    <a:latin typeface="Cambria Math" panose="02040503050406030204" pitchFamily="18" charset="0"/>
                                    <a:ea typeface="Cambria Math" panose="02040503050406030204" pitchFamily="18" charset="0"/>
                                  </a:rPr>
                                </m:ctrlPr>
                              </m:sSupPr>
                              <m:e>
                                <m:r>
                                  <a:rPr lang="en-US" altLang="zh-CN" sz="3200" i="1">
                                    <a:latin typeface="Cambria Math" panose="02040503050406030204" pitchFamily="18" charset="0"/>
                                    <a:ea typeface="Cambria Math" panose="02040503050406030204" pitchFamily="18" charset="0"/>
                                  </a:rPr>
                                  <m:t>𝑥</m:t>
                                </m:r>
                              </m:e>
                              <m:sup>
                                <m:r>
                                  <a:rPr lang="en-US" altLang="zh-CN" sz="3200" i="1">
                                    <a:latin typeface="Cambria Math" panose="02040503050406030204" pitchFamily="18" charset="0"/>
                                    <a:ea typeface="Cambria Math" panose="02040503050406030204" pitchFamily="18" charset="0"/>
                                  </a:rPr>
                                  <m:t>2</m:t>
                                </m:r>
                              </m:sup>
                            </m:sSup>
                            <m:r>
                              <a:rPr lang="en-US" altLang="zh-CN" sz="3200" i="1">
                                <a:latin typeface="Cambria Math" panose="02040503050406030204" pitchFamily="18" charset="0"/>
                                <a:ea typeface="Cambria Math" panose="02040503050406030204" pitchFamily="18" charset="0"/>
                              </a:rPr>
                              <m:t>+</m:t>
                            </m:r>
                            <m:sSup>
                              <m:sSupPr>
                                <m:ctrlPr>
                                  <a:rPr lang="en-US" altLang="zh-CN" sz="3200" i="1">
                                    <a:latin typeface="Cambria Math" panose="02040503050406030204" pitchFamily="18" charset="0"/>
                                    <a:ea typeface="Cambria Math" panose="02040503050406030204" pitchFamily="18" charset="0"/>
                                  </a:rPr>
                                </m:ctrlPr>
                              </m:sSupPr>
                              <m:e>
                                <m:r>
                                  <a:rPr lang="en-US" altLang="zh-CN" sz="3200" i="1">
                                    <a:latin typeface="Cambria Math" panose="02040503050406030204" pitchFamily="18" charset="0"/>
                                    <a:ea typeface="Cambria Math" panose="02040503050406030204" pitchFamily="18" charset="0"/>
                                  </a:rPr>
                                  <m:t>𝑦</m:t>
                                </m:r>
                              </m:e>
                              <m:sup>
                                <m:r>
                                  <a:rPr lang="en-US" altLang="zh-CN" sz="3200" i="1">
                                    <a:latin typeface="Cambria Math" panose="02040503050406030204" pitchFamily="18" charset="0"/>
                                    <a:ea typeface="Cambria Math" panose="02040503050406030204" pitchFamily="18" charset="0"/>
                                  </a:rPr>
                                  <m:t>2</m:t>
                                </m:r>
                              </m:sup>
                            </m:sSup>
                          </m:e>
                        </m:d>
                      </m:e>
                    </m:func>
                    <m:r>
                      <a:rPr lang="en-US" altLang="zh-CN" sz="3200" b="0" i="1" smtClean="0">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𝑐</m:t>
                        </m:r>
                      </m:e>
                      <m:sub>
                        <m:r>
                          <a:rPr lang="en-US" altLang="zh-CN" sz="3000" i="1">
                            <a:latin typeface="Cambria Math" panose="02040503050406030204" pitchFamily="18" charset="0"/>
                            <a:ea typeface="Cambria Math" panose="02040503050406030204" pitchFamily="18" charset="0"/>
                          </a:rPr>
                          <m:t>2</m:t>
                        </m:r>
                      </m:sub>
                    </m:sSub>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7" name="标题 1"/>
              <p:cNvSpPr txBox="1">
                <a:spLocks noRot="1" noChangeAspect="1" noMove="1" noResize="1" noEditPoints="1" noAdjustHandles="1" noChangeArrowheads="1" noChangeShapeType="1" noTextEdit="1"/>
              </p:cNvSpPr>
              <p:nvPr/>
            </p:nvSpPr>
            <p:spPr>
              <a:xfrm>
                <a:off x="693174" y="4236534"/>
                <a:ext cx="6233652" cy="934720"/>
              </a:xfrm>
              <a:prstGeom prst="rect">
                <a:avLst/>
              </a:prstGeom>
              <a:blipFill rotWithShape="1">
                <a:blip r:embed="rId8"/>
                <a:stretch>
                  <a:fillRect l="-6" t="-863" r="4" b="-9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标题 1"/>
              <p:cNvSpPr txBox="1"/>
              <p:nvPr/>
            </p:nvSpPr>
            <p:spPr>
              <a:xfrm>
                <a:off x="693174" y="5048330"/>
                <a:ext cx="8514736"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𝑓</m:t>
                    </m:r>
                    <m:d>
                      <m:dPr>
                        <m:ctrlPr>
                          <a:rPr lang="en-US" altLang="zh-CN" sz="3000" b="0" i="1" smtClean="0">
                            <a:latin typeface="Cambria Math" panose="02040503050406030204" pitchFamily="18" charset="0"/>
                            <a:ea typeface="Cambria Math" panose="02040503050406030204" pitchFamily="18" charset="0"/>
                          </a:rPr>
                        </m:ctrlPr>
                      </m:dPr>
                      <m:e>
                        <m:r>
                          <a:rPr lang="en-US" altLang="zh-CN" sz="3000" b="0" i="1" smtClean="0">
                            <a:latin typeface="Cambria Math" panose="02040503050406030204" pitchFamily="18" charset="0"/>
                            <a:ea typeface="Cambria Math" panose="02040503050406030204" pitchFamily="18" charset="0"/>
                          </a:rPr>
                          <m:t>𝑧</m:t>
                        </m:r>
                      </m:e>
                    </m:d>
                    <m:r>
                      <a:rPr lang="en-US" altLang="zh-CN" sz="3000" b="0" i="1" smtClean="0">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𝑐</m:t>
                    </m:r>
                    <m:r>
                      <a:rPr lang="en-US" altLang="zh-CN" sz="3000" i="1">
                        <a:latin typeface="Cambria Math" panose="02040503050406030204" pitchFamily="18" charset="0"/>
                        <a:ea typeface="Cambria Math" panose="02040503050406030204" pitchFamily="18" charset="0"/>
                      </a:rPr>
                      <m:t>∙</m:t>
                    </m:r>
                    <m:r>
                      <a:rPr lang="en-US" altLang="zh-CN" sz="3000" i="1">
                        <a:latin typeface="Cambria Math" panose="02040503050406030204" pitchFamily="18" charset="0"/>
                        <a:ea typeface="Cambria Math" panose="02040503050406030204" pitchFamily="18" charset="0"/>
                      </a:rPr>
                      <m:t>𝑎𝑟𝑐𝑡𝑎𝑛</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𝑦</m:t>
                        </m:r>
                      </m:num>
                      <m:den>
                        <m:r>
                          <a:rPr lang="en-US" altLang="zh-CN" sz="3000" i="1">
                            <a:latin typeface="Cambria Math" panose="02040503050406030204" pitchFamily="18" charset="0"/>
                            <a:ea typeface="楷体" panose="02010609060101010101" pitchFamily="49" charset="-122"/>
                          </a:rPr>
                          <m:t>𝑥</m:t>
                        </m:r>
                      </m:den>
                    </m:f>
                    <m:r>
                      <a:rPr lang="en-US" altLang="zh-CN" sz="3000" i="1">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𝑐</m:t>
                        </m:r>
                      </m:e>
                      <m:sub>
                        <m:r>
                          <a:rPr lang="en-US" altLang="zh-CN" sz="3000" i="1">
                            <a:latin typeface="Cambria Math" panose="02040503050406030204" pitchFamily="18" charset="0"/>
                            <a:ea typeface="Cambria Math" panose="02040503050406030204" pitchFamily="18" charset="0"/>
                          </a:rPr>
                          <m:t>1</m:t>
                        </m:r>
                      </m:sub>
                    </m:sSub>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𝑖</m:t>
                    </m:r>
                    <m:r>
                      <a:rPr lang="en-US" altLang="zh-CN" sz="3000" b="0" i="1" smtClean="0">
                        <a:latin typeface="Cambria Math" panose="02040503050406030204" pitchFamily="18" charset="0"/>
                        <a:ea typeface="Cambria Math" panose="02040503050406030204" pitchFamily="18" charset="0"/>
                      </a:rPr>
                      <m:t>[−</m:t>
                    </m:r>
                    <m:f>
                      <m:fPr>
                        <m:ctrlPr>
                          <a:rPr lang="en-US" altLang="zh-CN" sz="3000" i="1">
                            <a:latin typeface="Cambria Math" panose="02040503050406030204" pitchFamily="18" charset="0"/>
                            <a:ea typeface="Cambria Math" panose="02040503050406030204" pitchFamily="18" charset="0"/>
                          </a:rPr>
                        </m:ctrlPr>
                      </m:fPr>
                      <m:num>
                        <m:r>
                          <a:rPr lang="en-US" altLang="zh-CN" sz="3000" i="1">
                            <a:latin typeface="Cambria Math" panose="02040503050406030204" pitchFamily="18" charset="0"/>
                            <a:ea typeface="Cambria Math" panose="02040503050406030204" pitchFamily="18" charset="0"/>
                          </a:rPr>
                          <m:t>𝑐</m:t>
                        </m:r>
                      </m:num>
                      <m:den>
                        <m:r>
                          <a:rPr lang="en-US" altLang="zh-CN" sz="3000" i="1">
                            <a:latin typeface="Cambria Math" panose="02040503050406030204" pitchFamily="18" charset="0"/>
                            <a:ea typeface="Cambria Math" panose="02040503050406030204" pitchFamily="18" charset="0"/>
                          </a:rPr>
                          <m:t>2</m:t>
                        </m:r>
                      </m:den>
                    </m:f>
                    <m:func>
                      <m:funcPr>
                        <m:ctrlPr>
                          <a:rPr lang="en-US" altLang="zh-CN" sz="3000" i="1">
                            <a:latin typeface="Cambria Math" panose="02040503050406030204" pitchFamily="18" charset="0"/>
                            <a:ea typeface="Cambria Math" panose="02040503050406030204" pitchFamily="18" charset="0"/>
                          </a:rPr>
                        </m:ctrlPr>
                      </m:funcPr>
                      <m:fName>
                        <m:r>
                          <m:rPr>
                            <m:sty m:val="p"/>
                          </m:rPr>
                          <a:rPr lang="en-US" altLang="zh-CN" sz="3000">
                            <a:latin typeface="Cambria Math" panose="02040503050406030204" pitchFamily="18" charset="0"/>
                            <a:ea typeface="Cambria Math" panose="02040503050406030204" pitchFamily="18" charset="0"/>
                          </a:rPr>
                          <m:t>ln</m:t>
                        </m:r>
                      </m:fName>
                      <m:e>
                        <m:d>
                          <m:dPr>
                            <m:ctrlPr>
                              <a:rPr lang="en-US" altLang="zh-CN" sz="3000" i="1">
                                <a:latin typeface="Cambria Math" panose="02040503050406030204" pitchFamily="18" charset="0"/>
                                <a:ea typeface="Cambria Math" panose="02040503050406030204" pitchFamily="18" charset="0"/>
                              </a:rPr>
                            </m:ctrlPr>
                          </m:dPr>
                          <m:e>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𝑥</m:t>
                                </m:r>
                              </m:e>
                              <m:sup>
                                <m:r>
                                  <a:rPr lang="en-US" altLang="zh-CN" sz="3000" i="1">
                                    <a:latin typeface="Cambria Math" panose="02040503050406030204" pitchFamily="18" charset="0"/>
                                    <a:ea typeface="Cambria Math" panose="02040503050406030204" pitchFamily="18" charset="0"/>
                                  </a:rPr>
                                  <m:t>2</m:t>
                                </m:r>
                              </m:sup>
                            </m:sSup>
                            <m:r>
                              <a:rPr lang="en-US" altLang="zh-CN" sz="3000" i="1">
                                <a:latin typeface="Cambria Math" panose="02040503050406030204" pitchFamily="18" charset="0"/>
                                <a:ea typeface="Cambria Math" panose="02040503050406030204" pitchFamily="18" charset="0"/>
                              </a:rPr>
                              <m:t>+</m:t>
                            </m:r>
                            <m:sSup>
                              <m:sSupPr>
                                <m:ctrlPr>
                                  <a:rPr lang="en-US" altLang="zh-CN" sz="3000" i="1">
                                    <a:latin typeface="Cambria Math" panose="02040503050406030204" pitchFamily="18" charset="0"/>
                                    <a:ea typeface="Cambria Math" panose="02040503050406030204" pitchFamily="18" charset="0"/>
                                  </a:rPr>
                                </m:ctrlPr>
                              </m:sSupPr>
                              <m:e>
                                <m:r>
                                  <a:rPr lang="en-US" altLang="zh-CN" sz="3000" i="1">
                                    <a:latin typeface="Cambria Math" panose="02040503050406030204" pitchFamily="18" charset="0"/>
                                    <a:ea typeface="Cambria Math" panose="02040503050406030204" pitchFamily="18" charset="0"/>
                                  </a:rPr>
                                  <m:t>𝑦</m:t>
                                </m:r>
                              </m:e>
                              <m:sup>
                                <m:r>
                                  <a:rPr lang="en-US" altLang="zh-CN" sz="3000" i="1">
                                    <a:latin typeface="Cambria Math" panose="02040503050406030204" pitchFamily="18" charset="0"/>
                                    <a:ea typeface="Cambria Math" panose="02040503050406030204" pitchFamily="18" charset="0"/>
                                  </a:rPr>
                                  <m:t>2</m:t>
                                </m:r>
                              </m:sup>
                            </m:sSup>
                          </m:e>
                        </m:d>
                      </m:e>
                    </m:func>
                    <m:r>
                      <a:rPr lang="en-US" altLang="zh-CN" sz="3000" b="0" i="1" smtClean="0">
                        <a:latin typeface="Cambria Math" panose="02040503050406030204" pitchFamily="18" charset="0"/>
                        <a:ea typeface="Cambria Math" panose="02040503050406030204" pitchFamily="18" charset="0"/>
                      </a:rPr>
                      <m:t>+</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𝑐</m:t>
                        </m:r>
                      </m:e>
                      <m:sub>
                        <m:r>
                          <a:rPr lang="en-US" altLang="zh-CN" sz="3000" i="1">
                            <a:latin typeface="Cambria Math" panose="02040503050406030204" pitchFamily="18" charset="0"/>
                            <a:ea typeface="Cambria Math" panose="02040503050406030204" pitchFamily="18" charset="0"/>
                          </a:rPr>
                          <m:t>2</m:t>
                        </m:r>
                      </m:sub>
                    </m:sSub>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19" name="标题 1"/>
              <p:cNvSpPr txBox="1">
                <a:spLocks noRot="1" noChangeAspect="1" noMove="1" noResize="1" noEditPoints="1" noAdjustHandles="1" noChangeArrowheads="1" noChangeShapeType="1" noTextEdit="1"/>
              </p:cNvSpPr>
              <p:nvPr/>
            </p:nvSpPr>
            <p:spPr>
              <a:xfrm>
                <a:off x="693174" y="5048330"/>
                <a:ext cx="8514736" cy="934720"/>
              </a:xfrm>
              <a:prstGeom prst="rect">
                <a:avLst/>
              </a:prstGeom>
              <a:blipFill rotWithShape="1">
                <a:blip r:embed="rId9"/>
                <a:stretch>
                  <a:fillRect l="-5" t="-9" r="5"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标题 1"/>
              <p:cNvSpPr txBox="1"/>
              <p:nvPr/>
            </p:nvSpPr>
            <p:spPr>
              <a:xfrm>
                <a:off x="1873045" y="5800288"/>
                <a:ext cx="6233652" cy="9347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14:m>
                  <m:oMath xmlns:m="http://schemas.openxmlformats.org/officeDocument/2006/math">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𝑖𝑐</m:t>
                    </m:r>
                    <m:func>
                      <m:funcPr>
                        <m:ctrlPr>
                          <a:rPr lang="en-US" altLang="zh-CN" sz="3200" i="1">
                            <a:latin typeface="Cambria Math" panose="02040503050406030204" pitchFamily="18" charset="0"/>
                            <a:ea typeface="Cambria Math" panose="02040503050406030204" pitchFamily="18" charset="0"/>
                          </a:rPr>
                        </m:ctrlPr>
                      </m:funcPr>
                      <m:fName>
                        <m:r>
                          <m:rPr>
                            <m:sty m:val="p"/>
                          </m:rPr>
                          <a:rPr lang="en-US" altLang="zh-CN" sz="3200">
                            <a:latin typeface="Cambria Math" panose="02040503050406030204" pitchFamily="18" charset="0"/>
                            <a:ea typeface="Cambria Math" panose="02040503050406030204" pitchFamily="18" charset="0"/>
                          </a:rPr>
                          <m:t>ln</m:t>
                        </m:r>
                      </m:fName>
                      <m:e>
                        <m:r>
                          <a:rPr lang="en-US" altLang="zh-CN" sz="3200" b="0" i="1" smtClean="0">
                            <a:latin typeface="Cambria Math" panose="02040503050406030204" pitchFamily="18" charset="0"/>
                            <a:ea typeface="Cambria Math" panose="02040503050406030204" pitchFamily="18" charset="0"/>
                          </a:rPr>
                          <m:t>𝑧</m:t>
                        </m:r>
                      </m:e>
                    </m:func>
                    <m:r>
                      <a:rPr lang="en-US" altLang="zh-CN" sz="3200" b="0" i="1" smtClean="0">
                        <a:latin typeface="Cambria Math" panose="02040503050406030204" pitchFamily="18" charset="0"/>
                        <a:ea typeface="Cambria Math" panose="02040503050406030204" pitchFamily="18" charset="0"/>
                      </a:rPr>
                      <m:t>+(</m:t>
                    </m:r>
                    <m:sSub>
                      <m:sSubPr>
                        <m:ctrlPr>
                          <a:rPr lang="en-US" altLang="zh-CN" sz="3200" i="1">
                            <a:latin typeface="Cambria Math" panose="02040503050406030204" pitchFamily="18" charset="0"/>
                            <a:ea typeface="Cambria Math" panose="02040503050406030204" pitchFamily="18" charset="0"/>
                          </a:rPr>
                        </m:ctrlPr>
                      </m:sSubPr>
                      <m:e>
                        <m:r>
                          <a:rPr lang="en-US" altLang="zh-CN" sz="3200" i="1">
                            <a:latin typeface="Cambria Math" panose="02040503050406030204" pitchFamily="18" charset="0"/>
                            <a:ea typeface="Cambria Math" panose="02040503050406030204" pitchFamily="18" charset="0"/>
                          </a:rPr>
                          <m:t>𝑐</m:t>
                        </m:r>
                      </m:e>
                      <m:sub>
                        <m:r>
                          <a:rPr lang="en-US" altLang="zh-CN" sz="3200" i="1">
                            <a:latin typeface="Cambria Math" panose="02040503050406030204" pitchFamily="18" charset="0"/>
                            <a:ea typeface="Cambria Math" panose="02040503050406030204" pitchFamily="18" charset="0"/>
                          </a:rPr>
                          <m:t>1</m:t>
                        </m:r>
                      </m:sub>
                    </m:sSub>
                    <m:r>
                      <a:rPr lang="en-US" altLang="zh-CN" sz="3200" b="0" i="1" smtClean="0">
                        <a:latin typeface="Cambria Math" panose="02040503050406030204" pitchFamily="18" charset="0"/>
                        <a:ea typeface="Cambria Math" panose="02040503050406030204" pitchFamily="18" charset="0"/>
                      </a:rPr>
                      <m:t>+</m:t>
                    </m:r>
                    <m:r>
                      <a:rPr lang="en-US" altLang="zh-CN" sz="3200" b="0" i="1" smtClean="0">
                        <a:latin typeface="Cambria Math" panose="02040503050406030204" pitchFamily="18" charset="0"/>
                        <a:ea typeface="Cambria Math" panose="02040503050406030204" pitchFamily="18" charset="0"/>
                      </a:rPr>
                      <m:t>𝑖</m:t>
                    </m:r>
                    <m:sSub>
                      <m:sSubPr>
                        <m:ctrlPr>
                          <a:rPr lang="en-US" altLang="zh-CN" sz="3000" i="1">
                            <a:latin typeface="Cambria Math" panose="02040503050406030204" pitchFamily="18" charset="0"/>
                            <a:ea typeface="Cambria Math" panose="02040503050406030204" pitchFamily="18" charset="0"/>
                          </a:rPr>
                        </m:ctrlPr>
                      </m:sSubPr>
                      <m:e>
                        <m:r>
                          <a:rPr lang="en-US" altLang="zh-CN" sz="3000" i="1">
                            <a:latin typeface="Cambria Math" panose="02040503050406030204" pitchFamily="18" charset="0"/>
                            <a:ea typeface="Cambria Math" panose="02040503050406030204" pitchFamily="18" charset="0"/>
                          </a:rPr>
                          <m:t>𝑐</m:t>
                        </m:r>
                      </m:e>
                      <m:sub>
                        <m:r>
                          <a:rPr lang="en-US" altLang="zh-CN" sz="3000" i="1">
                            <a:latin typeface="Cambria Math" panose="02040503050406030204" pitchFamily="18" charset="0"/>
                            <a:ea typeface="Cambria Math" panose="02040503050406030204" pitchFamily="18" charset="0"/>
                          </a:rPr>
                          <m:t>2</m:t>
                        </m:r>
                      </m:sub>
                    </m:sSub>
                    <m:r>
                      <a:rPr lang="en-US" altLang="zh-CN" sz="3000" b="0" i="1" smtClean="0">
                        <a:latin typeface="Cambria Math" panose="02040503050406030204" pitchFamily="18" charset="0"/>
                        <a:ea typeface="Cambria Math" panose="02040503050406030204" pitchFamily="18" charset="0"/>
                      </a:rPr>
                      <m:t>)</m:t>
                    </m:r>
                  </m:oMath>
                </a14:m>
                <a:r>
                  <a:rPr lang="en-US" altLang="zh-CN" sz="3000" dirty="0">
                    <a:latin typeface="楷体" panose="02010609060101010101" pitchFamily="49" charset="-122"/>
                    <a:ea typeface="楷体" panose="02010609060101010101" pitchFamily="49" charset="-122"/>
                  </a:rPr>
                  <a:t> </a:t>
                </a:r>
                <a:endParaRPr lang="en-US" altLang="zh-CN" sz="3000" dirty="0">
                  <a:latin typeface="楷体" panose="02010609060101010101" pitchFamily="49" charset="-122"/>
                  <a:ea typeface="楷体" panose="02010609060101010101" pitchFamily="49" charset="-122"/>
                </a:endParaRPr>
              </a:p>
            </p:txBody>
          </p:sp>
        </mc:Choice>
        <mc:Fallback>
          <p:sp>
            <p:nvSpPr>
              <p:cNvPr id="20" name="标题 1"/>
              <p:cNvSpPr txBox="1">
                <a:spLocks noRot="1" noChangeAspect="1" noMove="1" noResize="1" noEditPoints="1" noAdjustHandles="1" noChangeArrowheads="1" noChangeShapeType="1" noTextEdit="1"/>
              </p:cNvSpPr>
              <p:nvPr/>
            </p:nvSpPr>
            <p:spPr>
              <a:xfrm>
                <a:off x="1873045" y="5800288"/>
                <a:ext cx="6233652" cy="934720"/>
              </a:xfrm>
              <a:prstGeom prst="rect">
                <a:avLst/>
              </a:prstGeom>
              <a:blipFill rotWithShape="1">
                <a:blip r:embed="rId10"/>
                <a:stretch>
                  <a:fillRect l="-7" t="-21" r="5" b="2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 grpId="0"/>
      <p:bldP spid="5" grpId="0"/>
      <p:bldP spid="13" grpId="0"/>
      <p:bldP spid="14" grpId="0"/>
      <p:bldP spid="15" grpId="0"/>
      <p:bldP spid="16" grpId="0"/>
      <p:bldP spid="17" grpId="0"/>
      <p:bldP spid="19" grpId="0"/>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1"/>
          <p:cNvSpPr txBox="1"/>
          <p:nvPr/>
        </p:nvSpPr>
        <p:spPr>
          <a:xfrm>
            <a:off x="185420" y="374650"/>
            <a:ext cx="8662670" cy="99568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为什么研究解析函数与调和函数的关系？</a:t>
            </a:r>
            <a:endParaRPr lang="zh-CN" altLang="en-US" sz="3000" dirty="0">
              <a:latin typeface="楷体" panose="02010609060101010101" pitchFamily="49" charset="-122"/>
              <a:ea typeface="楷体" panose="02010609060101010101" pitchFamily="49" charset="-122"/>
            </a:endParaRPr>
          </a:p>
        </p:txBody>
      </p:sp>
      <p:sp>
        <p:nvSpPr>
          <p:cNvPr id="2" name="标题 1"/>
          <p:cNvSpPr txBox="1"/>
          <p:nvPr/>
        </p:nvSpPr>
        <p:spPr>
          <a:xfrm>
            <a:off x="480695" y="1275715"/>
            <a:ext cx="8182610" cy="1364615"/>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调和函数是流体力学、电磁学和热传学中经常遇到的一类重要函数。</a:t>
            </a:r>
            <a:endParaRPr lang="zh-CN" altLang="en-US" sz="3000" dirty="0">
              <a:latin typeface="楷体" panose="02010609060101010101" pitchFamily="49" charset="-122"/>
              <a:ea typeface="楷体" panose="02010609060101010101" pitchFamily="49" charset="-122"/>
            </a:endParaRPr>
          </a:p>
        </p:txBody>
      </p:sp>
      <p:sp>
        <p:nvSpPr>
          <p:cNvPr id="3" name="标题 1"/>
          <p:cNvSpPr txBox="1"/>
          <p:nvPr/>
        </p:nvSpPr>
        <p:spPr>
          <a:xfrm>
            <a:off x="558800" y="2724785"/>
            <a:ext cx="7915910" cy="27292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a:lnSpc>
                <a:spcPct val="150000"/>
              </a:lnSpc>
              <a:buFont typeface="Arial" panose="020B0604020202020204" pitchFamily="34" charset="0"/>
            </a:pPr>
            <a:r>
              <a:rPr lang="zh-CN" altLang="en-US" sz="3000" dirty="0">
                <a:latin typeface="楷体" panose="02010609060101010101" pitchFamily="49" charset="-122"/>
                <a:ea typeface="楷体" panose="02010609060101010101" pitchFamily="49" charset="-122"/>
              </a:rPr>
              <a:t>如：不可压缩的平面定常的无源无旋流速场的流函数与势函数、平面静电场的力函数与势函数、热流场的流函数与温度分布函数等都是调和函数。</a:t>
            </a:r>
            <a:endParaRPr lang="zh-CN" altLang="en-US" sz="3000" dirty="0">
              <a:latin typeface="楷体" panose="02010609060101010101" pitchFamily="49" charset="-122"/>
              <a:ea typeface="楷体" panose="02010609060101010101" pitchFamily="49" charset="-122"/>
            </a:endParaRPr>
          </a:p>
        </p:txBody>
      </p:sp>
      <p:sp>
        <p:nvSpPr>
          <p:cNvPr id="4" name="标题 1"/>
          <p:cNvSpPr txBox="1"/>
          <p:nvPr/>
        </p:nvSpPr>
        <p:spPr>
          <a:xfrm>
            <a:off x="558800" y="5322570"/>
            <a:ext cx="8662670" cy="99568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3000" dirty="0">
                <a:latin typeface="楷体" panose="02010609060101010101" pitchFamily="49" charset="-122"/>
                <a:ea typeface="楷体" panose="02010609060101010101" pitchFamily="49" charset="-122"/>
              </a:rPr>
              <a:t>因此场论中通常把无源无旋的向量场叫做调和场。</a:t>
            </a:r>
            <a:endParaRPr lang="zh-CN" altLang="en-US" sz="3000" dirty="0">
              <a:latin typeface="楷体" panose="02010609060101010101" pitchFamily="49" charset="-122"/>
              <a:ea typeface="楷体" panose="02010609060101010101" pitchFamily="49" charset="-122"/>
            </a:endParaRPr>
          </a:p>
        </p:txBody>
      </p:sp>
      <p:grpSp>
        <p:nvGrpSpPr>
          <p:cNvPr id="9" name="组合 8"/>
          <p:cNvGrpSpPr/>
          <p:nvPr/>
        </p:nvGrpSpPr>
        <p:grpSpPr>
          <a:xfrm>
            <a:off x="0" y="82323"/>
            <a:ext cx="9088711" cy="516645"/>
            <a:chOff x="0" y="82323"/>
            <a:chExt cx="9088711" cy="516645"/>
          </a:xfrm>
        </p:grpSpPr>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190500" y="471683"/>
            <a:ext cx="8763000" cy="139954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solidFill>
                  <a:schemeClr val="tx1"/>
                </a:solidFill>
                <a:latin typeface="楷体" panose="02010609060101010101" pitchFamily="49" charset="-122"/>
                <a:ea typeface="楷体" panose="02010609060101010101" pitchFamily="49" charset="-122"/>
              </a:rPr>
              <a:t>题外话：解析函数的实部与虚部并非相互独立存在，而是彼此依存。</a:t>
            </a:r>
            <a:endParaRPr lang="zh-CN" altLang="en-US" sz="3000" dirty="0">
              <a:solidFill>
                <a:schemeClr val="tx1"/>
              </a:solidFill>
              <a:latin typeface="楷体" panose="02010609060101010101" pitchFamily="49" charset="-122"/>
              <a:ea typeface="楷体" panose="02010609060101010101" pitchFamily="49" charset="-122"/>
            </a:endParaRPr>
          </a:p>
        </p:txBody>
      </p:sp>
      <p:sp>
        <p:nvSpPr>
          <p:cNvPr id="6" name="标题 1"/>
          <p:cNvSpPr txBox="1"/>
          <p:nvPr/>
        </p:nvSpPr>
        <p:spPr>
          <a:xfrm>
            <a:off x="265029" y="1743937"/>
            <a:ext cx="8763000" cy="20942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dirty="0">
                <a:solidFill>
                  <a:schemeClr val="tx1"/>
                </a:solidFill>
                <a:latin typeface="楷体" panose="02010609060101010101" pitchFamily="49" charset="-122"/>
                <a:ea typeface="楷体" panose="02010609060101010101" pitchFamily="49" charset="-122"/>
              </a:rPr>
              <a:t>这也是事物之间普遍联系原理，因此我们加强人与自然关系的认识，尊重自然，保护自然，梳理正确的生态文明理念。</a:t>
            </a:r>
            <a:endParaRPr lang="zh-CN" altLang="en-US" sz="3000" dirty="0">
              <a:solidFill>
                <a:schemeClr val="tx1"/>
              </a:solidFill>
              <a:latin typeface="楷体" panose="02010609060101010101" pitchFamily="49" charset="-122"/>
              <a:ea typeface="楷体" panose="02010609060101010101" pitchFamily="49" charset="-122"/>
            </a:endParaRPr>
          </a:p>
        </p:txBody>
      </p:sp>
      <p:sp>
        <p:nvSpPr>
          <p:cNvPr id="7" name="标题 1"/>
          <p:cNvSpPr txBox="1"/>
          <p:nvPr/>
        </p:nvSpPr>
        <p:spPr>
          <a:xfrm>
            <a:off x="303530" y="3604260"/>
            <a:ext cx="8763000" cy="209423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dirty="0">
                <a:solidFill>
                  <a:schemeClr val="tx1"/>
                </a:solidFill>
                <a:latin typeface="楷体" panose="02010609060101010101" pitchFamily="49" charset="-122"/>
                <a:ea typeface="楷体" panose="02010609060101010101" pitchFamily="49" charset="-122"/>
              </a:rPr>
              <a:t>实部和虚部这样的关系让函数成为好函数，对于人来说也一样，专业技能和思想意识之间也是相互影响相互促进，两者共同提高才能成为国家的栋梁。</a:t>
            </a:r>
            <a:endParaRPr lang="zh-CN" altLang="en-US" sz="3000" dirty="0">
              <a:solidFill>
                <a:schemeClr val="tx1"/>
              </a:solidFill>
              <a:latin typeface="楷体" panose="02010609060101010101" pitchFamily="49" charset="-122"/>
              <a:ea typeface="楷体" panose="02010609060101010101" pitchFamily="49" charset="-122"/>
            </a:endParaRPr>
          </a:p>
        </p:txBody>
      </p:sp>
      <p:grpSp>
        <p:nvGrpSpPr>
          <p:cNvPr id="8" name="组合 7"/>
          <p:cNvGrpSpPr/>
          <p:nvPr/>
        </p:nvGrpSpPr>
        <p:grpSpPr>
          <a:xfrm>
            <a:off x="0" y="82323"/>
            <a:ext cx="9088711" cy="516645"/>
            <a:chOff x="0" y="82323"/>
            <a:chExt cx="9088711" cy="516645"/>
          </a:xfrm>
        </p:grpSpPr>
        <p:sp>
          <p:nvSpPr>
            <p:cNvPr id="9"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0" name="直接连接符 9"/>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2" name="标题 1"/>
              <p:cNvSpPr txBox="1"/>
              <p:nvPr/>
            </p:nvSpPr>
            <p:spPr>
              <a:xfrm>
                <a:off x="177325" y="640790"/>
                <a:ext cx="8966675" cy="105689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r>
                      <a:rPr lang="en-US" altLang="zh-CN" sz="2800" b="0" i="1" smtClean="0">
                        <a:latin typeface="Cambria Math" panose="02040503050406030204" pitchFamily="18" charset="0"/>
                        <a:ea typeface="楷体" panose="02010609060101010101" pitchFamily="49" charset="-122"/>
                      </a:rPr>
                      <m:t>𝐸𝑔</m:t>
                    </m:r>
                    <m:r>
                      <a:rPr lang="en-US" altLang="zh-CN" sz="2800" b="0" i="1" smtClean="0">
                        <a:latin typeface="Cambria Math" panose="02040503050406030204" pitchFamily="18" charset="0"/>
                        <a:ea typeface="楷体" panose="02010609060101010101" pitchFamily="49" charset="-122"/>
                      </a:rPr>
                      <m:t>:</m:t>
                    </m:r>
                  </m:oMath>
                </a14:m>
                <a:r>
                  <a:rPr lang="zh-CN" altLang="en-US" sz="2800" dirty="0">
                    <a:latin typeface="楷体" panose="02010609060101010101" pitchFamily="49" charset="-122"/>
                    <a:ea typeface="楷体" panose="02010609060101010101" pitchFamily="49" charset="-122"/>
                  </a:rPr>
                  <a:t>设</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𝑢</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2800" i="1" dirty="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𝑥</m:t>
                        </m:r>
                      </m:e>
                      <m:sup>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𝑛</m:t>
                        </m:r>
                      </m:sup>
                    </m:sSup>
                    <m:sSup>
                      <m:sSupPr>
                        <m:ctrlPr>
                          <a:rPr lang="en-US" altLang="zh-CN" sz="2800" i="1" dirty="0">
                            <a:latin typeface="Cambria Math" panose="02040503050406030204" pitchFamily="18" charset="0"/>
                            <a:ea typeface="楷体" panose="02010609060101010101" pitchFamily="49" charset="-122"/>
                            <a:cs typeface="Cambria Math" panose="02040503050406030204" pitchFamily="18" charset="0"/>
                          </a:rPr>
                        </m:ctrlPr>
                      </m:sSupPr>
                      <m:e>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𝑦</m:t>
                        </m:r>
                      </m:e>
                      <m:sup>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𝑛</m:t>
                        </m:r>
                      </m:sup>
                    </m:sSup>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𝑛</m:t>
                    </m:r>
                    <m:r>
                      <a:rPr lang="en-US" altLang="zh-CN" sz="2800" i="1" dirty="0"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2800" b="0" i="1" dirty="0" smtClean="0">
                        <a:latin typeface="Cambria Math" panose="02040503050406030204" pitchFamily="18" charset="0"/>
                        <a:ea typeface="Cambria Math" panose="02040503050406030204" pitchFamily="18" charset="0"/>
                        <a:cs typeface="Cambria Math" panose="02040503050406030204" pitchFamily="18" charset="0"/>
                      </a:rPr>
                      <m:t>𝑁</m:t>
                    </m:r>
                  </m:oMath>
                </a14:m>
                <a:r>
                  <a:rPr lang="en-US" altLang="zh-CN" sz="2800" dirty="0">
                    <a:latin typeface="Cambria Math" panose="02040503050406030204" pitchFamily="18" charset="0"/>
                    <a:ea typeface="楷体" panose="02010609060101010101" pitchFamily="49" charset="-122"/>
                    <a:cs typeface="Cambria Math" panose="02040503050406030204" pitchFamily="18" charset="0"/>
                  </a:rPr>
                  <a:t>,</a:t>
                </a:r>
                <a:r>
                  <a:rPr lang="zh-CN" altLang="en-US" sz="2800" dirty="0">
                    <a:latin typeface="Cambria Math" panose="02040503050406030204" pitchFamily="18" charset="0"/>
                    <a:ea typeface="楷体" panose="02010609060101010101" pitchFamily="49" charset="-122"/>
                    <a:cs typeface="Cambria Math" panose="02040503050406030204" pitchFamily="18" charset="0"/>
                  </a:rPr>
                  <a:t>则当</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𝑛</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m:t>
                    </m:r>
                  </m:oMath>
                </a14:m>
                <a:r>
                  <a:rPr lang="en-US" altLang="zh-CN" sz="2800" dirty="0">
                    <a:latin typeface="Cambria Math" panose="02040503050406030204" pitchFamily="18" charset="0"/>
                    <a:ea typeface="楷体" panose="02010609060101010101" pitchFamily="49" charset="-122"/>
                    <a:cs typeface="Cambria Math" panose="02040503050406030204" pitchFamily="18" charset="0"/>
                  </a:rPr>
                  <a:t>,</a:t>
                </a:r>
                <a:r>
                  <a:rPr lang="zh-CN" altLang="en-US" sz="2800" dirty="0">
                    <a:latin typeface="Cambria Math" panose="02040503050406030204" pitchFamily="18" charset="0"/>
                    <a:ea typeface="楷体" panose="02010609060101010101" pitchFamily="49" charset="-122"/>
                    <a:cs typeface="Cambria Math" panose="02040503050406030204" pitchFamily="18" charset="0"/>
                  </a:rPr>
                  <a:t>存在解析函数</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2800" i="1" dirty="0">
                            <a:latin typeface="Cambria Math" panose="02040503050406030204" pitchFamily="18" charset="0"/>
                            <a:ea typeface="楷体" panose="02010609060101010101" pitchFamily="49" charset="-122"/>
                            <a:cs typeface="Cambria Math" panose="02040503050406030204" pitchFamily="18" charset="0"/>
                          </a:rPr>
                        </m:ctrlPr>
                      </m:dPr>
                      <m:e>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𝑧</m:t>
                        </m:r>
                      </m:e>
                    </m:d>
                    <m:r>
                      <a:rPr lang="en-US" altLang="zh-CN" sz="2800" b="0" i="0"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𝑢</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𝑖𝑣</m:t>
                    </m:r>
                  </m:oMath>
                </a14:m>
                <a:r>
                  <a:rPr lang="zh-CN" altLang="en-US" sz="2800" dirty="0">
                    <a:latin typeface="Cambria Math" panose="02040503050406030204" pitchFamily="18" charset="0"/>
                    <a:ea typeface="楷体" panose="02010609060101010101" pitchFamily="49" charset="-122"/>
                    <a:cs typeface="Cambria Math" panose="02040503050406030204" pitchFamily="18" charset="0"/>
                  </a:rPr>
                  <a:t> 且满足</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𝑓</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0</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2800" dirty="0">
                    <a:latin typeface="Cambria Math" panose="02040503050406030204" pitchFamily="18" charset="0"/>
                    <a:ea typeface="楷体" panose="02010609060101010101" pitchFamily="49" charset="-122"/>
                    <a:cs typeface="Cambria Math" panose="02040503050406030204" pitchFamily="18" charset="0"/>
                  </a:rPr>
                  <a:t>。</a:t>
                </a:r>
                <a:endParaRPr lang="zh-CN" altLang="en-US" sz="28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2" name="标题 1"/>
              <p:cNvSpPr txBox="1">
                <a:spLocks noRot="1" noChangeAspect="1" noMove="1" noResize="1" noEditPoints="1" noAdjustHandles="1" noChangeArrowheads="1" noChangeShapeType="1" noTextEdit="1"/>
              </p:cNvSpPr>
              <p:nvPr/>
            </p:nvSpPr>
            <p:spPr>
              <a:xfrm>
                <a:off x="177325" y="640790"/>
                <a:ext cx="8966675" cy="1056890"/>
              </a:xfrm>
              <a:prstGeom prst="rect">
                <a:avLst/>
              </a:prstGeom>
              <a:blipFill rotWithShape="1">
                <a:blip r:embed="rId1"/>
                <a:stretch>
                  <a:fillRect l="-2" t="-7" b="31"/>
                </a:stretch>
              </a:blipFill>
            </p:spPr>
            <p:txBody>
              <a:bodyPr/>
              <a:lstStyle/>
              <a:p>
                <a:r>
                  <a:rPr lang="zh-CN" altLang="en-US">
                    <a:noFill/>
                  </a:rPr>
                  <a:t> </a:t>
                </a:r>
              </a:p>
            </p:txBody>
          </p:sp>
        </mc:Fallback>
      </mc:AlternateContent>
      <p:grpSp>
        <p:nvGrpSpPr>
          <p:cNvPr id="4" name="组合 3"/>
          <p:cNvGrpSpPr/>
          <p:nvPr/>
        </p:nvGrpSpPr>
        <p:grpSpPr>
          <a:xfrm>
            <a:off x="0" y="82323"/>
            <a:ext cx="9088711" cy="516645"/>
            <a:chOff x="0" y="82323"/>
            <a:chExt cx="9088711" cy="516645"/>
          </a:xfrm>
        </p:grpSpPr>
        <p:sp>
          <p:nvSpPr>
            <p:cNvPr id="6"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7" name="直接连接符 6"/>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 name="标题 1"/>
              <p:cNvSpPr txBox="1"/>
              <p:nvPr/>
            </p:nvSpPr>
            <p:spPr>
              <a:xfrm>
                <a:off x="122036" y="1614184"/>
                <a:ext cx="5113641"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800" dirty="0">
                    <a:latin typeface="楷体" panose="02010609060101010101" pitchFamily="49" charset="-122"/>
                    <a:ea typeface="楷体" panose="02010609060101010101" pitchFamily="49" charset="-122"/>
                  </a:rPr>
                  <a:t>解：</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𝑓</m:t>
                    </m:r>
                    <m:d>
                      <m:dPr>
                        <m:ctrlPr>
                          <a:rPr lang="en-US" altLang="zh-CN" sz="2800" i="1" dirty="0">
                            <a:latin typeface="Cambria Math" panose="02040503050406030204" pitchFamily="18" charset="0"/>
                            <a:ea typeface="楷体" panose="02010609060101010101" pitchFamily="49" charset="-122"/>
                            <a:cs typeface="Cambria Math" panose="02040503050406030204" pitchFamily="18" charset="0"/>
                          </a:rPr>
                        </m:ctrlPr>
                      </m:dPr>
                      <m:e>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𝑧</m:t>
                        </m:r>
                      </m:e>
                    </m:d>
                  </m:oMath>
                </a14:m>
                <a:r>
                  <a:rPr lang="zh-CN" altLang="en-US" sz="2800" dirty="0">
                    <a:latin typeface="Cambria Math" panose="02040503050406030204" pitchFamily="18" charset="0"/>
                    <a:ea typeface="楷体" panose="02010609060101010101" pitchFamily="49" charset="-122"/>
                    <a:cs typeface="Cambria Math" panose="02040503050406030204" pitchFamily="18" charset="0"/>
                  </a:rPr>
                  <a:t>解析</a:t>
                </a:r>
                <a14:m>
                  <m:oMath xmlns:m="http://schemas.openxmlformats.org/officeDocument/2006/math">
                    <m:r>
                      <a:rPr lang="en-US" altLang="zh-CN" sz="2800" i="1">
                        <a:latin typeface="Cambria Math" panose="02040503050406030204" pitchFamily="18" charset="0"/>
                        <a:ea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𝑢</m:t>
                    </m:r>
                  </m:oMath>
                </a14:m>
                <a:r>
                  <a:rPr lang="zh-CN" altLang="en-US" sz="2800" dirty="0">
                    <a:latin typeface="Cambria Math" panose="02040503050406030204" pitchFamily="18" charset="0"/>
                    <a:ea typeface="楷体" panose="02010609060101010101" pitchFamily="49" charset="-122"/>
                    <a:cs typeface="Cambria Math" panose="02040503050406030204" pitchFamily="18" charset="0"/>
                  </a:rPr>
                  <a:t>为调和函数</a:t>
                </a:r>
                <a:endParaRPr lang="zh-CN" altLang="en-US" sz="28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2" name="标题 1"/>
              <p:cNvSpPr txBox="1">
                <a:spLocks noRot="1" noChangeAspect="1" noMove="1" noResize="1" noEditPoints="1" noAdjustHandles="1" noChangeArrowheads="1" noChangeShapeType="1" noTextEdit="1"/>
              </p:cNvSpPr>
              <p:nvPr/>
            </p:nvSpPr>
            <p:spPr>
              <a:xfrm>
                <a:off x="122036" y="1614184"/>
                <a:ext cx="5113641" cy="669943"/>
              </a:xfrm>
              <a:prstGeom prst="rect">
                <a:avLst/>
              </a:prstGeom>
              <a:blipFill rotWithShape="1">
                <a:blip r:embed="rId2"/>
                <a:stretch>
                  <a:fillRect l="-2" t="-2" r="2"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806416" y="2177363"/>
                <a:ext cx="2866970"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800" dirty="0">
                    <a:solidFill>
                      <a:srgbClr val="FF0000"/>
                    </a:solidFill>
                    <a:latin typeface="楷体" panose="02010609060101010101" pitchFamily="49" charset="-122"/>
                    <a:ea typeface="楷体" panose="02010609060101010101" pitchFamily="49" charset="-122"/>
                  </a:rPr>
                  <a:t>当</a:t>
                </a:r>
                <a14:m>
                  <m:oMath xmlns:m="http://schemas.openxmlformats.org/officeDocument/2006/math">
                    <m:r>
                      <a:rPr lang="en-US" altLang="zh-CN" sz="2800" i="1" dirty="0">
                        <a:solidFill>
                          <a:srgbClr val="FF0000"/>
                        </a:solidFill>
                        <a:latin typeface="Cambria Math" panose="02040503050406030204" pitchFamily="18" charset="0"/>
                        <a:ea typeface="楷体" panose="02010609060101010101" pitchFamily="49" charset="-122"/>
                      </a:rPr>
                      <m:t>𝑛</m:t>
                    </m:r>
                    <m:r>
                      <a:rPr lang="en-US" altLang="zh-CN" sz="2800" b="0" i="0" dirty="0" smtClean="0">
                        <a:solidFill>
                          <a:srgbClr val="FF0000"/>
                        </a:solidFill>
                        <a:latin typeface="Cambria Math" panose="02040503050406030204" pitchFamily="18" charset="0"/>
                        <a:ea typeface="楷体" panose="02010609060101010101" pitchFamily="49" charset="-122"/>
                      </a:rPr>
                      <m:t>=</m:t>
                    </m:r>
                    <m:r>
                      <a:rPr lang="en-US" altLang="zh-CN" sz="2800" b="0" i="0" dirty="0" smtClean="0">
                        <a:solidFill>
                          <a:srgbClr val="FF0000"/>
                        </a:solidFill>
                        <a:latin typeface="Cambria Math" panose="02040503050406030204" pitchFamily="18" charset="0"/>
                        <a:ea typeface="楷体" panose="02010609060101010101" pitchFamily="49" charset="-122"/>
                      </a:rPr>
                      <m:t>0</m:t>
                    </m:r>
                  </m:oMath>
                </a14:m>
                <a:r>
                  <a:rPr lang="zh-CN" altLang="en-US" sz="28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时</a:t>
                </a:r>
                <a:r>
                  <a:rPr lang="en-US" altLang="zh-CN" sz="2800" dirty="0">
                    <a:latin typeface="Cambria Math" panose="02040503050406030204" pitchFamily="18" charset="0"/>
                    <a:ea typeface="楷体" panose="02010609060101010101" pitchFamily="49" charset="-122"/>
                    <a:cs typeface="Cambria Math" panose="02040503050406030204" pitchFamily="18" charset="0"/>
                  </a:rPr>
                  <a:t>,</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𝑢</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1</m:t>
                    </m:r>
                  </m:oMath>
                </a14:m>
                <a:endParaRPr lang="zh-CN" altLang="en-US" sz="28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3" name="标题 1"/>
              <p:cNvSpPr txBox="1">
                <a:spLocks noRot="1" noChangeAspect="1" noMove="1" noResize="1" noEditPoints="1" noAdjustHandles="1" noChangeArrowheads="1" noChangeShapeType="1" noTextEdit="1"/>
              </p:cNvSpPr>
              <p:nvPr/>
            </p:nvSpPr>
            <p:spPr>
              <a:xfrm>
                <a:off x="806416" y="2177363"/>
                <a:ext cx="2866970" cy="669943"/>
              </a:xfrm>
              <a:prstGeom prst="rect">
                <a:avLst/>
              </a:prstGeom>
              <a:blipFill rotWithShape="1">
                <a:blip r:embed="rId3"/>
                <a:stretch>
                  <a:fillRect l="-21" t="-87" r="19" b="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标题 1"/>
              <p:cNvSpPr txBox="1"/>
              <p:nvPr/>
            </p:nvSpPr>
            <p:spPr>
              <a:xfrm>
                <a:off x="3909038" y="2177363"/>
                <a:ext cx="3304506"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800" dirty="0">
                    <a:latin typeface="楷体" panose="02010609060101010101" pitchFamily="49" charset="-122"/>
                    <a:ea typeface="楷体" panose="02010609060101010101" pitchFamily="49" charset="-122"/>
                  </a:rPr>
                  <a:t>由</a:t>
                </a:r>
                <a14:m>
                  <m:oMath xmlns:m="http://schemas.openxmlformats.org/officeDocument/2006/math">
                    <m:r>
                      <a:rPr lang="en-US" altLang="zh-CN" sz="2800" b="0" i="1" dirty="0" smtClean="0">
                        <a:latin typeface="Cambria Math" panose="02040503050406030204" pitchFamily="18" charset="0"/>
                        <a:ea typeface="楷体" panose="02010609060101010101" pitchFamily="49" charset="-122"/>
                      </a:rPr>
                      <m:t>𝐶</m:t>
                    </m:r>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𝑅</m:t>
                    </m:r>
                    <m:r>
                      <a:rPr lang="en-US" altLang="zh-CN" sz="2800" i="1">
                        <a:latin typeface="Cambria Math" panose="02040503050406030204" pitchFamily="18" charset="0"/>
                        <a:ea typeface="Cambria Math" panose="02040503050406030204" pitchFamily="18" charset="0"/>
                      </a:rPr>
                      <m:t>⇒</m:t>
                    </m:r>
                    <m:r>
                      <a:rPr lang="en-US" altLang="zh-CN" sz="2800" b="0" i="1" dirty="0" smtClean="0">
                        <a:latin typeface="Cambria Math" panose="02040503050406030204" pitchFamily="18" charset="0"/>
                        <a:ea typeface="楷体" panose="02010609060101010101" pitchFamily="49" charset="-122"/>
                      </a:rPr>
                      <m:t>𝑣</m:t>
                    </m:r>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𝑐</m:t>
                    </m:r>
                  </m:oMath>
                </a14:m>
                <a:endParaRPr lang="zh-CN" altLang="en-US" sz="28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5" name="标题 1"/>
              <p:cNvSpPr txBox="1">
                <a:spLocks noRot="1" noChangeAspect="1" noMove="1" noResize="1" noEditPoints="1" noAdjustHandles="1" noChangeArrowheads="1" noChangeShapeType="1" noTextEdit="1"/>
              </p:cNvSpPr>
              <p:nvPr/>
            </p:nvSpPr>
            <p:spPr>
              <a:xfrm>
                <a:off x="3909038" y="2177363"/>
                <a:ext cx="3304506" cy="669943"/>
              </a:xfrm>
              <a:prstGeom prst="rect">
                <a:avLst/>
              </a:prstGeom>
              <a:blipFill rotWithShape="1">
                <a:blip r:embed="rId4"/>
                <a:stretch>
                  <a:fillRect l="-19" t="-87" r="18" b="9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标题 1"/>
              <p:cNvSpPr txBox="1"/>
              <p:nvPr/>
            </p:nvSpPr>
            <p:spPr>
              <a:xfrm>
                <a:off x="1213415" y="2738082"/>
                <a:ext cx="2401688"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r>
                        <a:rPr lang="en-US" altLang="zh-CN" sz="2800" b="0" i="1" dirty="0" smtClean="0">
                          <a:latin typeface="Cambria Math" panose="02040503050406030204" pitchFamily="18" charset="0"/>
                          <a:ea typeface="楷体" panose="02010609060101010101" pitchFamily="49" charset="-122"/>
                        </a:rPr>
                        <m:t>𝑓</m:t>
                      </m:r>
                      <m:d>
                        <m:dPr>
                          <m:ctrlPr>
                            <a:rPr lang="en-US" altLang="zh-CN" sz="2800" b="0" i="1" dirty="0" smtClean="0">
                              <a:latin typeface="Cambria Math" panose="02040503050406030204" pitchFamily="18" charset="0"/>
                              <a:ea typeface="楷体" panose="02010609060101010101" pitchFamily="49" charset="-122"/>
                            </a:rPr>
                          </m:ctrlPr>
                        </m:dPr>
                        <m:e>
                          <m:r>
                            <a:rPr lang="en-US" altLang="zh-CN" sz="2800" b="0" i="1" dirty="0" smtClean="0">
                              <a:latin typeface="Cambria Math" panose="02040503050406030204" pitchFamily="18" charset="0"/>
                              <a:ea typeface="楷体" panose="02010609060101010101" pitchFamily="49" charset="-122"/>
                            </a:rPr>
                            <m:t>𝑧</m:t>
                          </m:r>
                        </m:e>
                      </m:d>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1</m:t>
                      </m:r>
                      <m:r>
                        <a:rPr lang="en-US" altLang="zh-CN" sz="2800" b="0" i="1" dirty="0" smtClean="0">
                          <a:latin typeface="Cambria Math" panose="02040503050406030204" pitchFamily="18" charset="0"/>
                          <a:ea typeface="楷体" panose="02010609060101010101" pitchFamily="49" charset="-122"/>
                        </a:rPr>
                        <m:t>+</m:t>
                      </m:r>
                      <m:r>
                        <a:rPr lang="en-US" altLang="zh-CN" sz="2800" b="0" i="1" dirty="0" smtClean="0">
                          <a:latin typeface="Cambria Math" panose="02040503050406030204" pitchFamily="18" charset="0"/>
                          <a:ea typeface="楷体" panose="02010609060101010101" pitchFamily="49" charset="-122"/>
                        </a:rPr>
                        <m:t>𝑖𝑐</m:t>
                      </m:r>
                    </m:oMath>
                  </m:oMathPara>
                </a14:m>
                <a:endParaRPr lang="zh-CN" altLang="en-US" sz="28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8" name="标题 1"/>
              <p:cNvSpPr txBox="1">
                <a:spLocks noRot="1" noChangeAspect="1" noMove="1" noResize="1" noEditPoints="1" noAdjustHandles="1" noChangeArrowheads="1" noChangeShapeType="1" noTextEdit="1"/>
              </p:cNvSpPr>
              <p:nvPr/>
            </p:nvSpPr>
            <p:spPr>
              <a:xfrm>
                <a:off x="1213415" y="2738082"/>
                <a:ext cx="2401688" cy="669943"/>
              </a:xfrm>
              <a:prstGeom prst="rect">
                <a:avLst/>
              </a:prstGeom>
              <a:blipFill rotWithShape="1">
                <a:blip r:embed="rId5"/>
                <a:stretch>
                  <a:fillRect l="-24" t="-89" r="2" b="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标题 1"/>
              <p:cNvSpPr txBox="1"/>
              <p:nvPr/>
            </p:nvSpPr>
            <p:spPr>
              <a:xfrm>
                <a:off x="3858294" y="2707616"/>
                <a:ext cx="4137079"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800" dirty="0">
                    <a:latin typeface="Cambria Math" panose="02040503050406030204" pitchFamily="18" charset="0"/>
                    <a:ea typeface="楷体" panose="02010609060101010101" pitchFamily="49" charset="-122"/>
                    <a:cs typeface="Cambria Math" panose="02040503050406030204" pitchFamily="18" charset="0"/>
                  </a:rPr>
                  <a:t>与</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𝑓</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0</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2800" dirty="0">
                    <a:latin typeface="Cambria Math" panose="02040503050406030204" pitchFamily="18" charset="0"/>
                    <a:ea typeface="楷体" panose="02010609060101010101" pitchFamily="49" charset="-122"/>
                    <a:cs typeface="Cambria Math" panose="02040503050406030204" pitchFamily="18" charset="0"/>
                  </a:rPr>
                  <a:t>矛盾，舍</a:t>
                </a:r>
                <a:endParaRPr lang="zh-CN" altLang="en-US" sz="28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9" name="标题 1"/>
              <p:cNvSpPr txBox="1">
                <a:spLocks noRot="1" noChangeAspect="1" noMove="1" noResize="1" noEditPoints="1" noAdjustHandles="1" noChangeArrowheads="1" noChangeShapeType="1" noTextEdit="1"/>
              </p:cNvSpPr>
              <p:nvPr/>
            </p:nvSpPr>
            <p:spPr>
              <a:xfrm>
                <a:off x="3858294" y="2707616"/>
                <a:ext cx="4137079" cy="669943"/>
              </a:xfrm>
              <a:prstGeom prst="rect">
                <a:avLst/>
              </a:prstGeom>
              <a:blipFill rotWithShape="1">
                <a:blip r:embed="rId6"/>
                <a:stretch>
                  <a:fillRect l="-1" t="-91" r="2" b="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标题 1"/>
              <p:cNvSpPr txBox="1"/>
              <p:nvPr/>
            </p:nvSpPr>
            <p:spPr>
              <a:xfrm>
                <a:off x="806416" y="3240811"/>
                <a:ext cx="3196350"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800" dirty="0">
                    <a:solidFill>
                      <a:srgbClr val="FF0000"/>
                    </a:solidFill>
                    <a:latin typeface="楷体" panose="02010609060101010101" pitchFamily="49" charset="-122"/>
                    <a:ea typeface="楷体" panose="02010609060101010101" pitchFamily="49" charset="-122"/>
                  </a:rPr>
                  <a:t>当</a:t>
                </a:r>
                <a14:m>
                  <m:oMath xmlns:m="http://schemas.openxmlformats.org/officeDocument/2006/math">
                    <m:r>
                      <a:rPr lang="en-US" altLang="zh-CN" sz="2800" i="1" dirty="0">
                        <a:solidFill>
                          <a:srgbClr val="FF0000"/>
                        </a:solidFill>
                        <a:latin typeface="Cambria Math" panose="02040503050406030204" pitchFamily="18" charset="0"/>
                        <a:ea typeface="楷体" panose="02010609060101010101" pitchFamily="49" charset="-122"/>
                      </a:rPr>
                      <m:t>𝑛</m:t>
                    </m:r>
                    <m:r>
                      <a:rPr lang="en-US" altLang="zh-CN" sz="2800" b="0" i="0" dirty="0" smtClean="0">
                        <a:solidFill>
                          <a:srgbClr val="FF0000"/>
                        </a:solidFill>
                        <a:latin typeface="Cambria Math" panose="02040503050406030204" pitchFamily="18" charset="0"/>
                        <a:ea typeface="楷体" panose="02010609060101010101" pitchFamily="49" charset="-122"/>
                      </a:rPr>
                      <m:t>=</m:t>
                    </m:r>
                    <m:r>
                      <a:rPr lang="en-US" altLang="zh-CN" sz="2800" i="1" dirty="0">
                        <a:solidFill>
                          <a:srgbClr val="FF0000"/>
                        </a:solidFill>
                        <a:latin typeface="Cambria Math" panose="02040503050406030204" pitchFamily="18" charset="0"/>
                        <a:ea typeface="楷体" panose="02010609060101010101" pitchFamily="49" charset="-122"/>
                      </a:rPr>
                      <m:t>1</m:t>
                    </m:r>
                  </m:oMath>
                </a14:m>
                <a:r>
                  <a:rPr lang="zh-CN" altLang="en-US" sz="28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时</a:t>
                </a:r>
                <a:r>
                  <a:rPr lang="en-US" altLang="zh-CN" sz="2800" dirty="0">
                    <a:latin typeface="Cambria Math" panose="02040503050406030204" pitchFamily="18" charset="0"/>
                    <a:ea typeface="楷体" panose="02010609060101010101" pitchFamily="49" charset="-122"/>
                    <a:cs typeface="Cambria Math" panose="02040503050406030204" pitchFamily="18" charset="0"/>
                  </a:rPr>
                  <a:t>,</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𝑢</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2800" b="0" i="1" dirty="0" smtClean="0">
                        <a:latin typeface="Cambria Math" panose="02040503050406030204" pitchFamily="18" charset="0"/>
                        <a:ea typeface="楷体" panose="02010609060101010101" pitchFamily="49" charset="-122"/>
                        <a:cs typeface="Cambria Math" panose="02040503050406030204" pitchFamily="18" charset="0"/>
                      </a:rPr>
                      <m:t>𝑥𝑦</m:t>
                    </m:r>
                  </m:oMath>
                </a14:m>
                <a:endParaRPr lang="zh-CN" altLang="en-US" sz="28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0" name="标题 1"/>
              <p:cNvSpPr txBox="1">
                <a:spLocks noRot="1" noChangeAspect="1" noMove="1" noResize="1" noEditPoints="1" noAdjustHandles="1" noChangeArrowheads="1" noChangeShapeType="1" noTextEdit="1"/>
              </p:cNvSpPr>
              <p:nvPr/>
            </p:nvSpPr>
            <p:spPr>
              <a:xfrm>
                <a:off x="806416" y="3240811"/>
                <a:ext cx="3196350" cy="669943"/>
              </a:xfrm>
              <a:prstGeom prst="rect">
                <a:avLst/>
              </a:prstGeom>
              <a:blipFill rotWithShape="1">
                <a:blip r:embed="rId7"/>
                <a:stretch>
                  <a:fillRect l="-19" t="-61" r="11" b="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标题 1"/>
              <p:cNvSpPr txBox="1"/>
              <p:nvPr/>
            </p:nvSpPr>
            <p:spPr>
              <a:xfrm>
                <a:off x="3820002" y="3292786"/>
                <a:ext cx="4823590"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sSup>
                        <m:sSupPr>
                          <m:ctrlPr>
                            <a:rPr lang="en-US" altLang="zh-CN" sz="280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𝑓</m:t>
                          </m:r>
                        </m:e>
                        <m:sup>
                          <m:r>
                            <a:rPr lang="en-US" altLang="zh-CN" sz="2800" b="0" i="1" smtClean="0">
                              <a:latin typeface="Cambria Math" panose="02040503050406030204" pitchFamily="18" charset="0"/>
                              <a:ea typeface="Cambria Math" panose="02040503050406030204" pitchFamily="18" charset="0"/>
                            </a:rPr>
                            <m:t>′</m:t>
                          </m:r>
                        </m:sup>
                      </m:sSup>
                      <m:r>
                        <a:rPr lang="en-US" altLang="zh-CN" sz="2800" b="0" i="1" smtClean="0">
                          <a:latin typeface="Cambria Math" panose="02040503050406030204" pitchFamily="18" charset="0"/>
                          <a:ea typeface="Cambria Math" panose="02040503050406030204" pitchFamily="18" charset="0"/>
                        </a:rPr>
                        <m:t>=</m:t>
                      </m:r>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𝑢</m:t>
                          </m:r>
                        </m:e>
                        <m:sub>
                          <m:r>
                            <a:rPr lang="en-US" altLang="zh-CN" sz="2800" b="0" i="1" smtClean="0">
                              <a:latin typeface="Cambria Math" panose="02040503050406030204" pitchFamily="18" charset="0"/>
                              <a:ea typeface="Cambria Math" panose="02040503050406030204" pitchFamily="18" charset="0"/>
                            </a:rPr>
                            <m:t>𝑥</m:t>
                          </m:r>
                        </m:sub>
                      </m:sSub>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𝑖</m:t>
                      </m:r>
                      <m:sSub>
                        <m:sSubPr>
                          <m:ctrlPr>
                            <a:rPr lang="en-US" altLang="zh-CN" sz="2800" b="0" i="1" smtClean="0">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𝑣</m:t>
                          </m:r>
                        </m:e>
                        <m:sub>
                          <m:r>
                            <a:rPr lang="en-US" altLang="zh-CN" sz="2800" b="0" i="1" smtClean="0">
                              <a:latin typeface="Cambria Math" panose="02040503050406030204" pitchFamily="18" charset="0"/>
                              <a:ea typeface="Cambria Math" panose="02040503050406030204" pitchFamily="18" charset="0"/>
                            </a:rPr>
                            <m:t>𝑥</m:t>
                          </m:r>
                        </m:sub>
                      </m:sSub>
                      <m:r>
                        <a:rPr lang="en-US" altLang="zh-CN" sz="2800" b="0" i="1" smtClean="0">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Cambria Math" panose="02040503050406030204" pitchFamily="18" charset="0"/>
                            </a:rPr>
                          </m:ctrlPr>
                        </m:sSubPr>
                        <m:e>
                          <m:r>
                            <a:rPr lang="en-US" altLang="zh-CN" sz="2800" i="1">
                              <a:latin typeface="Cambria Math" panose="02040503050406030204" pitchFamily="18" charset="0"/>
                              <a:ea typeface="Cambria Math" panose="02040503050406030204" pitchFamily="18" charset="0"/>
                            </a:rPr>
                            <m:t>𝑢</m:t>
                          </m:r>
                        </m:e>
                        <m:sub>
                          <m:r>
                            <a:rPr lang="en-US" altLang="zh-CN" sz="2800" i="1">
                              <a:latin typeface="Cambria Math" panose="02040503050406030204" pitchFamily="18" charset="0"/>
                              <a:ea typeface="Cambria Math" panose="02040503050406030204" pitchFamily="18" charset="0"/>
                            </a:rPr>
                            <m:t>𝑥</m:t>
                          </m:r>
                        </m:sub>
                      </m:sSub>
                      <m:r>
                        <a:rPr lang="en-US" altLang="zh-CN" sz="2800" b="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𝑖</m:t>
                      </m:r>
                      <m:sSub>
                        <m:sSubPr>
                          <m:ctrlPr>
                            <a:rPr lang="en-US" altLang="zh-CN" sz="2800" i="1">
                              <a:latin typeface="Cambria Math" panose="02040503050406030204" pitchFamily="18" charset="0"/>
                              <a:ea typeface="Cambria Math" panose="02040503050406030204" pitchFamily="18" charset="0"/>
                            </a:rPr>
                          </m:ctrlPr>
                        </m:sSubPr>
                        <m:e>
                          <m:r>
                            <a:rPr lang="en-US" altLang="zh-CN" sz="2800" b="0" i="1" smtClean="0">
                              <a:latin typeface="Cambria Math" panose="02040503050406030204" pitchFamily="18" charset="0"/>
                              <a:ea typeface="Cambria Math" panose="02040503050406030204" pitchFamily="18" charset="0"/>
                            </a:rPr>
                            <m:t>𝑢</m:t>
                          </m:r>
                        </m:e>
                        <m:sub>
                          <m:r>
                            <a:rPr lang="en-US" altLang="zh-CN" sz="2800" b="0" i="1" smtClean="0">
                              <a:latin typeface="Cambria Math" panose="02040503050406030204" pitchFamily="18" charset="0"/>
                              <a:ea typeface="Cambria Math" panose="02040503050406030204" pitchFamily="18" charset="0"/>
                            </a:rPr>
                            <m:t>𝑦</m:t>
                          </m:r>
                        </m:sub>
                      </m:sSub>
                    </m:oMath>
                  </m:oMathPara>
                </a14:m>
                <a:endParaRPr lang="zh-CN" altLang="en-US" sz="28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1" name="标题 1"/>
              <p:cNvSpPr txBox="1">
                <a:spLocks noRot="1" noChangeAspect="1" noMove="1" noResize="1" noEditPoints="1" noAdjustHandles="1" noChangeArrowheads="1" noChangeShapeType="1" noTextEdit="1"/>
              </p:cNvSpPr>
              <p:nvPr/>
            </p:nvSpPr>
            <p:spPr>
              <a:xfrm>
                <a:off x="3820002" y="3292786"/>
                <a:ext cx="4823590" cy="669943"/>
              </a:xfrm>
              <a:prstGeom prst="rect">
                <a:avLst/>
              </a:prstGeom>
              <a:blipFill rotWithShape="1">
                <a:blip r:embed="rId8"/>
                <a:stretch>
                  <a:fillRect l="-10" t="-46" r="13"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标题 1"/>
              <p:cNvSpPr txBox="1"/>
              <p:nvPr/>
            </p:nvSpPr>
            <p:spPr>
              <a:xfrm>
                <a:off x="3579979" y="3931195"/>
                <a:ext cx="5073445"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𝑦</m:t>
                      </m:r>
                      <m:r>
                        <a:rPr lang="en-US" altLang="zh-CN" sz="2800" b="0" i="1" smtClean="0">
                          <a:latin typeface="Cambria Math" panose="02040503050406030204" pitchFamily="18" charset="0"/>
                          <a:ea typeface="Cambria Math" panose="02040503050406030204" pitchFamily="18" charset="0"/>
                        </a:rPr>
                        <m:t>−</m:t>
                      </m:r>
                      <m:r>
                        <a:rPr lang="en-US" altLang="zh-CN" sz="2800" i="1">
                          <a:latin typeface="Cambria Math" panose="02040503050406030204" pitchFamily="18" charset="0"/>
                          <a:ea typeface="Cambria Math" panose="02040503050406030204" pitchFamily="18" charset="0"/>
                        </a:rPr>
                        <m:t>𝑖</m:t>
                      </m:r>
                      <m:r>
                        <a:rPr lang="en-US" altLang="zh-CN" sz="2800" b="0" i="1" smtClean="0">
                          <a:latin typeface="Cambria Math" panose="02040503050406030204" pitchFamily="18" charset="0"/>
                          <a:ea typeface="Cambria Math" panose="02040503050406030204" pitchFamily="18" charset="0"/>
                        </a:rPr>
                        <m:t>𝑥</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𝑖</m:t>
                      </m:r>
                      <m:d>
                        <m:dPr>
                          <m:ctrlPr>
                            <a:rPr lang="en-US" altLang="zh-CN" sz="2800" b="0" i="1" smtClean="0">
                              <a:latin typeface="Cambria Math" panose="02040503050406030204" pitchFamily="18" charset="0"/>
                              <a:ea typeface="Cambria Math" panose="02040503050406030204" pitchFamily="18" charset="0"/>
                            </a:rPr>
                          </m:ctrlPr>
                        </m:dPr>
                        <m:e>
                          <m:r>
                            <a:rPr lang="en-US" altLang="zh-CN" sz="2800" b="0" i="1" smtClean="0">
                              <a:latin typeface="Cambria Math" panose="02040503050406030204" pitchFamily="18" charset="0"/>
                              <a:ea typeface="Cambria Math" panose="02040503050406030204" pitchFamily="18" charset="0"/>
                            </a:rPr>
                            <m:t>𝑥</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𝑖𝑦</m:t>
                          </m:r>
                        </m:e>
                      </m:d>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𝑖𝑧</m:t>
                      </m:r>
                    </m:oMath>
                  </m:oMathPara>
                </a14:m>
                <a:endParaRPr lang="zh-CN" altLang="en-US" sz="28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2" name="标题 1"/>
              <p:cNvSpPr txBox="1">
                <a:spLocks noRot="1" noChangeAspect="1" noMove="1" noResize="1" noEditPoints="1" noAdjustHandles="1" noChangeArrowheads="1" noChangeShapeType="1" noTextEdit="1"/>
              </p:cNvSpPr>
              <p:nvPr/>
            </p:nvSpPr>
            <p:spPr>
              <a:xfrm>
                <a:off x="3579979" y="3931195"/>
                <a:ext cx="5073445" cy="669943"/>
              </a:xfrm>
              <a:prstGeom prst="rect">
                <a:avLst/>
              </a:prstGeom>
              <a:blipFill rotWithShape="1">
                <a:blip r:embed="rId9"/>
                <a:stretch>
                  <a:fillRect l="-10" t="-81" r="5" b="8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标题 1"/>
              <p:cNvSpPr txBox="1"/>
              <p:nvPr/>
            </p:nvSpPr>
            <p:spPr>
              <a:xfrm>
                <a:off x="1213415" y="4510423"/>
                <a:ext cx="2950544"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r>
                      <a:rPr lang="en-US" altLang="zh-CN" sz="2800" i="1" smtClean="0">
                        <a:latin typeface="Cambria Math" panose="02040503050406030204" pitchFamily="18" charset="0"/>
                        <a:ea typeface="Cambria Math" panose="02040503050406030204" pitchFamily="18" charset="0"/>
                      </a:rPr>
                      <m:t>𝑓</m:t>
                    </m:r>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𝑖</m:t>
                        </m:r>
                      </m:num>
                      <m:den>
                        <m:r>
                          <a:rPr lang="en-US" altLang="zh-CN" sz="2800" b="0" i="1" smtClean="0">
                            <a:latin typeface="Cambria Math" panose="02040503050406030204" pitchFamily="18" charset="0"/>
                            <a:ea typeface="Cambria Math" panose="02040503050406030204" pitchFamily="18" charset="0"/>
                          </a:rPr>
                          <m:t>2</m:t>
                        </m:r>
                      </m:den>
                    </m:f>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𝑧</m:t>
                        </m:r>
                      </m:e>
                      <m:sup>
                        <m:r>
                          <a:rPr lang="en-US" altLang="zh-CN" sz="2800" b="0" i="1" smtClean="0">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𝑐</m:t>
                    </m:r>
                  </m:oMath>
                </a14:m>
                <a:r>
                  <a:rPr lang="zh-CN" altLang="en-US" sz="28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28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3" name="标题 1"/>
              <p:cNvSpPr txBox="1">
                <a:spLocks noRot="1" noChangeAspect="1" noMove="1" noResize="1" noEditPoints="1" noAdjustHandles="1" noChangeArrowheads="1" noChangeShapeType="1" noTextEdit="1"/>
              </p:cNvSpPr>
              <p:nvPr/>
            </p:nvSpPr>
            <p:spPr>
              <a:xfrm>
                <a:off x="1213415" y="4510423"/>
                <a:ext cx="2950544" cy="669943"/>
              </a:xfrm>
              <a:prstGeom prst="rect">
                <a:avLst/>
              </a:prstGeom>
              <a:blipFill rotWithShape="1">
                <a:blip r:embed="rId10"/>
                <a:stretch>
                  <a:fillRect l="-19" t="-3" r="9"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标题 1"/>
              <p:cNvSpPr txBox="1"/>
              <p:nvPr/>
            </p:nvSpPr>
            <p:spPr>
              <a:xfrm>
                <a:off x="1213415" y="5148832"/>
                <a:ext cx="3854246"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14:m>
                  <m:oMath xmlns:m="http://schemas.openxmlformats.org/officeDocument/2006/math">
                    <m:r>
                      <a:rPr lang="en-US" altLang="zh-CN" sz="280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𝑣</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𝑖</m:t>
                    </m:r>
                    <m:r>
                      <a:rPr lang="en-US" altLang="zh-CN" sz="2800" b="0" i="1" smtClean="0">
                        <a:latin typeface="Cambria Math" panose="02040503050406030204" pitchFamily="18" charset="0"/>
                        <a:ea typeface="Cambria Math" panose="02040503050406030204" pitchFamily="18" charset="0"/>
                      </a:rPr>
                      <m:t>(−</m:t>
                    </m:r>
                    <m:f>
                      <m:fPr>
                        <m:ctrlPr>
                          <a:rPr lang="en-US" altLang="zh-CN" sz="2800" b="0" i="1" smtClean="0">
                            <a:latin typeface="Cambria Math" panose="02040503050406030204" pitchFamily="18" charset="0"/>
                            <a:ea typeface="Cambria Math" panose="02040503050406030204" pitchFamily="18" charset="0"/>
                          </a:rPr>
                        </m:ctrlPr>
                      </m:fPr>
                      <m:num>
                        <m:r>
                          <a:rPr lang="en-US" altLang="zh-CN" sz="2800" b="0" i="1" smtClean="0">
                            <a:latin typeface="Cambria Math" panose="02040503050406030204" pitchFamily="18" charset="0"/>
                            <a:ea typeface="Cambria Math" panose="02040503050406030204" pitchFamily="18" charset="0"/>
                          </a:rPr>
                          <m:t>1</m:t>
                        </m:r>
                      </m:num>
                      <m:den>
                        <m:r>
                          <a:rPr lang="en-US" altLang="zh-CN" sz="2800" b="0" i="1" smtClean="0">
                            <a:latin typeface="Cambria Math" panose="02040503050406030204" pitchFamily="18" charset="0"/>
                            <a:ea typeface="Cambria Math" panose="02040503050406030204" pitchFamily="18" charset="0"/>
                          </a:rPr>
                          <m:t>2</m:t>
                        </m:r>
                      </m:den>
                    </m:f>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𝑥</m:t>
                        </m:r>
                      </m:e>
                      <m:sup>
                        <m:r>
                          <a:rPr lang="en-US" altLang="zh-CN" sz="2800" b="0" i="1" smtClean="0">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m:t>
                    </m:r>
                    <m:f>
                      <m:fPr>
                        <m:ctrlPr>
                          <a:rPr lang="en-US" altLang="zh-CN" sz="2800" i="1">
                            <a:latin typeface="Cambria Math" panose="02040503050406030204" pitchFamily="18" charset="0"/>
                            <a:ea typeface="Cambria Math" panose="02040503050406030204" pitchFamily="18" charset="0"/>
                          </a:rPr>
                        </m:ctrlPr>
                      </m:fPr>
                      <m:num>
                        <m:r>
                          <a:rPr lang="en-US" altLang="zh-CN" sz="2800" i="1">
                            <a:latin typeface="Cambria Math" panose="02040503050406030204" pitchFamily="18" charset="0"/>
                            <a:ea typeface="Cambria Math" panose="02040503050406030204" pitchFamily="18" charset="0"/>
                          </a:rPr>
                          <m:t>1</m:t>
                        </m:r>
                      </m:num>
                      <m:den>
                        <m:r>
                          <a:rPr lang="en-US" altLang="zh-CN" sz="2800" i="1">
                            <a:latin typeface="Cambria Math" panose="02040503050406030204" pitchFamily="18" charset="0"/>
                            <a:ea typeface="Cambria Math" panose="02040503050406030204" pitchFamily="18" charset="0"/>
                          </a:rPr>
                          <m:t>2</m:t>
                        </m:r>
                      </m:den>
                    </m:f>
                    <m:sSup>
                      <m:sSupPr>
                        <m:ctrlPr>
                          <a:rPr lang="en-US" altLang="zh-CN" sz="2800" i="1">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𝑦</m:t>
                        </m:r>
                      </m:e>
                      <m:sup>
                        <m:r>
                          <a:rPr lang="en-US" altLang="zh-CN" sz="2800" i="1">
                            <a:latin typeface="Cambria Math" panose="02040503050406030204" pitchFamily="18" charset="0"/>
                            <a:ea typeface="Cambria Math" panose="02040503050406030204" pitchFamily="18" charset="0"/>
                          </a:rPr>
                          <m:t>2</m:t>
                        </m:r>
                      </m:sup>
                    </m:sSup>
                    <m:r>
                      <a:rPr lang="en-US" altLang="zh-CN" sz="2800" b="0" i="1" smtClean="0">
                        <a:latin typeface="Cambria Math" panose="02040503050406030204" pitchFamily="18" charset="0"/>
                        <a:ea typeface="Cambria Math" panose="02040503050406030204" pitchFamily="18" charset="0"/>
                      </a:rPr>
                      <m:t>)</m:t>
                    </m:r>
                  </m:oMath>
                </a14:m>
                <a:r>
                  <a:rPr lang="zh-CN" altLang="en-US" sz="2800" i="1" dirty="0">
                    <a:latin typeface="Cambria Math" panose="02040503050406030204" pitchFamily="18" charset="0"/>
                    <a:ea typeface="楷体" panose="02010609060101010101" pitchFamily="49" charset="-122"/>
                    <a:cs typeface="Cambria Math" panose="02040503050406030204" pitchFamily="18" charset="0"/>
                  </a:rPr>
                  <a:t> </a:t>
                </a:r>
                <a:endParaRPr lang="zh-CN" altLang="en-US" sz="2800" i="1"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4" name="标题 1"/>
              <p:cNvSpPr txBox="1">
                <a:spLocks noRot="1" noChangeAspect="1" noMove="1" noResize="1" noEditPoints="1" noAdjustHandles="1" noChangeArrowheads="1" noChangeShapeType="1" noTextEdit="1"/>
              </p:cNvSpPr>
              <p:nvPr/>
            </p:nvSpPr>
            <p:spPr>
              <a:xfrm>
                <a:off x="1213415" y="5148832"/>
                <a:ext cx="3854246" cy="669943"/>
              </a:xfrm>
              <a:prstGeom prst="rect">
                <a:avLst/>
              </a:prstGeom>
              <a:blipFill rotWithShape="1">
                <a:blip r:embed="rId11"/>
                <a:stretch>
                  <a:fillRect l="-15" t="-38" r="9"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标题 1"/>
              <p:cNvSpPr txBox="1"/>
              <p:nvPr/>
            </p:nvSpPr>
            <p:spPr>
              <a:xfrm>
                <a:off x="4793225" y="4510423"/>
                <a:ext cx="3293806" cy="66994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800" dirty="0">
                    <a:latin typeface="Cambria Math" panose="02040503050406030204" pitchFamily="18" charset="0"/>
                    <a:ea typeface="楷体" panose="02010609060101010101" pitchFamily="49" charset="-122"/>
                    <a:cs typeface="Cambria Math" panose="02040503050406030204" pitchFamily="18" charset="0"/>
                  </a:rPr>
                  <a:t>由</a:t>
                </a:r>
                <a14:m>
                  <m:oMath xmlns:m="http://schemas.openxmlformats.org/officeDocument/2006/math">
                    <m:r>
                      <a:rPr lang="en-US" altLang="zh-CN" sz="2800" i="1" dirty="0">
                        <a:latin typeface="Cambria Math" panose="02040503050406030204" pitchFamily="18" charset="0"/>
                        <a:ea typeface="楷体" panose="02010609060101010101" pitchFamily="49" charset="-122"/>
                        <a:cs typeface="Cambria Math" panose="02040503050406030204" pitchFamily="18" charset="0"/>
                      </a:rPr>
                      <m:t>𝑓</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0</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m:t>
                    </m:r>
                    <m:r>
                      <a:rPr lang="en-US" altLang="zh-CN" sz="2800" i="1" dirty="0">
                        <a:latin typeface="Cambria Math" panose="02040503050406030204" pitchFamily="18" charset="0"/>
                        <a:ea typeface="楷体" panose="02010609060101010101" pitchFamily="49" charset="-122"/>
                        <a:cs typeface="Cambria Math" panose="02040503050406030204" pitchFamily="18" charset="0"/>
                      </a:rPr>
                      <m:t>0</m:t>
                    </m:r>
                  </m:oMath>
                </a14:m>
                <a:r>
                  <a:rPr lang="zh-CN" altLang="en-US" sz="2800" dirty="0">
                    <a:latin typeface="Cambria Math" panose="02040503050406030204" pitchFamily="18" charset="0"/>
                    <a:ea typeface="楷体" panose="02010609060101010101" pitchFamily="49" charset="-122"/>
                    <a:cs typeface="Cambria Math" panose="02040503050406030204" pitchFamily="18" charset="0"/>
                  </a:rPr>
                  <a:t>得</a:t>
                </a:r>
                <a14:m>
                  <m:oMath xmlns:m="http://schemas.openxmlformats.org/officeDocument/2006/math">
                    <m:r>
                      <a:rPr lang="en-US" altLang="zh-CN" sz="2800" i="1">
                        <a:latin typeface="Cambria Math" panose="02040503050406030204" pitchFamily="18" charset="0"/>
                        <a:ea typeface="Cambria Math" panose="02040503050406030204" pitchFamily="18" charset="0"/>
                      </a:rPr>
                      <m:t>𝑐</m:t>
                    </m:r>
                    <m:r>
                      <a:rPr lang="en-US" altLang="zh-CN" sz="2800" i="1" smtClean="0">
                        <a:latin typeface="Cambria Math" panose="02040503050406030204" pitchFamily="18" charset="0"/>
                        <a:ea typeface="Cambria Math" panose="02040503050406030204" pitchFamily="18" charset="0"/>
                      </a:rPr>
                      <m:t>=</m:t>
                    </m:r>
                  </m:oMath>
                </a14:m>
                <a:r>
                  <a:rPr lang="en-US" altLang="zh-CN" sz="2800" dirty="0">
                    <a:latin typeface="Cambria Math" panose="02040503050406030204" pitchFamily="18" charset="0"/>
                    <a:ea typeface="楷体" panose="02010609060101010101" pitchFamily="49" charset="-122"/>
                    <a:cs typeface="Cambria Math" panose="02040503050406030204" pitchFamily="18" charset="0"/>
                  </a:rPr>
                  <a:t>0</a:t>
                </a:r>
                <a:endParaRPr lang="zh-CN" altLang="en-US" sz="28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5" name="标题 1"/>
              <p:cNvSpPr txBox="1">
                <a:spLocks noRot="1" noChangeAspect="1" noMove="1" noResize="1" noEditPoints="1" noAdjustHandles="1" noChangeArrowheads="1" noChangeShapeType="1" noTextEdit="1"/>
              </p:cNvSpPr>
              <p:nvPr/>
            </p:nvSpPr>
            <p:spPr>
              <a:xfrm>
                <a:off x="4793225" y="4510423"/>
                <a:ext cx="3293806" cy="669943"/>
              </a:xfrm>
              <a:prstGeom prst="rect">
                <a:avLst/>
              </a:prstGeom>
              <a:blipFill rotWithShape="1">
                <a:blip r:embed="rId12"/>
                <a:stretch>
                  <a:fillRect l="-7" t="-3" r="9" b="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标题 1"/>
              <p:cNvSpPr txBox="1"/>
              <p:nvPr/>
            </p:nvSpPr>
            <p:spPr>
              <a:xfrm>
                <a:off x="843497" y="5696526"/>
                <a:ext cx="8245214" cy="113812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zh-CN" altLang="en-US" sz="2600" dirty="0">
                    <a:solidFill>
                      <a:srgbClr val="FF0000"/>
                    </a:solidFill>
                    <a:latin typeface="楷体" panose="02010609060101010101" pitchFamily="49" charset="-122"/>
                    <a:ea typeface="楷体" panose="02010609060101010101" pitchFamily="49" charset="-122"/>
                  </a:rPr>
                  <a:t>当</a:t>
                </a:r>
                <a14:m>
                  <m:oMath xmlns:m="http://schemas.openxmlformats.org/officeDocument/2006/math">
                    <m:r>
                      <a:rPr lang="en-US" altLang="zh-CN" sz="2600" i="1" dirty="0">
                        <a:solidFill>
                          <a:srgbClr val="FF0000"/>
                        </a:solidFill>
                        <a:latin typeface="Cambria Math" panose="02040503050406030204" pitchFamily="18" charset="0"/>
                        <a:ea typeface="楷体" panose="02010609060101010101" pitchFamily="49" charset="-122"/>
                      </a:rPr>
                      <m:t>𝑛</m:t>
                    </m:r>
                    <m:r>
                      <a:rPr lang="en-US" altLang="zh-CN" sz="2600" b="0" i="0" dirty="0" smtClean="0">
                        <a:solidFill>
                          <a:srgbClr val="FF0000"/>
                        </a:solidFill>
                        <a:latin typeface="Cambria Math" panose="02040503050406030204" pitchFamily="18" charset="0"/>
                        <a:ea typeface="楷体" panose="02010609060101010101" pitchFamily="49" charset="-122"/>
                      </a:rPr>
                      <m:t>&gt;</m:t>
                    </m:r>
                    <m:r>
                      <a:rPr lang="en-US" altLang="zh-CN" sz="2600" i="1" dirty="0">
                        <a:solidFill>
                          <a:srgbClr val="FF0000"/>
                        </a:solidFill>
                        <a:latin typeface="Cambria Math" panose="02040503050406030204" pitchFamily="18" charset="0"/>
                        <a:ea typeface="楷体" panose="02010609060101010101" pitchFamily="49" charset="-122"/>
                      </a:rPr>
                      <m:t>1</m:t>
                    </m:r>
                  </m:oMath>
                </a14:m>
                <a:r>
                  <a:rPr lang="zh-CN" altLang="en-US" sz="2600" dirty="0">
                    <a:solidFill>
                      <a:srgbClr val="FF0000"/>
                    </a:solidFill>
                    <a:latin typeface="Cambria Math" panose="02040503050406030204" pitchFamily="18" charset="0"/>
                    <a:ea typeface="楷体" panose="02010609060101010101" pitchFamily="49" charset="-122"/>
                    <a:cs typeface="Cambria Math" panose="02040503050406030204" pitchFamily="18" charset="0"/>
                  </a:rPr>
                  <a:t>时</a:t>
                </a:r>
                <a:r>
                  <a:rPr lang="en-US" altLang="zh-CN" sz="2600" dirty="0">
                    <a:latin typeface="Cambria Math" panose="02040503050406030204" pitchFamily="18" charset="0"/>
                    <a:ea typeface="楷体" panose="02010609060101010101" pitchFamily="49" charset="-122"/>
                    <a:cs typeface="Cambria Math" panose="02040503050406030204" pitchFamily="18" charset="0"/>
                  </a:rPr>
                  <a:t>,</a:t>
                </a:r>
                <a14:m>
                  <m:oMath xmlns:m="http://schemas.openxmlformats.org/officeDocument/2006/math">
                    <m:sSub>
                      <m:sSubPr>
                        <m:ctrlPr>
                          <a:rPr lang="en-US" altLang="zh-CN" sz="2600" b="0" i="1" dirty="0" smtClean="0">
                            <a:latin typeface="Cambria Math" panose="02040503050406030204" pitchFamily="18" charset="0"/>
                            <a:ea typeface="楷体" panose="02010609060101010101" pitchFamily="49" charset="-122"/>
                          </a:rPr>
                        </m:ctrlPr>
                      </m:sSubPr>
                      <m:e>
                        <m:r>
                          <a:rPr lang="en-US" altLang="zh-CN" sz="2600" b="0" i="1" dirty="0" smtClean="0">
                            <a:latin typeface="Cambria Math" panose="02040503050406030204" pitchFamily="18" charset="0"/>
                            <a:ea typeface="楷体" panose="02010609060101010101" pitchFamily="49" charset="-122"/>
                          </a:rPr>
                          <m:t>𝑢</m:t>
                        </m:r>
                      </m:e>
                      <m:sub>
                        <m:r>
                          <a:rPr lang="en-US" altLang="zh-CN" sz="2600" b="0" i="1" dirty="0" smtClean="0">
                            <a:latin typeface="Cambria Math" panose="02040503050406030204" pitchFamily="18" charset="0"/>
                            <a:ea typeface="楷体" panose="02010609060101010101" pitchFamily="49" charset="-122"/>
                          </a:rPr>
                          <m:t>𝑥𝑥</m:t>
                        </m:r>
                      </m:sub>
                    </m:sSub>
                    <m:r>
                      <a:rPr lang="en-US" altLang="zh-CN" sz="2600" b="0" i="1" dirty="0" smtClean="0">
                        <a:latin typeface="Cambria Math" panose="02040503050406030204" pitchFamily="18" charset="0"/>
                        <a:ea typeface="楷体" panose="02010609060101010101" pitchFamily="49" charset="-122"/>
                      </a:rPr>
                      <m:t>+</m:t>
                    </m:r>
                    <m:sSub>
                      <m:sSubPr>
                        <m:ctrlPr>
                          <a:rPr lang="en-US" altLang="zh-CN" sz="2600" b="0" i="1" dirty="0" smtClean="0">
                            <a:latin typeface="Cambria Math" panose="02040503050406030204" pitchFamily="18" charset="0"/>
                            <a:ea typeface="楷体" panose="02010609060101010101" pitchFamily="49" charset="-122"/>
                          </a:rPr>
                        </m:ctrlPr>
                      </m:sSubPr>
                      <m:e>
                        <m:r>
                          <a:rPr lang="en-US" altLang="zh-CN" sz="2600" b="0" i="1" dirty="0" smtClean="0">
                            <a:latin typeface="Cambria Math" panose="02040503050406030204" pitchFamily="18" charset="0"/>
                            <a:ea typeface="楷体" panose="02010609060101010101" pitchFamily="49" charset="-122"/>
                          </a:rPr>
                          <m:t>𝑢</m:t>
                        </m:r>
                      </m:e>
                      <m:sub>
                        <m:r>
                          <a:rPr lang="en-US" altLang="zh-CN" sz="2600" b="0" i="1" dirty="0" smtClean="0">
                            <a:latin typeface="Cambria Math" panose="02040503050406030204" pitchFamily="18" charset="0"/>
                            <a:ea typeface="楷体" panose="02010609060101010101" pitchFamily="49" charset="-122"/>
                          </a:rPr>
                          <m:t>𝑦𝑦</m:t>
                        </m:r>
                      </m:sub>
                    </m:sSub>
                    <m:r>
                      <a:rPr lang="en-US" altLang="zh-CN" sz="26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2600" b="0" i="1" dirty="0" smtClean="0">
                        <a:latin typeface="Cambria Math" panose="02040503050406030204" pitchFamily="18" charset="0"/>
                        <a:ea typeface="楷体" panose="02010609060101010101" pitchFamily="49" charset="-122"/>
                        <a:cs typeface="Cambria Math" panose="02040503050406030204" pitchFamily="18" charset="0"/>
                      </a:rPr>
                      <m:t>𝑛</m:t>
                    </m:r>
                    <m:r>
                      <a:rPr lang="en-US" altLang="zh-CN" sz="26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2600" b="0" i="1" dirty="0" smtClean="0">
                        <a:latin typeface="Cambria Math" panose="02040503050406030204" pitchFamily="18" charset="0"/>
                        <a:ea typeface="楷体" panose="02010609060101010101" pitchFamily="49" charset="-122"/>
                        <a:cs typeface="Cambria Math" panose="02040503050406030204" pitchFamily="18" charset="0"/>
                      </a:rPr>
                      <m:t>𝑛</m:t>
                    </m:r>
                    <m:r>
                      <a:rPr lang="en-US" altLang="zh-CN" sz="2600" b="0" i="1" dirty="0" smtClean="0">
                        <a:latin typeface="Cambria Math" panose="02040503050406030204" pitchFamily="18" charset="0"/>
                        <a:ea typeface="楷体" panose="02010609060101010101" pitchFamily="49" charset="-122"/>
                        <a:cs typeface="Cambria Math" panose="02040503050406030204" pitchFamily="18" charset="0"/>
                      </a:rPr>
                      <m:t>−</m:t>
                    </m:r>
                    <m:r>
                      <a:rPr lang="en-US" altLang="zh-CN" sz="2600" b="0" i="1" dirty="0" smtClean="0">
                        <a:latin typeface="Cambria Math" panose="02040503050406030204" pitchFamily="18" charset="0"/>
                        <a:ea typeface="楷体" panose="02010609060101010101" pitchFamily="49" charset="-122"/>
                        <a:cs typeface="Cambria Math" panose="02040503050406030204" pitchFamily="18" charset="0"/>
                      </a:rPr>
                      <m:t>1</m:t>
                    </m:r>
                    <m:r>
                      <a:rPr lang="en-US" altLang="zh-CN" sz="2600" b="0" i="1" dirty="0" smtClean="0">
                        <a:latin typeface="Cambria Math" panose="02040503050406030204" pitchFamily="18" charset="0"/>
                        <a:ea typeface="楷体" panose="02010609060101010101" pitchFamily="49" charset="-122"/>
                        <a:cs typeface="Cambria Math" panose="02040503050406030204" pitchFamily="18" charset="0"/>
                      </a:rPr>
                      <m:t>)</m:t>
                    </m:r>
                    <m:sSup>
                      <m:sSupPr>
                        <m:ctrlPr>
                          <a:rPr lang="en-US" altLang="zh-CN" sz="2600" b="0" i="1" dirty="0" smtClean="0">
                            <a:latin typeface="Cambria Math" panose="02040503050406030204" pitchFamily="18" charset="0"/>
                            <a:ea typeface="楷体" panose="02010609060101010101" pitchFamily="49" charset="-122"/>
                          </a:rPr>
                        </m:ctrlPr>
                      </m:sSupPr>
                      <m:e>
                        <m:r>
                          <a:rPr lang="en-US" altLang="zh-CN" sz="2600" b="0" i="1" dirty="0" smtClean="0">
                            <a:latin typeface="Cambria Math" panose="02040503050406030204" pitchFamily="18" charset="0"/>
                            <a:ea typeface="楷体" panose="02010609060101010101" pitchFamily="49" charset="-122"/>
                          </a:rPr>
                          <m:t>𝑥</m:t>
                        </m:r>
                      </m:e>
                      <m:sup>
                        <m:r>
                          <a:rPr lang="en-US" altLang="zh-CN" sz="2600" b="0" i="1" dirty="0" smtClean="0">
                            <a:latin typeface="Cambria Math" panose="02040503050406030204" pitchFamily="18" charset="0"/>
                            <a:ea typeface="楷体" panose="02010609060101010101" pitchFamily="49" charset="-122"/>
                          </a:rPr>
                          <m:t>𝑛</m:t>
                        </m:r>
                        <m:r>
                          <a:rPr lang="en-US" altLang="zh-CN" sz="2600" b="0" i="1" dirty="0" smtClean="0">
                            <a:latin typeface="Cambria Math" panose="02040503050406030204" pitchFamily="18" charset="0"/>
                            <a:ea typeface="楷体" panose="02010609060101010101" pitchFamily="49" charset="-122"/>
                          </a:rPr>
                          <m:t>−</m:t>
                        </m:r>
                        <m:r>
                          <a:rPr lang="en-US" altLang="zh-CN" sz="2600" b="0" i="1" dirty="0" smtClean="0">
                            <a:latin typeface="Cambria Math" panose="02040503050406030204" pitchFamily="18" charset="0"/>
                            <a:ea typeface="楷体" panose="02010609060101010101" pitchFamily="49" charset="-122"/>
                          </a:rPr>
                          <m:t>2</m:t>
                        </m:r>
                      </m:sup>
                    </m:sSup>
                    <m:sSup>
                      <m:sSupPr>
                        <m:ctrlPr>
                          <a:rPr lang="en-US" altLang="zh-CN" sz="2600" b="0" i="1" dirty="0" smtClean="0">
                            <a:latin typeface="Cambria Math" panose="02040503050406030204" pitchFamily="18" charset="0"/>
                            <a:ea typeface="楷体" panose="02010609060101010101" pitchFamily="49" charset="-122"/>
                          </a:rPr>
                        </m:ctrlPr>
                      </m:sSupPr>
                      <m:e>
                        <m:r>
                          <a:rPr lang="en-US" altLang="zh-CN" sz="2600" b="0" i="1" dirty="0" smtClean="0">
                            <a:latin typeface="Cambria Math" panose="02040503050406030204" pitchFamily="18" charset="0"/>
                            <a:ea typeface="楷体" panose="02010609060101010101" pitchFamily="49" charset="-122"/>
                          </a:rPr>
                          <m:t>𝑦</m:t>
                        </m:r>
                      </m:e>
                      <m:sup>
                        <m:r>
                          <a:rPr lang="en-US" altLang="zh-CN" sz="2600" b="0" i="1" dirty="0" smtClean="0">
                            <a:latin typeface="Cambria Math" panose="02040503050406030204" pitchFamily="18" charset="0"/>
                            <a:ea typeface="楷体" panose="02010609060101010101" pitchFamily="49" charset="-122"/>
                          </a:rPr>
                          <m:t>𝑛</m:t>
                        </m:r>
                        <m:r>
                          <a:rPr lang="en-US" altLang="zh-CN" sz="2600" b="0" i="1" dirty="0" smtClean="0">
                            <a:latin typeface="Cambria Math" panose="02040503050406030204" pitchFamily="18" charset="0"/>
                            <a:ea typeface="楷体" panose="02010609060101010101" pitchFamily="49" charset="-122"/>
                          </a:rPr>
                          <m:t>−</m:t>
                        </m:r>
                        <m:r>
                          <a:rPr lang="en-US" altLang="zh-CN" sz="2600" b="0" i="1" dirty="0" smtClean="0">
                            <a:latin typeface="Cambria Math" panose="02040503050406030204" pitchFamily="18" charset="0"/>
                            <a:ea typeface="楷体" panose="02010609060101010101" pitchFamily="49" charset="-122"/>
                          </a:rPr>
                          <m:t>2</m:t>
                        </m:r>
                      </m:sup>
                    </m:sSup>
                    <m:r>
                      <a:rPr lang="en-US" altLang="zh-CN" sz="2600" b="0" i="1" dirty="0" smtClean="0">
                        <a:latin typeface="Cambria Math" panose="02040503050406030204" pitchFamily="18" charset="0"/>
                        <a:ea typeface="楷体" panose="02010609060101010101" pitchFamily="49" charset="-122"/>
                      </a:rPr>
                      <m:t>(</m:t>
                    </m:r>
                    <m:sSup>
                      <m:sSupPr>
                        <m:ctrlPr>
                          <a:rPr lang="en-US" altLang="zh-CN" sz="2600" b="0" i="1" dirty="0" smtClean="0">
                            <a:latin typeface="Cambria Math" panose="02040503050406030204" pitchFamily="18" charset="0"/>
                            <a:ea typeface="楷体" panose="02010609060101010101" pitchFamily="49" charset="-122"/>
                          </a:rPr>
                        </m:ctrlPr>
                      </m:sSupPr>
                      <m:e>
                        <m:r>
                          <a:rPr lang="en-US" altLang="zh-CN" sz="2600" b="0" i="1" dirty="0" smtClean="0">
                            <a:latin typeface="Cambria Math" panose="02040503050406030204" pitchFamily="18" charset="0"/>
                            <a:ea typeface="楷体" panose="02010609060101010101" pitchFamily="49" charset="-122"/>
                          </a:rPr>
                          <m:t>𝑥</m:t>
                        </m:r>
                      </m:e>
                      <m:sup>
                        <m:r>
                          <a:rPr lang="en-US" altLang="zh-CN" sz="2600" b="0" i="1" dirty="0" smtClean="0">
                            <a:latin typeface="Cambria Math" panose="02040503050406030204" pitchFamily="18" charset="0"/>
                            <a:ea typeface="楷体" panose="02010609060101010101" pitchFamily="49" charset="-122"/>
                          </a:rPr>
                          <m:t>2</m:t>
                        </m:r>
                      </m:sup>
                    </m:sSup>
                    <m:r>
                      <a:rPr lang="en-US" altLang="zh-CN" sz="2600" b="0" i="1" dirty="0" smtClean="0">
                        <a:latin typeface="Cambria Math" panose="02040503050406030204" pitchFamily="18" charset="0"/>
                        <a:ea typeface="楷体" panose="02010609060101010101" pitchFamily="49" charset="-122"/>
                      </a:rPr>
                      <m:t>+</m:t>
                    </m:r>
                    <m:sSup>
                      <m:sSupPr>
                        <m:ctrlPr>
                          <a:rPr lang="en-US" altLang="zh-CN" sz="2600" b="0" i="1" dirty="0" smtClean="0">
                            <a:latin typeface="Cambria Math" panose="02040503050406030204" pitchFamily="18" charset="0"/>
                            <a:ea typeface="楷体" panose="02010609060101010101" pitchFamily="49" charset="-122"/>
                          </a:rPr>
                        </m:ctrlPr>
                      </m:sSupPr>
                      <m:e>
                        <m:r>
                          <a:rPr lang="en-US" altLang="zh-CN" sz="2600" b="0" i="1" dirty="0" smtClean="0">
                            <a:latin typeface="Cambria Math" panose="02040503050406030204" pitchFamily="18" charset="0"/>
                            <a:ea typeface="楷体" panose="02010609060101010101" pitchFamily="49" charset="-122"/>
                          </a:rPr>
                          <m:t>𝑦</m:t>
                        </m:r>
                      </m:e>
                      <m:sup>
                        <m:r>
                          <a:rPr lang="en-US" altLang="zh-CN" sz="2600" b="0" i="1" dirty="0" smtClean="0">
                            <a:latin typeface="Cambria Math" panose="02040503050406030204" pitchFamily="18" charset="0"/>
                            <a:ea typeface="楷体" panose="02010609060101010101" pitchFamily="49" charset="-122"/>
                          </a:rPr>
                          <m:t>2</m:t>
                        </m:r>
                      </m:sup>
                    </m:sSup>
                    <m:r>
                      <a:rPr lang="en-US" altLang="zh-CN" sz="2600" b="0" i="1" dirty="0" smtClean="0">
                        <a:latin typeface="Cambria Math" panose="02040503050406030204" pitchFamily="18" charset="0"/>
                        <a:ea typeface="楷体" panose="02010609060101010101" pitchFamily="49" charset="-122"/>
                      </a:rPr>
                      <m:t>)</m:t>
                    </m:r>
                    <m:r>
                      <a:rPr lang="en-US" altLang="zh-CN" sz="2600" b="0" i="1" dirty="0" smtClean="0">
                        <a:latin typeface="Cambria Math" panose="02040503050406030204" pitchFamily="18" charset="0"/>
                        <a:ea typeface="Cambria Math" panose="02040503050406030204" pitchFamily="18" charset="0"/>
                      </a:rPr>
                      <m:t>≠</m:t>
                    </m:r>
                    <m:r>
                      <a:rPr lang="en-US" altLang="zh-CN" sz="2600" b="0" i="1" dirty="0" smtClean="0">
                        <a:latin typeface="Cambria Math" panose="02040503050406030204" pitchFamily="18" charset="0"/>
                        <a:ea typeface="Cambria Math" panose="02040503050406030204" pitchFamily="18" charset="0"/>
                      </a:rPr>
                      <m:t>0</m:t>
                    </m:r>
                  </m:oMath>
                </a14:m>
                <a:endParaRPr lang="en-US" altLang="zh-CN" sz="2600" dirty="0">
                  <a:latin typeface="Cambria Math" panose="02040503050406030204" pitchFamily="18" charset="0"/>
                  <a:ea typeface="楷体" panose="02010609060101010101" pitchFamily="49" charset="-122"/>
                  <a:cs typeface="Cambria Math" panose="02040503050406030204" pitchFamily="18" charset="0"/>
                </a:endParaRPr>
              </a:p>
              <a:p>
                <a:pPr>
                  <a:lnSpc>
                    <a:spcPct val="100000"/>
                  </a:lnSpc>
                </a:pPr>
                <a:r>
                  <a:rPr lang="en-US" altLang="zh-CN" sz="2600" dirty="0">
                    <a:latin typeface="Cambria Math" panose="02040503050406030204" pitchFamily="18" charset="0"/>
                    <a:ea typeface="楷体" panose="02010609060101010101" pitchFamily="49" charset="-122"/>
                    <a:cs typeface="Cambria Math" panose="02040503050406030204" pitchFamily="18" charset="0"/>
                  </a:rPr>
                  <a:t>                      </a:t>
                </a:r>
                <a:r>
                  <a:rPr lang="zh-CN" altLang="en-US" sz="2600" dirty="0">
                    <a:latin typeface="Cambria Math" panose="02040503050406030204" pitchFamily="18" charset="0"/>
                    <a:ea typeface="楷体" panose="02010609060101010101" pitchFamily="49" charset="-122"/>
                    <a:cs typeface="Cambria Math" panose="02040503050406030204" pitchFamily="18" charset="0"/>
                  </a:rPr>
                  <a:t>不满足调和要求，舍</a:t>
                </a:r>
                <a:endParaRPr lang="zh-CN" altLang="en-US" sz="2600" dirty="0">
                  <a:latin typeface="Cambria Math" panose="02040503050406030204" pitchFamily="18" charset="0"/>
                  <a:ea typeface="楷体" panose="02010609060101010101" pitchFamily="49" charset="-122"/>
                  <a:cs typeface="Cambria Math" panose="02040503050406030204" pitchFamily="18" charset="0"/>
                </a:endParaRPr>
              </a:p>
            </p:txBody>
          </p:sp>
        </mc:Choice>
        <mc:Fallback>
          <p:sp>
            <p:nvSpPr>
              <p:cNvPr id="16" name="标题 1"/>
              <p:cNvSpPr txBox="1">
                <a:spLocks noRot="1" noChangeAspect="1" noMove="1" noResize="1" noEditPoints="1" noAdjustHandles="1" noChangeArrowheads="1" noChangeShapeType="1" noTextEdit="1"/>
              </p:cNvSpPr>
              <p:nvPr/>
            </p:nvSpPr>
            <p:spPr>
              <a:xfrm>
                <a:off x="843497" y="5696526"/>
                <a:ext cx="8245214" cy="1138127"/>
              </a:xfrm>
              <a:prstGeom prst="rect">
                <a:avLst/>
              </a:prstGeom>
              <a:blipFill rotWithShape="1">
                <a:blip r:embed="rId13"/>
                <a:stretch>
                  <a:fillRect l="-3" t="-51" r="7" b="1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p:bldP spid="3" grpId="0"/>
      <p:bldP spid="5" grpId="0"/>
      <p:bldP spid="8" grpId="0"/>
      <p:bldP spid="9" grpId="0"/>
      <p:bldP spid="10" grpId="0"/>
      <p:bldP spid="11" grpId="0"/>
      <p:bldP spid="12" grpId="0"/>
      <p:bldP spid="13" grpId="0"/>
      <p:bldP spid="14" grpId="0"/>
      <p:bldP spid="15"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682" y="592154"/>
            <a:ext cx="4407702" cy="61722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200" b="1" dirty="0">
                <a:latin typeface="楷体" panose="02010609060101010101" pitchFamily="49" charset="-122"/>
                <a:ea typeface="楷体" panose="02010609060101010101" pitchFamily="49" charset="-122"/>
              </a:rPr>
              <a:t>四、解析函数的应用</a:t>
            </a:r>
            <a:endParaRPr lang="zh-CN" altLang="en-US" sz="3200" b="1" dirty="0">
              <a:latin typeface="楷体" panose="02010609060101010101" pitchFamily="49" charset="-122"/>
              <a:ea typeface="楷体" panose="02010609060101010101" pitchFamily="49" charset="-122"/>
            </a:endParaRPr>
          </a:p>
        </p:txBody>
      </p:sp>
      <p:sp>
        <p:nvSpPr>
          <p:cNvPr id="2" name="标题 1"/>
          <p:cNvSpPr txBox="1"/>
          <p:nvPr/>
        </p:nvSpPr>
        <p:spPr>
          <a:xfrm>
            <a:off x="107682" y="1288383"/>
            <a:ext cx="8638004" cy="151738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  前面我们已经介绍了许多不同的稳定平面物理场可以用一个复变函数来描述，这种平面场反应的物理现象可由相应解析函数的性质来描述。</a:t>
            </a:r>
            <a:endParaRPr lang="zh-CN" altLang="en-US" sz="30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3" name="标题 1"/>
              <p:cNvSpPr txBox="1"/>
              <p:nvPr/>
            </p:nvSpPr>
            <p:spPr>
              <a:xfrm>
                <a:off x="143911" y="2735379"/>
                <a:ext cx="8856177" cy="186068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14:m>
                  <m:oMath xmlns:m="http://schemas.openxmlformats.org/officeDocument/2006/math">
                    <m:f>
                      <m:fPr>
                        <m:ctrlPr>
                          <a:rPr lang="en-US" altLang="zh-CN" sz="3000" i="1" smtClean="0">
                            <a:solidFill>
                              <a:srgbClr val="FF0000"/>
                            </a:solidFill>
                            <a:latin typeface="Cambria Math" panose="02040503050406030204" pitchFamily="18" charset="0"/>
                            <a:ea typeface="楷体" panose="02010609060101010101" pitchFamily="49" charset="-122"/>
                          </a:rPr>
                        </m:ctrlPr>
                      </m:fPr>
                      <m:num>
                        <m:r>
                          <a:rPr lang="en-US" altLang="zh-CN" sz="300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𝑢</m:t>
                        </m:r>
                      </m:num>
                      <m:den>
                        <m:r>
                          <a:rPr lang="en-US" altLang="zh-CN" sz="3000" i="1" smtClean="0">
                            <a:solidFill>
                              <a:srgbClr val="FF0000"/>
                            </a:solidFill>
                            <a:latin typeface="Cambria Math" panose="02040503050406030204" pitchFamily="18" charset="0"/>
                            <a:ea typeface="楷体" panose="02010609060101010101" pitchFamily="49" charset="-122"/>
                          </a:rPr>
                          <m:t>𝜕</m:t>
                        </m:r>
                        <m:r>
                          <a:rPr lang="en-US" altLang="zh-CN" sz="3000" i="1" smtClean="0">
                            <a:solidFill>
                              <a:srgbClr val="FF0000"/>
                            </a:solidFill>
                            <a:latin typeface="Cambria Math" panose="02040503050406030204" pitchFamily="18" charset="0"/>
                            <a:ea typeface="楷体" panose="02010609060101010101" pitchFamily="49" charset="-122"/>
                          </a:rPr>
                          <m:t>𝑥</m:t>
                        </m:r>
                      </m:den>
                    </m:f>
                    <m:r>
                      <a:rPr lang="en-US" altLang="zh-CN" sz="3000" b="0" i="1" smtClean="0">
                        <a:solidFill>
                          <a:srgbClr val="FF0000"/>
                        </a:solidFill>
                        <a:latin typeface="Cambria Math" panose="02040503050406030204" pitchFamily="18" charset="0"/>
                        <a:ea typeface="楷体" panose="02010609060101010101" pitchFamily="49" charset="-122"/>
                      </a:rPr>
                      <m:t>+</m:t>
                    </m:r>
                    <m:f>
                      <m:fPr>
                        <m:ctrlPr>
                          <a:rPr lang="en-US" altLang="zh-CN" sz="3000" b="0" i="1" smtClean="0">
                            <a:solidFill>
                              <a:srgbClr val="FF0000"/>
                            </a:solidFill>
                            <a:latin typeface="Cambria Math" panose="02040503050406030204" pitchFamily="18" charset="0"/>
                            <a:ea typeface="楷体" panose="02010609060101010101" pitchFamily="49" charset="-122"/>
                          </a:rPr>
                        </m:ctrlPr>
                      </m:fPr>
                      <m:num>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𝑣</m:t>
                        </m:r>
                      </m:num>
                      <m:den>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𝑦</m:t>
                        </m:r>
                      </m:den>
                    </m:f>
                  </m:oMath>
                </a14:m>
                <a:r>
                  <a:rPr lang="zh-CN" altLang="en-US" sz="3000" dirty="0">
                    <a:latin typeface="楷体" panose="02010609060101010101" pitchFamily="49" charset="-122"/>
                    <a:ea typeface="楷体" panose="02010609060101010101" pitchFamily="49" charset="-122"/>
                  </a:rPr>
                  <a:t>在场论中称为向量场</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zh-CN" altLang="en-US" sz="3000" dirty="0">
                    <a:latin typeface="楷体" panose="02010609060101010101" pitchFamily="49" charset="-122"/>
                    <a:ea typeface="楷体" panose="02010609060101010101" pitchFamily="49" charset="-122"/>
                  </a:rPr>
                  <a:t>的</a:t>
                </a:r>
                <a:r>
                  <a:rPr lang="zh-CN" altLang="en-US" sz="3000" dirty="0">
                    <a:solidFill>
                      <a:srgbClr val="FF0000"/>
                    </a:solidFill>
                    <a:latin typeface="楷体" panose="02010609060101010101" pitchFamily="49" charset="-122"/>
                    <a:ea typeface="楷体" panose="02010609060101010101" pitchFamily="49" charset="-122"/>
                  </a:rPr>
                  <a:t>散度</a:t>
                </a:r>
                <a:endParaRPr lang="en-US" altLang="zh-CN" sz="3000" dirty="0">
                  <a:solidFill>
                    <a:srgbClr val="FF0000"/>
                  </a:solidFill>
                  <a:latin typeface="楷体" panose="02010609060101010101" pitchFamily="49" charset="-122"/>
                  <a:ea typeface="楷体" panose="02010609060101010101" pitchFamily="49" charset="-122"/>
                </a:endParaRPr>
              </a:p>
              <a:p>
                <a:pPr fontAlgn="auto">
                  <a:lnSpc>
                    <a:spcPct val="110000"/>
                  </a:lnSpc>
                </a:pPr>
                <a:r>
                  <a:rPr lang="zh-CN" altLang="en-US" sz="3000" dirty="0">
                    <a:latin typeface="楷体" panose="02010609060101010101" pitchFamily="49" charset="-122"/>
                    <a:ea typeface="楷体" panose="02010609060101010101" pitchFamily="49" charset="-122"/>
                  </a:rPr>
                  <a:t>记为</a:t>
                </a: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𝑑𝑖𝑣</m:t>
                    </m:r>
                    <m:r>
                      <a:rPr lang="en-US" altLang="zh-CN" sz="3000" i="1">
                        <a:solidFill>
                          <a:srgbClr val="FF0000"/>
                        </a:solidFill>
                        <a:latin typeface="Cambria Math" panose="02040503050406030204" pitchFamily="18" charset="0"/>
                        <a:ea typeface="楷体" panose="02010609060101010101" pitchFamily="49" charset="-122"/>
                      </a:rPr>
                      <m:t>𝑓</m:t>
                    </m:r>
                    <m:d>
                      <m:dPr>
                        <m:ctrlPr>
                          <a:rPr lang="en-US" altLang="zh-CN" sz="3000" i="1">
                            <a:solidFill>
                              <a:srgbClr val="FF0000"/>
                            </a:solidFill>
                            <a:latin typeface="Cambria Math" panose="02040503050406030204" pitchFamily="18" charset="0"/>
                            <a:ea typeface="楷体" panose="02010609060101010101" pitchFamily="49" charset="-122"/>
                          </a:rPr>
                        </m:ctrlPr>
                      </m:dPr>
                      <m:e>
                        <m:r>
                          <a:rPr lang="en-US" altLang="zh-CN" sz="3000" i="1">
                            <a:solidFill>
                              <a:srgbClr val="FF0000"/>
                            </a:solidFill>
                            <a:latin typeface="Cambria Math" panose="02040503050406030204" pitchFamily="18" charset="0"/>
                            <a:ea typeface="楷体" panose="02010609060101010101" pitchFamily="49" charset="-122"/>
                          </a:rPr>
                          <m:t>𝑧</m:t>
                        </m:r>
                      </m:e>
                    </m:d>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要求</a:t>
                </a:r>
                <a14:m>
                  <m:oMath xmlns:m="http://schemas.openxmlformats.org/officeDocument/2006/math">
                    <m:r>
                      <a:rPr lang="en-US" altLang="zh-CN" sz="3000" i="1">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具有一阶连续偏导</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i="1" smtClean="0">
                        <a:solidFill>
                          <a:srgbClr val="FF0000"/>
                        </a:solidFill>
                        <a:latin typeface="Cambria Math" panose="02040503050406030204" pitchFamily="18" charset="0"/>
                        <a:ea typeface="楷体" panose="02010609060101010101" pitchFamily="49" charset="-122"/>
                      </a:rPr>
                      <m:t>𝑑𝑖𝑣</m:t>
                    </m:r>
                    <m:r>
                      <a:rPr lang="en-US" altLang="zh-CN" sz="3000" i="1">
                        <a:solidFill>
                          <a:srgbClr val="FF0000"/>
                        </a:solidFill>
                        <a:latin typeface="Cambria Math" panose="02040503050406030204" pitchFamily="18" charset="0"/>
                        <a:ea typeface="楷体" panose="02010609060101010101" pitchFamily="49" charset="-122"/>
                      </a:rPr>
                      <m:t>𝑓</m:t>
                    </m:r>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0</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称</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为</a:t>
                </a:r>
                <a:r>
                  <a:rPr lang="zh-CN" altLang="en-US" sz="3000" dirty="0">
                    <a:solidFill>
                      <a:srgbClr val="FF0000"/>
                    </a:solidFill>
                    <a:latin typeface="楷体" panose="02010609060101010101" pitchFamily="49" charset="-122"/>
                    <a:ea typeface="楷体" panose="02010609060101010101" pitchFamily="49" charset="-122"/>
                  </a:rPr>
                  <a:t>无源场</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43911" y="2735379"/>
                <a:ext cx="8856177" cy="1860683"/>
              </a:xfrm>
              <a:prstGeom prst="rect">
                <a:avLst/>
              </a:prstGeom>
              <a:blipFill rotWithShape="1">
                <a:blip r:embed="rId1"/>
                <a:stretch>
                  <a:fillRect l="-5" t="-23" r="3"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143911" y="4596062"/>
                <a:ext cx="8856177" cy="186068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m:t>
                    </m:r>
                    <m:f>
                      <m:fPr>
                        <m:ctrlPr>
                          <a:rPr lang="en-US" altLang="zh-CN" sz="3000" i="1" smtClean="0">
                            <a:solidFill>
                              <a:srgbClr val="FF0000"/>
                            </a:solidFill>
                            <a:latin typeface="Cambria Math" panose="02040503050406030204" pitchFamily="18" charset="0"/>
                            <a:ea typeface="楷体" panose="02010609060101010101" pitchFamily="49" charset="-122"/>
                          </a:rPr>
                        </m:ctrlPr>
                      </m:fPr>
                      <m:num>
                        <m:r>
                          <a:rPr lang="en-US" altLang="zh-CN" sz="300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𝑣</m:t>
                        </m:r>
                      </m:num>
                      <m:den>
                        <m:r>
                          <a:rPr lang="en-US" altLang="zh-CN" sz="3000" i="1" smtClean="0">
                            <a:solidFill>
                              <a:srgbClr val="FF0000"/>
                            </a:solidFill>
                            <a:latin typeface="Cambria Math" panose="02040503050406030204" pitchFamily="18" charset="0"/>
                            <a:ea typeface="楷体" panose="02010609060101010101" pitchFamily="49" charset="-122"/>
                          </a:rPr>
                          <m:t>𝜕</m:t>
                        </m:r>
                        <m:r>
                          <a:rPr lang="en-US" altLang="zh-CN" sz="3000" i="1" smtClean="0">
                            <a:solidFill>
                              <a:srgbClr val="FF0000"/>
                            </a:solidFill>
                            <a:latin typeface="Cambria Math" panose="02040503050406030204" pitchFamily="18" charset="0"/>
                            <a:ea typeface="楷体" panose="02010609060101010101" pitchFamily="49" charset="-122"/>
                          </a:rPr>
                          <m:t>𝑥</m:t>
                        </m:r>
                      </m:den>
                    </m:f>
                    <m:r>
                      <a:rPr lang="en-US" altLang="zh-CN" sz="3000" b="0" i="1" smtClean="0">
                        <a:solidFill>
                          <a:srgbClr val="FF0000"/>
                        </a:solidFill>
                        <a:latin typeface="Cambria Math" panose="02040503050406030204" pitchFamily="18" charset="0"/>
                        <a:ea typeface="楷体" panose="02010609060101010101" pitchFamily="49" charset="-122"/>
                      </a:rPr>
                      <m:t>−</m:t>
                    </m:r>
                    <m:f>
                      <m:fPr>
                        <m:ctrlPr>
                          <a:rPr lang="en-US" altLang="zh-CN" sz="3000" b="0" i="1" smtClean="0">
                            <a:solidFill>
                              <a:srgbClr val="FF0000"/>
                            </a:solidFill>
                            <a:latin typeface="Cambria Math" panose="02040503050406030204" pitchFamily="18" charset="0"/>
                            <a:ea typeface="楷体" panose="02010609060101010101" pitchFamily="49" charset="-122"/>
                          </a:rPr>
                        </m:ctrlPr>
                      </m:fPr>
                      <m:num>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𝑢</m:t>
                        </m:r>
                      </m:num>
                      <m:den>
                        <m:r>
                          <a:rPr lang="en-US" altLang="zh-CN" sz="3000" b="0" i="1" smtClean="0">
                            <a:solidFill>
                              <a:srgbClr val="FF0000"/>
                            </a:solidFill>
                            <a:latin typeface="Cambria Math" panose="02040503050406030204" pitchFamily="18" charset="0"/>
                            <a:ea typeface="楷体" panose="02010609060101010101" pitchFamily="49" charset="-122"/>
                          </a:rPr>
                          <m:t>𝜕</m:t>
                        </m:r>
                        <m:r>
                          <a:rPr lang="en-US" altLang="zh-CN" sz="3000" b="0" i="1" smtClean="0">
                            <a:solidFill>
                              <a:srgbClr val="FF0000"/>
                            </a:solidFill>
                            <a:latin typeface="Cambria Math" panose="02040503050406030204" pitchFamily="18" charset="0"/>
                            <a:ea typeface="楷体" panose="02010609060101010101" pitchFamily="49" charset="-122"/>
                          </a:rPr>
                          <m:t>𝑦</m:t>
                        </m:r>
                      </m:den>
                    </m:f>
                    <m:r>
                      <a:rPr lang="en-US" altLang="zh-CN" sz="3000" b="0" i="1" smtClean="0">
                        <a:solidFill>
                          <a:srgbClr val="FF0000"/>
                        </a:solidFill>
                        <a:latin typeface="Cambria Math" panose="02040503050406030204" pitchFamily="18" charset="0"/>
                        <a:ea typeface="楷体" panose="02010609060101010101" pitchFamily="49" charset="-122"/>
                      </a:rPr>
                      <m:t>)</m:t>
                    </m:r>
                    <m:acc>
                      <m:accPr>
                        <m:chr m:val="⃗"/>
                        <m:ctrlPr>
                          <a:rPr lang="en-US" altLang="zh-CN" sz="3000" b="0" i="1" smtClean="0">
                            <a:solidFill>
                              <a:srgbClr val="FF0000"/>
                            </a:solidFill>
                            <a:latin typeface="Cambria Math" panose="02040503050406030204" pitchFamily="18" charset="0"/>
                            <a:ea typeface="楷体" panose="02010609060101010101" pitchFamily="49" charset="-122"/>
                          </a:rPr>
                        </m:ctrlPr>
                      </m:accPr>
                      <m:e>
                        <m:r>
                          <a:rPr lang="en-US" altLang="zh-CN" sz="3000" b="0" i="1" smtClean="0">
                            <a:solidFill>
                              <a:srgbClr val="FF0000"/>
                            </a:solidFill>
                            <a:latin typeface="Cambria Math" panose="02040503050406030204" pitchFamily="18" charset="0"/>
                            <a:ea typeface="楷体" panose="02010609060101010101" pitchFamily="49" charset="-122"/>
                          </a:rPr>
                          <m:t>𝑘</m:t>
                        </m:r>
                      </m:e>
                    </m:acc>
                  </m:oMath>
                </a14:m>
                <a:r>
                  <a:rPr lang="zh-CN" altLang="en-US" sz="3000" dirty="0">
                    <a:latin typeface="楷体" panose="02010609060101010101" pitchFamily="49" charset="-122"/>
                    <a:ea typeface="楷体" panose="02010609060101010101" pitchFamily="49" charset="-122"/>
                  </a:rPr>
                  <a:t>称为向量场</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的</a:t>
                </a:r>
                <a:r>
                  <a:rPr lang="zh-CN" altLang="en-US" sz="3000" dirty="0">
                    <a:solidFill>
                      <a:srgbClr val="FF0000"/>
                    </a:solidFill>
                    <a:latin typeface="楷体" panose="02010609060101010101" pitchFamily="49" charset="-122"/>
                    <a:ea typeface="楷体" panose="02010609060101010101" pitchFamily="49" charset="-122"/>
                  </a:rPr>
                  <a:t>旋度</a:t>
                </a:r>
                <a:r>
                  <a:rPr lang="en-US" altLang="zh-CN" sz="3000" dirty="0">
                    <a:solidFill>
                      <a:srgbClr val="FF0000"/>
                    </a:solidFill>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记为</a:t>
                </a:r>
                <a14:m>
                  <m:oMath xmlns:m="http://schemas.openxmlformats.org/officeDocument/2006/math">
                    <m:r>
                      <a:rPr lang="en-US" altLang="zh-CN" sz="3000" b="0" i="1" smtClean="0">
                        <a:solidFill>
                          <a:srgbClr val="FF0000"/>
                        </a:solidFill>
                        <a:latin typeface="Cambria Math" panose="02040503050406030204" pitchFamily="18" charset="0"/>
                        <a:ea typeface="楷体" panose="02010609060101010101" pitchFamily="49" charset="-122"/>
                      </a:rPr>
                      <m:t>𝑟𝑜𝑡</m:t>
                    </m:r>
                    <m:r>
                      <a:rPr lang="en-US" altLang="zh-CN" sz="3000" i="1">
                        <a:solidFill>
                          <a:srgbClr val="FF0000"/>
                        </a:solidFill>
                        <a:latin typeface="Cambria Math" panose="02040503050406030204" pitchFamily="18" charset="0"/>
                        <a:ea typeface="楷体" panose="02010609060101010101" pitchFamily="49" charset="-122"/>
                      </a:rPr>
                      <m:t>𝑓</m:t>
                    </m:r>
                    <m:d>
                      <m:dPr>
                        <m:ctrlPr>
                          <a:rPr lang="en-US" altLang="zh-CN" sz="3000" i="1">
                            <a:solidFill>
                              <a:srgbClr val="FF0000"/>
                            </a:solidFill>
                            <a:latin typeface="Cambria Math" panose="02040503050406030204" pitchFamily="18" charset="0"/>
                            <a:ea typeface="楷体" panose="02010609060101010101" pitchFamily="49" charset="-122"/>
                          </a:rPr>
                        </m:ctrlPr>
                      </m:dPr>
                      <m:e>
                        <m:r>
                          <a:rPr lang="en-US" altLang="zh-CN" sz="3000" i="1">
                            <a:solidFill>
                              <a:srgbClr val="FF0000"/>
                            </a:solidFill>
                            <a:latin typeface="Cambria Math" panose="02040503050406030204" pitchFamily="18" charset="0"/>
                            <a:ea typeface="楷体" panose="02010609060101010101" pitchFamily="49" charset="-122"/>
                          </a:rPr>
                          <m:t>𝑧</m:t>
                        </m:r>
                      </m:e>
                    </m:d>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若</a:t>
                </a:r>
                <a:endParaRPr lang="en-US" altLang="zh-CN" sz="3000" dirty="0">
                  <a:latin typeface="楷体" panose="02010609060101010101" pitchFamily="49" charset="-122"/>
                  <a:ea typeface="楷体" panose="02010609060101010101" pitchFamily="49" charset="-122"/>
                </a:endParaRPr>
              </a:p>
              <a:p>
                <a:pPr fontAlgn="auto">
                  <a:lnSpc>
                    <a:spcPct val="110000"/>
                  </a:lnSpc>
                </a:pPr>
                <a14:m>
                  <m:oMath xmlns:m="http://schemas.openxmlformats.org/officeDocument/2006/math">
                    <m:r>
                      <a:rPr lang="en-US" altLang="zh-CN" sz="3000" i="1">
                        <a:solidFill>
                          <a:srgbClr val="FF0000"/>
                        </a:solidFill>
                        <a:latin typeface="Cambria Math" panose="02040503050406030204" pitchFamily="18" charset="0"/>
                        <a:ea typeface="楷体" panose="02010609060101010101" pitchFamily="49" charset="-122"/>
                      </a:rPr>
                      <m:t>𝑟𝑜𝑡𝑓</m:t>
                    </m:r>
                    <m:r>
                      <a:rPr lang="en-US" altLang="zh-CN" sz="3000" i="1">
                        <a:solidFill>
                          <a:srgbClr val="FF0000"/>
                        </a:solidFill>
                        <a:latin typeface="Cambria Math" panose="02040503050406030204" pitchFamily="18" charset="0"/>
                        <a:ea typeface="楷体" panose="02010609060101010101" pitchFamily="49" charset="-122"/>
                      </a:rPr>
                      <m:t>=</m:t>
                    </m:r>
                    <m:r>
                      <a:rPr lang="en-US" altLang="zh-CN" sz="3000" i="1">
                        <a:solidFill>
                          <a:srgbClr val="FF0000"/>
                        </a:solidFill>
                        <a:latin typeface="Cambria Math" panose="02040503050406030204" pitchFamily="18" charset="0"/>
                        <a:ea typeface="楷体" panose="02010609060101010101" pitchFamily="49" charset="-122"/>
                      </a:rPr>
                      <m:t>0</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称</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为</a:t>
                </a:r>
                <a:r>
                  <a:rPr lang="zh-CN" altLang="en-US" sz="3000" dirty="0">
                    <a:solidFill>
                      <a:srgbClr val="FF0000"/>
                    </a:solidFill>
                    <a:latin typeface="楷体" panose="02010609060101010101" pitchFamily="49" charset="-122"/>
                    <a:ea typeface="楷体" panose="02010609060101010101" pitchFamily="49" charset="-122"/>
                  </a:rPr>
                  <a:t>无旋场</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143911" y="4596062"/>
                <a:ext cx="8856177" cy="1860683"/>
              </a:xfrm>
              <a:prstGeom prst="rect">
                <a:avLst/>
              </a:prstGeom>
              <a:blipFill rotWithShape="1">
                <a:blip r:embed="rId2"/>
                <a:stretch>
                  <a:fillRect l="-5" t="-30" r="3" b="3"/>
                </a:stretch>
              </a:blipFill>
            </p:spPr>
            <p:txBody>
              <a:bodyPr/>
              <a:lstStyle/>
              <a:p>
                <a:r>
                  <a:rPr lang="zh-CN" altLang="en-US">
                    <a:noFill/>
                  </a:rPr>
                  <a:t> </a:t>
                </a:r>
              </a:p>
            </p:txBody>
          </p:sp>
        </mc:Fallback>
      </mc:AlternateContent>
      <p:grpSp>
        <p:nvGrpSpPr>
          <p:cNvPr id="8" name="组合 7"/>
          <p:cNvGrpSpPr/>
          <p:nvPr/>
        </p:nvGrpSpPr>
        <p:grpSpPr>
          <a:xfrm>
            <a:off x="0" y="82323"/>
            <a:ext cx="9088711" cy="516645"/>
            <a:chOff x="0" y="82323"/>
            <a:chExt cx="9088711" cy="516645"/>
          </a:xfrm>
        </p:grpSpPr>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txBox="1"/>
              <p:nvPr/>
            </p:nvSpPr>
            <p:spPr>
              <a:xfrm>
                <a:off x="176192" y="423511"/>
                <a:ext cx="8796156" cy="3341370"/>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在区域</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𝐷</m:t>
                    </m:r>
                  </m:oMath>
                </a14:m>
                <a:r>
                  <a:rPr lang="zh-CN" altLang="en-US" sz="3000" dirty="0">
                    <a:latin typeface="楷体" panose="02010609060101010101" pitchFamily="49" charset="-122"/>
                    <a:ea typeface="楷体" panose="02010609060101010101" pitchFamily="49" charset="-122"/>
                  </a:rPr>
                  <a:t>内既是无源场又是无旋场，则</a:t>
                </a:r>
                <a14:m>
                  <m:oMath xmlns:m="http://schemas.openxmlformats.org/officeDocument/2006/math">
                    <m:f>
                      <m:fPr>
                        <m:ctrlPr>
                          <a:rPr lang="en-US" altLang="zh-CN" sz="3000" i="1" smtClean="0">
                            <a:solidFill>
                              <a:schemeClr val="tx1"/>
                            </a:solidFill>
                            <a:latin typeface="Cambria Math" panose="02040503050406030204" pitchFamily="18" charset="0"/>
                            <a:ea typeface="楷体" panose="02010609060101010101" pitchFamily="49" charset="-122"/>
                          </a:rPr>
                        </m:ctrlPr>
                      </m:fPr>
                      <m:num>
                        <m:r>
                          <a:rPr lang="en-US" altLang="zh-CN" sz="3000" i="1">
                            <a:solidFill>
                              <a:schemeClr val="tx1"/>
                            </a:solidFill>
                            <a:latin typeface="Cambria Math" panose="02040503050406030204" pitchFamily="18" charset="0"/>
                            <a:ea typeface="楷体" panose="02010609060101010101" pitchFamily="49" charset="-122"/>
                          </a:rPr>
                          <m:t>𝜕</m:t>
                        </m:r>
                        <m:r>
                          <a:rPr lang="en-US" altLang="zh-CN" sz="3000" i="1">
                            <a:solidFill>
                              <a:schemeClr val="tx1"/>
                            </a:solidFill>
                            <a:latin typeface="Cambria Math" panose="02040503050406030204" pitchFamily="18" charset="0"/>
                            <a:ea typeface="楷体" panose="02010609060101010101" pitchFamily="49" charset="-122"/>
                          </a:rPr>
                          <m:t>𝑢</m:t>
                        </m:r>
                      </m:num>
                      <m:den>
                        <m:r>
                          <a:rPr lang="en-US" altLang="zh-CN" sz="3000" i="1">
                            <a:solidFill>
                              <a:schemeClr val="tx1"/>
                            </a:solidFill>
                            <a:latin typeface="Cambria Math" panose="02040503050406030204" pitchFamily="18" charset="0"/>
                            <a:ea typeface="楷体" panose="02010609060101010101" pitchFamily="49" charset="-122"/>
                          </a:rPr>
                          <m:t>𝜕</m:t>
                        </m:r>
                        <m:r>
                          <a:rPr lang="en-US" altLang="zh-CN" sz="3000" i="1">
                            <a:solidFill>
                              <a:schemeClr val="tx1"/>
                            </a:solidFill>
                            <a:latin typeface="Cambria Math" panose="02040503050406030204" pitchFamily="18" charset="0"/>
                            <a:ea typeface="楷体" panose="02010609060101010101" pitchFamily="49" charset="-122"/>
                          </a:rPr>
                          <m:t>𝑥</m:t>
                        </m:r>
                      </m:den>
                    </m:f>
                  </m:oMath>
                </a14:m>
                <a:r>
                  <a:rPr lang="en-US" altLang="zh-CN" sz="3000" i="1" dirty="0">
                    <a:solidFill>
                      <a:schemeClr val="tx1"/>
                    </a:solidFill>
                    <a:latin typeface="Cambria Math" panose="02040503050406030204" pitchFamily="18" charset="0"/>
                    <a:ea typeface="楷体" panose="02010609060101010101" pitchFamily="49" charset="-122"/>
                  </a:rPr>
                  <a:t> </a:t>
                </a:r>
                <a:endParaRPr lang="en-US" altLang="zh-CN" sz="3000" i="1" dirty="0">
                  <a:solidFill>
                    <a:schemeClr val="tx1"/>
                  </a:solidFill>
                  <a:latin typeface="Cambria Math" panose="02040503050406030204" pitchFamily="18" charset="0"/>
                  <a:ea typeface="楷体" panose="02010609060101010101" pitchFamily="49" charset="-122"/>
                </a:endParaRPr>
              </a:p>
              <a:p>
                <a:pPr fontAlgn="auto">
                  <a:lnSpc>
                    <a:spcPct val="110000"/>
                  </a:lnSpc>
                </a:pPr>
                <a14:m>
                  <m:oMath xmlns:m="http://schemas.openxmlformats.org/officeDocument/2006/math">
                    <m:r>
                      <a:rPr lang="en-US" altLang="zh-CN" sz="3000" b="0" i="1" smtClean="0">
                        <a:solidFill>
                          <a:schemeClr val="tx1"/>
                        </a:solidFill>
                        <a:latin typeface="Cambria Math" panose="02040503050406030204" pitchFamily="18" charset="0"/>
                        <a:ea typeface="楷体" panose="02010609060101010101" pitchFamily="49" charset="-122"/>
                      </a:rPr>
                      <m:t>=−</m:t>
                    </m:r>
                    <m:f>
                      <m:fPr>
                        <m:ctrlPr>
                          <a:rPr lang="en-US" altLang="zh-CN" sz="3000" i="1">
                            <a:solidFill>
                              <a:schemeClr val="tx1"/>
                            </a:solidFill>
                            <a:latin typeface="Cambria Math" panose="02040503050406030204" pitchFamily="18" charset="0"/>
                            <a:ea typeface="楷体" panose="02010609060101010101" pitchFamily="49" charset="-122"/>
                          </a:rPr>
                        </m:ctrlPr>
                      </m:fPr>
                      <m:num>
                        <m:r>
                          <a:rPr lang="en-US" altLang="zh-CN" sz="3000" i="1">
                            <a:solidFill>
                              <a:schemeClr val="tx1"/>
                            </a:solidFill>
                            <a:latin typeface="Cambria Math" panose="02040503050406030204" pitchFamily="18" charset="0"/>
                            <a:ea typeface="楷体" panose="02010609060101010101" pitchFamily="49" charset="-122"/>
                          </a:rPr>
                          <m:t>𝜕</m:t>
                        </m:r>
                        <m:r>
                          <a:rPr lang="en-US" altLang="zh-CN" sz="3000" i="1">
                            <a:solidFill>
                              <a:schemeClr val="tx1"/>
                            </a:solidFill>
                            <a:latin typeface="Cambria Math" panose="02040503050406030204" pitchFamily="18" charset="0"/>
                            <a:ea typeface="楷体" panose="02010609060101010101" pitchFamily="49" charset="-122"/>
                          </a:rPr>
                          <m:t>𝑣</m:t>
                        </m:r>
                      </m:num>
                      <m:den>
                        <m:r>
                          <a:rPr lang="en-US" altLang="zh-CN" sz="3000" i="1">
                            <a:solidFill>
                              <a:schemeClr val="tx1"/>
                            </a:solidFill>
                            <a:latin typeface="Cambria Math" panose="02040503050406030204" pitchFamily="18" charset="0"/>
                            <a:ea typeface="楷体" panose="02010609060101010101" pitchFamily="49" charset="-122"/>
                          </a:rPr>
                          <m:t>𝜕</m:t>
                        </m:r>
                        <m:r>
                          <a:rPr lang="en-US" altLang="zh-CN" sz="3000" i="1">
                            <a:solidFill>
                              <a:schemeClr val="tx1"/>
                            </a:solidFill>
                            <a:latin typeface="Cambria Math" panose="02040503050406030204" pitchFamily="18" charset="0"/>
                            <a:ea typeface="楷体" panose="02010609060101010101" pitchFamily="49" charset="-122"/>
                          </a:rPr>
                          <m:t>𝑦</m:t>
                        </m:r>
                      </m:den>
                    </m:f>
                  </m:oMath>
                </a14:m>
                <a:r>
                  <a:rPr lang="en-US" altLang="zh-CN" sz="3000" dirty="0">
                    <a:latin typeface="楷体" panose="02010609060101010101" pitchFamily="49" charset="-122"/>
                    <a:ea typeface="楷体" panose="02010609060101010101" pitchFamily="49" charset="-122"/>
                  </a:rPr>
                  <a:t>,</a:t>
                </a:r>
                <a:r>
                  <a:rPr lang="en-US" altLang="zh-CN" sz="3000" dirty="0">
                    <a:solidFill>
                      <a:srgbClr val="FF0000"/>
                    </a:solidFill>
                    <a:ea typeface="楷体" panose="02010609060101010101" pitchFamily="49" charset="-122"/>
                  </a:rPr>
                  <a:t> </a:t>
                </a:r>
                <a14:m>
                  <m:oMath xmlns:m="http://schemas.openxmlformats.org/officeDocument/2006/math">
                    <m:f>
                      <m:fPr>
                        <m:ctrlPr>
                          <a:rPr lang="en-US" altLang="zh-CN" sz="3000" i="1">
                            <a:solidFill>
                              <a:schemeClr val="tx1"/>
                            </a:solidFill>
                            <a:latin typeface="Cambria Math" panose="02040503050406030204" pitchFamily="18" charset="0"/>
                            <a:ea typeface="楷体" panose="02010609060101010101" pitchFamily="49" charset="-122"/>
                          </a:rPr>
                        </m:ctrlPr>
                      </m:fPr>
                      <m:num>
                        <m:r>
                          <a:rPr lang="en-US" altLang="zh-CN" sz="3000" i="1">
                            <a:solidFill>
                              <a:schemeClr val="tx1"/>
                            </a:solidFill>
                            <a:latin typeface="Cambria Math" panose="02040503050406030204" pitchFamily="18" charset="0"/>
                            <a:ea typeface="楷体" panose="02010609060101010101" pitchFamily="49" charset="-122"/>
                          </a:rPr>
                          <m:t>𝜕</m:t>
                        </m:r>
                        <m:r>
                          <a:rPr lang="en-US" altLang="zh-CN" sz="3000" i="1">
                            <a:solidFill>
                              <a:schemeClr val="tx1"/>
                            </a:solidFill>
                            <a:latin typeface="Cambria Math" panose="02040503050406030204" pitchFamily="18" charset="0"/>
                            <a:ea typeface="楷体" panose="02010609060101010101" pitchFamily="49" charset="-122"/>
                          </a:rPr>
                          <m:t>𝑢</m:t>
                        </m:r>
                      </m:num>
                      <m:den>
                        <m:r>
                          <a:rPr lang="en-US" altLang="zh-CN" sz="3000" i="1">
                            <a:solidFill>
                              <a:schemeClr val="tx1"/>
                            </a:solidFill>
                            <a:latin typeface="Cambria Math" panose="02040503050406030204" pitchFamily="18" charset="0"/>
                            <a:ea typeface="楷体" panose="02010609060101010101" pitchFamily="49" charset="-122"/>
                          </a:rPr>
                          <m:t>𝜕</m:t>
                        </m:r>
                        <m:r>
                          <a:rPr lang="en-US" altLang="zh-CN" sz="3000" i="1">
                            <a:solidFill>
                              <a:schemeClr val="tx1"/>
                            </a:solidFill>
                            <a:latin typeface="Cambria Math" panose="02040503050406030204" pitchFamily="18" charset="0"/>
                            <a:ea typeface="楷体" panose="02010609060101010101" pitchFamily="49" charset="-122"/>
                          </a:rPr>
                          <m:t>𝑦</m:t>
                        </m:r>
                      </m:den>
                    </m:f>
                    <m:r>
                      <a:rPr lang="en-US" altLang="zh-CN" sz="3000" b="0" i="1" smtClean="0">
                        <a:solidFill>
                          <a:schemeClr val="tx1"/>
                        </a:solidFill>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𝑣</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den>
                    </m:f>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由</a:t>
                </a:r>
                <a14:m>
                  <m:oMath xmlns:m="http://schemas.openxmlformats.org/officeDocument/2006/math">
                    <m:r>
                      <a:rPr lang="en-US" altLang="zh-CN" sz="3000" i="1">
                        <a:latin typeface="Cambria Math" panose="02040503050406030204" pitchFamily="18" charset="0"/>
                        <a:ea typeface="楷体" panose="02010609060101010101" pitchFamily="49" charset="-122"/>
                      </a:rPr>
                      <m:t>𝑢</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具有一阶连续偏导得可微，所以</a:t>
                </a:r>
                <a14:m>
                  <m:oMath xmlns:m="http://schemas.openxmlformats.org/officeDocument/2006/math">
                    <m:acc>
                      <m:accPr>
                        <m:chr m:val="̅"/>
                        <m:ctrlPr>
                          <a:rPr lang="zh-CN" altLang="en-US" sz="300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e>
                    </m:ac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zh-CN" altLang="en-US" sz="3000" dirty="0">
                    <a:latin typeface="楷体" panose="02010609060101010101" pitchFamily="49" charset="-122"/>
                    <a:ea typeface="楷体" panose="02010609060101010101" pitchFamily="49" charset="-122"/>
                  </a:rPr>
                  <a:t>在区域</a:t>
                </a:r>
                <a14:m>
                  <m:oMath xmlns:m="http://schemas.openxmlformats.org/officeDocument/2006/math">
                    <m:r>
                      <a:rPr lang="en-US" altLang="zh-CN" sz="3000" i="1">
                        <a:latin typeface="Cambria Math" panose="02040503050406030204" pitchFamily="18" charset="0"/>
                        <a:ea typeface="楷体" panose="02010609060101010101" pitchFamily="49" charset="-122"/>
                      </a:rPr>
                      <m:t>𝐷</m:t>
                    </m:r>
                  </m:oMath>
                </a14:m>
                <a:r>
                  <a:rPr lang="zh-CN" altLang="en-US" sz="3000" dirty="0">
                    <a:latin typeface="楷体" panose="02010609060101010101" pitchFamily="49" charset="-122"/>
                    <a:ea typeface="楷体" panose="02010609060101010101" pitchFamily="49" charset="-122"/>
                  </a:rPr>
                  <a:t>内解析，从而知</a:t>
                </a:r>
                <a14:m>
                  <m:oMath xmlns:m="http://schemas.openxmlformats.org/officeDocument/2006/math">
                    <m:acc>
                      <m:accPr>
                        <m:chr m:val="̅"/>
                        <m:ctrlPr>
                          <a:rPr lang="zh-CN" altLang="en-US"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e>
                    </m:acc>
                  </m:oMath>
                </a14:m>
                <a:r>
                  <a:rPr lang="zh-CN" altLang="en-US" sz="3000" dirty="0">
                    <a:latin typeface="楷体" panose="02010609060101010101" pitchFamily="49" charset="-122"/>
                    <a:ea typeface="楷体" panose="02010609060101010101" pitchFamily="49" charset="-122"/>
                  </a:rPr>
                  <a:t>在</a:t>
                </a:r>
                <a14:m>
                  <m:oMath xmlns:m="http://schemas.openxmlformats.org/officeDocument/2006/math">
                    <m:r>
                      <a:rPr lang="en-US" altLang="zh-CN" sz="3000" i="1">
                        <a:latin typeface="Cambria Math" panose="02040503050406030204" pitchFamily="18" charset="0"/>
                        <a:ea typeface="楷体" panose="02010609060101010101" pitchFamily="49" charset="-122"/>
                      </a:rPr>
                      <m:t>𝐷</m:t>
                    </m:r>
                  </m:oMath>
                </a14:m>
                <a:r>
                  <a:rPr lang="zh-CN" altLang="en-US" sz="3000" dirty="0">
                    <a:latin typeface="楷体" panose="02010609060101010101" pitchFamily="49" charset="-122"/>
                    <a:ea typeface="楷体" panose="02010609060101010101" pitchFamily="49" charset="-122"/>
                  </a:rPr>
                  <a:t>内有原函数，即</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𝐹</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zh-CN" altLang="en-US" sz="3000" b="0" i="1" smtClean="0">
                        <a:latin typeface="Cambria Math" panose="02040503050406030204" pitchFamily="18" charset="0"/>
                        <a:ea typeface="楷体" panose="02010609060101010101" pitchFamily="49" charset="-122"/>
                      </a:rPr>
                      <m:t>𝜑</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r>
                      <a:rPr lang="zh-CN" altLang="en-US" sz="3000" b="0" i="1" smtClean="0">
                        <a:latin typeface="Cambria Math" panose="02040503050406030204" pitchFamily="18" charset="0"/>
                        <a:ea typeface="楷体" panose="02010609060101010101" pitchFamily="49" charset="-122"/>
                      </a:rPr>
                      <m:t>𝜓</m:t>
                    </m:r>
                    <m:r>
                      <a:rPr lang="en-US" altLang="zh-CN" sz="3000" b="0" i="1" smtClean="0">
                        <a:latin typeface="Cambria Math" panose="02040503050406030204" pitchFamily="18" charset="0"/>
                        <a:ea typeface="楷体" panose="02010609060101010101" pitchFamily="49" charset="-122"/>
                      </a:rPr>
                      <m:t>=</m:t>
                    </m:r>
                    <m:nary>
                      <m:naryPr>
                        <m:limLoc m:val="undOvr"/>
                        <m:subHide m:val="on"/>
                        <m:supHide m:val="on"/>
                        <m:ctrlPr>
                          <a:rPr lang="en-US" altLang="zh-CN" sz="3000" b="0" i="1" smtClean="0">
                            <a:latin typeface="Cambria Math" panose="02040503050406030204" pitchFamily="18" charset="0"/>
                            <a:ea typeface="楷体" panose="02010609060101010101" pitchFamily="49" charset="-122"/>
                          </a:rPr>
                        </m:ctrlPr>
                      </m:naryPr>
                      <m:sub/>
                      <m:sup/>
                      <m:e>
                        <m:acc>
                          <m:accPr>
                            <m:chr m:val="̅"/>
                            <m:ctrlPr>
                              <a:rPr lang="zh-CN" altLang="en-US"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e>
                        </m:acc>
                      </m:e>
                    </m:nary>
                    <m:r>
                      <a:rPr lang="en-US" altLang="zh-CN" sz="3000" b="0" i="1" smtClean="0">
                        <a:latin typeface="Cambria Math" panose="02040503050406030204" pitchFamily="18" charset="0"/>
                        <a:ea typeface="楷体" panose="02010609060101010101" pitchFamily="49" charset="-122"/>
                      </a:rPr>
                      <m:t>𝑑𝑧</m:t>
                    </m:r>
                  </m:oMath>
                </a14:m>
                <a:r>
                  <a:rPr lang="zh-CN" altLang="en-US" sz="3000" dirty="0">
                    <a:latin typeface="楷体" panose="02010609060101010101" pitchFamily="49" charset="-122"/>
                    <a:ea typeface="楷体" panose="02010609060101010101" pitchFamily="49" charset="-122"/>
                  </a:rPr>
                  <a:t>或</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𝑓</m:t>
                    </m:r>
                    <m:d>
                      <m:dPr>
                        <m:ctrlPr>
                          <a:rPr lang="en-US" altLang="zh-CN" sz="3000" b="0" i="1" dirty="0" smtClean="0">
                            <a:latin typeface="Cambria Math" panose="02040503050406030204" pitchFamily="18" charset="0"/>
                            <a:ea typeface="楷体" panose="02010609060101010101" pitchFamily="49" charset="-122"/>
                          </a:rPr>
                        </m:ctrlPr>
                      </m:dPr>
                      <m:e>
                        <m:r>
                          <a:rPr lang="en-US" altLang="zh-CN" sz="3000" b="0" i="1" dirty="0" smtClean="0">
                            <a:latin typeface="Cambria Math" panose="02040503050406030204" pitchFamily="18" charset="0"/>
                            <a:ea typeface="楷体" panose="02010609060101010101" pitchFamily="49" charset="-122"/>
                          </a:rPr>
                          <m:t>𝑧</m:t>
                        </m:r>
                      </m:e>
                    </m:d>
                    <m:r>
                      <a:rPr lang="en-US" altLang="zh-CN" sz="3000" b="0" i="1" dirty="0" smtClean="0">
                        <a:latin typeface="Cambria Math" panose="02040503050406030204" pitchFamily="18" charset="0"/>
                        <a:ea typeface="楷体" panose="02010609060101010101" pitchFamily="49" charset="-122"/>
                      </a:rPr>
                      <m:t>=</m:t>
                    </m:r>
                    <m:acc>
                      <m:accPr>
                        <m:chr m:val="̅"/>
                        <m:ctrlPr>
                          <a:rPr lang="en-US" altLang="zh-CN" sz="3000" b="0" i="1" dirty="0" smtClean="0">
                            <a:latin typeface="Cambria Math" panose="02040503050406030204" pitchFamily="18" charset="0"/>
                            <a:ea typeface="楷体" panose="02010609060101010101" pitchFamily="49" charset="-122"/>
                          </a:rPr>
                        </m:ctrlPr>
                      </m:accPr>
                      <m:e>
                        <m:sSup>
                          <m:sSupPr>
                            <m:ctrlPr>
                              <a:rPr lang="en-US" altLang="zh-CN" sz="3000" b="0" i="1" dirty="0" smtClean="0">
                                <a:latin typeface="Cambria Math" panose="02040503050406030204" pitchFamily="18" charset="0"/>
                                <a:ea typeface="楷体" panose="02010609060101010101" pitchFamily="49" charset="-122"/>
                              </a:rPr>
                            </m:ctrlPr>
                          </m:sSupPr>
                          <m:e>
                            <m:r>
                              <a:rPr lang="en-US" altLang="zh-CN" sz="3000" b="0" i="1" dirty="0" smtClean="0">
                                <a:latin typeface="Cambria Math" panose="02040503050406030204" pitchFamily="18" charset="0"/>
                                <a:ea typeface="楷体" panose="02010609060101010101" pitchFamily="49" charset="-122"/>
                              </a:rPr>
                              <m:t>𝐹</m:t>
                            </m:r>
                          </m:e>
                          <m:sup>
                            <m:r>
                              <a:rPr lang="en-US" altLang="zh-CN" sz="3000" b="0" i="1" dirty="0" smtClean="0">
                                <a:latin typeface="Cambria Math" panose="02040503050406030204" pitchFamily="18" charset="0"/>
                                <a:ea typeface="楷体" panose="02010609060101010101" pitchFamily="49" charset="-122"/>
                              </a:rPr>
                              <m:t>′</m:t>
                            </m:r>
                          </m:sup>
                        </m:sSup>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𝑧</m:t>
                        </m:r>
                        <m:r>
                          <a:rPr lang="en-US" altLang="zh-CN" sz="3000" b="0" i="1" dirty="0" smtClean="0">
                            <a:latin typeface="Cambria Math" panose="02040503050406030204" pitchFamily="18" charset="0"/>
                            <a:ea typeface="楷体" panose="02010609060101010101" pitchFamily="49" charset="-122"/>
                          </a:rPr>
                          <m:t>)</m:t>
                        </m:r>
                      </m:e>
                    </m:acc>
                  </m:oMath>
                </a14:m>
                <a:r>
                  <a:rPr lang="zh-CN" altLang="en-US" sz="3000" dirty="0">
                    <a:latin typeface="楷体" panose="02010609060101010101" pitchFamily="49" charset="-122"/>
                    <a:ea typeface="楷体" panose="02010609060101010101" pitchFamily="49" charset="-122"/>
                  </a:rPr>
                  <a:t>，其中</a:t>
                </a:r>
                <a14:m>
                  <m:oMath xmlns:m="http://schemas.openxmlformats.org/officeDocument/2006/math">
                    <m:r>
                      <a:rPr lang="zh-CN" altLang="en-US" sz="3000" i="1">
                        <a:latin typeface="Cambria Math" panose="02040503050406030204" pitchFamily="18" charset="0"/>
                        <a:ea typeface="楷体" panose="02010609060101010101" pitchFamily="49" charset="-122"/>
                      </a:rPr>
                      <m:t>𝜑</m:t>
                    </m:r>
                    <m:r>
                      <a:rPr lang="en-US" altLang="zh-CN" sz="300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𝑅𝑒</m:t>
                    </m:r>
                    <m:nary>
                      <m:naryPr>
                        <m:limLoc m:val="undOvr"/>
                        <m:subHide m:val="on"/>
                        <m:supHide m:val="on"/>
                        <m:ctrlPr>
                          <a:rPr lang="en-US" altLang="zh-CN" sz="3000" i="1">
                            <a:latin typeface="Cambria Math" panose="02040503050406030204" pitchFamily="18" charset="0"/>
                            <a:ea typeface="楷体" panose="02010609060101010101" pitchFamily="49" charset="-122"/>
                          </a:rPr>
                        </m:ctrlPr>
                      </m:naryPr>
                      <m:sub/>
                      <m:sup/>
                      <m:e>
                        <m:acc>
                          <m:accPr>
                            <m:chr m:val="̅"/>
                            <m:ctrlPr>
                              <a:rPr lang="zh-CN" altLang="en-US"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e>
                        </m:acc>
                      </m:e>
                    </m:nary>
                    <m:r>
                      <a:rPr lang="en-US" altLang="zh-CN" sz="3000" i="1">
                        <a:latin typeface="Cambria Math" panose="02040503050406030204" pitchFamily="18" charset="0"/>
                        <a:ea typeface="楷体" panose="02010609060101010101" pitchFamily="49" charset="-122"/>
                      </a:rPr>
                      <m:t>𝑑𝑧</m:t>
                    </m:r>
                    <m:r>
                      <a:rPr lang="en-US" altLang="zh-CN" sz="3000" b="0" i="1" smtClean="0">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𝜓</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𝐼𝑚</m:t>
                    </m:r>
                  </m:oMath>
                </a14:m>
                <a:r>
                  <a:rPr lang="en-US" altLang="zh-CN" sz="3000" dirty="0">
                    <a:ea typeface="楷体" panose="02010609060101010101" pitchFamily="49" charset="-122"/>
                  </a:rPr>
                  <a:t> </a:t>
                </a:r>
                <a14:m>
                  <m:oMath xmlns:m="http://schemas.openxmlformats.org/officeDocument/2006/math">
                    <m:nary>
                      <m:naryPr>
                        <m:limLoc m:val="undOvr"/>
                        <m:subHide m:val="on"/>
                        <m:supHide m:val="on"/>
                        <m:ctrlPr>
                          <a:rPr lang="en-US" altLang="zh-CN" sz="3000" i="1">
                            <a:latin typeface="Cambria Math" panose="02040503050406030204" pitchFamily="18" charset="0"/>
                            <a:ea typeface="楷体" panose="02010609060101010101" pitchFamily="49" charset="-122"/>
                          </a:rPr>
                        </m:ctrlPr>
                      </m:naryPr>
                      <m:sub/>
                      <m:sup/>
                      <m:e>
                        <m:acc>
                          <m:accPr>
                            <m:chr m:val="̅"/>
                            <m:ctrlPr>
                              <a:rPr lang="zh-CN" altLang="en-US" sz="3000" i="1">
                                <a:latin typeface="Cambria Math" panose="02040503050406030204" pitchFamily="18" charset="0"/>
                                <a:ea typeface="楷体" panose="02010609060101010101" pitchFamily="49" charset="-122"/>
                              </a:rPr>
                            </m:ctrlPr>
                          </m:accPr>
                          <m:e>
                            <m:r>
                              <a:rPr lang="en-US" altLang="zh-CN" sz="3000" i="1">
                                <a:latin typeface="Cambria Math" panose="02040503050406030204" pitchFamily="18" charset="0"/>
                                <a:ea typeface="楷体" panose="02010609060101010101" pitchFamily="49" charset="-122"/>
                              </a:rPr>
                              <m:t>𝑓</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𝑧</m:t>
                            </m:r>
                            <m:r>
                              <a:rPr lang="en-US" altLang="zh-CN" sz="3000" i="1">
                                <a:latin typeface="Cambria Math" panose="02040503050406030204" pitchFamily="18" charset="0"/>
                                <a:ea typeface="楷体" panose="02010609060101010101" pitchFamily="49" charset="-122"/>
                              </a:rPr>
                              <m:t>)</m:t>
                            </m:r>
                          </m:e>
                        </m:acc>
                      </m:e>
                    </m:nary>
                    <m:r>
                      <a:rPr lang="en-US" altLang="zh-CN" sz="3000" i="1">
                        <a:latin typeface="Cambria Math" panose="02040503050406030204" pitchFamily="18" charset="0"/>
                        <a:ea typeface="楷体" panose="02010609060101010101" pitchFamily="49" charset="-122"/>
                      </a:rPr>
                      <m:t>𝑑𝑧</m:t>
                    </m:r>
                  </m:oMath>
                </a14:m>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176192" y="423511"/>
                <a:ext cx="8796156" cy="3341370"/>
              </a:xfrm>
              <a:prstGeom prst="rect">
                <a:avLst/>
              </a:prstGeom>
              <a:blipFill rotWithShape="1">
                <a:blip r:embed="rId1"/>
                <a:stretch>
                  <a:fillRect l="-3" t="-18" r="5"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116171" y="3764881"/>
                <a:ext cx="8856177" cy="12272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场论中</a:t>
                </a:r>
                <a:r>
                  <a:rPr lang="en-US" altLang="zh-CN" sz="3000" dirty="0">
                    <a:latin typeface="楷体" panose="02010609060101010101" pitchFamily="49" charset="-122"/>
                    <a:ea typeface="楷体" panose="02010609060101010101" pitchFamily="49" charset="-122"/>
                  </a:rPr>
                  <a:t>,</a:t>
                </a:r>
                <a14:m>
                  <m:oMath xmlns:m="http://schemas.openxmlformats.org/officeDocument/2006/math">
                    <m:r>
                      <a:rPr lang="zh-CN" altLang="en-US" sz="3000" i="1">
                        <a:latin typeface="Cambria Math" panose="02040503050406030204" pitchFamily="18" charset="0"/>
                        <a:ea typeface="楷体" panose="02010609060101010101" pitchFamily="49" charset="-122"/>
                      </a:rPr>
                      <m:t>𝜑</m:t>
                    </m:r>
                  </m:oMath>
                </a14:m>
                <a:r>
                  <a:rPr lang="zh-CN" altLang="en-US" sz="3000" dirty="0">
                    <a:latin typeface="楷体" panose="02010609060101010101" pitchFamily="49" charset="-122"/>
                    <a:ea typeface="楷体" panose="02010609060101010101" pitchFamily="49" charset="-122"/>
                  </a:rPr>
                  <a:t>称为向量场</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zh-CN" altLang="en-US" sz="3000" i="1">
                        <a:latin typeface="Cambria Math" panose="02040503050406030204" pitchFamily="18" charset="0"/>
                        <a:ea typeface="楷体" panose="02010609060101010101" pitchFamily="49" charset="-122"/>
                      </a:rPr>
                      <m:t>的</m:t>
                    </m:r>
                  </m:oMath>
                </a14:m>
                <a:r>
                  <a:rPr lang="zh-CN" altLang="en-US" sz="3000" dirty="0">
                    <a:latin typeface="楷体" panose="02010609060101010101" pitchFamily="49" charset="-122"/>
                    <a:ea typeface="楷体" panose="02010609060101010101" pitchFamily="49" charset="-122"/>
                  </a:rPr>
                  <a:t>势函数</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等值线</a:t>
                </a:r>
                <a14:m>
                  <m:oMath xmlns:m="http://schemas.openxmlformats.org/officeDocument/2006/math">
                    <m:r>
                      <a:rPr lang="zh-CN" altLang="en-US" sz="3000" i="1">
                        <a:latin typeface="Cambria Math" panose="02040503050406030204" pitchFamily="18" charset="0"/>
                        <a:ea typeface="楷体" panose="02010609060101010101" pitchFamily="49" charset="-122"/>
                      </a:rPr>
                      <m:t>𝜑</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zh-CN" altLang="en-US" sz="3000" b="0" i="1" smtClean="0">
                            <a:latin typeface="Cambria Math" panose="02040503050406030204" pitchFamily="18" charset="0"/>
                            <a:ea typeface="楷体" panose="02010609060101010101" pitchFamily="49" charset="-122"/>
                          </a:rPr>
                          <m:t>𝜆</m:t>
                        </m:r>
                      </m:e>
                      <m:sub>
                        <m:r>
                          <a:rPr lang="en-US" altLang="zh-CN" sz="3000" b="0" i="1" smtClean="0">
                            <a:latin typeface="Cambria Math" panose="02040503050406030204" pitchFamily="18" charset="0"/>
                            <a:ea typeface="楷体" panose="02010609060101010101" pitchFamily="49" charset="-122"/>
                          </a:rPr>
                          <m:t>1</m:t>
                        </m:r>
                      </m:sub>
                    </m:sSub>
                  </m:oMath>
                </a14:m>
                <a:r>
                  <a:rPr lang="zh-CN" altLang="en-US" sz="3000" dirty="0">
                    <a:latin typeface="楷体" panose="02010609060101010101" pitchFamily="49" charset="-122"/>
                    <a:ea typeface="楷体" panose="02010609060101010101" pitchFamily="49" charset="-122"/>
                  </a:rPr>
                  <a:t>称为向量场</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的等势线</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116171" y="3764881"/>
                <a:ext cx="8856177" cy="1227222"/>
              </a:xfrm>
              <a:prstGeom prst="rect">
                <a:avLst/>
              </a:prstGeom>
              <a:blipFill rotWithShape="1">
                <a:blip r:embed="rId2"/>
                <a:stretch>
                  <a:fillRect l="-7" t="-49" r="5"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79942" y="4834887"/>
                <a:ext cx="8856177" cy="12272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ea typeface="楷体" panose="02010609060101010101" pitchFamily="49" charset="-122"/>
                  </a:rPr>
                  <a:t>            </a:t>
                </a:r>
                <a14:m>
                  <m:oMath xmlns:m="http://schemas.openxmlformats.org/officeDocument/2006/math">
                    <m:r>
                      <a:rPr lang="zh-CN" altLang="en-US" sz="3000" i="1">
                        <a:latin typeface="Cambria Math" panose="02040503050406030204" pitchFamily="18" charset="0"/>
                        <a:ea typeface="楷体" panose="02010609060101010101" pitchFamily="49" charset="-122"/>
                      </a:rPr>
                      <m:t>𝜓</m:t>
                    </m:r>
                  </m:oMath>
                </a14:m>
                <a:r>
                  <a:rPr lang="zh-CN" altLang="en-US" sz="3000" dirty="0">
                    <a:latin typeface="楷体" panose="02010609060101010101" pitchFamily="49" charset="-122"/>
                    <a:ea typeface="楷体" panose="02010609060101010101" pitchFamily="49" charset="-122"/>
                  </a:rPr>
                  <a:t>称为向量场</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的流函数</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等值线</a:t>
                </a:r>
                <a14:m>
                  <m:oMath xmlns:m="http://schemas.openxmlformats.org/officeDocument/2006/math">
                    <m:r>
                      <a:rPr lang="zh-CN" altLang="en-US" sz="3000" i="1">
                        <a:latin typeface="Cambria Math" panose="02040503050406030204" pitchFamily="18" charset="0"/>
                        <a:ea typeface="楷体" panose="02010609060101010101" pitchFamily="49" charset="-122"/>
                      </a:rPr>
                      <m:t>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e>
                    </m:d>
                    <m:r>
                      <a:rPr lang="en-US" altLang="zh-CN" sz="3000" b="0" i="1" smtClean="0">
                        <a:latin typeface="Cambria Math" panose="02040503050406030204" pitchFamily="18" charset="0"/>
                        <a:ea typeface="楷体" panose="02010609060101010101" pitchFamily="49" charset="-122"/>
                      </a:rPr>
                      <m:t>=</m:t>
                    </m:r>
                    <m:sSub>
                      <m:sSubPr>
                        <m:ctrlPr>
                          <a:rPr lang="en-US" altLang="zh-CN" sz="3000" b="0" i="1" smtClean="0">
                            <a:latin typeface="Cambria Math" panose="02040503050406030204" pitchFamily="18" charset="0"/>
                            <a:ea typeface="楷体" panose="02010609060101010101" pitchFamily="49" charset="-122"/>
                          </a:rPr>
                        </m:ctrlPr>
                      </m:sSubPr>
                      <m:e>
                        <m:r>
                          <a:rPr lang="zh-CN" altLang="en-US" sz="3000" b="0" i="1" smtClean="0">
                            <a:latin typeface="Cambria Math" panose="02040503050406030204" pitchFamily="18" charset="0"/>
                            <a:ea typeface="楷体" panose="02010609060101010101" pitchFamily="49" charset="-122"/>
                          </a:rPr>
                          <m:t>𝜆</m:t>
                        </m:r>
                      </m:e>
                      <m:sub>
                        <m:r>
                          <a:rPr lang="en-US" altLang="zh-CN" sz="3000" i="1">
                            <a:latin typeface="Cambria Math" panose="02040503050406030204" pitchFamily="18" charset="0"/>
                            <a:ea typeface="楷体" panose="02010609060101010101" pitchFamily="49" charset="-122"/>
                          </a:rPr>
                          <m:t>2</m:t>
                        </m:r>
                      </m:sub>
                    </m:sSub>
                  </m:oMath>
                </a14:m>
                <a:r>
                  <a:rPr lang="zh-CN" altLang="en-US" sz="3000" dirty="0">
                    <a:latin typeface="楷体" panose="02010609060101010101" pitchFamily="49" charset="-122"/>
                    <a:ea typeface="楷体" panose="02010609060101010101" pitchFamily="49" charset="-122"/>
                  </a:rPr>
                  <a:t>称为向量场</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的等流线</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79942" y="4834887"/>
                <a:ext cx="8856177" cy="1227222"/>
              </a:xfrm>
              <a:prstGeom prst="rect">
                <a:avLst/>
              </a:prstGeom>
              <a:blipFill rotWithShape="1">
                <a:blip r:embed="rId3"/>
                <a:stretch>
                  <a:fillRect l="-6" t="-51" r="5"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1352348" y="5879029"/>
                <a:ext cx="4745255" cy="651711"/>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𝐹</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称为向量场</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的复势</a:t>
                </a:r>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1352348" y="5879029"/>
                <a:ext cx="4745255" cy="651711"/>
              </a:xfrm>
              <a:prstGeom prst="rect">
                <a:avLst/>
              </a:prstGeom>
              <a:blipFill rotWithShape="1">
                <a:blip r:embed="rId4"/>
                <a:stretch>
                  <a:fillRect l="-9" t="-31" r="7" b="61"/>
                </a:stretch>
              </a:blipFill>
            </p:spPr>
            <p:txBody>
              <a:bodyPr/>
              <a:lstStyle/>
              <a:p>
                <a:r>
                  <a:rPr lang="zh-CN" altLang="en-US">
                    <a:noFill/>
                  </a:rPr>
                  <a:t> </a:t>
                </a:r>
              </a:p>
            </p:txBody>
          </p:sp>
        </mc:Fallback>
      </mc:AlternateContent>
      <p:grpSp>
        <p:nvGrpSpPr>
          <p:cNvPr id="9" name="组合 8"/>
          <p:cNvGrpSpPr/>
          <p:nvPr/>
        </p:nvGrpSpPr>
        <p:grpSpPr>
          <a:xfrm>
            <a:off x="0" y="82323"/>
            <a:ext cx="9088711" cy="516645"/>
            <a:chOff x="0" y="82323"/>
            <a:chExt cx="9088711" cy="516645"/>
          </a:xfrm>
        </p:grpSpPr>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txBox="1"/>
              <p:nvPr/>
            </p:nvSpPr>
            <p:spPr>
              <a:xfrm>
                <a:off x="89568" y="409074"/>
                <a:ext cx="8260350" cy="8085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𝐸𝑔</m:t>
                    </m:r>
                    <m:r>
                      <a:rPr lang="en-US" altLang="zh-CN" sz="3000" b="0" i="1" smtClean="0">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设平面场为</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𝑓</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acc>
                          <m:accPr>
                            <m:chr m:val="̅"/>
                            <m:ctrlPr>
                              <a:rPr lang="en-US" altLang="zh-CN" sz="3000" b="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𝑧</m:t>
                            </m:r>
                          </m:e>
                        </m:acc>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𝑅𝑒𝑧</m:t>
                    </m:r>
                    <m:r>
                      <a:rPr lang="en-US" altLang="zh-CN" sz="3000" b="0" i="1" smtClean="0">
                        <a:latin typeface="Cambria Math" panose="02040503050406030204" pitchFamily="18" charset="0"/>
                        <a:ea typeface="楷体" panose="02010609060101010101" pitchFamily="49" charset="-122"/>
                      </a:rPr>
                      <m:t>&gt;</m:t>
                    </m:r>
                    <m:r>
                      <a:rPr lang="en-US" altLang="zh-CN" sz="3000" b="0" i="1" smtClean="0">
                        <a:latin typeface="Cambria Math" panose="02040503050406030204" pitchFamily="18" charset="0"/>
                        <a:ea typeface="楷体" panose="02010609060101010101" pitchFamily="49" charset="-122"/>
                      </a:rPr>
                      <m:t>0</m:t>
                    </m:r>
                    <m:r>
                      <a:rPr lang="en-US" altLang="zh-CN" sz="3000" b="0" i="1" smtClean="0">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求</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的复势</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89568" y="409074"/>
                <a:ext cx="8260350" cy="808522"/>
              </a:xfrm>
              <a:prstGeom prst="rect">
                <a:avLst/>
              </a:prstGeom>
              <a:blipFill rotWithShape="1">
                <a:blip r:embed="rId1"/>
                <a:stretch>
                  <a:fillRect t="-17" r="4" b="3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标题 1"/>
              <p:cNvSpPr txBox="1"/>
              <p:nvPr/>
            </p:nvSpPr>
            <p:spPr>
              <a:xfrm>
                <a:off x="143911" y="1217596"/>
                <a:ext cx="6651525" cy="8085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解</a:t>
                </a:r>
                <a:r>
                  <a:rPr lang="en-US" altLang="zh-CN" sz="3000" dirty="0">
                    <a:latin typeface="楷体" panose="02010609060101010101" pitchFamily="49" charset="-122"/>
                    <a:ea typeface="楷体" panose="02010609060101010101" pitchFamily="49" charset="-122"/>
                  </a:rPr>
                  <a:t>:</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𝐹</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nary>
                      <m:naryPr>
                        <m:limLoc m:val="undOvr"/>
                        <m:subHide m:val="on"/>
                        <m:supHide m:val="on"/>
                        <m:ctrlPr>
                          <a:rPr lang="en-US" altLang="zh-CN" sz="3000" b="0" i="1" smtClean="0">
                            <a:latin typeface="Cambria Math" panose="02040503050406030204" pitchFamily="18" charset="0"/>
                            <a:ea typeface="楷体" panose="02010609060101010101" pitchFamily="49" charset="-122"/>
                          </a:rPr>
                        </m:ctrlPr>
                      </m:naryPr>
                      <m:sub/>
                      <m:sup/>
                      <m:e>
                        <m:acc>
                          <m:accPr>
                            <m:chr m:val="̅"/>
                            <m:ctrlPr>
                              <a:rPr lang="en-US" altLang="zh-CN" sz="3000" b="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acc>
                                  <m:accPr>
                                    <m:chr m:val="̅"/>
                                    <m:ctrlPr>
                                      <a:rPr lang="en-US" altLang="zh-CN" sz="3000" b="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𝑧</m:t>
                                    </m:r>
                                  </m:e>
                                </m:acc>
                              </m:den>
                            </m:f>
                            <m:r>
                              <a:rPr lang="en-US" altLang="zh-CN" sz="3000" b="0" i="1" smtClean="0">
                                <a:latin typeface="Cambria Math" panose="02040503050406030204" pitchFamily="18" charset="0"/>
                                <a:ea typeface="楷体" panose="02010609060101010101" pitchFamily="49" charset="-122"/>
                              </a:rPr>
                              <m:t>)</m:t>
                            </m:r>
                          </m:e>
                        </m:acc>
                      </m:e>
                    </m:nary>
                    <m:r>
                      <a:rPr lang="en-US" altLang="zh-CN" sz="3000" b="0" i="1" smtClean="0">
                        <a:latin typeface="Cambria Math" panose="02040503050406030204" pitchFamily="18" charset="0"/>
                        <a:ea typeface="楷体" panose="02010609060101010101" pitchFamily="49" charset="-122"/>
                      </a:rPr>
                      <m:t>𝑑𝑧</m:t>
                    </m:r>
                    <m:r>
                      <a:rPr lang="en-US" altLang="zh-CN" sz="3000" b="0" i="1" smtClean="0">
                        <a:latin typeface="Cambria Math" panose="02040503050406030204" pitchFamily="18" charset="0"/>
                        <a:ea typeface="楷体" panose="02010609060101010101" pitchFamily="49" charset="-122"/>
                      </a:rPr>
                      <m:t>=</m:t>
                    </m:r>
                    <m:nary>
                      <m:naryPr>
                        <m:limLoc m:val="undOvr"/>
                        <m:subHide m:val="on"/>
                        <m:supHide m:val="on"/>
                        <m:ctrlPr>
                          <a:rPr lang="en-US" altLang="zh-CN" sz="3000" b="0" i="1" smtClean="0">
                            <a:latin typeface="Cambria Math" panose="02040503050406030204" pitchFamily="18" charset="0"/>
                            <a:ea typeface="楷体" panose="02010609060101010101" pitchFamily="49" charset="-122"/>
                          </a:rPr>
                        </m:ctrlPr>
                      </m:naryPr>
                      <m:sub/>
                      <m:sup/>
                      <m:e>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𝑧</m:t>
                            </m:r>
                          </m:den>
                        </m:f>
                      </m:e>
                    </m:nary>
                    <m:r>
                      <a:rPr lang="en-US" altLang="zh-CN" sz="3000" b="0" i="1" smtClean="0">
                        <a:latin typeface="Cambria Math" panose="02040503050406030204" pitchFamily="18" charset="0"/>
                        <a:ea typeface="楷体" panose="02010609060101010101" pitchFamily="49" charset="-122"/>
                      </a:rPr>
                      <m:t>𝑑𝑧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𝑙𝑛𝑧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a14:m>
                <a:endParaRPr lang="zh-CN" altLang="en-US" sz="3000" dirty="0">
                  <a:latin typeface="楷体" panose="02010609060101010101" pitchFamily="49" charset="-122"/>
                  <a:ea typeface="楷体" panose="02010609060101010101" pitchFamily="49" charset="-122"/>
                </a:endParaRPr>
              </a:p>
            </p:txBody>
          </p:sp>
        </mc:Choice>
        <mc:Fallback>
          <p:sp>
            <p:nvSpPr>
              <p:cNvPr id="4" name="标题 1"/>
              <p:cNvSpPr txBox="1">
                <a:spLocks noRot="1" noChangeAspect="1" noMove="1" noResize="1" noEditPoints="1" noAdjustHandles="1" noChangeArrowheads="1" noChangeShapeType="1" noTextEdit="1"/>
              </p:cNvSpPr>
              <p:nvPr/>
            </p:nvSpPr>
            <p:spPr>
              <a:xfrm>
                <a:off x="143911" y="1217596"/>
                <a:ext cx="6651525" cy="808522"/>
              </a:xfrm>
              <a:prstGeom prst="rect">
                <a:avLst/>
              </a:prstGeom>
              <a:blipFill rotWithShape="1">
                <a:blip r:embed="rId2"/>
                <a:stretch>
                  <a:fillRect l="-6" t="-37" r="5"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89568" y="2884169"/>
                <a:ext cx="8856177" cy="12272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𝐹</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r>
                      <a:rPr lang="en-US" altLang="zh-CN" sz="3000" i="1">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𝜑</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r>
                      <a:rPr lang="zh-CN" altLang="en-US" sz="3000" i="1">
                        <a:latin typeface="Cambria Math" panose="02040503050406030204" pitchFamily="18" charset="0"/>
                        <a:ea typeface="楷体" panose="02010609060101010101" pitchFamily="49" charset="-122"/>
                      </a:rPr>
                      <m:t>𝜓</m:t>
                    </m:r>
                  </m:oMath>
                </a14:m>
                <a:r>
                  <a:rPr lang="zh-CN" altLang="en-US" sz="3000" dirty="0">
                    <a:latin typeface="楷体" panose="02010609060101010101" pitchFamily="49" charset="-122"/>
                    <a:ea typeface="楷体" panose="02010609060101010101" pitchFamily="49" charset="-122"/>
                  </a:rPr>
                  <a:t>在区域</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𝐷</m:t>
                    </m:r>
                  </m:oMath>
                </a14:m>
                <a:r>
                  <a:rPr lang="zh-CN" altLang="en-US" sz="3000" dirty="0">
                    <a:latin typeface="楷体" panose="02010609060101010101" pitchFamily="49" charset="-122"/>
                    <a:ea typeface="楷体" panose="02010609060101010101" pitchFamily="49" charset="-122"/>
                  </a:rPr>
                  <a:t>内解析</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则</a:t>
                </a:r>
                <a14:m>
                  <m:oMath xmlns:m="http://schemas.openxmlformats.org/officeDocument/2006/math">
                    <m:r>
                      <a:rPr lang="zh-CN" altLang="en-US" sz="3000" i="1">
                        <a:latin typeface="Cambria Math" panose="02040503050406030204" pitchFamily="18" charset="0"/>
                        <a:ea typeface="楷体" panose="02010609060101010101" pitchFamily="49" charset="-122"/>
                      </a:rPr>
                      <m:t>𝜑</m:t>
                    </m:r>
                    <m:r>
                      <a:rPr lang="en-US" altLang="zh-CN" sz="3000" b="0" i="1" smtClean="0">
                        <a:latin typeface="Cambria Math" panose="02040503050406030204" pitchFamily="18" charset="0"/>
                        <a:ea typeface="楷体" panose="02010609060101010101" pitchFamily="49" charset="-122"/>
                      </a:rPr>
                      <m:t>,</m:t>
                    </m:r>
                    <m:r>
                      <a:rPr lang="zh-CN" altLang="en-US" sz="3000" i="1">
                        <a:latin typeface="Cambria Math" panose="02040503050406030204" pitchFamily="18" charset="0"/>
                        <a:ea typeface="楷体" panose="02010609060101010101" pitchFamily="49" charset="-122"/>
                      </a:rPr>
                      <m:t>𝜓</m:t>
                    </m:r>
                  </m:oMath>
                </a14:m>
                <a:r>
                  <a:rPr lang="zh-CN" altLang="en-US" sz="3000" dirty="0">
                    <a:latin typeface="楷体" panose="02010609060101010101" pitchFamily="49" charset="-122"/>
                    <a:ea typeface="楷体" panose="02010609060101010101" pitchFamily="49" charset="-122"/>
                  </a:rPr>
                  <a:t>为一对共轭调和函数，此时称</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为</a:t>
                </a:r>
                <a:r>
                  <a:rPr lang="zh-CN" altLang="en-US" sz="3000" dirty="0">
                    <a:solidFill>
                      <a:srgbClr val="FF0000"/>
                    </a:solidFill>
                    <a:latin typeface="楷体" panose="02010609060101010101" pitchFamily="49" charset="-122"/>
                    <a:ea typeface="楷体" panose="02010609060101010101" pitchFamily="49" charset="-122"/>
                  </a:rPr>
                  <a:t>调和场</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89568" y="2884169"/>
                <a:ext cx="8856177" cy="1227222"/>
              </a:xfrm>
              <a:prstGeom prst="rect">
                <a:avLst/>
              </a:prstGeom>
              <a:blipFill rotWithShape="1">
                <a:blip r:embed="rId3"/>
                <a:stretch>
                  <a:fillRect t="-52" r="6"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0" y="4160920"/>
                <a:ext cx="8945745" cy="227356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复势在物理学中有重要作用</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通过复势可以确定场，通过场又可以确定复势</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表示不可压缩的流速场</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密度不随压力变化而改变的流体</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，通过复势可以确定场内势能</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流速</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若</a:t>
                </a:r>
                <a14:m>
                  <m:oMath xmlns:m="http://schemas.openxmlformats.org/officeDocument/2006/math">
                    <m:r>
                      <a:rPr lang="en-US" altLang="zh-CN" sz="3000" i="1">
                        <a:latin typeface="Cambria Math" panose="02040503050406030204" pitchFamily="18" charset="0"/>
                        <a:ea typeface="楷体" panose="02010609060101010101" pitchFamily="49" charset="-122"/>
                      </a:rPr>
                      <m:t>𝑓</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表示电场，通过复势可以确定场内的电势</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电力线</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0" y="4160920"/>
                <a:ext cx="8945745" cy="2273569"/>
              </a:xfrm>
              <a:prstGeom prst="rect">
                <a:avLst/>
              </a:prstGeom>
              <a:blipFill rotWithShape="1">
                <a:blip r:embed="rId4"/>
                <a:stretch>
                  <a:fillRect t="-5296" r="-1705" b="-53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542983" y="2026118"/>
                <a:ext cx="6651525" cy="8085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f>
                      <m:fPr>
                        <m:ctrlPr>
                          <a:rPr lang="en-US" altLang="zh-CN" sz="3000" b="0" i="1" smtClean="0">
                            <a:latin typeface="Cambria Math" panose="02040503050406030204" pitchFamily="18" charset="0"/>
                            <a:ea typeface="楷体" panose="02010609060101010101" pitchFamily="49" charset="-122"/>
                          </a:rPr>
                        </m:ctrlPr>
                      </m:fPr>
                      <m:num>
                        <m:r>
                          <a:rPr lang="en-US" altLang="zh-CN" sz="3000" b="0" i="1" smtClean="0">
                            <a:latin typeface="Cambria Math" panose="02040503050406030204" pitchFamily="18" charset="0"/>
                            <a:ea typeface="楷体" panose="02010609060101010101" pitchFamily="49" charset="-122"/>
                          </a:rPr>
                          <m:t>1</m:t>
                        </m:r>
                      </m:num>
                      <m:den>
                        <m:r>
                          <a:rPr lang="en-US" altLang="zh-CN" sz="3000" b="0" i="1" smtClean="0">
                            <a:latin typeface="Cambria Math" panose="02040503050406030204" pitchFamily="18" charset="0"/>
                            <a:ea typeface="楷体" panose="02010609060101010101" pitchFamily="49" charset="-122"/>
                          </a:rPr>
                          <m:t>2</m:t>
                        </m:r>
                      </m:den>
                    </m:f>
                    <m:func>
                      <m:funcPr>
                        <m:ctrlPr>
                          <a:rPr lang="en-US" altLang="zh-CN" sz="3000" b="0" i="1" smtClean="0">
                            <a:latin typeface="Cambria Math" panose="02040503050406030204" pitchFamily="18" charset="0"/>
                            <a:ea typeface="楷体" panose="02010609060101010101" pitchFamily="49" charset="-122"/>
                          </a:rPr>
                        </m:ctrlPr>
                      </m:funcPr>
                      <m:fName>
                        <m:r>
                          <m:rPr>
                            <m:sty m:val="p"/>
                          </m:rPr>
                          <a:rPr lang="en-US" altLang="zh-CN" sz="3000" b="0" i="0" smtClean="0">
                            <a:latin typeface="Cambria Math" panose="02040503050406030204" pitchFamily="18" charset="0"/>
                            <a:ea typeface="楷体" panose="02010609060101010101" pitchFamily="49" charset="-122"/>
                          </a:rPr>
                          <m:t>ln</m:t>
                        </m:r>
                      </m:fName>
                      <m:e>
                        <m:d>
                          <m:dPr>
                            <m:ctrlPr>
                              <a:rPr lang="en-US" altLang="zh-CN" sz="3000" b="0" i="1" smtClean="0">
                                <a:latin typeface="Cambria Math" panose="02040503050406030204" pitchFamily="18" charset="0"/>
                                <a:ea typeface="楷体" panose="02010609060101010101" pitchFamily="49" charset="-122"/>
                              </a:rPr>
                            </m:ctrlPr>
                          </m:dPr>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𝑥</m:t>
                                </m:r>
                              </m:e>
                              <m:sup>
                                <m:r>
                                  <a:rPr lang="en-US" altLang="zh-CN" sz="3000" b="0" i="1" smtClean="0">
                                    <a:latin typeface="Cambria Math" panose="02040503050406030204" pitchFamily="18" charset="0"/>
                                    <a:ea typeface="楷体" panose="02010609060101010101" pitchFamily="49" charset="-122"/>
                                  </a:rPr>
                                  <m:t>2</m:t>
                                </m:r>
                              </m:sup>
                            </m:sSup>
                            <m:r>
                              <a:rPr lang="en-US" altLang="zh-CN" sz="3000" b="0" i="1" smtClean="0">
                                <a:latin typeface="Cambria Math" panose="02040503050406030204" pitchFamily="18" charset="0"/>
                                <a:ea typeface="楷体" panose="02010609060101010101" pitchFamily="49" charset="-122"/>
                              </a:rPr>
                              <m:t>+</m:t>
                            </m:r>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𝑦</m:t>
                                </m:r>
                              </m:e>
                              <m:sup>
                                <m:r>
                                  <a:rPr lang="en-US" altLang="zh-CN" sz="3000" b="0" i="1" smtClean="0">
                                    <a:latin typeface="Cambria Math" panose="02040503050406030204" pitchFamily="18" charset="0"/>
                                    <a:ea typeface="楷体" panose="02010609060101010101" pitchFamily="49" charset="-122"/>
                                  </a:rPr>
                                  <m:t>2</m:t>
                                </m:r>
                              </m:sup>
                            </m:sSup>
                          </m:e>
                        </m:d>
                      </m:e>
                    </m:func>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𝑖𝑎𝑟𝑔𝑧</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𝐶</m:t>
                    </m:r>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542983" y="2026118"/>
                <a:ext cx="6651525" cy="808522"/>
              </a:xfrm>
              <a:prstGeom prst="rect">
                <a:avLst/>
              </a:prstGeom>
              <a:blipFill rotWithShape="1">
                <a:blip r:embed="rId5"/>
                <a:stretch>
                  <a:fillRect l="-9" t="-58" r="7"/>
                </a:stretch>
              </a:blipFill>
            </p:spPr>
            <p:txBody>
              <a:bodyPr/>
              <a:lstStyle/>
              <a:p>
                <a:r>
                  <a:rPr lang="zh-CN" altLang="en-US">
                    <a:noFill/>
                  </a:rPr>
                  <a:t> </a:t>
                </a:r>
              </a:p>
            </p:txBody>
          </p:sp>
        </mc:Fallback>
      </mc:AlternateContent>
      <p:grpSp>
        <p:nvGrpSpPr>
          <p:cNvPr id="10" name="组合 9"/>
          <p:cNvGrpSpPr/>
          <p:nvPr/>
        </p:nvGrpSpPr>
        <p:grpSpPr>
          <a:xfrm>
            <a:off x="0" y="82323"/>
            <a:ext cx="9088711" cy="516645"/>
            <a:chOff x="0" y="82323"/>
            <a:chExt cx="9088711" cy="516645"/>
          </a:xfrm>
        </p:grpSpPr>
        <p:sp>
          <p:nvSpPr>
            <p:cNvPr id="11"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2" name="直接连接符 11"/>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7" grpId="0"/>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99128" y="476450"/>
            <a:ext cx="8945744" cy="219455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下面以静电场为例</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在空间静电场中</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由于许多电场具有对称性</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或关于轴对称</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或关于平面对称</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故只要掌握静电场中某一平面上的性质</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即可得到整个电场的情况</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这种电场又称</a:t>
            </a:r>
            <a:r>
              <a:rPr lang="zh-CN" altLang="en-US" sz="3000" dirty="0">
                <a:solidFill>
                  <a:srgbClr val="FF0000"/>
                </a:solidFill>
                <a:latin typeface="楷体" panose="02010609060101010101" pitchFamily="49" charset="-122"/>
                <a:ea typeface="楷体" panose="02010609060101010101" pitchFamily="49" charset="-122"/>
              </a:rPr>
              <a:t>平面电场</a:t>
            </a:r>
            <a:r>
              <a:rPr lang="zh-CN" altLang="en-US" sz="3000" dirty="0">
                <a:latin typeface="楷体" panose="02010609060101010101" pitchFamily="49" charset="-122"/>
                <a:ea typeface="楷体" panose="02010609060101010101" pitchFamily="49" charset="-122"/>
              </a:rPr>
              <a:t>或</a:t>
            </a:r>
            <a:r>
              <a:rPr lang="zh-CN" altLang="en-US" sz="3000" dirty="0">
                <a:solidFill>
                  <a:srgbClr val="FF0000"/>
                </a:solidFill>
                <a:latin typeface="楷体" panose="02010609060101010101" pitchFamily="49" charset="-122"/>
                <a:ea typeface="楷体" panose="02010609060101010101" pitchFamily="49" charset="-122"/>
              </a:rPr>
              <a:t>准电场</a:t>
            </a:r>
            <a:r>
              <a:rPr lang="en-US" altLang="zh-CN" sz="3000" dirty="0">
                <a:latin typeface="楷体" panose="02010609060101010101" pitchFamily="49" charset="-122"/>
                <a:ea typeface="楷体" panose="02010609060101010101" pitchFamily="49" charset="-122"/>
              </a:rPr>
              <a:t>.</a:t>
            </a:r>
            <a:endParaRPr lang="zh-CN" altLang="en-US" sz="3000" dirty="0">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6" name="标题 1"/>
              <p:cNvSpPr txBox="1"/>
              <p:nvPr/>
            </p:nvSpPr>
            <p:spPr>
              <a:xfrm>
                <a:off x="153471" y="2499159"/>
                <a:ext cx="8891401" cy="12272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dirty="0">
                    <a:ea typeface="楷体" panose="02010609060101010101" pitchFamily="49" charset="-122"/>
                  </a:rPr>
                  <a:t>平面静电场</a:t>
                </a:r>
                <a:r>
                  <a:rPr lang="en-US" altLang="zh-CN" sz="3000" dirty="0">
                    <a:latin typeface="楷体" panose="02010609060101010101" pitchFamily="49" charset="-122"/>
                    <a:ea typeface="楷体" panose="02010609060101010101" pitchFamily="49" charset="-122"/>
                  </a:rPr>
                  <a:t>,</a:t>
                </a:r>
                <a:r>
                  <a:rPr lang="zh-CN" altLang="en-US" sz="3000" dirty="0">
                    <a:ea typeface="楷体" panose="02010609060101010101" pitchFamily="49" charset="-122"/>
                  </a:rPr>
                  <a:t>电场强度</a:t>
                </a:r>
                <a14:m>
                  <m:oMath xmlns:m="http://schemas.openxmlformats.org/officeDocument/2006/math">
                    <m:acc>
                      <m:accPr>
                        <m:chr m:val="⃗"/>
                        <m:ctrlPr>
                          <a:rPr lang="en-US" altLang="zh-CN" sz="300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𝐸</m:t>
                        </m:r>
                      </m:e>
                    </m:acc>
                    <m:r>
                      <a:rPr lang="en-US" altLang="zh-CN" sz="3000" i="1">
                        <a:latin typeface="Cambria Math" panose="02040503050406030204" pitchFamily="18" charset="0"/>
                        <a:ea typeface="楷体" panose="02010609060101010101" pitchFamily="49" charset="-122"/>
                      </a:rPr>
                      <m:t>=</m:t>
                    </m:r>
                    <m:sSub>
                      <m:sSubPr>
                        <m:ctrlPr>
                          <a:rPr lang="en-US" altLang="zh-CN" sz="3000" i="1" smtClean="0">
                            <a:latin typeface="Cambria Math" panose="02040503050406030204" pitchFamily="18" charset="0"/>
                            <a:ea typeface="楷体" panose="02010609060101010101" pitchFamily="49" charset="-122"/>
                          </a:rPr>
                        </m:ctrlPr>
                      </m:sSubPr>
                      <m:e>
                        <m:r>
                          <a:rPr lang="en-US" altLang="zh-CN" sz="3000" b="0" i="1" smtClean="0">
                            <a:latin typeface="Cambria Math" panose="02040503050406030204" pitchFamily="18" charset="0"/>
                            <a:ea typeface="楷体" panose="02010609060101010101" pitchFamily="49" charset="-122"/>
                          </a:rPr>
                          <m:t>𝐸</m:t>
                        </m:r>
                      </m:e>
                      <m:sub>
                        <m:r>
                          <a:rPr lang="en-US" altLang="zh-CN" sz="3000" b="0" i="1" smtClean="0">
                            <a:latin typeface="Cambria Math" panose="02040503050406030204" pitchFamily="18" charset="0"/>
                            <a:ea typeface="楷体" panose="02010609060101010101" pitchFamily="49" charset="-122"/>
                          </a:rPr>
                          <m:t>𝑥</m:t>
                        </m:r>
                      </m:sub>
                    </m:sSub>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e>
                    </m:d>
                    <m:acc>
                      <m:accPr>
                        <m:chr m:val="̅"/>
                        <m:ctrlPr>
                          <a:rPr lang="en-US" altLang="zh-CN" sz="3000" b="0" i="1" smtClean="0">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𝑖</m:t>
                        </m:r>
                      </m:e>
                    </m:acc>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𝐸</m:t>
                        </m:r>
                      </m:e>
                      <m:sub>
                        <m:r>
                          <a:rPr lang="en-US" altLang="zh-CN" sz="3000" b="0" i="1" smtClean="0">
                            <a:latin typeface="Cambria Math" panose="02040503050406030204" pitchFamily="18" charset="0"/>
                            <a:ea typeface="楷体" panose="02010609060101010101" pitchFamily="49" charset="-122"/>
                          </a:rPr>
                          <m:t>𝑦</m:t>
                        </m:r>
                      </m:sub>
                    </m:sSub>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e>
                    </m:d>
                    <m:acc>
                      <m:accPr>
                        <m:chr m:val="̅"/>
                        <m:ctrlPr>
                          <a:rPr lang="en-US" altLang="zh-CN" sz="3000" i="1">
                            <a:latin typeface="Cambria Math" panose="02040503050406030204" pitchFamily="18" charset="0"/>
                            <a:ea typeface="楷体" panose="02010609060101010101" pitchFamily="49" charset="-122"/>
                          </a:rPr>
                        </m:ctrlPr>
                      </m:accPr>
                      <m:e>
                        <m:r>
                          <a:rPr lang="en-US" altLang="zh-CN" sz="3000" b="0" i="1" smtClean="0">
                            <a:latin typeface="Cambria Math" panose="02040503050406030204" pitchFamily="18" charset="0"/>
                            <a:ea typeface="楷体" panose="02010609060101010101" pitchFamily="49" charset="-122"/>
                          </a:rPr>
                          <m:t>𝑗</m:t>
                        </m:r>
                      </m:e>
                    </m:acc>
                    <m:r>
                      <a:rPr lang="en-US" altLang="zh-CN" sz="3000" b="0" i="1" smtClean="0">
                        <a:latin typeface="Cambria Math" panose="02040503050406030204" pitchFamily="18" charset="0"/>
                        <a:ea typeface="楷体" panose="02010609060101010101" pitchFamily="49" charset="-122"/>
                      </a:rPr>
                      <m:t>=</m:t>
                    </m:r>
                  </m:oMath>
                </a14:m>
                <a:endParaRPr lang="en-US" altLang="zh-CN" sz="3000" b="0" i="1" dirty="0">
                  <a:latin typeface="Cambria Math" panose="02040503050406030204" pitchFamily="18" charset="0"/>
                  <a:ea typeface="楷体" panose="02010609060101010101" pitchFamily="49" charset="-122"/>
                </a:endParaRPr>
              </a:p>
              <a:p>
                <a:pPr fontAlgn="auto">
                  <a:lnSpc>
                    <a:spcPct val="110000"/>
                  </a:lnSpc>
                </a:pPr>
                <a14:m>
                  <m:oMath xmlns:m="http://schemas.openxmlformats.org/officeDocument/2006/math">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𝑔𝑟𝑎𝑑𝑣</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𝑦</m:t>
                    </m:r>
                    <m:r>
                      <a:rPr lang="en-US" altLang="zh-CN" sz="3000" b="0" i="1" smtClean="0">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其中</a:t>
                </a:r>
                <a14:m>
                  <m:oMath xmlns:m="http://schemas.openxmlformats.org/officeDocument/2006/math">
                    <m:r>
                      <a:rPr lang="en-US" altLang="zh-CN" sz="3000" i="1">
                        <a:latin typeface="Cambria Math" panose="02040503050406030204" pitchFamily="18" charset="0"/>
                        <a:ea typeface="楷体" panose="02010609060101010101" pitchFamily="49" charset="-122"/>
                      </a:rPr>
                      <m:t>𝑣</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𝑦</m:t>
                    </m:r>
                    <m:r>
                      <a:rPr lang="en-US" altLang="zh-CN" sz="3000" i="1">
                        <a:latin typeface="Cambria Math" panose="02040503050406030204" pitchFamily="18" charset="0"/>
                        <a:ea typeface="楷体" panose="02010609060101010101" pitchFamily="49" charset="-122"/>
                      </a:rPr>
                      <m:t>)</m:t>
                    </m:r>
                  </m:oMath>
                </a14:m>
                <a:r>
                  <a:rPr lang="zh-CN" altLang="en-US" sz="3000" dirty="0">
                    <a:latin typeface="楷体" panose="02010609060101010101" pitchFamily="49" charset="-122"/>
                    <a:ea typeface="楷体" panose="02010609060101010101" pitchFamily="49" charset="-122"/>
                  </a:rPr>
                  <a:t>称为静电场的电势或电位</a:t>
                </a:r>
                <a:endParaRPr lang="zh-CN" altLang="en-US"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153471" y="2499159"/>
                <a:ext cx="8891401" cy="1227222"/>
              </a:xfrm>
              <a:prstGeom prst="rect">
                <a:avLst/>
              </a:prstGeom>
              <a:blipFill rotWithShape="1">
                <a:blip r:embed="rId1"/>
                <a:stretch>
                  <a:fillRect l="-5" t="-35" r="6" b="1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99127" y="3953977"/>
                <a:ext cx="8945745" cy="2273569"/>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fontAlgn="auto">
                  <a:lnSpc>
                    <a:spcPct val="110000"/>
                  </a:lnSpc>
                  <a:buFont typeface="Arial" panose="020B0604020202020204" pitchFamily="34" charset="0"/>
                  <a:buChar char="•"/>
                </a:pPr>
                <a:r>
                  <a:rPr lang="zh-CN" altLang="en-US" sz="3000" dirty="0">
                    <a:latin typeface="楷体" panose="02010609060101010101" pitchFamily="49" charset="-122"/>
                    <a:ea typeface="楷体" panose="02010609060101010101" pitchFamily="49" charset="-122"/>
                  </a:rPr>
                  <a:t>我们知道</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只要场内没有带电物体</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静电场既是无</a:t>
                </a:r>
                <a:endParaRPr lang="en-US" altLang="zh-CN" sz="3000" dirty="0">
                  <a:latin typeface="楷体" panose="02010609060101010101" pitchFamily="49" charset="-122"/>
                  <a:ea typeface="楷体" panose="02010609060101010101" pitchFamily="49" charset="-122"/>
                </a:endParaRPr>
              </a:p>
              <a:p>
                <a:pPr fontAlgn="auto">
                  <a:lnSpc>
                    <a:spcPct val="110000"/>
                  </a:lnSpc>
                </a:pPr>
                <a:r>
                  <a:rPr lang="zh-CN" altLang="en-US" sz="3000" dirty="0">
                    <a:latin typeface="楷体" panose="02010609060101010101" pitchFamily="49" charset="-122"/>
                    <a:ea typeface="楷体" panose="02010609060101010101" pitchFamily="49" charset="-122"/>
                  </a:rPr>
                  <a:t>源场又是无流场</a:t>
                </a:r>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故可以构造复势</a:t>
                </a:r>
                <a14:m>
                  <m:oMath xmlns:m="http://schemas.openxmlformats.org/officeDocument/2006/math">
                    <m:r>
                      <a:rPr lang="zh-CN" altLang="en-US" sz="3000" i="1" smtClean="0">
                        <a:latin typeface="Cambria Math" panose="02040503050406030204" pitchFamily="18" charset="0"/>
                        <a:ea typeface="楷体" panose="02010609060101010101" pitchFamily="49" charset="-122"/>
                      </a:rPr>
                      <m:t>𝜔</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𝐹</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𝑢</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𝑖𝑣</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其中</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𝑑𝑣</m:t>
                    </m:r>
                    <m:r>
                      <a:rPr lang="en-US" altLang="zh-CN" sz="3000" b="0" i="1" smtClean="0">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𝐸</m:t>
                        </m:r>
                      </m:e>
                      <m:sub>
                        <m:r>
                          <a:rPr lang="en-US" altLang="zh-CN" sz="3000" i="1">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𝑑𝑥</m:t>
                    </m:r>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𝐸</m:t>
                        </m:r>
                      </m:e>
                      <m:sub>
                        <m:r>
                          <a:rPr lang="en-US" altLang="zh-CN" sz="3000" i="1">
                            <a:latin typeface="Cambria Math" panose="02040503050406030204" pitchFamily="18" charset="0"/>
                            <a:ea typeface="楷体" panose="02010609060101010101" pitchFamily="49" charset="-122"/>
                          </a:rPr>
                          <m:t>𝑦</m:t>
                        </m:r>
                      </m:sub>
                    </m:sSub>
                    <m:r>
                      <a:rPr lang="en-US" altLang="zh-CN" sz="3000" b="0" i="1" smtClean="0">
                        <a:latin typeface="Cambria Math" panose="02040503050406030204" pitchFamily="18" charset="0"/>
                        <a:ea typeface="楷体" panose="02010609060101010101" pitchFamily="49" charset="-122"/>
                      </a:rPr>
                      <m:t>𝑑𝑦</m:t>
                    </m:r>
                    <m:r>
                      <a:rPr lang="en-US" altLang="zh-CN" sz="3000" b="0" i="1" smtClean="0">
                        <a:latin typeface="Cambria Math" panose="02040503050406030204" pitchFamily="18" charset="0"/>
                        <a:ea typeface="楷体" panose="02010609060101010101" pitchFamily="49" charset="-122"/>
                      </a:rPr>
                      <m:t>)</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由</a:t>
                </a:r>
                <a14:m>
                  <m:oMath xmlns:m="http://schemas.openxmlformats.org/officeDocument/2006/math">
                    <m:r>
                      <a:rPr lang="en-US" altLang="zh-CN" sz="3000" b="0" i="1" dirty="0" smtClean="0">
                        <a:latin typeface="Cambria Math" panose="02040503050406030204" pitchFamily="18" charset="0"/>
                        <a:ea typeface="楷体" panose="02010609060101010101" pitchFamily="49" charset="-122"/>
                      </a:rPr>
                      <m:t>𝐶</m:t>
                    </m:r>
                    <m:r>
                      <a:rPr lang="en-US" altLang="zh-CN" sz="3000" b="0" i="1" dirty="0" smtClean="0">
                        <a:latin typeface="Cambria Math" panose="02040503050406030204" pitchFamily="18" charset="0"/>
                        <a:ea typeface="楷体" panose="02010609060101010101" pitchFamily="49" charset="-122"/>
                      </a:rPr>
                      <m:t>−</m:t>
                    </m:r>
                    <m:r>
                      <a:rPr lang="en-US" altLang="zh-CN" sz="3000" b="0" i="1" dirty="0" smtClean="0">
                        <a:latin typeface="Cambria Math" panose="02040503050406030204" pitchFamily="18" charset="0"/>
                        <a:ea typeface="楷体" panose="02010609060101010101" pitchFamily="49" charset="-122"/>
                      </a:rPr>
                      <m:t>𝑅</m:t>
                    </m:r>
                  </m:oMath>
                </a14:m>
                <a:r>
                  <a:rPr lang="zh-CN" altLang="en-US" sz="3000" dirty="0">
                    <a:latin typeface="楷体" panose="02010609060101010101" pitchFamily="49" charset="-122"/>
                    <a:ea typeface="楷体" panose="02010609060101010101" pitchFamily="49" charset="-122"/>
                  </a:rPr>
                  <a:t>方程，有</a:t>
                </a:r>
                <a14:m>
                  <m:oMath xmlns:m="http://schemas.openxmlformats.org/officeDocument/2006/math">
                    <m:r>
                      <a:rPr lang="en-US" altLang="zh-CN" sz="3000" i="1">
                        <a:latin typeface="Cambria Math" panose="02040503050406030204" pitchFamily="18" charset="0"/>
                        <a:ea typeface="楷体" panose="02010609060101010101" pitchFamily="49" charset="-122"/>
                      </a:rPr>
                      <m:t>𝑑</m:t>
                    </m:r>
                    <m:r>
                      <a:rPr lang="en-US" altLang="zh-CN" sz="3000" b="0" i="1" smtClean="0">
                        <a:latin typeface="Cambria Math" panose="02040503050406030204" pitchFamily="18" charset="0"/>
                        <a:ea typeface="楷体" panose="02010609060101010101" pitchFamily="49" charset="-122"/>
                      </a:rPr>
                      <m:t>𝑢</m:t>
                    </m:r>
                    <m:r>
                      <a:rPr lang="en-US" altLang="zh-CN" sz="3000" i="1">
                        <a:latin typeface="Cambria Math" panose="02040503050406030204" pitchFamily="18" charset="0"/>
                        <a:ea typeface="楷体" panose="02010609060101010101" pitchFamily="49" charset="-122"/>
                      </a:rPr>
                      <m:t>=−</m:t>
                    </m:r>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𝐸</m:t>
                        </m:r>
                      </m:e>
                      <m:sub>
                        <m:r>
                          <a:rPr lang="en-US" altLang="zh-CN" sz="3000" i="1">
                            <a:latin typeface="Cambria Math" panose="02040503050406030204" pitchFamily="18" charset="0"/>
                            <a:ea typeface="楷体" panose="02010609060101010101" pitchFamily="49" charset="-122"/>
                          </a:rPr>
                          <m:t>𝑦</m:t>
                        </m:r>
                      </m:sub>
                    </m:sSub>
                    <m:r>
                      <a:rPr lang="en-US" altLang="zh-CN" sz="3000" i="1">
                        <a:latin typeface="Cambria Math" panose="02040503050406030204" pitchFamily="18" charset="0"/>
                        <a:ea typeface="楷体" panose="02010609060101010101" pitchFamily="49" charset="-122"/>
                      </a:rPr>
                      <m:t>𝑑</m:t>
                    </m:r>
                    <m:r>
                      <a:rPr lang="en-US" altLang="zh-CN" sz="3000" b="0" i="1" smtClean="0">
                        <a:latin typeface="Cambria Math" panose="02040503050406030204" pitchFamily="18" charset="0"/>
                        <a:ea typeface="楷体" panose="02010609060101010101" pitchFamily="49" charset="-122"/>
                      </a:rPr>
                      <m:t>𝑥</m:t>
                    </m:r>
                    <m:r>
                      <a:rPr lang="en-US" altLang="zh-CN" sz="3000" b="0" i="1" smtClean="0">
                        <a:latin typeface="Cambria Math" panose="02040503050406030204" pitchFamily="18" charset="0"/>
                        <a:ea typeface="楷体" panose="02010609060101010101" pitchFamily="49" charset="-122"/>
                      </a:rPr>
                      <m:t>+</m:t>
                    </m:r>
                  </m:oMath>
                </a14:m>
                <a:r>
                  <a:rPr lang="en-US" altLang="zh-CN" sz="3000" dirty="0">
                    <a:ea typeface="楷体" panose="02010609060101010101" pitchFamily="49" charset="-122"/>
                  </a:rPr>
                  <a:t> </a:t>
                </a:r>
                <a14:m>
                  <m:oMath xmlns:m="http://schemas.openxmlformats.org/officeDocument/2006/math">
                    <m:sSub>
                      <m:sSubPr>
                        <m:ctrlPr>
                          <a:rPr lang="en-US" altLang="zh-CN" sz="3000" i="1">
                            <a:latin typeface="Cambria Math" panose="02040503050406030204" pitchFamily="18" charset="0"/>
                            <a:ea typeface="楷体" panose="02010609060101010101" pitchFamily="49" charset="-122"/>
                          </a:rPr>
                        </m:ctrlPr>
                      </m:sSubPr>
                      <m:e>
                        <m:r>
                          <a:rPr lang="en-US" altLang="zh-CN" sz="3000" i="1">
                            <a:latin typeface="Cambria Math" panose="02040503050406030204" pitchFamily="18" charset="0"/>
                            <a:ea typeface="楷体" panose="02010609060101010101" pitchFamily="49" charset="-122"/>
                          </a:rPr>
                          <m:t>𝐸</m:t>
                        </m:r>
                      </m:e>
                      <m:sub>
                        <m:r>
                          <a:rPr lang="en-US" altLang="zh-CN" sz="3000" i="1">
                            <a:latin typeface="Cambria Math" panose="02040503050406030204" pitchFamily="18" charset="0"/>
                            <a:ea typeface="楷体" panose="02010609060101010101" pitchFamily="49" charset="-122"/>
                          </a:rPr>
                          <m:t>𝑥</m:t>
                        </m:r>
                      </m:sub>
                    </m:sSub>
                    <m:r>
                      <a:rPr lang="en-US" altLang="zh-CN" sz="3000" b="0" i="1" smtClean="0">
                        <a:latin typeface="Cambria Math" panose="02040503050406030204" pitchFamily="18" charset="0"/>
                        <a:ea typeface="楷体" panose="02010609060101010101" pitchFamily="49" charset="-122"/>
                      </a:rPr>
                      <m:t>𝑑𝑦</m:t>
                    </m:r>
                  </m:oMath>
                </a14:m>
                <a:r>
                  <a:rPr lang="en-US" altLang="zh-CN" sz="3000" dirty="0">
                    <a:latin typeface="楷体" panose="02010609060101010101" pitchFamily="49" charset="-122"/>
                    <a:ea typeface="楷体" panose="02010609060101010101" pitchFamily="49" charset="-122"/>
                  </a:rPr>
                  <a:t>,</a:t>
                </a:r>
                <a:r>
                  <a:rPr lang="en-US" altLang="zh-CN" sz="3000" dirty="0">
                    <a:ea typeface="楷体" panose="02010609060101010101" pitchFamily="49" charset="-122"/>
                  </a:rPr>
                  <a:t> </a:t>
                </a:r>
                <a14:m>
                  <m:oMath xmlns:m="http://schemas.openxmlformats.org/officeDocument/2006/math">
                    <m:r>
                      <a:rPr lang="en-US" altLang="zh-CN" sz="3000" i="1">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称为力函数</a:t>
                </a:r>
                <a:r>
                  <a:rPr lang="en-US" altLang="zh-CN" sz="3000" dirty="0">
                    <a:latin typeface="楷体" panose="02010609060101010101" pitchFamily="49" charset="-122"/>
                    <a:ea typeface="楷体" panose="02010609060101010101" pitchFamily="49" charset="-122"/>
                  </a:rPr>
                  <a:t>.</a:t>
                </a:r>
                <a14:m>
                  <m:oMath xmlns:m="http://schemas.openxmlformats.org/officeDocument/2006/math">
                    <m:r>
                      <a:rPr lang="zh-CN" altLang="en-US" sz="3000" i="1">
                        <a:latin typeface="Cambria Math" panose="02040503050406030204" pitchFamily="18" charset="0"/>
                        <a:ea typeface="楷体" panose="02010609060101010101" pitchFamily="49" charset="-122"/>
                      </a:rPr>
                      <m:t>𝜔</m:t>
                    </m:r>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𝐹</m:t>
                    </m:r>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oMath>
                </a14:m>
                <a:r>
                  <a:rPr lang="zh-CN" altLang="en-US" sz="3000" dirty="0">
                    <a:latin typeface="楷体" panose="02010609060101010101" pitchFamily="49" charset="-122"/>
                    <a:ea typeface="楷体" panose="02010609060101010101" pitchFamily="49" charset="-122"/>
                  </a:rPr>
                  <a:t>是一解析函数，且有</a:t>
                </a:r>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99127" y="3953977"/>
                <a:ext cx="8945745" cy="2273569"/>
              </a:xfrm>
              <a:prstGeom prst="rect">
                <a:avLst/>
              </a:prstGeom>
              <a:blipFill rotWithShape="1">
                <a:blip r:embed="rId2"/>
                <a:stretch>
                  <a:fillRect l="-1" t="-6221" r="-867" b="-6196"/>
                </a:stretch>
              </a:blipFill>
            </p:spPr>
            <p:txBody>
              <a:bodyPr/>
              <a:lstStyle/>
              <a:p>
                <a:r>
                  <a:rPr lang="zh-CN" altLang="en-US">
                    <a:noFill/>
                  </a:rPr>
                  <a:t> </a:t>
                </a:r>
              </a:p>
            </p:txBody>
          </p:sp>
        </mc:Fallback>
      </mc:AlternateContent>
      <p:grpSp>
        <p:nvGrpSpPr>
          <p:cNvPr id="8" name="组合 7"/>
          <p:cNvGrpSpPr/>
          <p:nvPr/>
        </p:nvGrpSpPr>
        <p:grpSpPr>
          <a:xfrm>
            <a:off x="0" y="82323"/>
            <a:ext cx="9088711" cy="516645"/>
            <a:chOff x="0" y="82323"/>
            <a:chExt cx="9088711" cy="516645"/>
          </a:xfrm>
        </p:grpSpPr>
        <p:sp>
          <p:nvSpPr>
            <p:cNvPr id="9"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0" name="直接连接符 9"/>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txBox="1"/>
              <p:nvPr/>
            </p:nvSpPr>
            <p:spPr>
              <a:xfrm>
                <a:off x="825901" y="500513"/>
                <a:ext cx="7191944" cy="736333"/>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r>
                      <a:rPr lang="en-US" altLang="zh-CN" sz="3000" i="1" smtClean="0">
                        <a:latin typeface="Cambria Math" panose="02040503050406030204" pitchFamily="18" charset="0"/>
                        <a:ea typeface="楷体" panose="02010609060101010101" pitchFamily="49" charset="-122"/>
                      </a:rPr>
                      <m:t>𝐸</m:t>
                    </m:r>
                    <m:r>
                      <a:rPr lang="en-US" altLang="zh-CN" sz="3000" i="1" smtClean="0">
                        <a:latin typeface="Cambria Math" panose="02040503050406030204" pitchFamily="18" charset="0"/>
                        <a:ea typeface="楷体" panose="02010609060101010101" pitchFamily="49" charset="-122"/>
                      </a:rPr>
                      <m:t>=−</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𝑣</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den>
                    </m:f>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𝑢</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den>
                    </m:f>
                    <m:r>
                      <a:rPr lang="en-US" altLang="zh-CN" sz="300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d>
                      <m:dPr>
                        <m:ctrlPr>
                          <a:rPr lang="en-US" altLang="zh-CN" sz="3000" b="0" i="1" smtClean="0">
                            <a:latin typeface="Cambria Math" panose="02040503050406030204" pitchFamily="18" charset="0"/>
                            <a:ea typeface="楷体" panose="02010609060101010101" pitchFamily="49" charset="-122"/>
                          </a:rPr>
                        </m:ctrlPr>
                      </m:dPr>
                      <m:e>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𝑢</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f>
                          <m:fPr>
                            <m:ctrlPr>
                              <a:rPr lang="en-US" altLang="zh-CN" sz="3000" i="1">
                                <a:latin typeface="Cambria Math" panose="02040503050406030204" pitchFamily="18" charset="0"/>
                                <a:ea typeface="楷体" panose="02010609060101010101" pitchFamily="49" charset="-122"/>
                              </a:rPr>
                            </m:ctrlPr>
                          </m:fPr>
                          <m:num>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𝑣</m:t>
                            </m:r>
                          </m:num>
                          <m:den>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𝑥</m:t>
                            </m:r>
                          </m:den>
                        </m:f>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𝑖</m:t>
                    </m:r>
                    <m:acc>
                      <m:accPr>
                        <m:chr m:val="̅"/>
                        <m:ctrlPr>
                          <a:rPr lang="en-US" altLang="zh-CN" sz="3000" b="0" i="1" smtClean="0">
                            <a:latin typeface="Cambria Math" panose="02040503050406030204" pitchFamily="18" charset="0"/>
                            <a:ea typeface="楷体" panose="02010609060101010101" pitchFamily="49" charset="-122"/>
                          </a:rPr>
                        </m:ctrlPr>
                      </m:accPr>
                      <m:e>
                        <m:sSup>
                          <m:sSupPr>
                            <m:ctrlPr>
                              <a:rPr lang="en-US" altLang="zh-CN" sz="3000" b="0" i="1" smtClean="0">
                                <a:latin typeface="Cambria Math" panose="02040503050406030204" pitchFamily="18" charset="0"/>
                                <a:ea typeface="楷体" panose="02010609060101010101" pitchFamily="49" charset="-122"/>
                              </a:rPr>
                            </m:ctrlPr>
                          </m:sSupPr>
                          <m:e>
                            <m:r>
                              <a:rPr lang="en-US" altLang="zh-CN" sz="3000" b="0" i="1" smtClean="0">
                                <a:latin typeface="Cambria Math" panose="02040503050406030204" pitchFamily="18" charset="0"/>
                                <a:ea typeface="楷体" panose="02010609060101010101" pitchFamily="49" charset="-122"/>
                              </a:rPr>
                              <m:t>𝐹</m:t>
                            </m:r>
                          </m:e>
                          <m:sup>
                            <m:r>
                              <a:rPr lang="en-US" altLang="zh-CN" sz="3000" b="0" i="1" smtClean="0">
                                <a:latin typeface="Cambria Math" panose="02040503050406030204" pitchFamily="18" charset="0"/>
                                <a:ea typeface="楷体" panose="02010609060101010101" pitchFamily="49" charset="-122"/>
                              </a:rPr>
                              <m:t>′</m:t>
                            </m:r>
                          </m:sup>
                        </m:sSup>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𝑧</m:t>
                        </m:r>
                        <m:r>
                          <a:rPr lang="en-US" altLang="zh-CN" sz="3000" b="0" i="1" smtClean="0">
                            <a:latin typeface="Cambria Math" panose="02040503050406030204" pitchFamily="18" charset="0"/>
                            <a:ea typeface="楷体" panose="02010609060101010101" pitchFamily="49" charset="-122"/>
                          </a:rPr>
                          <m:t>)</m:t>
                        </m:r>
                      </m:e>
                    </m:acc>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2" name="标题 1"/>
              <p:cNvSpPr txBox="1">
                <a:spLocks noRot="1" noChangeAspect="1" noMove="1" noResize="1" noEditPoints="1" noAdjustHandles="1" noChangeArrowheads="1" noChangeShapeType="1" noTextEdit="1"/>
              </p:cNvSpPr>
              <p:nvPr/>
            </p:nvSpPr>
            <p:spPr>
              <a:xfrm>
                <a:off x="825901" y="500513"/>
                <a:ext cx="7191944" cy="736333"/>
              </a:xfrm>
              <a:prstGeom prst="rect">
                <a:avLst/>
              </a:prstGeom>
              <a:blipFill rotWithShape="1">
                <a:blip r:embed="rId1"/>
                <a:stretch>
                  <a:fillRect l="-6" t="-535" r="5" b="-6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标题 1"/>
              <p:cNvSpPr txBox="1"/>
              <p:nvPr/>
            </p:nvSpPr>
            <p:spPr>
              <a:xfrm>
                <a:off x="216100" y="1320063"/>
                <a:ext cx="8891401" cy="12272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即静电场的复势和平面场复势相差一个因子</a:t>
                </a:r>
                <a14:m>
                  <m:oMath xmlns:m="http://schemas.openxmlformats.org/officeDocument/2006/math">
                    <m:r>
                      <a:rPr lang="en-US" altLang="zh-CN" sz="3000" i="1">
                        <a:latin typeface="Cambria Math" panose="02040503050406030204" pitchFamily="18" charset="0"/>
                        <a:ea typeface="楷体" panose="02010609060101010101" pitchFamily="49" charset="-122"/>
                      </a:rPr>
                      <m:t>−</m:t>
                    </m:r>
                    <m:r>
                      <a:rPr lang="en-US" altLang="zh-CN" sz="3000" i="1">
                        <a:latin typeface="Cambria Math" panose="02040503050406030204" pitchFamily="18" charset="0"/>
                        <a:ea typeface="楷体" panose="02010609060101010101" pitchFamily="49" charset="-122"/>
                      </a:rPr>
                      <m:t>𝑖</m:t>
                    </m:r>
                  </m:oMath>
                </a14:m>
                <a:r>
                  <a:rPr lang="en-US" altLang="zh-CN" sz="3000" dirty="0">
                    <a:latin typeface="楷体" panose="02010609060101010101" pitchFamily="49" charset="-122"/>
                    <a:ea typeface="楷体" panose="02010609060101010101" pitchFamily="49" charset="-122"/>
                  </a:rPr>
                  <a:t>.</a:t>
                </a:r>
                <a:r>
                  <a:rPr lang="zh-CN" altLang="en-US" sz="3000" dirty="0">
                    <a:latin typeface="楷体" panose="02010609060101010101" pitchFamily="49" charset="-122"/>
                    <a:ea typeface="楷体" panose="02010609060101010101" pitchFamily="49" charset="-122"/>
                  </a:rPr>
                  <a:t>这是电工学习惯用法，并有：</a:t>
                </a:r>
                <a:endParaRPr lang="zh-CN" altLang="en-US" sz="3000" dirty="0">
                  <a:latin typeface="楷体" panose="02010609060101010101" pitchFamily="49" charset="-122"/>
                  <a:ea typeface="楷体" panose="02010609060101010101" pitchFamily="49" charset="-122"/>
                </a:endParaRPr>
              </a:p>
            </p:txBody>
          </p:sp>
        </mc:Choice>
        <mc:Fallback>
          <p:sp>
            <p:nvSpPr>
              <p:cNvPr id="6" name="标题 1"/>
              <p:cNvSpPr txBox="1">
                <a:spLocks noRot="1" noChangeAspect="1" noMove="1" noResize="1" noEditPoints="1" noAdjustHandles="1" noChangeArrowheads="1" noChangeShapeType="1" noTextEdit="1"/>
              </p:cNvSpPr>
              <p:nvPr/>
            </p:nvSpPr>
            <p:spPr>
              <a:xfrm>
                <a:off x="216100" y="1320063"/>
                <a:ext cx="8891401" cy="1227222"/>
              </a:xfrm>
              <a:prstGeom prst="rect">
                <a:avLst/>
              </a:prstGeom>
              <a:blipFill rotWithShape="1">
                <a:blip r:embed="rId2"/>
                <a:stretch>
                  <a:fillRect l="-2" t="-43" r="4"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标题 1"/>
              <p:cNvSpPr txBox="1"/>
              <p:nvPr/>
            </p:nvSpPr>
            <p:spPr>
              <a:xfrm>
                <a:off x="492591" y="2303244"/>
                <a:ext cx="8464185" cy="976564"/>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14:m>
                  <m:oMath xmlns:m="http://schemas.openxmlformats.org/officeDocument/2006/math">
                    <m:d>
                      <m:dPr>
                        <m:begChr m:val="|"/>
                        <m:endChr m:val="|"/>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𝐸</m:t>
                        </m:r>
                      </m:e>
                    </m:d>
                    <m:r>
                      <a:rPr lang="en-US" altLang="zh-CN" sz="3000" b="0" i="1" smtClean="0">
                        <a:latin typeface="Cambria Math" panose="02040503050406030204" pitchFamily="18" charset="0"/>
                        <a:ea typeface="楷体" panose="02010609060101010101" pitchFamily="49" charset="-122"/>
                      </a:rPr>
                      <m:t>=</m:t>
                    </m:r>
                    <m:d>
                      <m:dPr>
                        <m:begChr m:val="|"/>
                        <m:endChr m:val="|"/>
                        <m:ctrlPr>
                          <a:rPr lang="en-US" altLang="zh-CN" sz="3000" b="0" i="1" smtClean="0">
                            <a:latin typeface="Cambria Math" panose="02040503050406030204" pitchFamily="18" charset="0"/>
                            <a:ea typeface="楷体" panose="02010609060101010101" pitchFamily="49" charset="-122"/>
                          </a:rPr>
                        </m:ctrlPr>
                      </m:dPr>
                      <m:e>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𝐹</m:t>
                            </m:r>
                          </m:e>
                          <m:sup>
                            <m:r>
                              <a:rPr lang="en-US" altLang="zh-CN" sz="3000" i="1">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e>
                    </m:d>
                    <m:r>
                      <a:rPr lang="en-US" altLang="zh-CN" sz="3000" b="0" i="1" smtClean="0">
                        <a:latin typeface="Cambria Math" panose="02040503050406030204" pitchFamily="18" charset="0"/>
                        <a:ea typeface="楷体" panose="02010609060101010101" pitchFamily="49" charset="-122"/>
                      </a:rPr>
                      <m:t>,  </m:t>
                    </m:r>
                    <m:r>
                      <a:rPr lang="en-US" altLang="zh-CN" sz="3000" b="0" i="1" smtClean="0">
                        <a:latin typeface="Cambria Math" panose="02040503050406030204" pitchFamily="18" charset="0"/>
                        <a:ea typeface="楷体" panose="02010609060101010101" pitchFamily="49" charset="-122"/>
                      </a:rPr>
                      <m:t>𝐴𝑟𝑔𝐸</m:t>
                    </m:r>
                    <m:d>
                      <m:dPr>
                        <m:ctrlPr>
                          <a:rPr lang="en-US" altLang="zh-CN" sz="3000" b="0" i="1" smtClean="0">
                            <a:latin typeface="Cambria Math" panose="02040503050406030204" pitchFamily="18" charset="0"/>
                            <a:ea typeface="楷体" panose="02010609060101010101" pitchFamily="49" charset="-122"/>
                          </a:rPr>
                        </m:ctrlPr>
                      </m:dPr>
                      <m:e>
                        <m:r>
                          <a:rPr lang="en-US" altLang="zh-CN" sz="3000" b="0" i="1" smtClean="0">
                            <a:latin typeface="Cambria Math" panose="02040503050406030204" pitchFamily="18" charset="0"/>
                            <a:ea typeface="楷体" panose="02010609060101010101" pitchFamily="49" charset="-122"/>
                          </a:rPr>
                          <m:t>𝑧</m:t>
                        </m:r>
                      </m:e>
                    </m:d>
                    <m:r>
                      <a:rPr lang="en-US" altLang="zh-CN" sz="3000" b="0" i="1" smtClean="0">
                        <a:latin typeface="Cambria Math" panose="02040503050406030204" pitchFamily="18" charset="0"/>
                        <a:ea typeface="楷体" panose="02010609060101010101" pitchFamily="49" charset="-122"/>
                      </a:rPr>
                      <m:t>=−</m:t>
                    </m:r>
                    <m:d>
                      <m:dPr>
                        <m:ctrlPr>
                          <a:rPr lang="en-US" altLang="zh-CN" sz="3000" b="0" i="1" smtClean="0">
                            <a:latin typeface="Cambria Math" panose="02040503050406030204" pitchFamily="18" charset="0"/>
                            <a:ea typeface="楷体" panose="02010609060101010101" pitchFamily="49" charset="-122"/>
                          </a:rPr>
                        </m:ctrlPr>
                      </m:dPr>
                      <m:e>
                        <m:f>
                          <m:fPr>
                            <m:ctrlPr>
                              <a:rPr lang="en-US" altLang="zh-CN" sz="3000" b="0" i="1" smtClean="0">
                                <a:latin typeface="Cambria Math" panose="02040503050406030204" pitchFamily="18" charset="0"/>
                                <a:ea typeface="楷体" panose="02010609060101010101" pitchFamily="49" charset="-122"/>
                              </a:rPr>
                            </m:ctrlPr>
                          </m:fPr>
                          <m:num>
                            <m:r>
                              <a:rPr lang="zh-CN" altLang="en-US" sz="3000" b="0" i="1" smtClean="0">
                                <a:latin typeface="Cambria Math" panose="02040503050406030204" pitchFamily="18" charset="0"/>
                                <a:ea typeface="楷体" panose="02010609060101010101" pitchFamily="49" charset="-122"/>
                              </a:rPr>
                              <m:t>𝜋</m:t>
                            </m:r>
                          </m:num>
                          <m:den>
                            <m:r>
                              <a:rPr lang="en-US" altLang="zh-CN" sz="3000" b="0" i="1" smtClean="0">
                                <a:latin typeface="Cambria Math" panose="02040503050406030204" pitchFamily="18" charset="0"/>
                                <a:ea typeface="楷体" panose="02010609060101010101" pitchFamily="49" charset="-122"/>
                              </a:rPr>
                              <m:t>2</m:t>
                            </m:r>
                          </m:den>
                        </m:f>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𝑎𝑟𝑔</m:t>
                        </m:r>
                        <m:sSup>
                          <m:sSupPr>
                            <m:ctrlPr>
                              <a:rPr lang="en-US" altLang="zh-CN" sz="3000" i="1">
                                <a:latin typeface="Cambria Math" panose="02040503050406030204" pitchFamily="18" charset="0"/>
                                <a:ea typeface="楷体" panose="02010609060101010101" pitchFamily="49" charset="-122"/>
                              </a:rPr>
                            </m:ctrlPr>
                          </m:sSupPr>
                          <m:e>
                            <m:r>
                              <a:rPr lang="en-US" altLang="zh-CN" sz="3000" i="1">
                                <a:latin typeface="Cambria Math" panose="02040503050406030204" pitchFamily="18" charset="0"/>
                                <a:ea typeface="楷体" panose="02010609060101010101" pitchFamily="49" charset="-122"/>
                              </a:rPr>
                              <m:t>𝐹</m:t>
                            </m:r>
                          </m:e>
                          <m:sup>
                            <m:r>
                              <a:rPr lang="en-US" altLang="zh-CN" sz="3000" i="1">
                                <a:latin typeface="Cambria Math" panose="02040503050406030204" pitchFamily="18" charset="0"/>
                                <a:ea typeface="楷体" panose="02010609060101010101" pitchFamily="49" charset="-122"/>
                              </a:rPr>
                              <m:t>′</m:t>
                            </m:r>
                          </m:sup>
                        </m:sSup>
                        <m:d>
                          <m:dPr>
                            <m:ctrlPr>
                              <a:rPr lang="en-US" altLang="zh-CN" sz="3000" i="1">
                                <a:latin typeface="Cambria Math" panose="02040503050406030204" pitchFamily="18" charset="0"/>
                                <a:ea typeface="楷体" panose="02010609060101010101" pitchFamily="49" charset="-122"/>
                              </a:rPr>
                            </m:ctrlPr>
                          </m:dPr>
                          <m:e>
                            <m:r>
                              <a:rPr lang="en-US" altLang="zh-CN" sz="3000" i="1">
                                <a:latin typeface="Cambria Math" panose="02040503050406030204" pitchFamily="18" charset="0"/>
                                <a:ea typeface="楷体" panose="02010609060101010101" pitchFamily="49" charset="-122"/>
                              </a:rPr>
                              <m:t>𝑧</m:t>
                            </m:r>
                          </m:e>
                        </m:d>
                      </m:e>
                    </m:d>
                    <m:r>
                      <a:rPr lang="en-US" altLang="zh-CN" sz="3000" b="0" i="1" smtClean="0">
                        <a:latin typeface="Cambria Math" panose="02040503050406030204" pitchFamily="18" charset="0"/>
                        <a:ea typeface="楷体" panose="02010609060101010101" pitchFamily="49" charset="-122"/>
                      </a:rPr>
                      <m:t>+</m:t>
                    </m:r>
                    <m:r>
                      <a:rPr lang="en-US" altLang="zh-CN" sz="3000" b="0" i="1" smtClean="0">
                        <a:latin typeface="Cambria Math" panose="02040503050406030204" pitchFamily="18" charset="0"/>
                        <a:ea typeface="楷体" panose="02010609060101010101" pitchFamily="49" charset="-122"/>
                      </a:rPr>
                      <m:t>2</m:t>
                    </m:r>
                    <m:r>
                      <a:rPr lang="en-US" altLang="zh-CN" sz="3000" b="0" i="1" smtClean="0">
                        <a:latin typeface="Cambria Math" panose="02040503050406030204" pitchFamily="18" charset="0"/>
                        <a:ea typeface="楷体" panose="02010609060101010101" pitchFamily="49" charset="-122"/>
                      </a:rPr>
                      <m:t>𝑘</m:t>
                    </m:r>
                    <m:r>
                      <a:rPr lang="zh-CN" altLang="en-US" sz="3000" b="0" i="1" smtClean="0">
                        <a:latin typeface="Cambria Math" panose="02040503050406030204" pitchFamily="18" charset="0"/>
                        <a:ea typeface="楷体" panose="02010609060101010101" pitchFamily="49" charset="-122"/>
                      </a:rPr>
                      <m:t>𝜋</m:t>
                    </m:r>
                  </m:oMath>
                </a14:m>
                <a:r>
                  <a:rPr lang="zh-CN" altLang="en-US" sz="3000" dirty="0">
                    <a:latin typeface="楷体" panose="02010609060101010101" pitchFamily="49" charset="-122"/>
                    <a:ea typeface="楷体" panose="02010609060101010101" pitchFamily="49" charset="-122"/>
                  </a:rPr>
                  <a:t> </a:t>
                </a:r>
                <a:endParaRPr lang="zh-CN" altLang="en-US" sz="3000" dirty="0">
                  <a:latin typeface="楷体" panose="02010609060101010101" pitchFamily="49" charset="-122"/>
                  <a:ea typeface="楷体" panose="02010609060101010101" pitchFamily="49" charset="-122"/>
                </a:endParaRPr>
              </a:p>
            </p:txBody>
          </p:sp>
        </mc:Choice>
        <mc:Fallback>
          <p:sp>
            <p:nvSpPr>
              <p:cNvPr id="7" name="标题 1"/>
              <p:cNvSpPr txBox="1">
                <a:spLocks noRot="1" noChangeAspect="1" noMove="1" noResize="1" noEditPoints="1" noAdjustHandles="1" noChangeArrowheads="1" noChangeShapeType="1" noTextEdit="1"/>
              </p:cNvSpPr>
              <p:nvPr/>
            </p:nvSpPr>
            <p:spPr>
              <a:xfrm>
                <a:off x="492591" y="2303244"/>
                <a:ext cx="8464185" cy="976564"/>
              </a:xfrm>
              <a:prstGeom prst="rect">
                <a:avLst/>
              </a:prstGeom>
              <a:blipFill rotWithShape="1">
                <a:blip r:embed="rId3"/>
                <a:stretch>
                  <a:fillRect l="-6" t="-10" r="1"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1"/>
              <p:cNvSpPr txBox="1"/>
              <p:nvPr/>
            </p:nvSpPr>
            <p:spPr>
              <a:xfrm>
                <a:off x="140737" y="3279808"/>
                <a:ext cx="8891401" cy="1227222"/>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lnSpc>
                    <a:spcPct val="110000"/>
                  </a:lnSpc>
                </a:pPr>
                <a:r>
                  <a:rPr lang="zh-CN" altLang="en-US" sz="3000" dirty="0">
                    <a:latin typeface="楷体" panose="02010609060101010101" pitchFamily="49" charset="-122"/>
                    <a:ea typeface="楷体" panose="02010609060101010101" pitchFamily="49" charset="-122"/>
                  </a:rPr>
                  <a:t>电势函数</a:t>
                </a:r>
                <a14:m>
                  <m:oMath xmlns:m="http://schemas.openxmlformats.org/officeDocument/2006/math">
                    <m:r>
                      <a:rPr lang="en-US" altLang="zh-CN" sz="3000" b="0" i="1" smtClean="0">
                        <a:latin typeface="Cambria Math" panose="02040503050406030204" pitchFamily="18" charset="0"/>
                        <a:ea typeface="楷体" panose="02010609060101010101" pitchFamily="49" charset="-122"/>
                      </a:rPr>
                      <m:t>𝑣</m:t>
                    </m:r>
                  </m:oMath>
                </a14:m>
                <a:r>
                  <a:rPr lang="zh-CN" altLang="en-US" sz="3000" dirty="0">
                    <a:latin typeface="楷体" panose="02010609060101010101" pitchFamily="49" charset="-122"/>
                    <a:ea typeface="楷体" panose="02010609060101010101" pitchFamily="49" charset="-122"/>
                  </a:rPr>
                  <a:t>的等值线称为等势线；力函数</a:t>
                </a:r>
                <a14:m>
                  <m:oMath xmlns:m="http://schemas.openxmlformats.org/officeDocument/2006/math">
                    <m:r>
                      <a:rPr lang="en-US" altLang="zh-CN" sz="3000" i="1">
                        <a:latin typeface="Cambria Math" panose="02040503050406030204" pitchFamily="18" charset="0"/>
                        <a:ea typeface="楷体" panose="02010609060101010101" pitchFamily="49" charset="-122"/>
                      </a:rPr>
                      <m:t>𝑢</m:t>
                    </m:r>
                  </m:oMath>
                </a14:m>
                <a:r>
                  <a:rPr lang="zh-CN" altLang="en-US" sz="3000" dirty="0">
                    <a:latin typeface="楷体" panose="02010609060101010101" pitchFamily="49" charset="-122"/>
                    <a:ea typeface="楷体" panose="02010609060101010101" pitchFamily="49" charset="-122"/>
                  </a:rPr>
                  <a:t>的等值线称为电力线，其中等势线和电力线是互相正交的</a:t>
                </a:r>
                <a:endParaRPr lang="zh-CN" altLang="en-US" sz="3000" dirty="0">
                  <a:latin typeface="楷体" panose="02010609060101010101" pitchFamily="49" charset="-122"/>
                  <a:ea typeface="楷体" panose="02010609060101010101" pitchFamily="49" charset="-122"/>
                </a:endParaRPr>
              </a:p>
            </p:txBody>
          </p:sp>
        </mc:Choice>
        <mc:Fallback>
          <p:sp>
            <p:nvSpPr>
              <p:cNvPr id="3" name="标题 1"/>
              <p:cNvSpPr txBox="1">
                <a:spLocks noRot="1" noChangeAspect="1" noMove="1" noResize="1" noEditPoints="1" noAdjustHandles="1" noChangeArrowheads="1" noChangeShapeType="1" noTextEdit="1"/>
              </p:cNvSpPr>
              <p:nvPr/>
            </p:nvSpPr>
            <p:spPr>
              <a:xfrm>
                <a:off x="140737" y="3279808"/>
                <a:ext cx="8891401" cy="1227222"/>
              </a:xfrm>
              <a:prstGeom prst="rect">
                <a:avLst/>
              </a:prstGeom>
              <a:blipFill rotWithShape="1">
                <a:blip r:embed="rId4"/>
                <a:stretch>
                  <a:fillRect l="-5" t="-3" r="6" b="35"/>
                </a:stretch>
              </a:blipFill>
            </p:spPr>
            <p:txBody>
              <a:bodyPr/>
              <a:lstStyle/>
              <a:p>
                <a:r>
                  <a:rPr lang="zh-CN" altLang="en-US">
                    <a:noFill/>
                  </a:rPr>
                  <a:t> </a:t>
                </a:r>
              </a:p>
            </p:txBody>
          </p:sp>
        </mc:Fallback>
      </mc:AlternateContent>
      <p:grpSp>
        <p:nvGrpSpPr>
          <p:cNvPr id="9" name="组合 8"/>
          <p:cNvGrpSpPr/>
          <p:nvPr/>
        </p:nvGrpSpPr>
        <p:grpSpPr>
          <a:xfrm>
            <a:off x="0" y="82323"/>
            <a:ext cx="9088711" cy="516645"/>
            <a:chOff x="0" y="82323"/>
            <a:chExt cx="9088711" cy="516645"/>
          </a:xfrm>
        </p:grpSpPr>
        <p:sp>
          <p:nvSpPr>
            <p:cNvPr id="10" name="标题 1"/>
            <p:cNvSpPr txBox="1"/>
            <p:nvPr/>
          </p:nvSpPr>
          <p:spPr>
            <a:xfrm>
              <a:off x="122036" y="82323"/>
              <a:ext cx="4756181" cy="44930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altLang="zh-CN" sz="1800" b="1" dirty="0">
                  <a:latin typeface="楷体" panose="02010609060101010101" pitchFamily="49" charset="-122"/>
                  <a:ea typeface="楷体" panose="02010609060101010101" pitchFamily="49" charset="-122"/>
                </a:rPr>
                <a:t>2.6  </a:t>
              </a:r>
              <a:r>
                <a:rPr lang="zh-CN" altLang="en-US" sz="1800" b="1" dirty="0">
                  <a:latin typeface="楷体" panose="02010609060101010101" pitchFamily="49" charset="-122"/>
                  <a:ea typeface="楷体" panose="02010609060101010101" pitchFamily="49" charset="-122"/>
                </a:rPr>
                <a:t>调和函数</a:t>
              </a:r>
              <a:endParaRPr lang="zh-CN" altLang="en-US" sz="1800" b="1" dirty="0">
                <a:latin typeface="楷体" panose="02010609060101010101" pitchFamily="49" charset="-122"/>
                <a:ea typeface="楷体" panose="02010609060101010101" pitchFamily="49" charset="-122"/>
              </a:endParaRPr>
            </a:p>
          </p:txBody>
        </p:sp>
        <p:cxnSp>
          <p:nvCxnSpPr>
            <p:cNvPr id="11" name="直接连接符 10"/>
            <p:cNvCxnSpPr/>
            <p:nvPr/>
          </p:nvCxnSpPr>
          <p:spPr>
            <a:xfrm flipV="1">
              <a:off x="0" y="573451"/>
              <a:ext cx="9088711" cy="25517"/>
            </a:xfrm>
            <a:prstGeom prst="line">
              <a:avLst/>
            </a:prstGeom>
            <a:ln w="12700"/>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3" grpId="0"/>
    </p:bldLst>
  </p:timing>
</p:sld>
</file>

<file path=ppt/tags/tag1.xml><?xml version="1.0" encoding="utf-8"?>
<p:tagLst xmlns:p="http://schemas.openxmlformats.org/presentationml/2006/main">
  <p:tag name="KSO_WM_UNIT_PLACING_PICTURE_USER_VIEWPORT" val="{&quot;height&quot;:1485,&quot;width&quot;:14400}"/>
</p:tagLst>
</file>

<file path=ppt/tags/tag2.xml><?xml version="1.0" encoding="utf-8"?>
<p:tagLst xmlns:p="http://schemas.openxmlformats.org/presentationml/2006/main">
  <p:tag name="COMMONDATA" val="eyJoZGlkIjoiMTAyMzJkOGNiMDEyZDQzM2FkNGM4ODJmZGE4NDczMDMifQ=="/>
  <p:tag name="KSO_WPP_MARK_KEY" val="e1b0220f-b974-40a1-969d-27d43ac6d23b"/>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6426</Words>
  <Application>WPS 演示</Application>
  <PresentationFormat>全屏显示(4:3)</PresentationFormat>
  <Paragraphs>376</Paragraphs>
  <Slides>24</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24</vt:i4>
      </vt:variant>
    </vt:vector>
  </HeadingPairs>
  <TitlesOfParts>
    <vt:vector size="37" baseType="lpstr">
      <vt:lpstr>Arial</vt:lpstr>
      <vt:lpstr>宋体</vt:lpstr>
      <vt:lpstr>Wingdings</vt:lpstr>
      <vt:lpstr>楷体</vt:lpstr>
      <vt:lpstr>Cambria Math</vt:lpstr>
      <vt:lpstr>MS Mincho</vt:lpstr>
      <vt:lpstr>等线</vt:lpstr>
      <vt:lpstr>微软雅黑</vt:lpstr>
      <vt:lpstr>Arial Unicode MS</vt:lpstr>
      <vt:lpstr>等线 Light</vt:lpstr>
      <vt:lpstr>Calibri</vt:lpstr>
      <vt:lpstr>Office 主题​​</vt:lpstr>
      <vt:lpstr>1_Office 主题​​</vt:lpstr>
      <vt:lpstr>复变函数与积分变换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复变函数与积分变换</dc:title>
  <dc:creator>dym</dc:creator>
  <cp:lastModifiedBy>DhyWay</cp:lastModifiedBy>
  <cp:revision>148</cp:revision>
  <dcterms:created xsi:type="dcterms:W3CDTF">2020-09-10T08:53:00Z</dcterms:created>
  <dcterms:modified xsi:type="dcterms:W3CDTF">2025-08-18T07:56:37Z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D5B7F145165946EDBB9881EEE7BFA651</vt:lpwstr>
  </property>
  <property fmtid="{D5CDD505-2E9C-101B-9397-08002B2CF9AE}" pid="3" name="KSOProductBuildVer">
    <vt:lpwstr>2052-12.1.0.21915</vt:lpwstr>
  </property>
</Properties>
</file>