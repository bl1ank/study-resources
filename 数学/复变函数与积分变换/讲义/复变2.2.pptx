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62" r:id="rId5"/>
    <p:sldId id="259" r:id="rId6"/>
    <p:sldId id="320" r:id="rId7"/>
    <p:sldId id="276" r:id="rId8"/>
    <p:sldId id="264" r:id="rId9"/>
    <p:sldId id="265" r:id="rId10"/>
    <p:sldId id="289" r:id="rId11"/>
    <p:sldId id="273" r:id="rId12"/>
    <p:sldId id="271" r:id="rId13"/>
    <p:sldId id="266" r:id="rId14"/>
    <p:sldId id="306" r:id="rId15"/>
    <p:sldId id="272" r:id="rId16"/>
    <p:sldId id="290" r:id="rId17"/>
    <p:sldId id="328" r:id="rId18"/>
    <p:sldId id="321" r:id="rId19"/>
    <p:sldId id="267" r:id="rId20"/>
    <p:sldId id="268" r:id="rId21"/>
    <p:sldId id="322" r:id="rId22"/>
    <p:sldId id="323" r:id="rId23"/>
    <p:sldId id="330" r:id="rId24"/>
    <p:sldId id="329" r:id="rId25"/>
    <p:sldId id="292" r:id="rId26"/>
    <p:sldId id="291" r:id="rId27"/>
    <p:sldId id="324" r:id="rId28"/>
    <p:sldId id="325" r:id="rId29"/>
    <p:sldId id="270" r:id="rId30"/>
    <p:sldId id="275" r:id="rId31"/>
    <p:sldId id="331" r:id="rId32"/>
    <p:sldId id="269" r:id="rId33"/>
    <p:sldId id="293" r:id="rId34"/>
    <p:sldId id="274" r:id="rId35"/>
    <p:sldId id="294" r:id="rId36"/>
    <p:sldId id="295" r:id="rId37"/>
    <p:sldId id="326" r:id="rId38"/>
    <p:sldId id="327" r:id="rId39"/>
  </p:sldIdLst>
  <p:sldSz cx="9144000" cy="6858000" type="screen4x3"/>
  <p:notesSz cx="6858000" cy="9144000"/>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9" autoAdjust="0"/>
    <p:restoredTop sz="94660"/>
  </p:normalViewPr>
  <p:slideViewPr>
    <p:cSldViewPr snapToGrid="0">
      <p:cViewPr varScale="1">
        <p:scale>
          <a:sx n="57" d="100"/>
          <a:sy n="57" d="100"/>
        </p:scale>
        <p:origin x="48" y="7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gs" Target="tags/tag2.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0000"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09-14T01:56:23"/>
    </inkml:context>
    <inkml:brush xml:id="br0">
      <inkml:brushProperty name="width" value="0.05292" units="cm"/>
      <inkml:brushProperty name="height" value="0.05292" units="cm"/>
      <inkml:brushProperty name="color" value="#ff0000"/>
    </inkml:brush>
  </inkml:definitions>
  <inkml:trace contextRef="#ctx0" brushRef="#br0">1841.000 16911.000 2751 0,'-2.000'-1.000'256'0,"2.000"1.000"-256"16,0.000 0.000 0-16,0.000 0.000 0 0,0.000 0.000 192 0,0.000 0.000 0 15,-3.000-1.000 0-15,3.000 1.000 0 0,0.000 0.000-64 0,0.000 0.000-128 16,-1.000-1.000 176-16,-1.000 1.000-176 0,2.000 0.000 176 0,0.000-1.000-176 15,0.000 1.000 160-15,0.000 0.000-160 0,0.000 0.000 192 0,0.000 0.000-48 16,0.000-1.000-16-16,0.000 1.000 0 0,-2.000 0.000 112 0,2.000 0.000 16 0,0.000 0.000 0 0,-1.000 0.000 0 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83175-4722-4A10-8460-97CF65A54AB8}"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4CBFD-70A7-4979-A18C-0C8BAF40B62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83175-4722-4A10-8460-97CF65A54AB8}"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4CBFD-70A7-4979-A18C-0C8BAF40B62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customXml" Target="../ink/ink1.xml"/><Relationship Id="rId3" Type="http://schemas.openxmlformats.org/officeDocument/2006/relationships/image" Target="../media/image2.jpeg"/><Relationship Id="rId2"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43.png"/><Relationship Id="rId7" Type="http://schemas.openxmlformats.org/officeDocument/2006/relationships/image" Target="../media/image42.png"/><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51.png"/><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2.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20.xml.rels><?xml version="1.0" encoding="UTF-8" standalone="yes"?>
<Relationships xmlns="http://schemas.openxmlformats.org/package/2006/relationships"><Relationship Id="rId9" Type="http://schemas.openxmlformats.org/officeDocument/2006/relationships/image" Target="../media/image73.png"/><Relationship Id="rId8" Type="http://schemas.openxmlformats.org/officeDocument/2006/relationships/image" Target="../media/image72.png"/><Relationship Id="rId7" Type="http://schemas.openxmlformats.org/officeDocument/2006/relationships/image" Target="../media/image71.png"/><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0" Type="http://schemas.openxmlformats.org/officeDocument/2006/relationships/slideLayout" Target="../slideLayouts/slideLayout2.xml"/><Relationship Id="rId1" Type="http://schemas.openxmlformats.org/officeDocument/2006/relationships/image" Target="../media/image65.png"/></Relationships>
</file>

<file path=ppt/slides/_rels/slide21.xml.rels><?xml version="1.0" encoding="UTF-8" standalone="yes"?>
<Relationships xmlns="http://schemas.openxmlformats.org/package/2006/relationships"><Relationship Id="rId9" Type="http://schemas.openxmlformats.org/officeDocument/2006/relationships/image" Target="../media/image82.png"/><Relationship Id="rId8" Type="http://schemas.openxmlformats.org/officeDocument/2006/relationships/image" Target="../media/image81.png"/><Relationship Id="rId7" Type="http://schemas.openxmlformats.org/officeDocument/2006/relationships/image" Target="../media/image80.png"/><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3" Type="http://schemas.openxmlformats.org/officeDocument/2006/relationships/image" Target="../media/image76.png"/><Relationship Id="rId2" Type="http://schemas.openxmlformats.org/officeDocument/2006/relationships/image" Target="../media/image75.png"/><Relationship Id="rId14" Type="http://schemas.openxmlformats.org/officeDocument/2006/relationships/slideLayout" Target="../slideLayouts/slideLayout2.xml"/><Relationship Id="rId13" Type="http://schemas.openxmlformats.org/officeDocument/2006/relationships/image" Target="../media/image86.png"/><Relationship Id="rId12" Type="http://schemas.openxmlformats.org/officeDocument/2006/relationships/image" Target="../media/image85.png"/><Relationship Id="rId11" Type="http://schemas.openxmlformats.org/officeDocument/2006/relationships/image" Target="../media/image84.png"/><Relationship Id="rId10" Type="http://schemas.openxmlformats.org/officeDocument/2006/relationships/image" Target="../media/image83.png"/><Relationship Id="rId1" Type="http://schemas.openxmlformats.org/officeDocument/2006/relationships/image" Target="../media/image74.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0.png"/><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image" Target="../media/image87.png"/></Relationships>
</file>

<file path=ppt/slides/_rels/slide23.xml.rels><?xml version="1.0" encoding="UTF-8" standalone="yes"?>
<Relationships xmlns="http://schemas.openxmlformats.org/package/2006/relationships"><Relationship Id="rId9" Type="http://schemas.openxmlformats.org/officeDocument/2006/relationships/image" Target="../media/image99.png"/><Relationship Id="rId8" Type="http://schemas.openxmlformats.org/officeDocument/2006/relationships/image" Target="../media/image98.png"/><Relationship Id="rId7" Type="http://schemas.openxmlformats.org/officeDocument/2006/relationships/image" Target="../media/image97.png"/><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3" Type="http://schemas.openxmlformats.org/officeDocument/2006/relationships/image" Target="../media/image93.png"/><Relationship Id="rId2" Type="http://schemas.openxmlformats.org/officeDocument/2006/relationships/image" Target="../media/image92.png"/><Relationship Id="rId10" Type="http://schemas.openxmlformats.org/officeDocument/2006/relationships/slideLayout" Target="../slideLayouts/slideLayout13.xml"/><Relationship Id="rId1" Type="http://schemas.openxmlformats.org/officeDocument/2006/relationships/image" Target="../media/image91.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107.png"/><Relationship Id="rId7" Type="http://schemas.openxmlformats.org/officeDocument/2006/relationships/image" Target="../media/image106.png"/><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image" Target="../media/image100.png"/></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115.png"/><Relationship Id="rId7" Type="http://schemas.openxmlformats.org/officeDocument/2006/relationships/image" Target="../media/image114.png"/><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image" Target="../media/image108.png"/></Relationships>
</file>

<file path=ppt/slides/_rels/slide26.xml.rels><?xml version="1.0" encoding="UTF-8" standalone="yes"?>
<Relationships xmlns="http://schemas.openxmlformats.org/package/2006/relationships"><Relationship Id="rId9" Type="http://schemas.openxmlformats.org/officeDocument/2006/relationships/image" Target="../media/image124.png"/><Relationship Id="rId8" Type="http://schemas.openxmlformats.org/officeDocument/2006/relationships/image" Target="../media/image123.png"/><Relationship Id="rId7" Type="http://schemas.openxmlformats.org/officeDocument/2006/relationships/image" Target="../media/image122.png"/><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 Id="rId3" Type="http://schemas.openxmlformats.org/officeDocument/2006/relationships/image" Target="../media/image118.png"/><Relationship Id="rId2" Type="http://schemas.openxmlformats.org/officeDocument/2006/relationships/image" Target="../media/image117.png"/><Relationship Id="rId12" Type="http://schemas.openxmlformats.org/officeDocument/2006/relationships/slideLayout" Target="../slideLayouts/slideLayout13.xml"/><Relationship Id="rId11" Type="http://schemas.openxmlformats.org/officeDocument/2006/relationships/image" Target="../media/image126.png"/><Relationship Id="rId10" Type="http://schemas.openxmlformats.org/officeDocument/2006/relationships/image" Target="../media/image125.png"/><Relationship Id="rId1" Type="http://schemas.openxmlformats.org/officeDocument/2006/relationships/image" Target="../media/image116.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8.png"/><Relationship Id="rId1" Type="http://schemas.openxmlformats.org/officeDocument/2006/relationships/image" Target="../media/image127.pn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3.png"/><Relationship Id="rId4" Type="http://schemas.openxmlformats.org/officeDocument/2006/relationships/image" Target="../media/image132.png"/><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image" Target="../media/image129.pn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image" Target="../media/image134.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1.png"/><Relationship Id="rId1" Type="http://schemas.openxmlformats.org/officeDocument/2006/relationships/image" Target="../media/image140.pn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149.png"/><Relationship Id="rId7" Type="http://schemas.openxmlformats.org/officeDocument/2006/relationships/image" Target="../media/image148.png"/><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image" Target="../media/image142.png"/></Relationships>
</file>

<file path=ppt/slides/_rels/slide32.xml.rels><?xml version="1.0" encoding="UTF-8" standalone="yes"?>
<Relationships xmlns="http://schemas.openxmlformats.org/package/2006/relationships"><Relationship Id="rId9" Type="http://schemas.openxmlformats.org/officeDocument/2006/relationships/image" Target="../media/image158.png"/><Relationship Id="rId8" Type="http://schemas.openxmlformats.org/officeDocument/2006/relationships/image" Target="../media/image157.png"/><Relationship Id="rId7" Type="http://schemas.openxmlformats.org/officeDocument/2006/relationships/image" Target="../media/image156.png"/><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 Id="rId3" Type="http://schemas.openxmlformats.org/officeDocument/2006/relationships/image" Target="../media/image152.png"/><Relationship Id="rId2" Type="http://schemas.openxmlformats.org/officeDocument/2006/relationships/image" Target="../media/image151.png"/><Relationship Id="rId10" Type="http://schemas.openxmlformats.org/officeDocument/2006/relationships/slideLayout" Target="../slideLayouts/slideLayout2.xml"/><Relationship Id="rId1" Type="http://schemas.openxmlformats.org/officeDocument/2006/relationships/image" Target="../media/image150.png"/></Relationships>
</file>

<file path=ppt/slides/_rels/slide33.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image" Target="../media/image159.png"/></Relationships>
</file>

<file path=ppt/slides/_rels/slide34.xml.rels><?xml version="1.0" encoding="UTF-8" standalone="yes"?>
<Relationships xmlns="http://schemas.openxmlformats.org/package/2006/relationships"><Relationship Id="rId9" Type="http://schemas.openxmlformats.org/officeDocument/2006/relationships/image" Target="../media/image173.png"/><Relationship Id="rId8" Type="http://schemas.openxmlformats.org/officeDocument/2006/relationships/image" Target="../media/image172.png"/><Relationship Id="rId7" Type="http://schemas.openxmlformats.org/officeDocument/2006/relationships/image" Target="../media/image171.png"/><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68.png"/><Relationship Id="rId3" Type="http://schemas.openxmlformats.org/officeDocument/2006/relationships/image" Target="../media/image167.png"/><Relationship Id="rId2" Type="http://schemas.openxmlformats.org/officeDocument/2006/relationships/image" Target="../media/image166.png"/><Relationship Id="rId16" Type="http://schemas.openxmlformats.org/officeDocument/2006/relationships/slideLayout" Target="../slideLayouts/slideLayout13.xml"/><Relationship Id="rId15" Type="http://schemas.openxmlformats.org/officeDocument/2006/relationships/image" Target="../media/image179.png"/><Relationship Id="rId14" Type="http://schemas.openxmlformats.org/officeDocument/2006/relationships/image" Target="../media/image178.png"/><Relationship Id="rId13" Type="http://schemas.openxmlformats.org/officeDocument/2006/relationships/image" Target="../media/image177.png"/><Relationship Id="rId12" Type="http://schemas.openxmlformats.org/officeDocument/2006/relationships/image" Target="../media/image176.png"/><Relationship Id="rId11" Type="http://schemas.openxmlformats.org/officeDocument/2006/relationships/image" Target="../media/image175.png"/><Relationship Id="rId10" Type="http://schemas.openxmlformats.org/officeDocument/2006/relationships/image" Target="../media/image174.png"/><Relationship Id="rId1" Type="http://schemas.openxmlformats.org/officeDocument/2006/relationships/image" Target="../media/image165.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81.png"/><Relationship Id="rId1" Type="http://schemas.openxmlformats.org/officeDocument/2006/relationships/image" Target="../media/image180.pn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86.png"/><Relationship Id="rId4" Type="http://schemas.openxmlformats.org/officeDocument/2006/relationships/image" Target="../media/image185.png"/><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image" Target="../media/image18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a:spLocks noGrp="1" noRot="1" noChangeAspect="1" noMove="1" noResize="1" noEditPoints="1" noAdjustHandles="1" noChangeArrowheads="1" noChangeShapeType="1" noTextEdit="1"/>
          </p:cNvSpPr>
          <p:nvPr/>
        </p:nvSpPr>
        <p:spPr>
          <a:xfrm>
            <a:off x="0" y="85725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a:spLocks noGrp="1" noRot="1" noChangeAspect="1" noMove="1" noResize="1" noEditPoints="1" noAdjustHandles="1" noChangeArrowheads="1" noChangeShapeType="1" noTextEdit="1"/>
          </p:cNvSpPr>
          <p:nvPr/>
        </p:nvSpPr>
        <p:spPr>
          <a:xfrm>
            <a:off x="2286" y="1670810"/>
            <a:ext cx="9141714" cy="2470655"/>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6" name="Picture 15"/>
          <p:cNvPicPr>
            <a:picLocks noGrp="1" noRot="1" noChangeAspect="1" noMove="1" noResize="1" noEditPoints="1" noAdjustHandles="1" noChangeArrowheads="1" noChangeShapeType="1" noCrop="1"/>
          </p:cNvPicPr>
          <p:nvPr/>
        </p:nvPicPr>
        <p:blipFill>
          <a:blip r:embed="rId1">
            <a:extLst>
              <a:ext uri="{28A0092B-C50C-407E-A947-70E740481C1C}">
                <a14:useLocalDpi xmlns:a14="http://schemas.microsoft.com/office/drawing/2010/main" val="0"/>
              </a:ext>
            </a:extLst>
          </a:blip>
          <a:srcRect l="8235" r="8214" b="45501"/>
          <a:stretch>
            <a:fillRect/>
          </a:stretch>
        </p:blipFill>
        <p:spPr>
          <a:xfrm flipV="1">
            <a:off x="0" y="857250"/>
            <a:ext cx="9143999" cy="3355020"/>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2" name="标题 1"/>
          <p:cNvSpPr>
            <a:spLocks noGrp="1"/>
          </p:cNvSpPr>
          <p:nvPr>
            <p:ph type="ctrTitle"/>
          </p:nvPr>
        </p:nvSpPr>
        <p:spPr>
          <a:xfrm>
            <a:off x="565444" y="2414588"/>
            <a:ext cx="8013113" cy="1008851"/>
          </a:xfrm>
        </p:spPr>
        <p:txBody>
          <a:bodyPr anchor="ctr">
            <a:noAutofit/>
          </a:bodyPr>
          <a:lstStyle/>
          <a:p>
            <a:r>
              <a:rPr lang="zh-CN" altLang="en-US" sz="4200" b="1">
                <a:solidFill>
                  <a:srgbClr val="FFFFFF"/>
                </a:solidFill>
                <a:latin typeface="楷体" panose="02010609060101010101" pitchFamily="49" charset="-122"/>
                <a:ea typeface="楷体" panose="02010609060101010101" pitchFamily="49" charset="-122"/>
              </a:rPr>
              <a:t>复变函数与积分变换</a:t>
            </a:r>
            <a:endParaRPr lang="zh-CN" altLang="en-US" sz="4200" b="1">
              <a:solidFill>
                <a:srgbClr val="FFFFFF"/>
              </a:solidFill>
              <a:latin typeface="楷体" panose="02010609060101010101" pitchFamily="49" charset="-122"/>
              <a:ea typeface="楷体" panose="02010609060101010101" pitchFamily="49" charset="-122"/>
            </a:endParaRPr>
          </a:p>
        </p:txBody>
      </p:sp>
      <p:sp>
        <p:nvSpPr>
          <p:cNvPr id="3" name="副标题 2"/>
          <p:cNvSpPr>
            <a:spLocks noGrp="1"/>
          </p:cNvSpPr>
          <p:nvPr>
            <p:ph type="subTitle" idx="1"/>
          </p:nvPr>
        </p:nvSpPr>
        <p:spPr>
          <a:xfrm>
            <a:off x="878681" y="4212270"/>
            <a:ext cx="7101908" cy="649229"/>
          </a:xfrm>
        </p:spPr>
        <p:txBody>
          <a:bodyPr anchor="ctr">
            <a:normAutofit/>
          </a:bodyPr>
          <a:lstStyle/>
          <a:p>
            <a:r>
              <a:rPr lang="zh-CN" altLang="en-US" sz="2100" dirty="0">
                <a:solidFill>
                  <a:srgbClr val="000000"/>
                </a:solidFill>
                <a:latin typeface="楷体" panose="02010609060101010101" pitchFamily="49" charset="-122"/>
                <a:ea typeface="楷体" panose="02010609060101010101" pitchFamily="49" charset="-122"/>
              </a:rPr>
              <a:t>狄艳媚</a:t>
            </a:r>
            <a:endParaRPr lang="zh-CN" altLang="en-US" sz="2100" dirty="0">
              <a:solidFill>
                <a:srgbClr val="000000"/>
              </a:solidFill>
              <a:latin typeface="楷体" panose="02010609060101010101" pitchFamily="49" charset="-122"/>
              <a:ea typeface="楷体" panose="02010609060101010101" pitchFamily="49" charset="-122"/>
            </a:endParaRPr>
          </a:p>
        </p:txBody>
      </p:sp>
      <p:pic>
        <p:nvPicPr>
          <p:cNvPr id="7" name="图片 6"/>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2540" y="6215380"/>
            <a:ext cx="9144000" cy="642620"/>
          </a:xfrm>
          <a:prstGeom prst="rect">
            <a:avLst/>
          </a:prstGeom>
        </p:spPr>
      </p:pic>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658800" y="6086160"/>
              <a:ext cx="4320" cy="2160"/>
            </p14:xfrm>
          </p:contentPart>
        </mc:Choice>
        <mc:Fallback xmlns="">
          <p:pic>
            <p:nvPicPr>
              <p:cNvPr id="4" name="墨迹 3"/>
            </p:nvPicPr>
            <p:blipFill>
              <a:blip r:embed="rId5"/>
            </p:blipFill>
            <p:spPr>
              <a:xfrm>
                <a:off x="658800" y="6086160"/>
                <a:ext cx="4320" cy="2160"/>
              </a:xfrm>
              <a:prstGeom prst="rect"/>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2465321" y="2370002"/>
            <a:ext cx="3559996" cy="41610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导数</a:t>
            </a:r>
            <a:endParaRPr lang="zh-CN" altLang="en-US" sz="3000" dirty="0">
              <a:latin typeface="楷体" panose="02010609060101010101" pitchFamily="49" charset="-122"/>
              <a:ea typeface="楷体" panose="02010609060101010101" pitchFamily="49" charset="-122"/>
            </a:endParaRPr>
          </a:p>
        </p:txBody>
      </p:sp>
      <p:sp>
        <p:nvSpPr>
          <p:cNvPr id="8" name="标题 1"/>
          <p:cNvSpPr>
            <a:spLocks noGrp="1"/>
          </p:cNvSpPr>
          <p:nvPr>
            <p:ph type="title"/>
          </p:nvPr>
        </p:nvSpPr>
        <p:spPr>
          <a:xfrm>
            <a:off x="1062734" y="2232227"/>
            <a:ext cx="802025" cy="3188073"/>
          </a:xfrm>
        </p:spPr>
        <p:txBody>
          <a:bodyPr>
            <a:normAutofit/>
          </a:bodyPr>
          <a:lstStyle/>
          <a:p>
            <a:r>
              <a:rPr lang="zh-CN" altLang="en-US" sz="3750" dirty="0">
                <a:latin typeface="楷体" panose="02010609060101010101" pitchFamily="49" charset="-122"/>
                <a:ea typeface="楷体" panose="02010609060101010101" pitchFamily="49" charset="-122"/>
                <a:cs typeface="楷体" panose="02010609060101010101" pitchFamily="49" charset="-122"/>
              </a:rPr>
              <a:t>主</a:t>
            </a:r>
            <a:br>
              <a:rPr lang="en-US" altLang="zh-CN" sz="3750" dirty="0">
                <a:latin typeface="楷体" panose="02010609060101010101" pitchFamily="49" charset="-122"/>
                <a:ea typeface="楷体" panose="02010609060101010101" pitchFamily="49" charset="-122"/>
                <a:cs typeface="楷体" panose="02010609060101010101" pitchFamily="49" charset="-122"/>
              </a:rPr>
            </a:br>
            <a:r>
              <a:rPr lang="zh-CN" altLang="en-US" sz="3750" dirty="0">
                <a:latin typeface="楷体" panose="02010609060101010101" pitchFamily="49" charset="-122"/>
                <a:ea typeface="楷体" panose="02010609060101010101" pitchFamily="49" charset="-122"/>
                <a:cs typeface="楷体" panose="02010609060101010101" pitchFamily="49" charset="-122"/>
              </a:rPr>
              <a:t>要</a:t>
            </a:r>
            <a:br>
              <a:rPr lang="en-US" altLang="zh-CN" sz="3750" dirty="0">
                <a:latin typeface="楷体" panose="02010609060101010101" pitchFamily="49" charset="-122"/>
                <a:ea typeface="楷体" panose="02010609060101010101" pitchFamily="49" charset="-122"/>
                <a:cs typeface="楷体" panose="02010609060101010101" pitchFamily="49" charset="-122"/>
              </a:rPr>
            </a:br>
            <a:r>
              <a:rPr lang="zh-CN" altLang="en-US" sz="3750" dirty="0">
                <a:latin typeface="楷体" panose="02010609060101010101" pitchFamily="49" charset="-122"/>
                <a:ea typeface="楷体" panose="02010609060101010101" pitchFamily="49" charset="-122"/>
                <a:cs typeface="楷体" panose="02010609060101010101" pitchFamily="49" charset="-122"/>
              </a:rPr>
              <a:t>内</a:t>
            </a:r>
            <a:br>
              <a:rPr lang="en-US" altLang="zh-CN" sz="3750" dirty="0">
                <a:latin typeface="楷体" panose="02010609060101010101" pitchFamily="49" charset="-122"/>
                <a:ea typeface="楷体" panose="02010609060101010101" pitchFamily="49" charset="-122"/>
                <a:cs typeface="楷体" panose="02010609060101010101" pitchFamily="49" charset="-122"/>
              </a:rPr>
            </a:br>
            <a:r>
              <a:rPr lang="zh-CN" altLang="en-US" sz="3750" dirty="0">
                <a:latin typeface="楷体" panose="02010609060101010101" pitchFamily="49" charset="-122"/>
                <a:ea typeface="楷体" panose="02010609060101010101" pitchFamily="49" charset="-122"/>
                <a:cs typeface="楷体" panose="02010609060101010101" pitchFamily="49" charset="-122"/>
              </a:rPr>
              <a:t>容</a:t>
            </a:r>
            <a:endParaRPr lang="zh-CN" altLang="en-US" sz="3750" dirty="0">
              <a:latin typeface="楷体" panose="02010609060101010101" pitchFamily="49" charset="-122"/>
              <a:ea typeface="楷体" panose="02010609060101010101" pitchFamily="49" charset="-122"/>
              <a:cs typeface="楷体" panose="02010609060101010101" pitchFamily="49" charset="-122"/>
            </a:endParaRPr>
          </a:p>
        </p:txBody>
      </p:sp>
      <p:sp>
        <p:nvSpPr>
          <p:cNvPr id="9" name="左大括号 8"/>
          <p:cNvSpPr/>
          <p:nvPr/>
        </p:nvSpPr>
        <p:spPr>
          <a:xfrm>
            <a:off x="1864760" y="2625891"/>
            <a:ext cx="493161" cy="2368748"/>
          </a:xfrm>
          <a:prstGeom prst="leftBrace">
            <a:avLst/>
          </a:prstGeom>
          <a:ln w="38100">
            <a:solidFill>
              <a:schemeClr val="tx1"/>
            </a:solidFill>
          </a:ln>
          <a:scene3d>
            <a:camera prst="orthographicFront"/>
            <a:lightRig rig="threePt" dir="t"/>
          </a:scene3d>
          <a:sp3d>
            <a:bevelT prst="relaxedInset"/>
          </a:sp3d>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35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11" name="标题 1"/>
          <p:cNvSpPr txBox="1"/>
          <p:nvPr/>
        </p:nvSpPr>
        <p:spPr>
          <a:xfrm>
            <a:off x="2465321" y="3757256"/>
            <a:ext cx="4071778" cy="67167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cs typeface="楷体" panose="02010609060101010101" pitchFamily="49" charset="-122"/>
              </a:rPr>
              <a:t>Cauchy-Riemann</a:t>
            </a:r>
            <a:r>
              <a:rPr lang="zh-CN" altLang="en-US" sz="3000" dirty="0">
                <a:latin typeface="楷体" panose="02010609060101010101" pitchFamily="49" charset="-122"/>
                <a:ea typeface="楷体" panose="02010609060101010101" pitchFamily="49" charset="-122"/>
                <a:cs typeface="楷体" panose="02010609060101010101" pitchFamily="49" charset="-122"/>
              </a:rPr>
              <a:t>方程</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p:sp>
        <p:nvSpPr>
          <p:cNvPr id="14" name="标题 1"/>
          <p:cNvSpPr txBox="1"/>
          <p:nvPr/>
        </p:nvSpPr>
        <p:spPr>
          <a:xfrm>
            <a:off x="2425341" y="3175812"/>
            <a:ext cx="3559996" cy="41610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导数与连续的关系</a:t>
            </a:r>
            <a:endParaRPr lang="zh-CN" altLang="en-US" sz="3000" dirty="0">
              <a:latin typeface="楷体" panose="02010609060101010101" pitchFamily="49" charset="-122"/>
              <a:ea typeface="楷体" panose="02010609060101010101" pitchFamily="49" charset="-122"/>
            </a:endParaRPr>
          </a:p>
        </p:txBody>
      </p:sp>
      <p:sp>
        <p:nvSpPr>
          <p:cNvPr id="18" name="标题 1"/>
          <p:cNvSpPr txBox="1"/>
          <p:nvPr/>
        </p:nvSpPr>
        <p:spPr>
          <a:xfrm>
            <a:off x="2465321" y="4486095"/>
            <a:ext cx="3559996" cy="671673"/>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解析函数</a:t>
            </a:r>
            <a:endParaRPr lang="zh-CN" altLang="en-US" sz="3000" dirty="0">
              <a:latin typeface="楷体" panose="02010609060101010101" pitchFamily="49" charset="-122"/>
              <a:ea typeface="楷体" panose="02010609060101010101" pitchFamily="49" charset="-122"/>
            </a:endParaRPr>
          </a:p>
        </p:txBody>
      </p:sp>
      <p:sp>
        <p:nvSpPr>
          <p:cNvPr id="2" name="标题 1"/>
          <p:cNvSpPr txBox="1"/>
          <p:nvPr/>
        </p:nvSpPr>
        <p:spPr>
          <a:xfrm>
            <a:off x="468437" y="644965"/>
            <a:ext cx="8207126" cy="994172"/>
          </a:xfrm>
          <a:prstGeom prst="rect">
            <a:avLst/>
          </a:prstGeom>
        </p:spPr>
        <p:txBody>
          <a:bodyPr vert="horz" lIns="68580" tIns="34290" rIns="68580" bIns="3429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500" dirty="0">
                <a:latin typeface="楷体" panose="02010609060101010101" pitchFamily="49" charset="-122"/>
                <a:ea typeface="楷体" panose="02010609060101010101" pitchFamily="49" charset="-122"/>
                <a:cs typeface="楷体" panose="02010609060101010101" pitchFamily="49" charset="-122"/>
              </a:rPr>
              <a:t>2.2</a:t>
            </a:r>
            <a:r>
              <a:rPr lang="zh-CN" altLang="en-US" sz="4500" dirty="0">
                <a:latin typeface="楷体" panose="02010609060101010101" pitchFamily="49" charset="-122"/>
                <a:ea typeface="楷体" panose="02010609060101010101" pitchFamily="49" charset="-122"/>
                <a:cs typeface="楷体" panose="02010609060101010101" pitchFamily="49" charset="-122"/>
              </a:rPr>
              <a:t>  复变函数的导数和解析函数</a:t>
            </a:r>
            <a:endParaRPr lang="zh-CN" altLang="en-US" sz="4500" dirty="0">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bldLvl="0" animBg="1"/>
      <p:bldP spid="11" grpId="0"/>
      <p:bldP spid="14" grpId="0"/>
      <p:bldP spid="18"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508000" y="3089275"/>
            <a:ext cx="8283575" cy="3803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50000"/>
              </a:lnSpc>
            </a:pPr>
            <a:r>
              <a:rPr lang="zh-CN" altLang="zh-CN" sz="3000" dirty="0">
                <a:latin typeface="楷体" panose="02010609060101010101" pitchFamily="49" charset="-122"/>
                <a:ea typeface="楷体" panose="02010609060101010101" pitchFamily="49" charset="-122"/>
              </a:rPr>
              <a:t>掌握复变函数可导的充要条件以及熟练运用该条件判别复函数的可导性</a:t>
            </a:r>
            <a:r>
              <a:rPr lang="zh-CN" altLang="en-US"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p:sp>
        <p:nvSpPr>
          <p:cNvPr id="7" name="标题 1"/>
          <p:cNvSpPr txBox="1"/>
          <p:nvPr/>
        </p:nvSpPr>
        <p:spPr>
          <a:xfrm>
            <a:off x="202565" y="694690"/>
            <a:ext cx="2262505" cy="553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latin typeface="楷体" panose="02010609060101010101" pitchFamily="49" charset="-122"/>
                <a:ea typeface="楷体" panose="02010609060101010101" pitchFamily="49" charset="-122"/>
              </a:rPr>
              <a:t>教学目标：</a:t>
            </a:r>
            <a:endParaRPr lang="zh-CN" altLang="en-US" sz="3200" b="1" dirty="0">
              <a:latin typeface="楷体" panose="02010609060101010101" pitchFamily="49" charset="-122"/>
              <a:ea typeface="楷体" panose="02010609060101010101" pitchFamily="49" charset="-122"/>
            </a:endParaRPr>
          </a:p>
        </p:txBody>
      </p:sp>
      <p:sp>
        <p:nvSpPr>
          <p:cNvPr id="8" name="标题 1"/>
          <p:cNvSpPr txBox="1"/>
          <p:nvPr/>
        </p:nvSpPr>
        <p:spPr>
          <a:xfrm>
            <a:off x="508000" y="1544955"/>
            <a:ext cx="8283575" cy="7766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lnSpc>
                <a:spcPct val="150000"/>
              </a:lnSpc>
            </a:pPr>
            <a:r>
              <a:rPr lang="zh-CN" altLang="zh-CN" sz="3000" dirty="0">
                <a:latin typeface="楷体" panose="02010609060101010101" pitchFamily="49" charset="-122"/>
                <a:ea typeface="楷体" panose="02010609060101010101" pitchFamily="49" charset="-122"/>
              </a:rPr>
              <a:t>理解复变函数导数的概念，知道复变函数可导与连续的关系，会运用导数的运算法则</a:t>
            </a:r>
            <a:r>
              <a:rPr lang="zh-CN" altLang="en-US"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p:sp>
        <p:nvSpPr>
          <p:cNvPr id="2" name="标题 1"/>
          <p:cNvSpPr txBox="1"/>
          <p:nvPr/>
        </p:nvSpPr>
        <p:spPr>
          <a:xfrm>
            <a:off x="508000" y="4109720"/>
            <a:ext cx="8651875" cy="3803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000" dirty="0">
                <a:latin typeface="楷体" panose="02010609060101010101" pitchFamily="49" charset="-122"/>
                <a:ea typeface="楷体" panose="02010609060101010101" pitchFamily="49" charset="-122"/>
              </a:rPr>
              <a:t>理解复变函数解析的概念，知道解析与可导的关系</a:t>
            </a:r>
            <a:r>
              <a:rPr lang="zh-CN" altLang="en-US"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p:sp>
        <p:nvSpPr>
          <p:cNvPr id="3" name="标题 1"/>
          <p:cNvSpPr txBox="1"/>
          <p:nvPr/>
        </p:nvSpPr>
        <p:spPr>
          <a:xfrm>
            <a:off x="508000" y="4966335"/>
            <a:ext cx="8283575" cy="553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50000"/>
              </a:lnSpc>
            </a:pPr>
            <a:r>
              <a:rPr lang="zh-CN" altLang="zh-CN" sz="3000" dirty="0">
                <a:latin typeface="楷体" panose="02010609060101010101" pitchFamily="49" charset="-122"/>
                <a:ea typeface="楷体" panose="02010609060101010101" pitchFamily="49" charset="-122"/>
              </a:rPr>
              <a:t>掌握复函数解析的充要条件以及熟练运用该条件判别复函数的解析性</a:t>
            </a:r>
            <a:r>
              <a:rPr lang="zh-CN" altLang="en-US"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p:sp>
        <p:nvSpPr>
          <p:cNvPr id="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8" grpId="0"/>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403860" y="3034030"/>
            <a:ext cx="8207375" cy="124904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50000"/>
              </a:lnSpc>
            </a:pPr>
            <a:r>
              <a:rPr lang="zh-CN" altLang="en-US" sz="3100" dirty="0">
                <a:latin typeface="楷体" panose="02010609060101010101" pitchFamily="49" charset="-122"/>
                <a:ea typeface="楷体" panose="02010609060101010101" pitchFamily="49" charset="-122"/>
                <a:cs typeface="楷体" panose="02010609060101010101" pitchFamily="49" charset="-122"/>
              </a:rPr>
              <a:t>难点</a:t>
            </a:r>
            <a:r>
              <a:rPr lang="en-US" altLang="zh-CN" sz="3100" dirty="0">
                <a:latin typeface="楷体" panose="02010609060101010101" pitchFamily="49" charset="-122"/>
                <a:ea typeface="楷体" panose="02010609060101010101" pitchFamily="49" charset="-122"/>
                <a:cs typeface="楷体" panose="02010609060101010101" pitchFamily="49" charset="-122"/>
              </a:rPr>
              <a:t>—</a:t>
            </a:r>
            <a:r>
              <a:rPr lang="zh-CN" altLang="en-US" sz="3100" dirty="0">
                <a:latin typeface="楷体" panose="02010609060101010101" pitchFamily="49" charset="-122"/>
                <a:ea typeface="楷体" panose="02010609060101010101" pitchFamily="49" charset="-122"/>
                <a:cs typeface="楷体" panose="02010609060101010101" pitchFamily="49" charset="-122"/>
              </a:rPr>
              <a:t>函数可导、解析的概念及区别；</a:t>
            </a:r>
            <a:r>
              <a:rPr lang="zh-CN" altLang="en-US" sz="3100" dirty="0">
                <a:latin typeface="楷体" panose="02010609060101010101" pitchFamily="49" charset="-122"/>
                <a:ea typeface="楷体" panose="02010609060101010101" pitchFamily="49" charset="-122"/>
                <a:cs typeface="楷体" panose="02010609060101010101" pitchFamily="49" charset="-122"/>
                <a:sym typeface="+mn-ea"/>
              </a:rPr>
              <a:t>可导和解析的判定</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9" name="标题 1"/>
          <p:cNvSpPr txBox="1"/>
          <p:nvPr/>
        </p:nvSpPr>
        <p:spPr>
          <a:xfrm>
            <a:off x="172804" y="765669"/>
            <a:ext cx="1600572" cy="55363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latin typeface="楷体" panose="02010609060101010101" pitchFamily="49" charset="-122"/>
                <a:ea typeface="楷体" panose="02010609060101010101" pitchFamily="49" charset="-122"/>
              </a:rPr>
              <a:t>重难点：</a:t>
            </a:r>
            <a:endParaRPr lang="zh-CN" altLang="en-US" sz="3200" b="1" dirty="0">
              <a:latin typeface="楷体" panose="02010609060101010101" pitchFamily="49" charset="-122"/>
              <a:ea typeface="楷体" panose="02010609060101010101" pitchFamily="49" charset="-122"/>
            </a:endParaRPr>
          </a:p>
        </p:txBody>
      </p:sp>
      <p:sp>
        <p:nvSpPr>
          <p:cNvPr id="11" name="标题 1"/>
          <p:cNvSpPr txBox="1"/>
          <p:nvPr/>
        </p:nvSpPr>
        <p:spPr>
          <a:xfrm>
            <a:off x="506836" y="4743675"/>
            <a:ext cx="8207126" cy="5795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lnSpc>
                <a:spcPct val="150000"/>
              </a:lnSpc>
            </a:pPr>
            <a:endParaRPr lang="zh-CN" altLang="zh-CN" sz="3200" dirty="0">
              <a:latin typeface="楷体" panose="02010609060101010101" pitchFamily="49" charset="-122"/>
              <a:ea typeface="楷体" panose="02010609060101010101" pitchFamily="49" charset="-122"/>
              <a:cs typeface="楷体" panose="02010609060101010101" pitchFamily="49" charset="-122"/>
            </a:endParaRPr>
          </a:p>
        </p:txBody>
      </p:sp>
      <p:sp>
        <p:nvSpPr>
          <p:cNvPr id="6" name="文本框 5"/>
          <p:cNvSpPr txBox="1"/>
          <p:nvPr/>
        </p:nvSpPr>
        <p:spPr>
          <a:xfrm>
            <a:off x="305752" y="1440063"/>
            <a:ext cx="8532495" cy="1568450"/>
          </a:xfrm>
          <a:prstGeom prst="rect">
            <a:avLst/>
          </a:prstGeom>
          <a:noFill/>
        </p:spPr>
        <p:txBody>
          <a:bodyPr wrap="square" rtlCol="0">
            <a:spAutoFit/>
          </a:bodyPr>
          <a:lstStyle/>
          <a:p>
            <a:pPr lvl="0" fontAlgn="auto">
              <a:lnSpc>
                <a:spcPct val="150000"/>
              </a:lnSpc>
            </a:pPr>
            <a:r>
              <a:rPr lang="zh-CN" altLang="en-US" sz="3200" dirty="0">
                <a:latin typeface="楷体" panose="02010609060101010101" pitchFamily="49" charset="-122"/>
                <a:ea typeface="楷体" panose="02010609060101010101" pitchFamily="49" charset="-122"/>
                <a:cs typeface="楷体" panose="02010609060101010101" pitchFamily="49" charset="-122"/>
                <a:sym typeface="+mn-ea"/>
              </a:rPr>
              <a:t>重点</a:t>
            </a:r>
            <a:r>
              <a:rPr lang="en-US" altLang="zh-CN" sz="3200" dirty="0">
                <a:latin typeface="楷体" panose="02010609060101010101" pitchFamily="49" charset="-122"/>
                <a:ea typeface="楷体" panose="02010609060101010101" pitchFamily="49" charset="-122"/>
                <a:cs typeface="楷体" panose="02010609060101010101" pitchFamily="49" charset="-122"/>
                <a:sym typeface="+mn-ea"/>
              </a:rPr>
              <a:t>—</a:t>
            </a:r>
            <a:r>
              <a:rPr lang="zh-CN" altLang="zh-CN" sz="3200" dirty="0">
                <a:latin typeface="楷体" panose="02010609060101010101" pitchFamily="49" charset="-122"/>
                <a:ea typeface="楷体" panose="02010609060101010101" pitchFamily="49" charset="-122"/>
                <a:cs typeface="楷体" panose="02010609060101010101" pitchFamily="49" charset="-122"/>
                <a:sym typeface="+mn-ea"/>
              </a:rPr>
              <a:t>理解复变函数解析的概念以及函数可导和解析的判定定理</a:t>
            </a:r>
            <a:endParaRPr lang="zh-CN" altLang="zh-CN" sz="3200" dirty="0">
              <a:latin typeface="楷体" panose="02010609060101010101" pitchFamily="49" charset="-122"/>
              <a:ea typeface="楷体" panose="02010609060101010101" pitchFamily="49" charset="-122"/>
              <a:cs typeface="楷体" panose="02010609060101010101" pitchFamily="49" charset="-122"/>
            </a:endParaRPr>
          </a:p>
        </p:txBody>
      </p:sp>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1"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450677" y="4031081"/>
            <a:ext cx="8207126" cy="9429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100" dirty="0">
                <a:solidFill>
                  <a:srgbClr val="FF0000"/>
                </a:solidFill>
                <a:latin typeface="楷体" panose="02010609060101010101" pitchFamily="49" charset="-122"/>
                <a:ea typeface="楷体" panose="02010609060101010101" pitchFamily="49" charset="-122"/>
              </a:rPr>
              <a:t>另一方面</a:t>
            </a:r>
            <a:r>
              <a:rPr lang="zh-CN" altLang="en-US" sz="3100" dirty="0">
                <a:latin typeface="楷体" panose="02010609060101010101" pitchFamily="49" charset="-122"/>
                <a:ea typeface="楷体" panose="02010609060101010101" pitchFamily="49" charset="-122"/>
              </a:rPr>
              <a:t>这也是实际问题中应用较为广泛的一类函数，如平面无旋流体的流函数与势函数，静电场中的电通量和电位，它们皆与解析函数有密切联系</a:t>
            </a:r>
            <a:r>
              <a:rPr lang="en-US" altLang="zh-CN" sz="3100" dirty="0">
                <a:latin typeface="楷体" panose="02010609060101010101" pitchFamily="49" charset="-122"/>
                <a:ea typeface="楷体" panose="02010609060101010101" pitchFamily="49" charset="-122"/>
              </a:rPr>
              <a:t>.</a:t>
            </a:r>
            <a:endParaRPr lang="en-US" altLang="zh-CN" sz="3100" dirty="0">
              <a:latin typeface="楷体" panose="02010609060101010101" pitchFamily="49" charset="-122"/>
              <a:ea typeface="楷体" panose="02010609060101010101" pitchFamily="49" charset="-122"/>
            </a:endParaRPr>
          </a:p>
        </p:txBody>
      </p:sp>
      <p:sp>
        <p:nvSpPr>
          <p:cNvPr id="7" name="标题 1"/>
          <p:cNvSpPr txBox="1"/>
          <p:nvPr/>
        </p:nvSpPr>
        <p:spPr>
          <a:xfrm>
            <a:off x="393527" y="1055135"/>
            <a:ext cx="8207126" cy="553633"/>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latin typeface="楷体" panose="02010609060101010101" pitchFamily="49" charset="-122"/>
                <a:ea typeface="楷体" panose="02010609060101010101" pitchFamily="49" charset="-122"/>
              </a:rPr>
              <a:t>复变函数的主要研究对象是解析函数</a:t>
            </a:r>
            <a:r>
              <a:rPr lang="en-US" altLang="zh-CN" sz="3200" dirty="0">
                <a:latin typeface="楷体" panose="02010609060101010101" pitchFamily="49" charset="-122"/>
                <a:ea typeface="楷体" panose="02010609060101010101" pitchFamily="49" charset="-122"/>
              </a:rPr>
              <a:t>.</a:t>
            </a:r>
            <a:r>
              <a:rPr lang="zh-CN" altLang="en-US" sz="3200" dirty="0">
                <a:latin typeface="楷体" panose="02010609060101010101" pitchFamily="49" charset="-122"/>
                <a:ea typeface="楷体" panose="02010609060101010101" pitchFamily="49" charset="-122"/>
              </a:rPr>
              <a:t>因为：</a:t>
            </a:r>
            <a:endParaRPr lang="en-US" altLang="zh-CN" sz="3200" dirty="0">
              <a:latin typeface="楷体" panose="02010609060101010101" pitchFamily="49" charset="-122"/>
              <a:ea typeface="楷体" panose="02010609060101010101" pitchFamily="49" charset="-122"/>
            </a:endParaRPr>
          </a:p>
        </p:txBody>
      </p:sp>
      <p:sp>
        <p:nvSpPr>
          <p:cNvPr id="8" name="标题 1"/>
          <p:cNvSpPr txBox="1"/>
          <p:nvPr/>
        </p:nvSpPr>
        <p:spPr>
          <a:xfrm>
            <a:off x="468437" y="2148195"/>
            <a:ext cx="8207126" cy="9429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FF0000"/>
                </a:solidFill>
                <a:latin typeface="楷体" panose="02010609060101010101" pitchFamily="49" charset="-122"/>
                <a:ea typeface="楷体" panose="02010609060101010101" pitchFamily="49" charset="-122"/>
              </a:rPr>
              <a:t>一方面</a:t>
            </a:r>
            <a:r>
              <a:rPr lang="zh-CN" altLang="en-US" sz="3200" dirty="0">
                <a:latin typeface="楷体" panose="02010609060101010101" pitchFamily="49" charset="-122"/>
                <a:ea typeface="楷体" panose="02010609060101010101" pitchFamily="49" charset="-122"/>
              </a:rPr>
              <a:t>它具有比较良好的性质，如能展成幂级数，具有任意阶导数，实、虚部皆为调和函数；</a:t>
            </a:r>
            <a:endParaRPr lang="zh-CN" altLang="en-US" sz="3200" dirty="0">
              <a:latin typeface="楷体" panose="02010609060101010101" pitchFamily="49" charset="-122"/>
              <a:ea typeface="楷体" panose="02010609060101010101" pitchFamily="49" charset="-122"/>
            </a:endParaRPr>
          </a:p>
        </p:txBody>
      </p:sp>
      <p:sp>
        <p:nvSpPr>
          <p:cNvPr id="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8"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407" y="665509"/>
            <a:ext cx="4401820" cy="942975"/>
          </a:xfrm>
        </p:spPr>
        <p:txBody>
          <a:bodyPr>
            <a:noAutofit/>
          </a:bodyPr>
          <a:lstStyle/>
          <a:p>
            <a:r>
              <a:rPr lang="zh-CN" altLang="en-US" sz="3200" b="1" dirty="0">
                <a:latin typeface="楷体" panose="02010609060101010101" pitchFamily="49" charset="-122"/>
                <a:ea typeface="楷体" panose="02010609060101010101" pitchFamily="49" charset="-122"/>
              </a:rPr>
              <a:t>一、复变函数的导数</a:t>
            </a:r>
            <a:endParaRPr lang="zh-CN" altLang="en-US" sz="3200" b="1"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6" name="标题 1"/>
              <p:cNvSpPr txBox="1"/>
              <p:nvPr/>
            </p:nvSpPr>
            <p:spPr>
              <a:xfrm>
                <a:off x="222566" y="1507421"/>
                <a:ext cx="8698865" cy="324421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200" b="1" dirty="0">
                    <a:solidFill>
                      <a:srgbClr val="FF0000"/>
                    </a:solidFill>
                    <a:latin typeface="楷体" panose="02010609060101010101" pitchFamily="49" charset="-122"/>
                    <a:ea typeface="楷体" panose="02010609060101010101" pitchFamily="49" charset="-122"/>
                    <a:sym typeface="+mn-ea"/>
                  </a:rPr>
                  <a:t>定义</a:t>
                </a:r>
                <a:r>
                  <a:rPr lang="en-US" altLang="zh-CN" sz="3200" b="1" dirty="0">
                    <a:solidFill>
                      <a:srgbClr val="FF0000"/>
                    </a:solidFill>
                    <a:latin typeface="楷体" panose="02010609060101010101" pitchFamily="49" charset="-122"/>
                    <a:ea typeface="楷体" panose="02010609060101010101" pitchFamily="49" charset="-122"/>
                    <a:sym typeface="+mn-ea"/>
                  </a:rPr>
                  <a:t>2.7 </a:t>
                </a:r>
                <a:r>
                  <a:rPr lang="zh-CN" altLang="en-US" sz="3200" dirty="0">
                    <a:latin typeface="楷体" panose="02010609060101010101" pitchFamily="49" charset="-122"/>
                    <a:ea typeface="楷体" panose="02010609060101010101" pitchFamily="49" charset="-122"/>
                  </a:rPr>
                  <a:t>设</a:t>
                </a:r>
                <a14:m>
                  <m:oMath xmlns:m="http://schemas.openxmlformats.org/officeDocument/2006/math">
                    <m:r>
                      <a:rPr lang="en-US" altLang="zh-CN" sz="3200" b="0" i="1" smtClean="0">
                        <a:latin typeface="Cambria Math" panose="02040503050406030204" pitchFamily="18" charset="0"/>
                        <a:ea typeface="楷体" panose="02010609060101010101" pitchFamily="49" charset="-122"/>
                      </a:rPr>
                      <m:t>𝑓</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𝑧</m:t>
                    </m:r>
                    <m:r>
                      <a:rPr lang="en-US" altLang="zh-CN" sz="3200" b="0" i="1" smtClean="0">
                        <a:latin typeface="Cambria Math" panose="02040503050406030204" pitchFamily="18" charset="0"/>
                        <a:ea typeface="楷体" panose="02010609060101010101" pitchFamily="49" charset="-122"/>
                      </a:rPr>
                      <m:t>) </m:t>
                    </m:r>
                    <m:r>
                      <a:rPr lang="zh-CN" altLang="en-US" sz="3200" i="1" smtClean="0">
                        <a:latin typeface="Cambria Math" panose="02040503050406030204" pitchFamily="18" charset="0"/>
                        <a:ea typeface="楷体" panose="02010609060101010101" pitchFamily="49" charset="-122"/>
                      </a:rPr>
                      <m:t>为</m:t>
                    </m:r>
                  </m:oMath>
                </a14:m>
                <a:r>
                  <a:rPr lang="zh-CN" altLang="en-US" sz="3200" b="1" dirty="0">
                    <a:latin typeface="楷体" panose="02010609060101010101" pitchFamily="49" charset="-122"/>
                    <a:ea typeface="楷体" panose="02010609060101010101" pitchFamily="49" charset="-122"/>
                  </a:rPr>
                  <a:t>定义在区域</a:t>
                </a:r>
                <a14:m>
                  <m:oMath xmlns:m="http://schemas.openxmlformats.org/officeDocument/2006/math">
                    <m:r>
                      <a:rPr lang="en-US" altLang="zh-CN" sz="3200" b="0" i="1" smtClean="0">
                        <a:latin typeface="Cambria Math" panose="02040503050406030204" pitchFamily="18" charset="0"/>
                        <a:ea typeface="楷体" panose="02010609060101010101" pitchFamily="49" charset="-122"/>
                      </a:rPr>
                      <m:t>𝐷</m:t>
                    </m:r>
                  </m:oMath>
                </a14:m>
                <a:r>
                  <a:rPr lang="zh-CN" altLang="en-US" sz="3200" b="1" dirty="0">
                    <a:latin typeface="楷体" panose="02010609060101010101" pitchFamily="49" charset="-122"/>
                    <a:ea typeface="楷体" panose="02010609060101010101" pitchFamily="49" charset="-122"/>
                  </a:rPr>
                  <a:t>内的</a:t>
                </a:r>
                <a:r>
                  <a:rPr lang="zh-CN" altLang="en-US" sz="3200" b="1" dirty="0">
                    <a:latin typeface="楷体" panose="02010609060101010101" pitchFamily="49" charset="-122"/>
                    <a:ea typeface="楷体" panose="02010609060101010101" pitchFamily="49" charset="-122"/>
                  </a:rPr>
                  <a:t>单值函数</a:t>
                </a:r>
                <a:r>
                  <a:rPr lang="en-US" altLang="zh-CN" sz="3200" b="1" dirty="0">
                    <a:latin typeface="楷体" panose="02010609060101010101" pitchFamily="49" charset="-122"/>
                    <a:ea typeface="楷体" panose="02010609060101010101" pitchFamily="49" charset="-122"/>
                  </a:rPr>
                  <a:t>,</a:t>
                </a:r>
                <a14:m>
                  <m:oMath xmlns:m="http://schemas.openxmlformats.org/officeDocument/2006/math">
                    <m:sSub>
                      <m:sSubPr>
                        <m:ctrlPr>
                          <a:rPr lang="en-US" altLang="zh-CN" sz="320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𝑧</m:t>
                        </m:r>
                      </m:e>
                      <m:sub>
                        <m:r>
                          <a:rPr lang="en-US" altLang="zh-CN" sz="3200" b="0" i="1" smtClean="0">
                            <a:latin typeface="Cambria Math" panose="02040503050406030204" pitchFamily="18" charset="0"/>
                            <a:ea typeface="楷体" panose="02010609060101010101" pitchFamily="49" charset="-122"/>
                          </a:rPr>
                          <m:t>0</m:t>
                        </m:r>
                      </m:sub>
                    </m:sSub>
                    <m:r>
                      <a:rPr lang="en-US" altLang="zh-CN" sz="320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𝐷</m:t>
                    </m:r>
                  </m:oMath>
                </a14:m>
                <a:r>
                  <a:rPr lang="en-US" altLang="zh-CN" sz="3200" b="1" dirty="0">
                    <a:latin typeface="楷体" panose="02010609060101010101" pitchFamily="49" charset="-122"/>
                    <a:ea typeface="楷体" panose="02010609060101010101" pitchFamily="49" charset="-122"/>
                  </a:rPr>
                  <a:t>.</a:t>
                </a:r>
                <a:r>
                  <a:rPr lang="zh-CN" altLang="en-US" sz="3200" b="1" dirty="0">
                    <a:latin typeface="楷体" panose="02010609060101010101" pitchFamily="49" charset="-122"/>
                    <a:ea typeface="楷体" panose="02010609060101010101" pitchFamily="49" charset="-122"/>
                  </a:rPr>
                  <a:t>若</a:t>
                </a:r>
                <a14:m>
                  <m:oMath xmlns:m="http://schemas.openxmlformats.org/officeDocument/2006/math">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sub>
                                </m:sSub>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sub>
                            </m:sSub>
                            <m:r>
                              <a:rPr lang="en-US" altLang="zh-CN" sz="3200" i="1">
                                <a:latin typeface="Cambria Math" panose="02040503050406030204" pitchFamily="18" charset="0"/>
                                <a:ea typeface="Cambria Math" panose="02040503050406030204" pitchFamily="18" charset="0"/>
                                <a:sym typeface="Wingdings" panose="05000000000000000000" pitchFamily="2" charset="2"/>
                              </a:rPr>
                              <m:t>)</m:t>
                            </m:r>
                          </m:num>
                          <m:den>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den>
                        </m:f>
                      </m:e>
                    </m:func>
                  </m:oMath>
                </a14:m>
                <a:r>
                  <a:rPr lang="zh-CN" altLang="en-US" sz="3200" b="1" dirty="0">
                    <a:latin typeface="楷体" panose="02010609060101010101" pitchFamily="49" charset="-122"/>
                    <a:ea typeface="楷体" panose="02010609060101010101" pitchFamily="49" charset="-122"/>
                  </a:rPr>
                  <a:t>存在，则称</a:t>
                </a:r>
                <a14:m>
                  <m:oMath xmlns:m="http://schemas.openxmlformats.org/officeDocument/2006/math">
                    <m:r>
                      <a:rPr lang="en-US" altLang="zh-CN" sz="3200" i="1">
                        <a:latin typeface="Cambria Math" panose="02040503050406030204" pitchFamily="18" charset="0"/>
                        <a:ea typeface="楷体" panose="02010609060101010101" pitchFamily="49" charset="-122"/>
                      </a:rPr>
                      <m:t>𝑓</m:t>
                    </m:r>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𝑧</m:t>
                    </m:r>
                    <m:r>
                      <a:rPr lang="en-US" altLang="zh-CN" sz="3200" i="1">
                        <a:latin typeface="Cambria Math" panose="02040503050406030204" pitchFamily="18" charset="0"/>
                        <a:ea typeface="楷体" panose="02010609060101010101" pitchFamily="49" charset="-122"/>
                      </a:rPr>
                      <m:t>) </m:t>
                    </m:r>
                  </m:oMath>
                </a14:m>
                <a:r>
                  <a:rPr lang="zh-CN" altLang="en-US" sz="3200" b="1" dirty="0">
                    <a:latin typeface="楷体" panose="02010609060101010101" pitchFamily="49" charset="-122"/>
                    <a:ea typeface="楷体" panose="02010609060101010101" pitchFamily="49" charset="-122"/>
                  </a:rPr>
                  <a:t>在</a:t>
                </a:r>
                <a14:m>
                  <m:oMath xmlns:m="http://schemas.openxmlformats.org/officeDocument/2006/math">
                    <m:sSub>
                      <m:sSubPr>
                        <m:ctrlPr>
                          <a:rPr lang="en-US" altLang="zh-CN" sz="3200" i="1">
                            <a:latin typeface="Cambria Math" panose="02040503050406030204" pitchFamily="18" charset="0"/>
                            <a:ea typeface="楷体" panose="02010609060101010101" pitchFamily="49" charset="-122"/>
                          </a:rPr>
                        </m:ctrlPr>
                      </m:sSubPr>
                      <m:e>
                        <m:r>
                          <a:rPr lang="en-US" altLang="zh-CN" sz="3200" i="1">
                            <a:latin typeface="Cambria Math" panose="02040503050406030204" pitchFamily="18" charset="0"/>
                            <a:ea typeface="楷体" panose="02010609060101010101" pitchFamily="49" charset="-122"/>
                          </a:rPr>
                          <m:t>𝑧</m:t>
                        </m:r>
                      </m:e>
                      <m:sub>
                        <m:r>
                          <a:rPr lang="en-US" altLang="zh-CN" sz="3200" i="1">
                            <a:latin typeface="Cambria Math" panose="02040503050406030204" pitchFamily="18" charset="0"/>
                            <a:ea typeface="楷体" panose="02010609060101010101" pitchFamily="49" charset="-122"/>
                          </a:rPr>
                          <m:t>0</m:t>
                        </m:r>
                      </m:sub>
                    </m:sSub>
                  </m:oMath>
                </a14:m>
                <a:r>
                  <a:rPr lang="zh-CN" altLang="en-US" sz="3200" b="1" dirty="0">
                    <a:latin typeface="楷体" panose="02010609060101010101" pitchFamily="49" charset="-122"/>
                    <a:ea typeface="楷体" panose="02010609060101010101" pitchFamily="49" charset="-122"/>
                  </a:rPr>
                  <a:t>可导，并称此极限值为</a:t>
                </a:r>
                <a14:m>
                  <m:oMath xmlns:m="http://schemas.openxmlformats.org/officeDocument/2006/math">
                    <m:r>
                      <a:rPr lang="en-US" altLang="zh-CN" sz="3200" i="1">
                        <a:latin typeface="Cambria Math" panose="02040503050406030204" pitchFamily="18" charset="0"/>
                        <a:ea typeface="楷体" panose="02010609060101010101" pitchFamily="49" charset="-122"/>
                      </a:rPr>
                      <m:t>𝑓</m:t>
                    </m:r>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𝑧</m:t>
                    </m:r>
                    <m:r>
                      <a:rPr lang="en-US" altLang="zh-CN" sz="3200" i="1">
                        <a:latin typeface="Cambria Math" panose="02040503050406030204" pitchFamily="18" charset="0"/>
                        <a:ea typeface="楷体" panose="02010609060101010101" pitchFamily="49" charset="-122"/>
                      </a:rPr>
                      <m:t>) </m:t>
                    </m:r>
                  </m:oMath>
                </a14:m>
                <a:r>
                  <a:rPr lang="zh-CN" altLang="en-US" sz="3200" b="1" dirty="0">
                    <a:latin typeface="楷体" panose="02010609060101010101" pitchFamily="49" charset="-122"/>
                    <a:ea typeface="楷体" panose="02010609060101010101" pitchFamily="49" charset="-122"/>
                  </a:rPr>
                  <a:t>在</a:t>
                </a:r>
                <a14:m>
                  <m:oMath xmlns:m="http://schemas.openxmlformats.org/officeDocument/2006/math">
                    <m:sSub>
                      <m:sSubPr>
                        <m:ctrlPr>
                          <a:rPr lang="en-US" altLang="zh-CN" sz="3200" i="1">
                            <a:latin typeface="Cambria Math" panose="02040503050406030204" pitchFamily="18" charset="0"/>
                            <a:ea typeface="楷体" panose="02010609060101010101" pitchFamily="49" charset="-122"/>
                          </a:rPr>
                        </m:ctrlPr>
                      </m:sSubPr>
                      <m:e>
                        <m:r>
                          <a:rPr lang="en-US" altLang="zh-CN" sz="3200" i="1">
                            <a:latin typeface="Cambria Math" panose="02040503050406030204" pitchFamily="18" charset="0"/>
                            <a:ea typeface="楷体" panose="02010609060101010101" pitchFamily="49" charset="-122"/>
                          </a:rPr>
                          <m:t>𝑧</m:t>
                        </m:r>
                      </m:e>
                      <m:sub>
                        <m:r>
                          <a:rPr lang="en-US" altLang="zh-CN" sz="3200" i="1">
                            <a:latin typeface="Cambria Math" panose="02040503050406030204" pitchFamily="18" charset="0"/>
                            <a:ea typeface="楷体" panose="02010609060101010101" pitchFamily="49" charset="-122"/>
                          </a:rPr>
                          <m:t>0</m:t>
                        </m:r>
                      </m:sub>
                    </m:sSub>
                  </m:oMath>
                </a14:m>
                <a:r>
                  <a:rPr lang="zh-CN" altLang="en-US" sz="3200" b="1" dirty="0">
                    <a:latin typeface="楷体" panose="02010609060101010101" pitchFamily="49" charset="-122"/>
                    <a:ea typeface="楷体" panose="02010609060101010101" pitchFamily="49" charset="-122"/>
                  </a:rPr>
                  <a:t>点的导数，</a:t>
                </a:r>
                <a:r>
                  <a:rPr lang="zh-CN" altLang="en-US" sz="3200" b="1" dirty="0">
                    <a:latin typeface="楷体" panose="02010609060101010101" pitchFamily="49" charset="-122"/>
                    <a:ea typeface="楷体" panose="02010609060101010101" pitchFamily="49" charset="-122"/>
                    <a:sym typeface="+mn-ea"/>
                  </a:rPr>
                  <a:t>记作</a:t>
                </a:r>
                <a14:m>
                  <m:oMath xmlns:m="http://schemas.openxmlformats.org/officeDocument/2006/math">
                    <m:sSub>
                      <m:sSubPr>
                        <m:ctrlPr>
                          <a:rPr lang="en-US" altLang="zh-CN" sz="3200" i="1">
                            <a:latin typeface="Cambria Math" panose="02040503050406030204" pitchFamily="18" charset="0"/>
                            <a:ea typeface="楷体" panose="02010609060101010101" pitchFamily="49" charset="-122"/>
                          </a:rPr>
                        </m:ctrlPr>
                      </m:sSubPr>
                      <m:e>
                        <m:sSubSup>
                          <m:sSubSupPr>
                            <m:ctrlPr>
                              <a:rPr lang="en-US" altLang="zh-CN" sz="3200" i="1">
                                <a:latin typeface="Cambria Math" panose="02040503050406030204" pitchFamily="18" charset="0"/>
                                <a:ea typeface="楷体" panose="02010609060101010101" pitchFamily="49" charset="-122"/>
                              </a:rPr>
                            </m:ctrlPr>
                          </m:sSubSupPr>
                          <m:e>
                            <m:r>
                              <a:rPr lang="en-US" altLang="zh-CN" sz="3200" i="1">
                                <a:latin typeface="Cambria Math" panose="02040503050406030204" pitchFamily="18" charset="0"/>
                                <a:ea typeface="楷体" panose="02010609060101010101" pitchFamily="49" charset="-122"/>
                              </a:rPr>
                              <m:t>𝑓</m:t>
                            </m:r>
                          </m:e>
                          <m:sub/>
                          <m:sup>
                            <m:r>
                              <a:rPr lang="en-US" altLang="zh-CN" sz="3200" i="1">
                                <a:latin typeface="Cambria Math" panose="02040503050406030204" pitchFamily="18" charset="0"/>
                                <a:ea typeface="楷体" panose="02010609060101010101" pitchFamily="49" charset="-122"/>
                              </a:rPr>
                              <m:t>′</m:t>
                            </m:r>
                          </m:sup>
                        </m:sSubSup>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𝑧</m:t>
                        </m:r>
                      </m:e>
                      <m:sub>
                        <m:r>
                          <a:rPr lang="en-US" altLang="zh-CN" sz="3200" i="1">
                            <a:latin typeface="Cambria Math" panose="02040503050406030204" pitchFamily="18" charset="0"/>
                            <a:ea typeface="楷体" panose="02010609060101010101" pitchFamily="49" charset="-122"/>
                          </a:rPr>
                          <m:t>0</m:t>
                        </m:r>
                      </m:sub>
                    </m:sSub>
                    <m:r>
                      <a:rPr lang="en-US" altLang="zh-CN" sz="3200" i="1">
                        <a:latin typeface="Cambria Math" panose="02040503050406030204" pitchFamily="18" charset="0"/>
                        <a:ea typeface="楷体" panose="02010609060101010101" pitchFamily="49" charset="-122"/>
                      </a:rPr>
                      <m:t>)</m:t>
                    </m:r>
                    <m:r>
                      <m:rPr>
                        <m:nor/>
                      </m:rPr>
                      <a:rPr lang="zh-CN" altLang="en-US" sz="3200" b="1" dirty="0">
                        <a:latin typeface="楷体" panose="02010609060101010101" pitchFamily="49" charset="-122"/>
                        <a:ea typeface="楷体" panose="02010609060101010101" pitchFamily="49" charset="-122"/>
                      </a:rPr>
                      <m:t>或</m:t>
                    </m:r>
                    <m:f>
                      <m:fPr>
                        <m:ctrlPr>
                          <a:rPr lang="en-US" altLang="zh-CN" sz="3200" b="1" i="1">
                            <a:latin typeface="Cambria Math" panose="02040503050406030204" pitchFamily="18" charset="0"/>
                            <a:ea typeface="楷体" panose="02010609060101010101" pitchFamily="49" charset="-122"/>
                          </a:rPr>
                        </m:ctrlPr>
                      </m:fPr>
                      <m:num>
                        <m:r>
                          <a:rPr lang="en-US" altLang="zh-CN" sz="3200" b="1" i="1">
                            <a:latin typeface="Cambria Math" panose="02040503050406030204" pitchFamily="18" charset="0"/>
                            <a:ea typeface="楷体" panose="02010609060101010101" pitchFamily="49" charset="-122"/>
                          </a:rPr>
                          <m:t>𝒅𝒇</m:t>
                        </m:r>
                      </m:num>
                      <m:den>
                        <m:r>
                          <a:rPr lang="en-US" altLang="zh-CN" sz="3200" b="1" i="1">
                            <a:latin typeface="Cambria Math" panose="02040503050406030204" pitchFamily="18" charset="0"/>
                            <a:ea typeface="楷体" panose="02010609060101010101" pitchFamily="49" charset="-122"/>
                          </a:rPr>
                          <m:t>𝒅𝒛</m:t>
                        </m:r>
                      </m:den>
                    </m:f>
                    <m:r>
                      <a:rPr lang="en-US" altLang="zh-CN" sz="3200" b="1" i="1">
                        <a:latin typeface="Cambria Math" panose="02040503050406030204" pitchFamily="18" charset="0"/>
                        <a:ea typeface="楷体" panose="02010609060101010101" pitchFamily="49" charset="-122"/>
                      </a:rPr>
                      <m:t>(</m:t>
                    </m:r>
                    <m:sSub>
                      <m:sSubPr>
                        <m:ctrlPr>
                          <a:rPr lang="en-US" altLang="zh-CN" sz="3200" b="1" i="1">
                            <a:latin typeface="Cambria Math" panose="02040503050406030204" pitchFamily="18" charset="0"/>
                            <a:ea typeface="楷体" panose="02010609060101010101" pitchFamily="49" charset="-122"/>
                          </a:rPr>
                        </m:ctrlPr>
                      </m:sSubPr>
                      <m:e>
                        <m:r>
                          <a:rPr lang="en-US" altLang="zh-CN" sz="3200" b="1" i="1">
                            <a:latin typeface="Cambria Math" panose="02040503050406030204" pitchFamily="18" charset="0"/>
                            <a:ea typeface="楷体" panose="02010609060101010101" pitchFamily="49" charset="-122"/>
                          </a:rPr>
                          <m:t>𝒛</m:t>
                        </m:r>
                      </m:e>
                      <m:sub>
                        <m:r>
                          <a:rPr lang="en-US" altLang="zh-CN" sz="3200" b="1" i="1">
                            <a:latin typeface="Cambria Math" panose="02040503050406030204" pitchFamily="18" charset="0"/>
                            <a:ea typeface="楷体" panose="02010609060101010101" pitchFamily="49" charset="-122"/>
                          </a:rPr>
                          <m:t>𝟎</m:t>
                        </m:r>
                      </m:sub>
                    </m:sSub>
                    <m:r>
                      <a:rPr lang="en-US" altLang="zh-CN" sz="3200" b="1" i="1">
                        <a:latin typeface="Cambria Math" panose="02040503050406030204" pitchFamily="18" charset="0"/>
                        <a:ea typeface="楷体" panose="02010609060101010101" pitchFamily="49" charset="-122"/>
                      </a:rPr>
                      <m:t>)</m:t>
                    </m:r>
                  </m:oMath>
                </a14:m>
                <a:r>
                  <a:rPr lang="en-US" altLang="zh-CN" sz="3200" b="1" dirty="0">
                    <a:latin typeface="楷体" panose="02010609060101010101" pitchFamily="49" charset="-122"/>
                    <a:ea typeface="楷体" panose="02010609060101010101" pitchFamily="49" charset="-122"/>
                  </a:rPr>
                  <a:t>  </a:t>
                </a:r>
                <a:endParaRPr lang="en-US" altLang="zh-CN" sz="3200" b="1"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222566" y="1507421"/>
                <a:ext cx="8698865" cy="3244214"/>
              </a:xfrm>
              <a:prstGeom prst="rect">
                <a:avLst/>
              </a:prstGeom>
              <a:blipFill rotWithShape="1">
                <a:blip r:embed="rId1"/>
                <a:stretch>
                  <a:fillRect l="-4" t="-17" r="4"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22872" y="4650568"/>
                <a:ext cx="8898255" cy="181122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b="1" dirty="0">
                    <a:latin typeface="楷体" panose="02010609060101010101" pitchFamily="49" charset="-122"/>
                    <a:ea typeface="楷体" panose="02010609060101010101" pitchFamily="49" charset="-122"/>
                    <a:cs typeface="楷体" panose="02010609060101010101" pitchFamily="49" charset="-122"/>
                  </a:rPr>
                  <a:t>若</a:t>
                </a:r>
                <a14:m>
                  <m:oMath xmlns:m="http://schemas.openxmlformats.org/officeDocument/2006/math">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𝑓</m:t>
                    </m:r>
                    <m:r>
                      <a:rPr lang="en-US" altLang="zh-CN" sz="3200" b="0" i="1" smtClean="0">
                        <a:latin typeface="Cambria Math" panose="02040503050406030204" pitchFamily="18" charset="0"/>
                        <a:ea typeface="MS Mincho" panose="02020609040205080304" charset="-128"/>
                        <a:cs typeface="Cambria Math" panose="02040503050406030204" pitchFamily="18" charset="0"/>
                      </a:rPr>
                      <m:t>(</m:t>
                    </m:r>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3200" b="0" i="1" smtClean="0">
                        <a:latin typeface="Cambria Math" panose="02040503050406030204" pitchFamily="18" charset="0"/>
                        <a:ea typeface="MS Mincho" panose="02020609040205080304" charset="-128"/>
                        <a:cs typeface="Cambria Math" panose="02040503050406030204" pitchFamily="18" charset="0"/>
                      </a:rPr>
                      <m:t>) </m:t>
                    </m:r>
                  </m:oMath>
                </a14:m>
                <a:r>
                  <a:rPr lang="zh-CN" altLang="en-US" sz="3200" b="1" dirty="0">
                    <a:latin typeface="楷体" panose="02010609060101010101" pitchFamily="49" charset="-122"/>
                    <a:ea typeface="楷体" panose="02010609060101010101" pitchFamily="49" charset="-122"/>
                    <a:cs typeface="楷体" panose="02010609060101010101" pitchFamily="49" charset="-122"/>
                  </a:rPr>
                  <a:t>在区域</a:t>
                </a:r>
                <a14:m>
                  <m:oMath xmlns:m="http://schemas.openxmlformats.org/officeDocument/2006/math">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𝐷</m:t>
                    </m:r>
                  </m:oMath>
                </a14:m>
                <a:r>
                  <a:rPr lang="zh-CN" altLang="en-US" sz="3200" b="1" dirty="0">
                    <a:latin typeface="楷体" panose="02010609060101010101" pitchFamily="49" charset="-122"/>
                    <a:ea typeface="楷体" panose="02010609060101010101" pitchFamily="49" charset="-122"/>
                    <a:cs typeface="楷体" panose="02010609060101010101" pitchFamily="49" charset="-122"/>
                  </a:rPr>
                  <a:t>内每一点都可导，则称</a:t>
                </a:r>
                <a14:m>
                  <m:oMath xmlns:m="http://schemas.openxmlformats.org/officeDocument/2006/math">
                    <m:r>
                      <a:rPr lang="en-US" altLang="zh-CN" sz="3200" i="1">
                        <a:latin typeface="Cambria Math" panose="02040503050406030204" pitchFamily="18" charset="0"/>
                        <a:ea typeface="楷体" panose="02010609060101010101" pitchFamily="49" charset="-122"/>
                        <a:cs typeface="Cambria Math" panose="02040503050406030204" pitchFamily="18" charset="0"/>
                      </a:rPr>
                      <m:t>𝑓</m:t>
                    </m:r>
                    <m:r>
                      <a:rPr lang="en-US" altLang="zh-CN" sz="3200" i="1">
                        <a:latin typeface="Cambria Math" panose="02040503050406030204" pitchFamily="18" charset="0"/>
                        <a:ea typeface="MS Mincho" panose="02020609040205080304" charset="-128"/>
                        <a:cs typeface="Cambria Math" panose="02040503050406030204" pitchFamily="18" charset="0"/>
                      </a:rPr>
                      <m:t>(</m:t>
                    </m:r>
                    <m:r>
                      <a:rPr lang="en-US" altLang="zh-CN" sz="3200" i="1">
                        <a:latin typeface="Cambria Math" panose="02040503050406030204" pitchFamily="18" charset="0"/>
                        <a:ea typeface="楷体" panose="02010609060101010101" pitchFamily="49" charset="-122"/>
                        <a:cs typeface="Cambria Math" panose="02040503050406030204" pitchFamily="18" charset="0"/>
                      </a:rPr>
                      <m:t>𝑧</m:t>
                    </m:r>
                    <m:r>
                      <a:rPr lang="en-US" altLang="zh-CN" sz="3200" i="1">
                        <a:latin typeface="Cambria Math" panose="02040503050406030204" pitchFamily="18" charset="0"/>
                        <a:ea typeface="MS Mincho" panose="02020609040205080304" charset="-128"/>
                        <a:cs typeface="Cambria Math" panose="02040503050406030204" pitchFamily="18" charset="0"/>
                      </a:rPr>
                      <m:t>) </m:t>
                    </m:r>
                  </m:oMath>
                </a14:m>
                <a:r>
                  <a:rPr lang="zh-CN" altLang="en-US" sz="3200" b="1" dirty="0">
                    <a:latin typeface="楷体" panose="02010609060101010101" pitchFamily="49" charset="-122"/>
                    <a:ea typeface="楷体" panose="02010609060101010101" pitchFamily="49" charset="-122"/>
                    <a:cs typeface="楷体" panose="02010609060101010101" pitchFamily="49" charset="-122"/>
                  </a:rPr>
                  <a:t>在区域</a:t>
                </a:r>
                <a14:m>
                  <m:oMath xmlns:m="http://schemas.openxmlformats.org/officeDocument/2006/math">
                    <m:r>
                      <a:rPr lang="en-US" altLang="zh-CN" sz="3200" i="1">
                        <a:latin typeface="Cambria Math" panose="02040503050406030204" pitchFamily="18" charset="0"/>
                        <a:ea typeface="楷体" panose="02010609060101010101" pitchFamily="49" charset="-122"/>
                        <a:cs typeface="Cambria Math" panose="02040503050406030204" pitchFamily="18" charset="0"/>
                      </a:rPr>
                      <m:t>𝐷</m:t>
                    </m:r>
                  </m:oMath>
                </a14:m>
                <a:r>
                  <a:rPr lang="zh-CN" altLang="en-US" sz="3200" b="1" dirty="0">
                    <a:latin typeface="楷体" panose="02010609060101010101" pitchFamily="49" charset="-122"/>
                    <a:ea typeface="楷体" panose="02010609060101010101" pitchFamily="49" charset="-122"/>
                    <a:cs typeface="楷体" panose="02010609060101010101" pitchFamily="49" charset="-122"/>
                  </a:rPr>
                  <a:t>内可导</a:t>
                </a:r>
                <a:r>
                  <a:rPr lang="en-US" altLang="zh-CN" sz="3200" b="1" dirty="0">
                    <a:latin typeface="楷体" panose="02010609060101010101" pitchFamily="49" charset="-122"/>
                    <a:ea typeface="楷体" panose="02010609060101010101" pitchFamily="49" charset="-122"/>
                    <a:cs typeface="楷体" panose="02010609060101010101" pitchFamily="49" charset="-122"/>
                  </a:rPr>
                  <a:t>,</a:t>
                </a:r>
                <a14:m>
                  <m:oMath xmlns:m="http://schemas.openxmlformats.org/officeDocument/2006/math">
                    <m:sSup>
                      <m:sSupPr>
                        <m:ctrlPr>
                          <a:rPr lang="en-US" altLang="zh-CN" sz="3200" i="1" smtClean="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𝑓</m:t>
                        </m:r>
                      </m:e>
                      <m:sup>
                        <m:r>
                          <a:rPr lang="en-US" altLang="zh-CN" sz="3200" b="0" i="1" smtClean="0">
                            <a:latin typeface="Cambria Math" panose="02040503050406030204" pitchFamily="18" charset="0"/>
                            <a:ea typeface="MS Mincho" panose="02020609040205080304" charset="-128"/>
                            <a:cs typeface="Cambria Math" panose="02040503050406030204" pitchFamily="18" charset="0"/>
                          </a:rPr>
                          <m:t>′</m:t>
                        </m:r>
                      </m:sup>
                    </m:sSup>
                    <m:r>
                      <a:rPr lang="en-US" altLang="zh-CN" sz="3200" b="0" i="1" smtClean="0">
                        <a:latin typeface="Cambria Math" panose="02040503050406030204" pitchFamily="18" charset="0"/>
                        <a:ea typeface="MS Mincho" panose="02020609040205080304" charset="-128"/>
                        <a:cs typeface="Cambria Math" panose="02040503050406030204" pitchFamily="18" charset="0"/>
                      </a:rPr>
                      <m:t>(</m:t>
                    </m:r>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3200" b="0" i="1" smtClean="0">
                        <a:latin typeface="Cambria Math" panose="02040503050406030204" pitchFamily="18" charset="0"/>
                        <a:ea typeface="MS Mincho" panose="02020609040205080304" charset="-128"/>
                        <a:cs typeface="Cambria Math" panose="02040503050406030204" pitchFamily="18" charset="0"/>
                      </a:rPr>
                      <m:t>)</m:t>
                    </m:r>
                  </m:oMath>
                </a14:m>
                <a:r>
                  <a:rPr lang="zh-CN" altLang="en-US" sz="3200" b="1" dirty="0">
                    <a:latin typeface="楷体" panose="02010609060101010101" pitchFamily="49" charset="-122"/>
                    <a:ea typeface="楷体" panose="02010609060101010101" pitchFamily="49" charset="-122"/>
                    <a:cs typeface="楷体" panose="02010609060101010101" pitchFamily="49" charset="-122"/>
                  </a:rPr>
                  <a:t>称为</a:t>
                </a:r>
                <a14:m>
                  <m:oMath xmlns:m="http://schemas.openxmlformats.org/officeDocument/2006/math">
                    <m:r>
                      <a:rPr lang="en-US" altLang="zh-CN" sz="3200" i="1">
                        <a:latin typeface="Cambria Math" panose="02040503050406030204" pitchFamily="18" charset="0"/>
                        <a:ea typeface="楷体" panose="02010609060101010101" pitchFamily="49" charset="-122"/>
                        <a:cs typeface="Cambria Math" panose="02040503050406030204" pitchFamily="18" charset="0"/>
                      </a:rPr>
                      <m:t>𝑓</m:t>
                    </m:r>
                    <m:r>
                      <a:rPr lang="en-US" altLang="zh-CN" sz="3200" i="1">
                        <a:latin typeface="Cambria Math" panose="02040503050406030204" pitchFamily="18" charset="0"/>
                        <a:ea typeface="MS Mincho" panose="02020609040205080304" charset="-128"/>
                        <a:cs typeface="Cambria Math" panose="02040503050406030204" pitchFamily="18" charset="0"/>
                      </a:rPr>
                      <m:t>(</m:t>
                    </m:r>
                    <m:r>
                      <a:rPr lang="en-US" altLang="zh-CN" sz="3200" i="1">
                        <a:latin typeface="Cambria Math" panose="02040503050406030204" pitchFamily="18" charset="0"/>
                        <a:ea typeface="楷体" panose="02010609060101010101" pitchFamily="49" charset="-122"/>
                        <a:cs typeface="Cambria Math" panose="02040503050406030204" pitchFamily="18" charset="0"/>
                      </a:rPr>
                      <m:t>𝑧</m:t>
                    </m:r>
                    <m:r>
                      <a:rPr lang="en-US" altLang="zh-CN" sz="3200" i="1">
                        <a:latin typeface="Cambria Math" panose="02040503050406030204" pitchFamily="18" charset="0"/>
                        <a:ea typeface="MS Mincho" panose="02020609040205080304" charset="-128"/>
                        <a:cs typeface="Cambria Math" panose="02040503050406030204" pitchFamily="18" charset="0"/>
                      </a:rPr>
                      <m:t>) </m:t>
                    </m:r>
                  </m:oMath>
                </a14:m>
                <a:r>
                  <a:rPr lang="zh-CN" altLang="en-US" sz="3200" b="1" dirty="0">
                    <a:latin typeface="楷体" panose="02010609060101010101" pitchFamily="49" charset="-122"/>
                    <a:ea typeface="楷体" panose="02010609060101010101" pitchFamily="49" charset="-122"/>
                    <a:cs typeface="楷体" panose="02010609060101010101" pitchFamily="49" charset="-122"/>
                  </a:rPr>
                  <a:t>的导函数，简称导数。</a:t>
                </a:r>
                <a:endParaRPr lang="zh-CN" altLang="en-US" sz="3200" b="1"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22872" y="4650568"/>
                <a:ext cx="8898255" cy="1811221"/>
              </a:xfrm>
              <a:prstGeom prst="rect">
                <a:avLst/>
              </a:prstGeom>
              <a:blipFill rotWithShape="1">
                <a:blip r:embed="rId2"/>
                <a:stretch>
                  <a:fillRect l="-4" t="-26" r="4" b="2"/>
                </a:stretch>
              </a:blipFill>
            </p:spPr>
            <p:txBody>
              <a:bodyPr/>
              <a:lstStyle/>
              <a:p>
                <a:r>
                  <a:rPr lang="zh-CN" altLang="en-US">
                    <a:noFill/>
                  </a:rPr>
                  <a:t> </a:t>
                </a:r>
              </a:p>
            </p:txBody>
          </p:sp>
        </mc:Fallback>
      </mc:AlternateContent>
      <p:sp>
        <p:nvSpPr>
          <p:cNvPr id="9"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11" name="直接连接符 10"/>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标题 1"/>
              <p:cNvSpPr txBox="1"/>
              <p:nvPr/>
            </p:nvSpPr>
            <p:spPr>
              <a:xfrm>
                <a:off x="159385" y="593223"/>
                <a:ext cx="4318635"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200" b="0" i="1" smtClean="0">
                        <a:latin typeface="Cambria Math" panose="02040503050406030204" pitchFamily="18" charset="0"/>
                        <a:ea typeface="楷体" panose="02010609060101010101" pitchFamily="49" charset="-122"/>
                        <a:cs typeface="楷体" panose="02010609060101010101" pitchFamily="49" charset="-122"/>
                      </a:rPr>
                      <m:t>𝐸𝑔</m:t>
                    </m:r>
                    <m:r>
                      <a:rPr lang="en-US" altLang="zh-CN" sz="3200" b="0" i="1" smtClean="0">
                        <a:latin typeface="Cambria Math" panose="02040503050406030204" pitchFamily="18" charset="0"/>
                        <a:ea typeface="楷体" panose="02010609060101010101" pitchFamily="49" charset="-122"/>
                        <a:cs typeface="楷体" panose="02010609060101010101" pitchFamily="49" charset="-122"/>
                      </a:rPr>
                      <m:t>:</m:t>
                    </m:r>
                  </m:oMath>
                </a14:m>
                <a:r>
                  <a:rPr lang="zh-CN" altLang="en-US" sz="3200" dirty="0">
                    <a:latin typeface="楷体" panose="02010609060101010101" pitchFamily="49" charset="-122"/>
                    <a:ea typeface="楷体" panose="02010609060101010101" pitchFamily="49" charset="-122"/>
                    <a:cs typeface="楷体" panose="02010609060101010101" pitchFamily="49" charset="-122"/>
                  </a:rPr>
                  <a:t>求</a:t>
                </a:r>
                <a14:m>
                  <m:oMath xmlns:m="http://schemas.openxmlformats.org/officeDocument/2006/math">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320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200" b="0" i="1" smtClean="0">
                        <a:latin typeface="Cambria Math" panose="02040503050406030204" pitchFamily="18" charset="0"/>
                        <a:ea typeface="MS Mincho" panose="02020609040205080304" charset="-128"/>
                        <a:cs typeface="Cambria Math" panose="02040503050406030204" pitchFamily="18" charset="0"/>
                      </a:rPr>
                      <m:t>=</m:t>
                    </m:r>
                    <m:sSup>
                      <m:sSupPr>
                        <m:ctrlPr>
                          <a:rPr lang="en-US" altLang="zh-CN" sz="3200" i="1" smtClean="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200" b="0" i="1" smtClean="0">
                            <a:latin typeface="Cambria Math" panose="02040503050406030204" pitchFamily="18" charset="0"/>
                            <a:ea typeface="MS Mincho" panose="02020609040205080304" charset="-128"/>
                            <a:cs typeface="Cambria Math" panose="02040503050406030204" pitchFamily="18" charset="0"/>
                          </a:rPr>
                          <m:t>2</m:t>
                        </m:r>
                      </m:sup>
                    </m:sSup>
                  </m:oMath>
                </a14:m>
                <a:r>
                  <a:rPr lang="zh-CN" altLang="en-US" sz="3200" dirty="0">
                    <a:latin typeface="楷体" panose="02010609060101010101" pitchFamily="49" charset="-122"/>
                    <a:ea typeface="楷体" panose="02010609060101010101" pitchFamily="49" charset="-122"/>
                    <a:cs typeface="楷体" panose="02010609060101010101" pitchFamily="49" charset="-122"/>
                  </a:rPr>
                  <a:t>的导数</a:t>
                </a:r>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159385" y="593223"/>
                <a:ext cx="4318635" cy="632460"/>
              </a:xfrm>
              <a:prstGeom prst="rect">
                <a:avLst/>
              </a:prstGeom>
              <a:blipFill rotWithShape="1">
                <a:blip r:embed="rId1"/>
                <a:stretch>
                  <a:fillRect t="-9860" b="-99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159384" y="5693911"/>
                <a:ext cx="6490970"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latin typeface="楷体" panose="02010609060101010101" pitchFamily="49" charset="-122"/>
                    <a:ea typeface="楷体" panose="02010609060101010101" pitchFamily="49" charset="-122"/>
                    <a:cs typeface="楷体" panose="02010609060101010101" pitchFamily="49" charset="-122"/>
                  </a:rPr>
                  <a:t>以此类推，有</a:t>
                </a:r>
                <a14:m>
                  <m:oMath xmlns:m="http://schemas.openxmlformats.org/officeDocument/2006/math">
                    <m:sSup>
                      <m:sSupPr>
                        <m:ctrlPr>
                          <a:rPr lang="en-US" altLang="zh-CN" sz="3200" i="1" smtClean="0">
                            <a:solidFill>
                              <a:srgbClr val="FF0000"/>
                            </a:solidFill>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200" b="0" i="1" smtClean="0">
                            <a:solidFill>
                              <a:srgbClr val="FF0000"/>
                            </a:solidFill>
                            <a:latin typeface="Cambria Math" panose="02040503050406030204" pitchFamily="18" charset="0"/>
                            <a:ea typeface="MS Mincho" panose="02020609040205080304" charset="-128"/>
                            <a:cs typeface="Cambria Math" panose="02040503050406030204" pitchFamily="18" charset="0"/>
                          </a:rPr>
                          <m:t>(</m:t>
                        </m:r>
                        <m:sSup>
                          <m:sSupPr>
                            <m:ctrlPr>
                              <a:rPr lang="en-US" altLang="zh-CN" sz="3200" b="0" i="1" smtClean="0">
                                <a:solidFill>
                                  <a:srgbClr val="FF0000"/>
                                </a:solidFill>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200" b="0" i="1" smtClean="0">
                                <a:solidFill>
                                  <a:srgbClr val="FF0000"/>
                                </a:solidFill>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200" b="0" i="1" smtClean="0">
                                <a:solidFill>
                                  <a:srgbClr val="FF0000"/>
                                </a:solidFill>
                                <a:latin typeface="Cambria Math" panose="02040503050406030204" pitchFamily="18" charset="0"/>
                                <a:ea typeface="楷体" panose="02010609060101010101" pitchFamily="49" charset="-122"/>
                                <a:cs typeface="Cambria Math" panose="02040503050406030204" pitchFamily="18" charset="0"/>
                              </a:rPr>
                              <m:t>𝑛</m:t>
                            </m:r>
                          </m:sup>
                        </m:sSup>
                        <m:r>
                          <a:rPr lang="en-US" altLang="zh-CN" sz="3200" b="0" i="1" smtClean="0">
                            <a:solidFill>
                              <a:srgbClr val="FF0000"/>
                            </a:solidFill>
                            <a:latin typeface="Cambria Math" panose="02040503050406030204" pitchFamily="18" charset="0"/>
                            <a:ea typeface="MS Mincho" panose="02020609040205080304" charset="-128"/>
                            <a:cs typeface="Cambria Math" panose="02040503050406030204" pitchFamily="18" charset="0"/>
                          </a:rPr>
                          <m:t>)</m:t>
                        </m:r>
                      </m:e>
                      <m:sup>
                        <m:r>
                          <a:rPr lang="en-US" altLang="zh-CN" sz="3200" b="0" i="1" smtClean="0">
                            <a:solidFill>
                              <a:srgbClr val="FF0000"/>
                            </a:solidFill>
                            <a:latin typeface="Cambria Math" panose="02040503050406030204" pitchFamily="18" charset="0"/>
                            <a:ea typeface="MS Mincho" panose="02020609040205080304" charset="-128"/>
                            <a:cs typeface="Cambria Math" panose="02040503050406030204" pitchFamily="18" charset="0"/>
                          </a:rPr>
                          <m:t>′</m:t>
                        </m:r>
                      </m:sup>
                    </m:sSup>
                    <m:r>
                      <a:rPr lang="en-US" altLang="zh-CN" sz="3200" b="0" i="1" smtClean="0">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3200" b="0" i="1" smtClean="0">
                        <a:solidFill>
                          <a:srgbClr val="FF0000"/>
                        </a:solidFill>
                        <a:latin typeface="Cambria Math" panose="02040503050406030204" pitchFamily="18" charset="0"/>
                        <a:ea typeface="楷体" panose="02010609060101010101" pitchFamily="49" charset="-122"/>
                        <a:cs typeface="Cambria Math" panose="02040503050406030204" pitchFamily="18" charset="0"/>
                      </a:rPr>
                      <m:t>𝑛</m:t>
                    </m:r>
                    <m:sSup>
                      <m:sSupPr>
                        <m:ctrlPr>
                          <a:rPr lang="en-US" altLang="zh-CN" sz="3200" b="0" i="1" smtClean="0">
                            <a:solidFill>
                              <a:srgbClr val="FF0000"/>
                            </a:solidFill>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200" b="0" i="1" smtClean="0">
                            <a:solidFill>
                              <a:srgbClr val="FF0000"/>
                            </a:solidFill>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200" b="0" i="1" smtClean="0">
                            <a:solidFill>
                              <a:srgbClr val="FF0000"/>
                            </a:solidFill>
                            <a:latin typeface="Cambria Math" panose="02040503050406030204" pitchFamily="18" charset="0"/>
                            <a:ea typeface="楷体" panose="02010609060101010101" pitchFamily="49" charset="-122"/>
                            <a:cs typeface="Cambria Math" panose="02040503050406030204" pitchFamily="18" charset="0"/>
                          </a:rPr>
                          <m:t>𝑛</m:t>
                        </m:r>
                        <m:r>
                          <a:rPr lang="en-US" altLang="zh-CN" sz="3200" b="0" i="1" smtClean="0">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3200" b="0" i="1" smtClean="0">
                            <a:solidFill>
                              <a:srgbClr val="FF0000"/>
                            </a:solidFill>
                            <a:latin typeface="Cambria Math" panose="02040503050406030204" pitchFamily="18" charset="0"/>
                            <a:ea typeface="MS Mincho" panose="02020609040205080304" charset="-128"/>
                            <a:cs typeface="Cambria Math" panose="02040503050406030204" pitchFamily="18" charset="0"/>
                          </a:rPr>
                          <m:t>1</m:t>
                        </m:r>
                      </m:sup>
                    </m:sSup>
                  </m:oMath>
                </a14:m>
                <a:endParaRPr lang="en-US" altLang="zh-CN" sz="3200" b="0" i="1" dirty="0">
                  <a:solidFill>
                    <a:srgbClr val="FF0000"/>
                  </a:solidFill>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2" name="标题 1"/>
              <p:cNvSpPr txBox="1">
                <a:spLocks noRot="1" noChangeAspect="1" noMove="1" noResize="1" noEditPoints="1" noAdjustHandles="1" noChangeArrowheads="1" noChangeShapeType="1" noTextEdit="1"/>
              </p:cNvSpPr>
              <p:nvPr/>
            </p:nvSpPr>
            <p:spPr>
              <a:xfrm>
                <a:off x="159384" y="5693911"/>
                <a:ext cx="6490970" cy="632460"/>
              </a:xfrm>
              <a:prstGeom prst="rect">
                <a:avLst/>
              </a:prstGeom>
              <a:blipFill rotWithShape="1">
                <a:blip r:embed="rId2"/>
                <a:stretch>
                  <a:fillRect l="-10" t="-10019" r="10" b="-9961"/>
                </a:stretch>
              </a:blipFill>
            </p:spPr>
            <p:txBody>
              <a:bodyPr/>
              <a:lstStyle/>
              <a:p>
                <a:r>
                  <a:rPr lang="zh-CN" altLang="en-US">
                    <a:noFill/>
                  </a:rPr>
                  <a:t> </a:t>
                </a:r>
              </a:p>
            </p:txBody>
          </p:sp>
        </mc:Fallback>
      </mc:AlternateContent>
      <p:sp>
        <p:nvSpPr>
          <p:cNvPr id="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标题 1"/>
              <p:cNvSpPr txBox="1"/>
              <p:nvPr/>
            </p:nvSpPr>
            <p:spPr>
              <a:xfrm>
                <a:off x="159384" y="1261760"/>
                <a:ext cx="7104780"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latin typeface="楷体" panose="02010609060101010101" pitchFamily="49" charset="-122"/>
                    <a:ea typeface="楷体" panose="02010609060101010101" pitchFamily="49" charset="-122"/>
                    <a:cs typeface="楷体" panose="02010609060101010101" pitchFamily="49" charset="-122"/>
                  </a:rPr>
                  <a:t>解：</a:t>
                </a:r>
                <a:r>
                  <a:rPr lang="en-US" altLang="zh-CN" sz="3200" dirty="0">
                    <a:ea typeface="楷体" panose="02010609060101010101" pitchFamily="49" charset="-122"/>
                    <a:sym typeface="Wingdings" panose="05000000000000000000" pitchFamily="2" charset="2"/>
                  </a:rPr>
                  <a:t> </a:t>
                </a:r>
                <a14:m>
                  <m:oMath xmlns:m="http://schemas.openxmlformats.org/officeDocument/2006/math">
                    <m:sSup>
                      <m:sSupPr>
                        <m:ctrlPr>
                          <a:rPr lang="en-US" altLang="zh-CN" sz="320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𝑓</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num>
                          <m:den>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den>
                        </m:f>
                      </m:e>
                    </m:func>
                  </m:oMath>
                </a14:m>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159384" y="1261760"/>
                <a:ext cx="7104780" cy="632460"/>
              </a:xfrm>
              <a:prstGeom prst="rect">
                <a:avLst/>
              </a:prstGeom>
              <a:blipFill rotWithShape="1">
                <a:blip r:embed="rId3"/>
                <a:stretch>
                  <a:fillRect l="-9" t="-39561" r="6" b="-397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2028234" y="2244327"/>
                <a:ext cx="3367080"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200" b="0" dirty="0">
                    <a:ea typeface="楷体" panose="02010609060101010101" pitchFamily="49" charset="-122"/>
                    <a:sym typeface="Wingdings" panose="05000000000000000000" pitchFamily="2" charset="2"/>
                  </a:rPr>
                  <a:t> </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fPr>
                          <m:num>
                            <m:sSup>
                              <m:sSupPr>
                                <m:ctrlPr>
                                  <a:rPr lang="en-US" altLang="zh-CN" sz="3200" i="1" smtClean="0">
                                    <a:latin typeface="Cambria Math" panose="02040503050406030204" pitchFamily="18" charset="0"/>
                                    <a:ea typeface="Cambria Math" panose="02040503050406030204" pitchFamily="18" charset="0"/>
                                    <a:sym typeface="Wingdings" panose="05000000000000000000" pitchFamily="2" charset="2"/>
                                  </a:rPr>
                                </m:ctrlPr>
                              </m:sSupPr>
                              <m:e>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d>
                              </m:e>
                              <m:sup>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sup>
                            </m:sSup>
                            <m:r>
                              <a:rPr lang="en-US" altLang="zh-CN" sz="3200" i="1">
                                <a:latin typeface="Cambria Math" panose="02040503050406030204" pitchFamily="18" charset="0"/>
                                <a:ea typeface="Cambria Math" panose="02040503050406030204" pitchFamily="18" charset="0"/>
                                <a:sym typeface="Wingdings" panose="05000000000000000000" pitchFamily="2" charset="2"/>
                              </a:rPr>
                              <m:t>−</m:t>
                            </m:r>
                            <m:sSup>
                              <m:sSupPr>
                                <m:ctrlPr>
                                  <a:rPr lang="en-US" altLang="zh-CN" sz="3200" i="1" smtClean="0">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sup>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sup>
                            </m:sSup>
                          </m:num>
                          <m:den>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den>
                        </m:f>
                      </m:e>
                    </m:func>
                  </m:oMath>
                </a14:m>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2028234" y="2244327"/>
                <a:ext cx="3367080" cy="632460"/>
              </a:xfrm>
              <a:prstGeom prst="rect">
                <a:avLst/>
              </a:prstGeom>
              <a:blipFill rotWithShape="1">
                <a:blip r:embed="rId4"/>
                <a:stretch>
                  <a:fillRect l="-1" t="-43511" r="11" b="-436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2028234" y="3174896"/>
                <a:ext cx="3367080"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200" b="0" dirty="0">
                    <a:ea typeface="楷体" panose="02010609060101010101" pitchFamily="49" charset="-122"/>
                    <a:sym typeface="Wingdings" panose="05000000000000000000" pitchFamily="2" charset="2"/>
                  </a:rPr>
                  <a:t> </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fPr>
                          <m:num>
                            <m:sSup>
                              <m:sSupPr>
                                <m:ctrlPr>
                                  <a:rPr lang="en-US" altLang="zh-CN" sz="3200" i="1" smtClean="0">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d>
                              </m:e>
                              <m:sup>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sup>
                            </m:sSup>
                          </m:num>
                          <m:den>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den>
                        </m:f>
                      </m:e>
                    </m:func>
                  </m:oMath>
                </a14:m>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2028234" y="3174896"/>
                <a:ext cx="3367080" cy="632460"/>
              </a:xfrm>
              <a:prstGeom prst="rect">
                <a:avLst/>
              </a:prstGeom>
              <a:blipFill rotWithShape="1">
                <a:blip r:embed="rId5"/>
                <a:stretch>
                  <a:fillRect l="-1" t="-43558" r="11" b="-435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2028234" y="4050310"/>
                <a:ext cx="3367080"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200" b="0" dirty="0">
                    <a:ea typeface="楷体" panose="02010609060101010101" pitchFamily="49" charset="-122"/>
                    <a:sym typeface="Wingdings" panose="05000000000000000000" pitchFamily="2" charset="2"/>
                  </a:rPr>
                  <a:t> </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Name>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func>
                  </m:oMath>
                </a14:m>
                <a:r>
                  <a:rPr lang="zh-CN" altLang="en-US" sz="3200" dirty="0">
                    <a:latin typeface="楷体" panose="02010609060101010101" pitchFamily="49" charset="-122"/>
                    <a:ea typeface="楷体" panose="02010609060101010101" pitchFamily="49" charset="-122"/>
                    <a:cs typeface="楷体" panose="02010609060101010101" pitchFamily="49" charset="-122"/>
                  </a:rPr>
                  <a:t> </a:t>
                </a:r>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2028234" y="4050310"/>
                <a:ext cx="3367080" cy="632460"/>
              </a:xfrm>
              <a:prstGeom prst="rect">
                <a:avLst/>
              </a:prstGeom>
              <a:blipFill rotWithShape="1">
                <a:blip r:embed="rId6"/>
                <a:stretch>
                  <a:fillRect l="-1" t="-25546" r="11" b="-2565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2028234" y="4789923"/>
                <a:ext cx="3367080"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200" b="0" dirty="0">
                    <a:ea typeface="楷体" panose="02010609060101010101" pitchFamily="49" charset="-122"/>
                    <a:sym typeface="Wingdings" panose="05000000000000000000" pitchFamily="2" charset="2"/>
                  </a:rPr>
                  <a:t> </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oMath>
                </a14:m>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2028234" y="4789923"/>
                <a:ext cx="3367080" cy="632460"/>
              </a:xfrm>
              <a:prstGeom prst="rect">
                <a:avLst/>
              </a:prstGeom>
              <a:blipFill rotWithShape="1">
                <a:blip r:embed="rId7"/>
                <a:stretch>
                  <a:fillRect l="-1" t="-7750" r="11" b="-791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7" grpId="0"/>
      <p:bldP spid="8" grpId="0"/>
      <p:bldP spid="10" grpId="0"/>
      <p:bldP spid="11"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标题 1"/>
              <p:cNvSpPr txBox="1"/>
              <p:nvPr/>
            </p:nvSpPr>
            <p:spPr>
              <a:xfrm>
                <a:off x="122036" y="486378"/>
                <a:ext cx="4754245"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200" i="1">
                        <a:latin typeface="Cambria Math" panose="02040503050406030204" pitchFamily="18" charset="0"/>
                        <a:ea typeface="楷体" panose="02010609060101010101" pitchFamily="49" charset="-122"/>
                        <a:cs typeface="楷体" panose="02010609060101010101" pitchFamily="49" charset="-122"/>
                      </a:rPr>
                      <m:t>𝐸𝑔</m:t>
                    </m:r>
                    <m:r>
                      <a:rPr lang="en-US" altLang="zh-CN" sz="3200" i="1">
                        <a:latin typeface="Cambria Math" panose="02040503050406030204" pitchFamily="18" charset="0"/>
                        <a:ea typeface="楷体" panose="02010609060101010101" pitchFamily="49" charset="-122"/>
                        <a:cs typeface="楷体" panose="02010609060101010101" pitchFamily="49" charset="-122"/>
                      </a:rPr>
                      <m:t>:</m:t>
                    </m:r>
                  </m:oMath>
                </a14:m>
                <a:r>
                  <a:rPr lang="zh-CN" altLang="en-US" sz="3200" dirty="0">
                    <a:latin typeface="楷体" panose="02010609060101010101" pitchFamily="49" charset="-122"/>
                    <a:ea typeface="楷体" panose="02010609060101010101" pitchFamily="49" charset="-122"/>
                    <a:cs typeface="楷体" panose="02010609060101010101" pitchFamily="49" charset="-122"/>
                  </a:rPr>
                  <a:t>问</a:t>
                </a:r>
                <a14:m>
                  <m:oMath xmlns:m="http://schemas.openxmlformats.org/officeDocument/2006/math">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200" b="0" i="1" smtClean="0">
                        <a:latin typeface="Cambria Math" panose="02040503050406030204" pitchFamily="18" charset="0"/>
                        <a:ea typeface="MS Mincho" panose="02020609040205080304" charset="-128"/>
                        <a:cs typeface="Cambria Math" panose="02040503050406030204" pitchFamily="18" charset="0"/>
                      </a:rPr>
                      <m:t>=</m:t>
                    </m:r>
                    <m:acc>
                      <m:accPr>
                        <m:chr m:val="̅"/>
                        <m:ctrlP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ctrlPr>
                      </m:accPr>
                      <m:e>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𝑧</m:t>
                        </m:r>
                      </m:e>
                    </m:acc>
                  </m:oMath>
                </a14:m>
                <a:r>
                  <a:rPr lang="zh-CN" altLang="en-US" sz="3200" dirty="0">
                    <a:latin typeface="楷体" panose="02010609060101010101" pitchFamily="49" charset="-122"/>
                    <a:ea typeface="楷体" panose="02010609060101010101" pitchFamily="49" charset="-122"/>
                    <a:cs typeface="楷体" panose="02010609060101010101" pitchFamily="49" charset="-122"/>
                  </a:rPr>
                  <a:t>是否可导？</a:t>
                </a:r>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122036" y="486378"/>
                <a:ext cx="4754245" cy="632460"/>
              </a:xfrm>
              <a:prstGeom prst="rect">
                <a:avLst/>
              </a:prstGeom>
              <a:blipFill rotWithShape="1">
                <a:blip r:embed="rId1"/>
                <a:stretch>
                  <a:fillRect l="-2" t="-7826" r="2" b="-7836"/>
                </a:stretch>
              </a:blipFill>
            </p:spPr>
            <p:txBody>
              <a:bodyPr/>
              <a:lstStyle/>
              <a:p>
                <a:r>
                  <a:rPr lang="zh-CN" altLang="en-US">
                    <a:noFill/>
                  </a:rPr>
                  <a:t> </a:t>
                </a:r>
              </a:p>
            </p:txBody>
          </p:sp>
        </mc:Fallback>
      </mc:AlternateContent>
      <p:sp>
        <p:nvSpPr>
          <p:cNvPr id="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标题 1"/>
              <p:cNvSpPr txBox="1"/>
              <p:nvPr/>
            </p:nvSpPr>
            <p:spPr>
              <a:xfrm>
                <a:off x="159384" y="1261760"/>
                <a:ext cx="4047829"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latin typeface="楷体" panose="02010609060101010101" pitchFamily="49" charset="-122"/>
                    <a:ea typeface="楷体" panose="02010609060101010101" pitchFamily="49" charset="-122"/>
                    <a:cs typeface="楷体" panose="02010609060101010101" pitchFamily="49" charset="-122"/>
                  </a:rPr>
                  <a:t>解：</a:t>
                </a:r>
                <a:r>
                  <a:rPr lang="en-US" altLang="zh-CN" sz="3200" dirty="0">
                    <a:ea typeface="楷体" panose="02010609060101010101" pitchFamily="49" charset="-122"/>
                    <a:sym typeface="Wingdings" panose="05000000000000000000" pitchFamily="2" charset="2"/>
                  </a:rPr>
                  <a:t> </a:t>
                </a:r>
                <a14:m>
                  <m:oMath xmlns:m="http://schemas.openxmlformats.org/officeDocument/2006/math">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num>
                          <m:den>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den>
                        </m:f>
                      </m:e>
                    </m:func>
                  </m:oMath>
                </a14:m>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159384" y="1261760"/>
                <a:ext cx="4047829" cy="632460"/>
              </a:xfrm>
              <a:prstGeom prst="rect">
                <a:avLst/>
              </a:prstGeom>
              <a:blipFill rotWithShape="1">
                <a:blip r:embed="rId2"/>
                <a:stretch>
                  <a:fillRect l="-16" t="-39561" r="8" b="-397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551815" y="2313969"/>
                <a:ext cx="6009491"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200" b="0" dirty="0">
                    <a:ea typeface="楷体" panose="02010609060101010101" pitchFamily="49" charset="-122"/>
                    <a:sym typeface="Wingdings" panose="05000000000000000000" pitchFamily="2" charset="2"/>
                  </a:rPr>
                  <a:t> </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fPr>
                          <m:num>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e>
                            </m:d>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𝑖</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e>
                            </m:d>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𝑖𝑦</m:t>
                            </m:r>
                          </m:num>
                          <m:den>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den>
                        </m:f>
                      </m:e>
                    </m:func>
                  </m:oMath>
                </a14:m>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551815" y="2313969"/>
                <a:ext cx="6009491" cy="632460"/>
              </a:xfrm>
              <a:prstGeom prst="rect">
                <a:avLst/>
              </a:prstGeom>
              <a:blipFill rotWithShape="1">
                <a:blip r:embed="rId3"/>
                <a:stretch>
                  <a:fillRect t="-41972" r="8" b="-420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551815" y="3745230"/>
                <a:ext cx="2658313"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200" b="0" dirty="0">
                    <a:ea typeface="楷体" panose="02010609060101010101" pitchFamily="49" charset="-122"/>
                    <a:sym typeface="Wingdings" panose="05000000000000000000" pitchFamily="2" charset="2"/>
                  </a:rPr>
                  <a:t> </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200" i="1" smtClean="0">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num>
                          <m:den>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den>
                        </m:f>
                      </m:e>
                    </m:func>
                  </m:oMath>
                </a14:m>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551815" y="3745230"/>
                <a:ext cx="2658313" cy="632460"/>
              </a:xfrm>
              <a:prstGeom prst="rect">
                <a:avLst/>
              </a:prstGeom>
              <a:blipFill rotWithShape="1">
                <a:blip r:embed="rId4"/>
                <a:stretch>
                  <a:fillRect t="-39357" r="8" b="-395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3017777" y="3334813"/>
                <a:ext cx="4358512"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200" b="0" dirty="0">
                    <a:ea typeface="楷体" panose="02010609060101010101" pitchFamily="49" charset="-122"/>
                    <a:sym typeface="Wingdings" panose="05000000000000000000" pitchFamily="2" charset="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d>
                      <m:dPr>
                        <m:begChr m:val="{"/>
                        <m:endChr m:val=""/>
                        <m:ctrlPr>
                          <a:rPr lang="en-US" altLang="zh-CN" sz="3000" b="0" i="1" smtClean="0">
                            <a:latin typeface="Cambria Math" panose="02040503050406030204" pitchFamily="18" charset="0"/>
                            <a:ea typeface="楷体" panose="02010609060101010101" pitchFamily="49" charset="-122"/>
                            <a:sym typeface="Wingdings" panose="05000000000000000000" pitchFamily="2" charset="2"/>
                          </a:rPr>
                        </m:ctrlPr>
                      </m:dPr>
                      <m:e>
                        <m:eqArr>
                          <m:eqArrPr>
                            <m:ctrlPr>
                              <a:rPr lang="en-US" altLang="zh-CN" sz="3000" b="0" i="1" smtClean="0">
                                <a:latin typeface="Cambria Math" panose="02040503050406030204" pitchFamily="18" charset="0"/>
                                <a:ea typeface="楷体" panose="02010609060101010101" pitchFamily="49" charset="-122"/>
                                <a:sym typeface="Wingdings" panose="05000000000000000000" pitchFamily="2" charset="2"/>
                              </a:rPr>
                            </m:ctrlPr>
                          </m:eqArrPr>
                          <m:e>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eqArr>
                                      <m:eqArr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eqArrPr>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0</m:t>
                                        </m:r>
                                      </m:e>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𝑦</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0</m:t>
                                        </m:r>
                                      </m:e>
                                    </m:eqAr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𝑦</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𝑦</m:t>
                                    </m:r>
                                  </m:den>
                                </m:f>
                              </m:e>
                            </m:func>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1</m:t>
                            </m:r>
                          </m:e>
                          <m:e>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eqArr>
                                      <m:eqArr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eqArrPr>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𝑦</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e>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0</m:t>
                                        </m:r>
                                      </m:e>
                                    </m:eqAr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𝑦</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𝑦</m:t>
                                    </m:r>
                                  </m:den>
                                </m:f>
                              </m:e>
                            </m:func>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1</m:t>
                            </m:r>
                          </m:e>
                        </m:eqArr>
                      </m:e>
                    </m:d>
                  </m:oMath>
                </a14:m>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3017777" y="3334813"/>
                <a:ext cx="4358512" cy="632460"/>
              </a:xfrm>
              <a:prstGeom prst="rect">
                <a:avLst/>
              </a:prstGeom>
              <a:blipFill rotWithShape="1">
                <a:blip r:embed="rId5"/>
                <a:stretch>
                  <a:fillRect l="-6" t="-200168" r="3" b="-2001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332801" y="5356693"/>
                <a:ext cx="3334525" cy="632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200" b="0" i="1" smtClean="0">
                        <a:latin typeface="Cambria Math" panose="02040503050406030204" pitchFamily="18" charset="0"/>
                        <a:ea typeface="MS Mincho" panose="02020609040205080304" charset="-128"/>
                        <a:cs typeface="Cambria Math" panose="02040503050406030204" pitchFamily="18" charset="0"/>
                      </a:rPr>
                      <m:t>=</m:t>
                    </m:r>
                    <m:acc>
                      <m:accPr>
                        <m:chr m:val="̅"/>
                        <m:ctrlP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ctrlPr>
                      </m:accPr>
                      <m:e>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𝑧</m:t>
                        </m:r>
                      </m:e>
                    </m:acc>
                  </m:oMath>
                </a14:m>
                <a:r>
                  <a:rPr lang="zh-CN" altLang="en-US" sz="3200" dirty="0">
                    <a:latin typeface="楷体" panose="02010609060101010101" pitchFamily="49" charset="-122"/>
                    <a:ea typeface="楷体" panose="02010609060101010101" pitchFamily="49" charset="-122"/>
                    <a:cs typeface="楷体" panose="02010609060101010101" pitchFamily="49" charset="-122"/>
                  </a:rPr>
                  <a:t>不可导</a:t>
                </a:r>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332801" y="5356693"/>
                <a:ext cx="3334525" cy="632460"/>
              </a:xfrm>
              <a:prstGeom prst="rect">
                <a:avLst/>
              </a:prstGeom>
              <a:blipFill rotWithShape="1">
                <a:blip r:embed="rId6"/>
                <a:stretch>
                  <a:fillRect l="-2" t="-7805" r="6" b="-785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 grpId="0"/>
      <p:bldP spid="8" grpId="0"/>
      <p:bldP spid="9" grpId="0"/>
      <p:bldP spid="10"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2036" y="3797073"/>
            <a:ext cx="4114165" cy="544195"/>
          </a:xfrm>
        </p:spPr>
        <p:txBody>
          <a:bodyPr>
            <a:normAutofit fontScale="90000"/>
          </a:bodyPr>
          <a:lstStyle/>
          <a:p>
            <a:pPr>
              <a:lnSpc>
                <a:spcPct val="150000"/>
              </a:lnSpc>
            </a:pPr>
            <a:r>
              <a:rPr lang="en-US" altLang="zh-CN" sz="3555" dirty="0">
                <a:latin typeface="楷体" panose="02010609060101010101" pitchFamily="49" charset="-122"/>
                <a:ea typeface="楷体" panose="02010609060101010101" pitchFamily="49" charset="-122"/>
                <a:cs typeface="楷体" panose="02010609060101010101" pitchFamily="49" charset="-122"/>
              </a:rPr>
              <a:t>2.</a:t>
            </a:r>
            <a:r>
              <a:rPr lang="zh-CN" altLang="en-US" sz="3555" dirty="0">
                <a:latin typeface="楷体" panose="02010609060101010101" pitchFamily="49" charset="-122"/>
                <a:ea typeface="楷体" panose="02010609060101010101" pitchFamily="49" charset="-122"/>
                <a:cs typeface="楷体" panose="02010609060101010101" pitchFamily="49" charset="-122"/>
              </a:rPr>
              <a:t>常数的导数为</a:t>
            </a:r>
            <a:r>
              <a:rPr lang="en-US" altLang="zh-CN" sz="3555" dirty="0">
                <a:latin typeface="楷体" panose="02010609060101010101" pitchFamily="49" charset="-122"/>
                <a:ea typeface="楷体" panose="02010609060101010101" pitchFamily="49" charset="-122"/>
                <a:cs typeface="楷体" panose="02010609060101010101" pitchFamily="49" charset="-122"/>
              </a:rPr>
              <a:t>0;</a:t>
            </a:r>
            <a:endParaRPr lang="zh-CN" altLang="en-US" sz="3555" dirty="0">
              <a:latin typeface="楷体" panose="02010609060101010101" pitchFamily="49" charset="-122"/>
              <a:ea typeface="楷体" panose="02010609060101010101" pitchFamily="49" charset="-122"/>
              <a:cs typeface="楷体" panose="02010609060101010101" pitchFamily="49" charset="-122"/>
            </a:endParaRPr>
          </a:p>
        </p:txBody>
      </p:sp>
      <mc:AlternateContent xmlns:mc="http://schemas.openxmlformats.org/markup-compatibility/2006">
        <mc:Choice xmlns:a14="http://schemas.microsoft.com/office/drawing/2010/main" Requires="a14">
          <p:sp>
            <p:nvSpPr>
              <p:cNvPr id="10" name="标题 1"/>
              <p:cNvSpPr txBox="1"/>
              <p:nvPr/>
            </p:nvSpPr>
            <p:spPr>
              <a:xfrm>
                <a:off x="122036" y="2264784"/>
                <a:ext cx="8207126" cy="52404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FF0000"/>
                    </a:solidFill>
                    <a:latin typeface="楷体" panose="02010609060101010101" pitchFamily="49" charset="-122"/>
                    <a:ea typeface="楷体" panose="02010609060101010101" pitchFamily="49" charset="-122"/>
                    <a:cs typeface="楷体" panose="02010609060101010101" pitchFamily="49" charset="-122"/>
                  </a:rPr>
                  <a:t>命题</a:t>
                </a:r>
                <a:r>
                  <a:rPr lang="en-US" altLang="zh-CN" sz="3200" b="1" dirty="0">
                    <a:solidFill>
                      <a:srgbClr val="FF0000"/>
                    </a:solidFill>
                    <a:latin typeface="楷体" panose="02010609060101010101" pitchFamily="49" charset="-122"/>
                    <a:ea typeface="楷体" panose="02010609060101010101" pitchFamily="49" charset="-122"/>
                    <a:cs typeface="楷体" panose="02010609060101010101" pitchFamily="49" charset="-122"/>
                  </a:rPr>
                  <a:t>2.9 </a:t>
                </a:r>
                <a14:m>
                  <m:oMath xmlns:m="http://schemas.openxmlformats.org/officeDocument/2006/math">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200" b="0" i="1" smtClean="0">
                        <a:latin typeface="Cambria Math" panose="02040503050406030204" pitchFamily="18" charset="0"/>
                        <a:ea typeface="MS Mincho" panose="02020609040205080304" charset="-128"/>
                        <a:cs typeface="Cambria Math" panose="02040503050406030204" pitchFamily="18" charset="0"/>
                      </a:rPr>
                      <m:t>,</m:t>
                    </m:r>
                    <m:r>
                      <m:rPr>
                        <m:sty m:val="p"/>
                      </m:rPr>
                      <a:rPr lang="en-US" altLang="zh-CN" sz="3200" i="1" dirty="0" smtClean="0">
                        <a:latin typeface="Cambria Math" panose="02040503050406030204" pitchFamily="18" charset="0"/>
                        <a:ea typeface="楷体" panose="02010609060101010101" pitchFamily="49" charset="-122"/>
                        <a:cs typeface="Cambria Math" panose="02040503050406030204" pitchFamily="18" charset="0"/>
                      </a:rPr>
                      <m:t>g</m:t>
                    </m:r>
                    <m:r>
                      <a:rPr lang="en-US" altLang="zh-CN" sz="3200" i="1">
                        <a:latin typeface="Cambria Math" panose="02040503050406030204" pitchFamily="18" charset="0"/>
                        <a:ea typeface="MS Mincho" panose="02020609040205080304" charset="-128"/>
                        <a:cs typeface="Cambria Math" panose="02040503050406030204" pitchFamily="18" charset="0"/>
                      </a:rPr>
                      <m:t>(</m:t>
                    </m:r>
                    <m:r>
                      <a:rPr lang="en-US" altLang="zh-CN" sz="3200" i="1">
                        <a:latin typeface="Cambria Math" panose="02040503050406030204" pitchFamily="18" charset="0"/>
                        <a:ea typeface="楷体" panose="02010609060101010101" pitchFamily="49" charset="-122"/>
                        <a:cs typeface="Cambria Math" panose="02040503050406030204" pitchFamily="18" charset="0"/>
                      </a:rPr>
                      <m:t>𝑧</m:t>
                    </m:r>
                    <m:r>
                      <a:rPr lang="en-US" altLang="zh-CN" sz="3200" i="1">
                        <a:latin typeface="Cambria Math" panose="02040503050406030204" pitchFamily="18" charset="0"/>
                        <a:ea typeface="MS Mincho" panose="02020609040205080304" charset="-128"/>
                        <a:cs typeface="Cambria Math" panose="02040503050406030204" pitchFamily="18" charset="0"/>
                      </a:rPr>
                      <m:t>) </m:t>
                    </m:r>
                  </m:oMath>
                </a14:m>
                <a:r>
                  <a:rPr lang="zh-CN" altLang="en-US" sz="3200" dirty="0">
                    <a:latin typeface="楷体" panose="02010609060101010101" pitchFamily="49" charset="-122"/>
                    <a:ea typeface="楷体" panose="02010609060101010101" pitchFamily="49" charset="-122"/>
                    <a:cs typeface="楷体" panose="02010609060101010101" pitchFamily="49" charset="-122"/>
                  </a:rPr>
                  <a:t>在区域</a:t>
                </a:r>
                <a14:m>
                  <m:oMath xmlns:m="http://schemas.openxmlformats.org/officeDocument/2006/math">
                    <m:r>
                      <a:rPr lang="en-US" altLang="zh-CN" sz="3200" b="0" i="1" smtClean="0">
                        <a:latin typeface="Cambria Math" panose="02040503050406030204" pitchFamily="18" charset="0"/>
                        <a:ea typeface="楷体" panose="02010609060101010101" pitchFamily="49" charset="-122"/>
                        <a:cs typeface="Cambria Math" panose="02040503050406030204" pitchFamily="18" charset="0"/>
                      </a:rPr>
                      <m:t>𝐷</m:t>
                    </m:r>
                  </m:oMath>
                </a14:m>
                <a:r>
                  <a:rPr lang="zh-CN" altLang="en-US" sz="3200" dirty="0">
                    <a:latin typeface="楷体" panose="02010609060101010101" pitchFamily="49" charset="-122"/>
                    <a:ea typeface="楷体" panose="02010609060101010101" pitchFamily="49" charset="-122"/>
                    <a:cs typeface="楷体" panose="02010609060101010101" pitchFamily="49" charset="-122"/>
                  </a:rPr>
                  <a:t>内可导，则有：</a:t>
                </a:r>
                <a:endParaRPr lang="zh-CN" altLang="en-US"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122036" y="2264784"/>
                <a:ext cx="8207126" cy="524046"/>
              </a:xfrm>
              <a:prstGeom prst="rect">
                <a:avLst/>
              </a:prstGeom>
              <a:blipFill rotWithShape="1">
                <a:blip r:embed="rId1"/>
                <a:stretch>
                  <a:fillRect l="-1" t="-71" r="6" b="10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122036" y="893325"/>
                <a:ext cx="8836629" cy="1229993"/>
              </a:xfrm>
              <a:prstGeom prst="rect">
                <a:avLst/>
              </a:prstGeom>
            </p:spPr>
            <p:txBody>
              <a:bodyPr vert="horz" lIns="68580" tIns="34290" rIns="68580" bIns="3429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12800" dirty="0">
                    <a:latin typeface="楷体" panose="02010609060101010101" pitchFamily="49" charset="-122"/>
                    <a:ea typeface="楷体" panose="02010609060101010101" pitchFamily="49" charset="-122"/>
                    <a:cs typeface="楷体" panose="02010609060101010101" pitchFamily="49" charset="-122"/>
                  </a:rPr>
                  <a:t>复变函数导数的定义和实变函数</a:t>
                </a:r>
                <a14:m>
                  <m:oMath xmlns:m="http://schemas.openxmlformats.org/officeDocument/2006/math">
                    <m:r>
                      <m:rPr>
                        <m:sty m:val="p"/>
                      </m:rPr>
                      <a:rPr lang="en-US" altLang="zh-CN" sz="12800" smtClean="0">
                        <a:latin typeface="Cambria Math" panose="02040503050406030204" pitchFamily="18" charset="0"/>
                        <a:ea typeface="楷体" panose="02010609060101010101" pitchFamily="49" charset="-122"/>
                        <a:cs typeface="Cambria Math" panose="02040503050406030204" pitchFamily="18" charset="0"/>
                      </a:rPr>
                      <m:t>y</m:t>
                    </m:r>
                    <m:r>
                      <a:rPr lang="en-US" altLang="zh-CN" sz="12800" smtClean="0">
                        <a:latin typeface="Cambria Math" panose="02040503050406030204" pitchFamily="18" charset="0"/>
                        <a:ea typeface="MS Mincho" panose="02020609040205080304" charset="-128"/>
                        <a:cs typeface="Cambria Math" panose="02040503050406030204" pitchFamily="18" charset="0"/>
                      </a:rPr>
                      <m:t>=</m:t>
                    </m:r>
                    <m:r>
                      <a:rPr lang="en-US" altLang="zh-CN" sz="12800" i="1" smtClean="0">
                        <a:latin typeface="Cambria Math" panose="02040503050406030204" pitchFamily="18" charset="0"/>
                        <a:ea typeface="楷体" panose="02010609060101010101" pitchFamily="49" charset="-122"/>
                        <a:cs typeface="Cambria Math" panose="02040503050406030204" pitchFamily="18" charset="0"/>
                      </a:rPr>
                      <m:t>𝑓</m:t>
                    </m:r>
                    <m:r>
                      <a:rPr lang="en-US" altLang="zh-CN" sz="12800" i="1" smtClean="0">
                        <a:latin typeface="Cambria Math" panose="02040503050406030204" pitchFamily="18" charset="0"/>
                        <a:ea typeface="MS Mincho" panose="02020609040205080304" charset="-128"/>
                        <a:cs typeface="Cambria Math" panose="02040503050406030204" pitchFamily="18" charset="0"/>
                      </a:rPr>
                      <m:t>(</m:t>
                    </m:r>
                    <m:r>
                      <a:rPr lang="en-US" altLang="zh-CN" sz="1280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12800" i="1" smtClean="0">
                        <a:latin typeface="Cambria Math" panose="02040503050406030204" pitchFamily="18" charset="0"/>
                        <a:ea typeface="MS Mincho" panose="02020609040205080304" charset="-128"/>
                        <a:cs typeface="Cambria Math" panose="02040503050406030204" pitchFamily="18" charset="0"/>
                      </a:rPr>
                      <m:t>)</m:t>
                    </m:r>
                  </m:oMath>
                </a14:m>
                <a:r>
                  <a:rPr lang="zh-CN" altLang="en-US" sz="12800" dirty="0">
                    <a:latin typeface="楷体" panose="02010609060101010101" pitchFamily="49" charset="-122"/>
                    <a:ea typeface="楷体" panose="02010609060101010101" pitchFamily="49" charset="-122"/>
                    <a:cs typeface="楷体" panose="02010609060101010101" pitchFamily="49" charset="-122"/>
                  </a:rPr>
                  <a:t>的导数定义形式上完全相同，而极限运算法则也相同，所以有：</a:t>
                </a:r>
                <a:r>
                  <a:rPr lang="en-US" altLang="zh-CN" sz="12800" dirty="0">
                    <a:latin typeface="楷体" panose="02010609060101010101" pitchFamily="49" charset="-122"/>
                    <a:ea typeface="楷体" panose="02010609060101010101" pitchFamily="49" charset="-122"/>
                    <a:cs typeface="楷体" panose="02010609060101010101" pitchFamily="49" charset="-122"/>
                  </a:rPr>
                  <a:t>    </a:t>
                </a:r>
                <a:br>
                  <a:rPr lang="en-US" altLang="zh-CN" sz="2700" dirty="0">
                    <a:latin typeface="楷体" panose="02010609060101010101" pitchFamily="49" charset="-122"/>
                    <a:ea typeface="楷体" panose="02010609060101010101" pitchFamily="49" charset="-122"/>
                    <a:cs typeface="楷体" panose="02010609060101010101" pitchFamily="49" charset="-122"/>
                  </a:rPr>
                </a:br>
                <a:r>
                  <a:rPr lang="en-US" altLang="zh-CN" sz="2700" dirty="0">
                    <a:latin typeface="楷体" panose="02010609060101010101" pitchFamily="49" charset="-122"/>
                    <a:ea typeface="楷体" panose="02010609060101010101" pitchFamily="49" charset="-122"/>
                    <a:cs typeface="楷体" panose="02010609060101010101" pitchFamily="49" charset="-122"/>
                  </a:rPr>
                  <a:t>      </a:t>
                </a:r>
                <a:endParaRPr lang="zh-CN" altLang="en-US" sz="27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893325"/>
                <a:ext cx="8836629" cy="1229993"/>
              </a:xfrm>
              <a:prstGeom prst="rect">
                <a:avLst/>
              </a:prstGeom>
              <a:blipFill rotWithShape="1">
                <a:blip r:embed="rId2"/>
                <a:stretch>
                  <a:fillRect l="-1" t="-9438" r="1" b="-67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122036" y="2995243"/>
                <a:ext cx="8546174" cy="68181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en-US" altLang="zh-CN" sz="3200" dirty="0">
                    <a:latin typeface="楷体" panose="02010609060101010101" pitchFamily="49" charset="-122"/>
                    <a:ea typeface="楷体" panose="02010609060101010101" pitchFamily="49" charset="-122"/>
                    <a:cs typeface="楷体" panose="02010609060101010101" pitchFamily="49" charset="-122"/>
                  </a:rPr>
                  <a:t>1.</a:t>
                </a:r>
                <a:r>
                  <a:rPr lang="zh-CN" altLang="en-US" sz="3200" dirty="0">
                    <a:latin typeface="楷体" panose="02010609060101010101" pitchFamily="49" charset="-122"/>
                    <a:ea typeface="楷体" panose="02010609060101010101" pitchFamily="49" charset="-122"/>
                    <a:cs typeface="楷体" panose="02010609060101010101" pitchFamily="49" charset="-122"/>
                  </a:rPr>
                  <a:t>线性：</a:t>
                </a:r>
                <a14:m>
                  <m:oMath xmlns:m="http://schemas.openxmlformats.org/officeDocument/2006/math">
                    <m:sSup>
                      <m:sSupPr>
                        <m:ctrlPr>
                          <a:rPr lang="en-US" altLang="zh-CN" sz="3200" i="1" smtClean="0">
                            <a:latin typeface="Cambria Math" panose="02040503050406030204" pitchFamily="18" charset="0"/>
                            <a:ea typeface="楷体" panose="02010609060101010101" pitchFamily="49" charset="-122"/>
                            <a:cs typeface="Cambria Math" panose="02040503050406030204" pitchFamily="18" charset="0"/>
                          </a:rPr>
                        </m:ctrlPr>
                      </m:sSupPr>
                      <m:e>
                        <m:d>
                          <m:dPr>
                            <m:begChr m:val="["/>
                            <m:endChr m:val="]"/>
                            <m:ctrlPr>
                              <a:rPr lang="en-US" altLang="zh-CN" sz="3200" i="1" smtClean="0">
                                <a:latin typeface="Cambria Math" panose="02040503050406030204" pitchFamily="18" charset="0"/>
                                <a:ea typeface="楷体" panose="02010609060101010101" pitchFamily="49" charset="-122"/>
                                <a:cs typeface="Cambria Math" panose="02040503050406030204" pitchFamily="18" charset="0"/>
                              </a:rPr>
                            </m:ctrlPr>
                          </m:dPr>
                          <m:e>
                            <m:r>
                              <a:rPr lang="zh-CN" altLang="en-US" sz="3200" i="1" smtClean="0">
                                <a:latin typeface="Cambria Math" panose="02040503050406030204" pitchFamily="18" charset="0"/>
                                <a:ea typeface="MS Mincho" panose="02020609040205080304" charset="-128"/>
                                <a:cs typeface="Cambria Math" panose="02040503050406030204" pitchFamily="18" charset="0"/>
                              </a:rPr>
                              <m:t>𝛼</m:t>
                            </m:r>
                            <m:r>
                              <a:rPr lang="en-US" altLang="zh-CN" sz="3200" i="1" smtClean="0">
                                <a:latin typeface="Cambria Math" panose="02040503050406030204" pitchFamily="18" charset="0"/>
                                <a:ea typeface="楷体" panose="02010609060101010101" pitchFamily="49" charset="-122"/>
                                <a:cs typeface="Cambria Math" panose="02040503050406030204" pitchFamily="18" charset="0"/>
                              </a:rPr>
                              <m:t>𝑓</m:t>
                            </m:r>
                            <m:r>
                              <a:rPr lang="en-US" altLang="zh-CN" sz="3200" i="1" smtClean="0">
                                <a:latin typeface="Cambria Math" panose="02040503050406030204" pitchFamily="18" charset="0"/>
                                <a:ea typeface="MS Mincho" panose="02020609040205080304" charset="-128"/>
                                <a:cs typeface="Cambria Math" panose="02040503050406030204" pitchFamily="18" charset="0"/>
                              </a:rPr>
                              <m:t>(</m:t>
                            </m:r>
                            <m:r>
                              <a:rPr lang="en-US" altLang="zh-CN" sz="320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3200" i="1" smtClean="0">
                                <a:latin typeface="Cambria Math" panose="02040503050406030204" pitchFamily="18" charset="0"/>
                                <a:ea typeface="MS Mincho" panose="02020609040205080304" charset="-128"/>
                                <a:cs typeface="Cambria Math" panose="02040503050406030204" pitchFamily="18" charset="0"/>
                              </a:rPr>
                              <m:t>)±</m:t>
                            </m:r>
                            <m:r>
                              <a:rPr lang="zh-CN" altLang="en-US" sz="3200" i="1" smtClean="0">
                                <a:latin typeface="Cambria Math" panose="02040503050406030204" pitchFamily="18" charset="0"/>
                                <a:ea typeface="MS Mincho" panose="02020609040205080304" charset="-128"/>
                                <a:cs typeface="Cambria Math" panose="02040503050406030204" pitchFamily="18" charset="0"/>
                              </a:rPr>
                              <m:t>𝛽</m:t>
                            </m:r>
                            <m:r>
                              <a:rPr lang="en-US" altLang="zh-CN" sz="3200" i="1" smtClean="0">
                                <a:latin typeface="Cambria Math" panose="02040503050406030204" pitchFamily="18" charset="0"/>
                                <a:ea typeface="楷体" panose="02010609060101010101" pitchFamily="49" charset="-122"/>
                                <a:cs typeface="Cambria Math" panose="02040503050406030204" pitchFamily="18" charset="0"/>
                              </a:rPr>
                              <m:t>𝑔</m:t>
                            </m:r>
                            <m:r>
                              <a:rPr lang="en-US" altLang="zh-CN" sz="3200" i="1" smtClean="0">
                                <a:latin typeface="Cambria Math" panose="02040503050406030204" pitchFamily="18" charset="0"/>
                                <a:ea typeface="MS Mincho" panose="02020609040205080304" charset="-128"/>
                                <a:cs typeface="Cambria Math" panose="02040503050406030204" pitchFamily="18" charset="0"/>
                              </a:rPr>
                              <m:t>(</m:t>
                            </m:r>
                            <m:r>
                              <a:rPr lang="en-US" altLang="zh-CN" sz="320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3200" i="1" smtClean="0">
                                <a:latin typeface="Cambria Math" panose="02040503050406030204" pitchFamily="18" charset="0"/>
                                <a:ea typeface="MS Mincho" panose="02020609040205080304" charset="-128"/>
                                <a:cs typeface="Cambria Math" panose="02040503050406030204" pitchFamily="18" charset="0"/>
                              </a:rPr>
                              <m:t>)</m:t>
                            </m:r>
                          </m:e>
                        </m:d>
                      </m:e>
                      <m:sup>
                        <m:r>
                          <a:rPr lang="en-US" altLang="zh-CN" sz="3200" i="1" smtClean="0">
                            <a:latin typeface="Cambria Math" panose="02040503050406030204" pitchFamily="18" charset="0"/>
                            <a:ea typeface="MS Mincho" panose="02020609040205080304" charset="-128"/>
                            <a:cs typeface="Cambria Math" panose="02040503050406030204" pitchFamily="18" charset="0"/>
                          </a:rPr>
                          <m:t>′</m:t>
                        </m:r>
                      </m:sup>
                    </m:sSup>
                    <m:r>
                      <a:rPr lang="en-US" altLang="zh-CN" sz="3200" i="1" smtClean="0">
                        <a:latin typeface="Cambria Math" panose="02040503050406030204" pitchFamily="18" charset="0"/>
                        <a:ea typeface="MS Mincho" panose="02020609040205080304" charset="-128"/>
                        <a:cs typeface="Cambria Math" panose="02040503050406030204" pitchFamily="18" charset="0"/>
                      </a:rPr>
                      <m:t>=</m:t>
                    </m:r>
                    <m:r>
                      <a:rPr lang="zh-CN" altLang="en-US" sz="3200" i="1" smtClean="0">
                        <a:latin typeface="Cambria Math" panose="02040503050406030204" pitchFamily="18" charset="0"/>
                        <a:ea typeface="MS Mincho" panose="02020609040205080304" charset="-128"/>
                        <a:cs typeface="Cambria Math" panose="02040503050406030204" pitchFamily="18" charset="0"/>
                      </a:rPr>
                      <m:t>𝛼</m:t>
                    </m:r>
                    <m:sSup>
                      <m:sSupPr>
                        <m:ctrlPr>
                          <a:rPr lang="en-US" altLang="zh-CN" sz="3200" i="1" smtClean="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200" i="1" smtClean="0">
                            <a:latin typeface="Cambria Math" panose="02040503050406030204" pitchFamily="18" charset="0"/>
                            <a:ea typeface="楷体" panose="02010609060101010101" pitchFamily="49" charset="-122"/>
                            <a:cs typeface="Cambria Math" panose="02040503050406030204" pitchFamily="18" charset="0"/>
                          </a:rPr>
                          <m:t>𝑓</m:t>
                        </m:r>
                      </m:e>
                      <m:sup>
                        <m:r>
                          <a:rPr lang="en-US" altLang="zh-CN" sz="3200" i="1" smtClean="0">
                            <a:latin typeface="Cambria Math" panose="02040503050406030204" pitchFamily="18" charset="0"/>
                            <a:ea typeface="MS Mincho" panose="02020609040205080304" charset="-128"/>
                            <a:cs typeface="Cambria Math" panose="02040503050406030204" pitchFamily="18" charset="0"/>
                          </a:rPr>
                          <m:t>′</m:t>
                        </m:r>
                      </m:sup>
                    </m:sSup>
                    <m:d>
                      <m:dPr>
                        <m:ctrlPr>
                          <a:rPr lang="en-US" altLang="zh-CN" sz="320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200" i="1" smtClean="0">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200" i="1">
                        <a:latin typeface="Cambria Math" panose="02040503050406030204" pitchFamily="18" charset="0"/>
                        <a:ea typeface="MS Mincho" panose="02020609040205080304" charset="-128"/>
                        <a:cs typeface="Cambria Math" panose="02040503050406030204" pitchFamily="18" charset="0"/>
                      </a:rPr>
                      <m:t>±</m:t>
                    </m:r>
                    <m:r>
                      <a:rPr lang="zh-CN" altLang="en-US" sz="3200" i="1" smtClean="0">
                        <a:latin typeface="Cambria Math" panose="02040503050406030204" pitchFamily="18" charset="0"/>
                        <a:ea typeface="MS Mincho" panose="02020609040205080304" charset="-128"/>
                        <a:cs typeface="Cambria Math" panose="02040503050406030204" pitchFamily="18" charset="0"/>
                      </a:rPr>
                      <m:t>𝛽</m:t>
                    </m:r>
                    <m:sSup>
                      <m:sSupPr>
                        <m:ctrlPr>
                          <a:rPr lang="en-US" altLang="zh-CN" sz="3200" i="1" smtClean="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200" i="1" smtClean="0">
                            <a:latin typeface="Cambria Math" panose="02040503050406030204" pitchFamily="18" charset="0"/>
                            <a:ea typeface="楷体" panose="02010609060101010101" pitchFamily="49" charset="-122"/>
                            <a:cs typeface="Cambria Math" panose="02040503050406030204" pitchFamily="18" charset="0"/>
                          </a:rPr>
                          <m:t>𝑔</m:t>
                        </m:r>
                      </m:e>
                      <m:sup>
                        <m:r>
                          <a:rPr lang="en-US" altLang="zh-CN" sz="3200" i="1" smtClean="0">
                            <a:latin typeface="Cambria Math" panose="02040503050406030204" pitchFamily="18" charset="0"/>
                            <a:ea typeface="MS Mincho" panose="02020609040205080304" charset="-128"/>
                            <a:cs typeface="Cambria Math" panose="02040503050406030204" pitchFamily="18" charset="0"/>
                          </a:rPr>
                          <m:t>′</m:t>
                        </m:r>
                      </m:sup>
                    </m:sSup>
                    <m:d>
                      <m:dPr>
                        <m:ctrlPr>
                          <a:rPr lang="en-US" altLang="zh-CN" sz="320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200" i="1" smtClean="0">
                            <a:latin typeface="Cambria Math" panose="02040503050406030204" pitchFamily="18" charset="0"/>
                            <a:ea typeface="楷体" panose="02010609060101010101" pitchFamily="49" charset="-122"/>
                            <a:cs typeface="Cambria Math" panose="02040503050406030204" pitchFamily="18" charset="0"/>
                          </a:rPr>
                          <m:t>𝑧</m:t>
                        </m:r>
                      </m:e>
                    </m:d>
                  </m:oMath>
                </a14:m>
                <a:r>
                  <a:rPr lang="zh-CN" altLang="en-US" sz="3200" dirty="0">
                    <a:latin typeface="楷体" panose="02010609060101010101" pitchFamily="49" charset="-122"/>
                    <a:ea typeface="楷体" panose="02010609060101010101" pitchFamily="49" charset="-122"/>
                    <a:cs typeface="楷体" panose="02010609060101010101" pitchFamily="49" charset="-122"/>
                  </a:rPr>
                  <a:t>，</a:t>
                </a:r>
                <a:endParaRPr lang="en-US" altLang="zh-CN" sz="32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122036" y="2995243"/>
                <a:ext cx="8546174" cy="681812"/>
              </a:xfrm>
              <a:prstGeom prst="rect">
                <a:avLst/>
              </a:prstGeom>
              <a:blipFill rotWithShape="1">
                <a:blip r:embed="rId3"/>
                <a:stretch>
                  <a:fillRect l="-1" t="-86" r="5" b="5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56083" y="4511010"/>
                <a:ext cx="8370211" cy="63770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en-US" altLang="zh-CN" sz="3200" dirty="0">
                    <a:latin typeface="楷体" panose="02010609060101010101" pitchFamily="49" charset="-122"/>
                    <a:ea typeface="楷体" panose="02010609060101010101" pitchFamily="49" charset="-122"/>
                    <a:cs typeface="楷体" panose="02010609060101010101" pitchFamily="49" charset="-122"/>
                  </a:rPr>
                  <a:t>3.</a:t>
                </a:r>
                <a:r>
                  <a:rPr lang="zh-CN" altLang="en-US" sz="3200" dirty="0">
                    <a:latin typeface="楷体" panose="02010609060101010101" pitchFamily="49" charset="-122"/>
                    <a:ea typeface="楷体" panose="02010609060101010101" pitchFamily="49" charset="-122"/>
                    <a:cs typeface="楷体" panose="02010609060101010101" pitchFamily="49" charset="-122"/>
                  </a:rPr>
                  <a:t>积的导</a:t>
                </a:r>
                <a:r>
                  <a:rPr lang="en-US" altLang="zh-CN" sz="3200" dirty="0">
                    <a:latin typeface="楷体" panose="02010609060101010101" pitchFamily="49" charset="-122"/>
                    <a:ea typeface="楷体" panose="02010609060101010101" pitchFamily="49" charset="-122"/>
                    <a:cs typeface="楷体" panose="02010609060101010101" pitchFamily="49" charset="-122"/>
                  </a:rPr>
                  <a:t>:</a:t>
                </a:r>
                <a:r>
                  <a:rPr lang="en-US" altLang="zh-CN" sz="2400" dirty="0">
                    <a:ea typeface="楷体" panose="02010609060101010101" pitchFamily="49" charset="-122"/>
                    <a:cs typeface="Cambria Math" panose="02040503050406030204" pitchFamily="18" charset="0"/>
                  </a:rPr>
                  <a:t>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d>
                          <m:dPr>
                            <m:begChr m:val="["/>
                            <m:endChr m:val="]"/>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i="1">
                                <a:latin typeface="Cambria Math" panose="02040503050406030204" pitchFamily="18" charset="0"/>
                                <a:ea typeface="楷体" panose="02010609060101010101" pitchFamily="49" charset="-122"/>
                                <a:cs typeface="Cambria Math" panose="02040503050406030204" pitchFamily="18" charset="0"/>
                              </a:rPr>
                              <m:t>𝑔</m:t>
                            </m:r>
                            <m:r>
                              <a:rPr lang="en-US" altLang="zh-CN" sz="3000" i="1">
                                <a:latin typeface="Cambria Math" panose="02040503050406030204" pitchFamily="18" charset="0"/>
                                <a:ea typeface="MS Mincho" panose="02020609040205080304" charset="-128"/>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MS Mincho" panose="02020609040205080304" charset="-128"/>
                                <a:cs typeface="Cambria Math" panose="02040503050406030204" pitchFamily="18" charset="0"/>
                              </a:rPr>
                              <m:t>)</m:t>
                            </m:r>
                          </m:e>
                        </m:d>
                      </m:e>
                      <m:sup>
                        <m:r>
                          <a:rPr lang="en-US" altLang="zh-CN" sz="3000" i="1">
                            <a:latin typeface="Cambria Math" panose="02040503050406030204" pitchFamily="18" charset="0"/>
                            <a:ea typeface="MS Mincho" panose="02020609040205080304" charset="-128"/>
                            <a:cs typeface="Cambria Math" panose="02040503050406030204" pitchFamily="18" charset="0"/>
                          </a:rPr>
                          <m:t>′</m:t>
                        </m:r>
                      </m:sup>
                    </m:sSup>
                    <m:r>
                      <a:rPr lang="en-US" altLang="zh-CN" sz="30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e>
                      <m:sup>
                        <m:r>
                          <a:rPr lang="en-US" altLang="zh-CN" sz="3000" i="1">
                            <a:latin typeface="Cambria Math" panose="02040503050406030204" pitchFamily="18" charset="0"/>
                            <a:ea typeface="MS Mincho" panose="02020609040205080304" charset="-128"/>
                            <a:cs typeface="Cambria Math" panose="02040503050406030204" pitchFamily="18" charset="0"/>
                          </a:rPr>
                          <m:t>′</m:t>
                        </m:r>
                      </m:sup>
                    </m:sSup>
                    <m:d>
                      <m:d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i="1">
                        <a:latin typeface="Cambria Math" panose="02040503050406030204" pitchFamily="18" charset="0"/>
                        <a:ea typeface="楷体" panose="02010609060101010101" pitchFamily="49" charset="-122"/>
                        <a:cs typeface="Cambria Math" panose="02040503050406030204" pitchFamily="18" charset="0"/>
                      </a:rPr>
                      <m:t>𝑔</m:t>
                    </m:r>
                    <m:d>
                      <m:d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i="1">
                        <a:latin typeface="Cambria Math" panose="02040503050406030204" pitchFamily="18" charset="0"/>
                        <a:ea typeface="MS Mincho" panose="02020609040205080304" charset="-128"/>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𝑔</m:t>
                        </m:r>
                      </m:e>
                      <m:sup>
                        <m:r>
                          <a:rPr lang="en-US" altLang="zh-CN" sz="3000" i="1">
                            <a:latin typeface="Cambria Math" panose="02040503050406030204" pitchFamily="18" charset="0"/>
                            <a:ea typeface="MS Mincho" panose="02020609040205080304" charset="-128"/>
                            <a:cs typeface="Cambria Math" panose="02040503050406030204" pitchFamily="18" charset="0"/>
                          </a:rPr>
                          <m:t>′</m:t>
                        </m:r>
                      </m:sup>
                    </m:sSup>
                    <m:d>
                      <m:d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i="1">
                        <a:latin typeface="Cambria Math" panose="02040503050406030204" pitchFamily="18" charset="0"/>
                        <a:ea typeface="MS Mincho" panose="02020609040205080304" charset="-128"/>
                        <a:cs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cs typeface="楷体" panose="02010609060101010101" pitchFamily="49" charset="-122"/>
                  </a:rPr>
                  <a:t> </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156083" y="4511010"/>
                <a:ext cx="8370211" cy="637706"/>
              </a:xfrm>
              <a:prstGeom prst="rect">
                <a:avLst/>
              </a:prstGeom>
              <a:blipFill rotWithShape="1">
                <a:blip r:embed="rId4"/>
                <a:stretch>
                  <a:fillRect l="-6" t="-95" r="2" b="21"/>
                </a:stretch>
              </a:blipFill>
            </p:spPr>
            <p:txBody>
              <a:bodyPr/>
              <a:lstStyle/>
              <a:p>
                <a:r>
                  <a:rPr lang="zh-CN" altLang="en-US">
                    <a:noFill/>
                  </a:rPr>
                  <a:t> </a:t>
                </a:r>
              </a:p>
            </p:txBody>
          </p:sp>
        </mc:Fallback>
      </mc:AlternateContent>
      <p:sp>
        <p:nvSpPr>
          <p:cNvPr id="4" name="标题 1"/>
          <p:cNvSpPr txBox="1"/>
          <p:nvPr/>
        </p:nvSpPr>
        <p:spPr>
          <a:xfrm>
            <a:off x="773721" y="5718088"/>
            <a:ext cx="7596557" cy="63770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endParaRPr lang="zh-CN" altLang="en-US" sz="2325" dirty="0">
              <a:latin typeface="楷体" panose="02010609060101010101" pitchFamily="49" charset="-122"/>
              <a:ea typeface="楷体" panose="02010609060101010101" pitchFamily="49" charset="-122"/>
              <a:cs typeface="楷体" panose="02010609060101010101" pitchFamily="49" charset="-122"/>
            </a:endParaRPr>
          </a:p>
        </p:txBody>
      </p:sp>
      <p:sp>
        <p:nvSpPr>
          <p:cNvPr id="11"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12" name="直接连接符 11"/>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标题 1"/>
              <p:cNvSpPr txBox="1"/>
              <p:nvPr/>
            </p:nvSpPr>
            <p:spPr>
              <a:xfrm>
                <a:off x="122036" y="5679519"/>
                <a:ext cx="6940469" cy="6762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10000"/>
                  </a:lnSpc>
                </a:pPr>
                <a:r>
                  <a:rPr lang="en-US" altLang="zh-CN" sz="3200" dirty="0">
                    <a:latin typeface="楷体" panose="02010609060101010101" pitchFamily="49" charset="-122"/>
                    <a:ea typeface="楷体" panose="02010609060101010101" pitchFamily="49" charset="-122"/>
                  </a:rPr>
                  <a:t>4.</a:t>
                </a:r>
                <a:r>
                  <a:rPr lang="zh-CN" altLang="en-US" sz="3200" dirty="0">
                    <a:latin typeface="楷体" panose="02010609060101010101" pitchFamily="49" charset="-122"/>
                    <a:ea typeface="楷体" panose="02010609060101010101" pitchFamily="49" charset="-122"/>
                  </a:rPr>
                  <a:t>商的导数：当</a:t>
                </a:r>
                <a14:m>
                  <m:oMath xmlns:m="http://schemas.openxmlformats.org/officeDocument/2006/math">
                    <m:r>
                      <a:rPr lang="zh-CN" altLang="en-US"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𝑔</m:t>
                    </m:r>
                    <m:r>
                      <a:rPr lang="en-US" altLang="zh-CN"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𝑧</m:t>
                    </m:r>
                    <m:r>
                      <a:rPr lang="en-US" altLang="zh-CN"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0</m:t>
                    </m:r>
                  </m:oMath>
                </a14:m>
                <a:r>
                  <a:rPr lang="zh-CN" altLang="en-US" sz="3200" dirty="0">
                    <a:latin typeface="楷体" panose="02010609060101010101" pitchFamily="49" charset="-122"/>
                    <a:ea typeface="楷体" panose="02010609060101010101" pitchFamily="49" charset="-122"/>
                  </a:rPr>
                  <a:t>时， </a:t>
                </a:r>
                <a:br>
                  <a:rPr lang="zh-CN" altLang="en-US" sz="3200" dirty="0">
                    <a:latin typeface="楷体" panose="02010609060101010101" pitchFamily="49" charset="-122"/>
                    <a:ea typeface="楷体" panose="02010609060101010101" pitchFamily="49" charset="-122"/>
                  </a:rPr>
                </a:br>
                <a:r>
                  <a:rPr lang="zh-CN" altLang="en-US" sz="3200" dirty="0">
                    <a:latin typeface="楷体" panose="02010609060101010101" pitchFamily="49" charset="-122"/>
                    <a:ea typeface="楷体" panose="02010609060101010101" pitchFamily="49" charset="-122"/>
                  </a:rPr>
                  <a:t>       </a:t>
                </a:r>
                <a14:m>
                  <m:oMath xmlns:m="http://schemas.openxmlformats.org/officeDocument/2006/math">
                    <m:sSup>
                      <m:sSupPr>
                        <m:ctrlPr>
                          <a:rPr lang="en-US" altLang="zh-CN" sz="3200" i="1" smtClean="0">
                            <a:latin typeface="Cambria Math" panose="02040503050406030204" pitchFamily="18" charset="0"/>
                            <a:ea typeface="楷体" panose="02010609060101010101" pitchFamily="49" charset="-122"/>
                          </a:rPr>
                        </m:ctrlPr>
                      </m:sSupPr>
                      <m:e>
                        <m:d>
                          <m:dPr>
                            <m:begChr m:val="["/>
                            <m:endChr m:val="]"/>
                            <m:ctrlPr>
                              <a:rPr lang="en-US" altLang="zh-CN" sz="3200" i="1" smtClean="0">
                                <a:latin typeface="Cambria Math" panose="02040503050406030204" pitchFamily="18" charset="0"/>
                                <a:ea typeface="楷体" panose="02010609060101010101" pitchFamily="49" charset="-122"/>
                              </a:rPr>
                            </m:ctrlPr>
                          </m:dPr>
                          <m:e>
                            <m:f>
                              <m:fPr>
                                <m:ctrlPr>
                                  <a:rPr lang="en-US" altLang="zh-CN" sz="3200" i="1" smtClean="0">
                                    <a:latin typeface="Cambria Math" panose="02040503050406030204" pitchFamily="18" charset="0"/>
                                    <a:ea typeface="楷体" panose="02010609060101010101" pitchFamily="49" charset="-122"/>
                                  </a:rPr>
                                </m:ctrlPr>
                              </m:fPr>
                              <m:num>
                                <m:r>
                                  <a:rPr lang="en-US" altLang="zh-CN" sz="3200" i="1" smtClean="0">
                                    <a:latin typeface="Cambria Math" panose="02040503050406030204" pitchFamily="18" charset="0"/>
                                    <a:ea typeface="楷体" panose="02010609060101010101" pitchFamily="49" charset="-122"/>
                                  </a:rPr>
                                  <m:t>𝑓</m:t>
                                </m:r>
                                <m:r>
                                  <a:rPr lang="en-US" altLang="zh-CN"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𝑧</m:t>
                                </m:r>
                                <m:r>
                                  <a:rPr lang="en-US" altLang="zh-CN" sz="3200" i="1" smtClean="0">
                                    <a:latin typeface="Cambria Math" panose="02040503050406030204" pitchFamily="18" charset="0"/>
                                    <a:ea typeface="楷体" panose="02010609060101010101" pitchFamily="49" charset="-122"/>
                                  </a:rPr>
                                  <m:t>)</m:t>
                                </m:r>
                              </m:num>
                              <m:den>
                                <m:r>
                                  <a:rPr lang="en-US" altLang="zh-CN" sz="3200" i="1" smtClean="0">
                                    <a:latin typeface="Cambria Math" panose="02040503050406030204" pitchFamily="18" charset="0"/>
                                    <a:ea typeface="楷体" panose="02010609060101010101" pitchFamily="49" charset="-122"/>
                                  </a:rPr>
                                  <m:t>𝑔</m:t>
                                </m:r>
                                <m:r>
                                  <a:rPr lang="en-US" altLang="zh-CN"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𝑧</m:t>
                                </m:r>
                                <m:r>
                                  <a:rPr lang="en-US" altLang="zh-CN" sz="3200" i="1" smtClean="0">
                                    <a:latin typeface="Cambria Math" panose="02040503050406030204" pitchFamily="18" charset="0"/>
                                    <a:ea typeface="楷体" panose="02010609060101010101" pitchFamily="49" charset="-122"/>
                                  </a:rPr>
                                  <m:t>)</m:t>
                                </m:r>
                              </m:den>
                            </m:f>
                          </m:e>
                        </m:d>
                      </m:e>
                      <m:sup>
                        <m:r>
                          <a:rPr lang="en-US" altLang="zh-CN" sz="3200" i="1" smtClean="0">
                            <a:latin typeface="Cambria Math" panose="02040503050406030204" pitchFamily="18" charset="0"/>
                            <a:ea typeface="楷体" panose="02010609060101010101" pitchFamily="49" charset="-122"/>
                          </a:rPr>
                          <m:t>′</m:t>
                        </m:r>
                      </m:sup>
                    </m:sSup>
                    <m:r>
                      <a:rPr lang="en-US" altLang="zh-CN" sz="3200" i="1" smtClean="0">
                        <a:latin typeface="Cambria Math" panose="02040503050406030204" pitchFamily="18" charset="0"/>
                        <a:ea typeface="楷体" panose="02010609060101010101" pitchFamily="49" charset="-122"/>
                      </a:rPr>
                      <m:t>=</m:t>
                    </m:r>
                    <m:f>
                      <m:fPr>
                        <m:ctrlPr>
                          <a:rPr lang="en-US" altLang="zh-CN" sz="3200" i="1" smtClean="0">
                            <a:latin typeface="Cambria Math" panose="02040503050406030204" pitchFamily="18" charset="0"/>
                            <a:ea typeface="楷体" panose="02010609060101010101" pitchFamily="49" charset="-122"/>
                          </a:rPr>
                        </m:ctrlPr>
                      </m:fPr>
                      <m:num>
                        <m:sSup>
                          <m:sSupPr>
                            <m:ctrlPr>
                              <a:rPr lang="en-US" altLang="zh-CN" sz="3200" i="1" smtClean="0">
                                <a:latin typeface="Cambria Math" panose="02040503050406030204" pitchFamily="18" charset="0"/>
                                <a:ea typeface="楷体" panose="02010609060101010101" pitchFamily="49" charset="-122"/>
                              </a:rPr>
                            </m:ctrlPr>
                          </m:sSupPr>
                          <m:e>
                            <m:r>
                              <a:rPr lang="en-US" altLang="zh-CN" sz="3200" i="1" smtClean="0">
                                <a:latin typeface="Cambria Math" panose="02040503050406030204" pitchFamily="18" charset="0"/>
                                <a:ea typeface="楷体" panose="02010609060101010101" pitchFamily="49" charset="-122"/>
                              </a:rPr>
                              <m:t>𝑓</m:t>
                            </m:r>
                          </m:e>
                          <m:sup>
                            <m:r>
                              <a:rPr lang="en-US" altLang="zh-CN" sz="3200" i="1" smtClean="0">
                                <a:latin typeface="Cambria Math" panose="02040503050406030204" pitchFamily="18" charset="0"/>
                                <a:ea typeface="楷体" panose="02010609060101010101" pitchFamily="49" charset="-122"/>
                              </a:rPr>
                              <m:t>′</m:t>
                            </m:r>
                          </m:sup>
                        </m:sSup>
                        <m:d>
                          <m:dPr>
                            <m:ctrlPr>
                              <a:rPr lang="en-US" altLang="zh-CN" sz="3200" i="1" smtClean="0">
                                <a:latin typeface="Cambria Math" panose="02040503050406030204" pitchFamily="18" charset="0"/>
                                <a:ea typeface="楷体" panose="02010609060101010101" pitchFamily="49" charset="-122"/>
                              </a:rPr>
                            </m:ctrlPr>
                          </m:dPr>
                          <m:e>
                            <m:r>
                              <a:rPr lang="en-US" altLang="zh-CN" sz="3200" i="1" smtClean="0">
                                <a:latin typeface="Cambria Math" panose="02040503050406030204" pitchFamily="18" charset="0"/>
                                <a:ea typeface="楷体" panose="02010609060101010101" pitchFamily="49" charset="-122"/>
                              </a:rPr>
                              <m:t>𝑧</m:t>
                            </m:r>
                          </m:e>
                        </m:d>
                        <m:r>
                          <a:rPr lang="en-US" altLang="zh-CN" sz="3200" i="1" smtClean="0">
                            <a:latin typeface="Cambria Math" panose="02040503050406030204" pitchFamily="18" charset="0"/>
                            <a:ea typeface="楷体" panose="02010609060101010101" pitchFamily="49" charset="-122"/>
                          </a:rPr>
                          <m:t>𝑔</m:t>
                        </m:r>
                        <m:d>
                          <m:dPr>
                            <m:ctrlPr>
                              <a:rPr lang="en-US" altLang="zh-CN" sz="3200" i="1" smtClean="0">
                                <a:latin typeface="Cambria Math" panose="02040503050406030204" pitchFamily="18" charset="0"/>
                                <a:ea typeface="楷体" panose="02010609060101010101" pitchFamily="49" charset="-122"/>
                              </a:rPr>
                            </m:ctrlPr>
                          </m:dPr>
                          <m:e>
                            <m:r>
                              <a:rPr lang="en-US" altLang="zh-CN" sz="3200" i="1" smtClean="0">
                                <a:latin typeface="Cambria Math" panose="02040503050406030204" pitchFamily="18" charset="0"/>
                                <a:ea typeface="楷体" panose="02010609060101010101" pitchFamily="49" charset="-122"/>
                              </a:rPr>
                              <m:t>𝑧</m:t>
                            </m:r>
                          </m:e>
                        </m:d>
                        <m:r>
                          <a:rPr lang="en-US" altLang="zh-CN"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𝑓</m:t>
                        </m:r>
                        <m:r>
                          <a:rPr lang="en-US" altLang="zh-CN"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𝑧</m:t>
                        </m:r>
                        <m:r>
                          <a:rPr lang="en-US" altLang="zh-CN" sz="3200" i="1" smtClean="0">
                            <a:latin typeface="Cambria Math" panose="02040503050406030204" pitchFamily="18" charset="0"/>
                            <a:ea typeface="楷体" panose="02010609060101010101" pitchFamily="49" charset="-122"/>
                          </a:rPr>
                          <m:t>)</m:t>
                        </m:r>
                        <m:sSup>
                          <m:sSupPr>
                            <m:ctrlPr>
                              <a:rPr lang="en-US" altLang="zh-CN" sz="3200" i="1" smtClean="0">
                                <a:latin typeface="Cambria Math" panose="02040503050406030204" pitchFamily="18" charset="0"/>
                                <a:ea typeface="楷体" panose="02010609060101010101" pitchFamily="49" charset="-122"/>
                              </a:rPr>
                            </m:ctrlPr>
                          </m:sSupPr>
                          <m:e>
                            <m:r>
                              <a:rPr lang="en-US" altLang="zh-CN" sz="3200" i="1" smtClean="0">
                                <a:latin typeface="Cambria Math" panose="02040503050406030204" pitchFamily="18" charset="0"/>
                                <a:ea typeface="楷体" panose="02010609060101010101" pitchFamily="49" charset="-122"/>
                              </a:rPr>
                              <m:t>𝑔</m:t>
                            </m:r>
                          </m:e>
                          <m:sup>
                            <m:r>
                              <a:rPr lang="en-US" altLang="zh-CN" sz="3200" i="1" smtClean="0">
                                <a:latin typeface="Cambria Math" panose="02040503050406030204" pitchFamily="18" charset="0"/>
                                <a:ea typeface="楷体" panose="02010609060101010101" pitchFamily="49" charset="-122"/>
                              </a:rPr>
                              <m:t>′</m:t>
                            </m:r>
                          </m:sup>
                        </m:sSup>
                        <m:r>
                          <a:rPr lang="en-US" altLang="zh-CN"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𝑧</m:t>
                        </m:r>
                        <m:r>
                          <a:rPr lang="en-US" altLang="zh-CN" sz="3200" i="1" smtClean="0">
                            <a:latin typeface="Cambria Math" panose="02040503050406030204" pitchFamily="18" charset="0"/>
                            <a:ea typeface="楷体" panose="02010609060101010101" pitchFamily="49" charset="-122"/>
                          </a:rPr>
                          <m:t>)</m:t>
                        </m:r>
                      </m:num>
                      <m:den>
                        <m:sSup>
                          <m:sSupPr>
                            <m:ctrlPr>
                              <a:rPr lang="en-US" altLang="zh-CN" sz="3200" i="1" smtClean="0">
                                <a:latin typeface="Cambria Math" panose="02040503050406030204" pitchFamily="18" charset="0"/>
                                <a:ea typeface="楷体" panose="02010609060101010101" pitchFamily="49" charset="-122"/>
                              </a:rPr>
                            </m:ctrlPr>
                          </m:sSupPr>
                          <m:e>
                            <m:r>
                              <a:rPr lang="en-US" altLang="zh-CN" sz="3200" i="1" smtClean="0">
                                <a:latin typeface="Cambria Math" panose="02040503050406030204" pitchFamily="18" charset="0"/>
                                <a:ea typeface="楷体" panose="02010609060101010101" pitchFamily="49" charset="-122"/>
                              </a:rPr>
                              <m:t>𝑔</m:t>
                            </m:r>
                          </m:e>
                          <m:sup>
                            <m:r>
                              <a:rPr lang="en-US" altLang="zh-CN" sz="3200" i="1" smtClean="0">
                                <a:latin typeface="Cambria Math" panose="02040503050406030204" pitchFamily="18" charset="0"/>
                                <a:ea typeface="楷体" panose="02010609060101010101" pitchFamily="49" charset="-122"/>
                              </a:rPr>
                              <m:t>2</m:t>
                            </m:r>
                          </m:sup>
                        </m:sSup>
                        <m:r>
                          <a:rPr lang="en-US" altLang="zh-CN"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𝑧</m:t>
                        </m:r>
                        <m:r>
                          <a:rPr lang="en-US" altLang="zh-CN" sz="3200" i="1" smtClean="0">
                            <a:latin typeface="Cambria Math" panose="02040503050406030204" pitchFamily="18" charset="0"/>
                            <a:ea typeface="楷体" panose="02010609060101010101" pitchFamily="49" charset="-122"/>
                          </a:rPr>
                          <m:t>)</m:t>
                        </m:r>
                      </m:den>
                    </m:f>
                    <m:r>
                      <a:rPr lang="en-US" altLang="zh-CN" sz="3200" smtClean="0">
                        <a:latin typeface="Cambria Math" panose="02040503050406030204" pitchFamily="18" charset="0"/>
                        <a:ea typeface="楷体" panose="02010609060101010101" pitchFamily="49" charset="-122"/>
                      </a:rPr>
                      <m:t>;</m:t>
                    </m:r>
                  </m:oMath>
                </a14:m>
                <a:r>
                  <a:rPr lang="zh-CN" altLang="en-US" sz="3200" dirty="0">
                    <a:latin typeface="楷体" panose="02010609060101010101" pitchFamily="49" charset="-122"/>
                    <a:ea typeface="楷体" panose="02010609060101010101" pitchFamily="49" charset="-122"/>
                  </a:rPr>
                  <a:t> </a:t>
                </a:r>
                <a:endParaRPr lang="zh-CN" altLang="en-US" sz="32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122036" y="5679519"/>
                <a:ext cx="6940469" cy="676275"/>
              </a:xfrm>
              <a:prstGeom prst="rect">
                <a:avLst/>
              </a:prstGeom>
              <a:blipFill rotWithShape="1">
                <a:blip r:embed="rId5"/>
                <a:stretch>
                  <a:fillRect l="-2" t="-57195" r="1" b="-5726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nodePh="1">
                                  <p:stCondLst>
                                    <p:cond delay="0"/>
                                  </p:stCondLst>
                                  <p:endCondLst>
                                    <p:cond evt="begin" delay="0">
                                      <p:tn val="25"/>
                                    </p:cond>
                                  </p:end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6" grpId="0"/>
      <p:bldP spid="7" grpId="0"/>
      <p:bldP spid="8" grpId="0"/>
      <p:bldP spid="4"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标题 1"/>
              <p:cNvSpPr txBox="1"/>
              <p:nvPr/>
            </p:nvSpPr>
            <p:spPr>
              <a:xfrm>
                <a:off x="298913" y="1045239"/>
                <a:ext cx="8546174" cy="113094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en-US" altLang="zh-CN" sz="3200" dirty="0">
                    <a:latin typeface="楷体" panose="02010609060101010101" pitchFamily="49" charset="-122"/>
                    <a:ea typeface="楷体" panose="02010609060101010101" pitchFamily="49" charset="-122"/>
                  </a:rPr>
                  <a:t>5.</a:t>
                </a:r>
                <a:r>
                  <a:rPr lang="zh-CN" altLang="en-US" sz="3200" dirty="0">
                    <a:latin typeface="楷体" panose="02010609060101010101" pitchFamily="49" charset="-122"/>
                    <a:ea typeface="楷体" panose="02010609060101010101" pitchFamily="49" charset="-122"/>
                  </a:rPr>
                  <a:t>复合函数的导数： </a:t>
                </a:r>
                <a14:m>
                  <m:oMath xmlns:m="http://schemas.openxmlformats.org/officeDocument/2006/math">
                    <m:r>
                      <a:rPr lang="en-US" altLang="zh-CN" sz="3200" i="1" smtClean="0">
                        <a:latin typeface="Cambria Math" panose="02040503050406030204" pitchFamily="18" charset="0"/>
                        <a:ea typeface="楷体" panose="02010609060101010101" pitchFamily="49" charset="-122"/>
                      </a:rPr>
                      <m:t>𝑓</m:t>
                    </m:r>
                    <m:d>
                      <m:dPr>
                        <m:ctrlPr>
                          <a:rPr lang="en-US" altLang="zh-CN" sz="3200" i="1" smtClean="0">
                            <a:latin typeface="Cambria Math" panose="02040503050406030204" pitchFamily="18" charset="0"/>
                            <a:ea typeface="楷体" panose="02010609060101010101" pitchFamily="49" charset="-122"/>
                          </a:rPr>
                        </m:ctrlPr>
                      </m:dPr>
                      <m:e>
                        <m:r>
                          <a:rPr lang="en-US" altLang="zh-CN" sz="3200" i="1" smtClean="0">
                            <a:latin typeface="Cambria Math" panose="02040503050406030204" pitchFamily="18" charset="0"/>
                            <a:ea typeface="楷体" panose="02010609060101010101" pitchFamily="49" charset="-122"/>
                          </a:rPr>
                          <m:t>𝑧</m:t>
                        </m:r>
                      </m:e>
                    </m:d>
                    <m:r>
                      <a:rPr lang="en-US" altLang="zh-CN" sz="3200" b="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𝑔</m:t>
                    </m:r>
                    <m:d>
                      <m:dPr>
                        <m:ctrlPr>
                          <a:rPr lang="en-US" altLang="zh-CN" sz="3200" i="1" smtClean="0">
                            <a:latin typeface="Cambria Math" panose="02040503050406030204" pitchFamily="18" charset="0"/>
                            <a:ea typeface="楷体" panose="02010609060101010101" pitchFamily="49" charset="-122"/>
                          </a:rPr>
                        </m:ctrlPr>
                      </m:dPr>
                      <m:e>
                        <m:r>
                          <a:rPr lang="en-US" altLang="zh-CN" sz="3200" i="1" smtClean="0">
                            <a:latin typeface="Cambria Math" panose="02040503050406030204" pitchFamily="18" charset="0"/>
                            <a:ea typeface="楷体" panose="02010609060101010101" pitchFamily="49" charset="-122"/>
                          </a:rPr>
                          <m:t>𝑧</m:t>
                        </m:r>
                      </m:e>
                    </m:d>
                    <m:r>
                      <a:rPr lang="zh-CN" altLang="en-US" sz="3200" i="1">
                        <a:latin typeface="Cambria Math" panose="02040503050406030204" pitchFamily="18" charset="0"/>
                        <a:ea typeface="楷体" panose="02010609060101010101" pitchFamily="49" charset="-122"/>
                      </a:rPr>
                      <m:t>分别</m:t>
                    </m:r>
                  </m:oMath>
                </a14:m>
                <a:r>
                  <a:rPr lang="zh-CN" altLang="en-US" sz="3200" dirty="0">
                    <a:latin typeface="楷体" panose="02010609060101010101" pitchFamily="49" charset="-122"/>
                    <a:ea typeface="楷体" panose="02010609060101010101" pitchFamily="49" charset="-122"/>
                  </a:rPr>
                  <a:t>在</a:t>
                </a:r>
                <a14:m>
                  <m:oMath xmlns:m="http://schemas.openxmlformats.org/officeDocument/2006/math">
                    <m:r>
                      <a:rPr lang="en-US" altLang="zh-CN" sz="3200" i="1" smtClean="0">
                        <a:latin typeface="Cambria Math" panose="02040503050406030204" pitchFamily="18" charset="0"/>
                        <a:ea typeface="楷体" panose="02010609060101010101" pitchFamily="49" charset="-122"/>
                      </a:rPr>
                      <m:t>𝐷</m:t>
                    </m:r>
                    <m:r>
                      <a:rPr lang="zh-CN" altLang="en-US" sz="3200" i="1">
                        <a:latin typeface="Cambria Math" panose="02040503050406030204" pitchFamily="18" charset="0"/>
                        <a:ea typeface="楷体" panose="02010609060101010101" pitchFamily="49" charset="-122"/>
                      </a:rPr>
                      <m:t>与</m:t>
                    </m:r>
                    <m:sSup>
                      <m:sSupPr>
                        <m:ctrlPr>
                          <a:rPr lang="en-US" altLang="zh-CN" sz="3200" i="1" smtClean="0">
                            <a:latin typeface="Cambria Math" panose="02040503050406030204" pitchFamily="18" charset="0"/>
                            <a:ea typeface="楷体" panose="02010609060101010101" pitchFamily="49" charset="-122"/>
                          </a:rPr>
                        </m:ctrlPr>
                      </m:sSupPr>
                      <m:e>
                        <m:r>
                          <a:rPr lang="en-US" altLang="zh-CN" sz="3200" i="1" smtClean="0">
                            <a:latin typeface="Cambria Math" panose="02040503050406030204" pitchFamily="18" charset="0"/>
                            <a:ea typeface="楷体" panose="02010609060101010101" pitchFamily="49" charset="-122"/>
                          </a:rPr>
                          <m:t>𝐷</m:t>
                        </m:r>
                      </m:e>
                      <m:sup>
                        <m:r>
                          <a:rPr lang="en-US" altLang="zh-CN" sz="3200" i="1" smtClean="0">
                            <a:latin typeface="Cambria Math" panose="02040503050406030204" pitchFamily="18" charset="0"/>
                            <a:ea typeface="楷体" panose="02010609060101010101" pitchFamily="49" charset="-122"/>
                          </a:rPr>
                          <m:t>′</m:t>
                        </m:r>
                      </m:sup>
                    </m:sSup>
                    <m:r>
                      <a:rPr lang="zh-CN" altLang="en-US" sz="3200" i="1">
                        <a:latin typeface="Cambria Math" panose="02040503050406030204" pitchFamily="18" charset="0"/>
                        <a:ea typeface="楷体" panose="02010609060101010101" pitchFamily="49" charset="-122"/>
                      </a:rPr>
                      <m:t>内</m:t>
                    </m:r>
                  </m:oMath>
                </a14:m>
                <a:r>
                  <a:rPr lang="zh-CN" altLang="en-US" sz="3200" dirty="0">
                    <a:latin typeface="楷体" panose="02010609060101010101" pitchFamily="49" charset="-122"/>
                    <a:ea typeface="楷体" panose="02010609060101010101" pitchFamily="49" charset="-122"/>
                  </a:rPr>
                  <a:t>可导，且</a:t>
                </a:r>
                <a14:m>
                  <m:oMath xmlns:m="http://schemas.openxmlformats.org/officeDocument/2006/math">
                    <m:r>
                      <a:rPr lang="en-US" altLang="zh-CN" sz="3200" i="1" smtClean="0">
                        <a:latin typeface="Cambria Math" panose="02040503050406030204" pitchFamily="18" charset="0"/>
                        <a:ea typeface="楷体" panose="02010609060101010101" pitchFamily="49" charset="-122"/>
                      </a:rPr>
                      <m:t>𝑓</m:t>
                    </m:r>
                    <m:r>
                      <a:rPr lang="zh-CN" altLang="en-US" sz="3200" i="1">
                        <a:latin typeface="Cambria Math" panose="02040503050406030204" pitchFamily="18" charset="0"/>
                        <a:ea typeface="楷体" panose="02010609060101010101" pitchFamily="49" charset="-122"/>
                      </a:rPr>
                      <m:t>的</m:t>
                    </m:r>
                  </m:oMath>
                </a14:m>
                <a:r>
                  <a:rPr lang="zh-CN" altLang="en-US" sz="3200" dirty="0">
                    <a:latin typeface="楷体" panose="02010609060101010101" pitchFamily="49" charset="-122"/>
                    <a:ea typeface="楷体" panose="02010609060101010101" pitchFamily="49" charset="-122"/>
                  </a:rPr>
                  <a:t>值域包含于</a:t>
                </a:r>
                <a14:m>
                  <m:oMath xmlns:m="http://schemas.openxmlformats.org/officeDocument/2006/math">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𝐷</m:t>
                        </m:r>
                      </m:e>
                      <m:sup>
                        <m:r>
                          <a:rPr lang="en-US" altLang="zh-CN" sz="3200" i="1">
                            <a:latin typeface="Cambria Math" panose="02040503050406030204" pitchFamily="18" charset="0"/>
                            <a:ea typeface="楷体" panose="02010609060101010101" pitchFamily="49" charset="-122"/>
                          </a:rPr>
                          <m:t>′</m:t>
                        </m:r>
                      </m:sup>
                    </m:sSup>
                  </m:oMath>
                </a14:m>
                <a:r>
                  <a:rPr lang="zh-CN" altLang="en-US" sz="3200" dirty="0">
                    <a:latin typeface="楷体" panose="02010609060101010101" pitchFamily="49" charset="-122"/>
                    <a:ea typeface="楷体" panose="02010609060101010101" pitchFamily="49" charset="-122"/>
                  </a:rPr>
                  <a:t>中，则</a:t>
                </a:r>
                <a14:m>
                  <m:oMath xmlns:m="http://schemas.openxmlformats.org/officeDocument/2006/math">
                    <m:sSup>
                      <m:sSupPr>
                        <m:ctrlPr>
                          <a:rPr lang="en-US" altLang="zh-CN" sz="3200" i="1" smtClean="0">
                            <a:latin typeface="Cambria Math" panose="02040503050406030204" pitchFamily="18" charset="0"/>
                            <a:ea typeface="楷体" panose="02010609060101010101" pitchFamily="49" charset="-122"/>
                          </a:rPr>
                        </m:ctrlPr>
                      </m:sSupPr>
                      <m:e>
                        <m:d>
                          <m:dPr>
                            <m:begChr m:val="["/>
                            <m:endChr m:val="]"/>
                            <m:ctrlPr>
                              <a:rPr lang="en-US" altLang="zh-CN" sz="3200" i="1" smtClean="0">
                                <a:latin typeface="Cambria Math" panose="02040503050406030204" pitchFamily="18" charset="0"/>
                                <a:ea typeface="楷体" panose="02010609060101010101" pitchFamily="49" charset="-122"/>
                              </a:rPr>
                            </m:ctrlPr>
                          </m:dPr>
                          <m:e>
                            <m:r>
                              <a:rPr lang="en-US" altLang="zh-CN" sz="3200" i="1" smtClean="0">
                                <a:latin typeface="Cambria Math" panose="02040503050406030204" pitchFamily="18" charset="0"/>
                                <a:ea typeface="楷体" panose="02010609060101010101" pitchFamily="49" charset="-122"/>
                              </a:rPr>
                              <m:t>𝑔</m:t>
                            </m:r>
                            <m:r>
                              <a:rPr lang="en-US" altLang="zh-CN"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𝑓</m:t>
                            </m:r>
                            <m:r>
                              <a:rPr lang="en-US" altLang="zh-CN" sz="3200" i="1" smtClean="0">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𝑧</m:t>
                            </m:r>
                            <m:r>
                              <a:rPr lang="en-US" altLang="zh-CN" sz="3200" i="1" smtClean="0">
                                <a:latin typeface="Cambria Math" panose="02040503050406030204" pitchFamily="18" charset="0"/>
                                <a:ea typeface="楷体" panose="02010609060101010101" pitchFamily="49" charset="-122"/>
                              </a:rPr>
                              <m:t>))</m:t>
                            </m:r>
                          </m:e>
                        </m:d>
                      </m:e>
                      <m:sup>
                        <m:r>
                          <a:rPr lang="en-US" altLang="zh-CN" sz="3200" i="1" smtClean="0">
                            <a:latin typeface="Cambria Math" panose="02040503050406030204" pitchFamily="18" charset="0"/>
                            <a:ea typeface="楷体" panose="02010609060101010101" pitchFamily="49" charset="-122"/>
                          </a:rPr>
                          <m:t>′</m:t>
                        </m:r>
                      </m:sup>
                    </m:sSup>
                    <m:r>
                      <a:rPr lang="en-US" altLang="zh-CN" sz="3200" i="1" smtClean="0">
                        <a:latin typeface="Cambria Math" panose="02040503050406030204" pitchFamily="18" charset="0"/>
                        <a:ea typeface="楷体" panose="02010609060101010101" pitchFamily="49" charset="-122"/>
                      </a:rPr>
                      <m:t>=</m:t>
                    </m:r>
                    <m:sSup>
                      <m:sSupPr>
                        <m:ctrlPr>
                          <a:rPr lang="en-US" altLang="zh-CN" sz="3200" i="1" smtClean="0">
                            <a:latin typeface="Cambria Math" panose="02040503050406030204" pitchFamily="18" charset="0"/>
                            <a:ea typeface="楷体" panose="02010609060101010101" pitchFamily="49" charset="-122"/>
                          </a:rPr>
                        </m:ctrlPr>
                      </m:sSupPr>
                      <m:e>
                        <m:r>
                          <a:rPr lang="en-US" altLang="zh-CN" sz="3200" i="1" smtClean="0">
                            <a:latin typeface="Cambria Math" panose="02040503050406030204" pitchFamily="18" charset="0"/>
                            <a:ea typeface="楷体" panose="02010609060101010101" pitchFamily="49" charset="-122"/>
                          </a:rPr>
                          <m:t>𝑔</m:t>
                        </m:r>
                      </m:e>
                      <m:sup>
                        <m:r>
                          <a:rPr lang="en-US" altLang="zh-CN" sz="3200" i="1" smtClean="0">
                            <a:latin typeface="Cambria Math" panose="02040503050406030204" pitchFamily="18" charset="0"/>
                            <a:ea typeface="楷体" panose="02010609060101010101" pitchFamily="49" charset="-122"/>
                          </a:rPr>
                          <m:t>′</m:t>
                        </m:r>
                      </m:sup>
                    </m:sSup>
                    <m:d>
                      <m:dPr>
                        <m:ctrlPr>
                          <a:rPr lang="en-US" altLang="zh-CN" sz="3200" i="1" smtClean="0">
                            <a:latin typeface="Cambria Math" panose="02040503050406030204" pitchFamily="18" charset="0"/>
                            <a:ea typeface="楷体" panose="02010609060101010101" pitchFamily="49" charset="-122"/>
                          </a:rPr>
                        </m:ctrlPr>
                      </m:dPr>
                      <m:e>
                        <m:r>
                          <a:rPr lang="en-US" altLang="zh-CN" sz="3200" i="1" smtClean="0">
                            <a:latin typeface="Cambria Math" panose="02040503050406030204" pitchFamily="18" charset="0"/>
                            <a:ea typeface="楷体" panose="02010609060101010101" pitchFamily="49" charset="-122"/>
                          </a:rPr>
                          <m:t>𝑓</m:t>
                        </m:r>
                        <m:d>
                          <m:dPr>
                            <m:ctrlPr>
                              <a:rPr lang="en-US" altLang="zh-CN" sz="3200" i="1" smtClean="0">
                                <a:latin typeface="Cambria Math" panose="02040503050406030204" pitchFamily="18" charset="0"/>
                                <a:ea typeface="楷体" panose="02010609060101010101" pitchFamily="49" charset="-122"/>
                              </a:rPr>
                            </m:ctrlPr>
                          </m:dPr>
                          <m:e>
                            <m:r>
                              <a:rPr lang="en-US" altLang="zh-CN" sz="3200" i="1" smtClean="0">
                                <a:latin typeface="Cambria Math" panose="02040503050406030204" pitchFamily="18" charset="0"/>
                                <a:ea typeface="楷体" panose="02010609060101010101" pitchFamily="49" charset="-122"/>
                              </a:rPr>
                              <m:t>𝑧</m:t>
                            </m:r>
                          </m:e>
                        </m:d>
                      </m:e>
                    </m:d>
                    <m:r>
                      <a:rPr lang="en-US" altLang="zh-CN" sz="3200" i="1" smtClean="0">
                        <a:latin typeface="Cambria Math" panose="02040503050406030204" pitchFamily="18" charset="0"/>
                        <a:ea typeface="Cambria Math" panose="02040503050406030204" pitchFamily="18" charset="0"/>
                      </a:rPr>
                      <m:t>∙</m:t>
                    </m:r>
                    <m:sSup>
                      <m:sSupPr>
                        <m:ctrlPr>
                          <a:rPr lang="en-US" altLang="zh-CN" sz="3200" i="1" smtClean="0">
                            <a:latin typeface="Cambria Math" panose="02040503050406030204" pitchFamily="18" charset="0"/>
                            <a:ea typeface="Cambria Math" panose="02040503050406030204" pitchFamily="18" charset="0"/>
                          </a:rPr>
                        </m:ctrlPr>
                      </m:sSupPr>
                      <m:e>
                        <m:r>
                          <a:rPr lang="en-US" altLang="zh-CN" sz="3200" i="1" smtClean="0">
                            <a:latin typeface="Cambria Math" panose="02040503050406030204" pitchFamily="18" charset="0"/>
                            <a:ea typeface="Cambria Math" panose="02040503050406030204" pitchFamily="18" charset="0"/>
                          </a:rPr>
                          <m:t>𝑓</m:t>
                        </m:r>
                      </m:e>
                      <m:sup>
                        <m:r>
                          <a:rPr lang="en-US" altLang="zh-CN" sz="3200" i="1" smtClean="0">
                            <a:latin typeface="Cambria Math" panose="02040503050406030204" pitchFamily="18" charset="0"/>
                            <a:ea typeface="Cambria Math" panose="02040503050406030204" pitchFamily="18" charset="0"/>
                          </a:rPr>
                          <m:t>′</m:t>
                        </m:r>
                      </m:sup>
                    </m:sSup>
                    <m:d>
                      <m:dPr>
                        <m:ctrlPr>
                          <a:rPr lang="en-US" altLang="zh-CN" sz="3200" i="1" smtClean="0">
                            <a:latin typeface="Cambria Math" panose="02040503050406030204" pitchFamily="18" charset="0"/>
                            <a:ea typeface="Cambria Math" panose="02040503050406030204" pitchFamily="18" charset="0"/>
                          </a:rPr>
                        </m:ctrlPr>
                      </m:dPr>
                      <m:e>
                        <m:r>
                          <a:rPr lang="en-US" altLang="zh-CN" sz="3200" i="1" smtClean="0">
                            <a:latin typeface="Cambria Math" panose="02040503050406030204" pitchFamily="18" charset="0"/>
                            <a:ea typeface="Cambria Math" panose="02040503050406030204" pitchFamily="18" charset="0"/>
                          </a:rPr>
                          <m:t>𝑧</m:t>
                        </m:r>
                      </m:e>
                    </m:d>
                    <m:r>
                      <a:rPr lang="en-US" altLang="zh-CN" sz="3200" i="1" smtClean="0">
                        <a:latin typeface="Cambria Math" panose="02040503050406030204" pitchFamily="18" charset="0"/>
                        <a:ea typeface="Cambria Math" panose="02040503050406030204" pitchFamily="18" charset="0"/>
                      </a:rPr>
                      <m:t>;</m:t>
                    </m:r>
                  </m:oMath>
                </a14:m>
                <a:r>
                  <a:rPr lang="en-US" altLang="zh-CN" sz="3200" dirty="0">
                    <a:latin typeface="楷体" panose="02010609060101010101" pitchFamily="49" charset="-122"/>
                    <a:ea typeface="楷体" panose="02010609060101010101" pitchFamily="49" charset="-122"/>
                  </a:rPr>
                  <a:t> </a:t>
                </a:r>
                <a:r>
                  <a:rPr lang="en-US" altLang="zh-CN" sz="2100" dirty="0">
                    <a:latin typeface="楷体" panose="02010609060101010101" pitchFamily="49" charset="-122"/>
                    <a:ea typeface="楷体" panose="02010609060101010101" pitchFamily="49" charset="-122"/>
                  </a:rPr>
                  <a:t>   </a:t>
                </a:r>
                <a:endParaRPr lang="zh-CN" altLang="en-US" sz="21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298913" y="1045239"/>
                <a:ext cx="8546174" cy="1130941"/>
              </a:xfrm>
              <a:prstGeom prst="rect">
                <a:avLst/>
              </a:prstGeom>
              <a:blipFill rotWithShape="1">
                <a:blip r:embed="rId1"/>
                <a:stretch>
                  <a:fillRect l="-5" t="-24652" r="2" b="-247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326557" y="3034127"/>
                <a:ext cx="8546174" cy="113094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en-US" altLang="zh-CN" sz="3100" dirty="0">
                    <a:latin typeface="楷体" panose="02010609060101010101" pitchFamily="49" charset="-122"/>
                    <a:ea typeface="楷体" panose="02010609060101010101" pitchFamily="49" charset="-122"/>
                  </a:rPr>
                  <a:t>6.</a:t>
                </a:r>
                <a:r>
                  <a:rPr lang="zh-CN" altLang="en-US" sz="3100" dirty="0">
                    <a:latin typeface="楷体" panose="02010609060101010101" pitchFamily="49" charset="-122"/>
                    <a:ea typeface="楷体" panose="02010609060101010101" pitchFamily="49" charset="-122"/>
                  </a:rPr>
                  <a:t>反函数求导：</a:t>
                </a:r>
                <a:r>
                  <a:rPr lang="en-US" altLang="zh-CN" sz="3100" dirty="0">
                    <a:latin typeface="楷体" panose="02010609060101010101" pitchFamily="49" charset="-122"/>
                    <a:ea typeface="楷体" panose="02010609060101010101" pitchFamily="49" charset="-122"/>
                  </a:rPr>
                  <a:t> </a:t>
                </a:r>
                <a14:m>
                  <m:oMath xmlns:m="http://schemas.openxmlformats.org/officeDocument/2006/math">
                    <m:r>
                      <a:rPr lang="zh-CN" altLang="en-US" sz="3100" i="1" smtClean="0">
                        <a:latin typeface="Cambria Math" panose="02040503050406030204" pitchFamily="18" charset="0"/>
                        <a:ea typeface="楷体" panose="02010609060101010101" pitchFamily="49" charset="-122"/>
                      </a:rPr>
                      <m:t>𝜔</m:t>
                    </m:r>
                    <m:r>
                      <a:rPr lang="en-US" altLang="zh-CN" sz="3100" i="1" smtClean="0">
                        <a:latin typeface="Cambria Math" panose="02040503050406030204" pitchFamily="18" charset="0"/>
                        <a:ea typeface="楷体" panose="02010609060101010101" pitchFamily="49" charset="-122"/>
                      </a:rPr>
                      <m:t>=</m:t>
                    </m:r>
                    <m:r>
                      <a:rPr lang="en-US" altLang="zh-CN" sz="3100" i="1" smtClean="0">
                        <a:latin typeface="Cambria Math" panose="02040503050406030204" pitchFamily="18" charset="0"/>
                        <a:ea typeface="楷体" panose="02010609060101010101" pitchFamily="49" charset="-122"/>
                      </a:rPr>
                      <m:t>𝑓</m:t>
                    </m:r>
                    <m:r>
                      <a:rPr lang="en-US" altLang="zh-CN" sz="3100" i="1" smtClean="0">
                        <a:latin typeface="Cambria Math" panose="02040503050406030204" pitchFamily="18" charset="0"/>
                        <a:ea typeface="楷体" panose="02010609060101010101" pitchFamily="49" charset="-122"/>
                      </a:rPr>
                      <m:t>(</m:t>
                    </m:r>
                    <m:r>
                      <a:rPr lang="en-US" altLang="zh-CN" sz="3100" i="1" smtClean="0">
                        <a:latin typeface="Cambria Math" panose="02040503050406030204" pitchFamily="18" charset="0"/>
                        <a:ea typeface="楷体" panose="02010609060101010101" pitchFamily="49" charset="-122"/>
                      </a:rPr>
                      <m:t>𝑧</m:t>
                    </m:r>
                    <m:r>
                      <a:rPr lang="en-US" altLang="zh-CN" sz="3100" i="1" smtClean="0">
                        <a:latin typeface="Cambria Math" panose="02040503050406030204" pitchFamily="18" charset="0"/>
                        <a:ea typeface="楷体" panose="02010609060101010101" pitchFamily="49" charset="-122"/>
                      </a:rPr>
                      <m:t>)</m:t>
                    </m:r>
                  </m:oMath>
                </a14:m>
                <a:r>
                  <a:rPr lang="zh-CN" altLang="en-US" sz="3100" dirty="0">
                    <a:latin typeface="楷体" panose="02010609060101010101" pitchFamily="49" charset="-122"/>
                    <a:ea typeface="楷体" panose="02010609060101010101" pitchFamily="49" charset="-122"/>
                  </a:rPr>
                  <a:t>与</a:t>
                </a:r>
                <a14:m>
                  <m:oMath xmlns:m="http://schemas.openxmlformats.org/officeDocument/2006/math">
                    <m:r>
                      <a:rPr lang="en-US" altLang="zh-CN" sz="3100" i="1" smtClean="0">
                        <a:latin typeface="Cambria Math" panose="02040503050406030204" pitchFamily="18" charset="0"/>
                        <a:ea typeface="楷体" panose="02010609060101010101" pitchFamily="49" charset="-122"/>
                      </a:rPr>
                      <m:t>𝑧</m:t>
                    </m:r>
                    <m:r>
                      <a:rPr lang="en-US" altLang="zh-CN" sz="3100" i="1" smtClean="0">
                        <a:latin typeface="Cambria Math" panose="02040503050406030204" pitchFamily="18" charset="0"/>
                        <a:ea typeface="楷体" panose="02010609060101010101" pitchFamily="49" charset="-122"/>
                      </a:rPr>
                      <m:t>=</m:t>
                    </m:r>
                    <m:r>
                      <a:rPr lang="zh-CN" altLang="en-US" sz="3100" i="1" smtClean="0">
                        <a:latin typeface="Cambria Math" panose="02040503050406030204" pitchFamily="18" charset="0"/>
                        <a:ea typeface="楷体" panose="02010609060101010101" pitchFamily="49" charset="-122"/>
                      </a:rPr>
                      <m:t>𝜑</m:t>
                    </m:r>
                    <m:r>
                      <a:rPr lang="en-US" altLang="zh-CN" sz="3100" i="1" smtClean="0">
                        <a:latin typeface="Cambria Math" panose="02040503050406030204" pitchFamily="18" charset="0"/>
                        <a:ea typeface="楷体" panose="02010609060101010101" pitchFamily="49" charset="-122"/>
                      </a:rPr>
                      <m:t>(</m:t>
                    </m:r>
                    <m:r>
                      <a:rPr lang="zh-CN" altLang="en-US" sz="3100" i="1" smtClean="0">
                        <a:latin typeface="Cambria Math" panose="02040503050406030204" pitchFamily="18" charset="0"/>
                        <a:ea typeface="楷体" panose="02010609060101010101" pitchFamily="49" charset="-122"/>
                      </a:rPr>
                      <m:t>𝜔</m:t>
                    </m:r>
                    <m:r>
                      <a:rPr lang="en-US" altLang="zh-CN" sz="3100" i="1" smtClean="0">
                        <a:latin typeface="Cambria Math" panose="02040503050406030204" pitchFamily="18" charset="0"/>
                        <a:ea typeface="楷体" panose="02010609060101010101" pitchFamily="49" charset="-122"/>
                      </a:rPr>
                      <m:t>)</m:t>
                    </m:r>
                  </m:oMath>
                </a14:m>
                <a:r>
                  <a:rPr lang="zh-CN" altLang="en-US" sz="3100" dirty="0">
                    <a:latin typeface="楷体" panose="02010609060101010101" pitchFamily="49" charset="-122"/>
                    <a:ea typeface="楷体" panose="02010609060101010101" pitchFamily="49" charset="-122"/>
                  </a:rPr>
                  <a:t>是两个互为反函数的单值可导函数，则</a:t>
                </a:r>
                <a14:m>
                  <m:oMath xmlns:m="http://schemas.openxmlformats.org/officeDocument/2006/math">
                    <m:sSup>
                      <m:sSupPr>
                        <m:ctrlPr>
                          <a:rPr lang="en-US" altLang="zh-CN" sz="3100" i="1">
                            <a:latin typeface="Cambria Math" panose="02040503050406030204" pitchFamily="18" charset="0"/>
                            <a:ea typeface="楷体" panose="02010609060101010101" pitchFamily="49" charset="-122"/>
                          </a:rPr>
                        </m:ctrlPr>
                      </m:sSupPr>
                      <m:e>
                        <m:r>
                          <a:rPr lang="en-US" altLang="zh-CN" sz="3100" i="1" smtClean="0">
                            <a:latin typeface="Cambria Math" panose="02040503050406030204" pitchFamily="18" charset="0"/>
                            <a:ea typeface="楷体" panose="02010609060101010101" pitchFamily="49" charset="-122"/>
                          </a:rPr>
                          <m:t>𝑓</m:t>
                        </m:r>
                      </m:e>
                      <m:sup>
                        <m:r>
                          <a:rPr lang="en-US" altLang="zh-CN" sz="3100" i="1">
                            <a:latin typeface="Cambria Math" panose="02040503050406030204" pitchFamily="18" charset="0"/>
                            <a:ea typeface="楷体" panose="02010609060101010101" pitchFamily="49" charset="-122"/>
                          </a:rPr>
                          <m:t>′</m:t>
                        </m:r>
                      </m:sup>
                    </m:sSup>
                    <m:r>
                      <a:rPr lang="en-US" altLang="zh-CN" sz="3100" i="1" smtClean="0">
                        <a:latin typeface="Cambria Math" panose="02040503050406030204" pitchFamily="18" charset="0"/>
                        <a:ea typeface="楷体" panose="02010609060101010101" pitchFamily="49" charset="-122"/>
                      </a:rPr>
                      <m:t>(</m:t>
                    </m:r>
                    <m:r>
                      <a:rPr lang="en-US" altLang="zh-CN" sz="3100" i="1" smtClean="0">
                        <a:latin typeface="Cambria Math" panose="02040503050406030204" pitchFamily="18" charset="0"/>
                        <a:ea typeface="楷体" panose="02010609060101010101" pitchFamily="49" charset="-122"/>
                      </a:rPr>
                      <m:t>𝑧</m:t>
                    </m:r>
                    <m:r>
                      <a:rPr lang="en-US" altLang="zh-CN" sz="3100" i="1" smtClean="0">
                        <a:latin typeface="Cambria Math" panose="02040503050406030204" pitchFamily="18" charset="0"/>
                        <a:ea typeface="楷体" panose="02010609060101010101" pitchFamily="49" charset="-122"/>
                      </a:rPr>
                      <m:t>)≠</m:t>
                    </m:r>
                    <m:r>
                      <a:rPr lang="en-US" altLang="zh-CN" sz="3100" i="1" smtClean="0">
                        <a:latin typeface="Cambria Math" panose="02040503050406030204" pitchFamily="18" charset="0"/>
                        <a:ea typeface="楷体" panose="02010609060101010101" pitchFamily="49" charset="-122"/>
                      </a:rPr>
                      <m:t>0</m:t>
                    </m:r>
                    <m:r>
                      <a:rPr lang="en-US" altLang="zh-CN" sz="3100" i="1" smtClean="0">
                        <a:latin typeface="Cambria Math" panose="02040503050406030204" pitchFamily="18" charset="0"/>
                        <a:ea typeface="楷体" panose="02010609060101010101" pitchFamily="49" charset="-122"/>
                      </a:rPr>
                      <m:t>,</m:t>
                    </m:r>
                    <m:sSup>
                      <m:sSupPr>
                        <m:ctrlPr>
                          <a:rPr lang="en-US" altLang="zh-CN" sz="3100" i="1" smtClean="0">
                            <a:latin typeface="Cambria Math" panose="02040503050406030204" pitchFamily="18" charset="0"/>
                            <a:ea typeface="Cambria Math" panose="02040503050406030204" pitchFamily="18" charset="0"/>
                          </a:rPr>
                        </m:ctrlPr>
                      </m:sSupPr>
                      <m:e>
                        <m:r>
                          <a:rPr lang="zh-CN" altLang="en-US" sz="3100" i="1" smtClean="0">
                            <a:latin typeface="Cambria Math" panose="02040503050406030204" pitchFamily="18" charset="0"/>
                            <a:ea typeface="Cambria Math" panose="02040503050406030204" pitchFamily="18" charset="0"/>
                          </a:rPr>
                          <m:t>𝜑</m:t>
                        </m:r>
                      </m:e>
                      <m:sup>
                        <m:r>
                          <a:rPr lang="en-US" altLang="zh-CN" sz="3100" i="1" smtClean="0">
                            <a:latin typeface="Cambria Math" panose="02040503050406030204" pitchFamily="18" charset="0"/>
                            <a:ea typeface="Cambria Math" panose="02040503050406030204" pitchFamily="18" charset="0"/>
                          </a:rPr>
                          <m:t>′</m:t>
                        </m:r>
                      </m:sup>
                    </m:sSup>
                    <m:r>
                      <a:rPr lang="en-US" altLang="zh-CN" sz="3100" i="1" smtClean="0">
                        <a:latin typeface="Cambria Math" panose="02040503050406030204" pitchFamily="18" charset="0"/>
                        <a:ea typeface="Cambria Math" panose="02040503050406030204" pitchFamily="18" charset="0"/>
                      </a:rPr>
                      <m:t>(</m:t>
                    </m:r>
                    <m:r>
                      <a:rPr lang="zh-CN" altLang="en-US" sz="3100" i="1" smtClean="0">
                        <a:latin typeface="Cambria Math" panose="02040503050406030204" pitchFamily="18" charset="0"/>
                        <a:ea typeface="Cambria Math" panose="02040503050406030204" pitchFamily="18" charset="0"/>
                      </a:rPr>
                      <m:t>𝜔</m:t>
                    </m:r>
                    <m:r>
                      <a:rPr lang="en-US" altLang="zh-CN" sz="3100" i="1" smtClean="0">
                        <a:latin typeface="Cambria Math" panose="02040503050406030204" pitchFamily="18" charset="0"/>
                        <a:ea typeface="Cambria Math" panose="02040503050406030204" pitchFamily="18" charset="0"/>
                      </a:rPr>
                      <m:t>)≠</m:t>
                    </m:r>
                    <m:r>
                      <a:rPr lang="en-US" altLang="zh-CN" sz="3100" i="1" smtClean="0">
                        <a:latin typeface="Cambria Math" panose="02040503050406030204" pitchFamily="18" charset="0"/>
                        <a:ea typeface="Cambria Math" panose="02040503050406030204" pitchFamily="18" charset="0"/>
                      </a:rPr>
                      <m:t>0</m:t>
                    </m:r>
                    <m:r>
                      <a:rPr lang="en-US" altLang="zh-CN" sz="3100" i="1" smtClean="0">
                        <a:latin typeface="Cambria Math" panose="02040503050406030204" pitchFamily="18" charset="0"/>
                        <a:ea typeface="Cambria Math" panose="02040503050406030204" pitchFamily="18" charset="0"/>
                      </a:rPr>
                      <m:t>,</m:t>
                    </m:r>
                  </m:oMath>
                </a14:m>
                <a:r>
                  <a:rPr lang="zh-CN" altLang="en-US" sz="3100" dirty="0">
                    <a:latin typeface="楷体" panose="02010609060101010101" pitchFamily="49" charset="-122"/>
                    <a:ea typeface="楷体" panose="02010609060101010101" pitchFamily="49" charset="-122"/>
                  </a:rPr>
                  <a:t>且</a:t>
                </a:r>
                <a14:m>
                  <m:oMath xmlns:m="http://schemas.openxmlformats.org/officeDocument/2006/math">
                    <m:sSup>
                      <m:sSupPr>
                        <m:ctrlPr>
                          <a:rPr lang="en-US" altLang="zh-CN" sz="3100" i="1">
                            <a:latin typeface="Cambria Math" panose="02040503050406030204" pitchFamily="18" charset="0"/>
                            <a:ea typeface="楷体" panose="02010609060101010101" pitchFamily="49" charset="-122"/>
                          </a:rPr>
                        </m:ctrlPr>
                      </m:sSupPr>
                      <m:e>
                        <m:r>
                          <a:rPr lang="en-US" altLang="zh-CN" sz="3100" i="1" smtClean="0">
                            <a:latin typeface="Cambria Math" panose="02040503050406030204" pitchFamily="18" charset="0"/>
                            <a:ea typeface="楷体" panose="02010609060101010101" pitchFamily="49" charset="-122"/>
                          </a:rPr>
                          <m:t>𝑓</m:t>
                        </m:r>
                      </m:e>
                      <m:sup>
                        <m:r>
                          <a:rPr lang="en-US" altLang="zh-CN" sz="3100" i="1">
                            <a:latin typeface="Cambria Math" panose="02040503050406030204" pitchFamily="18" charset="0"/>
                            <a:ea typeface="楷体" panose="02010609060101010101" pitchFamily="49" charset="-122"/>
                          </a:rPr>
                          <m:t>′</m:t>
                        </m:r>
                      </m:sup>
                    </m:sSup>
                    <m:d>
                      <m:dPr>
                        <m:ctrlPr>
                          <a:rPr lang="en-US" altLang="zh-CN" sz="3100" i="1" smtClean="0">
                            <a:latin typeface="Cambria Math" panose="02040503050406030204" pitchFamily="18" charset="0"/>
                            <a:ea typeface="楷体" panose="02010609060101010101" pitchFamily="49" charset="-122"/>
                          </a:rPr>
                        </m:ctrlPr>
                      </m:dPr>
                      <m:e>
                        <m:r>
                          <a:rPr lang="en-US" altLang="zh-CN" sz="3100" i="1" smtClean="0">
                            <a:latin typeface="Cambria Math" panose="02040503050406030204" pitchFamily="18" charset="0"/>
                            <a:ea typeface="楷体" panose="02010609060101010101" pitchFamily="49" charset="-122"/>
                          </a:rPr>
                          <m:t>𝑧</m:t>
                        </m:r>
                      </m:e>
                    </m:d>
                    <m:r>
                      <a:rPr lang="en-US" altLang="zh-CN" sz="3100" i="1" smtClean="0">
                        <a:latin typeface="Cambria Math" panose="02040503050406030204" pitchFamily="18" charset="0"/>
                        <a:ea typeface="楷体" panose="02010609060101010101" pitchFamily="49" charset="-122"/>
                      </a:rPr>
                      <m:t>=</m:t>
                    </m:r>
                    <m:f>
                      <m:fPr>
                        <m:ctrlPr>
                          <a:rPr lang="en-US" altLang="zh-CN" sz="3100" i="1" smtClean="0">
                            <a:latin typeface="Cambria Math" panose="02040503050406030204" pitchFamily="18" charset="0"/>
                            <a:ea typeface="楷体" panose="02010609060101010101" pitchFamily="49" charset="-122"/>
                          </a:rPr>
                        </m:ctrlPr>
                      </m:fPr>
                      <m:num>
                        <m:r>
                          <a:rPr lang="en-US" altLang="zh-CN" sz="3100" i="1" smtClean="0">
                            <a:latin typeface="Cambria Math" panose="02040503050406030204" pitchFamily="18" charset="0"/>
                            <a:ea typeface="楷体" panose="02010609060101010101" pitchFamily="49" charset="-122"/>
                          </a:rPr>
                          <m:t>1</m:t>
                        </m:r>
                      </m:num>
                      <m:den>
                        <m:sSup>
                          <m:sSupPr>
                            <m:ctrlPr>
                              <a:rPr lang="en-US" altLang="zh-CN" sz="3100" i="1" smtClean="0">
                                <a:latin typeface="Cambria Math" panose="02040503050406030204" pitchFamily="18" charset="0"/>
                                <a:ea typeface="楷体" panose="02010609060101010101" pitchFamily="49" charset="-122"/>
                              </a:rPr>
                            </m:ctrlPr>
                          </m:sSupPr>
                          <m:e>
                            <m:r>
                              <a:rPr lang="zh-CN" altLang="en-US" sz="3100" i="1" smtClean="0">
                                <a:latin typeface="Cambria Math" panose="02040503050406030204" pitchFamily="18" charset="0"/>
                                <a:ea typeface="楷体" panose="02010609060101010101" pitchFamily="49" charset="-122"/>
                              </a:rPr>
                              <m:t>𝜑</m:t>
                            </m:r>
                          </m:e>
                          <m:sup>
                            <m:r>
                              <a:rPr lang="en-US" altLang="zh-CN" sz="3100" i="1" smtClean="0">
                                <a:latin typeface="Cambria Math" panose="02040503050406030204" pitchFamily="18" charset="0"/>
                                <a:ea typeface="楷体" panose="02010609060101010101" pitchFamily="49" charset="-122"/>
                              </a:rPr>
                              <m:t>′</m:t>
                            </m:r>
                          </m:sup>
                        </m:sSup>
                        <m:r>
                          <a:rPr lang="en-US" altLang="zh-CN" sz="3100" i="1" smtClean="0">
                            <a:latin typeface="Cambria Math" panose="02040503050406030204" pitchFamily="18" charset="0"/>
                            <a:ea typeface="楷体" panose="02010609060101010101" pitchFamily="49" charset="-122"/>
                          </a:rPr>
                          <m:t>(</m:t>
                        </m:r>
                        <m:r>
                          <a:rPr lang="en-US" altLang="zh-CN" sz="3100" i="1" smtClean="0">
                            <a:latin typeface="Cambria Math" panose="02040503050406030204" pitchFamily="18" charset="0"/>
                            <a:ea typeface="楷体" panose="02010609060101010101" pitchFamily="49" charset="-122"/>
                          </a:rPr>
                          <m:t>𝑓</m:t>
                        </m:r>
                        <m:r>
                          <a:rPr lang="en-US" altLang="zh-CN" sz="3100" i="1" smtClean="0">
                            <a:latin typeface="Cambria Math" panose="02040503050406030204" pitchFamily="18" charset="0"/>
                            <a:ea typeface="楷体" panose="02010609060101010101" pitchFamily="49" charset="-122"/>
                          </a:rPr>
                          <m:t>(</m:t>
                        </m:r>
                        <m:r>
                          <a:rPr lang="en-US" altLang="zh-CN" sz="3100" i="1" smtClean="0">
                            <a:latin typeface="Cambria Math" panose="02040503050406030204" pitchFamily="18" charset="0"/>
                            <a:ea typeface="楷体" panose="02010609060101010101" pitchFamily="49" charset="-122"/>
                          </a:rPr>
                          <m:t>𝑧</m:t>
                        </m:r>
                        <m:r>
                          <a:rPr lang="en-US" altLang="zh-CN" sz="3100" i="1" smtClean="0">
                            <a:latin typeface="Cambria Math" panose="02040503050406030204" pitchFamily="18" charset="0"/>
                            <a:ea typeface="楷体" panose="02010609060101010101" pitchFamily="49" charset="-122"/>
                          </a:rPr>
                          <m:t>))</m:t>
                        </m:r>
                      </m:den>
                    </m:f>
                  </m:oMath>
                </a14:m>
                <a:r>
                  <a:rPr lang="en-US" altLang="zh-CN" sz="3100" dirty="0">
                    <a:latin typeface="楷体" panose="02010609060101010101" pitchFamily="49" charset="-122"/>
                    <a:ea typeface="楷体" panose="02010609060101010101" pitchFamily="49" charset="-122"/>
                  </a:rPr>
                  <a:t>.     </a:t>
                </a:r>
                <a:endParaRPr lang="en-US" altLang="zh-CN" sz="31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326557" y="3034127"/>
                <a:ext cx="8546174" cy="1130941"/>
              </a:xfrm>
              <a:prstGeom prst="rect">
                <a:avLst/>
              </a:prstGeom>
              <a:blipFill rotWithShape="1">
                <a:blip r:embed="rId2"/>
                <a:stretch>
                  <a:fillRect l="-2" t="-31620" r="6" b="-31714"/>
                </a:stretch>
              </a:blipFill>
            </p:spPr>
            <p:txBody>
              <a:bodyPr/>
              <a:lstStyle/>
              <a:p>
                <a:r>
                  <a:rPr lang="zh-CN" altLang="en-US">
                    <a:noFill/>
                  </a:rPr>
                  <a:t> </a:t>
                </a:r>
              </a:p>
            </p:txBody>
          </p:sp>
        </mc:Fallback>
      </mc:AlternateContent>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2" name="标题 1"/>
          <p:cNvSpPr txBox="1"/>
          <p:nvPr/>
        </p:nvSpPr>
        <p:spPr>
          <a:xfrm>
            <a:off x="326557" y="4670368"/>
            <a:ext cx="8546174" cy="161903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100" dirty="0">
                <a:solidFill>
                  <a:srgbClr val="FF0000"/>
                </a:solidFill>
                <a:latin typeface="楷体" panose="02010609060101010101" pitchFamily="49" charset="-122"/>
                <a:ea typeface="楷体" panose="02010609060101010101" pitchFamily="49" charset="-122"/>
              </a:rPr>
              <a:t>注：</a:t>
            </a:r>
            <a:r>
              <a:rPr lang="zh-CN" altLang="en-US" sz="3100" dirty="0">
                <a:latin typeface="楷体" panose="02010609060101010101" pitchFamily="49" charset="-122"/>
                <a:ea typeface="楷体" panose="02010609060101010101" pitchFamily="49" charset="-122"/>
              </a:rPr>
              <a:t>与一元实函数相比，“导数不为</a:t>
            </a:r>
            <a:r>
              <a:rPr lang="en-US" altLang="zh-CN" sz="3100" dirty="0">
                <a:latin typeface="楷体" panose="02010609060101010101" pitchFamily="49" charset="-122"/>
                <a:ea typeface="楷体" panose="02010609060101010101" pitchFamily="49" charset="-122"/>
              </a:rPr>
              <a:t>0</a:t>
            </a:r>
            <a:r>
              <a:rPr lang="zh-CN" altLang="en-US" sz="3100" dirty="0">
                <a:latin typeface="楷体" panose="02010609060101010101" pitchFamily="49" charset="-122"/>
                <a:ea typeface="楷体" panose="02010609060101010101" pitchFamily="49" charset="-122"/>
              </a:rPr>
              <a:t>”的条件变为结论。这一差别揭示了复函数可能包含更丰富的内容。证明见第三章</a:t>
            </a:r>
            <a:r>
              <a:rPr lang="en-US" altLang="zh-CN" sz="3100" dirty="0" err="1">
                <a:latin typeface="楷体" panose="02010609060101010101" pitchFamily="49" charset="-122"/>
                <a:ea typeface="楷体" panose="02010609060101010101" pitchFamily="49" charset="-122"/>
              </a:rPr>
              <a:t>Rouche</a:t>
            </a:r>
            <a:r>
              <a:rPr lang="zh-CN" altLang="en-US" sz="3100" dirty="0">
                <a:latin typeface="楷体" panose="02010609060101010101" pitchFamily="49" charset="-122"/>
                <a:ea typeface="楷体" panose="02010609060101010101" pitchFamily="49" charset="-122"/>
              </a:rPr>
              <a:t>定理后。</a:t>
            </a:r>
            <a:endParaRPr lang="en-US" altLang="zh-CN" sz="31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68368" y="649310"/>
            <a:ext cx="4349181" cy="50560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b="1" dirty="0">
                <a:solidFill>
                  <a:srgbClr val="FF0000"/>
                </a:solidFill>
                <a:latin typeface="楷体" panose="02010609060101010101" pitchFamily="49" charset="-122"/>
                <a:ea typeface="楷体" panose="02010609060101010101" pitchFamily="49" charset="-122"/>
              </a:rPr>
              <a:t>可导与连续之间关系</a:t>
            </a:r>
            <a:endParaRPr lang="zh-CN" altLang="en-US" sz="3200" b="1" dirty="0">
              <a:solidFill>
                <a:srgbClr val="FF000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7" name="标题 1"/>
              <p:cNvSpPr txBox="1"/>
              <p:nvPr/>
            </p:nvSpPr>
            <p:spPr>
              <a:xfrm>
                <a:off x="122036" y="1355671"/>
                <a:ext cx="2270760" cy="43180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dirty="0">
                    <a:ea typeface="楷体" panose="02010609060101010101" pitchFamily="49" charset="-122"/>
                    <a:sym typeface="Wingdings" panose="05000000000000000000" pitchFamily="2" charset="2"/>
                  </a:rPr>
                  <a:t>由可导</a:t>
                </a:r>
                <a14:m>
                  <m:oMath xmlns:m="http://schemas.openxmlformats.org/officeDocument/2006/math">
                    <m:r>
                      <a:rPr lang="zh-CN" altLang="en-US" sz="3100" i="1" dirty="0">
                        <a:latin typeface="Cambria Math" panose="02040503050406030204" pitchFamily="18" charset="0"/>
                        <a:ea typeface="楷体" panose="02010609060101010101" pitchFamily="49" charset="-122"/>
                        <a:sym typeface="Wingdings" panose="05000000000000000000" pitchFamily="2" charset="2"/>
                      </a:rPr>
                      <m:t>知</m:t>
                    </m:r>
                    <m:r>
                      <a:rPr lang="zh-CN" altLang="en-US" sz="3100" i="1" dirty="0"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oMath>
                </a14:m>
                <a:endParaRPr lang="zh-CN" altLang="en-US" sz="2100" i="1" dirty="0">
                  <a:solidFill>
                    <a:srgbClr val="FF0000"/>
                  </a:solidFill>
                  <a:latin typeface="Cambria Math" panose="02040503050406030204" pitchFamily="18" charset="0"/>
                  <a:ea typeface="楷体" panose="02010609060101010101" pitchFamily="49" charset="-122"/>
                  <a:sym typeface="Wingdings" panose="05000000000000000000" pitchFamily="2" charset="2"/>
                </a:endParaRPr>
              </a:p>
            </p:txBody>
          </p:sp>
        </mc:Choice>
        <mc:Fallback>
          <p:sp>
            <p:nvSpPr>
              <p:cNvPr id="7" name="标题 1"/>
              <p:cNvSpPr txBox="1">
                <a:spLocks noRot="1" noChangeAspect="1" noMove="1" noResize="1" noEditPoints="1" noAdjustHandles="1" noChangeArrowheads="1" noChangeShapeType="1" noTextEdit="1"/>
              </p:cNvSpPr>
              <p:nvPr/>
            </p:nvSpPr>
            <p:spPr>
              <a:xfrm>
                <a:off x="122036" y="1355671"/>
                <a:ext cx="2270760" cy="431800"/>
              </a:xfrm>
              <a:prstGeom prst="rect">
                <a:avLst/>
              </a:prstGeom>
              <a:blipFill rotWithShape="1">
                <a:blip r:embed="rId1"/>
                <a:stretch>
                  <a:fillRect l="-5" t="-35135" r="5" b="-350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173240" y="4266862"/>
                <a:ext cx="8825230" cy="11150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100" dirty="0">
                    <a:ea typeface="楷体" panose="02010609060101010101" pitchFamily="49" charset="-122"/>
                    <a:sym typeface="Wingdings" panose="05000000000000000000" pitchFamily="2" charset="2"/>
                  </a:rPr>
                  <a:t>特别地，在实函数中构造连续但不可导的函数（除分段外）不是一件容易的事；但在复变函数中处处连续却不可导的函数几乎随处可见，如</a:t>
                </a:r>
                <a14:m>
                  <m:oMath xmlns:m="http://schemas.openxmlformats.org/officeDocument/2006/math">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1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𝑧</m:t>
                        </m:r>
                      </m:e>
                    </m:d>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m:t>
                    </m:r>
                    <m:acc>
                      <m:accPr>
                        <m:chr m:val="̅"/>
                        <m:ctrlPr>
                          <a:rPr lang="en-US" altLang="zh-CN" sz="3100" b="0" i="1" smtClean="0">
                            <a:latin typeface="Cambria Math" panose="02040503050406030204" pitchFamily="18" charset="0"/>
                            <a:ea typeface="楷体" panose="02010609060101010101" pitchFamily="49" charset="-122"/>
                            <a:sym typeface="Wingdings" panose="05000000000000000000" pitchFamily="2" charset="2"/>
                          </a:rPr>
                        </m:ctrlPr>
                      </m:accPr>
                      <m:e>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𝑧</m:t>
                        </m:r>
                      </m:e>
                    </m:acc>
                    <m:r>
                      <a:rPr lang="en-US" altLang="zh-CN" sz="3100" b="0" i="1"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oMath>
                </a14:m>
                <a:endParaRPr lang="en-US" altLang="zh-CN" sz="2700" b="0" i="1" dirty="0">
                  <a:solidFill>
                    <a:srgbClr val="FF0000"/>
                  </a:solidFill>
                  <a:latin typeface="Cambria Math" panose="02040503050406030204" pitchFamily="18" charset="0"/>
                  <a:ea typeface="楷体" panose="02010609060101010101" pitchFamily="49" charset="-122"/>
                  <a:sym typeface="Wingdings" panose="05000000000000000000" pitchFamily="2" charset="2"/>
                </a:endParaRPr>
              </a:p>
            </p:txBody>
          </p:sp>
        </mc:Choice>
        <mc:Fallback>
          <p:sp>
            <p:nvSpPr>
              <p:cNvPr id="4" name="标题 1"/>
              <p:cNvSpPr txBox="1">
                <a:spLocks noRot="1" noChangeAspect="1" noMove="1" noResize="1" noEditPoints="1" noAdjustHandles="1" noChangeArrowheads="1" noChangeShapeType="1" noTextEdit="1"/>
              </p:cNvSpPr>
              <p:nvPr/>
            </p:nvSpPr>
            <p:spPr>
              <a:xfrm>
                <a:off x="173240" y="4266862"/>
                <a:ext cx="8825230" cy="1115060"/>
              </a:xfrm>
              <a:prstGeom prst="rect">
                <a:avLst/>
              </a:prstGeom>
              <a:blipFill rotWithShape="1">
                <a:blip r:embed="rId2"/>
                <a:stretch>
                  <a:fillRect l="-6" t="-19844" r="6" b="-199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2604905" y="2006969"/>
                <a:ext cx="6036945" cy="9429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sym typeface="Wingdings" panose="05000000000000000000" pitchFamily="2" charset="2"/>
                        </a:rPr>
                        <m:t>∴</m:t>
                      </m:r>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r>
                        <a:rPr lang="en-US" altLang="zh-CN" sz="30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i="1">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sub>
                          </m:sSub>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i="1">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sub>
                          </m:sSub>
                        </m:e>
                      </m:d>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0</m:t>
                      </m:r>
                    </m:oMath>
                  </m:oMathPara>
                </a14:m>
                <a:endParaRPr lang="en-US" altLang="zh-CN" sz="3000" b="0" i="1" dirty="0">
                  <a:solidFill>
                    <a:srgbClr val="FF0000"/>
                  </a:solidFill>
                  <a:latin typeface="Cambria Math" panose="02040503050406030204" pitchFamily="18" charset="0"/>
                  <a:ea typeface="Cambria Math" panose="02040503050406030204" pitchFamily="18" charset="0"/>
                  <a:sym typeface="Wingdings" panose="05000000000000000000" pitchFamily="2" charset="2"/>
                </a:endParaRPr>
              </a:p>
            </p:txBody>
          </p:sp>
        </mc:Choice>
        <mc:Fallback>
          <p:sp>
            <p:nvSpPr>
              <p:cNvPr id="6" name="标题 1"/>
              <p:cNvSpPr txBox="1">
                <a:spLocks noRot="1" noChangeAspect="1" noMove="1" noResize="1" noEditPoints="1" noAdjustHandles="1" noChangeArrowheads="1" noChangeShapeType="1" noTextEdit="1"/>
              </p:cNvSpPr>
              <p:nvPr/>
            </p:nvSpPr>
            <p:spPr>
              <a:xfrm>
                <a:off x="2604905" y="2006969"/>
                <a:ext cx="6036945" cy="942975"/>
              </a:xfrm>
              <a:prstGeom prst="rect">
                <a:avLst/>
              </a:prstGeom>
              <a:blipFill rotWithShape="1">
                <a:blip r:embed="rId3"/>
                <a:stretch>
                  <a:fillRect l="-2" t="-39" r="2"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726395" y="838982"/>
                <a:ext cx="6000115" cy="1299210"/>
              </a:xfrm>
              <a:prstGeom prst="rect">
                <a:avLst/>
              </a:prstGeom>
            </p:spPr>
            <p:txBody>
              <a:bodyPr vert="horz" lIns="68580" tIns="34290" rIns="68580" bIns="3429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func>
                        <m:funcPr>
                          <m:ctrlPr>
                            <a:rPr lang="en-US" altLang="zh-CN" sz="4285" i="1" smtClean="0">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4285"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4285">
                                  <a:latin typeface="Cambria Math" panose="02040503050406030204" pitchFamily="18" charset="0"/>
                                  <a:ea typeface="楷体" panose="02010609060101010101" pitchFamily="49" charset="-122"/>
                                  <a:sym typeface="Wingdings" panose="05000000000000000000" pitchFamily="2" charset="2"/>
                                </a:rPr>
                                <m:t>lim</m:t>
                              </m:r>
                            </m:e>
                            <m:lim>
                              <m:r>
                                <a:rPr lang="en-US" altLang="zh-CN" sz="4285" i="1">
                                  <a:latin typeface="Cambria Math" panose="02040503050406030204" pitchFamily="18" charset="0"/>
                                  <a:ea typeface="楷体" panose="02010609060101010101" pitchFamily="49" charset="-122"/>
                                  <a:sym typeface="Wingdings" panose="05000000000000000000" pitchFamily="2" charset="2"/>
                                </a:rPr>
                                <m:t>∆</m:t>
                              </m:r>
                              <m:r>
                                <a:rPr lang="en-US" altLang="zh-CN" sz="4285" b="0" i="1" smtClean="0">
                                  <a:latin typeface="Cambria Math" panose="02040503050406030204" pitchFamily="18" charset="0"/>
                                  <a:ea typeface="楷体" panose="02010609060101010101" pitchFamily="49" charset="-122"/>
                                  <a:sym typeface="Wingdings" panose="05000000000000000000" pitchFamily="2" charset="2"/>
                                </a:rPr>
                                <m:t>𝑧</m:t>
                              </m:r>
                              <m:r>
                                <a:rPr lang="en-US" altLang="zh-CN" sz="4285" i="1">
                                  <a:latin typeface="Cambria Math" panose="02040503050406030204" pitchFamily="18" charset="0"/>
                                  <a:ea typeface="Cambria Math" panose="02040503050406030204" pitchFamily="18" charset="0"/>
                                  <a:sym typeface="Wingdings" panose="05000000000000000000" pitchFamily="2" charset="2"/>
                                </a:rPr>
                                <m:t>→</m:t>
                              </m:r>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4285" i="1" smtClean="0">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0</m:t>
                                      </m:r>
                                    </m:sub>
                                  </m:sSub>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𝑓</m:t>
                              </m:r>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0</m:t>
                                  </m:r>
                                </m:sub>
                              </m:sSub>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m:t>
                              </m:r>
                            </m:num>
                            <m:den>
                              <m:r>
                                <a:rPr lang="en-US" altLang="zh-CN" sz="4285"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𝑧</m:t>
                              </m:r>
                            </m:den>
                          </m:f>
                        </m:e>
                      </m:func>
                      <m:r>
                        <a:rPr lang="en-US" altLang="zh-CN" sz="4285" b="0" i="0" smtClean="0">
                          <a:latin typeface="Cambria Math" panose="02040503050406030204" pitchFamily="18" charset="0"/>
                          <a:ea typeface="Cambria Math" panose="02040503050406030204" pitchFamily="18" charset="0"/>
                          <a:sym typeface="Wingdings" panose="05000000000000000000" pitchFamily="2" charset="2"/>
                        </a:rPr>
                        <m:t>=</m:t>
                      </m:r>
                      <m:sSup>
                        <m:sSupPr>
                          <m:ctrlP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𝑓</m:t>
                          </m:r>
                        </m:e>
                        <m:sup>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m:t>
                          </m:r>
                        </m:sup>
                      </m:sSup>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0</m:t>
                          </m:r>
                        </m:sub>
                      </m:sSub>
                      <m:r>
                        <a:rPr lang="en-US" altLang="zh-CN" sz="4285" b="0" i="1" smtClean="0">
                          <a:latin typeface="Cambria Math" panose="02040503050406030204" pitchFamily="18" charset="0"/>
                          <a:ea typeface="Cambria Math" panose="02040503050406030204" pitchFamily="18" charset="0"/>
                          <a:sym typeface="Wingdings" panose="05000000000000000000" pitchFamily="2" charset="2"/>
                        </a:rPr>
                        <m:t>)</m:t>
                      </m:r>
                      <m:r>
                        <a:rPr lang="zh-CN" altLang="en-US" sz="4285" i="1">
                          <a:latin typeface="Cambria Math" panose="02040503050406030204" pitchFamily="18" charset="0"/>
                          <a:ea typeface="Cambria Math" panose="02040503050406030204" pitchFamily="18" charset="0"/>
                          <a:sym typeface="Wingdings" panose="05000000000000000000" pitchFamily="2" charset="2"/>
                        </a:rPr>
                        <m:t>，</m:t>
                      </m:r>
                    </m:oMath>
                  </m:oMathPara>
                </a14:m>
                <a:endParaRPr lang="zh-CN" altLang="en-US" sz="2100" dirty="0">
                  <a:solidFill>
                    <a:srgbClr val="FF0000"/>
                  </a:solidFill>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1726395" y="838982"/>
                <a:ext cx="6000115" cy="1299210"/>
              </a:xfrm>
              <a:prstGeom prst="rect">
                <a:avLst/>
              </a:prstGeom>
              <a:blipFill rotWithShape="1">
                <a:blip r:embed="rId4"/>
                <a:stretch>
                  <a:fillRect l="-8" t="-11" r="8"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132283" y="2135017"/>
                <a:ext cx="2920365" cy="7340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因为</a:t>
                </a:r>
                <a14:m>
                  <m:oMath xmlns:m="http://schemas.openxmlformats.org/officeDocument/2006/math">
                    <m:func>
                      <m:funcPr>
                        <m:ctrlPr>
                          <a:rPr lang="en-US" altLang="zh-CN" sz="3000" i="1" smtClean="0">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fName>
                      <m:e>
                        <m:r>
                          <a:rPr lang="en-US" altLang="zh-CN" sz="30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0</m:t>
                        </m:r>
                      </m:e>
                    </m:func>
                  </m:oMath>
                </a14:m>
                <a:endParaRPr lang="en-US" altLang="zh-CN" sz="3000" b="0" i="1" dirty="0">
                  <a:latin typeface="Cambria Math" panose="02040503050406030204" pitchFamily="18" charset="0"/>
                  <a:ea typeface="Cambria Math" panose="02040503050406030204" pitchFamily="18" charset="0"/>
                  <a:sym typeface="Wingdings" panose="05000000000000000000" pitchFamily="2" charset="2"/>
                </a:endParaRPr>
              </a:p>
            </p:txBody>
          </p:sp>
        </mc:Choice>
        <mc:Fallback>
          <p:sp>
            <p:nvSpPr>
              <p:cNvPr id="9" name="标题 1"/>
              <p:cNvSpPr txBox="1">
                <a:spLocks noRot="1" noChangeAspect="1" noMove="1" noResize="1" noEditPoints="1" noAdjustHandles="1" noChangeArrowheads="1" noChangeShapeType="1" noTextEdit="1"/>
              </p:cNvSpPr>
              <p:nvPr/>
            </p:nvSpPr>
            <p:spPr>
              <a:xfrm>
                <a:off x="132283" y="2135017"/>
                <a:ext cx="2920365" cy="734060"/>
              </a:xfrm>
              <a:prstGeom prst="rect">
                <a:avLst/>
              </a:prstGeom>
              <a:blipFill rotWithShape="1">
                <a:blip r:embed="rId5"/>
                <a:stretch>
                  <a:fillRect l="-7" t="-11093" r="7" b="-11139"/>
                </a:stretch>
              </a:blipFill>
            </p:spPr>
            <p:txBody>
              <a:bodyPr/>
              <a:lstStyle/>
              <a:p>
                <a:r>
                  <a:rPr lang="zh-CN" altLang="en-US">
                    <a:noFill/>
                  </a:rPr>
                  <a:t> </a:t>
                </a:r>
              </a:p>
            </p:txBody>
          </p:sp>
        </mc:Fallback>
      </mc:AlternateContent>
      <p:sp>
        <p:nvSpPr>
          <p:cNvPr id="10" name="标题 1"/>
          <p:cNvSpPr txBox="1"/>
          <p:nvPr/>
        </p:nvSpPr>
        <p:spPr>
          <a:xfrm>
            <a:off x="173240" y="3213100"/>
            <a:ext cx="2838450" cy="43180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dirty="0">
                <a:latin typeface="楷体" panose="02010609060101010101" pitchFamily="49" charset="-122"/>
                <a:ea typeface="楷体" panose="02010609060101010101" pitchFamily="49" charset="-122"/>
              </a:rPr>
              <a:t>即</a:t>
            </a:r>
            <a:r>
              <a:rPr lang="zh-CN" altLang="en-US" sz="3100" dirty="0">
                <a:solidFill>
                  <a:srgbClr val="FF0000"/>
                </a:solidFill>
                <a:latin typeface="楷体" panose="02010609060101010101" pitchFamily="49" charset="-122"/>
                <a:ea typeface="楷体" panose="02010609060101010101" pitchFamily="49" charset="-122"/>
              </a:rPr>
              <a:t>可导必连续。</a:t>
            </a:r>
            <a:endParaRPr lang="zh-CN" altLang="en-US" sz="3100" dirty="0">
              <a:solidFill>
                <a:srgbClr val="FF0000"/>
              </a:solidFill>
              <a:latin typeface="楷体" panose="02010609060101010101" pitchFamily="49" charset="-122"/>
              <a:ea typeface="楷体" panose="02010609060101010101" pitchFamily="49" charset="-122"/>
            </a:endParaRPr>
          </a:p>
        </p:txBody>
      </p:sp>
      <p:sp>
        <p:nvSpPr>
          <p:cNvPr id="11" name="标题 1"/>
          <p:cNvSpPr txBox="1"/>
          <p:nvPr/>
        </p:nvSpPr>
        <p:spPr>
          <a:xfrm>
            <a:off x="2877551" y="3245485"/>
            <a:ext cx="2499995" cy="39941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dirty="0">
                <a:latin typeface="楷体" panose="02010609060101010101" pitchFamily="49" charset="-122"/>
                <a:ea typeface="楷体" panose="02010609060101010101" pitchFamily="49" charset="-122"/>
              </a:rPr>
              <a:t>反之，不成立。</a:t>
            </a:r>
            <a:endParaRPr lang="zh-CN" altLang="en-US" sz="2100" dirty="0">
              <a:solidFill>
                <a:srgbClr val="FF000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2" name="标题 1"/>
              <p:cNvSpPr txBox="1"/>
              <p:nvPr/>
            </p:nvSpPr>
            <p:spPr>
              <a:xfrm>
                <a:off x="5716001" y="3196447"/>
                <a:ext cx="2138447" cy="43186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dirty="0">
                    <a:solidFill>
                      <a:schemeClr val="tx1"/>
                    </a:solidFill>
                    <a:latin typeface="楷体" panose="02010609060101010101" pitchFamily="49" charset="-122"/>
                    <a:ea typeface="楷体" panose="02010609060101010101" pitchFamily="49" charset="-122"/>
                  </a:rPr>
                  <a:t>如</a:t>
                </a:r>
                <a14:m>
                  <m:oMath xmlns:m="http://schemas.openxmlformats.org/officeDocument/2006/math">
                    <m:r>
                      <a:rPr lang="en-US" altLang="zh-CN" sz="3100" b="0" i="1" smtClean="0">
                        <a:solidFill>
                          <a:schemeClr val="tx1"/>
                        </a:solidFill>
                        <a:latin typeface="Cambria Math" panose="02040503050406030204" pitchFamily="18" charset="0"/>
                        <a:ea typeface="楷体" panose="02010609060101010101" pitchFamily="49" charset="-122"/>
                      </a:rPr>
                      <m:t>𝑓</m:t>
                    </m:r>
                    <m:d>
                      <m:dPr>
                        <m:ctrlPr>
                          <a:rPr lang="en-US" altLang="zh-CN" sz="3100" b="0" i="1" smtClean="0">
                            <a:solidFill>
                              <a:schemeClr val="tx1"/>
                            </a:solidFill>
                            <a:latin typeface="Cambria Math" panose="02040503050406030204" pitchFamily="18" charset="0"/>
                            <a:ea typeface="楷体" panose="02010609060101010101" pitchFamily="49" charset="-122"/>
                          </a:rPr>
                        </m:ctrlPr>
                      </m:dPr>
                      <m:e>
                        <m:r>
                          <a:rPr lang="en-US" altLang="zh-CN" sz="3100" b="0" i="1" smtClean="0">
                            <a:solidFill>
                              <a:schemeClr val="tx1"/>
                            </a:solidFill>
                            <a:latin typeface="Cambria Math" panose="02040503050406030204" pitchFamily="18" charset="0"/>
                            <a:ea typeface="楷体" panose="02010609060101010101" pitchFamily="49" charset="-122"/>
                          </a:rPr>
                          <m:t>𝑧</m:t>
                        </m:r>
                      </m:e>
                    </m:d>
                    <m:r>
                      <a:rPr lang="en-US" altLang="zh-CN" sz="3100" b="0" i="1" smtClean="0">
                        <a:solidFill>
                          <a:schemeClr val="tx1"/>
                        </a:solidFill>
                        <a:latin typeface="Cambria Math" panose="02040503050406030204" pitchFamily="18" charset="0"/>
                        <a:ea typeface="楷体" panose="02010609060101010101" pitchFamily="49" charset="-122"/>
                      </a:rPr>
                      <m:t>=</m:t>
                    </m:r>
                    <m:acc>
                      <m:accPr>
                        <m:chr m:val="̅"/>
                        <m:ctrlPr>
                          <a:rPr lang="en-US" altLang="zh-CN" sz="3100" b="0" i="1" smtClean="0">
                            <a:solidFill>
                              <a:schemeClr val="tx1"/>
                            </a:solidFill>
                            <a:latin typeface="Cambria Math" panose="02040503050406030204" pitchFamily="18" charset="0"/>
                            <a:ea typeface="楷体" panose="02010609060101010101" pitchFamily="49" charset="-122"/>
                          </a:rPr>
                        </m:ctrlPr>
                      </m:accPr>
                      <m:e>
                        <m:r>
                          <a:rPr lang="en-US" altLang="zh-CN" sz="3100" b="0" i="1" smtClean="0">
                            <a:solidFill>
                              <a:schemeClr val="tx1"/>
                            </a:solidFill>
                            <a:latin typeface="Cambria Math" panose="02040503050406030204" pitchFamily="18" charset="0"/>
                            <a:ea typeface="楷体" panose="02010609060101010101" pitchFamily="49" charset="-122"/>
                          </a:rPr>
                          <m:t>𝑧</m:t>
                        </m:r>
                      </m:e>
                    </m:acc>
                  </m:oMath>
                </a14:m>
                <a:endParaRPr lang="en-US" altLang="zh-CN" sz="2100" b="0" i="1" dirty="0">
                  <a:solidFill>
                    <a:schemeClr val="tx1"/>
                  </a:solidFill>
                  <a:latin typeface="Cambria Math" panose="02040503050406030204" pitchFamily="18" charset="0"/>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5716001" y="3196447"/>
                <a:ext cx="2138447" cy="431863"/>
              </a:xfrm>
              <a:prstGeom prst="rect">
                <a:avLst/>
              </a:prstGeom>
              <a:blipFill rotWithShape="1">
                <a:blip r:embed="rId6"/>
                <a:stretch>
                  <a:fillRect l="-17" t="-32021" r="6" b="-32073"/>
                </a:stretch>
              </a:blipFill>
            </p:spPr>
            <p:txBody>
              <a:bodyPr/>
              <a:lstStyle/>
              <a:p>
                <a:r>
                  <a:rPr lang="zh-CN" altLang="en-US">
                    <a:noFill/>
                  </a:rPr>
                  <a:t> </a:t>
                </a:r>
              </a:p>
            </p:txBody>
          </p:sp>
        </mc:Fallback>
      </mc:AlternateContent>
      <p:sp>
        <p:nvSpPr>
          <p:cNvPr id="1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15" name="直接连接符 14"/>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4" grpId="0"/>
      <p:bldP spid="6" grpId="0"/>
      <p:bldP spid="8" grpId="0"/>
      <p:bldP spid="9" grpId="0"/>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200025" y="593253"/>
            <a:ext cx="1546860" cy="6438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题外话：</a:t>
            </a:r>
            <a:endPar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endParaRPr>
          </a:p>
        </p:txBody>
      </p:sp>
      <p:sp>
        <p:nvSpPr>
          <p:cNvPr id="2" name="标题 1"/>
          <p:cNvSpPr txBox="1"/>
          <p:nvPr/>
        </p:nvSpPr>
        <p:spPr>
          <a:xfrm>
            <a:off x="122036" y="4079105"/>
            <a:ext cx="8636000" cy="187134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《论语》中</a:t>
            </a:r>
            <a:r>
              <a:rPr lang="en-US" altLang="zh-CN"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a:t>
            </a: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学而不思则罔，思而不学则殆</a:t>
            </a:r>
            <a:r>
              <a:rPr lang="en-US" altLang="zh-CN"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a:t>
            </a: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，也是告诉我们同样的道理。所以我们要要有敢于探索，能独立思考，尽最大限度地弄清事物本质，不要人云亦云。</a:t>
            </a:r>
            <a:endPar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endParaRPr>
          </a:p>
        </p:txBody>
      </p:sp>
      <p:sp>
        <p:nvSpPr>
          <p:cNvPr id="13" name="标题 1"/>
          <p:cNvSpPr txBox="1"/>
          <p:nvPr/>
        </p:nvSpPr>
        <p:spPr>
          <a:xfrm>
            <a:off x="200025" y="1394595"/>
            <a:ext cx="8636000" cy="231013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在柯西时代，包括柯西在内的很多数学家都认为</a:t>
            </a:r>
            <a:r>
              <a:rPr lang="en-US" altLang="zh-CN"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a:t>
            </a: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连续函数一定可导</a:t>
            </a:r>
            <a:r>
              <a:rPr lang="en-US" altLang="zh-CN"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a:t>
            </a: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，并且给出了它的</a:t>
            </a:r>
            <a:r>
              <a:rPr lang="en-US" altLang="zh-CN"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a:t>
            </a: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严格</a:t>
            </a:r>
            <a:r>
              <a:rPr lang="en-US" altLang="zh-CN"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a:t>
            </a: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证明。但黎曼不迷信权威，敢于质疑，善于思考，经过严密分析后得到</a:t>
            </a:r>
            <a:r>
              <a:rPr lang="en-US" altLang="zh-CN"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a:t>
            </a: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连续函数不一定可导</a:t>
            </a:r>
            <a:r>
              <a:rPr lang="en-US" altLang="zh-CN"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a:t>
            </a:r>
            <a:r>
              <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rPr>
              <a:t>的结论。</a:t>
            </a:r>
            <a:endParaRPr lang="zh-CN" altLang="en-US" sz="3000" b="0" dirty="0">
              <a:solidFill>
                <a:schemeClr val="tx1"/>
              </a:solidFill>
              <a:latin typeface="Cambria Math" panose="02040503050406030204" pitchFamily="18" charset="0"/>
              <a:ea typeface="楷体" panose="02010609060101010101" pitchFamily="49" charset="-122"/>
              <a:sym typeface="Wingdings" panose="05000000000000000000" pitchFamily="2" charset="2"/>
            </a:endParaRPr>
          </a:p>
        </p:txBody>
      </p:sp>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162136" y="595471"/>
            <a:ext cx="4349181" cy="50560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b="1" dirty="0">
                <a:solidFill>
                  <a:schemeClr val="tx1"/>
                </a:solidFill>
                <a:latin typeface="楷体" panose="02010609060101010101" pitchFamily="49" charset="-122"/>
                <a:ea typeface="楷体" panose="02010609060101010101" pitchFamily="49" charset="-122"/>
              </a:rPr>
              <a:t>可导与可微的关系</a:t>
            </a:r>
            <a:endParaRPr lang="zh-CN" altLang="en-US" sz="3200" b="1" dirty="0">
              <a:solidFill>
                <a:schemeClr val="tx1"/>
              </a:solidFill>
              <a:latin typeface="楷体" panose="02010609060101010101" pitchFamily="49" charset="-122"/>
              <a:ea typeface="楷体" panose="02010609060101010101" pitchFamily="49" charset="-122"/>
            </a:endParaRPr>
          </a:p>
        </p:txBody>
      </p:sp>
      <p:sp>
        <p:nvSpPr>
          <p:cNvPr id="7" name="标题 1"/>
          <p:cNvSpPr txBox="1"/>
          <p:nvPr/>
        </p:nvSpPr>
        <p:spPr>
          <a:xfrm>
            <a:off x="124136" y="1361183"/>
            <a:ext cx="1117600" cy="5054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dirty="0">
                <a:solidFill>
                  <a:srgbClr val="FF0000"/>
                </a:solidFill>
                <a:ea typeface="楷体" panose="02010609060101010101" pitchFamily="49" charset="-122"/>
                <a:sym typeface="Wingdings" panose="05000000000000000000" pitchFamily="2" charset="2"/>
              </a:rPr>
              <a:t>可微：</a:t>
            </a:r>
            <a:endParaRPr lang="zh-CN" altLang="en-US" sz="2700" dirty="0">
              <a:solidFill>
                <a:srgbClr val="FF0000"/>
              </a:solidFill>
              <a:latin typeface="楷体" panose="02010609060101010101" pitchFamily="49" charset="-122"/>
              <a:ea typeface="楷体" panose="02010609060101010101" pitchFamily="49" charset="-122"/>
              <a:sym typeface="Wingdings" panose="05000000000000000000" pitchFamily="2" charset="2"/>
            </a:endParaRPr>
          </a:p>
        </p:txBody>
      </p:sp>
      <mc:AlternateContent xmlns:mc="http://schemas.openxmlformats.org/markup-compatibility/2006">
        <mc:Choice xmlns:a14="http://schemas.microsoft.com/office/drawing/2010/main" Requires="a14">
          <p:sp>
            <p:nvSpPr>
              <p:cNvPr id="4" name="标题 1"/>
              <p:cNvSpPr txBox="1"/>
              <p:nvPr/>
            </p:nvSpPr>
            <p:spPr>
              <a:xfrm>
                <a:off x="231140" y="5130866"/>
                <a:ext cx="8576997" cy="53035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solidFill>
                      <a:schemeClr val="tx1"/>
                    </a:solidFill>
                    <a:latin typeface="楷体" panose="02010609060101010101" pitchFamily="49" charset="-122"/>
                    <a:ea typeface="楷体" panose="02010609060101010101" pitchFamily="49" charset="-122"/>
                    <a:sym typeface="Wingdings" panose="05000000000000000000" pitchFamily="2" charset="2"/>
                  </a:rPr>
                  <a:t>类似于实数中的证明，可知：</a:t>
                </a:r>
                <a:r>
                  <a:rPr lang="zh-CN" altLang="en-US" sz="3200" dirty="0">
                    <a:solidFill>
                      <a:srgbClr val="FF0000"/>
                    </a:solidFill>
                    <a:latin typeface="楷体" panose="02010609060101010101" pitchFamily="49" charset="-122"/>
                    <a:ea typeface="楷体" panose="02010609060101010101" pitchFamily="49" charset="-122"/>
                    <a:sym typeface="Wingdings" panose="05000000000000000000" pitchFamily="2" charset="2"/>
                  </a:rPr>
                  <a:t>可导</a:t>
                </a:r>
                <a14:m>
                  <m:oMath xmlns:m="http://schemas.openxmlformats.org/officeDocument/2006/math">
                    <m:groupChr>
                      <m:groupChrPr>
                        <m:chr m:val="⇔"/>
                        <m:vertJc m:val="bot"/>
                        <m:ctrlPr>
                          <a:rPr lang="en-US" altLang="zh-CN" sz="320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ctrlPr>
                      </m:groupChrPr>
                      <m:e/>
                    </m:groupChr>
                  </m:oMath>
                </a14:m>
                <a:r>
                  <a:rPr lang="zh-CN" sz="3200" dirty="0">
                    <a:solidFill>
                      <a:srgbClr val="FF0000"/>
                    </a:solidFill>
                    <a:latin typeface="楷体" panose="02010609060101010101" pitchFamily="49" charset="-122"/>
                    <a:ea typeface="楷体" panose="02010609060101010101" pitchFamily="49" charset="-122"/>
                  </a:rPr>
                  <a:t>可微</a:t>
                </a:r>
                <a:endParaRPr lang="zh-CN" sz="3200" dirty="0">
                  <a:solidFill>
                    <a:srgbClr val="FF0000"/>
                  </a:solidFill>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231140" y="5130866"/>
                <a:ext cx="8576997" cy="530351"/>
              </a:xfrm>
              <a:prstGeom prst="rect">
                <a:avLst/>
              </a:prstGeom>
              <a:blipFill rotWithShape="1">
                <a:blip r:embed="rId1"/>
                <a:stretch>
                  <a:fillRect t="-42637" r="1" b="-427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422076" y="1534538"/>
                <a:ext cx="4333875"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ea typeface="楷体" panose="02010609060101010101" pitchFamily="49" charset="-122"/>
                    <a:sym typeface="Wingdings" panose="05000000000000000000" pitchFamily="2" charset="2"/>
                  </a:rPr>
                  <a:t>若函数</a:t>
                </a:r>
                <a14:m>
                  <m:oMath xmlns:m="http://schemas.openxmlformats.org/officeDocument/2006/math">
                    <m:r>
                      <m:rPr>
                        <m:sty m:val="p"/>
                      </m:rPr>
                      <a:rPr lang="el-GR" altLang="zh-CN" sz="3200" i="1" smtClean="0">
                        <a:latin typeface="Cambria Math" panose="02040503050406030204" pitchFamily="18" charset="0"/>
                        <a:ea typeface="Cambria Math" panose="02040503050406030204" pitchFamily="18" charset="0"/>
                        <a:sym typeface="Wingdings" panose="05000000000000000000" pitchFamily="2" charset="2"/>
                      </a:rPr>
                      <m:t>ω</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d>
                    <m:r>
                      <a:rPr lang="zh-CN" altLang="en-US" sz="3200" dirty="0">
                        <a:latin typeface="Cambria Math" panose="02040503050406030204" pitchFamily="18" charset="0"/>
                        <a:ea typeface="楷体" panose="02010609060101010101" pitchFamily="49" charset="-122"/>
                        <a:sym typeface="Wingdings" panose="05000000000000000000" pitchFamily="2" charset="2"/>
                      </a:rPr>
                      <m:t>有</m:t>
                    </m:r>
                  </m:oMath>
                </a14:m>
                <a:endParaRPr lang="zh-CN" altLang="en-US" sz="3200" dirty="0">
                  <a:latin typeface="楷体" panose="02010609060101010101" pitchFamily="49" charset="-122"/>
                  <a:ea typeface="楷体" panose="02010609060101010101" pitchFamily="49" charset="-122"/>
                  <a:sym typeface="Wingdings" panose="05000000000000000000" pitchFamily="2" charset="2"/>
                </a:endParaRPr>
              </a:p>
              <a:p>
                <a:pPr>
                  <a:lnSpc>
                    <a:spcPct val="150000"/>
                  </a:lnSpc>
                </a:pPr>
                <a:endParaRPr lang="en-US" altLang="zh-CN" sz="1100" dirty="0">
                  <a:latin typeface="楷体" panose="02010609060101010101" pitchFamily="49" charset="-122"/>
                  <a:ea typeface="Cambria Math" panose="02040503050406030204" pitchFamily="18" charset="0"/>
                  <a:sym typeface="Wingdings" panose="05000000000000000000" pitchFamily="2" charset="2"/>
                </a:endParaRPr>
              </a:p>
            </p:txBody>
          </p:sp>
        </mc:Choice>
        <mc:Fallback>
          <p:sp>
            <p:nvSpPr>
              <p:cNvPr id="8" name="标题 1"/>
              <p:cNvSpPr txBox="1">
                <a:spLocks noRot="1" noChangeAspect="1" noMove="1" noResize="1" noEditPoints="1" noAdjustHandles="1" noChangeArrowheads="1" noChangeShapeType="1" noTextEdit="1"/>
              </p:cNvSpPr>
              <p:nvPr/>
            </p:nvSpPr>
            <p:spPr>
              <a:xfrm>
                <a:off x="1422076" y="1534538"/>
                <a:ext cx="4333875" cy="495935"/>
              </a:xfrm>
              <a:prstGeom prst="rect">
                <a:avLst/>
              </a:prstGeom>
              <a:blipFill rotWithShape="1">
                <a:blip r:embed="rId2"/>
                <a:stretch>
                  <a:fillRect l="-7" t="-30550" r="7" b="-3065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312203" y="2238496"/>
                <a:ext cx="8681720"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zh-CN" altLang="en-US" sz="3200" i="1" smtClean="0">
                          <a:latin typeface="Cambria Math" panose="02040503050406030204" pitchFamily="18" charset="0"/>
                          <a:ea typeface="Cambria Math" panose="02040503050406030204" pitchFamily="18" charset="0"/>
                          <a:sym typeface="Wingdings" panose="05000000000000000000" pitchFamily="2" charset="2"/>
                        </a:rPr>
                        <m:t>𝜔</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sub>
                          </m:sSub>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sub>
                          </m:sSub>
                        </m:e>
                      </m:d>
                      <m:r>
                        <a:rPr lang="en-US" altLang="zh-CN" sz="3200" i="1">
                          <a:latin typeface="Cambria Math" panose="02040503050406030204" pitchFamily="18" charset="0"/>
                          <a:ea typeface="Cambria Math" panose="02040503050406030204" pitchFamily="18" charset="0"/>
                          <a:sym typeface="Wingdings" panose="05000000000000000000" pitchFamily="2" charset="2"/>
                        </a:rPr>
                        <m:t>=</m:t>
                      </m:r>
                      <m:sSup>
                        <m:sSupPr>
                          <m:ctrlPr>
                            <a:rPr lang="en-US" altLang="zh-CN" sz="3200" i="1" smtClean="0">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𝑓</m:t>
                          </m:r>
                        </m:e>
                        <m:sup>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up>
                      </m:sSup>
                      <m:d>
                        <m:dPr>
                          <m:ctrlP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sub>
                          </m:sSub>
                        </m:e>
                      </m:d>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zh-CN" altLang="en-US" sz="3200" b="0" i="1" smtClean="0">
                          <a:latin typeface="Cambria Math" panose="02040503050406030204" pitchFamily="18" charset="0"/>
                          <a:ea typeface="Cambria Math" panose="02040503050406030204" pitchFamily="18" charset="0"/>
                          <a:sym typeface="Wingdings" panose="05000000000000000000" pitchFamily="2" charset="2"/>
                        </a:rPr>
                        <m:t>𝜌</m:t>
                      </m:r>
                      <m:d>
                        <m:dPr>
                          <m:ctrlP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oMath>
                  </m:oMathPara>
                </a14:m>
                <a:endParaRPr lang="en-US" altLang="zh-CN" sz="1100" dirty="0">
                  <a:latin typeface="楷体" panose="02010609060101010101" pitchFamily="49" charset="-122"/>
                  <a:ea typeface="Cambria Math" panose="02040503050406030204" pitchFamily="18" charset="0"/>
                  <a:sym typeface="Wingdings" panose="05000000000000000000" pitchFamily="2" charset="2"/>
                </a:endParaRPr>
              </a:p>
            </p:txBody>
          </p:sp>
        </mc:Choice>
        <mc:Fallback>
          <p:sp>
            <p:nvSpPr>
              <p:cNvPr id="2" name="标题 1"/>
              <p:cNvSpPr txBox="1">
                <a:spLocks noRot="1" noChangeAspect="1" noMove="1" noResize="1" noEditPoints="1" noAdjustHandles="1" noChangeArrowheads="1" noChangeShapeType="1" noTextEdit="1"/>
              </p:cNvSpPr>
              <p:nvPr/>
            </p:nvSpPr>
            <p:spPr>
              <a:xfrm>
                <a:off x="312203" y="2238496"/>
                <a:ext cx="8681720" cy="495935"/>
              </a:xfrm>
              <a:prstGeom prst="rect">
                <a:avLst/>
              </a:prstGeom>
              <a:blipFill rotWithShape="1">
                <a:blip r:embed="rId3"/>
                <a:stretch>
                  <a:fillRect l="-5" t="-3994" r="5" b="-40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231140" y="3819768"/>
                <a:ext cx="8681720"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zh-CN" altLang="en-US" sz="3200" dirty="0">
                        <a:latin typeface="Cambria Math" panose="02040503050406030204" pitchFamily="18" charset="0"/>
                        <a:ea typeface="楷体" panose="02010609060101010101" pitchFamily="49" charset="-122"/>
                        <a:sym typeface="Wingdings" panose="05000000000000000000" pitchFamily="2" charset="2"/>
                      </a:rPr>
                      <m:t>其中</m:t>
                    </m:r>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r>
                          <a:rPr lang="zh-CN" altLang="en-US" sz="3200" i="1" smtClean="0">
                            <a:latin typeface="Cambria Math" panose="02040503050406030204" pitchFamily="18" charset="0"/>
                            <a:ea typeface="Cambria Math" panose="02040503050406030204" pitchFamily="18" charset="0"/>
                            <a:sym typeface="Wingdings" panose="05000000000000000000" pitchFamily="2" charset="2"/>
                          </a:rPr>
                          <m:t>𝜌</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fName>
                      <m:e>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e>
                    </m:func>
                  </m:oMath>
                </a14:m>
                <a:r>
                  <a:rPr lang="en-US" altLang="zh-CN" sz="3200" dirty="0">
                    <a:latin typeface="楷体" panose="02010609060101010101" pitchFamily="49" charset="-122"/>
                    <a:ea typeface="Cambria Math" panose="02040503050406030204" pitchFamily="18" charset="0"/>
                    <a:sym typeface="Wingdings" panose="05000000000000000000" pitchFamily="2" charset="2"/>
                  </a:rPr>
                  <a:t>,</a:t>
                </a:r>
                <a:r>
                  <a:rPr lang="zh-CN" altLang="en-US" sz="3200" dirty="0">
                    <a:latin typeface="楷体" panose="02010609060101010101" pitchFamily="49" charset="-122"/>
                    <a:ea typeface="楷体" panose="02010609060101010101" pitchFamily="49" charset="-122"/>
                    <a:sym typeface="Wingdings" panose="05000000000000000000" pitchFamily="2" charset="2"/>
                  </a:rPr>
                  <a:t>称函数</a:t>
                </a:r>
                <a14:m>
                  <m:oMath xmlns:m="http://schemas.openxmlformats.org/officeDocument/2006/math">
                    <m:r>
                      <m:rPr>
                        <m:sty m:val="p"/>
                      </m:rPr>
                      <a:rPr lang="el-GR" altLang="zh-CN" sz="3200" i="1">
                        <a:latin typeface="Cambria Math" panose="02040503050406030204" pitchFamily="18" charset="0"/>
                        <a:ea typeface="Cambria Math" panose="02040503050406030204" pitchFamily="18" charset="0"/>
                        <a:sym typeface="Wingdings" panose="05000000000000000000" pitchFamily="2" charset="2"/>
                      </a:rPr>
                      <m:t>ω</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d>
                    <m:r>
                      <a:rPr lang="zh-CN" altLang="en-US" sz="3200" dirty="0">
                        <a:latin typeface="Cambria Math" panose="02040503050406030204" pitchFamily="18" charset="0"/>
                        <a:ea typeface="楷体" panose="02010609060101010101" pitchFamily="49" charset="-122"/>
                        <a:sym typeface="Wingdings" panose="05000000000000000000" pitchFamily="2" charset="2"/>
                      </a:rPr>
                      <m:t>在点</m:t>
                    </m:r>
                    <m:sSub>
                      <m:sSubPr>
                        <m:ctrlPr>
                          <a:rPr lang="el-GR" altLang="zh-CN" sz="320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sub>
                    </m:sSub>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的</a:t>
                </a:r>
                <a:r>
                  <a:rPr lang="zh-CN" altLang="en-US" sz="3200" dirty="0">
                    <a:solidFill>
                      <a:srgbClr val="FF0000"/>
                    </a:solidFill>
                    <a:latin typeface="楷体" panose="02010609060101010101" pitchFamily="49" charset="-122"/>
                    <a:ea typeface="楷体" panose="02010609060101010101" pitchFamily="49" charset="-122"/>
                    <a:sym typeface="Wingdings" panose="05000000000000000000" pitchFamily="2" charset="2"/>
                  </a:rPr>
                  <a:t>可微</a:t>
                </a:r>
                <a:r>
                  <a:rPr lang="zh-CN" altLang="en-US" sz="3200" dirty="0">
                    <a:latin typeface="楷体" panose="02010609060101010101" pitchFamily="49" charset="-122"/>
                    <a:ea typeface="Cambria Math" panose="02040503050406030204" pitchFamily="18" charset="0"/>
                    <a:sym typeface="Wingdings" panose="05000000000000000000" pitchFamily="2" charset="2"/>
                  </a:rPr>
                  <a:t>，</a:t>
                </a:r>
                <a:r>
                  <a:rPr lang="zh-CN" altLang="en-US" sz="3200" dirty="0">
                    <a:latin typeface="楷体" panose="02010609060101010101" pitchFamily="49" charset="-122"/>
                    <a:ea typeface="楷体" panose="02010609060101010101" pitchFamily="49" charset="-122"/>
                    <a:sym typeface="Wingdings" panose="05000000000000000000" pitchFamily="2" charset="2"/>
                  </a:rPr>
                  <a:t>并称</a:t>
                </a:r>
                <a14:m>
                  <m:oMath xmlns:m="http://schemas.openxmlformats.org/officeDocument/2006/math">
                    <m:sSup>
                      <m:sSup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e>
                      <m:sup>
                        <m:r>
                          <a:rPr lang="en-US" altLang="zh-CN" sz="3200" i="1">
                            <a:latin typeface="Cambria Math" panose="02040503050406030204" pitchFamily="18" charset="0"/>
                            <a:ea typeface="Cambria Math" panose="02040503050406030204" pitchFamily="18" charset="0"/>
                            <a:sym typeface="Wingdings" panose="05000000000000000000" pitchFamily="2" charset="2"/>
                          </a:rPr>
                          <m:t>′</m:t>
                        </m:r>
                      </m:sup>
                    </m:sSup>
                    <m:r>
                      <a:rPr lang="en-US" altLang="zh-CN" sz="3200" i="1">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sub>
                    </m:sSub>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r>
                      <a:rPr lang="zh-CN" altLang="en-US" sz="3200" dirty="0">
                        <a:latin typeface="Cambria Math" panose="02040503050406030204" pitchFamily="18" charset="0"/>
                        <a:ea typeface="楷体" panose="02010609060101010101" pitchFamily="49" charset="-122"/>
                        <a:sym typeface="Wingdings" panose="05000000000000000000" pitchFamily="2" charset="2"/>
                      </a:rPr>
                      <m:t>为函数</m:t>
                    </m:r>
                    <m:r>
                      <m:rPr>
                        <m:sty m:val="p"/>
                      </m:rPr>
                      <a:rPr lang="el-GR" altLang="zh-CN" sz="3200" i="1">
                        <a:latin typeface="Cambria Math" panose="02040503050406030204" pitchFamily="18" charset="0"/>
                        <a:ea typeface="Cambria Math" panose="02040503050406030204" pitchFamily="18" charset="0"/>
                        <a:sym typeface="Wingdings" panose="05000000000000000000" pitchFamily="2" charset="2"/>
                      </a:rPr>
                      <m:t>ω</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d>
                    <m:r>
                      <a:rPr lang="zh-CN" altLang="en-US" sz="3200" dirty="0">
                        <a:latin typeface="Cambria Math" panose="02040503050406030204" pitchFamily="18" charset="0"/>
                        <a:ea typeface="楷体" panose="02010609060101010101" pitchFamily="49" charset="-122"/>
                        <a:sym typeface="Wingdings" panose="05000000000000000000" pitchFamily="2" charset="2"/>
                      </a:rPr>
                      <m:t>在点</m:t>
                    </m:r>
                    <m:sSub>
                      <m:sSubPr>
                        <m:ctrlPr>
                          <a:rPr lang="el-GR"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sub>
                    </m:sSub>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的</a:t>
                </a:r>
                <a:r>
                  <a:rPr lang="zh-CN" altLang="en-US" sz="3200" dirty="0">
                    <a:solidFill>
                      <a:srgbClr val="FF0000"/>
                    </a:solidFill>
                    <a:latin typeface="楷体" panose="02010609060101010101" pitchFamily="49" charset="-122"/>
                    <a:ea typeface="楷体" panose="02010609060101010101" pitchFamily="49" charset="-122"/>
                    <a:sym typeface="Wingdings" panose="05000000000000000000" pitchFamily="2" charset="2"/>
                  </a:rPr>
                  <a:t>微分</a:t>
                </a:r>
                <a:r>
                  <a:rPr lang="zh-CN" altLang="en-US" sz="3200" dirty="0">
                    <a:latin typeface="楷体" panose="02010609060101010101" pitchFamily="49" charset="-122"/>
                    <a:ea typeface="Cambria Math" panose="02040503050406030204" pitchFamily="18" charset="0"/>
                    <a:sym typeface="Wingdings" panose="05000000000000000000" pitchFamily="2" charset="2"/>
                  </a:rPr>
                  <a:t>，</a:t>
                </a:r>
                <a:r>
                  <a:rPr lang="zh-CN" altLang="en-US" sz="3200" dirty="0">
                    <a:latin typeface="楷体" panose="02010609060101010101" pitchFamily="49" charset="-122"/>
                    <a:ea typeface="楷体" panose="02010609060101010101" pitchFamily="49" charset="-122"/>
                    <a:sym typeface="Wingdings" panose="05000000000000000000" pitchFamily="2" charset="2"/>
                  </a:rPr>
                  <a:t>记作</a:t>
                </a:r>
                <a14:m>
                  <m:oMath xmlns:m="http://schemas.openxmlformats.org/officeDocument/2006/math">
                    <m:r>
                      <m:rPr>
                        <m:sty m:val="p"/>
                      </m:rPr>
                      <a:rPr lang="en-US" altLang="zh-CN" sz="3200" b="0" i="0"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d</m:t>
                    </m:r>
                    <m:r>
                      <m:rPr>
                        <m:sty m:val="p"/>
                      </m:rPr>
                      <a:rPr lang="el-GR" altLang="zh-CN" sz="3200" i="1">
                        <a:solidFill>
                          <a:srgbClr val="FF0000"/>
                        </a:solidFill>
                        <a:latin typeface="Cambria Math" panose="02040503050406030204" pitchFamily="18" charset="0"/>
                        <a:ea typeface="Cambria Math" panose="02040503050406030204" pitchFamily="18" charset="0"/>
                        <a:sym typeface="Wingdings" panose="05000000000000000000" pitchFamily="2" charset="2"/>
                      </a:rPr>
                      <m:t>ω</m:t>
                    </m:r>
                    <m:r>
                      <a:rPr lang="en-US" altLang="zh-CN" sz="3200" i="1">
                        <a:solidFill>
                          <a:srgbClr val="FF0000"/>
                        </a:solidFill>
                        <a:latin typeface="Cambria Math" panose="02040503050406030204" pitchFamily="18" charset="0"/>
                        <a:ea typeface="Cambria Math" panose="02040503050406030204" pitchFamily="18" charset="0"/>
                        <a:sym typeface="Wingdings" panose="05000000000000000000" pitchFamily="2" charset="2"/>
                      </a:rPr>
                      <m:t>=</m:t>
                    </m:r>
                    <m:sSup>
                      <m:sSupPr>
                        <m:ctrlPr>
                          <a:rPr lang="en-US" altLang="zh-CN" sz="320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2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𝑓</m:t>
                        </m:r>
                      </m:e>
                      <m:sup>
                        <m:r>
                          <a:rPr lang="en-US" altLang="zh-CN" sz="32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m:t>
                        </m:r>
                      </m:sup>
                    </m:sSup>
                    <m:r>
                      <a:rPr lang="en-US" altLang="zh-CN" sz="32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𝑧</m:t>
                        </m:r>
                      </m:e>
                      <m:sub>
                        <m:r>
                          <a:rPr lang="en-US" altLang="zh-CN" sz="32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0</m:t>
                        </m:r>
                      </m:sub>
                    </m:sSub>
                    <m:r>
                      <a:rPr lang="en-US" altLang="zh-CN" sz="32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𝑧</m:t>
                    </m:r>
                  </m:oMath>
                </a14:m>
                <a:r>
                  <a:rPr lang="zh-CN" altLang="en-US" sz="3200" dirty="0">
                    <a:latin typeface="楷体" panose="02010609060101010101" pitchFamily="49" charset="-122"/>
                    <a:ea typeface="Cambria Math" panose="02040503050406030204" pitchFamily="18" charset="0"/>
                    <a:sym typeface="Wingdings" panose="05000000000000000000" pitchFamily="2" charset="2"/>
                  </a:rPr>
                  <a:t>。</a:t>
                </a:r>
                <a:endParaRPr lang="en-US" altLang="zh-CN" sz="3200" dirty="0">
                  <a:latin typeface="楷体" panose="02010609060101010101" pitchFamily="49" charset="-122"/>
                  <a:ea typeface="Cambria Math" panose="02040503050406030204" pitchFamily="18" charset="0"/>
                  <a:sym typeface="Wingdings" panose="05000000000000000000" pitchFamily="2" charset="2"/>
                </a:endParaRPr>
              </a:p>
              <a:p>
                <a:pPr>
                  <a:lnSpc>
                    <a:spcPct val="150000"/>
                  </a:lnSpc>
                </a:pPr>
                <a:endParaRPr lang="en-US" altLang="zh-CN" sz="1100" dirty="0">
                  <a:latin typeface="楷体" panose="02010609060101010101" pitchFamily="49" charset="-122"/>
                  <a:ea typeface="Cambria Math" panose="02040503050406030204" pitchFamily="18" charset="0"/>
                  <a:sym typeface="Wingdings" panose="05000000000000000000" pitchFamily="2" charset="2"/>
                </a:endParaRPr>
              </a:p>
            </p:txBody>
          </p:sp>
        </mc:Choice>
        <mc:Fallback>
          <p:sp>
            <p:nvSpPr>
              <p:cNvPr id="11" name="标题 1"/>
              <p:cNvSpPr txBox="1">
                <a:spLocks noRot="1" noChangeAspect="1" noMove="1" noResize="1" noEditPoints="1" noAdjustHandles="1" noChangeArrowheads="1" noChangeShapeType="1" noTextEdit="1"/>
              </p:cNvSpPr>
              <p:nvPr/>
            </p:nvSpPr>
            <p:spPr>
              <a:xfrm>
                <a:off x="231140" y="3819768"/>
                <a:ext cx="8681720" cy="495935"/>
              </a:xfrm>
              <a:prstGeom prst="rect">
                <a:avLst/>
              </a:prstGeom>
              <a:blipFill rotWithShape="1">
                <a:blip r:embed="rId4"/>
                <a:stretch>
                  <a:fillRect t="-161893" r="-1668" b="-161923"/>
                </a:stretch>
              </a:blipFill>
            </p:spPr>
            <p:txBody>
              <a:bodyPr/>
              <a:lstStyle/>
              <a:p>
                <a:r>
                  <a:rPr lang="zh-CN" altLang="en-US">
                    <a:noFill/>
                  </a:rPr>
                  <a:t> </a:t>
                </a:r>
              </a:p>
            </p:txBody>
          </p:sp>
        </mc:Fallback>
      </mc:AlternateContent>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12" name="直接连接符 11"/>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4" grpId="0"/>
      <p:bldP spid="8" grpId="0"/>
      <p:bldP spid="2"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122036" y="651393"/>
                <a:ext cx="5962615"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𝐸𝑔</m:t>
                    </m:r>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m:t>
                    </m:r>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𝑓</m:t>
                    </m:r>
                    <m:d>
                      <m:dPr>
                        <m:ctrlP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dPr>
                      <m:e>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𝑧</m:t>
                        </m:r>
                      </m:e>
                    </m:d>
                    <m:r>
                      <a:rPr lang="en-US" altLang="zh-CN" sz="3100" b="0" i="1"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r>
                      <a:rPr lang="en-US" altLang="zh-CN" sz="3100" b="0" i="1"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𝐶</m:t>
                    </m:r>
                  </m:oMath>
                </a14:m>
                <a:r>
                  <a:rPr lang="en-US" altLang="zh-CN"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a:t>
                </a:r>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证明</a:t>
                </a:r>
                <a14:m>
                  <m:oMath xmlns:m="http://schemas.openxmlformats.org/officeDocument/2006/math">
                    <m:sSup>
                      <m:sSupPr>
                        <m:ctrlPr>
                          <a:rPr lang="en-US" altLang="zh-CN" sz="310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𝑓</m:t>
                        </m:r>
                      </m:e>
                      <m:sup>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1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𝑧</m:t>
                        </m:r>
                      </m:e>
                    </m:d>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0</m:t>
                    </m:r>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 </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10" name="标题 1"/>
              <p:cNvSpPr txBox="1">
                <a:spLocks noRot="1" noChangeAspect="1" noMove="1" noResize="1" noEditPoints="1" noAdjustHandles="1" noChangeArrowheads="1" noChangeShapeType="1" noTextEdit="1"/>
              </p:cNvSpPr>
              <p:nvPr/>
            </p:nvSpPr>
            <p:spPr>
              <a:xfrm>
                <a:off x="122036" y="651393"/>
                <a:ext cx="5962615" cy="495935"/>
              </a:xfrm>
              <a:prstGeom prst="rect">
                <a:avLst/>
              </a:prstGeom>
              <a:blipFill rotWithShape="1">
                <a:blip r:embed="rId1"/>
                <a:stretch>
                  <a:fillRect l="-2" t="-21487" r="1" b="-21406"/>
                </a:stretch>
              </a:blipFill>
            </p:spPr>
            <p:txBody>
              <a:bodyPr/>
              <a:lstStyle/>
              <a:p>
                <a:r>
                  <a:rPr lang="zh-CN" altLang="en-US">
                    <a:noFill/>
                  </a:rPr>
                  <a:t> </a:t>
                </a:r>
              </a:p>
            </p:txBody>
          </p:sp>
        </mc:Fallback>
      </mc:AlternateContent>
      <p:sp>
        <p:nvSpPr>
          <p:cNvPr id="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标题 1"/>
              <p:cNvSpPr txBox="1"/>
              <p:nvPr/>
            </p:nvSpPr>
            <p:spPr>
              <a:xfrm>
                <a:off x="122035" y="1299903"/>
                <a:ext cx="4085178"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𝑝𝑓</m:t>
                    </m:r>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m:t>
                    </m:r>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根据导数定义有</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7" name="标题 1"/>
              <p:cNvSpPr txBox="1">
                <a:spLocks noRot="1" noChangeAspect="1" noMove="1" noResize="1" noEditPoints="1" noAdjustHandles="1" noChangeArrowheads="1" noChangeShapeType="1" noTextEdit="1"/>
              </p:cNvSpPr>
              <p:nvPr/>
            </p:nvSpPr>
            <p:spPr>
              <a:xfrm>
                <a:off x="122035" y="1299903"/>
                <a:ext cx="4085178" cy="495935"/>
              </a:xfrm>
              <a:prstGeom prst="rect">
                <a:avLst/>
              </a:prstGeom>
              <a:blipFill rotWithShape="1">
                <a:blip r:embed="rId2"/>
                <a:stretch>
                  <a:fillRect l="-3" t="-21395" r="8" b="-2149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793039" y="2050230"/>
                <a:ext cx="6677804"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sSup>
                      <m:sSupPr>
                        <m:ctrlPr>
                          <a:rPr lang="en-US" altLang="zh-CN" sz="320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i="1">
                            <a:latin typeface="Cambria Math" panose="02040503050406030204" pitchFamily="18" charset="0"/>
                            <a:ea typeface="楷体" panose="02010609060101010101" pitchFamily="49" charset="-122"/>
                            <a:sym typeface="Wingdings" panose="05000000000000000000" pitchFamily="2" charset="2"/>
                          </a:rPr>
                          <m:t>𝑓</m:t>
                        </m:r>
                      </m:e>
                      <m:sup>
                        <m:r>
                          <a:rPr lang="en-US" altLang="zh-CN" sz="3200" i="1">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i="1">
                        <a:latin typeface="Cambria Math" panose="02040503050406030204" pitchFamily="18" charset="0"/>
                        <a:ea typeface="楷体" panose="02010609060101010101" pitchFamily="49" charset="-122"/>
                        <a:sym typeface="Wingdings" panose="05000000000000000000" pitchFamily="2" charset="2"/>
                      </a:rPr>
                      <m:t>=</m:t>
                    </m:r>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num>
                          <m:den>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den>
                        </m:f>
                      </m:e>
                    </m:func>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 </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8" name="标题 1"/>
              <p:cNvSpPr txBox="1">
                <a:spLocks noRot="1" noChangeAspect="1" noMove="1" noResize="1" noEditPoints="1" noAdjustHandles="1" noChangeArrowheads="1" noChangeShapeType="1" noTextEdit="1"/>
              </p:cNvSpPr>
              <p:nvPr/>
            </p:nvSpPr>
            <p:spPr>
              <a:xfrm>
                <a:off x="793039" y="2050230"/>
                <a:ext cx="6677804" cy="495935"/>
              </a:xfrm>
              <a:prstGeom prst="rect">
                <a:avLst/>
              </a:prstGeom>
              <a:blipFill rotWithShape="1">
                <a:blip r:embed="rId3"/>
                <a:stretch>
                  <a:fillRect l="-8" t="-64367" r="1" b="-643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5168395" y="2050229"/>
                <a:ext cx="3182566"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楷体" panose="02010609060101010101" pitchFamily="49" charset="-122"/>
                          <a:sym typeface="Wingdings" panose="05000000000000000000" pitchFamily="2" charset="2"/>
                        </a:rPr>
                        <m:t>=</m:t>
                      </m:r>
                      <m:func>
                        <m:func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2800">
                                  <a:latin typeface="Cambria Math" panose="02040503050406030204" pitchFamily="18" charset="0"/>
                                  <a:ea typeface="楷体" panose="02010609060101010101" pitchFamily="49" charset="-122"/>
                                  <a:sym typeface="Wingdings" panose="05000000000000000000" pitchFamily="2" charset="2"/>
                                </a:rPr>
                                <m:t>lim</m:t>
                              </m:r>
                            </m:e>
                            <m:lim>
                              <m:r>
                                <a:rPr lang="en-US" altLang="zh-CN" sz="2800" i="1">
                                  <a:latin typeface="Cambria Math" panose="02040503050406030204" pitchFamily="18" charset="0"/>
                                  <a:ea typeface="楷体" panose="02010609060101010101" pitchFamily="49" charset="-122"/>
                                  <a:sym typeface="Wingdings" panose="05000000000000000000" pitchFamily="2" charset="2"/>
                                </a:rPr>
                                <m:t>∆</m:t>
                              </m:r>
                              <m:r>
                                <a:rPr lang="en-US" altLang="zh-CN" sz="2800" i="1">
                                  <a:latin typeface="Cambria Math" panose="02040503050406030204" pitchFamily="18" charset="0"/>
                                  <a:ea typeface="楷体" panose="02010609060101010101" pitchFamily="49" charset="-122"/>
                                  <a:sym typeface="Wingdings" panose="05000000000000000000" pitchFamily="2" charset="2"/>
                                </a:rPr>
                                <m:t>𝑧</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𝐶</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𝐶</m:t>
                              </m:r>
                            </m:num>
                            <m:den>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den>
                          </m:f>
                        </m:e>
                      </m:func>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0</m:t>
                      </m:r>
                    </m:oMath>
                  </m:oMathPara>
                </a14:m>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9" name="标题 1"/>
              <p:cNvSpPr txBox="1">
                <a:spLocks noRot="1" noChangeAspect="1" noMove="1" noResize="1" noEditPoints="1" noAdjustHandles="1" noChangeArrowheads="1" noChangeShapeType="1" noTextEdit="1"/>
              </p:cNvSpPr>
              <p:nvPr/>
            </p:nvSpPr>
            <p:spPr>
              <a:xfrm>
                <a:off x="5168395" y="2050229"/>
                <a:ext cx="3182566" cy="495935"/>
              </a:xfrm>
              <a:prstGeom prst="rect">
                <a:avLst/>
              </a:prstGeom>
              <a:blipFill rotWithShape="1">
                <a:blip r:embed="rId4"/>
                <a:stretch>
                  <a:fillRect l="-4" t="-69745" r="2" b="-698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122035" y="3288921"/>
                <a:ext cx="8803093" cy="52400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𝐸𝑔</m:t>
                    </m:r>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m:t>
                    </m:r>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𝑃</m:t>
                    </m:r>
                    <m:d>
                      <m:dPr>
                        <m:ctrlP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dPr>
                      <m:e>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𝑧</m:t>
                        </m:r>
                      </m:e>
                    </m:d>
                    <m:r>
                      <a:rPr lang="en-US" altLang="zh-CN" sz="3100" b="0" i="1"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sSub>
                      <m:sSubPr>
                        <m:ctrlPr>
                          <a:rPr lang="en-US" altLang="zh-CN" sz="3100" b="0" i="1" smtClean="0">
                            <a:latin typeface="Cambria Math" panose="02040503050406030204" pitchFamily="18" charset="0"/>
                            <a:ea typeface="MS Mincho" panose="02020609040205080304" charset="-128"/>
                            <a:sym typeface="Wingdings" panose="05000000000000000000" pitchFamily="2" charset="2"/>
                          </a:rPr>
                        </m:ctrlPr>
                      </m:sSubPr>
                      <m:e>
                        <m:r>
                          <a:rPr lang="en-US" altLang="zh-CN" sz="3100" b="0" i="1" smtClean="0">
                            <a:latin typeface="Cambria Math" panose="02040503050406030204" pitchFamily="18" charset="0"/>
                            <a:ea typeface="MS Mincho" panose="02020609040205080304" charset="-128"/>
                            <a:sym typeface="Wingdings" panose="05000000000000000000" pitchFamily="2" charset="2"/>
                          </a:rPr>
                          <m:t>𝑎</m:t>
                        </m:r>
                      </m:e>
                      <m:sub>
                        <m:r>
                          <a:rPr lang="en-US" altLang="zh-CN" sz="3100" b="0" i="1" smtClean="0">
                            <a:latin typeface="Cambria Math" panose="02040503050406030204" pitchFamily="18" charset="0"/>
                            <a:ea typeface="MS Mincho" panose="02020609040205080304" charset="-128"/>
                            <a:sym typeface="Wingdings" panose="05000000000000000000" pitchFamily="2" charset="2"/>
                          </a:rPr>
                          <m:t>0</m:t>
                        </m:r>
                      </m:sub>
                    </m:sSub>
                    <m:r>
                      <a:rPr lang="en-US" altLang="zh-CN" sz="3100" b="0" i="1" smtClean="0">
                        <a:latin typeface="Cambria Math" panose="02040503050406030204" pitchFamily="18" charset="0"/>
                        <a:ea typeface="MS Mincho" panose="02020609040205080304" charset="-128"/>
                        <a:sym typeface="Wingdings" panose="05000000000000000000" pitchFamily="2" charset="2"/>
                      </a:rPr>
                      <m:t>+</m:t>
                    </m:r>
                    <m:sSub>
                      <m:sSubPr>
                        <m:ctrlPr>
                          <a:rPr lang="en-US" altLang="zh-CN" sz="3100" b="0" i="1" smtClean="0">
                            <a:latin typeface="Cambria Math" panose="02040503050406030204" pitchFamily="18" charset="0"/>
                            <a:ea typeface="MS Mincho" panose="02020609040205080304" charset="-128"/>
                            <a:sym typeface="Wingdings" panose="05000000000000000000" pitchFamily="2" charset="2"/>
                          </a:rPr>
                        </m:ctrlPr>
                      </m:sSubPr>
                      <m:e>
                        <m:r>
                          <a:rPr lang="en-US" altLang="zh-CN" sz="3100" b="0" i="1" smtClean="0">
                            <a:latin typeface="Cambria Math" panose="02040503050406030204" pitchFamily="18" charset="0"/>
                            <a:ea typeface="MS Mincho" panose="02020609040205080304" charset="-128"/>
                            <a:sym typeface="Wingdings" panose="05000000000000000000" pitchFamily="2" charset="2"/>
                          </a:rPr>
                          <m:t>𝑎</m:t>
                        </m:r>
                      </m:e>
                      <m:sub>
                        <m:r>
                          <a:rPr lang="en-US" altLang="zh-CN" sz="3100" b="0" i="1" smtClean="0">
                            <a:latin typeface="Cambria Math" panose="02040503050406030204" pitchFamily="18" charset="0"/>
                            <a:ea typeface="MS Mincho" panose="02020609040205080304" charset="-128"/>
                            <a:sym typeface="Wingdings" panose="05000000000000000000" pitchFamily="2" charset="2"/>
                          </a:rPr>
                          <m:t>1</m:t>
                        </m:r>
                      </m:sub>
                    </m:sSub>
                    <m:r>
                      <a:rPr lang="en-US" altLang="zh-CN" sz="3100" b="0" i="1" smtClean="0">
                        <a:latin typeface="Cambria Math" panose="02040503050406030204" pitchFamily="18" charset="0"/>
                        <a:ea typeface="MS Mincho" panose="02020609040205080304" charset="-128"/>
                        <a:sym typeface="Wingdings" panose="05000000000000000000" pitchFamily="2" charset="2"/>
                      </a:rPr>
                      <m:t>𝑧</m:t>
                    </m:r>
                    <m:r>
                      <a:rPr lang="en-US" altLang="zh-CN" sz="3100" b="0" i="1" smtClean="0">
                        <a:latin typeface="Cambria Math" panose="02040503050406030204" pitchFamily="18" charset="0"/>
                        <a:ea typeface="MS Mincho" panose="02020609040205080304" charset="-128"/>
                        <a:sym typeface="Wingdings" panose="05000000000000000000" pitchFamily="2" charset="2"/>
                      </a:rPr>
                      <m:t>+⋯+</m:t>
                    </m:r>
                    <m:sSub>
                      <m:sSubPr>
                        <m:ctrlPr>
                          <a:rPr lang="en-US" altLang="zh-CN" sz="31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100" b="0" i="1" smtClean="0">
                            <a:latin typeface="Cambria Math" panose="02040503050406030204" pitchFamily="18" charset="0"/>
                            <a:ea typeface="Cambria Math" panose="02040503050406030204" pitchFamily="18" charset="0"/>
                            <a:sym typeface="Wingdings" panose="05000000000000000000" pitchFamily="2" charset="2"/>
                          </a:rPr>
                          <m:t>𝑎</m:t>
                        </m:r>
                      </m:e>
                      <m:sub>
                        <m:r>
                          <a:rPr lang="en-US" altLang="zh-CN" sz="3100" b="0" i="1" smtClean="0">
                            <a:latin typeface="Cambria Math" panose="02040503050406030204" pitchFamily="18" charset="0"/>
                            <a:ea typeface="Cambria Math" panose="02040503050406030204" pitchFamily="18" charset="0"/>
                            <a:sym typeface="Wingdings" panose="05000000000000000000" pitchFamily="2" charset="2"/>
                          </a:rPr>
                          <m:t>𝑛</m:t>
                        </m:r>
                      </m:sub>
                    </m:sSub>
                    <m:sSup>
                      <m:sSupPr>
                        <m:ctrlPr>
                          <a:rPr lang="en-US" altLang="zh-CN" sz="3100" b="0" i="1" smtClean="0">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100" b="0" i="1" smtClean="0">
                            <a:latin typeface="Cambria Math" panose="02040503050406030204" pitchFamily="18" charset="0"/>
                            <a:ea typeface="Cambria Math" panose="02040503050406030204" pitchFamily="18" charset="0"/>
                            <a:sym typeface="Wingdings" panose="05000000000000000000" pitchFamily="2" charset="2"/>
                          </a:rPr>
                          <m:t>𝑧</m:t>
                        </m:r>
                      </m:e>
                      <m:sup>
                        <m:r>
                          <a:rPr lang="en-US" altLang="zh-CN" sz="3100" b="0" i="1" smtClean="0">
                            <a:latin typeface="Cambria Math" panose="02040503050406030204" pitchFamily="18" charset="0"/>
                            <a:ea typeface="Cambria Math" panose="02040503050406030204" pitchFamily="18" charset="0"/>
                            <a:sym typeface="Wingdings" panose="05000000000000000000" pitchFamily="2" charset="2"/>
                          </a:rPr>
                          <m:t>𝑛</m:t>
                        </m:r>
                      </m:sup>
                    </m:sSup>
                  </m:oMath>
                </a14:m>
                <a:r>
                  <a:rPr lang="en-US" altLang="zh-CN"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a:t>
                </a:r>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证明</a:t>
                </a:r>
                <a14:m>
                  <m:oMath xmlns:m="http://schemas.openxmlformats.org/officeDocument/2006/math">
                    <m:sSup>
                      <m:sSupPr>
                        <m:ctrlPr>
                          <a:rPr lang="en-US" altLang="zh-CN" sz="310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𝑃</m:t>
                        </m:r>
                      </m:e>
                      <m:sup>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dPr>
                      <m:e>
                        <m: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𝑧</m:t>
                        </m:r>
                      </m:e>
                    </m:d>
                    <m:r>
                      <a:rPr lang="en-US" altLang="zh-CN" sz="3100" i="1">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sSub>
                      <m:sSubPr>
                        <m:ctrlPr>
                          <a:rPr lang="en-US" altLang="zh-CN" sz="3100" i="1">
                            <a:latin typeface="Cambria Math" panose="02040503050406030204" pitchFamily="18" charset="0"/>
                            <a:ea typeface="MS Mincho" panose="02020609040205080304" charset="-128"/>
                            <a:sym typeface="Wingdings" panose="05000000000000000000" pitchFamily="2" charset="2"/>
                          </a:rPr>
                        </m:ctrlPr>
                      </m:sSubPr>
                      <m:e>
                        <m:r>
                          <a:rPr lang="en-US" altLang="zh-CN" sz="3100" i="1">
                            <a:latin typeface="Cambria Math" panose="02040503050406030204" pitchFamily="18" charset="0"/>
                            <a:ea typeface="MS Mincho" panose="02020609040205080304" charset="-128"/>
                            <a:sym typeface="Wingdings" panose="05000000000000000000" pitchFamily="2" charset="2"/>
                          </a:rPr>
                          <m:t>𝑎</m:t>
                        </m:r>
                      </m:e>
                      <m:sub>
                        <m:r>
                          <a:rPr lang="en-US" altLang="zh-CN" sz="3100" i="1">
                            <a:latin typeface="Cambria Math" panose="02040503050406030204" pitchFamily="18" charset="0"/>
                            <a:ea typeface="MS Mincho" panose="02020609040205080304" charset="-128"/>
                            <a:sym typeface="Wingdings" panose="05000000000000000000" pitchFamily="2" charset="2"/>
                          </a:rPr>
                          <m:t>1</m:t>
                        </m:r>
                      </m:sub>
                    </m:sSub>
                  </m:oMath>
                </a14:m>
                <a:endParaRPr lang="en-US" altLang="zh-CN" sz="3100" i="1" dirty="0">
                  <a:latin typeface="Cambria Math" panose="02040503050406030204" pitchFamily="18" charset="0"/>
                  <a:ea typeface="MS Mincho" panose="02020609040205080304" charset="-128"/>
                  <a:sym typeface="Wingdings" panose="05000000000000000000" pitchFamily="2" charset="2"/>
                </a:endParaRPr>
              </a:p>
              <a:p>
                <a:pPr>
                  <a:lnSpc>
                    <a:spcPct val="150000"/>
                  </a:lnSpc>
                </a:pPr>
                <a14:m>
                  <m:oMath xmlns:m="http://schemas.openxmlformats.org/officeDocument/2006/math">
                    <m:r>
                      <a:rPr lang="en-US" altLang="zh-CN" sz="3100" i="1">
                        <a:latin typeface="Cambria Math" panose="02040503050406030204" pitchFamily="18" charset="0"/>
                        <a:ea typeface="MS Mincho" panose="02020609040205080304" charset="-128"/>
                        <a:sym typeface="Wingdings" panose="05000000000000000000" pitchFamily="2" charset="2"/>
                      </a:rPr>
                      <m:t>+</m:t>
                    </m:r>
                    <m:r>
                      <a:rPr lang="en-US" altLang="zh-CN" sz="3100" b="0" i="1" smtClean="0">
                        <a:latin typeface="Cambria Math" panose="02040503050406030204" pitchFamily="18" charset="0"/>
                        <a:ea typeface="MS Mincho" panose="02020609040205080304" charset="-128"/>
                        <a:sym typeface="Wingdings" panose="05000000000000000000" pitchFamily="2" charset="2"/>
                      </a:rPr>
                      <m:t>2</m:t>
                    </m:r>
                    <m:sSub>
                      <m:sSubPr>
                        <m:ctrlPr>
                          <a:rPr lang="en-US" altLang="zh-CN" sz="3100" i="1">
                            <a:latin typeface="Cambria Math" panose="02040503050406030204" pitchFamily="18" charset="0"/>
                            <a:ea typeface="MS Mincho" panose="02020609040205080304" charset="-128"/>
                            <a:sym typeface="Wingdings" panose="05000000000000000000" pitchFamily="2" charset="2"/>
                          </a:rPr>
                        </m:ctrlPr>
                      </m:sSubPr>
                      <m:e>
                        <m:r>
                          <a:rPr lang="en-US" altLang="zh-CN" sz="3100" i="1">
                            <a:latin typeface="Cambria Math" panose="02040503050406030204" pitchFamily="18" charset="0"/>
                            <a:ea typeface="MS Mincho" panose="02020609040205080304" charset="-128"/>
                            <a:sym typeface="Wingdings" panose="05000000000000000000" pitchFamily="2" charset="2"/>
                          </a:rPr>
                          <m:t>𝑎</m:t>
                        </m:r>
                      </m:e>
                      <m:sub>
                        <m:r>
                          <a:rPr lang="en-US" altLang="zh-CN" sz="3100" i="1">
                            <a:latin typeface="Cambria Math" panose="02040503050406030204" pitchFamily="18" charset="0"/>
                            <a:ea typeface="MS Mincho" panose="02020609040205080304" charset="-128"/>
                            <a:sym typeface="Wingdings" panose="05000000000000000000" pitchFamily="2" charset="2"/>
                          </a:rPr>
                          <m:t>2</m:t>
                        </m:r>
                      </m:sub>
                    </m:sSub>
                    <m:r>
                      <a:rPr lang="en-US" altLang="zh-CN" sz="3100" b="0" i="1" smtClean="0">
                        <a:latin typeface="Cambria Math" panose="02040503050406030204" pitchFamily="18" charset="0"/>
                        <a:ea typeface="MS Mincho" panose="02020609040205080304" charset="-128"/>
                        <a:sym typeface="Wingdings" panose="05000000000000000000" pitchFamily="2" charset="2"/>
                      </a:rPr>
                      <m:t>𝑧</m:t>
                    </m:r>
                    <m:r>
                      <a:rPr lang="en-US" altLang="zh-CN" sz="3100" b="0" i="1" smtClean="0">
                        <a:latin typeface="Cambria Math" panose="02040503050406030204" pitchFamily="18" charset="0"/>
                        <a:ea typeface="MS Mincho" panose="02020609040205080304" charset="-128"/>
                        <a:sym typeface="Wingdings" panose="05000000000000000000" pitchFamily="2" charset="2"/>
                      </a:rPr>
                      <m:t>+⋯+</m:t>
                    </m:r>
                    <m:r>
                      <a:rPr lang="en-US" altLang="zh-CN" sz="3100" b="0" i="1" smtClean="0">
                        <a:latin typeface="Cambria Math" panose="02040503050406030204" pitchFamily="18" charset="0"/>
                        <a:ea typeface="MS Mincho" panose="02020609040205080304" charset="-128"/>
                        <a:sym typeface="Wingdings" panose="05000000000000000000" pitchFamily="2" charset="2"/>
                      </a:rPr>
                      <m:t>𝑛</m:t>
                    </m:r>
                    <m:sSub>
                      <m:sSubPr>
                        <m:ctrlPr>
                          <a:rPr lang="en-US" altLang="zh-CN" sz="31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100" i="1">
                            <a:latin typeface="Cambria Math" panose="02040503050406030204" pitchFamily="18" charset="0"/>
                            <a:ea typeface="Cambria Math" panose="02040503050406030204" pitchFamily="18" charset="0"/>
                            <a:sym typeface="Wingdings" panose="05000000000000000000" pitchFamily="2" charset="2"/>
                          </a:rPr>
                          <m:t>𝑎</m:t>
                        </m:r>
                      </m:e>
                      <m:sub>
                        <m:r>
                          <a:rPr lang="en-US" altLang="zh-CN" sz="3100" i="1">
                            <a:latin typeface="Cambria Math" panose="02040503050406030204" pitchFamily="18" charset="0"/>
                            <a:ea typeface="Cambria Math" panose="02040503050406030204" pitchFamily="18" charset="0"/>
                            <a:sym typeface="Wingdings" panose="05000000000000000000" pitchFamily="2" charset="2"/>
                          </a:rPr>
                          <m:t>𝑛</m:t>
                        </m:r>
                      </m:sub>
                    </m:sSub>
                    <m:sSup>
                      <m:sSupPr>
                        <m:ctrlPr>
                          <a:rPr lang="en-US" altLang="zh-CN" sz="3100" i="1">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100" i="1">
                            <a:latin typeface="Cambria Math" panose="02040503050406030204" pitchFamily="18" charset="0"/>
                            <a:ea typeface="Cambria Math" panose="02040503050406030204" pitchFamily="18" charset="0"/>
                            <a:sym typeface="Wingdings" panose="05000000000000000000" pitchFamily="2" charset="2"/>
                          </a:rPr>
                          <m:t>𝑧</m:t>
                        </m:r>
                      </m:e>
                      <m:sup>
                        <m:r>
                          <a:rPr lang="en-US" altLang="zh-CN" sz="3100" i="1">
                            <a:latin typeface="Cambria Math" panose="02040503050406030204" pitchFamily="18" charset="0"/>
                            <a:ea typeface="Cambria Math" panose="02040503050406030204" pitchFamily="18" charset="0"/>
                            <a:sym typeface="Wingdings" panose="05000000000000000000" pitchFamily="2" charset="2"/>
                          </a:rPr>
                          <m:t>𝑛</m:t>
                        </m:r>
                        <m:r>
                          <a:rPr lang="en-US" altLang="zh-CN" sz="31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100" b="0" i="1" smtClean="0">
                            <a:latin typeface="Cambria Math" panose="02040503050406030204" pitchFamily="18" charset="0"/>
                            <a:ea typeface="Cambria Math" panose="02040503050406030204" pitchFamily="18" charset="0"/>
                            <a:sym typeface="Wingdings" panose="05000000000000000000" pitchFamily="2" charset="2"/>
                          </a:rPr>
                          <m:t>1</m:t>
                        </m:r>
                      </m:sup>
                    </m:sSup>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 </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11" name="标题 1"/>
              <p:cNvSpPr txBox="1">
                <a:spLocks noRot="1" noChangeAspect="1" noMove="1" noResize="1" noEditPoints="1" noAdjustHandles="1" noChangeArrowheads="1" noChangeShapeType="1" noTextEdit="1"/>
              </p:cNvSpPr>
              <p:nvPr/>
            </p:nvSpPr>
            <p:spPr>
              <a:xfrm>
                <a:off x="122035" y="3288921"/>
                <a:ext cx="8803093" cy="524008"/>
              </a:xfrm>
              <a:prstGeom prst="rect">
                <a:avLst/>
              </a:prstGeom>
              <a:blipFill rotWithShape="1">
                <a:blip r:embed="rId5"/>
                <a:stretch>
                  <a:fillRect l="-1" t="-87178" r="2" b="-871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167431" y="4380328"/>
                <a:ext cx="4837450"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𝑝𝑓</m:t>
                    </m:r>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m:t>
                    </m:r>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根据导数运算法则，有</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12" name="标题 1"/>
              <p:cNvSpPr txBox="1">
                <a:spLocks noRot="1" noChangeAspect="1" noMove="1" noResize="1" noEditPoints="1" noAdjustHandles="1" noChangeArrowheads="1" noChangeShapeType="1" noTextEdit="1"/>
              </p:cNvSpPr>
              <p:nvPr/>
            </p:nvSpPr>
            <p:spPr>
              <a:xfrm>
                <a:off x="167431" y="4380328"/>
                <a:ext cx="4837450" cy="495935"/>
              </a:xfrm>
              <a:prstGeom prst="rect">
                <a:avLst/>
              </a:prstGeom>
              <a:blipFill rotWithShape="1">
                <a:blip r:embed="rId6"/>
                <a:stretch>
                  <a:fillRect l="-9" t="-21403" r="9" b="-214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862965" y="5015865"/>
                <a:ext cx="7487920" cy="5238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sSup>
                      <m:sSupPr>
                        <m:ctrlPr>
                          <a:rPr lang="en-US" altLang="zh-CN" sz="310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𝑃</m:t>
                        </m:r>
                      </m:e>
                      <m:sup>
                        <m:r>
                          <a:rPr lang="en-US" altLang="zh-CN" sz="3100" b="0" i="1" smtClean="0">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dPr>
                      <m:e>
                        <m: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𝑧</m:t>
                        </m:r>
                      </m:e>
                    </m:d>
                    <m:r>
                      <a:rPr lang="en-US" altLang="zh-CN" sz="3100" i="1">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sSup>
                      <m:sSupPr>
                        <m:ctrlPr>
                          <a:rPr lang="en-US" altLang="zh-CN" sz="3100" i="1" smtClean="0">
                            <a:latin typeface="Cambria Math" panose="02040503050406030204" pitchFamily="18" charset="0"/>
                            <a:ea typeface="MS Mincho" panose="02020609040205080304" charset="-128"/>
                            <a:sym typeface="Wingdings" panose="05000000000000000000" pitchFamily="2" charset="2"/>
                          </a:rPr>
                        </m:ctrlPr>
                      </m:sSupPr>
                      <m:e>
                        <m:r>
                          <a:rPr lang="en-US" altLang="zh-CN" sz="3100" b="0" i="1" smtClean="0">
                            <a:latin typeface="Cambria Math" panose="02040503050406030204" pitchFamily="18" charset="0"/>
                            <a:ea typeface="MS Mincho" panose="02020609040205080304" charset="-128"/>
                            <a:sym typeface="Wingdings" panose="05000000000000000000" pitchFamily="2" charset="2"/>
                          </a:rPr>
                          <m:t>(</m:t>
                        </m:r>
                        <m:sSub>
                          <m:sSubPr>
                            <m:ctrlPr>
                              <a:rPr lang="en-US" altLang="zh-CN" sz="3100" i="1">
                                <a:latin typeface="Cambria Math" panose="02040503050406030204" pitchFamily="18" charset="0"/>
                                <a:ea typeface="MS Mincho" panose="02020609040205080304" charset="-128"/>
                                <a:sym typeface="Wingdings" panose="05000000000000000000" pitchFamily="2" charset="2"/>
                              </a:rPr>
                            </m:ctrlPr>
                          </m:sSubPr>
                          <m:e>
                            <m:r>
                              <a:rPr lang="en-US" altLang="zh-CN" sz="3100" i="1">
                                <a:latin typeface="Cambria Math" panose="02040503050406030204" pitchFamily="18" charset="0"/>
                                <a:ea typeface="MS Mincho" panose="02020609040205080304" charset="-128"/>
                                <a:sym typeface="Wingdings" panose="05000000000000000000" pitchFamily="2" charset="2"/>
                              </a:rPr>
                              <m:t>𝑎</m:t>
                            </m:r>
                          </m:e>
                          <m:sub>
                            <m:r>
                              <a:rPr lang="en-US" altLang="zh-CN" sz="3100" i="1">
                                <a:latin typeface="Cambria Math" panose="02040503050406030204" pitchFamily="18" charset="0"/>
                                <a:ea typeface="MS Mincho" panose="02020609040205080304" charset="-128"/>
                                <a:sym typeface="Wingdings" panose="05000000000000000000" pitchFamily="2" charset="2"/>
                              </a:rPr>
                              <m:t>0</m:t>
                            </m:r>
                          </m:sub>
                        </m:sSub>
                        <m:r>
                          <a:rPr lang="en-US" altLang="zh-CN" sz="3100" b="0" i="1" smtClean="0">
                            <a:latin typeface="Cambria Math" panose="02040503050406030204" pitchFamily="18" charset="0"/>
                            <a:ea typeface="MS Mincho" panose="02020609040205080304" charset="-128"/>
                            <a:sym typeface="Wingdings" panose="05000000000000000000" pitchFamily="2" charset="2"/>
                          </a:rPr>
                          <m:t>)</m:t>
                        </m:r>
                      </m:e>
                      <m:sup>
                        <m:r>
                          <a:rPr lang="en-US" altLang="zh-CN" sz="3100" b="0" i="1" smtClean="0">
                            <a:latin typeface="Cambria Math" panose="02040503050406030204" pitchFamily="18" charset="0"/>
                            <a:ea typeface="MS Mincho" panose="02020609040205080304" charset="-128"/>
                            <a:sym typeface="Wingdings" panose="05000000000000000000" pitchFamily="2" charset="2"/>
                          </a:rPr>
                          <m:t>′</m:t>
                        </m:r>
                      </m:sup>
                    </m:sSup>
                    <m:r>
                      <a:rPr lang="en-US" altLang="zh-CN" sz="3100" b="0" i="1" smtClean="0">
                        <a:latin typeface="Cambria Math" panose="02040503050406030204" pitchFamily="18" charset="0"/>
                        <a:ea typeface="MS Mincho" panose="02020609040205080304" charset="-128"/>
                        <a:sym typeface="Wingdings" panose="05000000000000000000" pitchFamily="2" charset="2"/>
                      </a:rPr>
                      <m:t>+</m:t>
                    </m:r>
                    <m:sSup>
                      <m:sSupPr>
                        <m:ctrlPr>
                          <a:rPr lang="en-US" altLang="zh-CN" sz="3100" i="1">
                            <a:latin typeface="Cambria Math" panose="02040503050406030204" pitchFamily="18" charset="0"/>
                            <a:ea typeface="MS Mincho" panose="02020609040205080304" charset="-128"/>
                            <a:sym typeface="Wingdings" panose="05000000000000000000" pitchFamily="2" charset="2"/>
                          </a:rPr>
                        </m:ctrlPr>
                      </m:sSupPr>
                      <m:e>
                        <m:r>
                          <a:rPr lang="en-US" altLang="zh-CN" sz="3100" i="1">
                            <a:latin typeface="Cambria Math" panose="02040503050406030204" pitchFamily="18" charset="0"/>
                            <a:ea typeface="MS Mincho" panose="02020609040205080304" charset="-128"/>
                            <a:sym typeface="Wingdings" panose="05000000000000000000" pitchFamily="2" charset="2"/>
                          </a:rPr>
                          <m:t>(</m:t>
                        </m:r>
                        <m:sSub>
                          <m:sSubPr>
                            <m:ctrlPr>
                              <a:rPr lang="en-US" altLang="zh-CN" sz="3100" i="1">
                                <a:latin typeface="Cambria Math" panose="02040503050406030204" pitchFamily="18" charset="0"/>
                                <a:ea typeface="MS Mincho" panose="02020609040205080304" charset="-128"/>
                                <a:sym typeface="Wingdings" panose="05000000000000000000" pitchFamily="2" charset="2"/>
                              </a:rPr>
                            </m:ctrlPr>
                          </m:sSubPr>
                          <m:e>
                            <m:r>
                              <a:rPr lang="en-US" altLang="zh-CN" sz="3100" i="1">
                                <a:latin typeface="Cambria Math" panose="02040503050406030204" pitchFamily="18" charset="0"/>
                                <a:ea typeface="MS Mincho" panose="02020609040205080304" charset="-128"/>
                                <a:sym typeface="Wingdings" panose="05000000000000000000" pitchFamily="2" charset="2"/>
                              </a:rPr>
                              <m:t>𝑎</m:t>
                            </m:r>
                          </m:e>
                          <m:sub>
                            <m:r>
                              <a:rPr lang="en-US" altLang="zh-CN" sz="3100" i="1">
                                <a:latin typeface="Cambria Math" panose="02040503050406030204" pitchFamily="18" charset="0"/>
                                <a:ea typeface="MS Mincho" panose="02020609040205080304" charset="-128"/>
                                <a:sym typeface="Wingdings" panose="05000000000000000000" pitchFamily="2" charset="2"/>
                              </a:rPr>
                              <m:t>1</m:t>
                            </m:r>
                          </m:sub>
                        </m:sSub>
                        <m:r>
                          <a:rPr lang="en-US" altLang="zh-CN" sz="3100" i="1">
                            <a:latin typeface="Cambria Math" panose="02040503050406030204" pitchFamily="18" charset="0"/>
                            <a:ea typeface="MS Mincho" panose="02020609040205080304" charset="-128"/>
                            <a:sym typeface="Wingdings" panose="05000000000000000000" pitchFamily="2" charset="2"/>
                          </a:rPr>
                          <m:t>𝑧</m:t>
                        </m:r>
                        <m:r>
                          <a:rPr lang="en-US" altLang="zh-CN" sz="3100" i="1">
                            <a:latin typeface="Cambria Math" panose="02040503050406030204" pitchFamily="18" charset="0"/>
                            <a:ea typeface="MS Mincho" panose="02020609040205080304" charset="-128"/>
                            <a:sym typeface="Wingdings" panose="05000000000000000000" pitchFamily="2" charset="2"/>
                          </a:rPr>
                          <m:t>)</m:t>
                        </m:r>
                      </m:e>
                      <m:sup>
                        <m:r>
                          <a:rPr lang="en-US" altLang="zh-CN" sz="3100" i="1">
                            <a:latin typeface="Cambria Math" panose="02040503050406030204" pitchFamily="18" charset="0"/>
                            <a:ea typeface="MS Mincho" panose="02020609040205080304" charset="-128"/>
                            <a:sym typeface="Wingdings" panose="05000000000000000000" pitchFamily="2" charset="2"/>
                          </a:rPr>
                          <m:t>′</m:t>
                        </m:r>
                      </m:sup>
                    </m:sSup>
                    <m:r>
                      <a:rPr lang="en-US" altLang="zh-CN" sz="3100" b="0" i="1" smtClean="0">
                        <a:latin typeface="Cambria Math" panose="02040503050406030204" pitchFamily="18" charset="0"/>
                        <a:ea typeface="MS Mincho" panose="02020609040205080304" charset="-128"/>
                        <a:sym typeface="Wingdings" panose="05000000000000000000" pitchFamily="2" charset="2"/>
                      </a:rPr>
                      <m:t>+</m:t>
                    </m:r>
                    <m:r>
                      <a:rPr lang="en-US" altLang="zh-CN" sz="3100" b="0" i="1" smtClean="0">
                        <a:latin typeface="Cambria Math" panose="02040503050406030204" pitchFamily="18" charset="0"/>
                        <a:ea typeface="Cambria Math" panose="02040503050406030204" pitchFamily="18" charset="0"/>
                        <a:sym typeface="Wingdings" panose="05000000000000000000" pitchFamily="2" charset="2"/>
                      </a:rPr>
                      <m:t>⋯+</m:t>
                    </m:r>
                  </m:oMath>
                </a14:m>
                <a:r>
                  <a:rPr lang="en-US" altLang="zh-CN" sz="3100" dirty="0">
                    <a:ea typeface="MS Mincho" panose="02020609040205080304" charset="-128"/>
                    <a:sym typeface="Wingdings" panose="05000000000000000000" pitchFamily="2" charset="2"/>
                  </a:rPr>
                  <a:t> </a:t>
                </a:r>
                <a14:m>
                  <m:oMath xmlns:m="http://schemas.openxmlformats.org/officeDocument/2006/math">
                    <m:sSup>
                      <m:sSupPr>
                        <m:ctrlPr>
                          <a:rPr lang="en-US" altLang="zh-CN" sz="3100" i="1">
                            <a:latin typeface="Cambria Math" panose="02040503050406030204" pitchFamily="18" charset="0"/>
                            <a:ea typeface="MS Mincho" panose="02020609040205080304" charset="-128"/>
                            <a:sym typeface="Wingdings" panose="05000000000000000000" pitchFamily="2" charset="2"/>
                          </a:rPr>
                        </m:ctrlPr>
                      </m:sSupPr>
                      <m:e>
                        <m:r>
                          <a:rPr lang="en-US" altLang="zh-CN" sz="3100" i="1">
                            <a:latin typeface="Cambria Math" panose="02040503050406030204" pitchFamily="18" charset="0"/>
                            <a:ea typeface="MS Mincho" panose="02020609040205080304" charset="-128"/>
                            <a:sym typeface="Wingdings" panose="05000000000000000000" pitchFamily="2" charset="2"/>
                          </a:rPr>
                          <m:t>(</m:t>
                        </m:r>
                        <m:sSub>
                          <m:sSubPr>
                            <m:ctrlPr>
                              <a:rPr lang="en-US" altLang="zh-CN" sz="31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100" i="1">
                                <a:latin typeface="Cambria Math" panose="02040503050406030204" pitchFamily="18" charset="0"/>
                                <a:ea typeface="Cambria Math" panose="02040503050406030204" pitchFamily="18" charset="0"/>
                                <a:sym typeface="Wingdings" panose="05000000000000000000" pitchFamily="2" charset="2"/>
                              </a:rPr>
                              <m:t>𝑎</m:t>
                            </m:r>
                          </m:e>
                          <m:sub>
                            <m:r>
                              <a:rPr lang="en-US" altLang="zh-CN" sz="3100" i="1">
                                <a:latin typeface="Cambria Math" panose="02040503050406030204" pitchFamily="18" charset="0"/>
                                <a:ea typeface="Cambria Math" panose="02040503050406030204" pitchFamily="18" charset="0"/>
                                <a:sym typeface="Wingdings" panose="05000000000000000000" pitchFamily="2" charset="2"/>
                              </a:rPr>
                              <m:t>𝑛</m:t>
                            </m:r>
                          </m:sub>
                        </m:sSub>
                        <m:sSup>
                          <m:sSupPr>
                            <m:ctrlPr>
                              <a:rPr lang="en-US" altLang="zh-CN" sz="3100" i="1">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100" i="1">
                                <a:latin typeface="Cambria Math" panose="02040503050406030204" pitchFamily="18" charset="0"/>
                                <a:ea typeface="Cambria Math" panose="02040503050406030204" pitchFamily="18" charset="0"/>
                                <a:sym typeface="Wingdings" panose="05000000000000000000" pitchFamily="2" charset="2"/>
                              </a:rPr>
                              <m:t>𝑧</m:t>
                            </m:r>
                          </m:e>
                          <m:sup>
                            <m:r>
                              <a:rPr lang="en-US" altLang="zh-CN" sz="3100" i="1">
                                <a:latin typeface="Cambria Math" panose="02040503050406030204" pitchFamily="18" charset="0"/>
                                <a:ea typeface="Cambria Math" panose="02040503050406030204" pitchFamily="18" charset="0"/>
                                <a:sym typeface="Wingdings" panose="05000000000000000000" pitchFamily="2" charset="2"/>
                              </a:rPr>
                              <m:t>𝑛</m:t>
                            </m:r>
                          </m:sup>
                        </m:sSup>
                        <m:r>
                          <a:rPr lang="en-US" altLang="zh-CN" sz="3100" i="1">
                            <a:latin typeface="Cambria Math" panose="02040503050406030204" pitchFamily="18" charset="0"/>
                            <a:ea typeface="MS Mincho" panose="02020609040205080304" charset="-128"/>
                            <a:sym typeface="Wingdings" panose="05000000000000000000" pitchFamily="2" charset="2"/>
                          </a:rPr>
                          <m:t>)</m:t>
                        </m:r>
                      </m:e>
                      <m:sup>
                        <m:r>
                          <a:rPr lang="en-US" altLang="zh-CN" sz="3100" i="1">
                            <a:latin typeface="Cambria Math" panose="02040503050406030204" pitchFamily="18" charset="0"/>
                            <a:ea typeface="MS Mincho" panose="02020609040205080304" charset="-128"/>
                            <a:sym typeface="Wingdings" panose="05000000000000000000" pitchFamily="2" charset="2"/>
                          </a:rPr>
                          <m:t>′</m:t>
                        </m:r>
                      </m:sup>
                    </m:sSup>
                  </m:oMath>
                </a14:m>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13" name="标题 1"/>
              <p:cNvSpPr txBox="1">
                <a:spLocks noRot="1" noChangeAspect="1" noMove="1" noResize="1" noEditPoints="1" noAdjustHandles="1" noChangeArrowheads="1" noChangeShapeType="1" noTextEdit="1"/>
              </p:cNvSpPr>
              <p:nvPr/>
            </p:nvSpPr>
            <p:spPr>
              <a:xfrm>
                <a:off x="862965" y="5015865"/>
                <a:ext cx="7487920" cy="523875"/>
              </a:xfrm>
              <a:prstGeom prst="rect">
                <a:avLst/>
              </a:prstGeom>
              <a:blipFill rotWithShape="1">
                <a:blip r:embed="rId7"/>
                <a:stretch>
                  <a:fillRect t="-17576" b="-1769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1856444" y="5682599"/>
                <a:ext cx="6296873" cy="52400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100" i="1"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r>
                        <a:rPr lang="en-US" altLang="zh-CN" sz="3100" b="0" i="1"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0</m:t>
                      </m:r>
                      <m:r>
                        <a:rPr lang="en-US" altLang="zh-CN" sz="3100" b="0" i="1" smtClean="0">
                          <a:latin typeface="Cambria Math" panose="02040503050406030204" pitchFamily="18" charset="0"/>
                          <a:ea typeface="MS Mincho" panose="02020609040205080304" charset="-128"/>
                          <a:sym typeface="Wingdings" panose="05000000000000000000" pitchFamily="2" charset="2"/>
                        </a:rPr>
                        <m:t>+</m:t>
                      </m:r>
                      <m:sSub>
                        <m:sSubPr>
                          <m:ctrlPr>
                            <a:rPr lang="en-US" altLang="zh-CN" sz="3100" i="1">
                              <a:latin typeface="Cambria Math" panose="02040503050406030204" pitchFamily="18" charset="0"/>
                              <a:ea typeface="MS Mincho" panose="02020609040205080304" charset="-128"/>
                              <a:sym typeface="Wingdings" panose="05000000000000000000" pitchFamily="2" charset="2"/>
                            </a:rPr>
                          </m:ctrlPr>
                        </m:sSubPr>
                        <m:e>
                          <m:r>
                            <a:rPr lang="en-US" altLang="zh-CN" sz="3100" i="1">
                              <a:latin typeface="Cambria Math" panose="02040503050406030204" pitchFamily="18" charset="0"/>
                              <a:ea typeface="MS Mincho" panose="02020609040205080304" charset="-128"/>
                              <a:sym typeface="Wingdings" panose="05000000000000000000" pitchFamily="2" charset="2"/>
                            </a:rPr>
                            <m:t>𝑎</m:t>
                          </m:r>
                        </m:e>
                        <m:sub>
                          <m:r>
                            <a:rPr lang="en-US" altLang="zh-CN" sz="3100" i="1">
                              <a:latin typeface="Cambria Math" panose="02040503050406030204" pitchFamily="18" charset="0"/>
                              <a:ea typeface="MS Mincho" panose="02020609040205080304" charset="-128"/>
                              <a:sym typeface="Wingdings" panose="05000000000000000000" pitchFamily="2" charset="2"/>
                            </a:rPr>
                            <m:t>1</m:t>
                          </m:r>
                        </m:sub>
                      </m:sSub>
                      <m:r>
                        <a:rPr lang="en-US" altLang="zh-CN" sz="3100" b="0" i="1" smtClean="0">
                          <a:latin typeface="Cambria Math" panose="02040503050406030204" pitchFamily="18" charset="0"/>
                          <a:ea typeface="MS Mincho" panose="02020609040205080304" charset="-128"/>
                          <a:sym typeface="Wingdings" panose="05000000000000000000" pitchFamily="2" charset="2"/>
                        </a:rPr>
                        <m:t>+</m:t>
                      </m:r>
                      <m:r>
                        <a:rPr lang="en-US" altLang="zh-CN" sz="3100" i="1">
                          <a:latin typeface="Cambria Math" panose="02040503050406030204" pitchFamily="18" charset="0"/>
                          <a:ea typeface="MS Mincho" panose="02020609040205080304" charset="-128"/>
                          <a:sym typeface="Wingdings" panose="05000000000000000000" pitchFamily="2" charset="2"/>
                        </a:rPr>
                        <m:t>2</m:t>
                      </m:r>
                      <m:sSub>
                        <m:sSubPr>
                          <m:ctrlPr>
                            <a:rPr lang="en-US" altLang="zh-CN" sz="3100" i="1">
                              <a:latin typeface="Cambria Math" panose="02040503050406030204" pitchFamily="18" charset="0"/>
                              <a:ea typeface="MS Mincho" panose="02020609040205080304" charset="-128"/>
                              <a:sym typeface="Wingdings" panose="05000000000000000000" pitchFamily="2" charset="2"/>
                            </a:rPr>
                          </m:ctrlPr>
                        </m:sSubPr>
                        <m:e>
                          <m:r>
                            <a:rPr lang="en-US" altLang="zh-CN" sz="3100" i="1">
                              <a:latin typeface="Cambria Math" panose="02040503050406030204" pitchFamily="18" charset="0"/>
                              <a:ea typeface="MS Mincho" panose="02020609040205080304" charset="-128"/>
                              <a:sym typeface="Wingdings" panose="05000000000000000000" pitchFamily="2" charset="2"/>
                            </a:rPr>
                            <m:t>𝑎</m:t>
                          </m:r>
                        </m:e>
                        <m:sub>
                          <m:r>
                            <a:rPr lang="en-US" altLang="zh-CN" sz="3100" i="1">
                              <a:latin typeface="Cambria Math" panose="02040503050406030204" pitchFamily="18" charset="0"/>
                              <a:ea typeface="MS Mincho" panose="02020609040205080304" charset="-128"/>
                              <a:sym typeface="Wingdings" panose="05000000000000000000" pitchFamily="2" charset="2"/>
                            </a:rPr>
                            <m:t>2</m:t>
                          </m:r>
                        </m:sub>
                      </m:sSub>
                      <m:r>
                        <a:rPr lang="en-US" altLang="zh-CN" sz="3100" i="1">
                          <a:latin typeface="Cambria Math" panose="02040503050406030204" pitchFamily="18" charset="0"/>
                          <a:ea typeface="MS Mincho" panose="02020609040205080304" charset="-128"/>
                          <a:sym typeface="Wingdings" panose="05000000000000000000" pitchFamily="2" charset="2"/>
                        </a:rPr>
                        <m:t>𝑧</m:t>
                      </m:r>
                      <m:r>
                        <a:rPr lang="en-US" altLang="zh-CN" sz="3100" b="0" i="1" smtClean="0">
                          <a:latin typeface="Cambria Math" panose="02040503050406030204" pitchFamily="18" charset="0"/>
                          <a:ea typeface="MS Mincho" panose="02020609040205080304" charset="-128"/>
                          <a:sym typeface="Wingdings" panose="05000000000000000000" pitchFamily="2" charset="2"/>
                        </a:rPr>
                        <m:t>+</m:t>
                      </m:r>
                      <m:r>
                        <a:rPr lang="en-US" altLang="zh-CN" sz="31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100" i="1">
                          <a:latin typeface="Cambria Math" panose="02040503050406030204" pitchFamily="18" charset="0"/>
                          <a:ea typeface="MS Mincho" panose="02020609040205080304" charset="-128"/>
                          <a:sym typeface="Wingdings" panose="05000000000000000000" pitchFamily="2" charset="2"/>
                        </a:rPr>
                        <m:t>𝑛</m:t>
                      </m:r>
                      <m:sSub>
                        <m:sSubPr>
                          <m:ctrlPr>
                            <a:rPr lang="en-US" altLang="zh-CN" sz="31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100" i="1">
                              <a:latin typeface="Cambria Math" panose="02040503050406030204" pitchFamily="18" charset="0"/>
                              <a:ea typeface="Cambria Math" panose="02040503050406030204" pitchFamily="18" charset="0"/>
                              <a:sym typeface="Wingdings" panose="05000000000000000000" pitchFamily="2" charset="2"/>
                            </a:rPr>
                            <m:t>𝑎</m:t>
                          </m:r>
                        </m:e>
                        <m:sub>
                          <m:r>
                            <a:rPr lang="en-US" altLang="zh-CN" sz="3100" i="1">
                              <a:latin typeface="Cambria Math" panose="02040503050406030204" pitchFamily="18" charset="0"/>
                              <a:ea typeface="Cambria Math" panose="02040503050406030204" pitchFamily="18" charset="0"/>
                              <a:sym typeface="Wingdings" panose="05000000000000000000" pitchFamily="2" charset="2"/>
                            </a:rPr>
                            <m:t>𝑛</m:t>
                          </m:r>
                        </m:sub>
                      </m:sSub>
                      <m:sSup>
                        <m:sSupPr>
                          <m:ctrlPr>
                            <a:rPr lang="en-US" altLang="zh-CN" sz="3100" i="1">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100" i="1">
                              <a:latin typeface="Cambria Math" panose="02040503050406030204" pitchFamily="18" charset="0"/>
                              <a:ea typeface="Cambria Math" panose="02040503050406030204" pitchFamily="18" charset="0"/>
                              <a:sym typeface="Wingdings" panose="05000000000000000000" pitchFamily="2" charset="2"/>
                            </a:rPr>
                            <m:t>𝑧</m:t>
                          </m:r>
                        </m:e>
                        <m:sup>
                          <m:r>
                            <a:rPr lang="en-US" altLang="zh-CN" sz="3100" i="1">
                              <a:latin typeface="Cambria Math" panose="02040503050406030204" pitchFamily="18" charset="0"/>
                              <a:ea typeface="Cambria Math" panose="02040503050406030204" pitchFamily="18" charset="0"/>
                              <a:sym typeface="Wingdings" panose="05000000000000000000" pitchFamily="2" charset="2"/>
                            </a:rPr>
                            <m:t>𝑛</m:t>
                          </m:r>
                          <m:r>
                            <a:rPr lang="en-US" altLang="zh-CN" sz="3100" i="1">
                              <a:latin typeface="Cambria Math" panose="02040503050406030204" pitchFamily="18" charset="0"/>
                              <a:ea typeface="Cambria Math" panose="02040503050406030204" pitchFamily="18" charset="0"/>
                              <a:sym typeface="Wingdings" panose="05000000000000000000" pitchFamily="2" charset="2"/>
                            </a:rPr>
                            <m:t>−</m:t>
                          </m:r>
                          <m:r>
                            <a:rPr lang="en-US" altLang="zh-CN" sz="3100" i="1">
                              <a:latin typeface="Cambria Math" panose="02040503050406030204" pitchFamily="18" charset="0"/>
                              <a:ea typeface="Cambria Math" panose="02040503050406030204" pitchFamily="18" charset="0"/>
                              <a:sym typeface="Wingdings" panose="05000000000000000000" pitchFamily="2" charset="2"/>
                            </a:rPr>
                            <m:t>1</m:t>
                          </m:r>
                        </m:sup>
                      </m:sSup>
                    </m:oMath>
                  </m:oMathPara>
                </a14:m>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14" name="标题 1"/>
              <p:cNvSpPr txBox="1">
                <a:spLocks noRot="1" noChangeAspect="1" noMove="1" noResize="1" noEditPoints="1" noAdjustHandles="1" noChangeArrowheads="1" noChangeShapeType="1" noTextEdit="1"/>
              </p:cNvSpPr>
              <p:nvPr/>
            </p:nvSpPr>
            <p:spPr>
              <a:xfrm>
                <a:off x="1856444" y="5682599"/>
                <a:ext cx="6296873" cy="524008"/>
              </a:xfrm>
              <a:prstGeom prst="rect">
                <a:avLst/>
              </a:prstGeom>
              <a:blipFill rotWithShape="1">
                <a:blip r:embed="rId8"/>
                <a:stretch>
                  <a:fillRect l="-5" t="-15266" r="9" b="-1524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8" grpId="0"/>
      <p:bldP spid="9" grpId="0"/>
      <p:bldP spid="11" grpId="0"/>
      <p:bldP spid="12" grpId="0"/>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122036" y="1006452"/>
                <a:ext cx="8720455"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𝐸𝑔</m:t>
                    </m:r>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m:t>
                    </m:r>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𝑓</m:t>
                    </m:r>
                    <m:d>
                      <m:dPr>
                        <m:ctrlP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dPr>
                      <m:e>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𝑥</m:t>
                        </m:r>
                      </m:e>
                    </m:d>
                    <m:r>
                      <a:rPr lang="en-US" altLang="zh-CN" sz="3100" b="0" i="1"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sSup>
                      <m:sSupPr>
                        <m:ctrlP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sSupPr>
                      <m:e>
                        <m:d>
                          <m:dPr>
                            <m:begChr m:val="|"/>
                            <m:endChr m:val="|"/>
                            <m:ctrlP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dPr>
                          <m:e>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𝑥</m:t>
                            </m:r>
                          </m:e>
                        </m:d>
                      </m:e>
                      <m:sup>
                        <m:r>
                          <a:rPr lang="en-US" altLang="zh-CN" sz="3100" b="0" i="1"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2</m:t>
                        </m:r>
                      </m:sup>
                    </m:sSup>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在</a:t>
                </a:r>
                <a14:m>
                  <m:oMath xmlns:m="http://schemas.openxmlformats.org/officeDocument/2006/math">
                    <m:r>
                      <a:rPr lang="en-US" altLang="zh-CN" sz="3100" b="0" i="1" dirty="0" smtClean="0">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内可导，讨论</a:t>
                </a:r>
                <a14:m>
                  <m:oMath xmlns:m="http://schemas.openxmlformats.org/officeDocument/2006/math">
                    <m: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𝑓</m:t>
                    </m:r>
                    <m:d>
                      <m:dPr>
                        <m:ctrlP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dPr>
                      <m:e>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𝑧</m:t>
                        </m:r>
                      </m:e>
                    </m:d>
                    <m:r>
                      <a:rPr lang="en-US" altLang="zh-CN" sz="3100" i="1">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sSup>
                      <m:sSupPr>
                        <m:ctrlP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sSupPr>
                      <m:e>
                        <m:d>
                          <m:dPr>
                            <m:begChr m:val="|"/>
                            <m:endChr m:val="|"/>
                            <m:ctrlP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dPr>
                          <m:e>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𝑧</m:t>
                            </m:r>
                          </m:e>
                        </m:d>
                      </m:e>
                      <m:sup>
                        <m:r>
                          <a:rPr lang="en-US" altLang="zh-CN" sz="3100" i="1">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2</m:t>
                        </m:r>
                      </m:sup>
                    </m:sSup>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的可导性</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10" name="标题 1"/>
              <p:cNvSpPr txBox="1">
                <a:spLocks noRot="1" noChangeAspect="1" noMove="1" noResize="1" noEditPoints="1" noAdjustHandles="1" noChangeArrowheads="1" noChangeShapeType="1" noTextEdit="1"/>
              </p:cNvSpPr>
              <p:nvPr/>
            </p:nvSpPr>
            <p:spPr>
              <a:xfrm>
                <a:off x="122036" y="1006452"/>
                <a:ext cx="8720455" cy="495935"/>
              </a:xfrm>
              <a:prstGeom prst="rect">
                <a:avLst/>
              </a:prstGeom>
              <a:blipFill rotWithShape="1">
                <a:blip r:embed="rId1"/>
                <a:stretch>
                  <a:fillRect l="-1" t="-98971" r="1" b="-98980"/>
                </a:stretch>
              </a:blipFill>
            </p:spPr>
            <p:txBody>
              <a:bodyPr/>
              <a:lstStyle/>
              <a:p>
                <a:r>
                  <a:rPr lang="zh-CN" altLang="en-US">
                    <a:noFill/>
                  </a:rPr>
                  <a:t> </a:t>
                </a:r>
              </a:p>
            </p:txBody>
          </p:sp>
        </mc:Fallback>
      </mc:AlternateContent>
      <p:sp>
        <p:nvSpPr>
          <p:cNvPr id="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标题 1"/>
              <p:cNvSpPr txBox="1"/>
              <p:nvPr/>
            </p:nvSpPr>
            <p:spPr>
              <a:xfrm>
                <a:off x="122036" y="1951693"/>
                <a:ext cx="8122361"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ea typeface="楷体" panose="02010609060101010101" pitchFamily="49" charset="-122"/>
                    <a:sym typeface="Wingdings" panose="05000000000000000000" pitchFamily="2" charset="2"/>
                  </a:rPr>
                  <a:t>解：</a:t>
                </a:r>
                <a14:m>
                  <m:oMath xmlns:m="http://schemas.openxmlformats.org/officeDocument/2006/math">
                    <m:func>
                      <m:func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𝑓</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num>
                          <m:den>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den>
                        </m:f>
                      </m:e>
                    </m:func>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limLow>
                      <m:limLow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2800">
                            <a:latin typeface="Cambria Math" panose="02040503050406030204" pitchFamily="18" charset="0"/>
                            <a:ea typeface="楷体" panose="02010609060101010101" pitchFamily="49" charset="-122"/>
                            <a:sym typeface="Wingdings" panose="05000000000000000000" pitchFamily="2" charset="2"/>
                          </a:rPr>
                          <m:t>lim</m:t>
                        </m:r>
                      </m:e>
                      <m:lim>
                        <m:r>
                          <a:rPr lang="en-US" altLang="zh-CN" sz="2800" i="1">
                            <a:latin typeface="Cambria Math" panose="02040503050406030204" pitchFamily="18" charset="0"/>
                            <a:ea typeface="楷体" panose="02010609060101010101" pitchFamily="49" charset="-122"/>
                            <a:sym typeface="Wingdings" panose="05000000000000000000" pitchFamily="2" charset="2"/>
                          </a:rPr>
                          <m:t>∆</m:t>
                        </m:r>
                        <m:r>
                          <a:rPr lang="en-US" altLang="zh-CN" sz="2800" i="1">
                            <a:latin typeface="Cambria Math" panose="02040503050406030204" pitchFamily="18" charset="0"/>
                            <a:ea typeface="楷体" panose="02010609060101010101" pitchFamily="49" charset="-122"/>
                            <a:sym typeface="Wingdings" panose="05000000000000000000" pitchFamily="2" charset="2"/>
                          </a:rPr>
                          <m:t>𝑧</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0</m:t>
                        </m:r>
                      </m:lim>
                    </m:limLow>
                    <m:f>
                      <m:f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fPr>
                      <m:num>
                        <m:d>
                          <m:dPr>
                            <m:ctrlP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𝑧</m:t>
                            </m:r>
                          </m:e>
                        </m:d>
                        <m:acc>
                          <m:accPr>
                            <m:chr m:val="̅"/>
                            <m:ctrlP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ctrlPr>
                          </m:accPr>
                          <m:e>
                            <m:d>
                              <m:dPr>
                                <m:ctrlP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𝑧</m:t>
                                </m:r>
                              </m:e>
                            </m:d>
                          </m:e>
                        </m:acc>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acc>
                          <m:accPr>
                            <m:chr m:val="̅"/>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acc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acc>
                      </m:num>
                      <m:den>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den>
                    </m:f>
                  </m:oMath>
                </a14:m>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2" name="标题 1"/>
              <p:cNvSpPr txBox="1">
                <a:spLocks noRot="1" noChangeAspect="1" noMove="1" noResize="1" noEditPoints="1" noAdjustHandles="1" noChangeArrowheads="1" noChangeShapeType="1" noTextEdit="1"/>
              </p:cNvSpPr>
              <p:nvPr/>
            </p:nvSpPr>
            <p:spPr>
              <a:xfrm>
                <a:off x="122036" y="1951693"/>
                <a:ext cx="8122361" cy="495935"/>
              </a:xfrm>
              <a:prstGeom prst="rect">
                <a:avLst/>
              </a:prstGeom>
              <a:blipFill rotWithShape="1">
                <a:blip r:embed="rId2"/>
                <a:stretch>
                  <a:fillRect l="-1" t="-69979" r="2" b="-7009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568215" y="2911470"/>
                <a:ext cx="4712611"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200" dirty="0">
                    <a:ea typeface="Cambria Math" panose="02040503050406030204" pitchFamily="18" charset="0"/>
                    <a:sym typeface="Wingdings" panose="05000000000000000000" pitchFamily="2" charset="2"/>
                  </a:rPr>
                  <a:t> </a:t>
                </a: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limLow>
                      <m:limLow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2800">
                            <a:latin typeface="Cambria Math" panose="02040503050406030204" pitchFamily="18" charset="0"/>
                            <a:ea typeface="楷体" panose="02010609060101010101" pitchFamily="49" charset="-122"/>
                            <a:sym typeface="Wingdings" panose="05000000000000000000" pitchFamily="2" charset="2"/>
                          </a:rPr>
                          <m:t>lim</m:t>
                        </m:r>
                      </m:e>
                      <m:lim>
                        <m:r>
                          <a:rPr lang="en-US" altLang="zh-CN" sz="2800" i="1">
                            <a:latin typeface="Cambria Math" panose="02040503050406030204" pitchFamily="18" charset="0"/>
                            <a:ea typeface="楷体" panose="02010609060101010101" pitchFamily="49" charset="-122"/>
                            <a:sym typeface="Wingdings" panose="05000000000000000000" pitchFamily="2" charset="2"/>
                          </a:rPr>
                          <m:t>∆</m:t>
                        </m:r>
                        <m:r>
                          <a:rPr lang="en-US" altLang="zh-CN" sz="2800" i="1">
                            <a:latin typeface="Cambria Math" panose="02040503050406030204" pitchFamily="18" charset="0"/>
                            <a:ea typeface="楷体" panose="02010609060101010101" pitchFamily="49" charset="-122"/>
                            <a:sym typeface="Wingdings" panose="05000000000000000000" pitchFamily="2" charset="2"/>
                          </a:rPr>
                          <m:t>𝑧</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0</m:t>
                        </m:r>
                      </m:lim>
                    </m:limLow>
                    <m:f>
                      <m:f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𝑧</m:t>
                        </m:r>
                        <m:acc>
                          <m:accPr>
                            <m:chr m:val="̅"/>
                            <m:ctrlP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ctrlPr>
                          </m:accPr>
                          <m:e>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𝑧</m:t>
                            </m:r>
                          </m:e>
                        </m:acc>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acc>
                          <m:accPr>
                            <m:chr m:val="̅"/>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accPr>
                          <m:e>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acc>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acc>
                          <m:accPr>
                            <m:chr m:val="̅"/>
                            <m:ctrlP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ctrlPr>
                          </m:acc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acc>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acc>
                          <m:accPr>
                            <m:chr m:val="̅"/>
                            <m:ctrlP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ctrlPr>
                          </m:accPr>
                          <m:e>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acc>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acc>
                          <m:accPr>
                            <m:chr m:val="̅"/>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acc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acc>
                      </m:num>
                      <m:den>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den>
                    </m:f>
                  </m:oMath>
                </a14:m>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3" name="标题 1"/>
              <p:cNvSpPr txBox="1">
                <a:spLocks noRot="1" noChangeAspect="1" noMove="1" noResize="1" noEditPoints="1" noAdjustHandles="1" noChangeArrowheads="1" noChangeShapeType="1" noTextEdit="1"/>
              </p:cNvSpPr>
              <p:nvPr/>
            </p:nvSpPr>
            <p:spPr>
              <a:xfrm>
                <a:off x="1568215" y="2911470"/>
                <a:ext cx="4712611" cy="495935"/>
              </a:xfrm>
              <a:prstGeom prst="rect">
                <a:avLst/>
              </a:prstGeom>
              <a:blipFill rotWithShape="1">
                <a:blip r:embed="rId3"/>
                <a:stretch>
                  <a:fillRect l="-8" t="-66580" r="1" b="-6658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1568215" y="3728970"/>
                <a:ext cx="3806318"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200" dirty="0">
                    <a:ea typeface="Cambria Math" panose="02040503050406030204" pitchFamily="18" charset="0"/>
                    <a:sym typeface="Wingdings" panose="05000000000000000000" pitchFamily="2" charset="2"/>
                  </a:rPr>
                  <a:t> </a:t>
                </a: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limLow>
                      <m:limLow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2800">
                            <a:latin typeface="Cambria Math" panose="02040503050406030204" pitchFamily="18" charset="0"/>
                            <a:ea typeface="楷体" panose="02010609060101010101" pitchFamily="49" charset="-122"/>
                            <a:sym typeface="Wingdings" panose="05000000000000000000" pitchFamily="2" charset="2"/>
                          </a:rPr>
                          <m:t>lim</m:t>
                        </m:r>
                      </m:e>
                      <m:lim>
                        <m:r>
                          <a:rPr lang="en-US" altLang="zh-CN" sz="2800" i="1">
                            <a:latin typeface="Cambria Math" panose="02040503050406030204" pitchFamily="18" charset="0"/>
                            <a:ea typeface="楷体" panose="02010609060101010101" pitchFamily="49" charset="-122"/>
                            <a:sym typeface="Wingdings" panose="05000000000000000000" pitchFamily="2" charset="2"/>
                          </a:rPr>
                          <m:t>∆</m:t>
                        </m:r>
                        <m:r>
                          <a:rPr lang="en-US" altLang="zh-CN" sz="2800" i="1">
                            <a:latin typeface="Cambria Math" panose="02040503050406030204" pitchFamily="18" charset="0"/>
                            <a:ea typeface="楷体" panose="02010609060101010101" pitchFamily="49" charset="-122"/>
                            <a:sym typeface="Wingdings" panose="05000000000000000000" pitchFamily="2" charset="2"/>
                          </a:rPr>
                          <m:t>𝑧</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0</m:t>
                        </m:r>
                      </m:lim>
                    </m:limLow>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𝑧</m:t>
                    </m:r>
                    <m:f>
                      <m:f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fPr>
                      <m:num>
                        <m:acc>
                          <m:accPr>
                            <m:chr m:val="̅"/>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accPr>
                          <m:e>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acc>
                      </m:num>
                      <m:den>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den>
                    </m:f>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acc>
                      <m:accPr>
                        <m:chr m:val="̅"/>
                        <m:ctrlP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ctrlPr>
                      </m:accPr>
                      <m:e>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𝑧</m:t>
                        </m:r>
                      </m:e>
                    </m:acc>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acc>
                      <m:accPr>
                        <m:chr m:val="̅"/>
                        <m:ctrlP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ctrlPr>
                      </m:accPr>
                      <m:e>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acc>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oMath>
                </a14:m>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5" name="标题 1"/>
              <p:cNvSpPr txBox="1">
                <a:spLocks noRot="1" noChangeAspect="1" noMove="1" noResize="1" noEditPoints="1" noAdjustHandles="1" noChangeArrowheads="1" noChangeShapeType="1" noTextEdit="1"/>
              </p:cNvSpPr>
              <p:nvPr/>
            </p:nvSpPr>
            <p:spPr>
              <a:xfrm>
                <a:off x="1568215" y="3728970"/>
                <a:ext cx="3806318" cy="495935"/>
              </a:xfrm>
              <a:prstGeom prst="rect">
                <a:avLst/>
              </a:prstGeom>
              <a:blipFill rotWithShape="1">
                <a:blip r:embed="rId4"/>
                <a:stretch>
                  <a:fillRect l="-11" t="-66504" r="14" b="-6665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475474" y="4557567"/>
                <a:ext cx="4712611"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当</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0" smtClean="0">
                        <a:latin typeface="Cambria Math" panose="02040503050406030204" pitchFamily="18" charset="0"/>
                        <a:ea typeface="Cambria Math" panose="02040503050406030204" pitchFamily="18" charset="0"/>
                        <a:sym typeface="Wingdings" panose="05000000000000000000" pitchFamily="2" charset="2"/>
                      </a:rPr>
                      <m:t>0</m:t>
                    </m:r>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时，上式</a:t>
                </a:r>
                <a:r>
                  <a:rPr lang="en-US" altLang="zh-CN"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=0+0=0</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7" name="标题 1"/>
              <p:cNvSpPr txBox="1">
                <a:spLocks noRot="1" noChangeAspect="1" noMove="1" noResize="1" noEditPoints="1" noAdjustHandles="1" noChangeArrowheads="1" noChangeShapeType="1" noTextEdit="1"/>
              </p:cNvSpPr>
              <p:nvPr/>
            </p:nvSpPr>
            <p:spPr>
              <a:xfrm>
                <a:off x="475474" y="4557567"/>
                <a:ext cx="4712611" cy="495935"/>
              </a:xfrm>
              <a:prstGeom prst="rect">
                <a:avLst/>
              </a:prstGeom>
              <a:blipFill rotWithShape="1">
                <a:blip r:embed="rId5"/>
                <a:stretch>
                  <a:fillRect l="-10" t="-23722" r="3" b="-2378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5135024" y="3740067"/>
                <a:ext cx="3806318"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200" dirty="0">
                    <a:ea typeface="Cambria Math" panose="02040503050406030204" pitchFamily="18" charset="0"/>
                    <a:sym typeface="Wingdings" panose="05000000000000000000" pitchFamily="2" charset="2"/>
                  </a:rPr>
                  <a:t> </a:t>
                </a: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limLow>
                      <m:limLow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2800">
                            <a:latin typeface="Cambria Math" panose="02040503050406030204" pitchFamily="18" charset="0"/>
                            <a:ea typeface="楷体" panose="02010609060101010101" pitchFamily="49" charset="-122"/>
                            <a:sym typeface="Wingdings" panose="05000000000000000000" pitchFamily="2" charset="2"/>
                          </a:rPr>
                          <m:t>lim</m:t>
                        </m:r>
                      </m:e>
                      <m:lim>
                        <m:r>
                          <a:rPr lang="en-US" altLang="zh-CN" sz="2800" i="1">
                            <a:latin typeface="Cambria Math" panose="02040503050406030204" pitchFamily="18" charset="0"/>
                            <a:ea typeface="楷体" panose="02010609060101010101" pitchFamily="49" charset="-122"/>
                            <a:sym typeface="Wingdings" panose="05000000000000000000" pitchFamily="2" charset="2"/>
                          </a:rPr>
                          <m:t>∆</m:t>
                        </m:r>
                        <m:r>
                          <a:rPr lang="en-US" altLang="zh-CN" sz="2800" i="1">
                            <a:latin typeface="Cambria Math" panose="02040503050406030204" pitchFamily="18" charset="0"/>
                            <a:ea typeface="楷体" panose="02010609060101010101" pitchFamily="49" charset="-122"/>
                            <a:sym typeface="Wingdings" panose="05000000000000000000" pitchFamily="2" charset="2"/>
                          </a:rPr>
                          <m:t>𝑧</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0</m:t>
                        </m:r>
                      </m:lim>
                    </m:limLow>
                    <m:d>
                      <m:dPr>
                        <m:ctrlP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ctrlPr>
                      </m:dPr>
                      <m:e>
                        <m:f>
                          <m:f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fPr>
                          <m:num>
                            <m:acc>
                              <m:accPr>
                                <m:chr m:val="̅"/>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accPr>
                              <m:e>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acc>
                          </m:num>
                          <m:den>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den>
                        </m:f>
                      </m:e>
                    </m:d>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acc>
                      <m:accPr>
                        <m:chr m:val="̅"/>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acc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acc>
                  </m:oMath>
                </a14:m>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8" name="标题 1"/>
              <p:cNvSpPr txBox="1">
                <a:spLocks noRot="1" noChangeAspect="1" noMove="1" noResize="1" noEditPoints="1" noAdjustHandles="1" noChangeArrowheads="1" noChangeShapeType="1" noTextEdit="1"/>
              </p:cNvSpPr>
              <p:nvPr/>
            </p:nvSpPr>
            <p:spPr>
              <a:xfrm>
                <a:off x="5135024" y="3740067"/>
                <a:ext cx="3806318" cy="495935"/>
              </a:xfrm>
              <a:prstGeom prst="rect">
                <a:avLst/>
              </a:prstGeom>
              <a:blipFill rotWithShape="1">
                <a:blip r:embed="rId6"/>
                <a:stretch>
                  <a:fillRect l="-11" t="-66565" r="14" b="-6659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456018" y="5127099"/>
                <a:ext cx="8687982"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当</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0" smtClean="0">
                        <a:latin typeface="Cambria Math" panose="02040503050406030204" pitchFamily="18" charset="0"/>
                        <a:ea typeface="Cambria Math" panose="02040503050406030204" pitchFamily="18" charset="0"/>
                        <a:sym typeface="Wingdings" panose="05000000000000000000" pitchFamily="2" charset="2"/>
                      </a:rPr>
                      <m:t>0</m:t>
                    </m:r>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时，</a:t>
                </a:r>
                <a:r>
                  <a:rPr lang="en-US" altLang="zh-CN" sz="3200" dirty="0">
                    <a:ea typeface="楷体" panose="02010609060101010101" pitchFamily="49" charset="-122"/>
                    <a:sym typeface="Wingdings" panose="05000000000000000000" pitchFamily="2" charset="2"/>
                  </a:rPr>
                  <a:t> </a:t>
                </a:r>
                <a14:m>
                  <m:oMath xmlns:m="http://schemas.openxmlformats.org/officeDocument/2006/math">
                    <m:limLow>
                      <m:limLow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2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𝑧</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lim>
                    </m:limLow>
                    <m:f>
                      <m:f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fPr>
                      <m:num>
                        <m:acc>
                          <m:accPr>
                            <m:chr m:val="̅"/>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accPr>
                          <m:e>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𝑧</m:t>
                            </m:r>
                          </m:e>
                        </m:acc>
                      </m:num>
                      <m:den>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den>
                    </m:f>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不存在，所以上式极限不存在</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9" name="标题 1"/>
              <p:cNvSpPr txBox="1">
                <a:spLocks noRot="1" noChangeAspect="1" noMove="1" noResize="1" noEditPoints="1" noAdjustHandles="1" noChangeArrowheads="1" noChangeShapeType="1" noTextEdit="1"/>
              </p:cNvSpPr>
              <p:nvPr/>
            </p:nvSpPr>
            <p:spPr>
              <a:xfrm>
                <a:off x="456018" y="5127099"/>
                <a:ext cx="8687982" cy="495935"/>
              </a:xfrm>
              <a:prstGeom prst="rect">
                <a:avLst/>
              </a:prstGeom>
              <a:blipFill rotWithShape="1">
                <a:blip r:embed="rId7"/>
                <a:stretch>
                  <a:fillRect l="-1" t="-66475" b="-666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456018" y="6072340"/>
                <a:ext cx="8720455" cy="495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dirty="0">
                    <a:ea typeface="楷体" panose="02010609060101010101" pitchFamily="49" charset="-122"/>
                    <a:cs typeface="Cambria Math" panose="02040503050406030204" pitchFamily="18" charset="0"/>
                    <a:sym typeface="Wingdings" panose="05000000000000000000" pitchFamily="2" charset="2"/>
                  </a:rPr>
                  <a:t>所以</a:t>
                </a:r>
                <a14:m>
                  <m:oMath xmlns:m="http://schemas.openxmlformats.org/officeDocument/2006/math">
                    <m: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𝑓</m:t>
                    </m:r>
                    <m:d>
                      <m:dPr>
                        <m:ctrlP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dPr>
                      <m:e>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𝑧</m:t>
                        </m:r>
                      </m:e>
                    </m:d>
                    <m:r>
                      <a:rPr lang="en-US" altLang="zh-CN" sz="3100" i="1">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m:t>
                    </m:r>
                    <m:sSup>
                      <m:sSupPr>
                        <m:ctrlP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sSupPr>
                      <m:e>
                        <m:d>
                          <m:dPr>
                            <m:begChr m:val="|"/>
                            <m:endChr m:val="|"/>
                            <m:ctrlPr>
                              <a:rPr lang="en-US" altLang="zh-CN" sz="3100" i="1">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ctrlPr>
                          </m:dPr>
                          <m:e>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𝑧</m:t>
                            </m:r>
                          </m:e>
                        </m:d>
                      </m:e>
                      <m:sup>
                        <m:r>
                          <a:rPr lang="en-US" altLang="zh-CN" sz="3100" i="1">
                            <a:latin typeface="Cambria Math" panose="02040503050406030204" pitchFamily="18" charset="0"/>
                            <a:ea typeface="MS Mincho" panose="02020609040205080304" charset="-128"/>
                            <a:cs typeface="Cambria Math" panose="02040503050406030204" pitchFamily="18" charset="0"/>
                            <a:sym typeface="Wingdings" panose="05000000000000000000" pitchFamily="2" charset="2"/>
                          </a:rPr>
                          <m:t>2</m:t>
                        </m:r>
                      </m:sup>
                    </m:sSup>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仅在</a:t>
                </a:r>
                <a14:m>
                  <m:oMath xmlns:m="http://schemas.openxmlformats.org/officeDocument/2006/math">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a:latin typeface="Cambria Math" panose="02040503050406030204" pitchFamily="18" charset="0"/>
                        <a:ea typeface="Cambria Math" panose="02040503050406030204" pitchFamily="18" charset="0"/>
                        <a:sym typeface="Wingdings" panose="05000000000000000000" pitchFamily="2" charset="2"/>
                      </a:rPr>
                      <m:t>0</m:t>
                    </m:r>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处可导</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11" name="标题 1"/>
              <p:cNvSpPr txBox="1">
                <a:spLocks noRot="1" noChangeAspect="1" noMove="1" noResize="1" noEditPoints="1" noAdjustHandles="1" noChangeArrowheads="1" noChangeShapeType="1" noTextEdit="1"/>
              </p:cNvSpPr>
              <p:nvPr/>
            </p:nvSpPr>
            <p:spPr>
              <a:xfrm>
                <a:off x="456018" y="6072340"/>
                <a:ext cx="8720455" cy="495935"/>
              </a:xfrm>
              <a:prstGeom prst="rect">
                <a:avLst/>
              </a:prstGeom>
              <a:blipFill rotWithShape="1">
                <a:blip r:embed="rId8"/>
                <a:stretch>
                  <a:fillRect l="-1" t="-24295" r="1" b="-2436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3" grpId="0"/>
      <p:bldP spid="5" grpId="0"/>
      <p:bldP spid="7" grpId="0"/>
      <p:bldP spid="8" grpId="0"/>
      <p:bldP spid="9"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55289" y="620358"/>
                <a:ext cx="8952524" cy="106385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𝐸𝑔</m:t>
                    </m:r>
                    <m:r>
                      <a:rPr lang="en-US" altLang="zh-CN" sz="3100" b="0" i="1" smtClean="0">
                        <a:latin typeface="Cambria Math" panose="02040503050406030204" pitchFamily="18" charset="0"/>
                        <a:ea typeface="楷体" panose="02010609060101010101" pitchFamily="49" charset="-122"/>
                        <a:cs typeface="Cambria Math" panose="02040503050406030204" pitchFamily="18" charset="0"/>
                        <a:sym typeface="Wingdings" panose="05000000000000000000" pitchFamily="2" charset="2"/>
                      </a:rPr>
                      <m:t>:</m:t>
                    </m:r>
                  </m:oMath>
                </a14:m>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微分中值定理不再成立</a:t>
                </a:r>
                <a:r>
                  <a:rPr lang="en-US" altLang="zh-CN"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a:t>
                </a:r>
                <a:r>
                  <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罗尔、拉格朗日、柯西三大中值定理</a:t>
                </a:r>
                <a:r>
                  <a:rPr lang="en-US" altLang="zh-CN"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rPr>
                  <a:t>) </a:t>
                </a:r>
                <a:endParaRPr lang="zh-CN" altLang="en-US" sz="3100" dirty="0">
                  <a:latin typeface="楷体" panose="02010609060101010101" pitchFamily="49" charset="-122"/>
                  <a:ea typeface="楷体" panose="02010609060101010101" pitchFamily="49" charset="-122"/>
                  <a:cs typeface="楷体" panose="02010609060101010101" pitchFamily="49" charset="-122"/>
                  <a:sym typeface="Wingdings" panose="05000000000000000000" pitchFamily="2" charset="2"/>
                </a:endParaRPr>
              </a:p>
            </p:txBody>
          </p:sp>
        </mc:Choice>
        <mc:Fallback>
          <p:sp>
            <p:nvSpPr>
              <p:cNvPr id="10" name="标题 1"/>
              <p:cNvSpPr txBox="1">
                <a:spLocks noRot="1" noChangeAspect="1" noMove="1" noResize="1" noEditPoints="1" noAdjustHandles="1" noChangeArrowheads="1" noChangeShapeType="1" noTextEdit="1"/>
              </p:cNvSpPr>
              <p:nvPr/>
            </p:nvSpPr>
            <p:spPr>
              <a:xfrm>
                <a:off x="55289" y="620358"/>
                <a:ext cx="8952524" cy="1063859"/>
              </a:xfrm>
              <a:prstGeom prst="rect">
                <a:avLst/>
              </a:prstGeom>
              <a:blipFill rotWithShape="1">
                <a:blip r:embed="rId1"/>
                <a:stretch>
                  <a:fillRect t="-3279" r="4" b="-3205"/>
                </a:stretch>
              </a:blipFill>
            </p:spPr>
            <p:txBody>
              <a:bodyPr/>
              <a:lstStyle/>
              <a:p>
                <a:r>
                  <a:rPr lang="zh-CN" altLang="en-US">
                    <a:noFill/>
                  </a:rPr>
                  <a:t> </a:t>
                </a:r>
              </a:p>
            </p:txBody>
          </p:sp>
        </mc:Fallback>
      </mc:AlternateContent>
      <p:sp>
        <p:nvSpPr>
          <p:cNvPr id="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a:xfrm>
                <a:off x="55289" y="631417"/>
                <a:ext cx="5539105" cy="504190"/>
              </a:xfrm>
            </p:spPr>
            <p:txBody>
              <a:bodyPr>
                <a:noAutofit/>
              </a:bodyPr>
              <a:lstStyle/>
              <a:p>
                <a:r>
                  <a:rPr lang="zh-CN" altLang="en-US" sz="3200" dirty="0">
                    <a:latin typeface="楷体" panose="02010609060101010101" pitchFamily="49" charset="-122"/>
                    <a:ea typeface="楷体" panose="02010609060101010101" pitchFamily="49" charset="-122"/>
                  </a:rPr>
                  <a:t>二、</a:t>
                </a:r>
                <a:r>
                  <a:rPr lang="el-GR" altLang="zh-CN" sz="3200" dirty="0">
                    <a:ea typeface="Cambria Math" panose="02040503050406030204" pitchFamily="18" charset="0"/>
                    <a:sym typeface="Wingdings" panose="05000000000000000000" pitchFamily="2" charset="2"/>
                  </a:rPr>
                  <a:t> </a:t>
                </a:r>
                <a14:m>
                  <m:oMath xmlns:m="http://schemas.openxmlformats.org/officeDocument/2006/math">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𝐶𝑎𝑢𝑐ℎ𝑦</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𝑅𝑖𝑒𝑚𝑎𝑛𝑛</m:t>
                    </m:r>
                  </m:oMath>
                </a14:m>
                <a:r>
                  <a:rPr lang="zh-CN" altLang="en-US" sz="3200" dirty="0">
                    <a:latin typeface="楷体" panose="02010609060101010101" pitchFamily="49" charset="-122"/>
                    <a:ea typeface="楷体" panose="02010609060101010101" pitchFamily="49" charset="-122"/>
                  </a:rPr>
                  <a:t>方程</a:t>
                </a:r>
                <a:endParaRPr lang="zh-CN" altLang="en-US" sz="3200" dirty="0">
                  <a:latin typeface="楷体" panose="02010609060101010101" pitchFamily="49" charset="-122"/>
                  <a:ea typeface="楷体" panose="02010609060101010101" pitchFamily="49" charset="-122"/>
                </a:endParaRPr>
              </a:p>
            </p:txBody>
          </p:sp>
        </mc:Choice>
        <mc:Fallback>
          <p:sp>
            <p:nvSpPr>
              <p:cNvPr id="2" name="标题 1"/>
              <p:cNvSpPr>
                <a:spLocks noRot="1" noChangeAspect="1" noMove="1" noResize="1" noEditPoints="1" noAdjustHandles="1" noChangeArrowheads="1" noChangeShapeType="1" noTextEdit="1"/>
              </p:cNvSpPr>
              <p:nvPr>
                <p:ph type="title"/>
              </p:nvPr>
            </p:nvSpPr>
            <p:spPr>
              <a:xfrm>
                <a:off x="55289" y="631417"/>
                <a:ext cx="5539105" cy="504190"/>
              </a:xfrm>
              <a:blipFill rotWithShape="1">
                <a:blip r:embed="rId1"/>
                <a:stretch>
                  <a:fillRect l="-1" t="-1179" r="1" b="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167295" y="1684898"/>
                <a:ext cx="9034526" cy="63044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latin typeface="楷体" panose="02010609060101010101" pitchFamily="49" charset="-122"/>
                    <a:ea typeface="楷体" panose="02010609060101010101" pitchFamily="49" charset="-122"/>
                  </a:rPr>
                  <a:t>复变函数的极限、连续等价于两个二元实函数</a:t>
                </a:r>
                <a14:m>
                  <m:oMath xmlns:m="http://schemas.openxmlformats.org/officeDocument/2006/math">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oMath>
                </a14:m>
                <a:r>
                  <a:rPr lang="zh-CN" altLang="en-US" sz="3200" dirty="0">
                    <a:latin typeface="楷体" panose="02010609060101010101" pitchFamily="49" charset="-122"/>
                    <a:ea typeface="楷体" panose="02010609060101010101" pitchFamily="49" charset="-122"/>
                  </a:rPr>
                  <a:t>和</a:t>
                </a:r>
                <a:r>
                  <a:rPr lang="en-US" altLang="zh-CN" sz="3200" i="1" dirty="0">
                    <a:latin typeface="Cambria Math" panose="02040503050406030204" pitchFamily="18" charset="0"/>
                    <a:ea typeface="Cambria Math" panose="02040503050406030204" pitchFamily="18" charset="0"/>
                  </a:rPr>
                  <a:t>v</a:t>
                </a:r>
                <a14:m>
                  <m:oMath xmlns:m="http://schemas.openxmlformats.org/officeDocument/2006/math">
                    <m:r>
                      <a:rPr lang="en-US" altLang="zh-CN" sz="3200" b="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a:latin typeface="Cambria Math" panose="02040503050406030204" pitchFamily="18" charset="0"/>
                        <a:ea typeface="Cambria Math" panose="02040503050406030204" pitchFamily="18" charset="0"/>
                        <a:sym typeface="Wingdings" panose="05000000000000000000" pitchFamily="2" charset="2"/>
                      </a:rPr>
                      <m:t>𝑦</m:t>
                    </m:r>
                    <m:r>
                      <a:rPr lang="en-US" altLang="zh-CN" sz="3200" b="0" i="1">
                        <a:latin typeface="Cambria Math" panose="02040503050406030204" pitchFamily="18" charset="0"/>
                        <a:ea typeface="Cambria Math" panose="02040503050406030204" pitchFamily="18" charset="0"/>
                        <a:sym typeface="Wingdings" panose="05000000000000000000" pitchFamily="2" charset="2"/>
                      </a:rPr>
                      <m:t>)</m:t>
                    </m:r>
                  </m:oMath>
                </a14:m>
                <a:r>
                  <a:rPr lang="zh-CN" altLang="en-US" sz="3200" dirty="0">
                    <a:latin typeface="楷体" panose="02010609060101010101" pitchFamily="49" charset="-122"/>
                    <a:ea typeface="楷体" panose="02010609060101010101" pitchFamily="49" charset="-122"/>
                  </a:rPr>
                  <a:t>的极限与连续问题，</a:t>
                </a:r>
                <a:r>
                  <a:rPr lang="zh-CN" altLang="en-US" sz="3200" dirty="0">
                    <a:latin typeface="楷体" panose="02010609060101010101" pitchFamily="49" charset="-122"/>
                    <a:ea typeface="楷体" panose="02010609060101010101" pitchFamily="49" charset="-122"/>
                    <a:sym typeface="+mn-ea"/>
                  </a:rPr>
                  <a:t>导数问题上？</a:t>
                </a:r>
                <a:endParaRPr lang="zh-CN" altLang="en-US" sz="3200" dirty="0">
                  <a:latin typeface="楷体" panose="02010609060101010101" pitchFamily="49" charset="-122"/>
                  <a:ea typeface="楷体" panose="02010609060101010101" pitchFamily="49" charset="-122"/>
                </a:endParaRPr>
              </a:p>
              <a:p>
                <a:pPr fontAlgn="auto">
                  <a:lnSpc>
                    <a:spcPct val="110000"/>
                  </a:lnSpc>
                </a:pPr>
                <a:endParaRPr lang="zh-CN" altLang="en-US" sz="32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167295" y="1684898"/>
                <a:ext cx="9034526" cy="630446"/>
              </a:xfrm>
              <a:prstGeom prst="rect">
                <a:avLst/>
              </a:prstGeom>
              <a:blipFill rotWithShape="1">
                <a:blip r:embed="rId2"/>
                <a:stretch>
                  <a:fillRect l="-3" t="-77494" b="-775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rot="10800000" flipV="1">
                <a:off x="245097" y="4548478"/>
                <a:ext cx="4544695" cy="5340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𝑢</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𝑦</m:t>
                        </m:r>
                      </m:e>
                    </m:d>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𝑣</m:t>
                    </m:r>
                    <m:d>
                      <m:dPr>
                        <m:ctrlPr>
                          <a:rPr lang="en-US" altLang="zh-CN" sz="320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𝑦</m:t>
                        </m:r>
                      </m:e>
                    </m:d>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𝑦</m:t>
                    </m:r>
                  </m:oMath>
                </a14:m>
                <a:r>
                  <a:rPr lang="zh-CN" altLang="en-US" sz="3200" dirty="0">
                    <a:latin typeface="楷体" panose="02010609060101010101" pitchFamily="49" charset="-122"/>
                    <a:ea typeface="楷体" panose="02010609060101010101" pitchFamily="49" charset="-122"/>
                  </a:rPr>
                  <a:t>在实二元函数中却是处处有偏导数</a:t>
                </a:r>
                <a:endParaRPr lang="zh-CN" altLang="en-US" sz="32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rot="10800000" flipV="1">
                <a:off x="245097" y="4548478"/>
                <a:ext cx="4544695" cy="534035"/>
              </a:xfrm>
              <a:prstGeom prst="rect">
                <a:avLst/>
              </a:prstGeom>
              <a:blipFill rotWithShape="1">
                <a:blip r:embed="rId3"/>
                <a:stretch>
                  <a:fillRect l="-14" t="-100589" r="14" b="-10048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rot="10800000" flipV="1">
                <a:off x="802555" y="2922364"/>
                <a:ext cx="3404870" cy="5340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20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acc>
                      <m:accPr>
                        <m:chr m:val="̅"/>
                        <m:ctrlPr>
                          <a:rPr lang="en-US" altLang="zh-CN" sz="3200" i="1" smtClean="0">
                            <a:latin typeface="Cambria Math" panose="02040503050406030204" pitchFamily="18" charset="0"/>
                            <a:ea typeface="Cambria Math" panose="02040503050406030204" pitchFamily="18" charset="0"/>
                            <a:sym typeface="Wingdings" panose="05000000000000000000" pitchFamily="2" charset="2"/>
                          </a:rPr>
                        </m:ctrlPr>
                      </m:accPr>
                      <m:e>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𝑧</m:t>
                        </m:r>
                      </m:e>
                    </m:acc>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𝑖𝑦</m:t>
                    </m:r>
                  </m:oMath>
                </a14:m>
                <a:r>
                  <a:rPr lang="zh-CN" altLang="en-US" sz="3200" dirty="0">
                    <a:latin typeface="楷体" panose="02010609060101010101" pitchFamily="49" charset="-122"/>
                    <a:ea typeface="楷体" panose="02010609060101010101" pitchFamily="49" charset="-122"/>
                  </a:rPr>
                  <a:t>处处不可导</a:t>
                </a:r>
                <a:endParaRPr lang="zh-CN" altLang="en-US" sz="32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rot="10800000" flipV="1">
                <a:off x="802555" y="2922364"/>
                <a:ext cx="3404870" cy="534035"/>
              </a:xfrm>
              <a:prstGeom prst="rect">
                <a:avLst/>
              </a:prstGeom>
              <a:blipFill rotWithShape="1">
                <a:blip r:embed="rId4"/>
                <a:stretch>
                  <a:fillRect l="-16" t="-50315" r="16" b="-5039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rot="10800000" flipV="1">
                <a:off x="5032741" y="3559152"/>
                <a:ext cx="3802991" cy="533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latin typeface="楷体" panose="02010609060101010101" pitchFamily="49" charset="-122"/>
                    <a:ea typeface="楷体" panose="02010609060101010101" pitchFamily="49" charset="-122"/>
                  </a:rPr>
                  <a:t>复变函数的可导和</a:t>
                </a: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𝑢</m:t>
                    </m:r>
                    <m:d>
                      <m:d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𝑦</m:t>
                        </m:r>
                      </m:e>
                    </m:d>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𝑣</m:t>
                    </m:r>
                    <m:d>
                      <m:dPr>
                        <m:ctrlPr>
                          <a:rPr lang="en-US" altLang="zh-CN" sz="320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𝑦</m:t>
                        </m:r>
                      </m:e>
                    </m:d>
                  </m:oMath>
                </a14:m>
                <a:r>
                  <a:rPr lang="zh-CN" altLang="en-US" sz="3200" dirty="0">
                    <a:latin typeface="楷体" panose="02010609060101010101" pitchFamily="49" charset="-122"/>
                    <a:ea typeface="楷体" panose="02010609060101010101" pitchFamily="49" charset="-122"/>
                  </a:rPr>
                  <a:t>的偏导问题不再等价</a:t>
                </a:r>
                <a:endParaRPr lang="zh-CN" altLang="en-US" sz="32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rot="10800000" flipV="1">
                <a:off x="5032741" y="3559152"/>
                <a:ext cx="3802991" cy="533935"/>
              </a:xfrm>
              <a:prstGeom prst="rect">
                <a:avLst/>
              </a:prstGeom>
              <a:blipFill rotWithShape="1">
                <a:blip r:embed="rId5"/>
                <a:stretch>
                  <a:fillRect l="-10" t="-100609" r="9" b="-100517"/>
                </a:stretch>
              </a:blipFill>
            </p:spPr>
            <p:txBody>
              <a:bodyPr/>
              <a:lstStyle/>
              <a:p>
                <a:r>
                  <a:rPr lang="zh-CN" altLang="en-US">
                    <a:noFill/>
                  </a:rPr>
                  <a:t> </a:t>
                </a:r>
              </a:p>
            </p:txBody>
          </p:sp>
        </mc:Fallback>
      </mc:AlternateContent>
      <p:sp>
        <p:nvSpPr>
          <p:cNvPr id="13" name="标题 1"/>
          <p:cNvSpPr txBox="1"/>
          <p:nvPr/>
        </p:nvSpPr>
        <p:spPr>
          <a:xfrm rot="10800000" flipV="1">
            <a:off x="5406756" y="5088697"/>
            <a:ext cx="2198597" cy="533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70000"/>
              </a:lnSpc>
            </a:pPr>
            <a:r>
              <a:rPr lang="zh-CN" altLang="en-US" sz="3200" b="1" dirty="0">
                <a:solidFill>
                  <a:srgbClr val="FF0000"/>
                </a:solidFill>
                <a:latin typeface="楷体" panose="02010609060101010101" pitchFamily="49" charset="-122"/>
                <a:ea typeface="楷体" panose="02010609060101010101" pitchFamily="49" charset="-122"/>
              </a:rPr>
              <a:t>为什么？</a:t>
            </a:r>
            <a:endParaRPr lang="zh-CN" altLang="en-US" sz="3200" b="1" dirty="0">
              <a:solidFill>
                <a:srgbClr val="FF0000"/>
              </a:solidFill>
              <a:latin typeface="楷体" panose="02010609060101010101" pitchFamily="49" charset="-122"/>
              <a:ea typeface="楷体" panose="02010609060101010101" pitchFamily="49" charset="-122"/>
            </a:endParaRPr>
          </a:p>
        </p:txBody>
      </p:sp>
      <p:sp>
        <p:nvSpPr>
          <p:cNvPr id="4" name="右大括号 3"/>
          <p:cNvSpPr/>
          <p:nvPr/>
        </p:nvSpPr>
        <p:spPr>
          <a:xfrm>
            <a:off x="4552302" y="2986391"/>
            <a:ext cx="480695" cy="1901177"/>
          </a:xfrm>
          <a:prstGeom prst="rightBrace">
            <a:avLst/>
          </a:prstGeom>
          <a:effectLst>
            <a:innerShdw blurRad="63500" dist="50800" dir="18900000">
              <a:prstClr val="black">
                <a:alpha val="50000"/>
              </a:prstClr>
            </a:innerShdw>
          </a:effectLst>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b="1"/>
          </a:p>
        </p:txBody>
      </p:sp>
      <p:sp>
        <p:nvSpPr>
          <p:cNvPr id="1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14" name="直接连接符 13"/>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7" grpId="0"/>
      <p:bldP spid="8" grpId="0"/>
      <p:bldP spid="11"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标题 1"/>
              <p:cNvSpPr txBox="1"/>
              <p:nvPr/>
            </p:nvSpPr>
            <p:spPr>
              <a:xfrm>
                <a:off x="122036" y="3691922"/>
                <a:ext cx="8988926" cy="284276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3200" b="0" dirty="0">
                    <a:solidFill>
                      <a:srgbClr val="FF0000"/>
                    </a:solidFill>
                    <a:latin typeface="楷体" panose="02010609060101010101" pitchFamily="49" charset="-122"/>
                    <a:ea typeface="楷体" panose="02010609060101010101" pitchFamily="49" charset="-122"/>
                    <a:sym typeface="Wingdings" panose="05000000000000000000" pitchFamily="2" charset="2"/>
                  </a:rPr>
                  <a:t>Thm2.14</a:t>
                </a:r>
                <a:r>
                  <a:rPr lang="en-US" altLang="zh-CN" sz="3200" b="0" dirty="0">
                    <a:latin typeface="楷体" panose="02010609060101010101" pitchFamily="49" charset="-122"/>
                    <a:ea typeface="楷体" panose="02010609060101010101" pitchFamily="49" charset="-122"/>
                    <a:sym typeface="Wingdings" panose="05000000000000000000" pitchFamily="2" charset="2"/>
                  </a:rPr>
                  <a:t> </a:t>
                </a:r>
                <a:r>
                  <a:rPr lang="zh-CN" altLang="en-US" sz="3200" b="0" dirty="0">
                    <a:latin typeface="楷体" panose="02010609060101010101" pitchFamily="49" charset="-122"/>
                    <a:ea typeface="楷体" panose="02010609060101010101" pitchFamily="49" charset="-122"/>
                    <a:sym typeface="Wingdings" panose="05000000000000000000" pitchFamily="2" charset="2"/>
                  </a:rPr>
                  <a:t>设</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𝑢</m:t>
                    </m:r>
                    <m:d>
                      <m:d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𝑦</m:t>
                        </m:r>
                      </m:e>
                    </m:d>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𝑖𝑣</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𝑦</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定义在区域</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𝐷</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内</a:t>
                </a:r>
                <a:r>
                  <a:rPr lang="en-US" altLang="zh-CN" sz="3200" dirty="0">
                    <a:latin typeface="楷体" panose="02010609060101010101" pitchFamily="49" charset="-122"/>
                    <a:ea typeface="楷体" panose="02010609060101010101" pitchFamily="49" charset="-122"/>
                    <a:sym typeface="Wingdings" panose="05000000000000000000" pitchFamily="2" charset="2"/>
                  </a:rPr>
                  <a:t>,</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𝑧</m:t>
                        </m:r>
                      </m:e>
                    </m:d>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在</a:t>
                </a:r>
                <a14:m>
                  <m:oMath xmlns:m="http://schemas.openxmlformats.org/officeDocument/2006/math">
                    <m:r>
                      <a:rPr lang="en-US" altLang="zh-CN" sz="3200" b="0" i="1" dirty="0" smtClean="0">
                        <a:latin typeface="Cambria Math" panose="02040503050406030204" pitchFamily="18" charset="0"/>
                        <a:ea typeface="楷体" panose="02010609060101010101" pitchFamily="49" charset="-122"/>
                        <a:sym typeface="Wingdings" panose="05000000000000000000" pitchFamily="2" charset="2"/>
                      </a:rPr>
                      <m:t>𝑧</m:t>
                    </m:r>
                    <m:r>
                      <a:rPr lang="en-US" altLang="zh-CN" sz="3200" b="0" i="1" dirty="0"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dirty="0"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200" b="0" i="1" dirty="0"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dirty="0" smtClean="0">
                        <a:latin typeface="Cambria Math" panose="02040503050406030204" pitchFamily="18" charset="0"/>
                        <a:ea typeface="楷体" panose="02010609060101010101" pitchFamily="49" charset="-122"/>
                        <a:sym typeface="Wingdings" panose="05000000000000000000" pitchFamily="2" charset="2"/>
                      </a:rPr>
                      <m:t>𝑖𝑦</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处可导</a:t>
                </a:r>
                <a14:m>
                  <m:oMath xmlns:m="http://schemas.openxmlformats.org/officeDocument/2006/math">
                    <m:groupChr>
                      <m:groupChrPr>
                        <m:chr m:val="⇔"/>
                        <m:vertJc m:val="bot"/>
                        <m:ctrlPr>
                          <a:rPr lang="zh-CN" altLang="en-US" sz="3200" b="0" i="1" smtClean="0">
                            <a:latin typeface="Cambria Math" panose="02040503050406030204" pitchFamily="18" charset="0"/>
                            <a:ea typeface="楷体" panose="02010609060101010101" pitchFamily="49" charset="-122"/>
                            <a:sym typeface="Wingdings" panose="05000000000000000000" pitchFamily="2" charset="2"/>
                          </a:rPr>
                        </m:ctrlPr>
                      </m:groupChrPr>
                      <m:e/>
                    </m:groupChr>
                  </m:oMath>
                </a14:m>
                <a:r>
                  <a:rPr lang="en-US" altLang="zh-CN" sz="3200" dirty="0">
                    <a:ea typeface="楷体" panose="02010609060101010101" pitchFamily="49" charset="-122"/>
                    <a:sym typeface="Wingdings" panose="05000000000000000000" pitchFamily="2" charset="2"/>
                  </a:rPr>
                  <a:t> </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𝑢</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e>
                    </m:d>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𝑣</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e>
                    </m:d>
                    <m:r>
                      <a:rPr lang="zh-CN" altLang="en-US" sz="3200" i="1" smtClean="0">
                        <a:latin typeface="Cambria Math" panose="02040503050406030204" pitchFamily="18" charset="0"/>
                        <a:ea typeface="楷体" panose="02010609060101010101" pitchFamily="49" charset="-122"/>
                        <a:sym typeface="Wingdings" panose="05000000000000000000" pitchFamily="2" charset="2"/>
                      </a:rPr>
                      <m:t>在</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点</a:t>
                </a:r>
                <a14:m>
                  <m:oMath xmlns:m="http://schemas.openxmlformats.org/officeDocument/2006/math">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e>
                    </m:d>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处可微且满足</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𝐶𝑎𝑢𝑐ℎ𝑦</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𝑅𝑖𝑒𝑚𝑎𝑛𝑛</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方程，且</a:t>
                </a:r>
                <a:r>
                  <a:rPr lang="en-US" altLang="zh-CN" sz="3200" i="1" dirty="0">
                    <a:ea typeface="楷体" panose="02010609060101010101" pitchFamily="49" charset="-122"/>
                    <a:sym typeface="Wingdings" panose="05000000000000000000" pitchFamily="2" charset="2"/>
                  </a:rPr>
                  <a:t> </a:t>
                </a:r>
                <a14:m>
                  <m:oMath xmlns:m="http://schemas.openxmlformats.org/officeDocument/2006/math">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𝑓</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b>
                      <m:sSub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b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𝑢</m:t>
                        </m:r>
                      </m:e>
                      <m:sub>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sub>
                    </m:sSub>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𝑖</m:t>
                    </m:r>
                    <m:sSub>
                      <m:sSub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b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𝑣</m:t>
                        </m:r>
                      </m:e>
                      <m:sub>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sub>
                    </m:sSub>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b>
                      <m:sSub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b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𝑣</m:t>
                        </m:r>
                      </m:e>
                      <m:sub>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𝑦</m:t>
                        </m:r>
                      </m:sub>
                    </m:sSub>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𝑖</m:t>
                    </m:r>
                    <m:sSub>
                      <m:sSub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b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𝑢</m:t>
                        </m:r>
                      </m:e>
                      <m:sub>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𝑦</m:t>
                        </m:r>
                      </m:sub>
                    </m:sSub>
                  </m:oMath>
                </a14:m>
                <a:r>
                  <a:rPr lang="en-US" altLang="zh-CN" sz="3200" b="0" dirty="0">
                    <a:latin typeface="楷体" panose="02010609060101010101" pitchFamily="49" charset="-122"/>
                    <a:ea typeface="楷体" panose="02010609060101010101" pitchFamily="49" charset="-122"/>
                    <a:sym typeface="Wingdings" panose="05000000000000000000" pitchFamily="2" charset="2"/>
                  </a:rPr>
                  <a:t>.</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3" name="标题 1"/>
              <p:cNvSpPr txBox="1">
                <a:spLocks noRot="1" noChangeAspect="1" noMove="1" noResize="1" noEditPoints="1" noAdjustHandles="1" noChangeArrowheads="1" noChangeShapeType="1" noTextEdit="1"/>
              </p:cNvSpPr>
              <p:nvPr/>
            </p:nvSpPr>
            <p:spPr>
              <a:xfrm>
                <a:off x="122036" y="3691922"/>
                <a:ext cx="8988926" cy="2842761"/>
              </a:xfrm>
              <a:prstGeom prst="rect">
                <a:avLst/>
              </a:prstGeom>
              <a:blipFill rotWithShape="1">
                <a:blip r:embed="rId1"/>
                <a:stretch>
                  <a:fillRect l="-1" t="-1" r="7"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105181" y="696903"/>
                <a:ext cx="8988926" cy="29501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200" b="0" dirty="0">
                    <a:latin typeface="楷体" panose="02010609060101010101" pitchFamily="49" charset="-122"/>
                    <a:ea typeface="楷体" panose="02010609060101010101" pitchFamily="49" charset="-122"/>
                    <a:sym typeface="Wingdings" panose="05000000000000000000" pitchFamily="2" charset="2"/>
                  </a:rPr>
                  <a:t>达朗贝尔和欧拉由流体力学导出了著名的</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𝐶𝑎𝑢𝑐ℎ𝑦</m:t>
                    </m:r>
                  </m:oMath>
                </a14:m>
                <a:endParaRPr lang="en-US" altLang="zh-CN" sz="3200" i="1" dirty="0">
                  <a:latin typeface="Cambria Math" panose="02040503050406030204" pitchFamily="18" charset="0"/>
                  <a:ea typeface="楷体" panose="02010609060101010101" pitchFamily="49" charset="-122"/>
                  <a:sym typeface="Wingdings" panose="05000000000000000000" pitchFamily="2" charset="2"/>
                </a:endParaRPr>
              </a:p>
              <a:p>
                <a:pPr>
                  <a:lnSpc>
                    <a:spcPct val="120000"/>
                  </a:lnSpc>
                </a:pP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𝑅𝑖𝑒𝑚𝑎𝑛𝑛</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方程</a:t>
                </a:r>
                <a:r>
                  <a:rPr lang="en-US" altLang="zh-CN" sz="3200" dirty="0">
                    <a:latin typeface="楷体" panose="02010609060101010101" pitchFamily="49" charset="-122"/>
                    <a:ea typeface="楷体" panose="02010609060101010101" pitchFamily="49" charset="-122"/>
                    <a:sym typeface="Wingdings" panose="05000000000000000000" pitchFamily="2" charset="2"/>
                  </a:rPr>
                  <a:t>.</a:t>
                </a:r>
                <a:r>
                  <a:rPr lang="zh-CN" altLang="en-US" sz="3200" dirty="0">
                    <a:latin typeface="楷体" panose="02010609060101010101" pitchFamily="49" charset="-122"/>
                    <a:ea typeface="楷体" panose="02010609060101010101" pitchFamily="49" charset="-122"/>
                    <a:sym typeface="Wingdings" panose="05000000000000000000" pitchFamily="2" charset="2"/>
                  </a:rPr>
                  <a:t>这个方程最初出现在达朗贝尔的著作中，后来欧拉将此方程组和解析函数联系起来。然后柯西采用这些方程来构建他的函数理论，黎曼关于此函数的论文也发表</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4" name="标题 1"/>
              <p:cNvSpPr txBox="1">
                <a:spLocks noRot="1" noChangeAspect="1" noMove="1" noResize="1" noEditPoints="1" noAdjustHandles="1" noChangeArrowheads="1" noChangeShapeType="1" noTextEdit="1"/>
              </p:cNvSpPr>
              <p:nvPr/>
            </p:nvSpPr>
            <p:spPr>
              <a:xfrm>
                <a:off x="105181" y="696903"/>
                <a:ext cx="8988926" cy="2950143"/>
              </a:xfrm>
              <a:prstGeom prst="rect">
                <a:avLst/>
              </a:prstGeom>
              <a:blipFill rotWithShape="1">
                <a:blip r:embed="rId2"/>
                <a:stretch>
                  <a:fillRect l="-5" t="-10" r="-223" b="8"/>
                </a:stretch>
              </a:blipFill>
            </p:spPr>
            <p:txBody>
              <a:bodyPr/>
              <a:lstStyle/>
              <a:p>
                <a:r>
                  <a:rPr lang="zh-CN" altLang="en-US">
                    <a:noFill/>
                  </a:rPr>
                  <a:t> </a:t>
                </a:r>
              </a:p>
            </p:txBody>
          </p:sp>
        </mc:Fallback>
      </mc:AlternateContent>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标题 1"/>
              <p:cNvSpPr txBox="1"/>
              <p:nvPr/>
            </p:nvSpPr>
            <p:spPr>
              <a:xfrm>
                <a:off x="122036" y="544387"/>
                <a:ext cx="8900368"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𝑝𝑓</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“必要性”已知</a:t>
                </a:r>
                <a14:m>
                  <m:oMath xmlns:m="http://schemas.openxmlformats.org/officeDocument/2006/math">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𝑓</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𝑧</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可导</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3" name="标题 1"/>
              <p:cNvSpPr txBox="1">
                <a:spLocks noRot="1" noChangeAspect="1" noMove="1" noResize="1" noEditPoints="1" noAdjustHandles="1" noChangeArrowheads="1" noChangeShapeType="1" noTextEdit="1"/>
              </p:cNvSpPr>
              <p:nvPr/>
            </p:nvSpPr>
            <p:spPr>
              <a:xfrm>
                <a:off x="122036" y="544387"/>
                <a:ext cx="8900368" cy="758892"/>
              </a:xfrm>
              <a:prstGeom prst="rect">
                <a:avLst/>
              </a:prstGeom>
              <a:blipFill rotWithShape="1">
                <a:blip r:embed="rId1"/>
                <a:stretch>
                  <a:fillRect l="-1" t="-25" r="4" b="34"/>
                </a:stretch>
              </a:blipFill>
            </p:spPr>
            <p:txBody>
              <a:bodyPr/>
              <a:lstStyle/>
              <a:p>
                <a:r>
                  <a:rPr lang="zh-CN" altLang="en-US">
                    <a:noFill/>
                  </a:rPr>
                  <a:t> </a:t>
                </a:r>
              </a:p>
            </p:txBody>
          </p:sp>
        </mc:Fallback>
      </mc:AlternateContent>
      <p:sp>
        <p:nvSpPr>
          <p:cNvPr id="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4" name="直接连接符 3"/>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标题 1"/>
              <p:cNvSpPr txBox="1"/>
              <p:nvPr/>
            </p:nvSpPr>
            <p:spPr>
              <a:xfrm>
                <a:off x="121816" y="1372860"/>
                <a:ext cx="7115563"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2800" dirty="0">
                    <a:ea typeface="楷体" panose="02010609060101010101" pitchFamily="49" charset="-122"/>
                    <a:sym typeface="Wingdings" panose="05000000000000000000" pitchFamily="2" charset="2"/>
                  </a:rPr>
                  <a:t>即</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𝑓</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000" i="1">
                            <a:latin typeface="Cambria Math" panose="02040503050406030204" pitchFamily="18" charset="0"/>
                            <a:ea typeface="楷体" panose="02010609060101010101" pitchFamily="49" charset="-122"/>
                            <a:sym typeface="Wingdings" panose="05000000000000000000" pitchFamily="2" charset="2"/>
                          </a:rPr>
                          <m:t>𝑧</m:t>
                        </m:r>
                      </m:e>
                    </m:d>
                    <m:r>
                      <a:rPr lang="en-US" altLang="zh-CN" sz="3000" i="1">
                        <a:latin typeface="Cambria Math" panose="02040503050406030204" pitchFamily="18" charset="0"/>
                        <a:ea typeface="楷体" panose="02010609060101010101" pitchFamily="49" charset="-122"/>
                        <a:sym typeface="Wingdings" panose="05000000000000000000" pitchFamily="2" charset="2"/>
                      </a:rPr>
                      <m:t>=</m:t>
                    </m:r>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𝑓</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𝑧</m:t>
                            </m:r>
                          </m:den>
                        </m:f>
                      </m:e>
                    </m:func>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𝑣</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𝑦</m:t>
                            </m:r>
                          </m:den>
                        </m:f>
                      </m:e>
                    </m:func>
                  </m:oMath>
                </a14:m>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8" name="标题 1"/>
              <p:cNvSpPr txBox="1">
                <a:spLocks noRot="1" noChangeAspect="1" noMove="1" noResize="1" noEditPoints="1" noAdjustHandles="1" noChangeArrowheads="1" noChangeShapeType="1" noTextEdit="1"/>
              </p:cNvSpPr>
              <p:nvPr/>
            </p:nvSpPr>
            <p:spPr>
              <a:xfrm>
                <a:off x="121816" y="1372860"/>
                <a:ext cx="7115563" cy="758892"/>
              </a:xfrm>
              <a:prstGeom prst="rect">
                <a:avLst/>
              </a:prstGeom>
              <a:blipFill rotWithShape="1">
                <a:blip r:embed="rId2"/>
                <a:stretch>
                  <a:fillRect l="-7" t="-7446" r="4" b="-73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205391" y="2303928"/>
                <a:ext cx="8900368"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000" b="0" dirty="0">
                    <a:latin typeface="楷体" panose="02010609060101010101" pitchFamily="49" charset="-122"/>
                    <a:ea typeface="楷体" panose="02010609060101010101" pitchFamily="49" charset="-122"/>
                    <a:sym typeface="Wingdings" panose="05000000000000000000" pitchFamily="2" charset="2"/>
                  </a:rPr>
                  <a:t>因为</a:t>
                </a:r>
                <a14:m>
                  <m:oMath xmlns:m="http://schemas.openxmlformats.org/officeDocument/2006/math">
                    <m:r>
                      <a:rPr lang="en-US" altLang="zh-CN" sz="3000" i="1">
                        <a:latin typeface="Cambria Math" panose="02040503050406030204" pitchFamily="18" charset="0"/>
                        <a:ea typeface="楷体" panose="02010609060101010101" pitchFamily="49" charset="-122"/>
                        <a:sym typeface="Wingdings" panose="05000000000000000000" pitchFamily="2" charset="2"/>
                      </a:rPr>
                      <m:t>𝑓</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oMath>
                </a14:m>
                <a:r>
                  <a:rPr lang="zh-CN" altLang="en-US" sz="3000" dirty="0">
                    <a:latin typeface="楷体" panose="02010609060101010101" pitchFamily="49" charset="-122"/>
                    <a:ea typeface="楷体" panose="02010609060101010101" pitchFamily="49" charset="-122"/>
                    <a:sym typeface="Wingdings" panose="05000000000000000000" pitchFamily="2" charset="2"/>
                  </a:rPr>
                  <a:t>可导，则其沿任何路径极限都存在且相等</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0" name="标题 1"/>
              <p:cNvSpPr txBox="1">
                <a:spLocks noRot="1" noChangeAspect="1" noMove="1" noResize="1" noEditPoints="1" noAdjustHandles="1" noChangeArrowheads="1" noChangeShapeType="1" noTextEdit="1"/>
              </p:cNvSpPr>
              <p:nvPr/>
            </p:nvSpPr>
            <p:spPr>
              <a:xfrm>
                <a:off x="205391" y="2303928"/>
                <a:ext cx="8900368" cy="758892"/>
              </a:xfrm>
              <a:prstGeom prst="rect">
                <a:avLst/>
              </a:prstGeom>
              <a:blipFill rotWithShape="1">
                <a:blip r:embed="rId3"/>
                <a:stretch>
                  <a:fillRect l="-3" t="-20" r="6"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267991" y="3612380"/>
                <a:ext cx="8663306"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𝑓</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000" i="1">
                            <a:latin typeface="Cambria Math" panose="02040503050406030204" pitchFamily="18" charset="0"/>
                            <a:ea typeface="楷体" panose="02010609060101010101" pitchFamily="49" charset="-122"/>
                            <a:sym typeface="Wingdings" panose="05000000000000000000" pitchFamily="2" charset="2"/>
                          </a:rPr>
                          <m:t>𝑧</m:t>
                        </m:r>
                      </m:e>
                    </m:d>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𝑣</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𝑦</m:t>
                            </m:r>
                          </m:den>
                        </m:f>
                      </m:e>
                    </m:func>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d>
                      <m:dPr>
                        <m:begChr m:val="{"/>
                        <m:endChr m:val=""/>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dPr>
                      <m:e>
                        <m:eqArr>
                          <m:eqArrPr>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eqArrPr>
                          <m:e>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eqArr>
                                      <m:eqArr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eqArrPr>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e>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𝑦</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0</m:t>
                                        </m:r>
                                      </m:e>
                                    </m:eqAr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𝑢</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𝑣</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den>
                                </m:f>
                              </m:e>
                            </m:func>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sub>
                            </m:sSub>
                          </m:e>
                          <m:e>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eqArr>
                                      <m:eqArr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eqArrPr>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𝑦</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e>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0</m:t>
                                        </m:r>
                                      </m:e>
                                    </m:eqAr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𝑢</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𝑣</m:t>
                                    </m:r>
                                  </m:num>
                                  <m:den>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𝑦</m:t>
                                    </m:r>
                                  </m:den>
                                </m:f>
                              </m:e>
                            </m:func>
                            <m:r>
                              <a:rPr lang="en-US" altLang="zh-CN" sz="3000" i="1">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𝑦</m:t>
                                </m:r>
                              </m:sub>
                            </m:sSub>
                          </m:e>
                        </m:eqArr>
                      </m:e>
                    </m:d>
                  </m:oMath>
                </a14:m>
                <a:r>
                  <a:rPr lang="en-US" altLang="zh-CN" sz="3000" b="0" dirty="0">
                    <a:latin typeface="楷体" panose="02010609060101010101" pitchFamily="49" charset="-122"/>
                    <a:ea typeface="楷体" panose="02010609060101010101" pitchFamily="49" charset="-122"/>
                    <a:sym typeface="Wingdings" panose="05000000000000000000" pitchFamily="2" charset="2"/>
                  </a:rPr>
                  <a:t> </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1" name="标题 1"/>
              <p:cNvSpPr txBox="1">
                <a:spLocks noRot="1" noChangeAspect="1" noMove="1" noResize="1" noEditPoints="1" noAdjustHandles="1" noChangeArrowheads="1" noChangeShapeType="1" noTextEdit="1"/>
              </p:cNvSpPr>
              <p:nvPr/>
            </p:nvSpPr>
            <p:spPr>
              <a:xfrm>
                <a:off x="267991" y="3612380"/>
                <a:ext cx="8663306" cy="758892"/>
              </a:xfrm>
              <a:prstGeom prst="rect">
                <a:avLst/>
              </a:prstGeom>
              <a:blipFill rotWithShape="1">
                <a:blip r:embed="rId4"/>
                <a:stretch>
                  <a:fillRect t="-116792" b="-1167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323378" y="5485140"/>
                <a:ext cx="8900368"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000" b="0" dirty="0">
                    <a:latin typeface="楷体" panose="02010609060101010101" pitchFamily="49" charset="-122"/>
                    <a:ea typeface="楷体" panose="02010609060101010101" pitchFamily="49" charset="-122"/>
                    <a:sym typeface="Wingdings" panose="05000000000000000000" pitchFamily="2" charset="2"/>
                  </a:rPr>
                  <a:t>所以</a:t>
                </a:r>
                <a14:m>
                  <m:oMath xmlns:m="http://schemas.openxmlformats.org/officeDocument/2006/math">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000" b="0" i="0" smtClean="0">
                        <a:latin typeface="Cambria Math" panose="02040503050406030204" pitchFamily="18" charset="0"/>
                        <a:ea typeface="Cambria Math" panose="02040503050406030204" pitchFamily="18" charset="0"/>
                        <a:sym typeface="Wingdings" panose="05000000000000000000" pitchFamily="2" charset="2"/>
                      </a:rPr>
                      <m:t>     </m:t>
                    </m:r>
                    <m:r>
                      <a:rPr lang="en-US" altLang="zh-CN" sz="30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𝐶𝑎𝑢𝑐ℎ𝑦</m:t>
                    </m:r>
                    <m:r>
                      <a:rPr lang="en-US" altLang="zh-CN" sz="30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𝑅𝑖𝑒𝑚𝑎𝑛𝑛</m:t>
                    </m:r>
                  </m:oMath>
                </a14:m>
                <a:r>
                  <a:rPr lang="zh-CN" altLang="en-US" sz="3000" b="0" dirty="0">
                    <a:solidFill>
                      <a:srgbClr val="FF0000"/>
                    </a:solidFill>
                    <a:latin typeface="楷体" panose="02010609060101010101" pitchFamily="49" charset="-122"/>
                    <a:ea typeface="楷体" panose="02010609060101010101" pitchFamily="49" charset="-122"/>
                    <a:sym typeface="Wingdings" panose="05000000000000000000" pitchFamily="2" charset="2"/>
                  </a:rPr>
                  <a:t>方程</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2" name="标题 1"/>
              <p:cNvSpPr txBox="1">
                <a:spLocks noRot="1" noChangeAspect="1" noMove="1" noResize="1" noEditPoints="1" noAdjustHandles="1" noChangeArrowheads="1" noChangeShapeType="1" noTextEdit="1"/>
              </p:cNvSpPr>
              <p:nvPr/>
            </p:nvSpPr>
            <p:spPr>
              <a:xfrm>
                <a:off x="323378" y="5485140"/>
                <a:ext cx="8900368" cy="758892"/>
              </a:xfrm>
              <a:prstGeom prst="rect">
                <a:avLst/>
              </a:prstGeom>
              <a:blipFill rotWithShape="1">
                <a:blip r:embed="rId5"/>
                <a:stretch>
                  <a:fillRect l="-2" t="-1" r="4" b="1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标题 1"/>
              <p:cNvSpPr txBox="1"/>
              <p:nvPr/>
            </p:nvSpPr>
            <p:spPr>
              <a:xfrm>
                <a:off x="175893" y="1565530"/>
                <a:ext cx="8333926"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sym typeface="Wingdings" panose="05000000000000000000" pitchFamily="2" charset="2"/>
                      </a:rPr>
                      <m:t>∴</m:t>
                    </m:r>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𝑢</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𝑣</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𝑦</m:t>
                        </m:r>
                      </m:den>
                    </m:f>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sSup>
                      <m:sSupPr>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𝑓</m:t>
                        </m:r>
                      </m:e>
                      <m:sup>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sup>
                    </m:sSup>
                    <m:d>
                      <m:dPr>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3000" b="0" i="1" smtClean="0">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30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3000" b="0" i="0" smtClean="0">
                        <a:latin typeface="Cambria Math" panose="02040503050406030204" pitchFamily="18" charset="0"/>
                        <a:ea typeface="Cambria Math" panose="02040503050406030204" pitchFamily="18" charset="0"/>
                        <a:sym typeface="Wingdings" panose="05000000000000000000" pitchFamily="2" charset="2"/>
                      </a:rPr>
                      <m:t>,</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当</a:t>
                </a:r>
                <a14:m>
                  <m:oMath xmlns:m="http://schemas.openxmlformats.org/officeDocument/2006/math">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oMath>
                </a14:m>
                <a:r>
                  <a:rPr lang="en-US" altLang="zh-CN" sz="3000" b="0" dirty="0">
                    <a:latin typeface="楷体" panose="02010609060101010101" pitchFamily="49" charset="-122"/>
                    <a:ea typeface="楷体" panose="02010609060101010101" pitchFamily="49" charset="-122"/>
                    <a:sym typeface="Wingdings" panose="05000000000000000000" pitchFamily="2" charset="2"/>
                  </a:rPr>
                  <a:t>0</a:t>
                </a:r>
                <a:r>
                  <a:rPr lang="zh-CN" altLang="en-US" sz="3000" b="0" dirty="0">
                    <a:latin typeface="楷体" panose="02010609060101010101" pitchFamily="49" charset="-122"/>
                    <a:ea typeface="楷体" panose="02010609060101010101" pitchFamily="49" charset="-122"/>
                    <a:sym typeface="Wingdings" panose="05000000000000000000" pitchFamily="2" charset="2"/>
                  </a:rPr>
                  <a:t>时</a:t>
                </a:r>
                <a:r>
                  <a:rPr lang="en-US" altLang="zh-CN" sz="3000" b="0" dirty="0">
                    <a:latin typeface="楷体" panose="02010609060101010101" pitchFamily="49" charset="-122"/>
                    <a:ea typeface="楷体" panose="02010609060101010101" pitchFamily="49" charset="-122"/>
                    <a:sym typeface="Wingdings" panose="05000000000000000000" pitchFamily="2" charset="2"/>
                  </a:rPr>
                  <a:t>,</a:t>
                </a:r>
                <a:r>
                  <a:rPr lang="en-US" altLang="zh-CN" sz="3000" dirty="0">
                    <a:ea typeface="Cambria Math" panose="02040503050406030204" pitchFamily="18" charset="0"/>
                    <a:sym typeface="Wingdings" panose="05000000000000000000" pitchFamily="2" charset="2"/>
                  </a:rPr>
                  <a:t> </a:t>
                </a:r>
                <a14:m>
                  <m:oMath xmlns:m="http://schemas.openxmlformats.org/officeDocument/2006/math">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30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3000" i="1">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30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3000" i="1">
                            <a:latin typeface="Cambria Math" panose="02040503050406030204" pitchFamily="18" charset="0"/>
                            <a:ea typeface="Cambria Math" panose="02040503050406030204" pitchFamily="18" charset="0"/>
                            <a:sym typeface="Wingdings" panose="05000000000000000000" pitchFamily="2" charset="2"/>
                          </a:rPr>
                          <m:t>2</m:t>
                        </m:r>
                      </m:sub>
                    </m:sSub>
                  </m:oMath>
                </a14:m>
                <a:r>
                  <a:rPr lang="en-US" altLang="zh-CN" sz="3000" dirty="0">
                    <a:ea typeface="Cambria Math" panose="02040503050406030204" pitchFamily="18" charset="0"/>
                    <a:sym typeface="Wingdings" panose="05000000000000000000" pitchFamily="2" charset="2"/>
                  </a:rPr>
                  <a:t> </a:t>
                </a:r>
                <a14:m>
                  <m:oMath xmlns:m="http://schemas.openxmlformats.org/officeDocument/2006/math">
                    <m:r>
                      <a:rPr lang="en-US" altLang="zh-CN" sz="3000" i="1">
                        <a:latin typeface="Cambria Math" panose="02040503050406030204" pitchFamily="18" charset="0"/>
                        <a:ea typeface="Cambria Math" panose="02040503050406030204" pitchFamily="18" charset="0"/>
                        <a:sym typeface="Wingdings" panose="05000000000000000000" pitchFamily="2" charset="2"/>
                      </a:rPr>
                      <m:t>→</m:t>
                    </m:r>
                  </m:oMath>
                </a14:m>
                <a:r>
                  <a:rPr lang="en-US" altLang="zh-CN" sz="3000" dirty="0">
                    <a:latin typeface="楷体" panose="02010609060101010101" pitchFamily="49" charset="-122"/>
                    <a:ea typeface="楷体" panose="02010609060101010101" pitchFamily="49" charset="-122"/>
                    <a:sym typeface="Wingdings" panose="05000000000000000000" pitchFamily="2" charset="2"/>
                  </a:rPr>
                  <a:t>0</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9" name="标题 1"/>
              <p:cNvSpPr txBox="1">
                <a:spLocks noRot="1" noChangeAspect="1" noMove="1" noResize="1" noEditPoints="1" noAdjustHandles="1" noChangeArrowheads="1" noChangeShapeType="1" noTextEdit="1"/>
              </p:cNvSpPr>
              <p:nvPr/>
            </p:nvSpPr>
            <p:spPr>
              <a:xfrm>
                <a:off x="175893" y="1565530"/>
                <a:ext cx="8333926" cy="758892"/>
              </a:xfrm>
              <a:prstGeom prst="rect">
                <a:avLst/>
              </a:prstGeom>
              <a:blipFill rotWithShape="1">
                <a:blip r:embed="rId1"/>
                <a:stretch>
                  <a:fillRect l="-8" t="-5807" r="2" b="-58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175893" y="601489"/>
                <a:ext cx="7399862"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𝑓</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000" i="1">
                            <a:latin typeface="Cambria Math" panose="02040503050406030204" pitchFamily="18" charset="0"/>
                            <a:ea typeface="楷体" panose="02010609060101010101" pitchFamily="49" charset="-122"/>
                            <a:sym typeface="Wingdings" panose="05000000000000000000" pitchFamily="2" charset="2"/>
                          </a:rPr>
                          <m:t>𝑧</m:t>
                        </m:r>
                      </m:e>
                    </m:d>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𝑣</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𝑦</m:t>
                            </m:r>
                          </m:den>
                        </m:f>
                      </m:e>
                    </m:func>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sub>
                    </m:sSub>
                  </m:oMath>
                </a14:m>
                <a:r>
                  <a:rPr lang="en-US" altLang="zh-CN" sz="3000" b="0" dirty="0">
                    <a:latin typeface="楷体" panose="02010609060101010101" pitchFamily="49" charset="-122"/>
                    <a:ea typeface="楷体" panose="02010609060101010101" pitchFamily="49" charset="-122"/>
                    <a:sym typeface="Wingdings" panose="05000000000000000000" pitchFamily="2" charset="2"/>
                  </a:rPr>
                  <a:t> </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2" name="标题 1"/>
              <p:cNvSpPr txBox="1">
                <a:spLocks noRot="1" noChangeAspect="1" noMove="1" noResize="1" noEditPoints="1" noAdjustHandles="1" noChangeArrowheads="1" noChangeShapeType="1" noTextEdit="1"/>
              </p:cNvSpPr>
              <p:nvPr/>
            </p:nvSpPr>
            <p:spPr>
              <a:xfrm>
                <a:off x="175893" y="601489"/>
                <a:ext cx="7399862" cy="758892"/>
              </a:xfrm>
              <a:prstGeom prst="rect">
                <a:avLst/>
              </a:prstGeom>
              <a:blipFill rotWithShape="1">
                <a:blip r:embed="rId2"/>
                <a:stretch>
                  <a:fillRect l="-9" t="-5793" r="3" b="-5829"/>
                </a:stretch>
              </a:blipFill>
            </p:spPr>
            <p:txBody>
              <a:bodyPr/>
              <a:lstStyle/>
              <a:p>
                <a:r>
                  <a:rPr lang="zh-CN" altLang="en-US">
                    <a:noFill/>
                  </a:rPr>
                  <a:t> </a:t>
                </a:r>
              </a:p>
            </p:txBody>
          </p:sp>
        </mc:Fallback>
      </mc:AlternateContent>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标题 1"/>
              <p:cNvSpPr txBox="1"/>
              <p:nvPr/>
            </p:nvSpPr>
            <p:spPr>
              <a:xfrm>
                <a:off x="175892" y="2440601"/>
                <a:ext cx="8746881"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Para xmlns:m="http://schemas.openxmlformats.org/officeDocument/2006/math">
                    <m:oMathParaPr>
                      <m:jc m:val="centerGroup"/>
                    </m:oMathParaPr>
                    <m:oMath xmlns:m="http://schemas.openxmlformats.org/officeDocument/2006/math">
                      <m:r>
                        <a:rPr lang="en-US" altLang="zh-CN" sz="26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𝑢</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𝑖</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𝑣</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e>
                      </m:d>
                      <m:d>
                        <m:dPr>
                          <m:ctrlP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𝑖</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e>
                      </m:d>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b="0" i="1" smtClean="0">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2600" b="0" i="0"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𝑖</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𝑦</m:t>
                          </m:r>
                        </m:e>
                      </m:d>
                    </m:oMath>
                  </m:oMathPara>
                </a14:m>
                <a:endParaRPr lang="en-US" altLang="zh-CN" sz="26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8" name="标题 1"/>
              <p:cNvSpPr txBox="1">
                <a:spLocks noRot="1" noChangeAspect="1" noMove="1" noResize="1" noEditPoints="1" noAdjustHandles="1" noChangeArrowheads="1" noChangeShapeType="1" noTextEdit="1"/>
              </p:cNvSpPr>
              <p:nvPr/>
            </p:nvSpPr>
            <p:spPr>
              <a:xfrm>
                <a:off x="175892" y="2440601"/>
                <a:ext cx="8746881" cy="758892"/>
              </a:xfrm>
              <a:prstGeom prst="rect">
                <a:avLst/>
              </a:prstGeom>
              <a:blipFill rotWithShape="1">
                <a:blip r:embed="rId3"/>
                <a:stretch>
                  <a:fillRect l="-7" t="-39" r="4"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601682" y="3035866"/>
                <a:ext cx="5317338"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26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2</m:t>
                        </m:r>
                      </m:sub>
                    </m:sSub>
                  </m:oMath>
                </a14:m>
                <a:r>
                  <a:rPr lang="en-US" altLang="zh-CN" sz="2600" dirty="0">
                    <a:ea typeface="Cambria Math" panose="02040503050406030204" pitchFamily="18" charset="0"/>
                    <a:sym typeface="Wingdings" panose="05000000000000000000" pitchFamily="2" charset="2"/>
                  </a:rPr>
                  <a:t> </a:t>
                </a:r>
                <a14:m>
                  <m:oMath xmlns:m="http://schemas.openxmlformats.org/officeDocument/2006/math">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oMath>
                </a14:m>
                <a:endParaRPr lang="en-US" altLang="zh-CN" sz="26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0" name="标题 1"/>
              <p:cNvSpPr txBox="1">
                <a:spLocks noRot="1" noChangeAspect="1" noMove="1" noResize="1" noEditPoints="1" noAdjustHandles="1" noChangeArrowheads="1" noChangeShapeType="1" noTextEdit="1"/>
              </p:cNvSpPr>
              <p:nvPr/>
            </p:nvSpPr>
            <p:spPr>
              <a:xfrm>
                <a:off x="601682" y="3035866"/>
                <a:ext cx="5317338" cy="758892"/>
              </a:xfrm>
              <a:prstGeom prst="rect">
                <a:avLst/>
              </a:prstGeom>
              <a:blipFill rotWithShape="1">
                <a:blip r:embed="rId4"/>
                <a:stretch>
                  <a:fillRect l="-6" t="-75" r="3" b="83"/>
                </a:stretch>
              </a:blipFill>
            </p:spPr>
            <p:txBody>
              <a:bodyPr/>
              <a:lstStyle/>
              <a:p>
                <a:r>
                  <a:rPr lang="zh-CN" altLang="en-US">
                    <a:noFill/>
                  </a:rPr>
                  <a:t> </a:t>
                </a:r>
              </a:p>
            </p:txBody>
          </p:sp>
        </mc:Fallback>
      </mc:AlternateContent>
      <p:sp>
        <p:nvSpPr>
          <p:cNvPr id="11" name="矩形 10"/>
          <p:cNvSpPr/>
          <p:nvPr/>
        </p:nvSpPr>
        <p:spPr>
          <a:xfrm>
            <a:off x="2286000" y="3128711"/>
            <a:ext cx="614516" cy="6005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2859004" y="3499996"/>
                <a:ext cx="560439" cy="52405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260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solidFill>
                                <a:srgbClr val="FF0000"/>
                              </a:solidFill>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6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𝑦</m:t>
                          </m:r>
                        </m:sub>
                      </m:sSub>
                    </m:oMath>
                  </m:oMathPara>
                </a14:m>
                <a:endParaRPr lang="zh-CN" altLang="en-US" sz="2600" dirty="0"/>
              </a:p>
            </p:txBody>
          </p:sp>
        </mc:Choice>
        <mc:Fallback>
          <p:sp>
            <p:nvSpPr>
              <p:cNvPr id="12" name="文本框 11"/>
              <p:cNvSpPr txBox="1">
                <a:spLocks noRot="1" noChangeAspect="1" noMove="1" noResize="1" noEditPoints="1" noAdjustHandles="1" noChangeArrowheads="1" noChangeShapeType="1" noTextEdit="1"/>
              </p:cNvSpPr>
              <p:nvPr/>
            </p:nvSpPr>
            <p:spPr>
              <a:xfrm>
                <a:off x="2859004" y="3499996"/>
                <a:ext cx="560439" cy="524054"/>
              </a:xfrm>
              <a:prstGeom prst="rect">
                <a:avLst/>
              </a:prstGeom>
              <a:blipFill rotWithShape="1">
                <a:blip r:embed="rId5"/>
                <a:stretch>
                  <a:fillRect l="-42" t="-98" r="108"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601682" y="3822133"/>
                <a:ext cx="5317338"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26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𝑣</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1</m:t>
                        </m:r>
                      </m:sub>
                    </m:sSub>
                  </m:oMath>
                </a14:m>
                <a:r>
                  <a:rPr lang="en-US" altLang="zh-CN" sz="2600" dirty="0">
                    <a:ea typeface="Cambria Math" panose="02040503050406030204" pitchFamily="18" charset="0"/>
                    <a:sym typeface="Wingdings" panose="05000000000000000000" pitchFamily="2" charset="2"/>
                  </a:rPr>
                  <a:t> </a:t>
                </a:r>
                <a14:m>
                  <m:oMath xmlns:m="http://schemas.openxmlformats.org/officeDocument/2006/math">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oMath>
                </a14:m>
                <a:endParaRPr lang="en-US" altLang="zh-CN" sz="26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3" name="标题 1"/>
              <p:cNvSpPr txBox="1">
                <a:spLocks noRot="1" noChangeAspect="1" noMove="1" noResize="1" noEditPoints="1" noAdjustHandles="1" noChangeArrowheads="1" noChangeShapeType="1" noTextEdit="1"/>
              </p:cNvSpPr>
              <p:nvPr/>
            </p:nvSpPr>
            <p:spPr>
              <a:xfrm>
                <a:off x="601682" y="3822133"/>
                <a:ext cx="5317338" cy="758892"/>
              </a:xfrm>
              <a:prstGeom prst="rect">
                <a:avLst/>
              </a:prstGeom>
              <a:blipFill rotWithShape="1">
                <a:blip r:embed="rId6"/>
                <a:stretch>
                  <a:fillRect l="-6" t="-9" r="3" b="18"/>
                </a:stretch>
              </a:blipFill>
            </p:spPr>
            <p:txBody>
              <a:bodyPr/>
              <a:lstStyle/>
              <a:p>
                <a:r>
                  <a:rPr lang="zh-CN" altLang="en-US">
                    <a:noFill/>
                  </a:rPr>
                  <a:t> </a:t>
                </a:r>
              </a:p>
            </p:txBody>
          </p:sp>
        </mc:Fallback>
      </mc:AlternateContent>
      <p:sp>
        <p:nvSpPr>
          <p:cNvPr id="14" name="矩形 13"/>
          <p:cNvSpPr/>
          <p:nvPr/>
        </p:nvSpPr>
        <p:spPr>
          <a:xfrm>
            <a:off x="2286000" y="3914978"/>
            <a:ext cx="614516" cy="6005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5" name="文本框 14"/>
              <p:cNvSpPr txBox="1"/>
              <p:nvPr/>
            </p:nvSpPr>
            <p:spPr>
              <a:xfrm>
                <a:off x="2859004" y="4286263"/>
                <a:ext cx="560439" cy="52405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260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𝑦</m:t>
                          </m:r>
                        </m:sub>
                      </m:sSub>
                    </m:oMath>
                  </m:oMathPara>
                </a14:m>
                <a:endParaRPr lang="zh-CN" altLang="en-US" sz="2600" dirty="0"/>
              </a:p>
            </p:txBody>
          </p:sp>
        </mc:Choice>
        <mc:Fallback>
          <p:sp>
            <p:nvSpPr>
              <p:cNvPr id="15" name="文本框 14"/>
              <p:cNvSpPr txBox="1">
                <a:spLocks noRot="1" noChangeAspect="1" noMove="1" noResize="1" noEditPoints="1" noAdjustHandles="1" noChangeArrowheads="1" noChangeShapeType="1" noTextEdit="1"/>
              </p:cNvSpPr>
              <p:nvPr/>
            </p:nvSpPr>
            <p:spPr>
              <a:xfrm>
                <a:off x="2859004" y="4286263"/>
                <a:ext cx="560439" cy="524054"/>
              </a:xfrm>
              <a:prstGeom prst="rect">
                <a:avLst/>
              </a:prstGeom>
              <a:blipFill rotWithShape="1">
                <a:blip r:embed="rId7"/>
                <a:stretch>
                  <a:fillRect l="-42" t="-2" r="108"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274216" y="4777768"/>
                <a:ext cx="7399862"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sym typeface="Wingdings" panose="05000000000000000000" pitchFamily="2" charset="2"/>
                      </a:rPr>
                      <m:t>∵</m:t>
                    </m:r>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32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32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𝑦</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𝑦</m:t>
                            </m:r>
                          </m:den>
                        </m:f>
                      </m:e>
                    </m:func>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oMath>
                </a14:m>
                <a:r>
                  <a:rPr lang="en-US" altLang="zh-CN" sz="3000" dirty="0">
                    <a:ea typeface="楷体" panose="02010609060101010101" pitchFamily="49" charset="-122"/>
                    <a:sym typeface="Wingdings" panose="05000000000000000000" pitchFamily="2" charset="2"/>
                  </a:rPr>
                  <a:t> </a:t>
                </a:r>
                <a14:m>
                  <m:oMath xmlns:m="http://schemas.openxmlformats.org/officeDocument/2006/math">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32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32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𝑦</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𝑖</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𝑦</m:t>
                            </m:r>
                          </m:den>
                        </m:f>
                      </m:e>
                    </m:func>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oMath>
                </a14:m>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6" name="标题 1"/>
              <p:cNvSpPr txBox="1">
                <a:spLocks noRot="1" noChangeAspect="1" noMove="1" noResize="1" noEditPoints="1" noAdjustHandles="1" noChangeArrowheads="1" noChangeShapeType="1" noTextEdit="1"/>
              </p:cNvSpPr>
              <p:nvPr/>
            </p:nvSpPr>
            <p:spPr>
              <a:xfrm>
                <a:off x="274216" y="4777768"/>
                <a:ext cx="7399862" cy="758892"/>
              </a:xfrm>
              <a:prstGeom prst="rect">
                <a:avLst/>
              </a:prstGeom>
              <a:blipFill rotWithShape="1">
                <a:blip r:embed="rId8"/>
                <a:stretch>
                  <a:fillRect l="-7" t="-6781" r="1" b="-69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274216" y="5629700"/>
                <a:ext cx="2090442"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𝑣</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可微</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7" name="标题 1"/>
              <p:cNvSpPr txBox="1">
                <a:spLocks noRot="1" noChangeAspect="1" noMove="1" noResize="1" noEditPoints="1" noAdjustHandles="1" noChangeArrowheads="1" noChangeShapeType="1" noTextEdit="1"/>
              </p:cNvSpPr>
              <p:nvPr/>
            </p:nvSpPr>
            <p:spPr>
              <a:xfrm>
                <a:off x="274216" y="5629700"/>
                <a:ext cx="2090442" cy="758892"/>
              </a:xfrm>
              <a:prstGeom prst="rect">
                <a:avLst/>
              </a:prstGeom>
              <a:blipFill rotWithShape="1">
                <a:blip r:embed="rId9"/>
                <a:stretch>
                  <a:fillRect l="-25" t="-56" r="26" b="6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8" grpId="0"/>
      <p:bldP spid="10" grpId="0"/>
      <p:bldP spid="11" grpId="0" animBg="1"/>
      <p:bldP spid="12" grpId="0"/>
      <p:bldP spid="13" grpId="0"/>
      <p:bldP spid="14" grpId="0" animBg="1"/>
      <p:bldP spid="15" grpId="0"/>
      <p:bldP spid="16"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标题 1"/>
              <p:cNvSpPr txBox="1"/>
              <p:nvPr/>
            </p:nvSpPr>
            <p:spPr>
              <a:xfrm>
                <a:off x="-90667" y="443854"/>
                <a:ext cx="9021964"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000" b="0" dirty="0">
                    <a:latin typeface="楷体" panose="02010609060101010101" pitchFamily="49" charset="-122"/>
                    <a:ea typeface="楷体" panose="02010609060101010101" pitchFamily="49" charset="-122"/>
                    <a:sym typeface="Wingdings" panose="05000000000000000000" pitchFamily="2" charset="2"/>
                  </a:rPr>
                  <a:t>“充分性”已知</a:t>
                </a:r>
                <a14:m>
                  <m:oMath xmlns:m="http://schemas.openxmlformats.org/officeDocument/2006/math">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𝑢</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𝑣</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可微</a:t>
                </a:r>
                <a:r>
                  <a:rPr lang="en-US" altLang="zh-CN" sz="3000" b="0" dirty="0">
                    <a:latin typeface="楷体" panose="02010609060101010101" pitchFamily="49" charset="-122"/>
                    <a:ea typeface="楷体" panose="02010609060101010101" pitchFamily="49" charset="-122"/>
                    <a:sym typeface="Wingdings" panose="05000000000000000000" pitchFamily="2" charset="2"/>
                  </a:rPr>
                  <a:t>,</a:t>
                </a:r>
                <a14:m>
                  <m:oMath xmlns:m="http://schemas.openxmlformats.org/officeDocument/2006/math">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𝐶</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𝑅</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方程</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3" name="标题 1"/>
              <p:cNvSpPr txBox="1">
                <a:spLocks noRot="1" noChangeAspect="1" noMove="1" noResize="1" noEditPoints="1" noAdjustHandles="1" noChangeArrowheads="1" noChangeShapeType="1" noTextEdit="1"/>
              </p:cNvSpPr>
              <p:nvPr/>
            </p:nvSpPr>
            <p:spPr>
              <a:xfrm>
                <a:off x="-90667" y="443854"/>
                <a:ext cx="9021964" cy="758892"/>
              </a:xfrm>
              <a:prstGeom prst="rect">
                <a:avLst/>
              </a:prstGeom>
              <a:blipFill rotWithShape="1">
                <a:blip r:embed="rId1"/>
                <a:stretch>
                  <a:fillRect l="6" t="-82" b="7"/>
                </a:stretch>
              </a:blipFill>
            </p:spPr>
            <p:txBody>
              <a:bodyPr/>
              <a:lstStyle/>
              <a:p>
                <a:r>
                  <a:rPr lang="zh-CN" altLang="en-US">
                    <a:noFill/>
                  </a:rPr>
                  <a:t> </a:t>
                </a:r>
              </a:p>
            </p:txBody>
          </p:sp>
        </mc:Fallback>
      </mc:AlternateContent>
      <p:sp>
        <p:nvSpPr>
          <p:cNvPr id="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4" name="直接连接符 3"/>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 name="标题 1"/>
              <p:cNvSpPr txBox="1"/>
              <p:nvPr/>
            </p:nvSpPr>
            <p:spPr>
              <a:xfrm>
                <a:off x="212702" y="1056816"/>
                <a:ext cx="1575338"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𝑢</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𝑣</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可微</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5" name="标题 1"/>
              <p:cNvSpPr txBox="1">
                <a:spLocks noRot="1" noChangeAspect="1" noMove="1" noResize="1" noEditPoints="1" noAdjustHandles="1" noChangeArrowheads="1" noChangeShapeType="1" noTextEdit="1"/>
              </p:cNvSpPr>
              <p:nvPr/>
            </p:nvSpPr>
            <p:spPr>
              <a:xfrm>
                <a:off x="212702" y="1056816"/>
                <a:ext cx="1575338" cy="758892"/>
              </a:xfrm>
              <a:prstGeom prst="rect">
                <a:avLst/>
              </a:prstGeom>
              <a:blipFill rotWithShape="1">
                <a:blip r:embed="rId2"/>
                <a:stretch>
                  <a:fillRect l="-39" t="-23" r="33" b="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1513381" y="1052542"/>
                <a:ext cx="5813867"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26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2</m:t>
                        </m:r>
                      </m:sub>
                    </m:sSub>
                  </m:oMath>
                </a14:m>
                <a:r>
                  <a:rPr lang="en-US" altLang="zh-CN" sz="2600" dirty="0">
                    <a:ea typeface="Cambria Math" panose="02040503050406030204" pitchFamily="18" charset="0"/>
                    <a:sym typeface="Wingdings" panose="05000000000000000000" pitchFamily="2" charset="2"/>
                  </a:rPr>
                  <a:t> </a:t>
                </a:r>
                <a14:m>
                  <m:oMath xmlns:m="http://schemas.openxmlformats.org/officeDocument/2006/math">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oMath>
                </a14:m>
                <a:endParaRPr lang="en-US" altLang="zh-CN" sz="26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6" name="标题 1"/>
              <p:cNvSpPr txBox="1">
                <a:spLocks noRot="1" noChangeAspect="1" noMove="1" noResize="1" noEditPoints="1" noAdjustHandles="1" noChangeArrowheads="1" noChangeShapeType="1" noTextEdit="1"/>
              </p:cNvSpPr>
              <p:nvPr/>
            </p:nvSpPr>
            <p:spPr>
              <a:xfrm>
                <a:off x="1513381" y="1052542"/>
                <a:ext cx="5813867" cy="758892"/>
              </a:xfrm>
              <a:prstGeom prst="rect">
                <a:avLst/>
              </a:prstGeom>
              <a:blipFill rotWithShape="1">
                <a:blip r:embed="rId3"/>
                <a:stretch>
                  <a:fillRect l="-3" t="-46" r="11"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1881377" y="1509893"/>
                <a:ext cx="5271592"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26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𝑣</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3</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4</m:t>
                        </m:r>
                      </m:sub>
                    </m:sSub>
                  </m:oMath>
                </a14:m>
                <a:r>
                  <a:rPr lang="en-US" altLang="zh-CN" sz="2600" dirty="0">
                    <a:ea typeface="Cambria Math" panose="02040503050406030204" pitchFamily="18" charset="0"/>
                    <a:sym typeface="Wingdings" panose="05000000000000000000" pitchFamily="2" charset="2"/>
                  </a:rPr>
                  <a:t> </a:t>
                </a:r>
                <a14:m>
                  <m:oMath xmlns:m="http://schemas.openxmlformats.org/officeDocument/2006/math">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oMath>
                </a14:m>
                <a:endParaRPr lang="en-US" altLang="zh-CN" sz="26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7" name="标题 1"/>
              <p:cNvSpPr txBox="1">
                <a:spLocks noRot="1" noChangeAspect="1" noMove="1" noResize="1" noEditPoints="1" noAdjustHandles="1" noChangeArrowheads="1" noChangeShapeType="1" noTextEdit="1"/>
              </p:cNvSpPr>
              <p:nvPr/>
            </p:nvSpPr>
            <p:spPr>
              <a:xfrm>
                <a:off x="1881377" y="1509893"/>
                <a:ext cx="5271592" cy="758892"/>
              </a:xfrm>
              <a:prstGeom prst="rect">
                <a:avLst/>
              </a:prstGeom>
              <a:blipFill rotWithShape="1">
                <a:blip r:embed="rId4"/>
                <a:stretch>
                  <a:fillRect l="-10" t="-66" r="6" b="7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7058810" y="1275764"/>
                <a:ext cx="1937706"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Para xmlns:m="http://schemas.openxmlformats.org/officeDocument/2006/math">
                    <m:oMathParaPr>
                      <m:jc m:val="centerGroup"/>
                    </m:oMathParaPr>
                    <m:oMath xmlns:m="http://schemas.openxmlformats.org/officeDocument/2006/math">
                      <m:func>
                        <m:funcPr>
                          <m:ctrlPr>
                            <a:rPr lang="en-US" altLang="zh-CN" sz="2800" i="1" smtClean="0">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2800">
                                  <a:latin typeface="Cambria Math" panose="02040503050406030204" pitchFamily="18" charset="0"/>
                                  <a:ea typeface="楷体" panose="02010609060101010101" pitchFamily="49" charset="-122"/>
                                  <a:sym typeface="Wingdings" panose="05000000000000000000" pitchFamily="2" charset="2"/>
                                </a:rPr>
                                <m:t>lim</m:t>
                              </m:r>
                            </m:e>
                            <m:lim>
                              <m:r>
                                <a:rPr lang="en-US" altLang="zh-CN" sz="2800" i="1">
                                  <a:latin typeface="Cambria Math" panose="02040503050406030204" pitchFamily="18" charset="0"/>
                                  <a:ea typeface="楷体" panose="02010609060101010101" pitchFamily="49" charset="-122"/>
                                  <a:sym typeface="Wingdings" panose="05000000000000000000" pitchFamily="2" charset="2"/>
                                </a:rPr>
                                <m:t>∆</m:t>
                              </m:r>
                              <m:r>
                                <a:rPr lang="en-US" altLang="zh-CN" sz="2800" i="1">
                                  <a:latin typeface="Cambria Math" panose="02040503050406030204" pitchFamily="18" charset="0"/>
                                  <a:ea typeface="楷体" panose="02010609060101010101" pitchFamily="49" charset="-122"/>
                                  <a:sym typeface="Wingdings" panose="05000000000000000000" pitchFamily="2" charset="2"/>
                                </a:rPr>
                                <m:t>𝑧</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0</m:t>
                              </m:r>
                            </m:lim>
                          </m:limLow>
                        </m:fName>
                        <m:e>
                          <m:sSub>
                            <m:sSub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8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𝑘</m:t>
                              </m:r>
                            </m:sub>
                          </m:sSub>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0</m:t>
                          </m:r>
                        </m:e>
                      </m:func>
                    </m:oMath>
                  </m:oMathPara>
                </a14:m>
                <a:endParaRPr lang="en-US" altLang="zh-CN" sz="26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9" name="标题 1"/>
              <p:cNvSpPr txBox="1">
                <a:spLocks noRot="1" noChangeAspect="1" noMove="1" noResize="1" noEditPoints="1" noAdjustHandles="1" noChangeArrowheads="1" noChangeShapeType="1" noTextEdit="1"/>
              </p:cNvSpPr>
              <p:nvPr/>
            </p:nvSpPr>
            <p:spPr>
              <a:xfrm>
                <a:off x="7058810" y="1275764"/>
                <a:ext cx="1937706" cy="758892"/>
              </a:xfrm>
              <a:prstGeom prst="rect">
                <a:avLst/>
              </a:prstGeom>
              <a:blipFill rotWithShape="1">
                <a:blip r:embed="rId5"/>
                <a:stretch>
                  <a:fillRect l="-8" t="-6" r="24"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212702" y="2245058"/>
                <a:ext cx="4619853" cy="66174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Para xmlns:m="http://schemas.openxmlformats.org/officeDocument/2006/math">
                    <m:oMathParaPr>
                      <m:jc m:val="centerGroup"/>
                    </m:oMathParaPr>
                    <m:oMath xmlns:m="http://schemas.openxmlformats.org/officeDocument/2006/math">
                      <m:r>
                        <a:rPr lang="en-US" altLang="zh-CN" sz="26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𝑢</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𝑖</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𝑣</m:t>
                      </m:r>
                    </m:oMath>
                  </m:oMathPara>
                </a14:m>
                <a:endParaRPr lang="en-US" altLang="zh-CN" sz="26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3" name="标题 1"/>
              <p:cNvSpPr txBox="1">
                <a:spLocks noRot="1" noChangeAspect="1" noMove="1" noResize="1" noEditPoints="1" noAdjustHandles="1" noChangeArrowheads="1" noChangeShapeType="1" noTextEdit="1"/>
              </p:cNvSpPr>
              <p:nvPr/>
            </p:nvSpPr>
            <p:spPr>
              <a:xfrm>
                <a:off x="212702" y="2245058"/>
                <a:ext cx="4619853" cy="661747"/>
              </a:xfrm>
              <a:prstGeom prst="rect">
                <a:avLst/>
              </a:prstGeom>
              <a:blipFill rotWithShape="1">
                <a:blip r:embed="rId6"/>
                <a:stretch>
                  <a:fillRect l="-13" t="-50" r="4" b="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2522628" y="3005550"/>
                <a:ext cx="5550333"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Para xmlns:m="http://schemas.openxmlformats.org/officeDocument/2006/math">
                    <m:oMathParaPr>
                      <m:jc m:val="centerGroup"/>
                    </m:oMathParaPr>
                    <m:oMath xmlns:m="http://schemas.openxmlformats.org/officeDocument/2006/math">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𝑥</m:t>
                              </m:r>
                            </m:sub>
                          </m:sSub>
                        </m:e>
                      </m:d>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𝑦</m:t>
                              </m:r>
                            </m:sub>
                          </m:sSub>
                        </m:e>
                      </m:d>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oMath>
                  </m:oMathPara>
                </a14:m>
                <a:endParaRPr lang="en-US" altLang="zh-CN" sz="2600" b="0" i="1" dirty="0">
                  <a:latin typeface="Cambria Math" panose="02040503050406030204" pitchFamily="18" charset="0"/>
                  <a:ea typeface="Cambria Math" panose="02040503050406030204" pitchFamily="18" charset="0"/>
                  <a:sym typeface="Wingdings" panose="05000000000000000000" pitchFamily="2" charset="2"/>
                </a:endParaRPr>
              </a:p>
              <a:p>
                <a:pPr>
                  <a:lnSpc>
                    <a:spcPct val="120000"/>
                  </a:lnSpc>
                </a:pPr>
                <a:r>
                  <a:rPr lang="en-US" altLang="zh-CN" sz="2600" b="0" dirty="0">
                    <a:ea typeface="Cambria Math" panose="02040503050406030204" pitchFamily="18" charset="0"/>
                    <a:sym typeface="Wingdings" panose="05000000000000000000" pitchFamily="2" charset="2"/>
                  </a:rPr>
                  <a:t>          </a:t>
                </a:r>
                <a14:m>
                  <m:oMath xmlns:m="http://schemas.openxmlformats.org/officeDocument/2006/math">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3</m:t>
                        </m:r>
                      </m:sub>
                    </m:s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6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4</m:t>
                        </m:r>
                      </m:sub>
                    </m:s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r>
                      <m:rPr>
                        <m:nor/>
                      </m:rPr>
                      <a:rPr lang="en-US" altLang="zh-CN" sz="2600" dirty="0">
                        <a:latin typeface="Cambria Math" panose="02040503050406030204" pitchFamily="18" charset="0"/>
                        <a:ea typeface="Cambria Math" panose="02040503050406030204" pitchFamily="18" charset="0"/>
                        <a:sym typeface="Wingdings" panose="05000000000000000000" pitchFamily="2" charset="2"/>
                      </a:rPr>
                      <m:t> </m:t>
                    </m:r>
                    <m:r>
                      <a:rPr lang="en-US" altLang="zh-CN" sz="2600" i="1">
                        <a:latin typeface="Cambria Math" panose="02040503050406030204" pitchFamily="18" charset="0"/>
                        <a:ea typeface="Cambria Math" panose="02040503050406030204" pitchFamily="18" charset="0"/>
                        <a:sym typeface="Wingdings" panose="05000000000000000000" pitchFamily="2" charset="2"/>
                      </a:rPr>
                      <m:t>∆</m:t>
                    </m:r>
                    <m:r>
                      <a:rPr lang="en-US" altLang="zh-CN" sz="2600" i="1">
                        <a:latin typeface="Cambria Math" panose="02040503050406030204" pitchFamily="18" charset="0"/>
                        <a:ea typeface="Cambria Math" panose="02040503050406030204" pitchFamily="18" charset="0"/>
                        <a:sym typeface="Wingdings" panose="05000000000000000000" pitchFamily="2" charset="2"/>
                      </a:rPr>
                      <m:t>𝑦</m:t>
                    </m:r>
                  </m:oMath>
                </a14:m>
                <a:endParaRPr lang="en-US" altLang="zh-CN" sz="26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4" name="标题 1"/>
              <p:cNvSpPr txBox="1">
                <a:spLocks noRot="1" noChangeAspect="1" noMove="1" noResize="1" noEditPoints="1" noAdjustHandles="1" noChangeArrowheads="1" noChangeShapeType="1" noTextEdit="1"/>
              </p:cNvSpPr>
              <p:nvPr/>
            </p:nvSpPr>
            <p:spPr>
              <a:xfrm>
                <a:off x="2522628" y="3005550"/>
                <a:ext cx="5550333" cy="758892"/>
              </a:xfrm>
              <a:prstGeom prst="rect">
                <a:avLst/>
              </a:prstGeom>
              <a:blipFill rotWithShape="1">
                <a:blip r:embed="rId7"/>
                <a:stretch>
                  <a:fillRect l="-7" t="-16664" r="4" b="-1679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280219" y="3863187"/>
                <a:ext cx="5550333"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2600" b="0" dirty="0">
                    <a:latin typeface="楷体" panose="02010609060101010101" pitchFamily="49" charset="-122"/>
                    <a:ea typeface="楷体" panose="02010609060101010101" pitchFamily="49" charset="-122"/>
                    <a:sym typeface="Wingdings" panose="05000000000000000000" pitchFamily="2" charset="2"/>
                  </a:rPr>
                  <a:t>由</a:t>
                </a:r>
                <a14:m>
                  <m:oMath xmlns:m="http://schemas.openxmlformats.org/officeDocument/2006/math">
                    <m:r>
                      <a:rPr lang="en-US" altLang="zh-CN" sz="2600" b="0" i="1" smtClean="0">
                        <a:latin typeface="Cambria Math" panose="02040503050406030204" pitchFamily="18" charset="0"/>
                        <a:ea typeface="楷体" panose="02010609060101010101" pitchFamily="49" charset="-122"/>
                        <a:sym typeface="Wingdings" panose="05000000000000000000" pitchFamily="2" charset="2"/>
                      </a:rPr>
                      <m:t>𝐶</m:t>
                    </m:r>
                    <m:r>
                      <a:rPr lang="en-US" altLang="zh-CN" sz="26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2600" b="0" i="1" smtClean="0">
                        <a:latin typeface="Cambria Math" panose="02040503050406030204" pitchFamily="18" charset="0"/>
                        <a:ea typeface="楷体" panose="02010609060101010101" pitchFamily="49" charset="-122"/>
                        <a:sym typeface="Wingdings" panose="05000000000000000000" pitchFamily="2" charset="2"/>
                      </a:rPr>
                      <m:t>𝑅</m:t>
                    </m:r>
                  </m:oMath>
                </a14:m>
                <a:r>
                  <a:rPr lang="en-US" altLang="zh-CN" sz="2600" b="0" dirty="0">
                    <a:latin typeface="楷体" panose="02010609060101010101" pitchFamily="49" charset="-122"/>
                    <a:ea typeface="楷体" panose="02010609060101010101" pitchFamily="49" charset="-122"/>
                    <a:sym typeface="Wingdings" panose="05000000000000000000" pitchFamily="2" charset="2"/>
                  </a:rPr>
                  <a:t>,</a:t>
                </a:r>
                <a:r>
                  <a:rPr lang="en-US" altLang="zh-CN" sz="2600" dirty="0">
                    <a:ea typeface="Cambria Math" panose="02040503050406030204" pitchFamily="18" charset="0"/>
                    <a:sym typeface="Wingdings" panose="05000000000000000000" pitchFamily="2" charset="2"/>
                  </a:rPr>
                  <a:t> </a:t>
                </a:r>
                <a14:m>
                  <m:oMath xmlns:m="http://schemas.openxmlformats.org/officeDocument/2006/math">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sub>
                    </m:sSub>
                  </m:oMath>
                </a14:m>
                <a:r>
                  <a:rPr lang="en-US" altLang="zh-CN" sz="2600" b="0" dirty="0">
                    <a:latin typeface="楷体" panose="02010609060101010101" pitchFamily="49" charset="-122"/>
                    <a:ea typeface="楷体" panose="02010609060101010101" pitchFamily="49" charset="-122"/>
                    <a:sym typeface="Wingdings" panose="05000000000000000000" pitchFamily="2" charset="2"/>
                  </a:rPr>
                  <a:t>,</a:t>
                </a:r>
                <a:r>
                  <a:rPr lang="en-US" altLang="zh-CN" sz="2600" dirty="0">
                    <a:ea typeface="Cambria Math" panose="02040503050406030204" pitchFamily="18" charset="0"/>
                    <a:sym typeface="Wingdings" panose="05000000000000000000" pitchFamily="2" charset="2"/>
                  </a:rPr>
                  <a:t> </a:t>
                </a:r>
                <a14:m>
                  <m:oMath xmlns:m="http://schemas.openxmlformats.org/officeDocument/2006/math">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m:t>
                    </m:r>
                    <m:sSup>
                      <m:sSupPr>
                        <m:ctrlP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𝑖</m:t>
                        </m:r>
                      </m:e>
                      <m:sup>
                        <m:r>
                          <a:rPr lang="en-US" altLang="zh-CN" sz="2600" b="0" i="1" smtClean="0">
                            <a:latin typeface="Cambria Math" panose="02040503050406030204" pitchFamily="18" charset="0"/>
                            <a:ea typeface="Cambria Math" panose="02040503050406030204" pitchFamily="18" charset="0"/>
                            <a:sym typeface="Wingdings" panose="05000000000000000000" pitchFamily="2" charset="2"/>
                          </a:rPr>
                          <m:t>2</m:t>
                        </m:r>
                      </m:sup>
                    </m:sSup>
                  </m:oMath>
                </a14:m>
                <a:r>
                  <a:rPr lang="en-US" altLang="zh-CN" sz="2600" dirty="0">
                    <a:ea typeface="Cambria Math" panose="02040503050406030204" pitchFamily="18" charset="0"/>
                    <a:sym typeface="Wingdings" panose="05000000000000000000" pitchFamily="2" charset="2"/>
                  </a:rPr>
                  <a:t> </a:t>
                </a:r>
                <a14:m>
                  <m:oMath xmlns:m="http://schemas.openxmlformats.org/officeDocument/2006/math">
                    <m:sSub>
                      <m:sSubPr>
                        <m:ctrlPr>
                          <a:rPr lang="en-US" altLang="zh-CN" sz="26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6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600" i="1">
                            <a:latin typeface="Cambria Math" panose="02040503050406030204" pitchFamily="18" charset="0"/>
                            <a:ea typeface="Cambria Math" panose="02040503050406030204" pitchFamily="18" charset="0"/>
                            <a:sym typeface="Wingdings" panose="05000000000000000000" pitchFamily="2" charset="2"/>
                          </a:rPr>
                          <m:t>𝑥</m:t>
                        </m:r>
                      </m:sub>
                    </m:sSub>
                  </m:oMath>
                </a14:m>
                <a:endParaRPr lang="en-US" altLang="zh-CN" sz="26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5" name="标题 1"/>
              <p:cNvSpPr txBox="1">
                <a:spLocks noRot="1" noChangeAspect="1" noMove="1" noResize="1" noEditPoints="1" noAdjustHandles="1" noChangeArrowheads="1" noChangeShapeType="1" noTextEdit="1"/>
              </p:cNvSpPr>
              <p:nvPr/>
            </p:nvSpPr>
            <p:spPr>
              <a:xfrm>
                <a:off x="280219" y="3863187"/>
                <a:ext cx="5550333" cy="758892"/>
              </a:xfrm>
              <a:prstGeom prst="rect">
                <a:avLst/>
              </a:prstGeom>
              <a:blipFill rotWithShape="1">
                <a:blip r:embed="rId8"/>
                <a:stretch>
                  <a:fillRect l="-3" t="-64" r="11" b="7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126201" y="4476525"/>
                <a:ext cx="8981211"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4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sub>
                          </m:sSub>
                        </m:e>
                      </m:d>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ctrlPr>
                        </m:dPr>
                        <m:e>
                          <m:sSup>
                            <m:sSup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2400" i="1">
                                  <a:latin typeface="Cambria Math" panose="02040503050406030204" pitchFamily="18" charset="0"/>
                                  <a:ea typeface="Cambria Math" panose="02040503050406030204" pitchFamily="18" charset="0"/>
                                  <a:sym typeface="Wingdings" panose="05000000000000000000" pitchFamily="2" charset="2"/>
                                </a:rPr>
                                <m:t>𝑖</m:t>
                              </m:r>
                            </m:e>
                            <m:sup>
                              <m:r>
                                <a:rPr lang="en-US" altLang="zh-CN" sz="2400" i="1">
                                  <a:latin typeface="Cambria Math" panose="02040503050406030204" pitchFamily="18" charset="0"/>
                                  <a:ea typeface="Cambria Math" panose="02040503050406030204" pitchFamily="18" charset="0"/>
                                  <a:sym typeface="Wingdings" panose="05000000000000000000" pitchFamily="2" charset="2"/>
                                </a:rPr>
                                <m:t>2</m:t>
                              </m:r>
                            </m:sup>
                          </m:sSup>
                          <m:sSub>
                            <m:sSubPr>
                              <m:ctrlPr>
                                <a:rPr lang="en-US" altLang="zh-CN" sz="240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sub>
                          </m:sSub>
                        </m:e>
                      </m:d>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3</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i="1">
                              <a:latin typeface="Cambria Math" panose="02040503050406030204" pitchFamily="18" charset="0"/>
                              <a:ea typeface="Cambria Math" panose="02040503050406030204" pitchFamily="18" charset="0"/>
                              <a:sym typeface="Wingdings" panose="05000000000000000000" pitchFamily="2" charset="2"/>
                            </a:rPr>
                            <m:t>4</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m:rPr>
                          <m:nor/>
                        </m:rPr>
                        <a:rPr lang="en-US" altLang="zh-CN" sz="2400" dirty="0">
                          <a:latin typeface="Cambria Math" panose="02040503050406030204" pitchFamily="18" charset="0"/>
                          <a:ea typeface="Cambria Math" panose="02040503050406030204" pitchFamily="18" charset="0"/>
                          <a:sym typeface="Wingdings" panose="05000000000000000000" pitchFamily="2" charset="2"/>
                        </a:rPr>
                        <m:t> </m:t>
                      </m:r>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𝑦</m:t>
                      </m:r>
                    </m:oMath>
                  </m:oMathPara>
                </a14:m>
                <a:endParaRPr lang="en-US" altLang="zh-CN" sz="24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7" name="标题 1"/>
              <p:cNvSpPr txBox="1">
                <a:spLocks noRot="1" noChangeAspect="1" noMove="1" noResize="1" noEditPoints="1" noAdjustHandles="1" noChangeArrowheads="1" noChangeShapeType="1" noTextEdit="1"/>
              </p:cNvSpPr>
              <p:nvPr/>
            </p:nvSpPr>
            <p:spPr>
              <a:xfrm>
                <a:off x="126201" y="4476525"/>
                <a:ext cx="8981211" cy="758892"/>
              </a:xfrm>
              <a:prstGeom prst="rect">
                <a:avLst/>
              </a:prstGeom>
              <a:blipFill rotWithShape="1">
                <a:blip r:embed="rId9"/>
                <a:stretch>
                  <a:fillRect l="-5" t="-54" r="3" b="63"/>
                </a:stretch>
              </a:blipFill>
            </p:spPr>
            <p:txBody>
              <a:bodyPr/>
              <a:lstStyle/>
              <a:p>
                <a:r>
                  <a:rPr lang="zh-CN" altLang="en-US">
                    <a:noFill/>
                  </a:rPr>
                  <a:t> </a:t>
                </a:r>
              </a:p>
            </p:txBody>
          </p:sp>
        </mc:Fallback>
      </mc:AlternateContent>
      <p:sp>
        <p:nvSpPr>
          <p:cNvPr id="18" name="矩形 17"/>
          <p:cNvSpPr/>
          <p:nvPr/>
        </p:nvSpPr>
        <p:spPr>
          <a:xfrm>
            <a:off x="5761703" y="3005550"/>
            <a:ext cx="422787" cy="4234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9" name="文本框 18"/>
              <p:cNvSpPr txBox="1"/>
              <p:nvPr/>
            </p:nvSpPr>
            <p:spPr>
              <a:xfrm>
                <a:off x="5366619" y="2413820"/>
                <a:ext cx="1042196" cy="553998"/>
              </a:xfrm>
              <a:prstGeom prst="rect">
                <a:avLst/>
              </a:prstGeom>
              <a:noFill/>
            </p:spPr>
            <p:txBody>
              <a:bodyPr wrap="square" rtlCol="0">
                <a:spAutoFit/>
              </a:bodyPr>
              <a:lstStyle/>
              <a:p>
                <a14:m>
                  <m:oMath xmlns:m="http://schemas.openxmlformats.org/officeDocument/2006/math">
                    <m:sSup>
                      <m:sSupPr>
                        <m:ctrlPr>
                          <a:rPr lang="en-US" altLang="zh-CN" sz="30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ctrlPr>
                      </m:sSupPr>
                      <m:e>
                        <m:r>
                          <a:rPr lang="en-US" altLang="zh-CN" sz="30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𝑖</m:t>
                        </m:r>
                      </m:e>
                      <m:sup>
                        <m:r>
                          <a:rPr lang="en-US" altLang="zh-CN" sz="30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2</m:t>
                        </m:r>
                      </m:sup>
                    </m:sSup>
                  </m:oMath>
                </a14:m>
                <a:r>
                  <a:rPr lang="en-US" altLang="zh-CN" sz="3000" dirty="0">
                    <a:solidFill>
                      <a:srgbClr val="FF0000"/>
                    </a:solidFill>
                    <a:ea typeface="Cambria Math" panose="02040503050406030204" pitchFamily="18" charset="0"/>
                    <a:sym typeface="Wingdings" panose="05000000000000000000" pitchFamily="2" charset="2"/>
                  </a:rPr>
                  <a:t> </a:t>
                </a:r>
                <a14:m>
                  <m:oMath xmlns:m="http://schemas.openxmlformats.org/officeDocument/2006/math">
                    <m:sSub>
                      <m:sSubPr>
                        <m:ctrlPr>
                          <a:rPr lang="en-US" altLang="zh-CN" sz="3000" i="1">
                            <a:solidFill>
                              <a:srgbClr val="FF0000"/>
                            </a:solidFill>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i="1">
                            <a:solidFill>
                              <a:srgbClr val="FF0000"/>
                            </a:solidFill>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000" i="1">
                            <a:solidFill>
                              <a:srgbClr val="FF0000"/>
                            </a:solidFill>
                            <a:latin typeface="Cambria Math" panose="02040503050406030204" pitchFamily="18" charset="0"/>
                            <a:ea typeface="Cambria Math" panose="02040503050406030204" pitchFamily="18" charset="0"/>
                            <a:sym typeface="Wingdings" panose="05000000000000000000" pitchFamily="2" charset="2"/>
                          </a:rPr>
                          <m:t>𝑥</m:t>
                        </m:r>
                      </m:sub>
                    </m:sSub>
                  </m:oMath>
                </a14:m>
                <a:endParaRPr lang="zh-CN" altLang="en-US" sz="3000" dirty="0">
                  <a:solidFill>
                    <a:srgbClr val="FF0000"/>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5366619" y="2413820"/>
                <a:ext cx="1042196" cy="553998"/>
              </a:xfrm>
              <a:prstGeom prst="rect">
                <a:avLst/>
              </a:prstGeom>
              <a:blipFill rotWithShape="1">
                <a:blip r:embed="rId10"/>
                <a:stretch>
                  <a:fillRect l="-22" t="-33" r="38" b="84"/>
                </a:stretch>
              </a:blipFill>
            </p:spPr>
            <p:txBody>
              <a:bodyPr/>
              <a:lstStyle/>
              <a:p>
                <a:r>
                  <a:rPr lang="zh-CN" altLang="en-US">
                    <a:noFill/>
                  </a:rPr>
                  <a:t> </a:t>
                </a:r>
              </a:p>
            </p:txBody>
          </p:sp>
        </mc:Fallback>
      </mc:AlternateContent>
      <p:sp>
        <p:nvSpPr>
          <p:cNvPr id="20" name="矩形 19"/>
          <p:cNvSpPr/>
          <p:nvPr/>
        </p:nvSpPr>
        <p:spPr>
          <a:xfrm>
            <a:off x="6685935" y="3005550"/>
            <a:ext cx="372875" cy="4947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1" name="文本框 20"/>
              <p:cNvSpPr txBox="1"/>
              <p:nvPr/>
            </p:nvSpPr>
            <p:spPr>
              <a:xfrm>
                <a:off x="6537712" y="2451552"/>
                <a:ext cx="575927" cy="55399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3000" i="1">
                              <a:solidFill>
                                <a:srgbClr val="FF0000"/>
                              </a:solidFill>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000" b="0" i="1" smtClean="0">
                              <a:solidFill>
                                <a:srgbClr val="FF0000"/>
                              </a:solidFill>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000" i="1">
                              <a:solidFill>
                                <a:srgbClr val="FF0000"/>
                              </a:solidFill>
                              <a:latin typeface="Cambria Math" panose="02040503050406030204" pitchFamily="18" charset="0"/>
                              <a:ea typeface="Cambria Math" panose="02040503050406030204" pitchFamily="18" charset="0"/>
                              <a:sym typeface="Wingdings" panose="05000000000000000000" pitchFamily="2" charset="2"/>
                            </a:rPr>
                            <m:t>𝑥</m:t>
                          </m:r>
                        </m:sub>
                      </m:sSub>
                    </m:oMath>
                  </m:oMathPara>
                </a14:m>
                <a:endParaRPr lang="zh-CN" altLang="en-US" sz="3000" dirty="0">
                  <a:solidFill>
                    <a:srgbClr val="FF0000"/>
                  </a:solidFill>
                </a:endParaRPr>
              </a:p>
            </p:txBody>
          </p:sp>
        </mc:Choice>
        <mc:Fallback>
          <p:sp>
            <p:nvSpPr>
              <p:cNvPr id="21" name="文本框 20"/>
              <p:cNvSpPr txBox="1">
                <a:spLocks noRot="1" noChangeAspect="1" noMove="1" noResize="1" noEditPoints="1" noAdjustHandles="1" noChangeArrowheads="1" noChangeShapeType="1" noTextEdit="1"/>
              </p:cNvSpPr>
              <p:nvPr/>
            </p:nvSpPr>
            <p:spPr>
              <a:xfrm>
                <a:off x="6537712" y="2451552"/>
                <a:ext cx="575927" cy="553998"/>
              </a:xfrm>
              <a:prstGeom prst="rect">
                <a:avLst/>
              </a:prstGeom>
              <a:blipFill rotWithShape="1">
                <a:blip r:embed="rId11"/>
                <a:stretch>
                  <a:fillRect l="-67" t="-82" r="64"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09038" y="5070004"/>
                <a:ext cx="8981211"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4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sub>
                          </m:sSub>
                        </m:e>
                      </m:d>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d>
                        <m:dPr>
                          <m:ctrlP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sub>
                          </m:sSub>
                        </m:e>
                      </m:d>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3</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i="1">
                              <a:latin typeface="Cambria Math" panose="02040503050406030204" pitchFamily="18" charset="0"/>
                              <a:ea typeface="Cambria Math" panose="02040503050406030204" pitchFamily="18" charset="0"/>
                              <a:sym typeface="Wingdings" panose="05000000000000000000" pitchFamily="2" charset="2"/>
                            </a:rPr>
                            <m:t>4</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m:rPr>
                          <m:nor/>
                        </m:rPr>
                        <a:rPr lang="en-US" altLang="zh-CN" sz="2400" dirty="0">
                          <a:latin typeface="Cambria Math" panose="02040503050406030204" pitchFamily="18" charset="0"/>
                          <a:ea typeface="Cambria Math" panose="02040503050406030204" pitchFamily="18" charset="0"/>
                          <a:sym typeface="Wingdings" panose="05000000000000000000" pitchFamily="2" charset="2"/>
                        </a:rPr>
                        <m:t> </m:t>
                      </m:r>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𝑦</m:t>
                      </m:r>
                    </m:oMath>
                  </m:oMathPara>
                </a14:m>
                <a:endParaRPr lang="en-US" altLang="zh-CN" sz="24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8" name="标题 1"/>
              <p:cNvSpPr txBox="1">
                <a:spLocks noRot="1" noChangeAspect="1" noMove="1" noResize="1" noEditPoints="1" noAdjustHandles="1" noChangeArrowheads="1" noChangeShapeType="1" noTextEdit="1"/>
              </p:cNvSpPr>
              <p:nvPr/>
            </p:nvSpPr>
            <p:spPr>
              <a:xfrm>
                <a:off x="109038" y="5070004"/>
                <a:ext cx="8981211" cy="758892"/>
              </a:xfrm>
              <a:prstGeom prst="rect">
                <a:avLst/>
              </a:prstGeom>
              <a:blipFill rotWithShape="1">
                <a:blip r:embed="rId12"/>
                <a:stretch>
                  <a:fillRect l="-5" t="-22" r="2"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363794" y="5649337"/>
                <a:ext cx="8735036"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4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sub>
                        </m:sSub>
                      </m:e>
                    </m:d>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3</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i="1">
                            <a:latin typeface="Cambria Math" panose="02040503050406030204" pitchFamily="18" charset="0"/>
                            <a:ea typeface="Cambria Math" panose="02040503050406030204" pitchFamily="18" charset="0"/>
                            <a:sym typeface="Wingdings" panose="05000000000000000000" pitchFamily="2" charset="2"/>
                          </a:rPr>
                          <m:t>4</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m:rPr>
                        <m:nor/>
                      </m:rPr>
                      <a:rPr lang="en-US" altLang="zh-CN" sz="2400" dirty="0">
                        <a:latin typeface="Cambria Math" panose="02040503050406030204" pitchFamily="18" charset="0"/>
                        <a:ea typeface="Cambria Math" panose="02040503050406030204" pitchFamily="18" charset="0"/>
                        <a:sym typeface="Wingdings" panose="05000000000000000000" pitchFamily="2" charset="2"/>
                      </a:rPr>
                      <m:t> </m:t>
                    </m:r>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𝑦</m:t>
                    </m:r>
                  </m:oMath>
                </a14:m>
                <a:r>
                  <a:rPr lang="en-US" altLang="zh-CN" sz="2400" b="0" dirty="0">
                    <a:latin typeface="楷体" panose="02010609060101010101" pitchFamily="49" charset="-122"/>
                    <a:ea typeface="楷体" panose="02010609060101010101" pitchFamily="49" charset="-122"/>
                    <a:sym typeface="Wingdings" panose="05000000000000000000" pitchFamily="2" charset="2"/>
                  </a:rPr>
                  <a:t> </a:t>
                </a:r>
                <a:endParaRPr lang="en-US" altLang="zh-CN" sz="24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0" name="标题 1"/>
              <p:cNvSpPr txBox="1">
                <a:spLocks noRot="1" noChangeAspect="1" noMove="1" noResize="1" noEditPoints="1" noAdjustHandles="1" noChangeArrowheads="1" noChangeShapeType="1" noTextEdit="1"/>
              </p:cNvSpPr>
              <p:nvPr/>
            </p:nvSpPr>
            <p:spPr>
              <a:xfrm>
                <a:off x="363794" y="5649337"/>
                <a:ext cx="8735036" cy="758892"/>
              </a:xfrm>
              <a:prstGeom prst="rect">
                <a:avLst/>
              </a:prstGeom>
              <a:blipFill rotWithShape="1">
                <a:blip r:embed="rId13"/>
                <a:stretch>
                  <a:fillRect l="-7" t="-50" r="6" b="5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9" grpId="0"/>
      <p:bldP spid="13" grpId="0"/>
      <p:bldP spid="14" grpId="0"/>
      <p:bldP spid="15" grpId="0"/>
      <p:bldP spid="17" grpId="0"/>
      <p:bldP spid="18" grpId="0" animBg="1"/>
      <p:bldP spid="20" grpId="0" animBg="1"/>
      <p:bldP spid="8"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4" name="直接连接符 3"/>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标题 1"/>
              <p:cNvSpPr txBox="1"/>
              <p:nvPr/>
            </p:nvSpPr>
            <p:spPr>
              <a:xfrm>
                <a:off x="70678" y="1400680"/>
                <a:ext cx="8947355" cy="66174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ea typeface="Cambria Math" panose="02040503050406030204" pitchFamily="18" charset="0"/>
                          <a:sym typeface="Wingdings" panose="05000000000000000000" pitchFamily="2" charset="2"/>
                        </a:rPr>
                        <m:t>∴</m:t>
                      </m:r>
                      <m:f>
                        <m:fPr>
                          <m:ctrlPr>
                            <a:rPr lang="en-US" altLang="zh-CN" sz="2400" i="1" smtClean="0">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24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2400" i="1">
                                  <a:latin typeface="Cambria Math" panose="02040503050406030204" pitchFamily="18" charset="0"/>
                                  <a:ea typeface="Cambria Math" panose="02040503050406030204" pitchFamily="18" charset="0"/>
                                  <a:sym typeface="Wingdings" panose="05000000000000000000" pitchFamily="2" charset="2"/>
                                </a:rPr>
                                <m:t>𝑧</m:t>
                              </m:r>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2400" i="1">
                                  <a:latin typeface="Cambria Math" panose="02040503050406030204" pitchFamily="18" charset="0"/>
                                  <a:ea typeface="Cambria Math" panose="02040503050406030204" pitchFamily="18" charset="0"/>
                                  <a:sym typeface="Wingdings" panose="05000000000000000000" pitchFamily="2" charset="2"/>
                                </a:rPr>
                                <m:t>𝑧</m:t>
                              </m:r>
                            </m:e>
                          </m:d>
                        </m:num>
                        <m:den>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𝑧</m:t>
                          </m:r>
                        </m:den>
                      </m:f>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𝑥</m:t>
                              </m:r>
                            </m:sub>
                          </m:sSub>
                        </m:e>
                      </m:d>
                      <m:r>
                        <a:rPr lang="en-US" altLang="zh-CN" sz="2400" i="1">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i="1">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i="1">
                                  <a:latin typeface="Cambria Math" panose="02040503050406030204" pitchFamily="18" charset="0"/>
                                  <a:ea typeface="Cambria Math" panose="02040503050406030204" pitchFamily="18" charset="0"/>
                                  <a:sym typeface="Wingdings" panose="05000000000000000000" pitchFamily="2" charset="2"/>
                                </a:rPr>
                                <m:t>3</m:t>
                              </m:r>
                            </m:sub>
                          </m:sSub>
                        </m:e>
                      </m:d>
                      <m:f>
                        <m:fPr>
                          <m:ctrlPr>
                            <a:rPr lang="en-US" altLang="zh-CN" sz="2400" i="1" smtClean="0">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𝑥</m:t>
                          </m:r>
                        </m:num>
                        <m:den>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𝑧</m:t>
                          </m:r>
                        </m:den>
                      </m:f>
                      <m:r>
                        <a:rPr lang="en-US" altLang="zh-CN" sz="2400" i="1">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i="1">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4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400" i="1">
                              <a:latin typeface="Cambria Math" panose="02040503050406030204" pitchFamily="18" charset="0"/>
                              <a:ea typeface="Cambria Math" panose="02040503050406030204" pitchFamily="18" charset="0"/>
                              <a:sym typeface="Wingdings" panose="05000000000000000000" pitchFamily="2" charset="2"/>
                            </a:rPr>
                            <m:t>4</m:t>
                          </m:r>
                        </m:sub>
                      </m:sSub>
                      <m:r>
                        <a:rPr lang="en-US" altLang="zh-CN" sz="2400" i="1">
                          <a:latin typeface="Cambria Math" panose="02040503050406030204" pitchFamily="18" charset="0"/>
                          <a:ea typeface="Cambria Math" panose="02040503050406030204" pitchFamily="18" charset="0"/>
                          <a:sym typeface="Wingdings" panose="05000000000000000000" pitchFamily="2" charset="2"/>
                        </a:rPr>
                        <m:t>)</m:t>
                      </m:r>
                      <m:f>
                        <m:fPr>
                          <m:ctrlPr>
                            <a:rPr lang="en-US" altLang="zh-CN" sz="24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b="0" i="1" smtClean="0">
                              <a:latin typeface="Cambria Math" panose="02040503050406030204" pitchFamily="18" charset="0"/>
                              <a:ea typeface="Cambria Math" panose="02040503050406030204" pitchFamily="18" charset="0"/>
                              <a:sym typeface="Wingdings" panose="05000000000000000000" pitchFamily="2" charset="2"/>
                            </a:rPr>
                            <m:t>𝑦</m:t>
                          </m:r>
                        </m:num>
                        <m:den>
                          <m:r>
                            <a:rPr lang="en-US" altLang="zh-CN" sz="2400" i="1">
                              <a:latin typeface="Cambria Math" panose="02040503050406030204" pitchFamily="18" charset="0"/>
                              <a:ea typeface="Cambria Math" panose="02040503050406030204" pitchFamily="18" charset="0"/>
                              <a:sym typeface="Wingdings" panose="05000000000000000000" pitchFamily="2" charset="2"/>
                            </a:rPr>
                            <m:t>∆</m:t>
                          </m:r>
                          <m:r>
                            <a:rPr lang="en-US" altLang="zh-CN" sz="2400" i="1">
                              <a:latin typeface="Cambria Math" panose="02040503050406030204" pitchFamily="18" charset="0"/>
                              <a:ea typeface="Cambria Math" panose="02040503050406030204" pitchFamily="18" charset="0"/>
                              <a:sym typeface="Wingdings" panose="05000000000000000000" pitchFamily="2" charset="2"/>
                            </a:rPr>
                            <m:t>𝑧</m:t>
                          </m:r>
                        </m:den>
                      </m:f>
                    </m:oMath>
                  </m:oMathPara>
                </a14:m>
                <a:endParaRPr lang="en-US" altLang="zh-CN" sz="24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6" name="标题 1"/>
              <p:cNvSpPr txBox="1">
                <a:spLocks noRot="1" noChangeAspect="1" noMove="1" noResize="1" noEditPoints="1" noAdjustHandles="1" noChangeArrowheads="1" noChangeShapeType="1" noTextEdit="1"/>
              </p:cNvSpPr>
              <p:nvPr/>
            </p:nvSpPr>
            <p:spPr>
              <a:xfrm>
                <a:off x="70678" y="1400680"/>
                <a:ext cx="8947355" cy="661747"/>
              </a:xfrm>
              <a:prstGeom prst="rect">
                <a:avLst/>
              </a:prstGeom>
              <a:blipFill rotWithShape="1">
                <a:blip r:embed="rId1"/>
                <a:stretch>
                  <a:fillRect l="-2" t="-13606" r="4" b="-136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标题 1"/>
              <p:cNvSpPr txBox="1"/>
              <p:nvPr/>
            </p:nvSpPr>
            <p:spPr>
              <a:xfrm>
                <a:off x="117060" y="580711"/>
                <a:ext cx="8947355" cy="75889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2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2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2200" i="1">
                            <a:latin typeface="Cambria Math" panose="02040503050406030204" pitchFamily="18" charset="0"/>
                            <a:ea typeface="Cambria Math" panose="02040503050406030204" pitchFamily="18" charset="0"/>
                            <a:sym typeface="Wingdings" panose="05000000000000000000" pitchFamily="2" charset="2"/>
                          </a:rPr>
                          <m:t>𝑧</m:t>
                        </m:r>
                        <m:r>
                          <a:rPr lang="en-US" altLang="zh-CN" sz="2200" i="1">
                            <a:latin typeface="Cambria Math" panose="02040503050406030204" pitchFamily="18" charset="0"/>
                            <a:ea typeface="Cambria Math" panose="02040503050406030204" pitchFamily="18" charset="0"/>
                            <a:sym typeface="Wingdings" panose="05000000000000000000" pitchFamily="2" charset="2"/>
                          </a:rPr>
                          <m:t>+∆</m:t>
                        </m:r>
                        <m:r>
                          <a:rPr lang="en-US" altLang="zh-CN" sz="22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2200" i="1">
                        <a:latin typeface="Cambria Math" panose="02040503050406030204" pitchFamily="18" charset="0"/>
                        <a:ea typeface="Cambria Math" panose="02040503050406030204" pitchFamily="18" charset="0"/>
                        <a:sym typeface="Wingdings" panose="05000000000000000000" pitchFamily="2" charset="2"/>
                      </a:rPr>
                      <m:t>−</m:t>
                    </m:r>
                    <m:r>
                      <a:rPr lang="en-US" altLang="zh-CN" sz="22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22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22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2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2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2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𝑥</m:t>
                            </m:r>
                          </m:sub>
                        </m:sSub>
                      </m:e>
                    </m:d>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200" i="1">
                        <a:latin typeface="Cambria Math" panose="02040503050406030204" pitchFamily="18" charset="0"/>
                        <a:ea typeface="Cambria Math" panose="02040503050406030204" pitchFamily="18" charset="0"/>
                        <a:sym typeface="Wingdings" panose="05000000000000000000" pitchFamily="2" charset="2"/>
                      </a:rPr>
                      <m:t>∆</m:t>
                    </m:r>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2200" i="1">
                        <a:latin typeface="Cambria Math" panose="02040503050406030204" pitchFamily="18" charset="0"/>
                        <a:ea typeface="Cambria Math" panose="02040503050406030204" pitchFamily="18" charset="0"/>
                        <a:sym typeface="Wingdings" panose="05000000000000000000" pitchFamily="2" charset="2"/>
                      </a:rPr>
                      <m:t>∆</m:t>
                    </m:r>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2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2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1</m:t>
                        </m:r>
                      </m:sub>
                    </m:sSub>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2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2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3</m:t>
                        </m:r>
                      </m:sub>
                    </m:sSub>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200" i="1">
                        <a:latin typeface="Cambria Math" panose="02040503050406030204" pitchFamily="18" charset="0"/>
                        <a:ea typeface="Cambria Math" panose="02040503050406030204" pitchFamily="18" charset="0"/>
                        <a:sym typeface="Wingdings" panose="05000000000000000000" pitchFamily="2" charset="2"/>
                      </a:rPr>
                      <m:t>∆</m:t>
                    </m:r>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22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2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2</m:t>
                        </m:r>
                      </m:sub>
                    </m:sSub>
                    <m:r>
                      <a:rPr lang="en-US" altLang="zh-CN" sz="2200" i="1">
                        <a:latin typeface="Cambria Math" panose="02040503050406030204" pitchFamily="18" charset="0"/>
                        <a:ea typeface="Cambria Math" panose="02040503050406030204" pitchFamily="18" charset="0"/>
                        <a:sym typeface="Wingdings" panose="05000000000000000000" pitchFamily="2" charset="2"/>
                      </a:rPr>
                      <m:t>+</m:t>
                    </m:r>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2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2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200" i="1">
                            <a:latin typeface="Cambria Math" panose="02040503050406030204" pitchFamily="18" charset="0"/>
                            <a:ea typeface="Cambria Math" panose="02040503050406030204" pitchFamily="18" charset="0"/>
                            <a:sym typeface="Wingdings" panose="05000000000000000000" pitchFamily="2" charset="2"/>
                          </a:rPr>
                          <m:t>4</m:t>
                        </m:r>
                      </m:sub>
                    </m:sSub>
                    <m:r>
                      <a:rPr lang="en-US" altLang="zh-CN" sz="2200" b="0" i="1" smtClean="0">
                        <a:latin typeface="Cambria Math" panose="02040503050406030204" pitchFamily="18" charset="0"/>
                        <a:ea typeface="Cambria Math" panose="02040503050406030204" pitchFamily="18" charset="0"/>
                        <a:sym typeface="Wingdings" panose="05000000000000000000" pitchFamily="2" charset="2"/>
                      </a:rPr>
                      <m:t>)</m:t>
                    </m:r>
                    <m:r>
                      <m:rPr>
                        <m:nor/>
                      </m:rPr>
                      <a:rPr lang="en-US" altLang="zh-CN" sz="2200" dirty="0">
                        <a:latin typeface="Cambria Math" panose="02040503050406030204" pitchFamily="18" charset="0"/>
                        <a:ea typeface="Cambria Math" panose="02040503050406030204" pitchFamily="18" charset="0"/>
                        <a:sym typeface="Wingdings" panose="05000000000000000000" pitchFamily="2" charset="2"/>
                      </a:rPr>
                      <m:t> </m:t>
                    </m:r>
                    <m:r>
                      <a:rPr lang="en-US" altLang="zh-CN" sz="2200" i="1">
                        <a:latin typeface="Cambria Math" panose="02040503050406030204" pitchFamily="18" charset="0"/>
                        <a:ea typeface="Cambria Math" panose="02040503050406030204" pitchFamily="18" charset="0"/>
                        <a:sym typeface="Wingdings" panose="05000000000000000000" pitchFamily="2" charset="2"/>
                      </a:rPr>
                      <m:t>∆</m:t>
                    </m:r>
                    <m:r>
                      <a:rPr lang="en-US" altLang="zh-CN" sz="2200" i="1">
                        <a:latin typeface="Cambria Math" panose="02040503050406030204" pitchFamily="18" charset="0"/>
                        <a:ea typeface="Cambria Math" panose="02040503050406030204" pitchFamily="18" charset="0"/>
                        <a:sym typeface="Wingdings" panose="05000000000000000000" pitchFamily="2" charset="2"/>
                      </a:rPr>
                      <m:t>𝑦</m:t>
                    </m:r>
                  </m:oMath>
                </a14:m>
                <a:r>
                  <a:rPr lang="en-US" altLang="zh-CN" sz="2200" b="0" dirty="0">
                    <a:latin typeface="楷体" panose="02010609060101010101" pitchFamily="49" charset="-122"/>
                    <a:ea typeface="楷体" panose="02010609060101010101" pitchFamily="49" charset="-122"/>
                    <a:sym typeface="Wingdings" panose="05000000000000000000" pitchFamily="2" charset="2"/>
                  </a:rPr>
                  <a:t> </a:t>
                </a:r>
                <a:endParaRPr lang="en-US" altLang="zh-CN" sz="2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22" name="标题 1"/>
              <p:cNvSpPr txBox="1">
                <a:spLocks noRot="1" noChangeAspect="1" noMove="1" noResize="1" noEditPoints="1" noAdjustHandles="1" noChangeArrowheads="1" noChangeShapeType="1" noTextEdit="1"/>
              </p:cNvSpPr>
              <p:nvPr/>
            </p:nvSpPr>
            <p:spPr>
              <a:xfrm>
                <a:off x="117060" y="580711"/>
                <a:ext cx="8947355" cy="758892"/>
              </a:xfrm>
              <a:prstGeom prst="rect">
                <a:avLst/>
              </a:prstGeom>
              <a:blipFill rotWithShape="1">
                <a:blip r:embed="rId2"/>
                <a:stretch>
                  <a:fillRect l="-2" t="-42" r="5" b="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标题 1"/>
              <p:cNvSpPr txBox="1"/>
              <p:nvPr/>
            </p:nvSpPr>
            <p:spPr>
              <a:xfrm>
                <a:off x="234122" y="2364242"/>
                <a:ext cx="5507917" cy="66174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28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f>
                      <m:fPr>
                        <m:ctrlPr>
                          <a:rPr lang="en-US" altLang="zh-CN" sz="2800" i="1" smtClean="0">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𝑥</m:t>
                        </m:r>
                      </m:num>
                      <m:den>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𝑧</m:t>
                        </m:r>
                      </m:den>
                    </m:f>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1</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f>
                      <m:f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𝑦</m:t>
                        </m:r>
                      </m:num>
                      <m:den>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den>
                    </m:f>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1</m:t>
                    </m:r>
                  </m:oMath>
                </a14:m>
                <a:r>
                  <a:rPr lang="zh-CN" altLang="en-US" sz="2800" b="0" dirty="0">
                    <a:latin typeface="楷体" panose="02010609060101010101" pitchFamily="49" charset="-122"/>
                    <a:ea typeface="楷体" panose="02010609060101010101" pitchFamily="49" charset="-122"/>
                    <a:sym typeface="Wingdings" panose="05000000000000000000" pitchFamily="2" charset="2"/>
                  </a:rPr>
                  <a:t>且</a:t>
                </a:r>
                <a14:m>
                  <m:oMath xmlns:m="http://schemas.openxmlformats.org/officeDocument/2006/math">
                    <m:func>
                      <m:func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2800">
                                <a:latin typeface="Cambria Math" panose="02040503050406030204" pitchFamily="18" charset="0"/>
                                <a:ea typeface="楷体" panose="02010609060101010101" pitchFamily="49" charset="-122"/>
                                <a:sym typeface="Wingdings" panose="05000000000000000000" pitchFamily="2" charset="2"/>
                              </a:rPr>
                              <m:t>lim</m:t>
                            </m:r>
                          </m:e>
                          <m:lim>
                            <m:r>
                              <a:rPr lang="en-US" altLang="zh-CN" sz="2800" i="1">
                                <a:latin typeface="Cambria Math" panose="02040503050406030204" pitchFamily="18" charset="0"/>
                                <a:ea typeface="楷体" panose="02010609060101010101" pitchFamily="49" charset="-122"/>
                                <a:sym typeface="Wingdings" panose="05000000000000000000" pitchFamily="2" charset="2"/>
                              </a:rPr>
                              <m:t>∆</m:t>
                            </m:r>
                            <m:r>
                              <a:rPr lang="en-US" altLang="zh-CN" sz="2800" i="1">
                                <a:latin typeface="Cambria Math" panose="02040503050406030204" pitchFamily="18" charset="0"/>
                                <a:ea typeface="楷体" panose="02010609060101010101" pitchFamily="49" charset="-122"/>
                                <a:sym typeface="Wingdings" panose="05000000000000000000" pitchFamily="2" charset="2"/>
                              </a:rPr>
                              <m:t>𝑧</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0</m:t>
                            </m:r>
                          </m:lim>
                        </m:limLow>
                      </m:fName>
                      <m:e>
                        <m:sSub>
                          <m:sSub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sSubPr>
                          <m:e>
                            <m:r>
                              <a:rPr lang="zh-CN" altLang="en-US" sz="2800" i="1">
                                <a:latin typeface="Cambria Math" panose="02040503050406030204" pitchFamily="18" charset="0"/>
                                <a:ea typeface="Cambria Math" panose="02040503050406030204" pitchFamily="18" charset="0"/>
                                <a:sym typeface="Wingdings" panose="05000000000000000000" pitchFamily="2" charset="2"/>
                              </a:rPr>
                              <m:t>𝜌</m:t>
                            </m:r>
                          </m:e>
                          <m:sub>
                            <m:r>
                              <a:rPr lang="en-US" altLang="zh-CN" sz="2800" i="1">
                                <a:latin typeface="Cambria Math" panose="02040503050406030204" pitchFamily="18" charset="0"/>
                                <a:ea typeface="Cambria Math" panose="02040503050406030204" pitchFamily="18" charset="0"/>
                                <a:sym typeface="Wingdings" panose="05000000000000000000" pitchFamily="2" charset="2"/>
                              </a:rPr>
                              <m:t>𝑘</m:t>
                            </m:r>
                          </m:sub>
                        </m:sSub>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0</m:t>
                        </m:r>
                      </m:e>
                    </m:func>
                  </m:oMath>
                </a14:m>
                <a:endParaRPr lang="en-US" altLang="zh-CN" sz="28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23" name="标题 1"/>
              <p:cNvSpPr txBox="1">
                <a:spLocks noRot="1" noChangeAspect="1" noMove="1" noResize="1" noEditPoints="1" noAdjustHandles="1" noChangeArrowheads="1" noChangeShapeType="1" noTextEdit="1"/>
              </p:cNvSpPr>
              <p:nvPr/>
            </p:nvSpPr>
            <p:spPr>
              <a:xfrm>
                <a:off x="234122" y="2364242"/>
                <a:ext cx="5507917" cy="661747"/>
              </a:xfrm>
              <a:prstGeom prst="rect">
                <a:avLst/>
              </a:prstGeom>
              <a:blipFill rotWithShape="1">
                <a:blip r:embed="rId3"/>
                <a:stretch>
                  <a:fillRect l="-8" t="-10672" r="7" b="-107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标题 1"/>
              <p:cNvSpPr txBox="1"/>
              <p:nvPr/>
            </p:nvSpPr>
            <p:spPr>
              <a:xfrm>
                <a:off x="234122" y="3429000"/>
                <a:ext cx="8713233" cy="66174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2800" i="1" smtClean="0">
                        <a:latin typeface="Cambria Math" panose="02040503050406030204" pitchFamily="18" charset="0"/>
                        <a:ea typeface="Cambria Math" panose="02040503050406030204" pitchFamily="18" charset="0"/>
                        <a:sym typeface="Wingdings" panose="05000000000000000000" pitchFamily="2" charset="2"/>
                      </a:rPr>
                      <m:t>∴</m:t>
                    </m:r>
                    <m:sSup>
                      <m:sSup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2800" i="1">
                            <a:latin typeface="Cambria Math" panose="02040503050406030204" pitchFamily="18" charset="0"/>
                            <a:ea typeface="楷体" panose="02010609060101010101" pitchFamily="49" charset="-122"/>
                            <a:sym typeface="Wingdings" panose="05000000000000000000" pitchFamily="2" charset="2"/>
                          </a:rPr>
                          <m:t>𝑓</m:t>
                        </m:r>
                      </m:e>
                      <m:sup>
                        <m:r>
                          <a:rPr lang="en-US" altLang="zh-CN" sz="2800" i="1">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dPr>
                      <m:e>
                        <m:r>
                          <a:rPr lang="en-US" altLang="zh-CN" sz="2800" i="1">
                            <a:latin typeface="Cambria Math" panose="02040503050406030204" pitchFamily="18" charset="0"/>
                            <a:ea typeface="楷体" panose="02010609060101010101" pitchFamily="49" charset="-122"/>
                            <a:sym typeface="Wingdings" panose="05000000000000000000" pitchFamily="2" charset="2"/>
                          </a:rPr>
                          <m:t>𝑧</m:t>
                        </m:r>
                      </m:e>
                    </m:d>
                    <m:r>
                      <a:rPr lang="en-US" altLang="zh-CN" sz="2800" i="1">
                        <a:latin typeface="Cambria Math" panose="02040503050406030204" pitchFamily="18" charset="0"/>
                        <a:ea typeface="Cambria Math" panose="02040503050406030204" pitchFamily="18" charset="0"/>
                        <a:sym typeface="Wingdings" panose="05000000000000000000" pitchFamily="2" charset="2"/>
                      </a:rPr>
                      <m:t>=</m:t>
                    </m:r>
                    <m:limLow>
                      <m:limLowPr>
                        <m:ctrlPr>
                          <a:rPr lang="en-US" altLang="zh-CN" sz="28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2800">
                            <a:latin typeface="Cambria Math" panose="02040503050406030204" pitchFamily="18" charset="0"/>
                            <a:ea typeface="楷体" panose="02010609060101010101" pitchFamily="49" charset="-122"/>
                            <a:sym typeface="Wingdings" panose="05000000000000000000" pitchFamily="2" charset="2"/>
                          </a:rPr>
                          <m:t>lim</m:t>
                        </m:r>
                      </m:e>
                      <m:lim>
                        <m:r>
                          <a:rPr lang="en-US" altLang="zh-CN" sz="2800" i="1">
                            <a:latin typeface="Cambria Math" panose="02040503050406030204" pitchFamily="18" charset="0"/>
                            <a:ea typeface="楷体" panose="02010609060101010101" pitchFamily="49" charset="-122"/>
                            <a:sym typeface="Wingdings" panose="05000000000000000000" pitchFamily="2" charset="2"/>
                          </a:rPr>
                          <m:t>∆</m:t>
                        </m:r>
                        <m:r>
                          <a:rPr lang="en-US" altLang="zh-CN" sz="2800" i="1">
                            <a:latin typeface="Cambria Math" panose="02040503050406030204" pitchFamily="18" charset="0"/>
                            <a:ea typeface="楷体" panose="02010609060101010101" pitchFamily="49" charset="-122"/>
                            <a:sym typeface="Wingdings" panose="05000000000000000000" pitchFamily="2" charset="2"/>
                          </a:rPr>
                          <m:t>𝑧</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0</m:t>
                        </m:r>
                      </m:lim>
                    </m:limLow>
                    <m:f>
                      <m:fPr>
                        <m:ctrlPr>
                          <a:rPr lang="en-US" altLang="zh-CN" sz="2800" i="1" smtClean="0">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28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a:latin typeface="Cambria Math" panose="02040503050406030204" pitchFamily="18" charset="0"/>
                            <a:ea typeface="Cambria Math" panose="02040503050406030204" pitchFamily="18" charset="0"/>
                            <a:sym typeface="Wingdings" panose="05000000000000000000" pitchFamily="2" charset="2"/>
                          </a:rPr>
                          <m:t>𝑓</m:t>
                        </m:r>
                        <m:d>
                          <m:d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2800" i="1">
                                <a:latin typeface="Cambria Math" panose="02040503050406030204" pitchFamily="18" charset="0"/>
                                <a:ea typeface="Cambria Math" panose="02040503050406030204" pitchFamily="18" charset="0"/>
                                <a:sym typeface="Wingdings" panose="05000000000000000000" pitchFamily="2" charset="2"/>
                              </a:rPr>
                              <m:t>𝑧</m:t>
                            </m:r>
                          </m:e>
                        </m:d>
                      </m:num>
                      <m:den>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𝑧</m:t>
                        </m:r>
                      </m:den>
                    </m:f>
                    <m:r>
                      <a:rPr lang="en-US" altLang="zh-CN" sz="2800" i="1">
                        <a:latin typeface="Cambria Math" panose="02040503050406030204" pitchFamily="18" charset="0"/>
                        <a:ea typeface="Cambria Math" panose="02040503050406030204" pitchFamily="18" charset="0"/>
                        <a:sym typeface="Wingdings" panose="05000000000000000000" pitchFamily="2" charset="2"/>
                      </a:rPr>
                      <m:t>=</m:t>
                    </m:r>
                    <m:d>
                      <m:dPr>
                        <m:ctrlP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𝑥</m:t>
                            </m:r>
                          </m:sub>
                        </m:sSub>
                      </m:e>
                    </m:d>
                    <m:r>
                      <a:rPr lang="en-US" altLang="zh-CN" sz="2800" i="1">
                        <a:latin typeface="Cambria Math" panose="02040503050406030204" pitchFamily="18" charset="0"/>
                        <a:ea typeface="Cambria Math" panose="02040503050406030204" pitchFamily="18" charset="0"/>
                        <a:sym typeface="Wingdings" panose="05000000000000000000" pitchFamily="2" charset="2"/>
                      </a:rPr>
                      <m:t>+</m:t>
                    </m:r>
                    <m:r>
                      <a:rPr lang="en-US" altLang="zh-CN" sz="280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2800" i="1">
                        <a:latin typeface="Cambria Math" panose="02040503050406030204" pitchFamily="18" charset="0"/>
                        <a:ea typeface="Cambria Math" panose="02040503050406030204" pitchFamily="18" charset="0"/>
                        <a:sym typeface="Wingdings" panose="05000000000000000000" pitchFamily="2" charset="2"/>
                      </a:rPr>
                      <m:t>+</m:t>
                    </m:r>
                  </m:oMath>
                </a14:m>
                <a:r>
                  <a:rPr lang="en-US" altLang="zh-CN" sz="2800" b="0" dirty="0">
                    <a:latin typeface="楷体" panose="02010609060101010101" pitchFamily="49" charset="-122"/>
                    <a:ea typeface="楷体" panose="02010609060101010101" pitchFamily="49" charset="-122"/>
                    <a:sym typeface="Wingdings" panose="05000000000000000000" pitchFamily="2" charset="2"/>
                  </a:rPr>
                  <a:t>0</a:t>
                </a:r>
                <a:endParaRPr lang="en-US" altLang="zh-CN" sz="28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24" name="标题 1"/>
              <p:cNvSpPr txBox="1">
                <a:spLocks noRot="1" noChangeAspect="1" noMove="1" noResize="1" noEditPoints="1" noAdjustHandles="1" noChangeArrowheads="1" noChangeShapeType="1" noTextEdit="1"/>
              </p:cNvSpPr>
              <p:nvPr/>
            </p:nvSpPr>
            <p:spPr>
              <a:xfrm>
                <a:off x="234122" y="3429000"/>
                <a:ext cx="8713233" cy="661747"/>
              </a:xfrm>
              <a:prstGeom prst="rect">
                <a:avLst/>
              </a:prstGeom>
              <a:blipFill rotWithShape="1">
                <a:blip r:embed="rId4"/>
                <a:stretch>
                  <a:fillRect l="-5" t="-9788" r="2" b="-996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标题 1"/>
              <p:cNvSpPr txBox="1"/>
              <p:nvPr/>
            </p:nvSpPr>
            <p:spPr>
              <a:xfrm>
                <a:off x="122036" y="557146"/>
                <a:ext cx="8251111"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b="0" i="1" dirty="0" smtClean="0">
                        <a:latin typeface="Cambria Math" panose="02040503050406030204" pitchFamily="18" charset="0"/>
                        <a:ea typeface="楷体" panose="02010609060101010101" pitchFamily="49" charset="-122"/>
                        <a:sym typeface="Wingdings" panose="05000000000000000000" pitchFamily="2" charset="2"/>
                      </a:rPr>
                      <m:t>𝐸𝑔</m:t>
                    </m:r>
                    <m:r>
                      <a:rPr lang="en-US" altLang="zh-CN" sz="3200" b="0" i="1" dirty="0" smtClean="0">
                        <a:latin typeface="Cambria Math" panose="02040503050406030204" pitchFamily="18" charset="0"/>
                        <a:ea typeface="楷体" panose="02010609060101010101" pitchFamily="49" charset="-122"/>
                        <a:sym typeface="Wingdings" panose="05000000000000000000" pitchFamily="2" charset="2"/>
                      </a:rPr>
                      <m:t>:</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求</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d>
                          <m:dPr>
                            <m:begChr m:val="|"/>
                            <m:endChr m:val="|"/>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d>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的可导点</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4" name="标题 1"/>
              <p:cNvSpPr txBox="1">
                <a:spLocks noRot="1" noChangeAspect="1" noMove="1" noResize="1" noEditPoints="1" noAdjustHandles="1" noChangeArrowheads="1" noChangeShapeType="1" noTextEdit="1"/>
              </p:cNvSpPr>
              <p:nvPr/>
            </p:nvSpPr>
            <p:spPr>
              <a:xfrm>
                <a:off x="122036" y="557146"/>
                <a:ext cx="8251111" cy="757128"/>
              </a:xfrm>
              <a:prstGeom prst="rect">
                <a:avLst/>
              </a:prstGeom>
              <a:blipFill rotWithShape="1">
                <a:blip r:embed="rId1"/>
                <a:stretch>
                  <a:fillRect l="-1" t="-33" b="61"/>
                </a:stretch>
              </a:blipFill>
            </p:spPr>
            <p:txBody>
              <a:bodyPr/>
              <a:lstStyle/>
              <a:p>
                <a:r>
                  <a:rPr lang="zh-CN" altLang="en-US">
                    <a:noFill/>
                  </a:rPr>
                  <a:t> </a:t>
                </a:r>
              </a:p>
            </p:txBody>
          </p:sp>
        </mc:Fallback>
      </mc:AlternateContent>
      <p:sp>
        <p:nvSpPr>
          <p:cNvPr id="3"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标题 1"/>
          <p:cNvSpPr txBox="1"/>
          <p:nvPr/>
        </p:nvSpPr>
        <p:spPr>
          <a:xfrm>
            <a:off x="122036" y="1243748"/>
            <a:ext cx="8251111"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b="0" dirty="0">
                <a:solidFill>
                  <a:srgbClr val="0070C0"/>
                </a:solidFill>
                <a:latin typeface="楷体" panose="02010609060101010101" pitchFamily="49" charset="-122"/>
                <a:ea typeface="楷体" panose="02010609060101010101" pitchFamily="49" charset="-122"/>
                <a:sym typeface="Wingdings" panose="05000000000000000000" pitchFamily="2" charset="2"/>
              </a:rPr>
              <a:t>前面结论：仅在原点可导，其他处处不可导</a:t>
            </a:r>
            <a:endParaRPr lang="en-US" altLang="zh-CN" sz="3200" b="0" dirty="0">
              <a:solidFill>
                <a:srgbClr val="0070C0"/>
              </a:solidFill>
              <a:latin typeface="楷体" panose="02010609060101010101" pitchFamily="49" charset="-122"/>
              <a:ea typeface="楷体" panose="02010609060101010101" pitchFamily="49" charset="-122"/>
              <a:sym typeface="Wingdings" panose="05000000000000000000" pitchFamily="2" charset="2"/>
            </a:endParaRPr>
          </a:p>
        </p:txBody>
      </p:sp>
      <mc:AlternateContent xmlns:mc="http://schemas.openxmlformats.org/markup-compatibility/2006">
        <mc:Choice xmlns:a14="http://schemas.microsoft.com/office/drawing/2010/main" Requires="a14">
          <p:sp>
            <p:nvSpPr>
              <p:cNvPr id="10" name="标题 1"/>
              <p:cNvSpPr txBox="1"/>
              <p:nvPr/>
            </p:nvSpPr>
            <p:spPr>
              <a:xfrm>
                <a:off x="122036" y="1893454"/>
                <a:ext cx="4002389"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d>
                            <m:dPr>
                              <m:begChr m:val="|"/>
                              <m:endChr m:val="|"/>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d>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𝑦</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oMath>
                  </m:oMathPara>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0" name="标题 1"/>
              <p:cNvSpPr txBox="1">
                <a:spLocks noRot="1" noChangeAspect="1" noMove="1" noResize="1" noEditPoints="1" noAdjustHandles="1" noChangeArrowheads="1" noChangeShapeType="1" noTextEdit="1"/>
              </p:cNvSpPr>
              <p:nvPr/>
            </p:nvSpPr>
            <p:spPr>
              <a:xfrm>
                <a:off x="122036" y="1893454"/>
                <a:ext cx="4002389" cy="757128"/>
              </a:xfrm>
              <a:prstGeom prst="rect">
                <a:avLst/>
              </a:prstGeom>
              <a:blipFill rotWithShape="1">
                <a:blip r:embed="rId2"/>
                <a:stretch>
                  <a:fillRect l="-3" t="-69" r="2" b="1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4009038" y="1893454"/>
                <a:ext cx="4002389"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𝑦</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𝑣</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0</m:t>
                      </m:r>
                    </m:oMath>
                  </m:oMathPara>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1" name="标题 1"/>
              <p:cNvSpPr txBox="1">
                <a:spLocks noRot="1" noChangeAspect="1" noMove="1" noResize="1" noEditPoints="1" noAdjustHandles="1" noChangeArrowheads="1" noChangeShapeType="1" noTextEdit="1"/>
              </p:cNvSpPr>
              <p:nvPr/>
            </p:nvSpPr>
            <p:spPr>
              <a:xfrm>
                <a:off x="4009038" y="1893454"/>
                <a:ext cx="4002389" cy="757128"/>
              </a:xfrm>
              <a:prstGeom prst="rect">
                <a:avLst/>
              </a:prstGeom>
              <a:blipFill rotWithShape="1">
                <a:blip r:embed="rId3"/>
                <a:stretch>
                  <a:fillRect l="-7" t="-69" r="7" b="1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468546" y="2650582"/>
                <a:ext cx="6957345"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oMath>
                </a14:m>
                <a:r>
                  <a:rPr lang="en-US" altLang="zh-CN" sz="3200" dirty="0">
                    <a:ea typeface="Cambria Math" panose="02040503050406030204" pitchFamily="18" charset="0"/>
                    <a:sym typeface="Wingdings" panose="05000000000000000000" pitchFamily="2" charset="2"/>
                  </a:rPr>
                  <a:t> </a:t>
                </a:r>
                <a14:m>
                  <m:oMath xmlns:m="http://schemas.openxmlformats.org/officeDocument/2006/math">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oMath>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2" name="标题 1"/>
              <p:cNvSpPr txBox="1">
                <a:spLocks noRot="1" noChangeAspect="1" noMove="1" noResize="1" noEditPoints="1" noAdjustHandles="1" noChangeArrowheads="1" noChangeShapeType="1" noTextEdit="1"/>
              </p:cNvSpPr>
              <p:nvPr/>
            </p:nvSpPr>
            <p:spPr>
              <a:xfrm>
                <a:off x="468546" y="2650582"/>
                <a:ext cx="6957345" cy="757128"/>
              </a:xfrm>
              <a:prstGeom prst="rect">
                <a:avLst/>
              </a:prstGeom>
              <a:blipFill rotWithShape="1">
                <a:blip r:embed="rId4"/>
                <a:stretch>
                  <a:fillRect l="-8" t="-12" r="3"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259940" y="3300288"/>
                <a:ext cx="8624119"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b="0" dirty="0">
                    <a:solidFill>
                      <a:srgbClr val="0070C0"/>
                    </a:solidFill>
                    <a:latin typeface="楷体" panose="02010609060101010101" pitchFamily="49" charset="-122"/>
                    <a:ea typeface="楷体" panose="02010609060101010101" pitchFamily="49" charset="-122"/>
                    <a:sym typeface="Wingdings" panose="05000000000000000000" pitchFamily="2" charset="2"/>
                  </a:rPr>
                  <a:t>可导</a:t>
                </a:r>
                <a14:m>
                  <m:oMath xmlns:m="http://schemas.openxmlformats.org/officeDocument/2006/math">
                    <m:r>
                      <a:rPr lang="zh-CN" altLang="en-US" sz="3000" b="0" i="1" smtClean="0">
                        <a:solidFill>
                          <a:srgbClr val="0070C0"/>
                        </a:solidFill>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solidFill>
                          <a:srgbClr val="0070C0"/>
                        </a:solidFill>
                        <a:latin typeface="Cambria Math" panose="02040503050406030204" pitchFamily="18" charset="0"/>
                        <a:ea typeface="楷体" panose="02010609060101010101" pitchFamily="49" charset="-122"/>
                        <a:sym typeface="Wingdings" panose="05000000000000000000" pitchFamily="2" charset="2"/>
                      </a:rPr>
                      <m:t>𝑢</m:t>
                    </m:r>
                    <m:r>
                      <a:rPr lang="en-US" altLang="zh-CN" sz="3000" b="0" i="1" smtClean="0">
                        <a:solidFill>
                          <a:srgbClr val="0070C0"/>
                        </a:solidFill>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solidFill>
                          <a:srgbClr val="0070C0"/>
                        </a:solidFill>
                        <a:latin typeface="Cambria Math" panose="02040503050406030204" pitchFamily="18" charset="0"/>
                        <a:ea typeface="楷体" panose="02010609060101010101" pitchFamily="49" charset="-122"/>
                        <a:sym typeface="Wingdings" panose="05000000000000000000" pitchFamily="2" charset="2"/>
                      </a:rPr>
                      <m:t>𝑣</m:t>
                    </m:r>
                  </m:oMath>
                </a14:m>
                <a:r>
                  <a:rPr lang="zh-CN" altLang="en-US" sz="3000" b="0" dirty="0">
                    <a:solidFill>
                      <a:srgbClr val="0070C0"/>
                    </a:solidFill>
                    <a:latin typeface="楷体" panose="02010609060101010101" pitchFamily="49" charset="-122"/>
                    <a:ea typeface="楷体" panose="02010609060101010101" pitchFamily="49" charset="-122"/>
                    <a:sym typeface="Wingdings" panose="05000000000000000000" pitchFamily="2" charset="2"/>
                  </a:rPr>
                  <a:t>可微</a:t>
                </a:r>
                <a:r>
                  <a:rPr lang="en-US" altLang="zh-CN" sz="3000" b="0" dirty="0">
                    <a:solidFill>
                      <a:srgbClr val="0070C0"/>
                    </a:solidFill>
                    <a:latin typeface="楷体" panose="02010609060101010101" pitchFamily="49" charset="-122"/>
                    <a:ea typeface="楷体" panose="02010609060101010101" pitchFamily="49" charset="-122"/>
                    <a:sym typeface="Wingdings" panose="05000000000000000000" pitchFamily="2" charset="2"/>
                  </a:rPr>
                  <a:t>,</a:t>
                </a:r>
                <a:r>
                  <a:rPr lang="zh-CN" altLang="en-US" sz="3000" b="0" dirty="0">
                    <a:solidFill>
                      <a:srgbClr val="0070C0"/>
                    </a:solidFill>
                    <a:latin typeface="楷体" panose="02010609060101010101" pitchFamily="49" charset="-122"/>
                    <a:ea typeface="楷体" panose="02010609060101010101" pitchFamily="49" charset="-122"/>
                    <a:sym typeface="Wingdings" panose="05000000000000000000" pitchFamily="2" charset="2"/>
                  </a:rPr>
                  <a:t>满足</a:t>
                </a:r>
                <a14:m>
                  <m:oMath xmlns:m="http://schemas.openxmlformats.org/officeDocument/2006/math">
                    <m:r>
                      <a:rPr lang="en-US" altLang="zh-CN" sz="3000" b="0" i="1" smtClean="0">
                        <a:solidFill>
                          <a:srgbClr val="0070C0"/>
                        </a:solidFill>
                        <a:latin typeface="Cambria Math" panose="02040503050406030204" pitchFamily="18" charset="0"/>
                        <a:ea typeface="楷体" panose="02010609060101010101" pitchFamily="49" charset="-122"/>
                        <a:sym typeface="Wingdings" panose="05000000000000000000" pitchFamily="2" charset="2"/>
                      </a:rPr>
                      <m:t>𝐶</m:t>
                    </m:r>
                    <m:r>
                      <a:rPr lang="en-US" altLang="zh-CN" sz="3000" b="0" i="1" smtClean="0">
                        <a:solidFill>
                          <a:srgbClr val="0070C0"/>
                        </a:solidFill>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solidFill>
                          <a:srgbClr val="0070C0"/>
                        </a:solidFill>
                        <a:latin typeface="Cambria Math" panose="02040503050406030204" pitchFamily="18" charset="0"/>
                        <a:ea typeface="楷体" panose="02010609060101010101" pitchFamily="49" charset="-122"/>
                        <a:sym typeface="Wingdings" panose="05000000000000000000" pitchFamily="2" charset="2"/>
                      </a:rPr>
                      <m:t>𝑅</m:t>
                    </m:r>
                  </m:oMath>
                </a14:m>
                <a:r>
                  <a:rPr lang="zh-CN" altLang="en-US" sz="3000" b="0" dirty="0">
                    <a:solidFill>
                      <a:srgbClr val="0070C0"/>
                    </a:solidFill>
                    <a:latin typeface="楷体" panose="02010609060101010101" pitchFamily="49" charset="-122"/>
                    <a:ea typeface="楷体" panose="02010609060101010101" pitchFamily="49" charset="-122"/>
                    <a:sym typeface="Wingdings" panose="05000000000000000000" pitchFamily="2" charset="2"/>
                  </a:rPr>
                  <a:t>方程</a:t>
                </a:r>
                <a:r>
                  <a:rPr lang="en-US" altLang="zh-CN" sz="3000" b="0" dirty="0">
                    <a:solidFill>
                      <a:srgbClr val="0070C0"/>
                    </a:solidFill>
                    <a:latin typeface="楷体" panose="02010609060101010101" pitchFamily="49" charset="-122"/>
                    <a:ea typeface="楷体" panose="02010609060101010101" pitchFamily="49" charset="-122"/>
                    <a:sym typeface="Wingdings" panose="05000000000000000000" pitchFamily="2" charset="2"/>
                  </a:rPr>
                  <a:t>,</a:t>
                </a:r>
                <a:r>
                  <a:rPr lang="en-US" altLang="zh-CN" sz="3000" dirty="0">
                    <a:solidFill>
                      <a:srgbClr val="0070C0"/>
                    </a:solidFill>
                    <a:ea typeface="楷体" panose="02010609060101010101" pitchFamily="49" charset="-122"/>
                    <a:sym typeface="Wingdings" panose="05000000000000000000" pitchFamily="2" charset="2"/>
                  </a:rPr>
                  <a:t> </a:t>
                </a:r>
                <a14:m>
                  <m:oMath xmlns:m="http://schemas.openxmlformats.org/officeDocument/2006/math">
                    <m:sSup>
                      <m:sSupPr>
                        <m:ctrlP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t>𝑓</m:t>
                        </m:r>
                      </m:e>
                      <m:sup>
                        <m: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ctrlPr>
                      </m:dPr>
                      <m:e>
                        <m: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t>𝑧</m:t>
                        </m:r>
                      </m:e>
                    </m:d>
                    <m: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t>=</m:t>
                    </m:r>
                    <m:sSub>
                      <m:sSubPr>
                        <m:ctrlP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ctrlPr>
                      </m:sSubPr>
                      <m:e>
                        <m: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t>𝑢</m:t>
                        </m:r>
                      </m:e>
                      <m:sub>
                        <m: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t>𝑥</m:t>
                        </m:r>
                      </m:sub>
                    </m:sSub>
                    <m: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t>+</m:t>
                    </m:r>
                    <m: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t>𝑖</m:t>
                    </m:r>
                    <m:sSub>
                      <m:sSubPr>
                        <m:ctrlP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ctrlPr>
                      </m:sSubPr>
                      <m:e>
                        <m: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t>𝑣</m:t>
                        </m:r>
                      </m:e>
                      <m:sub>
                        <m:r>
                          <a:rPr lang="en-US" altLang="zh-CN" sz="3000" i="1">
                            <a:solidFill>
                              <a:srgbClr val="0070C0"/>
                            </a:solidFill>
                            <a:latin typeface="Cambria Math" panose="02040503050406030204" pitchFamily="18" charset="0"/>
                            <a:ea typeface="楷体" panose="02010609060101010101" pitchFamily="49" charset="-122"/>
                            <a:sym typeface="Wingdings" panose="05000000000000000000" pitchFamily="2" charset="2"/>
                          </a:rPr>
                          <m:t>𝑥</m:t>
                        </m:r>
                      </m:sub>
                    </m:sSub>
                  </m:oMath>
                </a14:m>
                <a:endParaRPr lang="en-US" altLang="zh-CN" sz="3000" b="0" dirty="0">
                  <a:solidFill>
                    <a:srgbClr val="0070C0"/>
                  </a:solidFill>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3" name="标题 1"/>
              <p:cNvSpPr txBox="1">
                <a:spLocks noRot="1" noChangeAspect="1" noMove="1" noResize="1" noEditPoints="1" noAdjustHandles="1" noChangeArrowheads="1" noChangeShapeType="1" noTextEdit="1"/>
              </p:cNvSpPr>
              <p:nvPr/>
            </p:nvSpPr>
            <p:spPr>
              <a:xfrm>
                <a:off x="259940" y="3300288"/>
                <a:ext cx="8624119" cy="757128"/>
              </a:xfrm>
              <a:prstGeom prst="rect">
                <a:avLst/>
              </a:prstGeom>
              <a:blipFill rotWithShape="1">
                <a:blip r:embed="rId5"/>
                <a:stretch>
                  <a:fillRect l="-3" t="-25" r="5" b="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362667" y="3879468"/>
                <a:ext cx="5138171"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𝑣</m:t>
                    </m:r>
                  </m:oMath>
                </a14:m>
                <a:r>
                  <a:rPr lang="zh-CN" altLang="en-US" sz="3200" dirty="0">
                    <a:solidFill>
                      <a:schemeClr val="tx1"/>
                    </a:solidFill>
                    <a:latin typeface="楷体" panose="02010609060101010101" pitchFamily="49" charset="-122"/>
                    <a:ea typeface="楷体" panose="02010609060101010101" pitchFamily="49" charset="-122"/>
                    <a:sym typeface="Wingdings" panose="05000000000000000000" pitchFamily="2" charset="2"/>
                  </a:rPr>
                  <a:t>可微</a:t>
                </a:r>
                <a14:m>
                  <m:oMath xmlns:m="http://schemas.openxmlformats.org/officeDocument/2006/math">
                    <m:r>
                      <a:rPr lang="en-US" altLang="zh-CN" sz="3200" i="1" dirty="0">
                        <a:solidFill>
                          <a:schemeClr val="tx1"/>
                        </a:solidFill>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sub>
                    </m:sSub>
                  </m:oMath>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4" name="标题 1"/>
              <p:cNvSpPr txBox="1">
                <a:spLocks noRot="1" noChangeAspect="1" noMove="1" noResize="1" noEditPoints="1" noAdjustHandles="1" noChangeArrowheads="1" noChangeShapeType="1" noTextEdit="1"/>
              </p:cNvSpPr>
              <p:nvPr/>
            </p:nvSpPr>
            <p:spPr>
              <a:xfrm>
                <a:off x="362667" y="3879468"/>
                <a:ext cx="5138171" cy="757128"/>
              </a:xfrm>
              <a:prstGeom prst="rect">
                <a:avLst/>
              </a:prstGeom>
              <a:blipFill rotWithShape="1">
                <a:blip r:embed="rId6"/>
                <a:stretch>
                  <a:fillRect l="-2" t="-33" r="9" b="6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362667" y="4635479"/>
                <a:ext cx="3073552"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oMath>
                  </m:oMathPara>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5" name="标题 1"/>
              <p:cNvSpPr txBox="1">
                <a:spLocks noRot="1" noChangeAspect="1" noMove="1" noResize="1" noEditPoints="1" noAdjustHandles="1" noChangeArrowheads="1" noChangeShapeType="1" noTextEdit="1"/>
              </p:cNvSpPr>
              <p:nvPr/>
            </p:nvSpPr>
            <p:spPr>
              <a:xfrm>
                <a:off x="362667" y="4635479"/>
                <a:ext cx="3073552" cy="757128"/>
              </a:xfrm>
              <a:prstGeom prst="rect">
                <a:avLst/>
              </a:prstGeom>
              <a:blipFill rotWithShape="1">
                <a:blip r:embed="rId7"/>
                <a:stretch>
                  <a:fillRect l="-3" t="-81" r="8"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3253455" y="4599700"/>
                <a:ext cx="2877837"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0</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𝑦</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0</m:t>
                      </m:r>
                    </m:oMath>
                  </m:oMathPara>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6" name="标题 1"/>
              <p:cNvSpPr txBox="1">
                <a:spLocks noRot="1" noChangeAspect="1" noMove="1" noResize="1" noEditPoints="1" noAdjustHandles="1" noChangeArrowheads="1" noChangeShapeType="1" noTextEdit="1"/>
              </p:cNvSpPr>
              <p:nvPr/>
            </p:nvSpPr>
            <p:spPr>
              <a:xfrm>
                <a:off x="3253455" y="4599700"/>
                <a:ext cx="2877837" cy="757128"/>
              </a:xfrm>
              <a:prstGeom prst="rect">
                <a:avLst/>
              </a:prstGeom>
              <a:blipFill rotWithShape="1">
                <a:blip r:embed="rId8"/>
                <a:stretch>
                  <a:fillRect l="-12" t="-52" r="13" b="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409189" y="5428386"/>
                <a:ext cx="8147670"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i="1">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sSupPr>
                      <m:e>
                        <m:d>
                          <m:dPr>
                            <m:begChr m:val="|"/>
                            <m:endChr m:val="|"/>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𝑧</m:t>
                            </m:r>
                          </m:e>
                        </m:d>
                      </m:e>
                      <m:sup>
                        <m:r>
                          <a:rPr lang="en-US" altLang="zh-CN" sz="3200" i="1">
                            <a:latin typeface="Cambria Math" panose="02040503050406030204" pitchFamily="18" charset="0"/>
                            <a:ea typeface="楷体" panose="02010609060101010101" pitchFamily="49" charset="-122"/>
                            <a:sym typeface="Wingdings" panose="05000000000000000000" pitchFamily="2" charset="2"/>
                          </a:rPr>
                          <m:t>2</m:t>
                        </m:r>
                      </m:sup>
                    </m:sSup>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仅在原点可导，其他处处不可导</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7" name="标题 1"/>
              <p:cNvSpPr txBox="1">
                <a:spLocks noRot="1" noChangeAspect="1" noMove="1" noResize="1" noEditPoints="1" noAdjustHandles="1" noChangeArrowheads="1" noChangeShapeType="1" noTextEdit="1"/>
              </p:cNvSpPr>
              <p:nvPr/>
            </p:nvSpPr>
            <p:spPr>
              <a:xfrm>
                <a:off x="409189" y="5428386"/>
                <a:ext cx="8147670" cy="757128"/>
              </a:xfrm>
              <a:prstGeom prst="rect">
                <a:avLst/>
              </a:prstGeom>
              <a:blipFill rotWithShape="1">
                <a:blip r:embed="rId9"/>
                <a:stretch>
                  <a:fillRect l="-3" t="-54" r="3" b="8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13" grpId="0"/>
      <p:bldP spid="14" grpId="0"/>
      <p:bldP spid="15" grpId="0"/>
      <p:bldP spid="16"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标题 1"/>
              <p:cNvSpPr txBox="1"/>
              <p:nvPr/>
            </p:nvSpPr>
            <p:spPr>
              <a:xfrm>
                <a:off x="196930" y="485384"/>
                <a:ext cx="8251111"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200" i="1" dirty="0">
                        <a:latin typeface="Cambria Math" panose="02040503050406030204" pitchFamily="18" charset="0"/>
                        <a:ea typeface="楷体" panose="02010609060101010101" pitchFamily="49" charset="-122"/>
                        <a:sym typeface="Wingdings" panose="05000000000000000000" pitchFamily="2" charset="2"/>
                      </a:rPr>
                      <m:t>𝐸𝑔</m:t>
                    </m:r>
                    <m:r>
                      <a:rPr lang="en-US" altLang="zh-CN" sz="3200" i="1" dirty="0">
                        <a:latin typeface="Cambria Math" panose="02040503050406030204" pitchFamily="18" charset="0"/>
                        <a:ea typeface="楷体" panose="02010609060101010101" pitchFamily="49" charset="-122"/>
                        <a:sym typeface="Wingdings" panose="05000000000000000000" pitchFamily="2" charset="2"/>
                      </a:rPr>
                      <m:t>:</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求</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𝑦𝑖</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的可导点</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6" name="标题 1"/>
              <p:cNvSpPr txBox="1">
                <a:spLocks noRot="1" noChangeAspect="1" noMove="1" noResize="1" noEditPoints="1" noAdjustHandles="1" noChangeArrowheads="1" noChangeShapeType="1" noTextEdit="1"/>
              </p:cNvSpPr>
              <p:nvPr/>
            </p:nvSpPr>
            <p:spPr>
              <a:xfrm>
                <a:off x="196930" y="485384"/>
                <a:ext cx="8251111" cy="757128"/>
              </a:xfrm>
              <a:prstGeom prst="rect">
                <a:avLst/>
              </a:prstGeom>
              <a:blipFill rotWithShape="1">
                <a:blip r:embed="rId1"/>
                <a:stretch>
                  <a:fillRect l="-1" t="-32" b="-24"/>
                </a:stretch>
              </a:blipFill>
            </p:spPr>
            <p:txBody>
              <a:bodyPr/>
              <a:lstStyle/>
              <a:p>
                <a:r>
                  <a:rPr lang="zh-CN" altLang="en-US">
                    <a:noFill/>
                  </a:rPr>
                  <a:t> </a:t>
                </a:r>
              </a:p>
            </p:txBody>
          </p:sp>
        </mc:Fallback>
      </mc:AlternateContent>
      <p:sp>
        <p:nvSpPr>
          <p:cNvPr id="3"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4" name="直接连接符 3"/>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标题 1"/>
              <p:cNvSpPr txBox="1"/>
              <p:nvPr/>
            </p:nvSpPr>
            <p:spPr>
              <a:xfrm>
                <a:off x="196930" y="1157548"/>
                <a:ext cx="3667613"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latin typeface="楷体" panose="02010609060101010101" pitchFamily="49" charset="-122"/>
                    <a:ea typeface="楷体" panose="02010609060101010101" pitchFamily="49" charset="-122"/>
                    <a:sym typeface="Wingdings" panose="05000000000000000000" pitchFamily="2" charset="2"/>
                  </a:rPr>
                  <a:t>解：</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𝑢</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𝑣</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𝑦</m:t>
                    </m:r>
                  </m:oMath>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9" name="标题 1"/>
              <p:cNvSpPr txBox="1">
                <a:spLocks noRot="1" noChangeAspect="1" noMove="1" noResize="1" noEditPoints="1" noAdjustHandles="1" noChangeArrowheads="1" noChangeShapeType="1" noTextEdit="1"/>
              </p:cNvSpPr>
              <p:nvPr/>
            </p:nvSpPr>
            <p:spPr>
              <a:xfrm>
                <a:off x="196930" y="1157548"/>
                <a:ext cx="3667613" cy="757128"/>
              </a:xfrm>
              <a:prstGeom prst="rect">
                <a:avLst/>
              </a:prstGeom>
              <a:blipFill rotWithShape="1">
                <a:blip r:embed="rId2"/>
                <a:stretch>
                  <a:fillRect l="-2" t="-76" r="15" b="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1214502" y="1938445"/>
                <a:ext cx="7693678"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𝑣</m:t>
                    </m:r>
                  </m:oMath>
                </a14:m>
                <a:r>
                  <a:rPr lang="zh-CN" altLang="en-US" sz="3200" dirty="0">
                    <a:solidFill>
                      <a:schemeClr val="tx1"/>
                    </a:solidFill>
                    <a:latin typeface="楷体" panose="02010609060101010101" pitchFamily="49" charset="-122"/>
                    <a:ea typeface="楷体" panose="02010609060101010101" pitchFamily="49" charset="-122"/>
                    <a:sym typeface="Wingdings" panose="05000000000000000000" pitchFamily="2" charset="2"/>
                  </a:rPr>
                  <a:t>可微</a:t>
                </a:r>
                <a14:m>
                  <m:oMath xmlns:m="http://schemas.openxmlformats.org/officeDocument/2006/math">
                    <m:r>
                      <a:rPr lang="en-US" altLang="zh-CN" sz="3200" i="1" dirty="0">
                        <a:solidFill>
                          <a:schemeClr val="tx1"/>
                        </a:solidFill>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oMath>
                </a14:m>
                <a:r>
                  <a:rPr lang="en-US" altLang="zh-CN" sz="3200" dirty="0">
                    <a:ea typeface="Cambria Math" panose="02040503050406030204" pitchFamily="18" charset="0"/>
                    <a:sym typeface="Wingdings" panose="05000000000000000000" pitchFamily="2" charset="2"/>
                  </a:rPr>
                  <a:t> </a:t>
                </a:r>
                <a14:m>
                  <m:oMath xmlns:m="http://schemas.openxmlformats.org/officeDocument/2006/math">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oMath>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0" name="标题 1"/>
              <p:cNvSpPr txBox="1">
                <a:spLocks noRot="1" noChangeAspect="1" noMove="1" noResize="1" noEditPoints="1" noAdjustHandles="1" noChangeArrowheads="1" noChangeShapeType="1" noTextEdit="1"/>
              </p:cNvSpPr>
              <p:nvPr/>
            </p:nvSpPr>
            <p:spPr>
              <a:xfrm>
                <a:off x="1214502" y="1938445"/>
                <a:ext cx="7693678" cy="757128"/>
              </a:xfrm>
              <a:prstGeom prst="rect">
                <a:avLst/>
              </a:prstGeom>
              <a:blipFill rotWithShape="1">
                <a:blip r:embed="rId3"/>
                <a:stretch>
                  <a:fillRect l="-5" t="-56" r="5" b="8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975474" y="2621679"/>
                <a:ext cx="5778252"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latin typeface="楷体" panose="02010609060101010101" pitchFamily="49" charset="-122"/>
                    <a:ea typeface="楷体" panose="02010609060101010101" pitchFamily="49" charset="-122"/>
                    <a:sym typeface="Wingdings" panose="05000000000000000000" pitchFamily="2" charset="2"/>
                  </a:rPr>
                  <a:t>由</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𝐶</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𝑅</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方程</a:t>
                </a: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 </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oMath>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1" name="标题 1"/>
              <p:cNvSpPr txBox="1">
                <a:spLocks noRot="1" noChangeAspect="1" noMove="1" noResize="1" noEditPoints="1" noAdjustHandles="1" noChangeArrowheads="1" noChangeShapeType="1" noTextEdit="1"/>
              </p:cNvSpPr>
              <p:nvPr/>
            </p:nvSpPr>
            <p:spPr>
              <a:xfrm>
                <a:off x="975474" y="2621679"/>
                <a:ext cx="5778252" cy="757128"/>
              </a:xfrm>
              <a:prstGeom prst="rect">
                <a:avLst/>
              </a:prstGeom>
              <a:blipFill rotWithShape="1">
                <a:blip r:embed="rId4"/>
                <a:stretch>
                  <a:fillRect l="-2" t="-53" r="9" b="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975474" y="3304913"/>
                <a:ext cx="1756496"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 </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1</m:t>
                      </m:r>
                    </m:oMath>
                  </m:oMathPara>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2" name="标题 1"/>
              <p:cNvSpPr txBox="1">
                <a:spLocks noRot="1" noChangeAspect="1" noMove="1" noResize="1" noEditPoints="1" noAdjustHandles="1" noChangeArrowheads="1" noChangeShapeType="1" noTextEdit="1"/>
              </p:cNvSpPr>
              <p:nvPr/>
            </p:nvSpPr>
            <p:spPr>
              <a:xfrm>
                <a:off x="975474" y="3304913"/>
                <a:ext cx="1756496" cy="757128"/>
              </a:xfrm>
              <a:prstGeom prst="rect">
                <a:avLst/>
              </a:prstGeom>
              <a:blipFill rotWithShape="1">
                <a:blip r:embed="rId5"/>
                <a:stretch>
                  <a:fillRect l="-6" t="-49" r="11" b="7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975474" y="3907627"/>
                <a:ext cx="7846080"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latin typeface="楷体" panose="02010609060101010101" pitchFamily="49" charset="-122"/>
                    <a:ea typeface="楷体" panose="02010609060101010101" pitchFamily="49" charset="-122"/>
                    <a:sym typeface="Wingdings" panose="05000000000000000000" pitchFamily="2" charset="2"/>
                  </a:rPr>
                  <a:t>即：</a:t>
                </a:r>
                <a:r>
                  <a:rPr lang="en-US" altLang="zh-CN" sz="3200" dirty="0">
                    <a:ea typeface="楷体" panose="02010609060101010101" pitchFamily="49" charset="-122"/>
                    <a:sym typeface="Wingdings" panose="05000000000000000000" pitchFamily="2" charset="2"/>
                  </a:rPr>
                  <a:t> </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𝑢</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𝑣</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仅在</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1</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处可微且满足</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𝐶</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𝑅</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方程</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3" name="标题 1"/>
              <p:cNvSpPr txBox="1">
                <a:spLocks noRot="1" noChangeAspect="1" noMove="1" noResize="1" noEditPoints="1" noAdjustHandles="1" noChangeArrowheads="1" noChangeShapeType="1" noTextEdit="1"/>
              </p:cNvSpPr>
              <p:nvPr/>
            </p:nvSpPr>
            <p:spPr>
              <a:xfrm>
                <a:off x="975474" y="3907627"/>
                <a:ext cx="7846080" cy="757128"/>
              </a:xfrm>
              <a:prstGeom prst="rect">
                <a:avLst/>
              </a:prstGeom>
              <a:blipFill rotWithShape="1">
                <a:blip r:embed="rId6"/>
                <a:stretch>
                  <a:fillRect l="-1" t="-62" r="2"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975474" y="4590861"/>
                <a:ext cx="7846080"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𝑓</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 </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在只</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1</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处可</a:t>
                </a:r>
                <a:r>
                  <a:rPr lang="zh-CN" altLang="en-US" sz="3200" dirty="0">
                    <a:latin typeface="楷体" panose="02010609060101010101" pitchFamily="49" charset="-122"/>
                    <a:ea typeface="楷体" panose="02010609060101010101" pitchFamily="49" charset="-122"/>
                    <a:sym typeface="Wingdings" panose="05000000000000000000" pitchFamily="2" charset="2"/>
                  </a:rPr>
                  <a:t>导</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4" name="标题 1"/>
              <p:cNvSpPr txBox="1">
                <a:spLocks noRot="1" noChangeAspect="1" noMove="1" noResize="1" noEditPoints="1" noAdjustHandles="1" noChangeArrowheads="1" noChangeShapeType="1" noTextEdit="1"/>
              </p:cNvSpPr>
              <p:nvPr/>
            </p:nvSpPr>
            <p:spPr>
              <a:xfrm>
                <a:off x="975474" y="4590861"/>
                <a:ext cx="7846080" cy="757128"/>
              </a:xfrm>
              <a:prstGeom prst="rect">
                <a:avLst/>
              </a:prstGeom>
              <a:blipFill rotWithShape="1">
                <a:blip r:embed="rId7"/>
                <a:stretch>
                  <a:fillRect l="-1" t="-59" r="2"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1021996" y="5460343"/>
                <a:ext cx="7135415"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sSup>
                        <m:sSupPr>
                          <m:ctrlPr>
                            <a:rPr lang="en-US" altLang="zh-CN" sz="320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i="1">
                              <a:latin typeface="Cambria Math" panose="02040503050406030204" pitchFamily="18" charset="0"/>
                              <a:ea typeface="楷体" panose="02010609060101010101" pitchFamily="49" charset="-122"/>
                              <a:sym typeface="Wingdings" panose="05000000000000000000" pitchFamily="2" charset="2"/>
                            </a:rPr>
                            <m:t>𝑓</m:t>
                          </m:r>
                        </m:e>
                        <m:sup>
                          <m:r>
                            <a:rPr lang="en-US" altLang="zh-CN" sz="3200" i="1">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1</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𝑖𝑦</m:t>
                          </m:r>
                        </m:e>
                      </m:d>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1</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oMath>
                  </m:oMathPara>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5" name="标题 1"/>
              <p:cNvSpPr txBox="1">
                <a:spLocks noRot="1" noChangeAspect="1" noMove="1" noResize="1" noEditPoints="1" noAdjustHandles="1" noChangeArrowheads="1" noChangeShapeType="1" noTextEdit="1"/>
              </p:cNvSpPr>
              <p:nvPr/>
            </p:nvSpPr>
            <p:spPr>
              <a:xfrm>
                <a:off x="1021996" y="5460343"/>
                <a:ext cx="7135415" cy="757128"/>
              </a:xfrm>
              <a:prstGeom prst="rect">
                <a:avLst/>
              </a:prstGeom>
              <a:blipFill rotWithShape="1">
                <a:blip r:embed="rId8"/>
                <a:stretch>
                  <a:fillRect l="-4" t="-81" r="3" b="2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12" grpId="0"/>
      <p:bldP spid="13" grpId="0"/>
      <p:bldP spid="14" grpId="0"/>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标题 1"/>
              <p:cNvSpPr txBox="1"/>
              <p:nvPr/>
            </p:nvSpPr>
            <p:spPr>
              <a:xfrm>
                <a:off x="182491" y="461321"/>
                <a:ext cx="8251111"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200" i="1" dirty="0" smtClean="0">
                        <a:latin typeface="Cambria Math" panose="02040503050406030204" pitchFamily="18" charset="0"/>
                        <a:ea typeface="楷体" panose="02010609060101010101" pitchFamily="49" charset="-122"/>
                        <a:sym typeface="Wingdings" panose="05000000000000000000" pitchFamily="2" charset="2"/>
                      </a:rPr>
                      <m:t>𝐸𝑔</m:t>
                    </m:r>
                    <m:r>
                      <a:rPr lang="en-US" altLang="zh-CN" sz="3200" i="1" dirty="0" smtClean="0">
                        <a:latin typeface="Cambria Math" panose="02040503050406030204" pitchFamily="18" charset="0"/>
                        <a:ea typeface="楷体" panose="02010609060101010101" pitchFamily="49" charset="-122"/>
                        <a:sym typeface="Wingdings" panose="05000000000000000000" pitchFamily="2" charset="2"/>
                      </a:rPr>
                      <m:t>:</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求</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的可导点</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6" name="标题 1"/>
              <p:cNvSpPr txBox="1">
                <a:spLocks noRot="1" noChangeAspect="1" noMove="1" noResize="1" noEditPoints="1" noAdjustHandles="1" noChangeArrowheads="1" noChangeShapeType="1" noTextEdit="1"/>
              </p:cNvSpPr>
              <p:nvPr/>
            </p:nvSpPr>
            <p:spPr>
              <a:xfrm>
                <a:off x="182491" y="461321"/>
                <a:ext cx="8251111" cy="757128"/>
              </a:xfrm>
              <a:prstGeom prst="rect">
                <a:avLst/>
              </a:prstGeom>
              <a:blipFill rotWithShape="1">
                <a:blip r:embed="rId1"/>
                <a:stretch>
                  <a:fillRect l="-3" t="-41" r="2" b="-15"/>
                </a:stretch>
              </a:blipFill>
            </p:spPr>
            <p:txBody>
              <a:bodyPr/>
              <a:lstStyle/>
              <a:p>
                <a:r>
                  <a:rPr lang="zh-CN" altLang="en-US">
                    <a:noFill/>
                  </a:rPr>
                  <a:t> </a:t>
                </a:r>
              </a:p>
            </p:txBody>
          </p:sp>
        </mc:Fallback>
      </mc:AlternateContent>
      <p:sp>
        <p:nvSpPr>
          <p:cNvPr id="3"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4" name="直接连接符 3"/>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标题 1"/>
              <p:cNvSpPr txBox="1"/>
              <p:nvPr/>
            </p:nvSpPr>
            <p:spPr>
              <a:xfrm>
                <a:off x="196930" y="1157548"/>
                <a:ext cx="5929550"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latin typeface="楷体" panose="02010609060101010101" pitchFamily="49" charset="-122"/>
                    <a:ea typeface="楷体" panose="02010609060101010101" pitchFamily="49" charset="-122"/>
                    <a:sym typeface="Wingdings" panose="05000000000000000000" pitchFamily="2" charset="2"/>
                  </a:rPr>
                  <a:t>解：</a:t>
                </a:r>
                <a14:m>
                  <m:oMath xmlns:m="http://schemas.openxmlformats.org/officeDocument/2006/math">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𝑢</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200" b="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𝑦</m:t>
                        </m:r>
                      </m:e>
                      <m: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sup>
                    </m:sSup>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𝑣</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2</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𝑥𝑦</m:t>
                    </m:r>
                  </m:oMath>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9" name="标题 1"/>
              <p:cNvSpPr txBox="1">
                <a:spLocks noRot="1" noChangeAspect="1" noMove="1" noResize="1" noEditPoints="1" noAdjustHandles="1" noChangeArrowheads="1" noChangeShapeType="1" noTextEdit="1"/>
              </p:cNvSpPr>
              <p:nvPr/>
            </p:nvSpPr>
            <p:spPr>
              <a:xfrm>
                <a:off x="196930" y="1157548"/>
                <a:ext cx="5929550" cy="757128"/>
              </a:xfrm>
              <a:prstGeom prst="rect">
                <a:avLst/>
              </a:prstGeom>
              <a:blipFill rotWithShape="1">
                <a:blip r:embed="rId2"/>
                <a:stretch>
                  <a:fillRect l="-1" t="-76" b="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1002642" y="2199542"/>
                <a:ext cx="7361619"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𝑣</m:t>
                    </m:r>
                  </m:oMath>
                </a14:m>
                <a:r>
                  <a:rPr lang="zh-CN" altLang="en-US" sz="3200" dirty="0">
                    <a:solidFill>
                      <a:schemeClr val="tx1"/>
                    </a:solidFill>
                    <a:latin typeface="楷体" panose="02010609060101010101" pitchFamily="49" charset="-122"/>
                    <a:ea typeface="楷体" panose="02010609060101010101" pitchFamily="49" charset="-122"/>
                    <a:sym typeface="Wingdings" panose="05000000000000000000" pitchFamily="2" charset="2"/>
                  </a:rPr>
                  <a:t>可微</a:t>
                </a:r>
                <a14:m>
                  <m:oMath xmlns:m="http://schemas.openxmlformats.org/officeDocument/2006/math">
                    <m:r>
                      <a:rPr lang="en-US" altLang="zh-CN" sz="3200" i="1" dirty="0">
                        <a:solidFill>
                          <a:schemeClr val="tx1"/>
                        </a:solidFill>
                        <a:latin typeface="Cambria Math" panose="02040503050406030204" pitchFamily="18" charset="0"/>
                        <a:ea typeface="Cambria Math" panose="02040503050406030204" pitchFamily="18" charset="0"/>
                        <a:sym typeface="Wingdings" panose="05000000000000000000" pitchFamily="2" charset="2"/>
                      </a:rPr>
                      <m:t>,</m:t>
                    </m:r>
                  </m:oMath>
                </a14:m>
                <a:endParaRPr lang="en-US" altLang="zh-CN" sz="3200" i="1" dirty="0">
                  <a:solidFill>
                    <a:schemeClr val="tx1"/>
                  </a:solidFill>
                  <a:latin typeface="Cambria Math" panose="02040503050406030204" pitchFamily="18" charset="0"/>
                  <a:ea typeface="Cambria Math" panose="02040503050406030204" pitchFamily="18" charset="0"/>
                  <a:sym typeface="Wingdings" panose="05000000000000000000" pitchFamily="2" charset="2"/>
                </a:endParaRPr>
              </a:p>
              <a:p>
                <a:pPr fontAlgn="auto">
                  <a:lnSpc>
                    <a:spcPct val="11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     </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oMath>
                </a14:m>
                <a:r>
                  <a:rPr lang="en-US" altLang="zh-CN" sz="3200" dirty="0">
                    <a:ea typeface="Cambria Math" panose="02040503050406030204" pitchFamily="18" charset="0"/>
                    <a:sym typeface="Wingdings" panose="05000000000000000000" pitchFamily="2" charset="2"/>
                  </a:rPr>
                  <a:t> </a:t>
                </a:r>
                <a14:m>
                  <m:oMath xmlns:m="http://schemas.openxmlformats.org/officeDocument/2006/math">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oMath>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0" name="标题 1"/>
              <p:cNvSpPr txBox="1">
                <a:spLocks noRot="1" noChangeAspect="1" noMove="1" noResize="1" noEditPoints="1" noAdjustHandles="1" noChangeArrowheads="1" noChangeShapeType="1" noTextEdit="1"/>
              </p:cNvSpPr>
              <p:nvPr/>
            </p:nvSpPr>
            <p:spPr>
              <a:xfrm>
                <a:off x="1002642" y="2199542"/>
                <a:ext cx="7361619" cy="757128"/>
              </a:xfrm>
              <a:prstGeom prst="rect">
                <a:avLst/>
              </a:prstGeom>
              <a:blipFill rotWithShape="1">
                <a:blip r:embed="rId3"/>
                <a:stretch>
                  <a:fillRect l="-8" t="-21290" r="1" b="-212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5364593" y="3224393"/>
                <a:ext cx="3298143"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latin typeface="楷体" panose="02010609060101010101" pitchFamily="49" charset="-122"/>
                    <a:ea typeface="楷体" panose="02010609060101010101" pitchFamily="49" charset="-122"/>
                    <a:sym typeface="Wingdings" panose="05000000000000000000" pitchFamily="2" charset="2"/>
                  </a:rPr>
                  <a:t>满足由</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𝐶</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𝑅</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方程</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1" name="标题 1"/>
              <p:cNvSpPr txBox="1">
                <a:spLocks noRot="1" noChangeAspect="1" noMove="1" noResize="1" noEditPoints="1" noAdjustHandles="1" noChangeArrowheads="1" noChangeShapeType="1" noTextEdit="1"/>
              </p:cNvSpPr>
              <p:nvPr/>
            </p:nvSpPr>
            <p:spPr>
              <a:xfrm>
                <a:off x="5364593" y="3224393"/>
                <a:ext cx="3298143" cy="757128"/>
              </a:xfrm>
              <a:prstGeom prst="rect">
                <a:avLst/>
              </a:prstGeom>
              <a:blipFill rotWithShape="1">
                <a:blip r:embed="rId4"/>
                <a:stretch>
                  <a:fillRect l="-3" t="-66" r="2"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975474" y="3907627"/>
                <a:ext cx="7846080"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latin typeface="楷体" panose="02010609060101010101" pitchFamily="49" charset="-122"/>
                    <a:ea typeface="楷体" panose="02010609060101010101" pitchFamily="49" charset="-122"/>
                    <a:sym typeface="Wingdings" panose="05000000000000000000" pitchFamily="2" charset="2"/>
                  </a:rPr>
                  <a:t>即：</a:t>
                </a:r>
                <a:r>
                  <a:rPr lang="en-US" altLang="zh-CN" sz="3200" dirty="0">
                    <a:ea typeface="楷体" panose="02010609060101010101" pitchFamily="49" charset="-122"/>
                    <a:sym typeface="Wingdings" panose="05000000000000000000" pitchFamily="2" charset="2"/>
                  </a:rPr>
                  <a:t> </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𝑢</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𝑣</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仅在复平面可微且满足</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𝐶</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𝑅</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方程</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3" name="标题 1"/>
              <p:cNvSpPr txBox="1">
                <a:spLocks noRot="1" noChangeAspect="1" noMove="1" noResize="1" noEditPoints="1" noAdjustHandles="1" noChangeArrowheads="1" noChangeShapeType="1" noTextEdit="1"/>
              </p:cNvSpPr>
              <p:nvPr/>
            </p:nvSpPr>
            <p:spPr>
              <a:xfrm>
                <a:off x="975474" y="3907627"/>
                <a:ext cx="7846080" cy="757128"/>
              </a:xfrm>
              <a:prstGeom prst="rect">
                <a:avLst/>
              </a:prstGeom>
              <a:blipFill rotWithShape="1">
                <a:blip r:embed="rId5"/>
                <a:stretch>
                  <a:fillRect l="-1" t="-62" r="2"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975474" y="4590861"/>
                <a:ext cx="7846080"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𝑓</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 </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在复平面上处可</a:t>
                </a:r>
                <a:r>
                  <a:rPr lang="zh-CN" altLang="en-US" sz="3200" dirty="0">
                    <a:latin typeface="楷体" panose="02010609060101010101" pitchFamily="49" charset="-122"/>
                    <a:ea typeface="楷体" panose="02010609060101010101" pitchFamily="49" charset="-122"/>
                    <a:sym typeface="Wingdings" panose="05000000000000000000" pitchFamily="2" charset="2"/>
                  </a:rPr>
                  <a:t>导。</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4" name="标题 1"/>
              <p:cNvSpPr txBox="1">
                <a:spLocks noRot="1" noChangeAspect="1" noMove="1" noResize="1" noEditPoints="1" noAdjustHandles="1" noChangeArrowheads="1" noChangeShapeType="1" noTextEdit="1"/>
              </p:cNvSpPr>
              <p:nvPr/>
            </p:nvSpPr>
            <p:spPr>
              <a:xfrm>
                <a:off x="975474" y="4590861"/>
                <a:ext cx="7846080" cy="757128"/>
              </a:xfrm>
              <a:prstGeom prst="rect">
                <a:avLst/>
              </a:prstGeom>
              <a:blipFill rotWithShape="1">
                <a:blip r:embed="rId6"/>
                <a:stretch>
                  <a:fillRect l="-1" t="-59" r="2"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975474" y="3187446"/>
                <a:ext cx="4249554"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latin typeface="楷体" panose="02010609060101010101" pitchFamily="49" charset="-122"/>
                    <a:ea typeface="楷体" panose="02010609060101010101" pitchFamily="49" charset="-122"/>
                    <a:sym typeface="Wingdings" panose="05000000000000000000" pitchFamily="2" charset="2"/>
                  </a:rPr>
                  <a:t>显然</a:t>
                </a:r>
                <a14:m>
                  <m:oMath xmlns:m="http://schemas.openxmlformats.org/officeDocument/2006/math">
                    <m:sSub>
                      <m:sSubPr>
                        <m:ctrlPr>
                          <a:rPr lang="en-US" altLang="zh-CN" sz="320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𝑦</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oMath>
                </a14:m>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5" name="标题 1"/>
              <p:cNvSpPr txBox="1">
                <a:spLocks noRot="1" noChangeAspect="1" noMove="1" noResize="1" noEditPoints="1" noAdjustHandles="1" noChangeArrowheads="1" noChangeShapeType="1" noTextEdit="1"/>
              </p:cNvSpPr>
              <p:nvPr/>
            </p:nvSpPr>
            <p:spPr>
              <a:xfrm>
                <a:off x="975474" y="3187446"/>
                <a:ext cx="4249554" cy="757128"/>
              </a:xfrm>
              <a:prstGeom prst="rect">
                <a:avLst/>
              </a:prstGeom>
              <a:blipFill rotWithShape="1">
                <a:blip r:embed="rId7"/>
                <a:stretch>
                  <a:fillRect l="-3" t="-50" r="6" b="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1246471" y="5265157"/>
                <a:ext cx="7554785"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sSup>
                      <m:sSupPr>
                        <m:ctrlPr>
                          <a:rPr lang="en-US" altLang="zh-CN" sz="320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3200" i="1">
                            <a:latin typeface="Cambria Math" panose="02040503050406030204" pitchFamily="18" charset="0"/>
                            <a:ea typeface="楷体" panose="02010609060101010101" pitchFamily="49" charset="-122"/>
                            <a:sym typeface="Wingdings" panose="05000000000000000000" pitchFamily="2" charset="2"/>
                          </a:rPr>
                          <m:t>𝑓</m:t>
                        </m:r>
                      </m:e>
                      <m:sup>
                        <m:r>
                          <a:rPr lang="en-US" altLang="zh-CN" sz="3200" i="1">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e>
                    </m:d>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𝑢</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𝑖</m:t>
                    </m:r>
                    <m:sSub>
                      <m:sSubPr>
                        <m:ctrlPr>
                          <a:rPr lang="en-US" altLang="zh-CN" sz="3200" i="1">
                            <a:latin typeface="Cambria Math" panose="02040503050406030204" pitchFamily="18" charset="0"/>
                            <a:ea typeface="Cambria Math" panose="02040503050406030204" pitchFamily="18" charset="0"/>
                            <a:sym typeface="Wingdings" panose="05000000000000000000" pitchFamily="2" charset="2"/>
                          </a:rPr>
                        </m:ctrlPr>
                      </m:sSubPr>
                      <m:e>
                        <m:r>
                          <a:rPr lang="en-US" altLang="zh-CN" sz="3200" i="1">
                            <a:latin typeface="Cambria Math" panose="02040503050406030204" pitchFamily="18" charset="0"/>
                            <a:ea typeface="Cambria Math" panose="02040503050406030204" pitchFamily="18" charset="0"/>
                            <a:sym typeface="Wingdings" panose="05000000000000000000" pitchFamily="2" charset="2"/>
                          </a:rPr>
                          <m:t>𝑣</m:t>
                        </m:r>
                      </m:e>
                      <m:sub>
                        <m:r>
                          <a:rPr lang="en-US" altLang="zh-CN" sz="3200" i="1">
                            <a:latin typeface="Cambria Math" panose="02040503050406030204" pitchFamily="18" charset="0"/>
                            <a:ea typeface="Cambria Math" panose="02040503050406030204" pitchFamily="18" charset="0"/>
                            <a:sym typeface="Wingdings" panose="05000000000000000000" pitchFamily="2" charset="2"/>
                          </a:rPr>
                          <m:t>𝑥</m:t>
                        </m:r>
                      </m:sub>
                    </m:sSub>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𝑦</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2</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𝑧</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6" name="标题 1"/>
              <p:cNvSpPr txBox="1">
                <a:spLocks noRot="1" noChangeAspect="1" noMove="1" noResize="1" noEditPoints="1" noAdjustHandles="1" noChangeArrowheads="1" noChangeShapeType="1" noTextEdit="1"/>
              </p:cNvSpPr>
              <p:nvPr/>
            </p:nvSpPr>
            <p:spPr>
              <a:xfrm>
                <a:off x="1246471" y="5265157"/>
                <a:ext cx="7554785" cy="757128"/>
              </a:xfrm>
              <a:prstGeom prst="rect">
                <a:avLst/>
              </a:prstGeom>
              <a:blipFill rotWithShape="1">
                <a:blip r:embed="rId8"/>
                <a:stretch>
                  <a:fillRect l="-8" t="-49" r="2" b="7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13" grpId="0"/>
      <p:bldP spid="14" grpId="0"/>
      <p:bldP spid="15"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标题 1"/>
              <p:cNvSpPr txBox="1"/>
              <p:nvPr/>
            </p:nvSpPr>
            <p:spPr>
              <a:xfrm>
                <a:off x="66989" y="531629"/>
                <a:ext cx="8773816"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latin typeface="楷体" panose="02010609060101010101" pitchFamily="49" charset="-122"/>
                    <a:ea typeface="楷体" panose="02010609060101010101" pitchFamily="49" charset="-122"/>
                    <a:sym typeface="Wingdings" panose="05000000000000000000" pitchFamily="2" charset="2"/>
                  </a:rPr>
                  <a:t>注：</a:t>
                </a:r>
                <a14:m>
                  <m:oMath xmlns:m="http://schemas.openxmlformats.org/officeDocument/2006/math">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𝐶</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𝑅</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方程是函数可导的必要条件而非充分条件</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6" name="标题 1"/>
              <p:cNvSpPr txBox="1">
                <a:spLocks noRot="1" noChangeAspect="1" noMove="1" noResize="1" noEditPoints="1" noAdjustHandles="1" noChangeArrowheads="1" noChangeShapeType="1" noTextEdit="1"/>
              </p:cNvSpPr>
              <p:nvPr/>
            </p:nvSpPr>
            <p:spPr>
              <a:xfrm>
                <a:off x="66989" y="531629"/>
                <a:ext cx="8773816" cy="757128"/>
              </a:xfrm>
              <a:prstGeom prst="rect">
                <a:avLst/>
              </a:prstGeom>
              <a:blipFill rotWithShape="1">
                <a:blip r:embed="rId1"/>
                <a:stretch>
                  <a:fillRect l="-4" t="-18" r="4" b="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55289" y="1393368"/>
                <a:ext cx="8773816"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000" b="0" dirty="0">
                    <a:latin typeface="楷体" panose="02010609060101010101" pitchFamily="49" charset="-122"/>
                    <a:ea typeface="楷体" panose="02010609060101010101" pitchFamily="49" charset="-122"/>
                    <a:sym typeface="Wingdings" panose="05000000000000000000" pitchFamily="2" charset="2"/>
                  </a:rPr>
                  <a:t>如：</a:t>
                </a:r>
                <a14:m>
                  <m:oMath xmlns:m="http://schemas.openxmlformats.org/officeDocument/2006/math">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000" b="0" i="1" smtClean="0">
                            <a:latin typeface="Cambria Math" panose="02040503050406030204" pitchFamily="18" charset="0"/>
                            <a:ea typeface="楷体" panose="02010609060101010101" pitchFamily="49" charset="-122"/>
                            <a:sym typeface="Wingdings" panose="05000000000000000000" pitchFamily="2" charset="2"/>
                          </a:rPr>
                        </m:ctrlPr>
                      </m:dPr>
                      <m:e>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𝑧</m:t>
                        </m:r>
                      </m:e>
                    </m:d>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ad>
                      <m:radPr>
                        <m:degHide m:val="on"/>
                        <m:ctrlPr>
                          <a:rPr lang="en-US" altLang="zh-CN" sz="3000" b="0" i="1" smtClean="0">
                            <a:latin typeface="Cambria Math" panose="02040503050406030204" pitchFamily="18" charset="0"/>
                            <a:ea typeface="楷体" panose="02010609060101010101" pitchFamily="49" charset="-122"/>
                            <a:sym typeface="Wingdings" panose="05000000000000000000" pitchFamily="2" charset="2"/>
                          </a:rPr>
                        </m:ctrlPr>
                      </m:radPr>
                      <m:deg/>
                      <m:e>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𝑥𝑦</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e>
                    </m:rad>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在</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sym typeface="Wingdings" panose="05000000000000000000" pitchFamily="2" charset="2"/>
                      </a:rPr>
                      <m:t>𝑧</m:t>
                    </m:r>
                    <m:r>
                      <a:rPr lang="en-US" altLang="zh-CN" sz="3000" b="0" i="1" dirty="0"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dirty="0" smtClean="0">
                        <a:latin typeface="Cambria Math" panose="02040503050406030204" pitchFamily="18" charset="0"/>
                        <a:ea typeface="楷体" panose="02010609060101010101" pitchFamily="49" charset="-122"/>
                        <a:sym typeface="Wingdings" panose="05000000000000000000" pitchFamily="2" charset="2"/>
                      </a:rPr>
                      <m:t>0</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处满足</a:t>
                </a:r>
                <a14:m>
                  <m:oMath xmlns:m="http://schemas.openxmlformats.org/officeDocument/2006/math">
                    <m:r>
                      <a:rPr lang="en-US" altLang="zh-CN" sz="3000" i="1">
                        <a:latin typeface="Cambria Math" panose="02040503050406030204" pitchFamily="18" charset="0"/>
                        <a:ea typeface="楷体" panose="02010609060101010101" pitchFamily="49" charset="-122"/>
                        <a:sym typeface="Wingdings" panose="05000000000000000000" pitchFamily="2" charset="2"/>
                      </a:rPr>
                      <m:t>𝐶</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𝑅</m:t>
                    </m:r>
                  </m:oMath>
                </a14:m>
                <a:r>
                  <a:rPr lang="zh-CN" altLang="en-US" sz="3000" dirty="0">
                    <a:latin typeface="楷体" panose="02010609060101010101" pitchFamily="49" charset="-122"/>
                    <a:ea typeface="楷体" panose="02010609060101010101" pitchFamily="49" charset="-122"/>
                    <a:sym typeface="Wingdings" panose="05000000000000000000" pitchFamily="2" charset="2"/>
                  </a:rPr>
                  <a:t>方程，但它在</a:t>
                </a:r>
                <a14:m>
                  <m:oMath xmlns:m="http://schemas.openxmlformats.org/officeDocument/2006/math">
                    <m:r>
                      <a:rPr lang="en-US" altLang="zh-CN" sz="3000" i="1" dirty="0" smtClean="0">
                        <a:latin typeface="Cambria Math" panose="02040503050406030204" pitchFamily="18" charset="0"/>
                        <a:ea typeface="楷体" panose="02010609060101010101" pitchFamily="49" charset="-122"/>
                        <a:sym typeface="Wingdings" panose="05000000000000000000" pitchFamily="2" charset="2"/>
                      </a:rPr>
                      <m:t>𝑧</m:t>
                    </m:r>
                    <m:r>
                      <a:rPr lang="en-US" altLang="zh-CN" sz="3000" i="1" dirty="0"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i="1" dirty="0" smtClean="0">
                        <a:latin typeface="Cambria Math" panose="02040503050406030204" pitchFamily="18" charset="0"/>
                        <a:ea typeface="楷体" panose="02010609060101010101" pitchFamily="49" charset="-122"/>
                        <a:sym typeface="Wingdings" panose="05000000000000000000" pitchFamily="2" charset="2"/>
                      </a:rPr>
                      <m:t>0</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处没有导数</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2" name="标题 1"/>
              <p:cNvSpPr txBox="1">
                <a:spLocks noRot="1" noChangeAspect="1" noMove="1" noResize="1" noEditPoints="1" noAdjustHandles="1" noChangeArrowheads="1" noChangeShapeType="1" noTextEdit="1"/>
              </p:cNvSpPr>
              <p:nvPr/>
            </p:nvSpPr>
            <p:spPr>
              <a:xfrm>
                <a:off x="55289" y="1393368"/>
                <a:ext cx="8773816" cy="757128"/>
              </a:xfrm>
              <a:prstGeom prst="rect">
                <a:avLst/>
              </a:prstGeom>
              <a:blipFill rotWithShape="1">
                <a:blip r:embed="rId2"/>
                <a:stretch>
                  <a:fillRect l="-1" t="-29546" r="1" b="-29555"/>
                </a:stretch>
              </a:blipFill>
            </p:spPr>
            <p:txBody>
              <a:bodyPr/>
              <a:lstStyle/>
              <a:p>
                <a:r>
                  <a:rPr lang="zh-CN" altLang="en-US">
                    <a:noFill/>
                  </a:rPr>
                  <a:t> </a:t>
                </a:r>
              </a:p>
            </p:txBody>
          </p:sp>
        </mc:Fallback>
      </mc:AlternateContent>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标题 1"/>
              <p:cNvSpPr txBox="1"/>
              <p:nvPr/>
            </p:nvSpPr>
            <p:spPr>
              <a:xfrm>
                <a:off x="55289" y="2304959"/>
                <a:ext cx="2918917"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𝑢</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ad>
                        <m:radPr>
                          <m:degHide m:val="on"/>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radPr>
                        <m:deg/>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𝑥𝑦</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e>
                      </m:rad>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𝑣</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0</m:t>
                      </m:r>
                    </m:oMath>
                  </m:oMathPara>
                </a14:m>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9" name="标题 1"/>
              <p:cNvSpPr txBox="1">
                <a:spLocks noRot="1" noChangeAspect="1" noMove="1" noResize="1" noEditPoints="1" noAdjustHandles="1" noChangeArrowheads="1" noChangeShapeType="1" noTextEdit="1"/>
              </p:cNvSpPr>
              <p:nvPr/>
            </p:nvSpPr>
            <p:spPr>
              <a:xfrm>
                <a:off x="55289" y="2304959"/>
                <a:ext cx="2918917" cy="757128"/>
              </a:xfrm>
              <a:prstGeom prst="rect">
                <a:avLst/>
              </a:prstGeom>
              <a:blipFill rotWithShape="1">
                <a:blip r:embed="rId3"/>
                <a:stretch>
                  <a:fillRect l="-2" t="-72" r="17"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694739" y="3038786"/>
                <a:ext cx="7992061"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f>
                      <m:fPr>
                        <m:ctrlPr>
                          <a:rPr lang="en-US" altLang="zh-CN" sz="3000" b="0" i="1" smtClean="0">
                            <a:latin typeface="Cambria Math" panose="02040503050406030204" pitchFamily="18" charset="0"/>
                            <a:ea typeface="楷体" panose="02010609060101010101" pitchFamily="49" charset="-122"/>
                            <a:sym typeface="Wingdings" panose="05000000000000000000" pitchFamily="2" charset="2"/>
                          </a:rPr>
                        </m:ctrlPr>
                      </m:fPr>
                      <m:num>
                        <m:r>
                          <a:rPr lang="zh-CN" altLang="en-US"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𝑢</m:t>
                        </m:r>
                      </m:num>
                      <m:den>
                        <m:r>
                          <a:rPr lang="zh-CN" altLang="en-US"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𝑥</m:t>
                        </m:r>
                      </m:den>
                    </m:f>
                    <m:sSub>
                      <m:sSubPr>
                        <m:ctrlPr>
                          <a:rPr lang="en-US" altLang="zh-CN" sz="3000" b="0" i="1" smtClean="0">
                            <a:latin typeface="Cambria Math" panose="02040503050406030204" pitchFamily="18" charset="0"/>
                            <a:ea typeface="楷体" panose="02010609060101010101" pitchFamily="49" charset="-122"/>
                            <a:sym typeface="Wingdings" panose="05000000000000000000" pitchFamily="2" charset="2"/>
                          </a:rPr>
                        </m:ctrlPr>
                      </m:sSubPr>
                      <m:e>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e>
                      <m:sub>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0</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0</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sub>
                    </m:sSub>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𝑥</m:t>
                            </m:r>
                          </m:den>
                        </m:f>
                      </m:e>
                    </m:func>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f>
                      <m:f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Pr>
                      <m:num>
                        <m:r>
                          <a:rPr lang="zh-CN" altLang="en-US"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𝑢</m:t>
                        </m:r>
                      </m:num>
                      <m:den>
                        <m:r>
                          <a:rPr lang="zh-CN" altLang="en-US"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𝑦</m:t>
                        </m:r>
                      </m:den>
                    </m:f>
                    <m:sSub>
                      <m:sSub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bPr>
                      <m:e>
                        <m:r>
                          <a:rPr lang="en-US" altLang="zh-CN" sz="3000" i="1">
                            <a:latin typeface="Cambria Math" panose="02040503050406030204" pitchFamily="18" charset="0"/>
                            <a:ea typeface="楷体" panose="02010609060101010101" pitchFamily="49" charset="-122"/>
                            <a:sym typeface="Wingdings" panose="05000000000000000000" pitchFamily="2" charset="2"/>
                          </a:rPr>
                          <m:t>|</m:t>
                        </m:r>
                      </m:e>
                      <m:sub>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0</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0</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sub>
                    </m:sSub>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0</m:t>
                    </m:r>
                  </m:oMath>
                </a14:m>
                <a:r>
                  <a:rPr lang="en-US" altLang="zh-CN" sz="3000" b="0" dirty="0">
                    <a:latin typeface="楷体" panose="02010609060101010101" pitchFamily="49" charset="-122"/>
                    <a:ea typeface="楷体" panose="02010609060101010101" pitchFamily="49" charset="-122"/>
                    <a:sym typeface="Wingdings" panose="05000000000000000000" pitchFamily="2" charset="2"/>
                  </a:rPr>
                  <a:t> </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0" name="标题 1"/>
              <p:cNvSpPr txBox="1">
                <a:spLocks noRot="1" noChangeAspect="1" noMove="1" noResize="1" noEditPoints="1" noAdjustHandles="1" noChangeArrowheads="1" noChangeShapeType="1" noTextEdit="1"/>
              </p:cNvSpPr>
              <p:nvPr/>
            </p:nvSpPr>
            <p:spPr>
              <a:xfrm>
                <a:off x="694739" y="3038786"/>
                <a:ext cx="7992061" cy="757128"/>
              </a:xfrm>
              <a:prstGeom prst="rect">
                <a:avLst/>
              </a:prstGeom>
              <a:blipFill rotWithShape="1">
                <a:blip r:embed="rId4"/>
                <a:stretch>
                  <a:fillRect l="-1" t="-7673" b="-77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694739" y="3890850"/>
                <a:ext cx="2577851"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f>
                      <m:fPr>
                        <m:ctrlPr>
                          <a:rPr lang="en-US" altLang="zh-CN" sz="3000" b="0" i="1" smtClean="0">
                            <a:latin typeface="Cambria Math" panose="02040503050406030204" pitchFamily="18" charset="0"/>
                            <a:ea typeface="楷体" panose="02010609060101010101" pitchFamily="49" charset="-122"/>
                            <a:sym typeface="Wingdings" panose="05000000000000000000" pitchFamily="2" charset="2"/>
                          </a:rPr>
                        </m:ctrlPr>
                      </m:fPr>
                      <m:num>
                        <m:r>
                          <a:rPr lang="zh-CN" altLang="en-US"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𝑣</m:t>
                        </m:r>
                      </m:num>
                      <m:den>
                        <m:r>
                          <a:rPr lang="zh-CN" altLang="en-US"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𝑥</m:t>
                        </m:r>
                      </m:den>
                    </m:f>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f>
                      <m:f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Pr>
                      <m:num>
                        <m:r>
                          <a:rPr lang="zh-CN" altLang="en-US"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𝑣</m:t>
                        </m:r>
                      </m:num>
                      <m:den>
                        <m:r>
                          <a:rPr lang="zh-CN" altLang="en-US"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𝑦</m:t>
                        </m:r>
                      </m:den>
                    </m:f>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0</m:t>
                    </m:r>
                  </m:oMath>
                </a14:m>
                <a:r>
                  <a:rPr lang="en-US" altLang="zh-CN" sz="3000" b="0" dirty="0">
                    <a:latin typeface="楷体" panose="02010609060101010101" pitchFamily="49" charset="-122"/>
                    <a:ea typeface="楷体" panose="02010609060101010101" pitchFamily="49" charset="-122"/>
                    <a:sym typeface="Wingdings" panose="05000000000000000000" pitchFamily="2" charset="2"/>
                  </a:rPr>
                  <a:t> </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1" name="标题 1"/>
              <p:cNvSpPr txBox="1">
                <a:spLocks noRot="1" noChangeAspect="1" noMove="1" noResize="1" noEditPoints="1" noAdjustHandles="1" noChangeArrowheads="1" noChangeShapeType="1" noTextEdit="1"/>
              </p:cNvSpPr>
              <p:nvPr/>
            </p:nvSpPr>
            <p:spPr>
              <a:xfrm>
                <a:off x="694739" y="3890850"/>
                <a:ext cx="2577851" cy="757128"/>
              </a:xfrm>
              <a:prstGeom prst="rect">
                <a:avLst/>
              </a:prstGeom>
              <a:blipFill rotWithShape="1">
                <a:blip r:embed="rId5"/>
                <a:stretch>
                  <a:fillRect l="-2" t="-6485" r="17" b="-65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3053148" y="3890850"/>
                <a:ext cx="5636530"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𝑢</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𝑣</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在原点处满足</a:t>
                </a:r>
                <a14:m>
                  <m:oMath xmlns:m="http://schemas.openxmlformats.org/officeDocument/2006/math">
                    <m:r>
                      <a:rPr lang="en-US" altLang="zh-CN" sz="3200" i="1">
                        <a:latin typeface="Cambria Math" panose="02040503050406030204" pitchFamily="18" charset="0"/>
                        <a:ea typeface="Cambria Math" panose="02040503050406030204" pitchFamily="18" charset="0"/>
                        <a:sym typeface="Wingdings" panose="05000000000000000000" pitchFamily="2" charset="2"/>
                      </a:rPr>
                      <m:t>𝐶</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𝑅</m:t>
                    </m:r>
                  </m:oMath>
                </a14:m>
                <a:r>
                  <a:rPr lang="zh-CN" altLang="en-US" sz="3200" b="0" dirty="0">
                    <a:latin typeface="楷体" panose="02010609060101010101" pitchFamily="49" charset="-122"/>
                    <a:ea typeface="楷体" panose="02010609060101010101" pitchFamily="49" charset="-122"/>
                    <a:sym typeface="Wingdings" panose="05000000000000000000" pitchFamily="2" charset="2"/>
                  </a:rPr>
                  <a:t>方程</a:t>
                </a:r>
                <a:endParaRPr lang="en-US" altLang="zh-CN" sz="32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2" name="标题 1"/>
              <p:cNvSpPr txBox="1">
                <a:spLocks noRot="1" noChangeAspect="1" noMove="1" noResize="1" noEditPoints="1" noAdjustHandles="1" noChangeArrowheads="1" noChangeShapeType="1" noTextEdit="1"/>
              </p:cNvSpPr>
              <p:nvPr/>
            </p:nvSpPr>
            <p:spPr>
              <a:xfrm>
                <a:off x="3053148" y="3890850"/>
                <a:ext cx="5636530" cy="757128"/>
              </a:xfrm>
              <a:prstGeom prst="rect">
                <a:avLst/>
              </a:prstGeom>
              <a:blipFill rotWithShape="1">
                <a:blip r:embed="rId6"/>
                <a:stretch>
                  <a:fillRect l="-1" t="-27" r="6"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593984" y="4588014"/>
                <a:ext cx="4135332"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sSup>
                      <m:sSupPr>
                        <m:ctrlPr>
                          <a:rPr lang="en-US" altLang="zh-CN" sz="2800" i="1" smtClean="0">
                            <a:latin typeface="Cambria Math" panose="02040503050406030204" pitchFamily="18" charset="0"/>
                            <a:ea typeface="楷体" panose="02010609060101010101" pitchFamily="49" charset="-122"/>
                            <a:sym typeface="Wingdings" panose="05000000000000000000" pitchFamily="2" charset="2"/>
                          </a:rPr>
                        </m:ctrlPr>
                      </m:sSupPr>
                      <m:e>
                        <m:r>
                          <a:rPr lang="en-US" altLang="zh-CN" sz="2800" i="1">
                            <a:latin typeface="Cambria Math" panose="02040503050406030204" pitchFamily="18" charset="0"/>
                            <a:ea typeface="楷体" panose="02010609060101010101" pitchFamily="49" charset="-122"/>
                            <a:sym typeface="Wingdings" panose="05000000000000000000" pitchFamily="2" charset="2"/>
                          </a:rPr>
                          <m:t>𝑓</m:t>
                        </m:r>
                      </m:e>
                      <m:sup>
                        <m:r>
                          <a:rPr lang="en-US" altLang="zh-CN" sz="2800" i="1">
                            <a:latin typeface="Cambria Math" panose="02040503050406030204" pitchFamily="18" charset="0"/>
                            <a:ea typeface="楷体" panose="02010609060101010101" pitchFamily="49" charset="-122"/>
                            <a:sym typeface="Wingdings" panose="05000000000000000000" pitchFamily="2" charset="2"/>
                          </a:rPr>
                          <m:t>′</m:t>
                        </m:r>
                      </m:sup>
                    </m:sSup>
                    <m:d>
                      <m:dPr>
                        <m:ctrlPr>
                          <a:rPr lang="en-US" altLang="zh-CN" sz="2800" i="1">
                            <a:latin typeface="Cambria Math" panose="02040503050406030204" pitchFamily="18" charset="0"/>
                            <a:ea typeface="Cambria Math" panose="02040503050406030204" pitchFamily="18" charset="0"/>
                            <a:sym typeface="Wingdings" panose="05000000000000000000" pitchFamily="2" charset="2"/>
                          </a:rPr>
                        </m:ctrlPr>
                      </m:dPr>
                      <m:e>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0</m:t>
                        </m:r>
                      </m:e>
                    </m:d>
                    <m:r>
                      <a:rPr lang="en-US" altLang="zh-CN" sz="2800" b="0" i="1" smtClean="0">
                        <a:latin typeface="Cambria Math" panose="02040503050406030204" pitchFamily="18" charset="0"/>
                        <a:ea typeface="Cambria Math" panose="02040503050406030204" pitchFamily="18" charset="0"/>
                        <a:sym typeface="Wingdings" panose="05000000000000000000" pitchFamily="2" charset="2"/>
                      </a:rPr>
                      <m:t>=</m:t>
                    </m:r>
                    <m:func>
                      <m:funcPr>
                        <m:ctrlPr>
                          <a:rPr lang="en-US" altLang="zh-CN" sz="3000" i="1" smtClean="0">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𝑓</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𝑧</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𝑓</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𝑧</m:t>
                            </m:r>
                          </m:den>
                        </m:f>
                      </m:e>
                    </m:func>
                  </m:oMath>
                </a14:m>
                <a:r>
                  <a:rPr lang="en-US" altLang="zh-CN" sz="3000" b="0" dirty="0">
                    <a:latin typeface="楷体" panose="02010609060101010101" pitchFamily="49" charset="-122"/>
                    <a:ea typeface="楷体" panose="02010609060101010101" pitchFamily="49" charset="-122"/>
                    <a:sym typeface="Wingdings" panose="05000000000000000000" pitchFamily="2" charset="2"/>
                  </a:rPr>
                  <a:t> </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3" name="标题 1"/>
              <p:cNvSpPr txBox="1">
                <a:spLocks noRot="1" noChangeAspect="1" noMove="1" noResize="1" noEditPoints="1" noAdjustHandles="1" noChangeArrowheads="1" noChangeShapeType="1" noTextEdit="1"/>
              </p:cNvSpPr>
              <p:nvPr/>
            </p:nvSpPr>
            <p:spPr>
              <a:xfrm>
                <a:off x="593984" y="4588014"/>
                <a:ext cx="4135332" cy="757128"/>
              </a:xfrm>
              <a:prstGeom prst="rect">
                <a:avLst/>
              </a:prstGeom>
              <a:blipFill rotWithShape="1">
                <a:blip r:embed="rId7"/>
                <a:stretch>
                  <a:fillRect l="-6" t="-3625" r="11" b="-37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4572000" y="4562497"/>
                <a:ext cx="3009454"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ad>
                              <m:radPr>
                                <m:degHide m:val="on"/>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radPr>
                              <m:deg/>
                              <m:e>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e>
                            </m:rad>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0</m:t>
                            </m:r>
                          </m:num>
                          <m:den>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𝑧</m:t>
                            </m:r>
                          </m:den>
                        </m:f>
                      </m:e>
                    </m:func>
                  </m:oMath>
                </a14:m>
                <a:r>
                  <a:rPr lang="en-US" altLang="zh-CN" sz="3000" b="0" dirty="0">
                    <a:latin typeface="楷体" panose="02010609060101010101" pitchFamily="49" charset="-122"/>
                    <a:ea typeface="楷体" panose="02010609060101010101" pitchFamily="49" charset="-122"/>
                    <a:sym typeface="Wingdings" panose="05000000000000000000" pitchFamily="2" charset="2"/>
                  </a:rPr>
                  <a:t> </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4" name="标题 1"/>
              <p:cNvSpPr txBox="1">
                <a:spLocks noRot="1" noChangeAspect="1" noMove="1" noResize="1" noEditPoints="1" noAdjustHandles="1" noChangeArrowheads="1" noChangeShapeType="1" noTextEdit="1"/>
              </p:cNvSpPr>
              <p:nvPr/>
            </p:nvSpPr>
            <p:spPr>
              <a:xfrm>
                <a:off x="4572000" y="4562497"/>
                <a:ext cx="3009454" cy="757128"/>
              </a:xfrm>
              <a:prstGeom prst="rect">
                <a:avLst/>
              </a:prstGeom>
              <a:blipFill rotWithShape="1">
                <a:blip r:embed="rId8"/>
                <a:stretch>
                  <a:fillRect t="-11996" r="6" b="-121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1514747" y="5795341"/>
                <a:ext cx="2571188"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func>
                      <m:func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uncPr>
                      <m:fName>
                        <m:limLow>
                          <m:limLow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limLowPr>
                          <m:e>
                            <m:r>
                              <m:rPr>
                                <m:sty m:val="p"/>
                              </m:rPr>
                              <a:rPr lang="en-US" altLang="zh-CN" sz="3000">
                                <a:latin typeface="Cambria Math" panose="02040503050406030204" pitchFamily="18" charset="0"/>
                                <a:ea typeface="楷体" panose="02010609060101010101" pitchFamily="49" charset="-122"/>
                                <a:sym typeface="Wingdings" panose="05000000000000000000" pitchFamily="2" charset="2"/>
                              </a:rPr>
                              <m:t>lim</m:t>
                            </m:r>
                          </m:e>
                          <m:lim>
                            <m:eqArr>
                              <m:eqArr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eqArrPr>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𝑥</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0</m:t>
                                </m:r>
                              </m:e>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𝑦</m:t>
                                </m:r>
                              </m:e>
                            </m:eqArr>
                          </m:lim>
                        </m:limLow>
                      </m:fName>
                      <m:e>
                        <m:f>
                          <m:fPr>
                            <m:ctrlPr>
                              <a:rPr lang="en-US" altLang="zh-CN" sz="3000" i="1">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Cambria Math" panose="02040503050406030204" pitchFamily="18" charset="0"/>
                                <a:sym typeface="Wingdings" panose="05000000000000000000" pitchFamily="2" charset="2"/>
                              </a:rPr>
                              <m:t>0</m:t>
                            </m:r>
                          </m:num>
                          <m:den>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1</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𝑖</m:t>
                            </m:r>
                            <m:r>
                              <a:rPr lang="en-US" altLang="zh-CN" sz="32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i="1">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den>
                        </m:f>
                      </m:e>
                    </m:func>
                  </m:oMath>
                </a14:m>
                <a:r>
                  <a:rPr lang="en-US" altLang="zh-CN" sz="3000" b="0" dirty="0">
                    <a:latin typeface="楷体" panose="02010609060101010101" pitchFamily="49" charset="-122"/>
                    <a:ea typeface="楷体" panose="02010609060101010101" pitchFamily="49" charset="-122"/>
                    <a:sym typeface="Wingdings" panose="05000000000000000000" pitchFamily="2" charset="2"/>
                  </a:rPr>
                  <a:t> </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5" name="标题 1"/>
              <p:cNvSpPr txBox="1">
                <a:spLocks noRot="1" noChangeAspect="1" noMove="1" noResize="1" noEditPoints="1" noAdjustHandles="1" noChangeArrowheads="1" noChangeShapeType="1" noTextEdit="1"/>
              </p:cNvSpPr>
              <p:nvPr/>
            </p:nvSpPr>
            <p:spPr>
              <a:xfrm>
                <a:off x="1514747" y="5795341"/>
                <a:ext cx="2571188" cy="757128"/>
              </a:xfrm>
              <a:prstGeom prst="rect">
                <a:avLst/>
              </a:prstGeom>
              <a:blipFill rotWithShape="1">
                <a:blip r:embed="rId9"/>
                <a:stretch>
                  <a:fillRect l="-11" t="-33592" r="13" b="-3356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4055024" y="5612708"/>
                <a:ext cx="3574229"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d>
                      <m:dPr>
                        <m:begChr m:val="{"/>
                        <m:endChr m:val=""/>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dPr>
                      <m:e>
                        <m:eqArr>
                          <m:eqArrPr>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eqArrPr>
                          <m:e>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   </m:t>
                            </m:r>
                            <m:f>
                              <m:fPr>
                                <m:ctrlP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ctrlPr>
                              </m:fPr>
                              <m:num>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1</m:t>
                                </m:r>
                              </m:num>
                              <m:den>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1</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𝑖</m:t>
                                </m:r>
                              </m:den>
                            </m:f>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𝑥</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&gt;</m:t>
                            </m:r>
                            <m:r>
                              <a:rPr lang="en-US" altLang="zh-CN" sz="3000" b="0" i="1" smtClean="0">
                                <a:latin typeface="Cambria Math" panose="02040503050406030204" pitchFamily="18" charset="0"/>
                                <a:ea typeface="Cambria Math" panose="02040503050406030204" pitchFamily="18" charset="0"/>
                                <a:sym typeface="Wingdings" panose="05000000000000000000" pitchFamily="2" charset="2"/>
                              </a:rPr>
                              <m:t>0</m:t>
                            </m:r>
                          </m:e>
                          <m:e>
                            <m:r>
                              <a:rPr lang="en-US" altLang="zh-CN" sz="3000" b="0" i="1" smtClean="0">
                                <a:latin typeface="Cambria Math" panose="02040503050406030204" pitchFamily="18" charset="0"/>
                              </a:rPr>
                              <m:t>−</m:t>
                            </m:r>
                            <m:f>
                              <m:fPr>
                                <m:ctrlPr>
                                  <a:rPr lang="en-US" altLang="zh-CN" sz="3000" b="0" i="1" smtClean="0">
                                    <a:latin typeface="Cambria Math" panose="02040503050406030204" pitchFamily="18" charset="0"/>
                                  </a:rPr>
                                </m:ctrlPr>
                              </m:fPr>
                              <m:num>
                                <m:r>
                                  <a:rPr lang="en-US" altLang="zh-CN" sz="3000" b="0" i="1" smtClean="0">
                                    <a:latin typeface="Cambria Math" panose="02040503050406030204" pitchFamily="18" charset="0"/>
                                  </a:rPr>
                                  <m:t>1</m:t>
                                </m:r>
                              </m:num>
                              <m:den>
                                <m:r>
                                  <a:rPr lang="en-US" altLang="zh-CN" sz="3000" b="0" i="1" smtClean="0">
                                    <a:latin typeface="Cambria Math" panose="02040503050406030204" pitchFamily="18" charset="0"/>
                                  </a:rPr>
                                  <m:t>1</m:t>
                                </m:r>
                                <m:r>
                                  <a:rPr lang="en-US" altLang="zh-CN" sz="3000" b="0" i="1" smtClean="0">
                                    <a:latin typeface="Cambria Math" panose="02040503050406030204" pitchFamily="18" charset="0"/>
                                  </a:rPr>
                                  <m:t>+</m:t>
                                </m:r>
                                <m:r>
                                  <a:rPr lang="en-US" altLang="zh-CN" sz="3000" b="0" i="1" smtClean="0">
                                    <a:latin typeface="Cambria Math" panose="02040503050406030204" pitchFamily="18" charset="0"/>
                                  </a:rPr>
                                  <m:t>𝑖</m:t>
                                </m:r>
                              </m:den>
                            </m:f>
                            <m:r>
                              <a:rPr lang="en-US" altLang="zh-CN" sz="3000" b="0" i="1" smtClean="0">
                                <a:latin typeface="Cambria Math" panose="02040503050406030204" pitchFamily="18" charset="0"/>
                              </a:rPr>
                              <m:t>,</m:t>
                            </m:r>
                            <m:r>
                              <a:rPr lang="en-US" altLang="zh-CN" sz="3000" b="0" i="1" smtClean="0">
                                <a:latin typeface="Cambria Math" panose="02040503050406030204" pitchFamily="18" charset="0"/>
                              </a:rPr>
                              <m:t>𝑥</m:t>
                            </m:r>
                            <m:r>
                              <a:rPr lang="en-US" altLang="zh-CN" sz="3000" b="0" i="1" smtClean="0">
                                <a:latin typeface="Cambria Math" panose="02040503050406030204" pitchFamily="18" charset="0"/>
                              </a:rPr>
                              <m:t>&lt;</m:t>
                            </m:r>
                            <m:r>
                              <a:rPr lang="en-US" altLang="zh-CN" sz="3000" b="0" i="1" smtClean="0">
                                <a:latin typeface="Cambria Math" panose="02040503050406030204" pitchFamily="18" charset="0"/>
                              </a:rPr>
                              <m:t>0</m:t>
                            </m:r>
                          </m:e>
                        </m:eqArr>
                      </m:e>
                    </m:d>
                  </m:oMath>
                </a14:m>
                <a:r>
                  <a:rPr lang="en-US" altLang="zh-CN" sz="3000" b="0" dirty="0">
                    <a:latin typeface="楷体" panose="02010609060101010101" pitchFamily="49" charset="-122"/>
                    <a:ea typeface="楷体" panose="02010609060101010101" pitchFamily="49" charset="-122"/>
                    <a:sym typeface="Wingdings" panose="05000000000000000000" pitchFamily="2" charset="2"/>
                  </a:rPr>
                  <a:t> </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6" name="标题 1"/>
              <p:cNvSpPr txBox="1">
                <a:spLocks noRot="1" noChangeAspect="1" noMove="1" noResize="1" noEditPoints="1" noAdjustHandles="1" noChangeArrowheads="1" noChangeShapeType="1" noTextEdit="1"/>
              </p:cNvSpPr>
              <p:nvPr/>
            </p:nvSpPr>
            <p:spPr>
              <a:xfrm>
                <a:off x="4055024" y="5612708"/>
                <a:ext cx="3574229" cy="757128"/>
              </a:xfrm>
              <a:prstGeom prst="rect">
                <a:avLst/>
              </a:prstGeom>
              <a:blipFill rotWithShape="1">
                <a:blip r:embed="rId10"/>
                <a:stretch>
                  <a:fillRect l="-15" t="-65159" r="10" b="-650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6829714" y="5795341"/>
                <a:ext cx="2260209" cy="7571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𝑓</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𝑧</m:t>
                    </m:r>
                    <m:r>
                      <a:rPr lang="en-US" altLang="zh-CN" sz="3000" b="0" i="1" smtClean="0">
                        <a:latin typeface="Cambria Math" panose="02040503050406030204" pitchFamily="18" charset="0"/>
                        <a:ea typeface="楷体" panose="02010609060101010101" pitchFamily="49" charset="-122"/>
                        <a:sym typeface="Wingdings" panose="05000000000000000000" pitchFamily="2" charset="2"/>
                      </a:rPr>
                      <m:t>)</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在</a:t>
                </a:r>
                <a14:m>
                  <m:oMath xmlns:m="http://schemas.openxmlformats.org/officeDocument/2006/math">
                    <m:r>
                      <a:rPr lang="en-US" altLang="zh-CN" sz="3000" i="1" dirty="0">
                        <a:latin typeface="Cambria Math" panose="02040503050406030204" pitchFamily="18" charset="0"/>
                        <a:ea typeface="楷体" panose="02010609060101010101" pitchFamily="49" charset="-122"/>
                        <a:sym typeface="Wingdings" panose="05000000000000000000" pitchFamily="2" charset="2"/>
                      </a:rPr>
                      <m:t>𝑧</m:t>
                    </m:r>
                    <m:r>
                      <a:rPr lang="en-US" altLang="zh-CN" sz="3000" i="1" dirty="0">
                        <a:latin typeface="Cambria Math" panose="02040503050406030204" pitchFamily="18" charset="0"/>
                        <a:ea typeface="楷体" panose="02010609060101010101" pitchFamily="49" charset="-122"/>
                        <a:sym typeface="Wingdings" panose="05000000000000000000" pitchFamily="2" charset="2"/>
                      </a:rPr>
                      <m:t>=</m:t>
                    </m:r>
                    <m:r>
                      <a:rPr lang="en-US" altLang="zh-CN" sz="3000" i="1" dirty="0">
                        <a:latin typeface="Cambria Math" panose="02040503050406030204" pitchFamily="18" charset="0"/>
                        <a:ea typeface="楷体" panose="02010609060101010101" pitchFamily="49" charset="-122"/>
                        <a:sym typeface="Wingdings" panose="05000000000000000000" pitchFamily="2" charset="2"/>
                      </a:rPr>
                      <m:t>0</m:t>
                    </m:r>
                  </m:oMath>
                </a14:m>
                <a:r>
                  <a:rPr lang="zh-CN" altLang="en-US" sz="3000" b="0" dirty="0">
                    <a:latin typeface="楷体" panose="02010609060101010101" pitchFamily="49" charset="-122"/>
                    <a:ea typeface="楷体" panose="02010609060101010101" pitchFamily="49" charset="-122"/>
                    <a:sym typeface="Wingdings" panose="05000000000000000000" pitchFamily="2" charset="2"/>
                  </a:rPr>
                  <a:t>处不可导</a:t>
                </a:r>
                <a:endParaRPr lang="en-US" altLang="zh-CN" sz="3000" b="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17" name="标题 1"/>
              <p:cNvSpPr txBox="1">
                <a:spLocks noRot="1" noChangeAspect="1" noMove="1" noResize="1" noEditPoints="1" noAdjustHandles="1" noChangeArrowheads="1" noChangeShapeType="1" noTextEdit="1"/>
              </p:cNvSpPr>
              <p:nvPr/>
            </p:nvSpPr>
            <p:spPr>
              <a:xfrm>
                <a:off x="6829714" y="5795341"/>
                <a:ext cx="2260209" cy="757128"/>
              </a:xfrm>
              <a:prstGeom prst="rect">
                <a:avLst/>
              </a:prstGeom>
              <a:blipFill rotWithShape="1">
                <a:blip r:embed="rId11"/>
                <a:stretch>
                  <a:fillRect l="-13" t="-22437" r="24" b="-2249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9" grpId="0"/>
      <p:bldP spid="10" grpId="0"/>
      <p:bldP spid="11" grpId="0"/>
      <p:bldP spid="12" grpId="0"/>
      <p:bldP spid="13" grpId="0"/>
      <p:bldP spid="14" grpId="0"/>
      <p:bldP spid="15" grpId="0"/>
      <p:bldP spid="16" grpId="0"/>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标题 1"/>
              <p:cNvSpPr txBox="1"/>
              <p:nvPr/>
            </p:nvSpPr>
            <p:spPr>
              <a:xfrm>
                <a:off x="193793" y="1553730"/>
                <a:ext cx="8723403" cy="4912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100" b="1" dirty="0">
                    <a:solidFill>
                      <a:srgbClr val="FF0000"/>
                    </a:solidFill>
                    <a:latin typeface="楷体" panose="02010609060101010101" pitchFamily="49" charset="-122"/>
                    <a:ea typeface="楷体" panose="02010609060101010101" pitchFamily="49" charset="-122"/>
                  </a:rPr>
                  <a:t>解析：</a:t>
                </a:r>
                <a:r>
                  <a:rPr lang="zh-CN" altLang="en-US" sz="3100" b="1" dirty="0">
                    <a:latin typeface="楷体" panose="02010609060101010101" pitchFamily="49" charset="-122"/>
                    <a:ea typeface="楷体" panose="02010609060101010101" pitchFamily="49" charset="-122"/>
                  </a:rPr>
                  <a:t>若</a:t>
                </a:r>
                <a14:m>
                  <m:oMath xmlns:m="http://schemas.openxmlformats.org/officeDocument/2006/math">
                    <m:r>
                      <a:rPr lang="en-US" altLang="zh-CN" sz="3100" i="1">
                        <a:latin typeface="Cambria Math" panose="02040503050406030204" pitchFamily="18" charset="0"/>
                        <a:ea typeface="Cambria Math" panose="02040503050406030204" pitchFamily="18" charset="0"/>
                      </a:rPr>
                      <m:t>𝑓</m:t>
                    </m:r>
                    <m:r>
                      <a:rPr lang="en-US" altLang="zh-CN" sz="3100" i="1">
                        <a:latin typeface="Cambria Math" panose="02040503050406030204" pitchFamily="18" charset="0"/>
                        <a:ea typeface="Cambria Math" panose="02040503050406030204" pitchFamily="18" charset="0"/>
                      </a:rPr>
                      <m:t>(</m:t>
                    </m:r>
                    <m:r>
                      <a:rPr lang="en-US" altLang="zh-CN" sz="3100" i="1">
                        <a:latin typeface="Cambria Math" panose="02040503050406030204" pitchFamily="18" charset="0"/>
                        <a:ea typeface="Cambria Math" panose="02040503050406030204" pitchFamily="18" charset="0"/>
                      </a:rPr>
                      <m:t>𝑧</m:t>
                    </m:r>
                    <m:r>
                      <a:rPr lang="en-US" altLang="zh-CN" sz="3100" i="1">
                        <a:latin typeface="Cambria Math" panose="02040503050406030204" pitchFamily="18" charset="0"/>
                        <a:ea typeface="Cambria Math" panose="02040503050406030204" pitchFamily="18" charset="0"/>
                      </a:rPr>
                      <m:t>)</m:t>
                    </m:r>
                  </m:oMath>
                </a14:m>
                <a:r>
                  <a:rPr lang="zh-CN" altLang="en-US" sz="3100" dirty="0">
                    <a:latin typeface="楷体" panose="02010609060101010101" pitchFamily="49" charset="-122"/>
                    <a:ea typeface="楷体" panose="02010609060101010101" pitchFamily="49" charset="-122"/>
                  </a:rPr>
                  <a:t>在点</a:t>
                </a:r>
                <a14:m>
                  <m:oMath xmlns:m="http://schemas.openxmlformats.org/officeDocument/2006/math">
                    <m:sSub>
                      <m:sSubPr>
                        <m:ctrlPr>
                          <a:rPr lang="en-US" altLang="zh-CN" sz="3100" i="1" smtClean="0">
                            <a:latin typeface="Cambria Math" panose="02040503050406030204" pitchFamily="18" charset="0"/>
                            <a:ea typeface="Cambria Math" panose="02040503050406030204" pitchFamily="18" charset="0"/>
                          </a:rPr>
                        </m:ctrlPr>
                      </m:sSubPr>
                      <m:e>
                        <m:r>
                          <a:rPr lang="en-US" altLang="zh-CN" sz="3100" b="0" i="1" smtClean="0">
                            <a:latin typeface="Cambria Math" panose="02040503050406030204" pitchFamily="18" charset="0"/>
                            <a:ea typeface="Cambria Math" panose="02040503050406030204" pitchFamily="18" charset="0"/>
                          </a:rPr>
                          <m:t>𝑧</m:t>
                        </m:r>
                      </m:e>
                      <m:sub>
                        <m:r>
                          <a:rPr lang="en-US" altLang="zh-CN" sz="3100" b="0" i="1" smtClean="0">
                            <a:latin typeface="Cambria Math" panose="02040503050406030204" pitchFamily="18" charset="0"/>
                            <a:ea typeface="Cambria Math" panose="02040503050406030204" pitchFamily="18" charset="0"/>
                          </a:rPr>
                          <m:t>0</m:t>
                        </m:r>
                      </m:sub>
                    </m:sSub>
                  </m:oMath>
                </a14:m>
                <a:r>
                  <a:rPr lang="zh-CN" altLang="en-US" sz="3100" dirty="0">
                    <a:latin typeface="楷体" panose="02010609060101010101" pitchFamily="49" charset="-122"/>
                    <a:ea typeface="楷体" panose="02010609060101010101" pitchFamily="49" charset="-122"/>
                  </a:rPr>
                  <a:t>的某个邻域内处处可导，则称</a:t>
                </a:r>
                <a14:m>
                  <m:oMath xmlns:m="http://schemas.openxmlformats.org/officeDocument/2006/math">
                    <m:r>
                      <a:rPr lang="en-US" altLang="zh-CN" sz="3100" i="1">
                        <a:latin typeface="Cambria Math" panose="02040503050406030204" pitchFamily="18" charset="0"/>
                        <a:ea typeface="Cambria Math" panose="02040503050406030204" pitchFamily="18" charset="0"/>
                      </a:rPr>
                      <m:t>𝑓</m:t>
                    </m:r>
                    <m:r>
                      <a:rPr lang="en-US" altLang="zh-CN" sz="3100" i="1">
                        <a:latin typeface="Cambria Math" panose="02040503050406030204" pitchFamily="18" charset="0"/>
                        <a:ea typeface="Cambria Math" panose="02040503050406030204" pitchFamily="18" charset="0"/>
                      </a:rPr>
                      <m:t>(</m:t>
                    </m:r>
                    <m:r>
                      <a:rPr lang="en-US" altLang="zh-CN" sz="3100" i="1">
                        <a:latin typeface="Cambria Math" panose="02040503050406030204" pitchFamily="18" charset="0"/>
                        <a:ea typeface="Cambria Math" panose="02040503050406030204" pitchFamily="18" charset="0"/>
                      </a:rPr>
                      <m:t>𝑧</m:t>
                    </m:r>
                    <m:r>
                      <a:rPr lang="en-US" altLang="zh-CN" sz="3100" i="1">
                        <a:latin typeface="Cambria Math" panose="02040503050406030204" pitchFamily="18" charset="0"/>
                        <a:ea typeface="Cambria Math" panose="02040503050406030204" pitchFamily="18" charset="0"/>
                      </a:rPr>
                      <m:t>)</m:t>
                    </m:r>
                    <m:r>
                      <m:rPr>
                        <m:nor/>
                      </m:rPr>
                      <a:rPr lang="zh-CN" altLang="en-US" sz="3100" dirty="0">
                        <a:latin typeface="楷体" panose="02010609060101010101" pitchFamily="49" charset="-122"/>
                        <a:ea typeface="楷体" panose="02010609060101010101" pitchFamily="49" charset="-122"/>
                      </a:rPr>
                      <m:t>在点</m:t>
                    </m:r>
                    <m:sSub>
                      <m:sSubPr>
                        <m:ctrlPr>
                          <a:rPr lang="en-US" altLang="zh-CN" sz="3100" i="1">
                            <a:latin typeface="Cambria Math" panose="02040503050406030204" pitchFamily="18" charset="0"/>
                            <a:ea typeface="Cambria Math" panose="02040503050406030204" pitchFamily="18" charset="0"/>
                          </a:rPr>
                        </m:ctrlPr>
                      </m:sSubPr>
                      <m:e>
                        <m:r>
                          <a:rPr lang="en-US" altLang="zh-CN" sz="3100" i="1">
                            <a:latin typeface="Cambria Math" panose="02040503050406030204" pitchFamily="18" charset="0"/>
                            <a:ea typeface="Cambria Math" panose="02040503050406030204" pitchFamily="18" charset="0"/>
                          </a:rPr>
                          <m:t>𝑧</m:t>
                        </m:r>
                      </m:e>
                      <m:sub>
                        <m:r>
                          <a:rPr lang="en-US" altLang="zh-CN" sz="3100" i="1">
                            <a:latin typeface="Cambria Math" panose="02040503050406030204" pitchFamily="18" charset="0"/>
                            <a:ea typeface="Cambria Math" panose="02040503050406030204" pitchFamily="18" charset="0"/>
                          </a:rPr>
                          <m:t>0</m:t>
                        </m:r>
                      </m:sub>
                    </m:sSub>
                  </m:oMath>
                </a14:m>
                <a:r>
                  <a:rPr lang="zh-CN" altLang="en-US" sz="3100" dirty="0">
                    <a:latin typeface="楷体" panose="02010609060101010101" pitchFamily="49" charset="-122"/>
                    <a:ea typeface="楷体" panose="02010609060101010101" pitchFamily="49" charset="-122"/>
                  </a:rPr>
                  <a:t>解析。</a:t>
                </a:r>
                <a:endParaRPr lang="zh-CN" altLang="en-US" sz="31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193793" y="1553730"/>
                <a:ext cx="8723403" cy="491276"/>
              </a:xfrm>
              <a:prstGeom prst="rect">
                <a:avLst/>
              </a:prstGeom>
              <a:blipFill rotWithShape="1">
                <a:blip r:embed="rId1"/>
                <a:stretch>
                  <a:fillRect l="-1" t="-57495" r="6" b="-57327"/>
                </a:stretch>
              </a:blipFill>
            </p:spPr>
            <p:txBody>
              <a:bodyPr/>
              <a:lstStyle/>
              <a:p>
                <a:r>
                  <a:rPr lang="zh-CN" altLang="en-US">
                    <a:noFill/>
                  </a:rPr>
                  <a:t> </a:t>
                </a:r>
              </a:p>
            </p:txBody>
          </p:sp>
        </mc:Fallback>
      </mc:AlternateContent>
      <p:sp>
        <p:nvSpPr>
          <p:cNvPr id="3" name="标题 1"/>
          <p:cNvSpPr txBox="1"/>
          <p:nvPr/>
        </p:nvSpPr>
        <p:spPr>
          <a:xfrm>
            <a:off x="122036" y="430443"/>
            <a:ext cx="8866919" cy="862138"/>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b="1" dirty="0">
                <a:latin typeface="楷体" panose="02010609060101010101" pitchFamily="49" charset="-122"/>
                <a:ea typeface="楷体" panose="02010609060101010101" pitchFamily="49" charset="-122"/>
              </a:rPr>
              <a:t>三、解析函数</a:t>
            </a:r>
            <a:endParaRPr lang="en-US" altLang="zh-CN" sz="3200" b="1"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6" name="标题 1"/>
              <p:cNvSpPr txBox="1"/>
              <p:nvPr/>
            </p:nvSpPr>
            <p:spPr>
              <a:xfrm>
                <a:off x="193793" y="2964547"/>
                <a:ext cx="8594090" cy="9937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20000"/>
                  </a:lnSpc>
                </a:pPr>
                <a:r>
                  <a:rPr lang="zh-CN" altLang="en-US" sz="3100" b="1" dirty="0">
                    <a:latin typeface="楷体" panose="02010609060101010101" pitchFamily="49" charset="-122"/>
                    <a:ea typeface="楷体" panose="02010609060101010101" pitchFamily="49" charset="-122"/>
                  </a:rPr>
                  <a:t>若</a:t>
                </a:r>
                <a14:m>
                  <m:oMath xmlns:m="http://schemas.openxmlformats.org/officeDocument/2006/math">
                    <m:r>
                      <a:rPr lang="en-US" altLang="zh-CN" sz="3100" i="1">
                        <a:latin typeface="Cambria Math" panose="02040503050406030204" pitchFamily="18" charset="0"/>
                        <a:ea typeface="Cambria Math" panose="02040503050406030204" pitchFamily="18" charset="0"/>
                      </a:rPr>
                      <m:t>𝑓</m:t>
                    </m:r>
                    <m:r>
                      <a:rPr lang="en-US" altLang="zh-CN" sz="3100" i="1">
                        <a:latin typeface="Cambria Math" panose="02040503050406030204" pitchFamily="18" charset="0"/>
                        <a:ea typeface="Cambria Math" panose="02040503050406030204" pitchFamily="18" charset="0"/>
                      </a:rPr>
                      <m:t>(</m:t>
                    </m:r>
                    <m:r>
                      <a:rPr lang="en-US" altLang="zh-CN" sz="3100" i="1">
                        <a:latin typeface="Cambria Math" panose="02040503050406030204" pitchFamily="18" charset="0"/>
                        <a:ea typeface="Cambria Math" panose="02040503050406030204" pitchFamily="18" charset="0"/>
                      </a:rPr>
                      <m:t>𝑧</m:t>
                    </m:r>
                    <m:r>
                      <a:rPr lang="en-US" altLang="zh-CN" sz="3100" i="1">
                        <a:latin typeface="Cambria Math" panose="02040503050406030204" pitchFamily="18" charset="0"/>
                        <a:ea typeface="Cambria Math" panose="02040503050406030204" pitchFamily="18" charset="0"/>
                      </a:rPr>
                      <m:t>)</m:t>
                    </m:r>
                  </m:oMath>
                </a14:m>
                <a:r>
                  <a:rPr lang="zh-CN" altLang="en-US" sz="3100" dirty="0">
                    <a:latin typeface="楷体" panose="02010609060101010101" pitchFamily="49" charset="-122"/>
                    <a:ea typeface="楷体" panose="02010609060101010101" pitchFamily="49" charset="-122"/>
                  </a:rPr>
                  <a:t>在复平面的子集</a:t>
                </a:r>
                <a14:m>
                  <m:oMath xmlns:m="http://schemas.openxmlformats.org/officeDocument/2006/math">
                    <m:r>
                      <a:rPr lang="en-US" altLang="zh-CN" sz="3100" b="0" i="1" smtClean="0">
                        <a:latin typeface="Cambria Math" panose="02040503050406030204" pitchFamily="18" charset="0"/>
                        <a:ea typeface="Cambria Math" panose="02040503050406030204" pitchFamily="18" charset="0"/>
                      </a:rPr>
                      <m:t>𝑆</m:t>
                    </m:r>
                  </m:oMath>
                </a14:m>
                <a:r>
                  <a:rPr lang="zh-CN" altLang="en-US" sz="3100" dirty="0">
                    <a:latin typeface="楷体" panose="02010609060101010101" pitchFamily="49" charset="-122"/>
                    <a:ea typeface="楷体" panose="02010609060101010101" pitchFamily="49" charset="-122"/>
                  </a:rPr>
                  <a:t>上的每一点都解析，则称</a:t>
                </a:r>
                <a14:m>
                  <m:oMath xmlns:m="http://schemas.openxmlformats.org/officeDocument/2006/math">
                    <m:r>
                      <a:rPr lang="en-US" altLang="zh-CN" sz="3100" i="1">
                        <a:latin typeface="Cambria Math" panose="02040503050406030204" pitchFamily="18" charset="0"/>
                        <a:ea typeface="Cambria Math" panose="02040503050406030204" pitchFamily="18" charset="0"/>
                      </a:rPr>
                      <m:t>𝑓</m:t>
                    </m:r>
                    <m:r>
                      <a:rPr lang="en-US" altLang="zh-CN" sz="3100" i="1">
                        <a:latin typeface="Cambria Math" panose="02040503050406030204" pitchFamily="18" charset="0"/>
                        <a:ea typeface="Cambria Math" panose="02040503050406030204" pitchFamily="18" charset="0"/>
                      </a:rPr>
                      <m:t>(</m:t>
                    </m:r>
                    <m:r>
                      <a:rPr lang="en-US" altLang="zh-CN" sz="3100" i="1">
                        <a:latin typeface="Cambria Math" panose="02040503050406030204" pitchFamily="18" charset="0"/>
                        <a:ea typeface="Cambria Math" panose="02040503050406030204" pitchFamily="18" charset="0"/>
                      </a:rPr>
                      <m:t>𝑧</m:t>
                    </m:r>
                    <m:r>
                      <a:rPr lang="en-US" altLang="zh-CN" sz="3100" i="1">
                        <a:latin typeface="Cambria Math" panose="02040503050406030204" pitchFamily="18" charset="0"/>
                        <a:ea typeface="Cambria Math" panose="02040503050406030204" pitchFamily="18" charset="0"/>
                      </a:rPr>
                      <m:t>)</m:t>
                    </m:r>
                    <m:r>
                      <m:rPr>
                        <m:nor/>
                      </m:rPr>
                      <a:rPr lang="zh-CN" altLang="en-US" sz="3100" dirty="0">
                        <a:latin typeface="楷体" panose="02010609060101010101" pitchFamily="49" charset="-122"/>
                        <a:ea typeface="楷体" panose="02010609060101010101" pitchFamily="49" charset="-122"/>
                      </a:rPr>
                      <m:t>为</m:t>
                    </m:r>
                    <m:r>
                      <a:rPr lang="en-US" altLang="zh-CN" sz="3100" b="0" i="1" smtClean="0">
                        <a:latin typeface="Cambria Math" panose="02040503050406030204" pitchFamily="18" charset="0"/>
                        <a:ea typeface="Cambria Math" panose="02040503050406030204" pitchFamily="18" charset="0"/>
                      </a:rPr>
                      <m:t>𝑆</m:t>
                    </m:r>
                  </m:oMath>
                </a14:m>
                <a:r>
                  <a:rPr lang="zh-CN" altLang="en-US" sz="3100" dirty="0">
                    <a:latin typeface="楷体" panose="02010609060101010101" pitchFamily="49" charset="-122"/>
                    <a:ea typeface="楷体" panose="02010609060101010101" pitchFamily="49" charset="-122"/>
                  </a:rPr>
                  <a:t>上解析，或称</a:t>
                </a:r>
                <a14:m>
                  <m:oMath xmlns:m="http://schemas.openxmlformats.org/officeDocument/2006/math">
                    <m:r>
                      <a:rPr lang="en-US" altLang="zh-CN" sz="3100" i="1">
                        <a:latin typeface="Cambria Math" panose="02040503050406030204" pitchFamily="18" charset="0"/>
                        <a:ea typeface="Cambria Math" panose="02040503050406030204" pitchFamily="18" charset="0"/>
                      </a:rPr>
                      <m:t>𝑓</m:t>
                    </m:r>
                    <m:d>
                      <m:dPr>
                        <m:ctrlPr>
                          <a:rPr lang="en-US" altLang="zh-CN" sz="3100" i="1">
                            <a:latin typeface="Cambria Math" panose="02040503050406030204" pitchFamily="18" charset="0"/>
                            <a:ea typeface="Cambria Math" panose="02040503050406030204" pitchFamily="18" charset="0"/>
                          </a:rPr>
                        </m:ctrlPr>
                      </m:dPr>
                      <m:e>
                        <m:r>
                          <a:rPr lang="en-US" altLang="zh-CN" sz="3100" i="1">
                            <a:latin typeface="Cambria Math" panose="02040503050406030204" pitchFamily="18" charset="0"/>
                            <a:ea typeface="Cambria Math" panose="02040503050406030204" pitchFamily="18" charset="0"/>
                          </a:rPr>
                          <m:t>𝑧</m:t>
                        </m:r>
                      </m:e>
                    </m:d>
                    <m:r>
                      <m:rPr>
                        <m:nor/>
                      </m:rPr>
                      <a:rPr lang="zh-CN" altLang="en-US" sz="3100" dirty="0">
                        <a:latin typeface="楷体" panose="02010609060101010101" pitchFamily="49" charset="-122"/>
                        <a:ea typeface="楷体" panose="02010609060101010101" pitchFamily="49" charset="-122"/>
                      </a:rPr>
                      <m:t>为</m:t>
                    </m:r>
                    <m:r>
                      <a:rPr lang="en-US" altLang="zh-CN" sz="3100" i="1">
                        <a:latin typeface="Cambria Math" panose="02040503050406030204" pitchFamily="18" charset="0"/>
                        <a:ea typeface="Cambria Math" panose="02040503050406030204" pitchFamily="18" charset="0"/>
                      </a:rPr>
                      <m:t>𝑆</m:t>
                    </m:r>
                  </m:oMath>
                </a14:m>
                <a:r>
                  <a:rPr lang="zh-CN" altLang="en-US" sz="3100" dirty="0">
                    <a:latin typeface="楷体" panose="02010609060101010101" pitchFamily="49" charset="-122"/>
                    <a:ea typeface="楷体" panose="02010609060101010101" pitchFamily="49" charset="-122"/>
                  </a:rPr>
                  <a:t>上的解析函数，</a:t>
                </a:r>
                <a14:m>
                  <m:oMath xmlns:m="http://schemas.openxmlformats.org/officeDocument/2006/math">
                    <m:r>
                      <a:rPr lang="en-US" altLang="zh-CN" sz="3100" i="1">
                        <a:latin typeface="Cambria Math" panose="02040503050406030204" pitchFamily="18" charset="0"/>
                        <a:ea typeface="Cambria Math" panose="02040503050406030204" pitchFamily="18" charset="0"/>
                      </a:rPr>
                      <m:t>𝑆</m:t>
                    </m:r>
                  </m:oMath>
                </a14:m>
                <a:r>
                  <a:rPr lang="zh-CN" altLang="en-US" sz="3100" dirty="0">
                    <a:latin typeface="楷体" panose="02010609060101010101" pitchFamily="49" charset="-122"/>
                    <a:ea typeface="楷体" panose="02010609060101010101" pitchFamily="49" charset="-122"/>
                  </a:rPr>
                  <a:t>称为</a:t>
                </a:r>
                <a14:m>
                  <m:oMath xmlns:m="http://schemas.openxmlformats.org/officeDocument/2006/math">
                    <m:r>
                      <a:rPr lang="en-US" altLang="zh-CN" sz="3100" i="1">
                        <a:latin typeface="Cambria Math" panose="02040503050406030204" pitchFamily="18" charset="0"/>
                        <a:ea typeface="Cambria Math" panose="02040503050406030204" pitchFamily="18" charset="0"/>
                      </a:rPr>
                      <m:t>𝑓</m:t>
                    </m:r>
                    <m:r>
                      <a:rPr lang="en-US" altLang="zh-CN" sz="3100" i="1">
                        <a:latin typeface="Cambria Math" panose="02040503050406030204" pitchFamily="18" charset="0"/>
                        <a:ea typeface="Cambria Math" panose="02040503050406030204" pitchFamily="18" charset="0"/>
                      </a:rPr>
                      <m:t>(</m:t>
                    </m:r>
                    <m:r>
                      <a:rPr lang="en-US" altLang="zh-CN" sz="3100" i="1">
                        <a:latin typeface="Cambria Math" panose="02040503050406030204" pitchFamily="18" charset="0"/>
                        <a:ea typeface="Cambria Math" panose="02040503050406030204" pitchFamily="18" charset="0"/>
                      </a:rPr>
                      <m:t>𝑧</m:t>
                    </m:r>
                    <m:r>
                      <a:rPr lang="en-US" altLang="zh-CN" sz="3100" i="1">
                        <a:latin typeface="Cambria Math" panose="02040503050406030204" pitchFamily="18" charset="0"/>
                        <a:ea typeface="Cambria Math" panose="02040503050406030204" pitchFamily="18" charset="0"/>
                      </a:rPr>
                      <m:t>) </m:t>
                    </m:r>
                  </m:oMath>
                </a14:m>
                <a:r>
                  <a:rPr lang="zh-CN" altLang="en-US" sz="3100" dirty="0">
                    <a:latin typeface="楷体" panose="02010609060101010101" pitchFamily="49" charset="-122"/>
                    <a:ea typeface="楷体" panose="02010609060101010101" pitchFamily="49" charset="-122"/>
                  </a:rPr>
                  <a:t>的解析区域。</a:t>
                </a:r>
                <a:endParaRPr lang="zh-CN" altLang="en-US" sz="31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193793" y="2964547"/>
                <a:ext cx="8594090" cy="993775"/>
              </a:xfrm>
              <a:prstGeom prst="rect">
                <a:avLst/>
              </a:prstGeom>
              <a:blipFill rotWithShape="1">
                <a:blip r:embed="rId2"/>
                <a:stretch>
                  <a:fillRect l="-1" t="-35820" r="1" b="-35810"/>
                </a:stretch>
              </a:blipFill>
            </p:spPr>
            <p:txBody>
              <a:bodyPr/>
              <a:lstStyle/>
              <a:p>
                <a:r>
                  <a:rPr lang="zh-CN" altLang="en-US">
                    <a:noFill/>
                  </a:rPr>
                  <a:t> </a:t>
                </a:r>
              </a:p>
            </p:txBody>
          </p:sp>
        </mc:Fallback>
      </mc:AlternateContent>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11" name="直接连接符 10"/>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标题 1"/>
              <p:cNvSpPr txBox="1"/>
              <p:nvPr/>
            </p:nvSpPr>
            <p:spPr>
              <a:xfrm>
                <a:off x="196182" y="706821"/>
                <a:ext cx="5006975" cy="5549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latin typeface="楷体" panose="02010609060101010101" pitchFamily="49" charset="-122"/>
                    <a:ea typeface="楷体" panose="02010609060101010101" pitchFamily="49" charset="-122"/>
                  </a:rPr>
                  <a:t>如</a:t>
                </a:r>
                <a:r>
                  <a:rPr lang="en-US" altLang="zh-CN" sz="3200" dirty="0">
                    <a:latin typeface="楷体" panose="02010609060101010101" pitchFamily="49" charset="-122"/>
                    <a:ea typeface="楷体" panose="02010609060101010101" pitchFamily="49" charset="-122"/>
                  </a:rPr>
                  <a:t>:</a:t>
                </a:r>
                <a14:m>
                  <m:oMath xmlns:m="http://schemas.openxmlformats.org/officeDocument/2006/math">
                    <m:r>
                      <a:rPr lang="en-US" altLang="zh-CN" sz="3200" b="0" i="1" smtClean="0">
                        <a:latin typeface="Cambria Math" panose="02040503050406030204" pitchFamily="18" charset="0"/>
                        <a:ea typeface="楷体" panose="02010609060101010101" pitchFamily="49" charset="-122"/>
                      </a:rPr>
                      <m:t>𝑓</m:t>
                    </m:r>
                    <m:d>
                      <m:dPr>
                        <m:ctrlPr>
                          <a:rPr lang="en-US" altLang="zh-CN" sz="3200" b="0" i="1" smtClean="0">
                            <a:latin typeface="Cambria Math" panose="02040503050406030204" pitchFamily="18" charset="0"/>
                            <a:ea typeface="楷体" panose="02010609060101010101" pitchFamily="49" charset="-122"/>
                          </a:rPr>
                        </m:ctrlPr>
                      </m:dPr>
                      <m:e>
                        <m:r>
                          <a:rPr lang="en-US" altLang="zh-CN" sz="3200" b="0" i="1" smtClean="0">
                            <a:latin typeface="Cambria Math" panose="02040503050406030204" pitchFamily="18" charset="0"/>
                            <a:ea typeface="楷体" panose="02010609060101010101" pitchFamily="49" charset="-122"/>
                          </a:rPr>
                          <m:t>𝑧</m:t>
                        </m:r>
                      </m:e>
                    </m:d>
                    <m:r>
                      <a:rPr lang="en-US" altLang="zh-CN" sz="3200" b="0" i="1" smtClean="0">
                        <a:latin typeface="Cambria Math" panose="02040503050406030204" pitchFamily="18" charset="0"/>
                        <a:ea typeface="楷体" panose="02010609060101010101" pitchFamily="49" charset="-122"/>
                      </a:rPr>
                      <m:t>=</m:t>
                    </m:r>
                    <m:sSup>
                      <m:sSup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sSupPr>
                      <m:e>
                        <m:d>
                          <m:dPr>
                            <m:begChr m:val="|"/>
                            <m:endChr m:val="|"/>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𝑧</m:t>
                            </m:r>
                          </m:e>
                        </m:d>
                      </m:e>
                      <m:sup>
                        <m:r>
                          <a:rPr lang="en-US" altLang="zh-CN" sz="3200" i="1">
                            <a:latin typeface="Cambria Math" panose="02040503050406030204" pitchFamily="18" charset="0"/>
                            <a:ea typeface="楷体" panose="02010609060101010101" pitchFamily="49" charset="-122"/>
                            <a:sym typeface="Wingdings" panose="05000000000000000000" pitchFamily="2" charset="2"/>
                          </a:rPr>
                          <m:t>2</m:t>
                        </m:r>
                      </m:sup>
                    </m:sSup>
                  </m:oMath>
                </a14:m>
                <a:endParaRPr lang="en-US" altLang="zh-CN" sz="32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96182" y="706821"/>
                <a:ext cx="5006975" cy="554990"/>
              </a:xfrm>
              <a:prstGeom prst="rect">
                <a:avLst/>
              </a:prstGeom>
              <a:blipFill rotWithShape="1">
                <a:blip r:embed="rId1"/>
                <a:stretch>
                  <a:fillRect l="-12" t="-18204" r="12" b="-18295"/>
                </a:stretch>
              </a:blipFill>
            </p:spPr>
            <p:txBody>
              <a:bodyPr/>
              <a:lstStyle/>
              <a:p>
                <a:r>
                  <a:rPr lang="zh-CN" altLang="en-US">
                    <a:noFill/>
                  </a:rPr>
                  <a:t> </a:t>
                </a:r>
              </a:p>
            </p:txBody>
          </p:sp>
        </mc:Fallback>
      </mc:AlternateContent>
      <p:sp>
        <p:nvSpPr>
          <p:cNvPr id="11" name="标题 1"/>
          <p:cNvSpPr txBox="1"/>
          <p:nvPr/>
        </p:nvSpPr>
        <p:spPr>
          <a:xfrm>
            <a:off x="4279025" y="1490788"/>
            <a:ext cx="2310130" cy="5549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latin typeface="楷体" panose="02010609060101010101" pitchFamily="49" charset="-122"/>
                <a:ea typeface="楷体" panose="02010609060101010101" pitchFamily="49" charset="-122"/>
              </a:rPr>
              <a:t>处处不解析</a:t>
            </a:r>
            <a:endParaRPr lang="en-US" altLang="zh-CN" sz="3200"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2" name="标题 1"/>
              <p:cNvSpPr txBox="1"/>
              <p:nvPr/>
            </p:nvSpPr>
            <p:spPr>
              <a:xfrm>
                <a:off x="521487" y="2234614"/>
                <a:ext cx="2224406" cy="5546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楷体" panose="02010609060101010101" pitchFamily="49" charset="-122"/>
                        </a:rPr>
                        <m:t>𝑓</m:t>
                      </m:r>
                      <m:d>
                        <m:dPr>
                          <m:ctrlPr>
                            <a:rPr lang="en-US" altLang="zh-CN" sz="3200" b="0" i="1" smtClean="0">
                              <a:latin typeface="Cambria Math" panose="02040503050406030204" pitchFamily="18" charset="0"/>
                              <a:ea typeface="楷体" panose="02010609060101010101" pitchFamily="49" charset="-122"/>
                            </a:rPr>
                          </m:ctrlPr>
                        </m:dPr>
                        <m:e>
                          <m:r>
                            <a:rPr lang="en-US" altLang="zh-CN" sz="3200" b="0" i="1" smtClean="0">
                              <a:latin typeface="Cambria Math" panose="02040503050406030204" pitchFamily="18" charset="0"/>
                              <a:ea typeface="楷体" panose="02010609060101010101" pitchFamily="49" charset="-122"/>
                            </a:rPr>
                            <m:t>𝑧</m:t>
                          </m:r>
                        </m:e>
                      </m:d>
                      <m:r>
                        <a:rPr lang="en-US" altLang="zh-CN" sz="3200" b="0" i="1" smtClean="0">
                          <a:latin typeface="Cambria Math" panose="02040503050406030204" pitchFamily="18" charset="0"/>
                          <a:ea typeface="楷体" panose="02010609060101010101" pitchFamily="49" charset="-122"/>
                        </a:rPr>
                        <m:t>=</m:t>
                      </m:r>
                      <m:sSup>
                        <m:sSupPr>
                          <m:ctrlPr>
                            <a:rPr lang="en-US" altLang="zh-CN" sz="3200" b="0" i="1" smtClean="0">
                              <a:latin typeface="Cambria Math" panose="02040503050406030204" pitchFamily="18" charset="0"/>
                              <a:ea typeface="楷体" panose="02010609060101010101" pitchFamily="49" charset="-122"/>
                            </a:rPr>
                          </m:ctrlPr>
                        </m:sSupPr>
                        <m:e>
                          <m:r>
                            <a:rPr lang="en-US" altLang="zh-CN" sz="3200" b="0" i="1" smtClean="0">
                              <a:latin typeface="Cambria Math" panose="02040503050406030204" pitchFamily="18" charset="0"/>
                              <a:ea typeface="楷体" panose="02010609060101010101" pitchFamily="49" charset="-122"/>
                            </a:rPr>
                            <m:t>𝑧</m:t>
                          </m:r>
                        </m:e>
                        <m:sup>
                          <m:r>
                            <a:rPr lang="en-US" altLang="zh-CN" sz="3200" b="0" i="1" smtClean="0">
                              <a:latin typeface="Cambria Math" panose="02040503050406030204" pitchFamily="18" charset="0"/>
                              <a:ea typeface="楷体" panose="02010609060101010101" pitchFamily="49" charset="-122"/>
                            </a:rPr>
                            <m:t>2</m:t>
                          </m:r>
                        </m:sup>
                      </m:sSup>
                    </m:oMath>
                  </m:oMathPara>
                </a14:m>
                <a:endParaRPr lang="en-US" altLang="zh-CN" sz="32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521487" y="2234614"/>
                <a:ext cx="2224406" cy="554690"/>
              </a:xfrm>
              <a:prstGeom prst="rect">
                <a:avLst/>
              </a:prstGeom>
              <a:blipFill rotWithShape="1">
                <a:blip r:embed="rId2"/>
                <a:stretch>
                  <a:fillRect l="-7" t="-13975" r="7" b="-14126"/>
                </a:stretch>
              </a:blipFill>
            </p:spPr>
            <p:txBody>
              <a:bodyPr/>
              <a:lstStyle/>
              <a:p>
                <a:r>
                  <a:rPr lang="zh-CN" altLang="en-US">
                    <a:noFill/>
                  </a:rPr>
                  <a:t> </a:t>
                </a:r>
              </a:p>
            </p:txBody>
          </p:sp>
        </mc:Fallback>
      </mc:AlternateContent>
      <p:sp>
        <p:nvSpPr>
          <p:cNvPr id="13" name="标题 1"/>
          <p:cNvSpPr txBox="1"/>
          <p:nvPr/>
        </p:nvSpPr>
        <p:spPr>
          <a:xfrm>
            <a:off x="4279025" y="2216305"/>
            <a:ext cx="2224405" cy="5549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latin typeface="楷体" panose="02010609060101010101" pitchFamily="49" charset="-122"/>
                <a:ea typeface="楷体" panose="02010609060101010101" pitchFamily="49" charset="-122"/>
              </a:rPr>
              <a:t>处处解析</a:t>
            </a:r>
            <a:endParaRPr lang="en-US" altLang="zh-CN" sz="3200" dirty="0">
              <a:latin typeface="楷体" panose="02010609060101010101" pitchFamily="49" charset="-122"/>
              <a:ea typeface="楷体" panose="02010609060101010101" pitchFamily="49" charset="-122"/>
            </a:endParaRPr>
          </a:p>
        </p:txBody>
      </p:sp>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标题 1"/>
          <p:cNvSpPr txBox="1"/>
          <p:nvPr/>
        </p:nvSpPr>
        <p:spPr>
          <a:xfrm>
            <a:off x="272546" y="3252608"/>
            <a:ext cx="4455160" cy="4914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b="1" dirty="0">
                <a:solidFill>
                  <a:srgbClr val="FF0000"/>
                </a:solidFill>
                <a:latin typeface="楷体" panose="02010609060101010101" pitchFamily="49" charset="-122"/>
                <a:ea typeface="楷体" panose="02010609060101010101" pitchFamily="49" charset="-122"/>
              </a:rPr>
              <a:t>解析、可导关系：</a:t>
            </a:r>
            <a:endParaRPr lang="en-US" altLang="zh-CN" sz="3200" b="1" dirty="0">
              <a:solidFill>
                <a:srgbClr val="FF000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0" name="标题 1"/>
              <p:cNvSpPr txBox="1"/>
              <p:nvPr/>
            </p:nvSpPr>
            <p:spPr>
              <a:xfrm>
                <a:off x="4366393" y="3790586"/>
                <a:ext cx="3950970" cy="71564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dirty="0">
                    <a:latin typeface="楷体" panose="02010609060101010101" pitchFamily="49" charset="-122"/>
                    <a:ea typeface="楷体" panose="02010609060101010101" pitchFamily="49" charset="-122"/>
                  </a:rPr>
                  <a:t>区域：解析</a:t>
                </a:r>
                <a14:m>
                  <m:oMath xmlns:m="http://schemas.openxmlformats.org/officeDocument/2006/math">
                    <m:groupChr>
                      <m:groupChrPr>
                        <m:chr m:val="⇔"/>
                        <m:vertJc m:val="bot"/>
                        <m:ctrlPr>
                          <a:rPr lang="zh-CN" altLang="en-US" sz="3100" i="1" smtClean="0">
                            <a:latin typeface="Cambria Math" panose="02040503050406030204" pitchFamily="18" charset="0"/>
                            <a:ea typeface="楷体" panose="02010609060101010101" pitchFamily="49" charset="-122"/>
                          </a:rPr>
                        </m:ctrlPr>
                      </m:groupChrPr>
                      <m:e/>
                    </m:groupChr>
                  </m:oMath>
                </a14:m>
                <a:r>
                  <a:rPr lang="zh-CN" sz="3100" dirty="0">
                    <a:latin typeface="楷体" panose="02010609060101010101" pitchFamily="49" charset="-122"/>
                    <a:ea typeface="楷体" panose="02010609060101010101" pitchFamily="49" charset="-122"/>
                    <a:sym typeface="+mn-ea"/>
                  </a:rPr>
                  <a:t>可导</a:t>
                </a:r>
                <a:endParaRPr lang="zh-CN" altLang="en-US" sz="2100" i="1" dirty="0">
                  <a:latin typeface="Cambria Math" panose="02040503050406030204" pitchFamily="18" charset="0"/>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4366393" y="3790586"/>
                <a:ext cx="3950970" cy="715645"/>
              </a:xfrm>
              <a:prstGeom prst="rect">
                <a:avLst/>
              </a:prstGeom>
              <a:blipFill rotWithShape="1">
                <a:blip r:embed="rId3"/>
                <a:stretch>
                  <a:fillRect l="-3" t="-16719" r="3" b="-167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684028" y="3790586"/>
                <a:ext cx="3267710" cy="71564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dirty="0">
                    <a:latin typeface="楷体" panose="02010609060101010101" pitchFamily="49" charset="-122"/>
                    <a:ea typeface="楷体" panose="02010609060101010101" pitchFamily="49" charset="-122"/>
                  </a:rPr>
                  <a:t>点：解析</a:t>
                </a:r>
                <a14:m>
                  <m:oMath xmlns:m="http://schemas.openxmlformats.org/officeDocument/2006/math">
                    <m:groupChr>
                      <m:groupChrPr>
                        <m:chr m:val="⇒"/>
                        <m:vertJc m:val="bot"/>
                        <m:ctrlPr>
                          <a:rPr lang="zh-CN" altLang="en-US" sz="3100" i="1" smtClean="0">
                            <a:latin typeface="Cambria Math" panose="02040503050406030204" pitchFamily="18" charset="0"/>
                            <a:ea typeface="楷体" panose="02010609060101010101" pitchFamily="49" charset="-122"/>
                          </a:rPr>
                        </m:ctrlPr>
                      </m:groupChrPr>
                      <m:e/>
                    </m:groupChr>
                  </m:oMath>
                </a14:m>
                <a:r>
                  <a:rPr lang="zh-CN" sz="3100" dirty="0">
                    <a:latin typeface="楷体" panose="02010609060101010101" pitchFamily="49" charset="-122"/>
                    <a:ea typeface="楷体" panose="02010609060101010101" pitchFamily="49" charset="-122"/>
                  </a:rPr>
                  <a:t>可导</a:t>
                </a:r>
                <a:endParaRPr lang="zh-CN" sz="3100" dirty="0">
                  <a:latin typeface="楷体" panose="02010609060101010101" pitchFamily="49" charset="-122"/>
                  <a:ea typeface="楷体" panose="02010609060101010101" pitchFamily="49" charset="-122"/>
                </a:endParaRPr>
              </a:p>
            </p:txBody>
          </p:sp>
        </mc:Choice>
        <mc:Fallback>
          <p:sp>
            <p:nvSpPr>
              <p:cNvPr id="16" name="标题 1"/>
              <p:cNvSpPr txBox="1">
                <a:spLocks noRot="1" noChangeAspect="1" noMove="1" noResize="1" noEditPoints="1" noAdjustHandles="1" noChangeArrowheads="1" noChangeShapeType="1" noTextEdit="1"/>
              </p:cNvSpPr>
              <p:nvPr/>
            </p:nvSpPr>
            <p:spPr>
              <a:xfrm>
                <a:off x="684028" y="3790586"/>
                <a:ext cx="3267710" cy="715645"/>
              </a:xfrm>
              <a:prstGeom prst="rect">
                <a:avLst/>
              </a:prstGeom>
              <a:blipFill rotWithShape="1">
                <a:blip r:embed="rId4"/>
                <a:stretch>
                  <a:fillRect l="-4" t="-16719" r="4" b="-167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标题 1"/>
              <p:cNvSpPr txBox="1"/>
              <p:nvPr/>
            </p:nvSpPr>
            <p:spPr>
              <a:xfrm>
                <a:off x="636990" y="1504353"/>
                <a:ext cx="3072922" cy="5549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楷体" panose="02010609060101010101" pitchFamily="49" charset="-122"/>
                        </a:rPr>
                        <m:t>𝑓</m:t>
                      </m:r>
                      <m:d>
                        <m:dPr>
                          <m:ctrlPr>
                            <a:rPr lang="en-US" altLang="zh-CN" sz="3200" b="0" i="1" smtClean="0">
                              <a:latin typeface="Cambria Math" panose="02040503050406030204" pitchFamily="18" charset="0"/>
                              <a:ea typeface="楷体" panose="02010609060101010101" pitchFamily="49" charset="-122"/>
                            </a:rPr>
                          </m:ctrlPr>
                        </m:dPr>
                        <m:e>
                          <m:r>
                            <a:rPr lang="en-US" altLang="zh-CN" sz="3200" b="0" i="1" smtClean="0">
                              <a:latin typeface="Cambria Math" panose="02040503050406030204" pitchFamily="18" charset="0"/>
                              <a:ea typeface="楷体" panose="02010609060101010101" pitchFamily="49" charset="-122"/>
                            </a:rPr>
                            <m:t>𝑧</m:t>
                          </m:r>
                        </m:e>
                      </m:d>
                      <m:r>
                        <a:rPr lang="en-US" altLang="zh-CN" sz="3200" b="0" i="1" smtClean="0">
                          <a:latin typeface="Cambria Math" panose="02040503050406030204" pitchFamily="18" charset="0"/>
                          <a:ea typeface="楷体" panose="02010609060101010101" pitchFamily="49" charset="-122"/>
                        </a:rPr>
                        <m:t>=</m:t>
                      </m:r>
                      <m:sSup>
                        <m:sSupPr>
                          <m:ctrlPr>
                            <a:rPr lang="en-US" altLang="zh-CN" sz="3200" b="0" i="1" smtClean="0">
                              <a:latin typeface="Cambria Math" panose="02040503050406030204" pitchFamily="18" charset="0"/>
                              <a:ea typeface="楷体" panose="02010609060101010101" pitchFamily="49" charset="-122"/>
                            </a:rPr>
                          </m:ctrlPr>
                        </m:sSupPr>
                        <m:e>
                          <m:r>
                            <a:rPr lang="en-US" altLang="zh-CN" sz="3200" b="0" i="1" smtClean="0">
                              <a:latin typeface="Cambria Math" panose="02040503050406030204" pitchFamily="18" charset="0"/>
                              <a:ea typeface="楷体" panose="02010609060101010101" pitchFamily="49" charset="-122"/>
                            </a:rPr>
                            <m:t>𝑥</m:t>
                          </m:r>
                        </m:e>
                        <m:sup>
                          <m:r>
                            <a:rPr lang="en-US" altLang="zh-CN" sz="3200" b="0" i="1" smtClean="0">
                              <a:latin typeface="Cambria Math" panose="02040503050406030204" pitchFamily="18" charset="0"/>
                              <a:ea typeface="楷体" panose="02010609060101010101" pitchFamily="49" charset="-122"/>
                            </a:rPr>
                            <m:t>2</m:t>
                          </m:r>
                        </m:sup>
                      </m:sSup>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2</m:t>
                      </m:r>
                      <m:r>
                        <a:rPr lang="en-US" altLang="zh-CN" sz="3200" b="0" i="1" smtClean="0">
                          <a:latin typeface="Cambria Math" panose="02040503050406030204" pitchFamily="18" charset="0"/>
                          <a:ea typeface="楷体" panose="02010609060101010101" pitchFamily="49" charset="-122"/>
                        </a:rPr>
                        <m:t>𝑦𝑖</m:t>
                      </m:r>
                    </m:oMath>
                  </m:oMathPara>
                </a14:m>
                <a:endParaRPr lang="en-US" altLang="zh-CN" sz="3200" dirty="0">
                  <a:latin typeface="楷体" panose="02010609060101010101" pitchFamily="49" charset="-122"/>
                  <a:ea typeface="楷体" panose="02010609060101010101" pitchFamily="49" charset="-122"/>
                </a:endParaRPr>
              </a:p>
            </p:txBody>
          </p:sp>
        </mc:Choice>
        <mc:Fallback>
          <p:sp>
            <p:nvSpPr>
              <p:cNvPr id="18" name="标题 1"/>
              <p:cNvSpPr txBox="1">
                <a:spLocks noRot="1" noChangeAspect="1" noMove="1" noResize="1" noEditPoints="1" noAdjustHandles="1" noChangeArrowheads="1" noChangeShapeType="1" noTextEdit="1"/>
              </p:cNvSpPr>
              <p:nvPr/>
            </p:nvSpPr>
            <p:spPr>
              <a:xfrm>
                <a:off x="636990" y="1504353"/>
                <a:ext cx="3072922" cy="554990"/>
              </a:xfrm>
              <a:prstGeom prst="rect">
                <a:avLst/>
              </a:prstGeom>
              <a:blipFill rotWithShape="1">
                <a:blip r:embed="rId5"/>
                <a:stretch>
                  <a:fillRect l="-3" t="-13966" r="8" b="-14066"/>
                </a:stretch>
              </a:blipFill>
            </p:spPr>
            <p:txBody>
              <a:bodyPr/>
              <a:lstStyle/>
              <a:p>
                <a:r>
                  <a:rPr lang="zh-CN" altLang="en-US">
                    <a:noFill/>
                  </a:rPr>
                  <a:t> </a:t>
                </a:r>
              </a:p>
            </p:txBody>
          </p:sp>
        </mc:Fallback>
      </mc:AlternateContent>
      <p:sp>
        <p:nvSpPr>
          <p:cNvPr id="19" name="标题 1"/>
          <p:cNvSpPr txBox="1"/>
          <p:nvPr/>
        </p:nvSpPr>
        <p:spPr>
          <a:xfrm>
            <a:off x="4243839" y="696069"/>
            <a:ext cx="2310130" cy="5549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dirty="0">
                <a:latin typeface="楷体" panose="02010609060101010101" pitchFamily="49" charset="-122"/>
                <a:ea typeface="楷体" panose="02010609060101010101" pitchFamily="49" charset="-122"/>
              </a:rPr>
              <a:t>处处不解析</a:t>
            </a:r>
            <a:endParaRPr lang="en-US" altLang="zh-CN" sz="32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3" grpId="0"/>
      <p:bldP spid="9" grpId="0"/>
      <p:bldP spid="10" grpId="0"/>
      <p:bldP spid="16" grpId="0"/>
      <p:bldP spid="18" grpId="0"/>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标题 1"/>
              <p:cNvSpPr txBox="1"/>
              <p:nvPr/>
            </p:nvSpPr>
            <p:spPr>
              <a:xfrm>
                <a:off x="138540" y="804713"/>
                <a:ext cx="8866919" cy="111930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100" b="1" dirty="0">
                    <a:solidFill>
                      <a:srgbClr val="FF0000"/>
                    </a:solidFill>
                    <a:latin typeface="楷体" panose="02010609060101010101" pitchFamily="49" charset="-122"/>
                    <a:ea typeface="楷体" panose="02010609060101010101" pitchFamily="49" charset="-122"/>
                  </a:rPr>
                  <a:t>奇点</a:t>
                </a:r>
                <a:r>
                  <a:rPr lang="en-US" altLang="zh-CN" sz="3100" b="1" dirty="0">
                    <a:solidFill>
                      <a:srgbClr val="FF0000"/>
                    </a:solidFill>
                    <a:latin typeface="楷体" panose="02010609060101010101" pitchFamily="49" charset="-122"/>
                    <a:ea typeface="楷体" panose="02010609060101010101" pitchFamily="49" charset="-122"/>
                  </a:rPr>
                  <a:t>:</a:t>
                </a:r>
                <a14:m>
                  <m:oMath xmlns:m="http://schemas.openxmlformats.org/officeDocument/2006/math">
                    <m:r>
                      <a:rPr lang="en-US" altLang="zh-CN" sz="3100" b="0" i="1" smtClean="0">
                        <a:latin typeface="Cambria Math" panose="02040503050406030204" pitchFamily="18" charset="0"/>
                        <a:ea typeface="楷体" panose="02010609060101010101" pitchFamily="49" charset="-122"/>
                      </a:rPr>
                      <m:t>𝑓</m:t>
                    </m:r>
                    <m:r>
                      <a:rPr lang="en-US" altLang="zh-CN" sz="3100" b="0" i="1" smtClean="0">
                        <a:latin typeface="Cambria Math" panose="02040503050406030204" pitchFamily="18" charset="0"/>
                        <a:ea typeface="楷体" panose="02010609060101010101" pitchFamily="49" charset="-122"/>
                      </a:rPr>
                      <m:t>(</m:t>
                    </m:r>
                    <m:r>
                      <a:rPr lang="en-US" altLang="zh-CN" sz="3100" b="0" i="1" smtClean="0">
                        <a:latin typeface="Cambria Math" panose="02040503050406030204" pitchFamily="18" charset="0"/>
                        <a:ea typeface="楷体" panose="02010609060101010101" pitchFamily="49" charset="-122"/>
                      </a:rPr>
                      <m:t>𝑧</m:t>
                    </m:r>
                    <m:r>
                      <a:rPr lang="en-US" altLang="zh-CN" sz="3100" b="0" i="1" smtClean="0">
                        <a:latin typeface="Cambria Math" panose="02040503050406030204" pitchFamily="18" charset="0"/>
                        <a:ea typeface="楷体" panose="02010609060101010101" pitchFamily="49" charset="-122"/>
                      </a:rPr>
                      <m:t>)</m:t>
                    </m:r>
                  </m:oMath>
                </a14:m>
                <a:r>
                  <a:rPr lang="zh-CN" altLang="en-US" sz="3100" dirty="0">
                    <a:latin typeface="楷体" panose="02010609060101010101" pitchFamily="49" charset="-122"/>
                    <a:ea typeface="楷体" panose="02010609060101010101" pitchFamily="49" charset="-122"/>
                  </a:rPr>
                  <a:t>在点</a:t>
                </a:r>
                <a14:m>
                  <m:oMath xmlns:m="http://schemas.openxmlformats.org/officeDocument/2006/math">
                    <m:sSub>
                      <m:sSubPr>
                        <m:ctrlPr>
                          <a:rPr lang="en-US" altLang="zh-CN" sz="3100" i="1">
                            <a:latin typeface="Cambria Math" panose="02040503050406030204" pitchFamily="18" charset="0"/>
                            <a:ea typeface="Cambria Math" panose="02040503050406030204" pitchFamily="18" charset="0"/>
                          </a:rPr>
                        </m:ctrlPr>
                      </m:sSubPr>
                      <m:e>
                        <m:r>
                          <a:rPr lang="en-US" altLang="zh-CN" sz="3100" i="1">
                            <a:latin typeface="Cambria Math" panose="02040503050406030204" pitchFamily="18" charset="0"/>
                            <a:ea typeface="Cambria Math" panose="02040503050406030204" pitchFamily="18" charset="0"/>
                          </a:rPr>
                          <m:t>𝑧</m:t>
                        </m:r>
                      </m:e>
                      <m:sub>
                        <m:r>
                          <a:rPr lang="en-US" altLang="zh-CN" sz="3100" i="1">
                            <a:latin typeface="Cambria Math" panose="02040503050406030204" pitchFamily="18" charset="0"/>
                            <a:ea typeface="Cambria Math" panose="02040503050406030204" pitchFamily="18" charset="0"/>
                          </a:rPr>
                          <m:t>0</m:t>
                        </m:r>
                      </m:sub>
                    </m:sSub>
                  </m:oMath>
                </a14:m>
                <a:r>
                  <a:rPr lang="zh-CN" altLang="en-US" sz="3100" dirty="0">
                    <a:latin typeface="楷体" panose="02010609060101010101" pitchFamily="49" charset="-122"/>
                    <a:ea typeface="楷体" panose="02010609060101010101" pitchFamily="49" charset="-122"/>
                  </a:rPr>
                  <a:t>处不解析，但在点</a:t>
                </a:r>
                <a14:m>
                  <m:oMath xmlns:m="http://schemas.openxmlformats.org/officeDocument/2006/math">
                    <m:sSub>
                      <m:sSubPr>
                        <m:ctrlPr>
                          <a:rPr lang="en-US" altLang="zh-CN" sz="3100" i="1">
                            <a:latin typeface="Cambria Math" panose="02040503050406030204" pitchFamily="18" charset="0"/>
                            <a:ea typeface="Cambria Math" panose="02040503050406030204" pitchFamily="18" charset="0"/>
                          </a:rPr>
                        </m:ctrlPr>
                      </m:sSubPr>
                      <m:e>
                        <m:r>
                          <a:rPr lang="en-US" altLang="zh-CN" sz="3100" i="1">
                            <a:latin typeface="Cambria Math" panose="02040503050406030204" pitchFamily="18" charset="0"/>
                            <a:ea typeface="Cambria Math" panose="02040503050406030204" pitchFamily="18" charset="0"/>
                          </a:rPr>
                          <m:t>𝑧</m:t>
                        </m:r>
                      </m:e>
                      <m:sub>
                        <m:r>
                          <a:rPr lang="en-US" altLang="zh-CN" sz="3100" i="1">
                            <a:latin typeface="Cambria Math" panose="02040503050406030204" pitchFamily="18" charset="0"/>
                            <a:ea typeface="Cambria Math" panose="02040503050406030204" pitchFamily="18" charset="0"/>
                          </a:rPr>
                          <m:t>0</m:t>
                        </m:r>
                      </m:sub>
                    </m:sSub>
                  </m:oMath>
                </a14:m>
                <a:r>
                  <a:rPr lang="zh-CN" altLang="en-US" sz="3100" dirty="0">
                    <a:latin typeface="楷体" panose="02010609060101010101" pitchFamily="49" charset="-122"/>
                    <a:ea typeface="楷体" panose="02010609060101010101" pitchFamily="49" charset="-122"/>
                  </a:rPr>
                  <a:t>的每个邻域内总有若干个点使</a:t>
                </a:r>
                <a14:m>
                  <m:oMath xmlns:m="http://schemas.openxmlformats.org/officeDocument/2006/math">
                    <m:r>
                      <a:rPr lang="en-US" altLang="zh-CN" sz="3100" i="1">
                        <a:latin typeface="Cambria Math" panose="02040503050406030204" pitchFamily="18" charset="0"/>
                        <a:ea typeface="楷体" panose="02010609060101010101" pitchFamily="49" charset="-122"/>
                      </a:rPr>
                      <m:t>𝑓</m:t>
                    </m:r>
                    <m:r>
                      <a:rPr lang="en-US" altLang="zh-CN" sz="3100" i="1">
                        <a:latin typeface="Cambria Math" panose="02040503050406030204" pitchFamily="18" charset="0"/>
                        <a:ea typeface="楷体" panose="02010609060101010101" pitchFamily="49" charset="-122"/>
                      </a:rPr>
                      <m:t>(</m:t>
                    </m:r>
                    <m:r>
                      <a:rPr lang="en-US" altLang="zh-CN" sz="3100" i="1">
                        <a:latin typeface="Cambria Math" panose="02040503050406030204" pitchFamily="18" charset="0"/>
                        <a:ea typeface="楷体" panose="02010609060101010101" pitchFamily="49" charset="-122"/>
                      </a:rPr>
                      <m:t>𝑧</m:t>
                    </m:r>
                    <m:r>
                      <a:rPr lang="en-US" altLang="zh-CN" sz="3100" i="1">
                        <a:latin typeface="Cambria Math" panose="02040503050406030204" pitchFamily="18" charset="0"/>
                        <a:ea typeface="楷体" panose="02010609060101010101" pitchFamily="49" charset="-122"/>
                      </a:rPr>
                      <m:t>)</m:t>
                    </m:r>
                  </m:oMath>
                </a14:m>
                <a:r>
                  <a:rPr lang="zh-CN" altLang="en-US" sz="3100" dirty="0">
                    <a:latin typeface="楷体" panose="02010609060101010101" pitchFamily="49" charset="-122"/>
                    <a:ea typeface="楷体" panose="02010609060101010101" pitchFamily="49" charset="-122"/>
                  </a:rPr>
                  <a:t>解析，则</a:t>
                </a:r>
                <a14:m>
                  <m:oMath xmlns:m="http://schemas.openxmlformats.org/officeDocument/2006/math">
                    <m:sSub>
                      <m:sSubPr>
                        <m:ctrlPr>
                          <a:rPr lang="en-US" altLang="zh-CN" sz="3100" i="1">
                            <a:latin typeface="Cambria Math" panose="02040503050406030204" pitchFamily="18" charset="0"/>
                            <a:ea typeface="Cambria Math" panose="02040503050406030204" pitchFamily="18" charset="0"/>
                          </a:rPr>
                        </m:ctrlPr>
                      </m:sSubPr>
                      <m:e>
                        <m:r>
                          <a:rPr lang="en-US" altLang="zh-CN" sz="3100" i="1">
                            <a:latin typeface="Cambria Math" panose="02040503050406030204" pitchFamily="18" charset="0"/>
                            <a:ea typeface="Cambria Math" panose="02040503050406030204" pitchFamily="18" charset="0"/>
                          </a:rPr>
                          <m:t>𝑧</m:t>
                        </m:r>
                      </m:e>
                      <m:sub>
                        <m:r>
                          <a:rPr lang="en-US" altLang="zh-CN" sz="3100" i="1">
                            <a:latin typeface="Cambria Math" panose="02040503050406030204" pitchFamily="18" charset="0"/>
                            <a:ea typeface="Cambria Math" panose="02040503050406030204" pitchFamily="18" charset="0"/>
                          </a:rPr>
                          <m:t>0</m:t>
                        </m:r>
                      </m:sub>
                    </m:sSub>
                  </m:oMath>
                </a14:m>
                <a:r>
                  <a:rPr lang="zh-CN" altLang="en-US" sz="3100" dirty="0">
                    <a:latin typeface="楷体" panose="02010609060101010101" pitchFamily="49" charset="-122"/>
                    <a:ea typeface="楷体" panose="02010609060101010101" pitchFamily="49" charset="-122"/>
                  </a:rPr>
                  <a:t>叫做</a:t>
                </a:r>
                <a14:m>
                  <m:oMath xmlns:m="http://schemas.openxmlformats.org/officeDocument/2006/math">
                    <m:r>
                      <a:rPr lang="en-US" altLang="zh-CN" sz="3100" i="1">
                        <a:latin typeface="Cambria Math" panose="02040503050406030204" pitchFamily="18" charset="0"/>
                        <a:ea typeface="楷体" panose="02010609060101010101" pitchFamily="49" charset="-122"/>
                      </a:rPr>
                      <m:t>𝑓</m:t>
                    </m:r>
                    <m:r>
                      <a:rPr lang="en-US" altLang="zh-CN" sz="3100" i="1">
                        <a:latin typeface="Cambria Math" panose="02040503050406030204" pitchFamily="18" charset="0"/>
                        <a:ea typeface="楷体" panose="02010609060101010101" pitchFamily="49" charset="-122"/>
                      </a:rPr>
                      <m:t>(</m:t>
                    </m:r>
                    <m:r>
                      <a:rPr lang="en-US" altLang="zh-CN" sz="3100" i="1">
                        <a:latin typeface="Cambria Math" panose="02040503050406030204" pitchFamily="18" charset="0"/>
                        <a:ea typeface="楷体" panose="02010609060101010101" pitchFamily="49" charset="-122"/>
                      </a:rPr>
                      <m:t>𝑧</m:t>
                    </m:r>
                    <m:r>
                      <a:rPr lang="en-US" altLang="zh-CN" sz="3100" i="1">
                        <a:latin typeface="Cambria Math" panose="02040503050406030204" pitchFamily="18" charset="0"/>
                        <a:ea typeface="楷体" panose="02010609060101010101" pitchFamily="49" charset="-122"/>
                      </a:rPr>
                      <m:t>)</m:t>
                    </m:r>
                  </m:oMath>
                </a14:m>
                <a:r>
                  <a:rPr lang="zh-CN" altLang="en-US" sz="3100" dirty="0">
                    <a:latin typeface="楷体" panose="02010609060101010101" pitchFamily="49" charset="-122"/>
                    <a:ea typeface="楷体" panose="02010609060101010101" pitchFamily="49" charset="-122"/>
                  </a:rPr>
                  <a:t>的奇点。</a:t>
                </a:r>
                <a:endParaRPr lang="zh-CN" altLang="en-US" sz="31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138540" y="804713"/>
                <a:ext cx="8866919" cy="1119308"/>
              </a:xfrm>
              <a:prstGeom prst="rect">
                <a:avLst/>
              </a:prstGeom>
              <a:blipFill rotWithShape="1">
                <a:blip r:embed="rId1"/>
                <a:stretch>
                  <a:fillRect l="-1" t="-13290" r="-1419" b="-133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122036" y="2124205"/>
                <a:ext cx="2520906" cy="5546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楷体" panose="02010609060101010101" pitchFamily="49" charset="-122"/>
                        </a:rPr>
                        <m:t>𝐸𝑔</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𝑓</m:t>
                      </m:r>
                      <m:d>
                        <m:dPr>
                          <m:ctrlPr>
                            <a:rPr lang="en-US" altLang="zh-CN" sz="3200" b="0" i="1" smtClean="0">
                              <a:latin typeface="Cambria Math" panose="02040503050406030204" pitchFamily="18" charset="0"/>
                              <a:ea typeface="楷体" panose="02010609060101010101" pitchFamily="49" charset="-122"/>
                            </a:rPr>
                          </m:ctrlPr>
                        </m:dPr>
                        <m:e>
                          <m:r>
                            <a:rPr lang="en-US" altLang="zh-CN" sz="3200" b="0" i="1" smtClean="0">
                              <a:latin typeface="Cambria Math" panose="02040503050406030204" pitchFamily="18" charset="0"/>
                              <a:ea typeface="楷体" panose="02010609060101010101" pitchFamily="49" charset="-122"/>
                            </a:rPr>
                            <m:t>𝑧</m:t>
                          </m:r>
                        </m:e>
                      </m:d>
                      <m:r>
                        <a:rPr lang="en-US" altLang="zh-CN" sz="3200" b="0" i="1" smtClean="0">
                          <a:latin typeface="Cambria Math" panose="02040503050406030204" pitchFamily="18" charset="0"/>
                          <a:ea typeface="楷体" panose="02010609060101010101" pitchFamily="49" charset="-122"/>
                        </a:rPr>
                        <m:t>=</m:t>
                      </m:r>
                      <m:f>
                        <m:fPr>
                          <m:ctrlPr>
                            <a:rPr lang="en-US" altLang="zh-CN" sz="3200" b="0" i="1" smtClean="0">
                              <a:latin typeface="Cambria Math" panose="02040503050406030204" pitchFamily="18" charset="0"/>
                              <a:ea typeface="楷体" panose="02010609060101010101" pitchFamily="49" charset="-122"/>
                            </a:rPr>
                          </m:ctrlPr>
                        </m:fPr>
                        <m:num>
                          <m:r>
                            <a:rPr lang="en-US" altLang="zh-CN" sz="3200" b="0" i="1" smtClean="0">
                              <a:latin typeface="Cambria Math" panose="02040503050406030204" pitchFamily="18" charset="0"/>
                              <a:ea typeface="楷体" panose="02010609060101010101" pitchFamily="49" charset="-122"/>
                            </a:rPr>
                            <m:t>1</m:t>
                          </m:r>
                        </m:num>
                        <m:den>
                          <m:r>
                            <a:rPr lang="en-US" altLang="zh-CN" sz="3200" b="0" i="1" smtClean="0">
                              <a:latin typeface="Cambria Math" panose="02040503050406030204" pitchFamily="18" charset="0"/>
                              <a:ea typeface="楷体" panose="02010609060101010101" pitchFamily="49" charset="-122"/>
                            </a:rPr>
                            <m:t>𝑧</m:t>
                          </m:r>
                        </m:den>
                      </m:f>
                    </m:oMath>
                  </m:oMathPara>
                </a14:m>
                <a:endParaRPr lang="en-US" altLang="zh-CN" sz="3200" dirty="0">
                  <a:latin typeface="楷体" panose="02010609060101010101" pitchFamily="49" charset="-122"/>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122036" y="2124205"/>
                <a:ext cx="2520906" cy="554690"/>
              </a:xfrm>
              <a:prstGeom prst="rect">
                <a:avLst/>
              </a:prstGeom>
              <a:blipFill rotWithShape="1">
                <a:blip r:embed="rId2"/>
                <a:stretch>
                  <a:fillRect l="-5" t="-72374" r="3" b="-72495"/>
                </a:stretch>
              </a:blipFill>
            </p:spPr>
            <p:txBody>
              <a:bodyPr/>
              <a:lstStyle/>
              <a:p>
                <a:r>
                  <a:rPr lang="zh-CN" altLang="en-US">
                    <a:noFill/>
                  </a:rPr>
                  <a:t> </a:t>
                </a:r>
              </a:p>
            </p:txBody>
          </p:sp>
        </mc:Fallback>
      </mc:AlternateContent>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标题 1"/>
              <p:cNvSpPr txBox="1"/>
              <p:nvPr/>
            </p:nvSpPr>
            <p:spPr>
              <a:xfrm>
                <a:off x="240665" y="3084830"/>
                <a:ext cx="6139180" cy="5549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200" b="0" dirty="0">
                    <a:ea typeface="楷体" panose="02010609060101010101" pitchFamily="49" charset="-122"/>
                  </a:rPr>
                  <a:t>解</a:t>
                </a:r>
                <a:r>
                  <a:rPr lang="zh-CN" altLang="en-US" sz="3200" dirty="0">
                    <a:ea typeface="楷体" panose="02010609060101010101" pitchFamily="49" charset="-122"/>
                  </a:rPr>
                  <a:t>：当</a:t>
                </a:r>
                <a14:m>
                  <m:oMath xmlns:m="http://schemas.openxmlformats.org/officeDocument/2006/math">
                    <m:r>
                      <a:rPr lang="en-US" altLang="zh-CN" sz="3200" i="1">
                        <a:latin typeface="Cambria Math" panose="02040503050406030204" pitchFamily="18" charset="0"/>
                        <a:ea typeface="楷体" panose="02010609060101010101" pitchFamily="49" charset="-122"/>
                      </a:rPr>
                      <m:t>𝑧</m:t>
                    </m:r>
                    <m:r>
                      <a:rPr lang="en-US" altLang="zh-CN" sz="3200" i="1" smtClean="0">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0</m:t>
                    </m:r>
                  </m:oMath>
                </a14:m>
                <a:r>
                  <a:rPr lang="zh-CN" altLang="en-US" sz="3200" dirty="0">
                    <a:ea typeface="楷体" panose="02010609060101010101" pitchFamily="49" charset="-122"/>
                  </a:rPr>
                  <a:t>时，</a:t>
                </a:r>
                <a14:m>
                  <m:oMath xmlns:m="http://schemas.openxmlformats.org/officeDocument/2006/math">
                    <m:sSup>
                      <m:sSupPr>
                        <m:ctrlPr>
                          <a:rPr lang="en-US" altLang="zh-CN" sz="3200" b="0" i="1" smtClean="0">
                            <a:latin typeface="Cambria Math" panose="02040503050406030204" pitchFamily="18" charset="0"/>
                            <a:ea typeface="楷体" panose="02010609060101010101" pitchFamily="49" charset="-122"/>
                          </a:rPr>
                        </m:ctrlPr>
                      </m:sSupPr>
                      <m:e>
                        <m:r>
                          <a:rPr lang="en-US" altLang="zh-CN" sz="3200" b="0" i="1" smtClean="0">
                            <a:latin typeface="Cambria Math" panose="02040503050406030204" pitchFamily="18" charset="0"/>
                            <a:ea typeface="楷体" panose="02010609060101010101" pitchFamily="49" charset="-122"/>
                          </a:rPr>
                          <m:t>(</m:t>
                        </m:r>
                        <m:f>
                          <m:fPr>
                            <m:ctrlPr>
                              <a:rPr lang="en-US" altLang="zh-CN" sz="3200" i="1">
                                <a:latin typeface="Cambria Math" panose="02040503050406030204" pitchFamily="18" charset="0"/>
                                <a:ea typeface="楷体" panose="02010609060101010101" pitchFamily="49" charset="-122"/>
                              </a:rPr>
                            </m:ctrlPr>
                          </m:fPr>
                          <m:num>
                            <m:r>
                              <a:rPr lang="en-US" altLang="zh-CN" sz="3200" i="1">
                                <a:latin typeface="Cambria Math" panose="02040503050406030204" pitchFamily="18" charset="0"/>
                                <a:ea typeface="楷体" panose="02010609060101010101" pitchFamily="49" charset="-122"/>
                              </a:rPr>
                              <m:t>1</m:t>
                            </m:r>
                          </m:num>
                          <m:den>
                            <m:r>
                              <a:rPr lang="en-US" altLang="zh-CN" sz="3200" i="1">
                                <a:latin typeface="Cambria Math" panose="02040503050406030204" pitchFamily="18" charset="0"/>
                                <a:ea typeface="楷体" panose="02010609060101010101" pitchFamily="49" charset="-122"/>
                              </a:rPr>
                              <m:t>𝑧</m:t>
                            </m:r>
                          </m:den>
                        </m:f>
                        <m:r>
                          <a:rPr lang="en-US" altLang="zh-CN" sz="3200" b="0" i="1" smtClean="0">
                            <a:latin typeface="Cambria Math" panose="02040503050406030204" pitchFamily="18" charset="0"/>
                            <a:ea typeface="楷体" panose="02010609060101010101" pitchFamily="49" charset="-122"/>
                          </a:rPr>
                          <m:t>)</m:t>
                        </m:r>
                      </m:e>
                      <m:sup>
                        <m:r>
                          <a:rPr lang="en-US" altLang="zh-CN" sz="3200" b="0" i="1" smtClean="0">
                            <a:latin typeface="Cambria Math" panose="02040503050406030204" pitchFamily="18" charset="0"/>
                            <a:ea typeface="楷体" panose="02010609060101010101" pitchFamily="49" charset="-122"/>
                          </a:rPr>
                          <m:t>′</m:t>
                        </m:r>
                      </m:sup>
                    </m:sSup>
                    <m:r>
                      <a:rPr lang="en-US" altLang="zh-CN" sz="3200" b="0" i="1" smtClean="0">
                        <a:latin typeface="Cambria Math" panose="02040503050406030204" pitchFamily="18" charset="0"/>
                        <a:ea typeface="楷体" panose="02010609060101010101" pitchFamily="49" charset="-122"/>
                      </a:rPr>
                      <m:t>=−</m:t>
                    </m:r>
                    <m:f>
                      <m:fPr>
                        <m:ctrlPr>
                          <a:rPr lang="en-US" altLang="zh-CN" sz="3200" b="0" i="1" smtClean="0">
                            <a:latin typeface="Cambria Math" panose="02040503050406030204" pitchFamily="18" charset="0"/>
                            <a:ea typeface="楷体" panose="02010609060101010101" pitchFamily="49" charset="-122"/>
                          </a:rPr>
                        </m:ctrlPr>
                      </m:fPr>
                      <m:num>
                        <m:r>
                          <a:rPr lang="en-US" altLang="zh-CN" sz="3200" b="0" i="1" smtClean="0">
                            <a:latin typeface="Cambria Math" panose="02040503050406030204" pitchFamily="18" charset="0"/>
                            <a:ea typeface="楷体" panose="02010609060101010101" pitchFamily="49" charset="-122"/>
                          </a:rPr>
                          <m:t>1</m:t>
                        </m:r>
                      </m:num>
                      <m:den>
                        <m:sSup>
                          <m:sSupPr>
                            <m:ctrlPr>
                              <a:rPr lang="en-US" altLang="zh-CN" sz="3200" b="0" i="1" smtClean="0">
                                <a:latin typeface="Cambria Math" panose="02040503050406030204" pitchFamily="18" charset="0"/>
                                <a:ea typeface="楷体" panose="02010609060101010101" pitchFamily="49" charset="-122"/>
                              </a:rPr>
                            </m:ctrlPr>
                          </m:sSupPr>
                          <m:e>
                            <m:r>
                              <a:rPr lang="en-US" altLang="zh-CN" sz="3200" b="0" i="1" smtClean="0">
                                <a:latin typeface="Cambria Math" panose="02040503050406030204" pitchFamily="18" charset="0"/>
                                <a:ea typeface="楷体" panose="02010609060101010101" pitchFamily="49" charset="-122"/>
                              </a:rPr>
                              <m:t>𝑧</m:t>
                            </m:r>
                          </m:e>
                          <m:sup>
                            <m:r>
                              <a:rPr lang="en-US" altLang="zh-CN" sz="3200" b="0" i="1" smtClean="0">
                                <a:latin typeface="Cambria Math" panose="02040503050406030204" pitchFamily="18" charset="0"/>
                                <a:ea typeface="楷体" panose="02010609060101010101" pitchFamily="49" charset="-122"/>
                              </a:rPr>
                              <m:t>2</m:t>
                            </m:r>
                          </m:sup>
                        </m:sSup>
                      </m:den>
                    </m:f>
                  </m:oMath>
                </a14:m>
                <a:endParaRPr lang="en-US" altLang="zh-CN" sz="32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240665" y="3084830"/>
                <a:ext cx="6139180" cy="554990"/>
              </a:xfrm>
              <a:prstGeom prst="rect">
                <a:avLst/>
              </a:prstGeom>
              <a:blipFill rotWithShape="1">
                <a:blip r:embed="rId3"/>
                <a:stretch>
                  <a:fillRect t="-43478" b="-435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488315" y="3988435"/>
                <a:ext cx="8761730" cy="5549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200" i="1">
                        <a:latin typeface="Cambria Math" panose="02040503050406030204" pitchFamily="18" charset="0"/>
                        <a:ea typeface="楷体" panose="02010609060101010101" pitchFamily="49" charset="-122"/>
                      </a:rPr>
                      <m:t>𝑧</m:t>
                    </m:r>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0</m:t>
                    </m:r>
                  </m:oMath>
                </a14:m>
                <a:r>
                  <a:rPr lang="zh-CN" altLang="en-US" sz="3200" dirty="0">
                    <a:ea typeface="楷体" panose="02010609060101010101" pitchFamily="49" charset="-122"/>
                  </a:rPr>
                  <a:t>时</a:t>
                </a:r>
                <a:r>
                  <a:rPr lang="en-US" altLang="zh-CN" sz="3200" dirty="0">
                    <a:ea typeface="楷体" panose="02010609060101010101" pitchFamily="49" charset="-122"/>
                  </a:rPr>
                  <a:t>,</a:t>
                </a:r>
                <a14:m>
                  <m:oMath xmlns:m="http://schemas.openxmlformats.org/officeDocument/2006/math">
                    <m:r>
                      <a:rPr lang="en-US" altLang="zh-CN" sz="3200" i="1">
                        <a:latin typeface="Cambria Math" panose="02040503050406030204" pitchFamily="18" charset="0"/>
                        <a:ea typeface="楷体" panose="02010609060101010101" pitchFamily="49" charset="-122"/>
                      </a:rPr>
                      <m:t>𝑓</m:t>
                    </m:r>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𝑧</m:t>
                    </m:r>
                    <m:r>
                      <a:rPr lang="en-US" altLang="zh-CN" sz="3200" i="1">
                        <a:latin typeface="Cambria Math" panose="02040503050406030204" pitchFamily="18" charset="0"/>
                        <a:ea typeface="楷体" panose="02010609060101010101" pitchFamily="49" charset="-122"/>
                      </a:rPr>
                      <m:t>)</m:t>
                    </m:r>
                  </m:oMath>
                </a14:m>
                <a:r>
                  <a:rPr lang="zh-CN" altLang="en-US" sz="3200" dirty="0">
                    <a:latin typeface="楷体" panose="02010609060101010101" pitchFamily="49" charset="-122"/>
                    <a:ea typeface="楷体" panose="02010609060101010101" pitchFamily="49" charset="-122"/>
                  </a:rPr>
                  <a:t>没有意义</a:t>
                </a:r>
                <a14:m>
                  <m:oMath xmlns:m="http://schemas.openxmlformats.org/officeDocument/2006/math">
                    <m:r>
                      <a:rPr lang="zh-CN" altLang="en-US" sz="3200" i="1" smtClean="0">
                        <a:latin typeface="Cambria Math" panose="02040503050406030204" pitchFamily="18" charset="0"/>
                        <a:ea typeface="楷体" panose="02010609060101010101" pitchFamily="49" charset="-122"/>
                      </a:rPr>
                      <m:t>⇒</m:t>
                    </m:r>
                  </m:oMath>
                </a14:m>
                <a:r>
                  <a:rPr lang="zh-CN" altLang="en-US" sz="3200" dirty="0">
                    <a:latin typeface="楷体" panose="02010609060101010101" pitchFamily="49" charset="-122"/>
                    <a:ea typeface="楷体" panose="02010609060101010101" pitchFamily="49" charset="-122"/>
                  </a:rPr>
                  <a:t>导数不存在</a:t>
                </a:r>
                <a14:m>
                  <m:oMath xmlns:m="http://schemas.openxmlformats.org/officeDocument/2006/math">
                    <m:r>
                      <a:rPr lang="zh-CN" altLang="en-US" sz="3200" i="1">
                        <a:latin typeface="Cambria Math" panose="02040503050406030204" pitchFamily="18" charset="0"/>
                        <a:ea typeface="楷体" panose="02010609060101010101" pitchFamily="49" charset="-122"/>
                      </a:rPr>
                      <m:t>⇒ </m:t>
                    </m:r>
                  </m:oMath>
                </a14:m>
                <a:r>
                  <a:rPr lang="zh-CN" altLang="en-US" sz="3200" dirty="0">
                    <a:latin typeface="楷体" panose="02010609060101010101" pitchFamily="49" charset="-122"/>
                    <a:ea typeface="楷体" panose="02010609060101010101" pitchFamily="49" charset="-122"/>
                  </a:rPr>
                  <a:t>不解析</a:t>
                </a:r>
                <a:endParaRPr lang="en-US" altLang="zh-CN" sz="32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488315" y="3988435"/>
                <a:ext cx="8761730" cy="554990"/>
              </a:xfrm>
              <a:prstGeom prst="rect">
                <a:avLst/>
              </a:prstGeom>
              <a:blipFill rotWithShape="1">
                <a:blip r:embed="rId4"/>
                <a:stretch>
                  <a:fillRect t="-2632" b="-27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485775" y="4672330"/>
                <a:ext cx="8271510" cy="5549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200" dirty="0">
                    <a:ea typeface="楷体" panose="02010609060101010101" pitchFamily="49" charset="-122"/>
                  </a:rPr>
                  <a:t>即</a:t>
                </a:r>
                <a:r>
                  <a:rPr lang="en-US" altLang="zh-CN" sz="3200" dirty="0">
                    <a:ea typeface="楷体" panose="02010609060101010101" pitchFamily="49" charset="-122"/>
                  </a:rPr>
                  <a:t> </a:t>
                </a:r>
                <a14:m>
                  <m:oMath xmlns:m="http://schemas.openxmlformats.org/officeDocument/2006/math">
                    <m:r>
                      <a:rPr lang="en-US" altLang="zh-CN" sz="3200" i="1">
                        <a:latin typeface="Cambria Math" panose="02040503050406030204" pitchFamily="18" charset="0"/>
                        <a:ea typeface="楷体" panose="02010609060101010101" pitchFamily="49" charset="-122"/>
                      </a:rPr>
                      <m:t>𝑓</m:t>
                    </m:r>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𝑧</m:t>
                    </m:r>
                    <m:r>
                      <a:rPr lang="en-US" altLang="zh-CN" sz="3200" i="1">
                        <a:latin typeface="Cambria Math" panose="02040503050406030204" pitchFamily="18" charset="0"/>
                        <a:ea typeface="楷体" panose="02010609060101010101" pitchFamily="49" charset="-122"/>
                      </a:rPr>
                      <m:t>)</m:t>
                    </m:r>
                  </m:oMath>
                </a14:m>
                <a:r>
                  <a:rPr lang="zh-CN" altLang="en-US" sz="3200" dirty="0">
                    <a:latin typeface="楷体" panose="02010609060101010101" pitchFamily="49" charset="-122"/>
                    <a:ea typeface="楷体" panose="02010609060101010101" pitchFamily="49" charset="-122"/>
                  </a:rPr>
                  <a:t>在</a:t>
                </a:r>
                <a14:m>
                  <m:oMath xmlns:m="http://schemas.openxmlformats.org/officeDocument/2006/math">
                    <m:r>
                      <a:rPr lang="en-US" altLang="zh-CN" sz="3200" i="1">
                        <a:latin typeface="Cambria Math" panose="02040503050406030204" pitchFamily="18" charset="0"/>
                        <a:ea typeface="Cambria Math" panose="02040503050406030204" pitchFamily="18" charset="0"/>
                      </a:rPr>
                      <m:t>0</m:t>
                    </m:r>
                  </m:oMath>
                </a14:m>
                <a:r>
                  <a:rPr lang="zh-CN" altLang="en-US" sz="3200" dirty="0">
                    <a:latin typeface="楷体" panose="02010609060101010101" pitchFamily="49" charset="-122"/>
                    <a:ea typeface="楷体" panose="02010609060101010101" pitchFamily="49" charset="-122"/>
                  </a:rPr>
                  <a:t>的邻域内除去</a:t>
                </a:r>
                <a14:m>
                  <m:oMath xmlns:m="http://schemas.openxmlformats.org/officeDocument/2006/math">
                    <m:r>
                      <a:rPr lang="en-US" altLang="zh-CN" sz="3200" i="1">
                        <a:latin typeface="Cambria Math" panose="02040503050406030204" pitchFamily="18" charset="0"/>
                        <a:ea typeface="楷体" panose="02010609060101010101" pitchFamily="49" charset="-122"/>
                      </a:rPr>
                      <m:t>𝑧</m:t>
                    </m:r>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0</m:t>
                    </m:r>
                  </m:oMath>
                </a14:m>
                <a:r>
                  <a:rPr lang="zh-CN" altLang="en-US" sz="3200" dirty="0">
                    <a:latin typeface="楷体" panose="02010609060101010101" pitchFamily="49" charset="-122"/>
                    <a:ea typeface="楷体" panose="02010609060101010101" pitchFamily="49" charset="-122"/>
                  </a:rPr>
                  <a:t>外都解析</a:t>
                </a:r>
                <a:endParaRPr lang="en-US" altLang="zh-CN" sz="32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485775" y="4672330"/>
                <a:ext cx="8271510" cy="554990"/>
              </a:xfrm>
              <a:prstGeom prst="rect">
                <a:avLst/>
              </a:prstGeom>
              <a:blipFill rotWithShape="1">
                <a:blip r:embed="rId5"/>
                <a:stretch>
                  <a:fillRect t="-2632" b="-27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485775" y="5402580"/>
                <a:ext cx="8271510" cy="5549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200" dirty="0">
                    <a:ea typeface="楷体" panose="02010609060101010101" pitchFamily="49" charset="-122"/>
                  </a:rPr>
                  <a:t>所以</a:t>
                </a:r>
                <a14:m>
                  <m:oMath xmlns:m="http://schemas.openxmlformats.org/officeDocument/2006/math">
                    <m:r>
                      <a:rPr lang="en-US" altLang="zh-CN" sz="3200" i="1">
                        <a:latin typeface="Cambria Math" panose="02040503050406030204" pitchFamily="18" charset="0"/>
                        <a:ea typeface="楷体" panose="02010609060101010101" pitchFamily="49" charset="-122"/>
                      </a:rPr>
                      <m:t>𝑧</m:t>
                    </m:r>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0</m:t>
                    </m:r>
                  </m:oMath>
                </a14:m>
                <a:r>
                  <a:rPr lang="zh-CN" altLang="en-US" sz="3200" dirty="0">
                    <a:latin typeface="楷体" panose="02010609060101010101" pitchFamily="49" charset="-122"/>
                    <a:ea typeface="楷体" panose="02010609060101010101" pitchFamily="49" charset="-122"/>
                  </a:rPr>
                  <a:t>是奇点</a:t>
                </a:r>
                <a:endParaRPr lang="en-US" altLang="zh-CN" sz="32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485775" y="5402580"/>
                <a:ext cx="8271510" cy="554990"/>
              </a:xfrm>
              <a:prstGeom prst="rect">
                <a:avLst/>
              </a:prstGeom>
              <a:blipFill rotWithShape="1">
                <a:blip r:embed="rId6"/>
                <a:stretch>
                  <a:fillRect t="-2632" b="-274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2" grpId="0"/>
      <p:bldP spid="4" grpId="0"/>
      <p:bldP spid="5"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296342" y="1227605"/>
                <a:ext cx="8090938" cy="185242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en-US" altLang="zh-CN" sz="3200" b="1" dirty="0">
                    <a:solidFill>
                      <a:srgbClr val="FF0000"/>
                    </a:solidFill>
                    <a:latin typeface="楷体" panose="02010609060101010101" pitchFamily="49" charset="-122"/>
                    <a:ea typeface="楷体" panose="02010609060101010101" pitchFamily="49" charset="-122"/>
                  </a:rPr>
                  <a:t>Thm2.16:</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𝑢</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e>
                    </m:d>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𝑖𝑣</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在</a:t>
                </a:r>
                <a14:m>
                  <m:oMath xmlns:m="http://schemas.openxmlformats.org/officeDocument/2006/math">
                    <m:sSub>
                      <m:sSubPr>
                        <m:ctrlPr>
                          <a:rPr lang="en-US" altLang="zh-CN" sz="3200" i="1" smtClean="0">
                            <a:latin typeface="Cambria Math" panose="02040503050406030204" pitchFamily="18" charset="0"/>
                            <a:ea typeface="楷体" panose="02010609060101010101" pitchFamily="49" charset="-122"/>
                            <a:sym typeface="Wingdings" panose="05000000000000000000" pitchFamily="2" charset="2"/>
                          </a:rPr>
                        </m:ctrlPr>
                      </m:sSubPr>
                      <m:e>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𝑧</m:t>
                        </m:r>
                      </m:e>
                      <m:sub>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0</m:t>
                        </m:r>
                      </m:sub>
                    </m:sSub>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点解析</a:t>
                </a:r>
                <a14:m>
                  <m:oMath xmlns:m="http://schemas.openxmlformats.org/officeDocument/2006/math">
                    <m:groupChr>
                      <m:groupChrPr>
                        <m:chr m:val="⇔"/>
                        <m:vertJc m:val="bot"/>
                        <m:ctrlPr>
                          <a:rPr lang="zh-CN" altLang="en-US" sz="3200" i="1">
                            <a:latin typeface="Cambria Math" panose="02040503050406030204" pitchFamily="18" charset="0"/>
                            <a:ea typeface="楷体" panose="02010609060101010101" pitchFamily="49" charset="-122"/>
                            <a:sym typeface="Wingdings" panose="05000000000000000000" pitchFamily="2" charset="2"/>
                          </a:rPr>
                        </m:ctrlPr>
                      </m:groupChrPr>
                      <m:e/>
                    </m:groupChr>
                  </m:oMath>
                </a14:m>
                <a:r>
                  <a:rPr lang="zh-CN" altLang="en-US" sz="3200" dirty="0">
                    <a:ea typeface="楷体" panose="02010609060101010101" pitchFamily="49" charset="-122"/>
                    <a:sym typeface="Wingdings" panose="05000000000000000000" pitchFamily="2" charset="2"/>
                  </a:rPr>
                  <a:t>存在</a:t>
                </a:r>
                <a14:m>
                  <m:oMath xmlns:m="http://schemas.openxmlformats.org/officeDocument/2006/math">
                    <m:sSub>
                      <m:sSub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sSubPr>
                      <m:e>
                        <m:r>
                          <a:rPr lang="en-US" altLang="zh-CN" sz="3200" i="1">
                            <a:latin typeface="Cambria Math" panose="02040503050406030204" pitchFamily="18" charset="0"/>
                            <a:ea typeface="楷体" panose="02010609060101010101" pitchFamily="49" charset="-122"/>
                            <a:sym typeface="Wingdings" panose="05000000000000000000" pitchFamily="2" charset="2"/>
                          </a:rPr>
                          <m:t>𝑧</m:t>
                        </m:r>
                      </m:e>
                      <m:sub>
                        <m:r>
                          <a:rPr lang="en-US" altLang="zh-CN" sz="3200" i="1">
                            <a:latin typeface="Cambria Math" panose="02040503050406030204" pitchFamily="18" charset="0"/>
                            <a:ea typeface="楷体" panose="02010609060101010101" pitchFamily="49" charset="-122"/>
                            <a:sym typeface="Wingdings" panose="05000000000000000000" pitchFamily="2" charset="2"/>
                          </a:rPr>
                          <m:t>0</m:t>
                        </m:r>
                      </m:sub>
                    </m:sSub>
                  </m:oMath>
                </a14:m>
                <a:r>
                  <a:rPr lang="zh-CN" altLang="en-US" sz="3200" dirty="0">
                    <a:ea typeface="楷体" panose="02010609060101010101" pitchFamily="49" charset="-122"/>
                    <a:sym typeface="Wingdings" panose="05000000000000000000" pitchFamily="2" charset="2"/>
                  </a:rPr>
                  <a:t>的一个邻域，使</a:t>
                </a:r>
                <a:r>
                  <a:rPr lang="en-US" altLang="zh-CN" sz="3200" dirty="0">
                    <a:ea typeface="楷体" panose="02010609060101010101" pitchFamily="49" charset="-122"/>
                    <a:sym typeface="Wingdings" panose="05000000000000000000" pitchFamily="2" charset="2"/>
                  </a:rPr>
                  <a:t> </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𝑢</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e>
                    </m:d>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a:t>
                </a:r>
                <a:r>
                  <a:rPr lang="en-US" altLang="zh-CN" sz="3200" dirty="0">
                    <a:ea typeface="楷体" panose="02010609060101010101" pitchFamily="49" charset="-122"/>
                    <a:sym typeface="Wingdings" panose="05000000000000000000" pitchFamily="2" charset="2"/>
                  </a:rPr>
                  <a:t> </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𝑣</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e>
                    </m:d>
                    <m:r>
                      <a:rPr lang="zh-CN" altLang="en-US" sz="3200" i="1">
                        <a:latin typeface="Cambria Math" panose="02040503050406030204" pitchFamily="18" charset="0"/>
                        <a:ea typeface="楷体" panose="02010609060101010101" pitchFamily="49" charset="-122"/>
                        <a:sym typeface="Wingdings" panose="05000000000000000000" pitchFamily="2" charset="2"/>
                      </a:rPr>
                      <m:t>在</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该邻域内处处可微且满足</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𝐶𝑎𝑢𝑐ℎ𝑦</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𝑅𝑖𝑒𝑚𝑎𝑛𝑛</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方程。</a:t>
                </a:r>
                <a:endParaRPr lang="en-US" altLang="zh-CN" sz="32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296342" y="1227605"/>
                <a:ext cx="8090938" cy="1852426"/>
              </a:xfrm>
              <a:prstGeom prst="rect">
                <a:avLst/>
              </a:prstGeom>
              <a:blipFill rotWithShape="1">
                <a:blip r:embed="rId1"/>
                <a:stretch>
                  <a:fillRect l="-5" t="-12829" r="2" b="-1287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296342" y="3429000"/>
                <a:ext cx="8091805" cy="224028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en-US" altLang="zh-CN" sz="3200" b="1" dirty="0">
                    <a:solidFill>
                      <a:srgbClr val="FF0000"/>
                    </a:solidFill>
                    <a:latin typeface="楷体" panose="02010609060101010101" pitchFamily="49" charset="-122"/>
                    <a:ea typeface="楷体" panose="02010609060101010101" pitchFamily="49" charset="-122"/>
                  </a:rPr>
                  <a:t>Thm2.17:</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𝑓</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𝑧</m:t>
                        </m:r>
                      </m:e>
                    </m:d>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𝑢</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e>
                    </m:d>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𝑖𝑣</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在</a:t>
                </a:r>
                <a14:m>
                  <m:oMath xmlns:m="http://schemas.openxmlformats.org/officeDocument/2006/math">
                    <m:r>
                      <a:rPr lang="en-US" altLang="zh-CN" sz="3200" i="1" smtClean="0">
                        <a:latin typeface="Cambria Math" panose="02040503050406030204" pitchFamily="18" charset="0"/>
                        <a:ea typeface="楷体" panose="02010609060101010101" pitchFamily="49" charset="-122"/>
                        <a:sym typeface="Wingdings" panose="05000000000000000000" pitchFamily="2" charset="2"/>
                      </a:rPr>
                      <m:t>𝐷</m:t>
                    </m:r>
                    <m:r>
                      <a:rPr lang="zh-CN" altLang="en-US" sz="3200" i="1">
                        <a:latin typeface="Cambria Math" panose="02040503050406030204" pitchFamily="18" charset="0"/>
                        <a:ea typeface="楷体" panose="02010609060101010101" pitchFamily="49" charset="-122"/>
                        <a:sym typeface="Wingdings" panose="05000000000000000000" pitchFamily="2" charset="2"/>
                      </a:rPr>
                      <m:t>内</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解析</a:t>
                </a:r>
                <a14:m>
                  <m:oMath xmlns:m="http://schemas.openxmlformats.org/officeDocument/2006/math">
                    <m:groupChr>
                      <m:groupChrPr>
                        <m:chr m:val="⇔"/>
                        <m:vertJc m:val="bot"/>
                        <m:ctrlPr>
                          <a:rPr lang="zh-CN" altLang="en-US" sz="3200" i="1">
                            <a:latin typeface="Cambria Math" panose="02040503050406030204" pitchFamily="18" charset="0"/>
                            <a:ea typeface="楷体" panose="02010609060101010101" pitchFamily="49" charset="-122"/>
                            <a:sym typeface="Wingdings" panose="05000000000000000000" pitchFamily="2" charset="2"/>
                          </a:rPr>
                        </m:ctrlPr>
                      </m:groupChrPr>
                      <m:e/>
                    </m:groupChr>
                  </m:oMath>
                </a14:m>
                <a:r>
                  <a:rPr lang="en-US" altLang="zh-CN" sz="3200" dirty="0">
                    <a:ea typeface="楷体" panose="02010609060101010101" pitchFamily="49" charset="-122"/>
                    <a:sym typeface="Wingdings" panose="05000000000000000000" pitchFamily="2" charset="2"/>
                  </a:rPr>
                  <a:t> </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𝑢</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e>
                    </m:d>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a:t>
                </a:r>
                <a:r>
                  <a:rPr lang="en-US" altLang="zh-CN" sz="3200" dirty="0">
                    <a:ea typeface="楷体" panose="02010609060101010101" pitchFamily="49" charset="-122"/>
                    <a:sym typeface="Wingdings" panose="05000000000000000000" pitchFamily="2" charset="2"/>
                  </a:rPr>
                  <a:t> </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𝑣</m:t>
                    </m:r>
                    <m:d>
                      <m:dPr>
                        <m:ctrlPr>
                          <a:rPr lang="en-US" altLang="zh-CN" sz="3200" i="1">
                            <a:latin typeface="Cambria Math" panose="02040503050406030204" pitchFamily="18" charset="0"/>
                            <a:ea typeface="楷体" panose="02010609060101010101" pitchFamily="49" charset="-122"/>
                            <a:sym typeface="Wingdings" panose="05000000000000000000" pitchFamily="2" charset="2"/>
                          </a:rPr>
                        </m:ctrlPr>
                      </m:dPr>
                      <m:e>
                        <m:r>
                          <a:rPr lang="en-US" altLang="zh-CN" sz="3200" i="1">
                            <a:latin typeface="Cambria Math" panose="02040503050406030204" pitchFamily="18" charset="0"/>
                            <a:ea typeface="楷体" panose="02010609060101010101" pitchFamily="49" charset="-122"/>
                            <a:sym typeface="Wingdings" panose="05000000000000000000" pitchFamily="2" charset="2"/>
                          </a:rPr>
                          <m:t>𝑥</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𝑦</m:t>
                        </m:r>
                      </m:e>
                    </m:d>
                    <m:r>
                      <a:rPr lang="zh-CN" altLang="en-US" sz="3200" i="1">
                        <a:latin typeface="Cambria Math" panose="02040503050406030204" pitchFamily="18" charset="0"/>
                        <a:ea typeface="楷体" panose="02010609060101010101" pitchFamily="49" charset="-122"/>
                        <a:sym typeface="Wingdings" panose="05000000000000000000" pitchFamily="2" charset="2"/>
                      </a:rPr>
                      <m:t>在</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区域</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𝐷</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内处处可微且满足</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𝐶𝑎𝑢𝑐ℎ𝑦</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𝑅𝑖𝑒𝑚𝑎𝑛𝑛</m:t>
                    </m:r>
                  </m:oMath>
                </a14:m>
                <a:r>
                  <a:rPr lang="zh-CN" altLang="en-US" sz="3200" dirty="0">
                    <a:latin typeface="楷体" panose="02010609060101010101" pitchFamily="49" charset="-122"/>
                    <a:ea typeface="楷体" panose="02010609060101010101" pitchFamily="49" charset="-122"/>
                    <a:sym typeface="Wingdings" panose="05000000000000000000" pitchFamily="2" charset="2"/>
                  </a:rPr>
                  <a:t>方程。</a:t>
                </a:r>
                <a:endParaRPr lang="en-US" altLang="zh-CN" sz="32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296342" y="3429000"/>
                <a:ext cx="8091805" cy="2240280"/>
              </a:xfrm>
              <a:prstGeom prst="rect">
                <a:avLst/>
              </a:prstGeom>
              <a:blipFill rotWithShape="1">
                <a:blip r:embed="rId2"/>
                <a:stretch>
                  <a:fillRect l="-5" r="5"/>
                </a:stretch>
              </a:blipFill>
            </p:spPr>
            <p:txBody>
              <a:bodyPr/>
              <a:lstStyle/>
              <a:p>
                <a:r>
                  <a:rPr lang="zh-CN" altLang="en-US">
                    <a:noFill/>
                  </a:rPr>
                  <a:t> </a:t>
                </a:r>
              </a:p>
            </p:txBody>
          </p:sp>
        </mc:Fallback>
      </mc:AlternateContent>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标题 1"/>
              <p:cNvSpPr txBox="1"/>
              <p:nvPr/>
            </p:nvSpPr>
            <p:spPr>
              <a:xfrm>
                <a:off x="159179" y="665304"/>
                <a:ext cx="8758264" cy="10264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b="0" i="1" smtClean="0">
                        <a:latin typeface="Cambria Math" panose="02040503050406030204" pitchFamily="18" charset="0"/>
                        <a:ea typeface="楷体" panose="02010609060101010101" pitchFamily="49" charset="-122"/>
                      </a:rPr>
                      <m:t>𝐸𝑔</m:t>
                    </m:r>
                    <m:r>
                      <a:rPr lang="en-US" altLang="zh-CN" sz="3200" b="0" i="1" smtClean="0">
                        <a:latin typeface="Cambria Math" panose="02040503050406030204" pitchFamily="18" charset="0"/>
                        <a:ea typeface="楷体" panose="02010609060101010101" pitchFamily="49" charset="-122"/>
                      </a:rPr>
                      <m:t>:</m:t>
                    </m:r>
                  </m:oMath>
                </a14:m>
                <a:r>
                  <a:rPr lang="zh-CN" altLang="en-US" sz="3200" dirty="0">
                    <a:latin typeface="楷体" panose="02010609060101010101" pitchFamily="49" charset="-122"/>
                    <a:ea typeface="楷体" panose="02010609060101010101" pitchFamily="49" charset="-122"/>
                  </a:rPr>
                  <a:t>试证</a:t>
                </a:r>
                <a14:m>
                  <m:oMath xmlns:m="http://schemas.openxmlformats.org/officeDocument/2006/math">
                    <m:r>
                      <a:rPr lang="en-US" altLang="zh-CN" sz="3200" b="0" i="1" smtClean="0">
                        <a:latin typeface="Cambria Math" panose="02040503050406030204" pitchFamily="18" charset="0"/>
                        <a:ea typeface="楷体" panose="02010609060101010101" pitchFamily="49" charset="-122"/>
                      </a:rPr>
                      <m:t>𝑓</m:t>
                    </m:r>
                    <m:d>
                      <m:dPr>
                        <m:ctrlPr>
                          <a:rPr lang="en-US" altLang="zh-CN" sz="3200" b="0" i="1" smtClean="0">
                            <a:latin typeface="Cambria Math" panose="02040503050406030204" pitchFamily="18" charset="0"/>
                            <a:ea typeface="楷体" panose="02010609060101010101" pitchFamily="49" charset="-122"/>
                          </a:rPr>
                        </m:ctrlPr>
                      </m:dPr>
                      <m:e>
                        <m:r>
                          <a:rPr lang="en-US" altLang="zh-CN" sz="3200" b="0" i="1" smtClean="0">
                            <a:latin typeface="Cambria Math" panose="02040503050406030204" pitchFamily="18" charset="0"/>
                            <a:ea typeface="楷体" panose="02010609060101010101" pitchFamily="49" charset="-122"/>
                          </a:rPr>
                          <m:t>𝑧</m:t>
                        </m:r>
                      </m:e>
                    </m:d>
                    <m:r>
                      <a:rPr lang="en-US" altLang="zh-CN" sz="3200" b="0" i="1" smtClean="0">
                        <a:latin typeface="Cambria Math" panose="02040503050406030204" pitchFamily="18" charset="0"/>
                        <a:ea typeface="楷体" panose="02010609060101010101" pitchFamily="49" charset="-122"/>
                      </a:rPr>
                      <m:t>=</m:t>
                    </m:r>
                    <m:sSup>
                      <m:sSupPr>
                        <m:ctrlPr>
                          <a:rPr lang="en-US" altLang="zh-CN" sz="3200" b="0" i="1" smtClean="0">
                            <a:latin typeface="Cambria Math" panose="02040503050406030204" pitchFamily="18" charset="0"/>
                            <a:ea typeface="楷体" panose="02010609060101010101" pitchFamily="49" charset="-122"/>
                          </a:rPr>
                        </m:ctrlPr>
                      </m:sSupPr>
                      <m:e>
                        <m:r>
                          <a:rPr lang="en-US" altLang="zh-CN" sz="3200" b="0" i="1" smtClean="0">
                            <a:latin typeface="Cambria Math" panose="02040503050406030204" pitchFamily="18" charset="0"/>
                            <a:ea typeface="楷体" panose="02010609060101010101" pitchFamily="49" charset="-122"/>
                          </a:rPr>
                          <m:t>𝑒</m:t>
                        </m:r>
                      </m:e>
                      <m:sup>
                        <m:r>
                          <a:rPr lang="en-US" altLang="zh-CN" sz="3200" b="0" i="1" smtClean="0">
                            <a:latin typeface="Cambria Math" panose="02040503050406030204" pitchFamily="18" charset="0"/>
                            <a:ea typeface="楷体" panose="02010609060101010101" pitchFamily="49" charset="-122"/>
                          </a:rPr>
                          <m:t>𝑥</m:t>
                        </m:r>
                      </m:sup>
                    </m:sSup>
                    <m:r>
                      <a:rPr lang="en-US" altLang="zh-CN" sz="3200" b="0" i="1" smtClean="0">
                        <a:latin typeface="Cambria Math" panose="02040503050406030204" pitchFamily="18" charset="0"/>
                        <a:ea typeface="楷体" panose="02010609060101010101" pitchFamily="49" charset="-122"/>
                      </a:rPr>
                      <m:t>(</m:t>
                    </m:r>
                    <m:r>
                      <m:rPr>
                        <m:sty m:val="p"/>
                      </m:rPr>
                      <a:rPr lang="en-US" altLang="zh-CN" sz="3200" b="0" smtClean="0">
                        <a:latin typeface="Cambria Math" panose="02040503050406030204" pitchFamily="18" charset="0"/>
                        <a:ea typeface="楷体" panose="02010609060101010101" pitchFamily="49" charset="-122"/>
                      </a:rPr>
                      <m:t>cos</m:t>
                    </m:r>
                    <m:r>
                      <a:rPr lang="en-US" altLang="zh-CN" sz="3200" b="0" i="1" smtClean="0">
                        <a:latin typeface="Cambria Math" panose="02040503050406030204" pitchFamily="18" charset="0"/>
                        <a:ea typeface="楷体" panose="02010609060101010101" pitchFamily="49" charset="-122"/>
                      </a:rPr>
                      <m:t>𝑦</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𝑖</m:t>
                    </m:r>
                    <m:r>
                      <m:rPr>
                        <m:sty m:val="p"/>
                      </m:rPr>
                      <a:rPr lang="en-US" altLang="zh-CN" sz="3200" b="0" smtClean="0">
                        <a:latin typeface="Cambria Math" panose="02040503050406030204" pitchFamily="18" charset="0"/>
                        <a:ea typeface="楷体" panose="02010609060101010101" pitchFamily="49" charset="-122"/>
                      </a:rPr>
                      <m:t>sin</m:t>
                    </m:r>
                    <m:r>
                      <a:rPr lang="en-US" altLang="zh-CN" sz="3200" b="0" i="1" smtClean="0">
                        <a:latin typeface="Cambria Math" panose="02040503050406030204" pitchFamily="18" charset="0"/>
                        <a:ea typeface="楷体" panose="02010609060101010101" pitchFamily="49" charset="-122"/>
                      </a:rPr>
                      <m:t>𝑦</m:t>
                    </m:r>
                    <m:r>
                      <a:rPr lang="en-US" altLang="zh-CN" sz="3200" b="0" i="1" smtClean="0">
                        <a:latin typeface="Cambria Math" panose="02040503050406030204" pitchFamily="18" charset="0"/>
                        <a:ea typeface="楷体" panose="02010609060101010101" pitchFamily="49" charset="-122"/>
                      </a:rPr>
                      <m:t>)</m:t>
                    </m:r>
                  </m:oMath>
                </a14:m>
                <a:r>
                  <a:rPr lang="zh-CN" altLang="en-US" sz="3200" dirty="0">
                    <a:latin typeface="楷体" panose="02010609060101010101" pitchFamily="49" charset="-122"/>
                    <a:ea typeface="楷体" panose="02010609060101010101" pitchFamily="49" charset="-122"/>
                  </a:rPr>
                  <a:t>在复平面上解析，且</a:t>
                </a:r>
                <a14:m>
                  <m:oMath xmlns:m="http://schemas.openxmlformats.org/officeDocument/2006/math">
                    <m:sSup>
                      <m:sSupPr>
                        <m:ctrlPr>
                          <a:rPr lang="en-US" altLang="zh-CN" sz="3200" i="1" smtClean="0">
                            <a:latin typeface="Cambria Math" panose="02040503050406030204" pitchFamily="18" charset="0"/>
                            <a:ea typeface="楷体" panose="02010609060101010101" pitchFamily="49" charset="-122"/>
                          </a:rPr>
                        </m:ctrlPr>
                      </m:sSupPr>
                      <m:e>
                        <m:r>
                          <a:rPr lang="en-US" altLang="zh-CN" sz="3200" b="0" i="1" smtClean="0">
                            <a:latin typeface="Cambria Math" panose="02040503050406030204" pitchFamily="18" charset="0"/>
                            <a:ea typeface="楷体" panose="02010609060101010101" pitchFamily="49" charset="-122"/>
                          </a:rPr>
                          <m:t>𝑓</m:t>
                        </m:r>
                      </m:e>
                      <m:sup>
                        <m:r>
                          <a:rPr lang="en-US" altLang="zh-CN" sz="3200" b="0" i="1" smtClean="0">
                            <a:latin typeface="Cambria Math" panose="02040503050406030204" pitchFamily="18" charset="0"/>
                            <a:ea typeface="楷体" panose="02010609060101010101" pitchFamily="49" charset="-122"/>
                          </a:rPr>
                          <m:t>′</m:t>
                        </m:r>
                      </m:sup>
                    </m:sSup>
                    <m:d>
                      <m:dPr>
                        <m:ctrlPr>
                          <a:rPr lang="en-US" altLang="zh-CN" sz="3200" b="0" i="1" smtClean="0">
                            <a:latin typeface="Cambria Math" panose="02040503050406030204" pitchFamily="18" charset="0"/>
                            <a:ea typeface="楷体" panose="02010609060101010101" pitchFamily="49" charset="-122"/>
                          </a:rPr>
                        </m:ctrlPr>
                      </m:dPr>
                      <m:e>
                        <m:r>
                          <a:rPr lang="en-US" altLang="zh-CN" sz="3200" b="0" i="1" smtClean="0">
                            <a:latin typeface="Cambria Math" panose="02040503050406030204" pitchFamily="18" charset="0"/>
                            <a:ea typeface="楷体" panose="02010609060101010101" pitchFamily="49" charset="-122"/>
                          </a:rPr>
                          <m:t>𝑧</m:t>
                        </m:r>
                      </m:e>
                    </m:d>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𝑓</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𝑧</m:t>
                    </m:r>
                    <m:r>
                      <a:rPr lang="en-US" altLang="zh-CN" sz="3200" b="0" i="1" smtClean="0">
                        <a:latin typeface="Cambria Math" panose="02040503050406030204" pitchFamily="18" charset="0"/>
                        <a:ea typeface="MS Mincho" panose="02020609040205080304" charset="-128"/>
                        <a:cs typeface="Cambria Math" panose="02040503050406030204" pitchFamily="18" charset="0"/>
                      </a:rPr>
                      <m:t>)</m:t>
                    </m:r>
                  </m:oMath>
                </a14:m>
                <a:endParaRPr lang="en-US" altLang="zh-CN" sz="3200" b="0" i="1" dirty="0">
                  <a:latin typeface="Cambria Math" panose="02040503050406030204" pitchFamily="18" charset="0"/>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159179" y="665304"/>
                <a:ext cx="8758264" cy="1026465"/>
              </a:xfrm>
              <a:prstGeom prst="rect">
                <a:avLst/>
              </a:prstGeom>
              <a:blipFill rotWithShape="1">
                <a:blip r:embed="rId1"/>
                <a:stretch>
                  <a:fillRect l="-5" t="-2210" r="-1746" b="-2214"/>
                </a:stretch>
              </a:blipFill>
            </p:spPr>
            <p:txBody>
              <a:bodyPr/>
              <a:lstStyle/>
              <a:p>
                <a:r>
                  <a:rPr lang="zh-CN" altLang="en-US">
                    <a:noFill/>
                  </a:rPr>
                  <a:t> </a:t>
                </a:r>
              </a:p>
            </p:txBody>
          </p:sp>
        </mc:Fallback>
      </mc:AlternateContent>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标题 1"/>
              <p:cNvSpPr txBox="1"/>
              <p:nvPr/>
            </p:nvSpPr>
            <p:spPr>
              <a:xfrm>
                <a:off x="159179" y="1799928"/>
                <a:ext cx="5038463"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楷体" panose="02010609060101010101" pitchFamily="49" charset="-122"/>
                        </a:rPr>
                        <m:t>𝑝𝑓</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𝑢</m:t>
                      </m:r>
                      <m:r>
                        <a:rPr lang="en-US" altLang="zh-CN" sz="3200" b="0" i="1" smtClean="0">
                          <a:latin typeface="Cambria Math" panose="02040503050406030204" pitchFamily="18" charset="0"/>
                          <a:ea typeface="楷体" panose="02010609060101010101" pitchFamily="49" charset="-122"/>
                        </a:rPr>
                        <m:t>=</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𝑒</m:t>
                          </m:r>
                        </m:e>
                        <m:sup>
                          <m:r>
                            <a:rPr lang="en-US" altLang="zh-CN" sz="3200" i="1">
                              <a:latin typeface="Cambria Math" panose="02040503050406030204" pitchFamily="18" charset="0"/>
                              <a:ea typeface="楷体" panose="02010609060101010101" pitchFamily="49" charset="-122"/>
                            </a:rPr>
                            <m:t>𝑥</m:t>
                          </m:r>
                        </m:sup>
                      </m:sSup>
                      <m:r>
                        <a:rPr lang="en-US" altLang="zh-CN" sz="3200" b="0" i="1" smtClean="0">
                          <a:latin typeface="Cambria Math" panose="02040503050406030204" pitchFamily="18" charset="0"/>
                          <a:ea typeface="楷体" panose="02010609060101010101" pitchFamily="49" charset="-122"/>
                        </a:rPr>
                        <m:t>𝑐𝑜𝑠𝑦</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𝑣</m:t>
                      </m:r>
                      <m:r>
                        <a:rPr lang="en-US" altLang="zh-CN" sz="3200" b="0" i="1" smtClean="0">
                          <a:latin typeface="Cambria Math" panose="02040503050406030204" pitchFamily="18" charset="0"/>
                          <a:ea typeface="楷体" panose="02010609060101010101" pitchFamily="49" charset="-122"/>
                        </a:rPr>
                        <m:t>=</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𝑒</m:t>
                          </m:r>
                        </m:e>
                        <m:sup>
                          <m:r>
                            <a:rPr lang="en-US" altLang="zh-CN" sz="3200" i="1">
                              <a:latin typeface="Cambria Math" panose="02040503050406030204" pitchFamily="18" charset="0"/>
                              <a:ea typeface="楷体" panose="02010609060101010101" pitchFamily="49" charset="-122"/>
                            </a:rPr>
                            <m:t>𝑥</m:t>
                          </m:r>
                        </m:sup>
                      </m:sSup>
                      <m:r>
                        <a:rPr lang="en-US" altLang="zh-CN" sz="3200" b="0" i="1" smtClean="0">
                          <a:latin typeface="Cambria Math" panose="02040503050406030204" pitchFamily="18" charset="0"/>
                          <a:ea typeface="楷体" panose="02010609060101010101" pitchFamily="49" charset="-122"/>
                        </a:rPr>
                        <m:t>𝑠𝑖𝑛𝑦</m:t>
                      </m:r>
                    </m:oMath>
                  </m:oMathPara>
                </a14:m>
                <a:endParaRPr lang="en-US" altLang="zh-CN" sz="3200" b="0" i="1" dirty="0">
                  <a:latin typeface="Cambria Math" panose="02040503050406030204" pitchFamily="18" charset="0"/>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159179" y="1799928"/>
                <a:ext cx="5038463" cy="673766"/>
              </a:xfrm>
              <a:prstGeom prst="rect">
                <a:avLst/>
              </a:prstGeom>
              <a:blipFill rotWithShape="1">
                <a:blip r:embed="rId2"/>
                <a:stretch>
                  <a:fillRect l="-9" t="-50" r="3"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1237207" y="2343178"/>
                <a:ext cx="8195549"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楷体" panose="02010609060101010101" pitchFamily="49" charset="-122"/>
                      </a:rPr>
                      <m:t>𝑢</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𝑣</m:t>
                    </m:r>
                  </m:oMath>
                </a14:m>
                <a:r>
                  <a:rPr lang="zh-CN" altLang="en-US" sz="3200" b="0" dirty="0">
                    <a:latin typeface="Cambria Math" panose="02040503050406030204" pitchFamily="18" charset="0"/>
                    <a:ea typeface="楷体" panose="02010609060101010101" pitchFamily="49" charset="-122"/>
                  </a:rPr>
                  <a:t>可微</a:t>
                </a:r>
                <a:r>
                  <a:rPr lang="en-US" altLang="zh-CN" sz="3200" b="0" dirty="0">
                    <a:latin typeface="Cambria Math" panose="02040503050406030204" pitchFamily="18" charset="0"/>
                    <a:ea typeface="楷体" panose="02010609060101010101" pitchFamily="49" charset="-122"/>
                  </a:rPr>
                  <a:t>,</a:t>
                </a:r>
                <a14:m>
                  <m:oMath xmlns:m="http://schemas.openxmlformats.org/officeDocument/2006/math">
                    <m:sSub>
                      <m:sSubPr>
                        <m:ctrlPr>
                          <a:rPr lang="en-US" altLang="zh-CN" sz="3200" b="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𝑢</m:t>
                        </m:r>
                      </m:e>
                      <m:sub>
                        <m:r>
                          <a:rPr lang="en-US" altLang="zh-CN" sz="3200" b="0" i="1" smtClean="0">
                            <a:latin typeface="Cambria Math" panose="02040503050406030204" pitchFamily="18" charset="0"/>
                            <a:ea typeface="楷体" panose="02010609060101010101" pitchFamily="49" charset="-122"/>
                          </a:rPr>
                          <m:t>𝑥</m:t>
                        </m:r>
                      </m:sub>
                    </m:sSub>
                    <m:r>
                      <a:rPr lang="en-US" altLang="zh-CN" sz="3200" b="0" i="1" smtClean="0">
                        <a:latin typeface="Cambria Math" panose="02040503050406030204" pitchFamily="18" charset="0"/>
                        <a:ea typeface="楷体" panose="02010609060101010101" pitchFamily="49" charset="-122"/>
                      </a:rPr>
                      <m:t>=</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𝑒</m:t>
                        </m:r>
                      </m:e>
                      <m:sup>
                        <m:r>
                          <a:rPr lang="en-US" altLang="zh-CN" sz="3200" i="1">
                            <a:latin typeface="Cambria Math" panose="02040503050406030204" pitchFamily="18" charset="0"/>
                            <a:ea typeface="楷体" panose="02010609060101010101" pitchFamily="49" charset="-122"/>
                          </a:rPr>
                          <m:t>𝑥</m:t>
                        </m:r>
                      </m:sup>
                    </m:sSup>
                    <m:r>
                      <a:rPr lang="en-US" altLang="zh-CN" sz="3200" i="1">
                        <a:latin typeface="Cambria Math" panose="02040503050406030204" pitchFamily="18" charset="0"/>
                        <a:ea typeface="楷体" panose="02010609060101010101" pitchFamily="49" charset="-122"/>
                      </a:rPr>
                      <m:t>𝑐𝑜𝑠𝑦</m:t>
                    </m:r>
                    <m:r>
                      <a:rPr lang="en-US" altLang="zh-CN" sz="3200" b="0" i="1" smtClean="0">
                        <a:latin typeface="Cambria Math" panose="02040503050406030204" pitchFamily="18" charset="0"/>
                        <a:ea typeface="楷体" panose="02010609060101010101" pitchFamily="49" charset="-122"/>
                      </a:rPr>
                      <m:t>,</m:t>
                    </m:r>
                    <m:sSub>
                      <m:sSubPr>
                        <m:ctrlPr>
                          <a:rPr lang="en-US" altLang="zh-CN" sz="3200" i="1">
                            <a:latin typeface="Cambria Math" panose="02040503050406030204" pitchFamily="18" charset="0"/>
                            <a:ea typeface="楷体" panose="02010609060101010101" pitchFamily="49" charset="-122"/>
                          </a:rPr>
                        </m:ctrlPr>
                      </m:sSubPr>
                      <m:e>
                        <m:r>
                          <a:rPr lang="en-US" altLang="zh-CN" sz="3200" i="1">
                            <a:latin typeface="Cambria Math" panose="02040503050406030204" pitchFamily="18" charset="0"/>
                            <a:ea typeface="楷体" panose="02010609060101010101" pitchFamily="49" charset="-122"/>
                          </a:rPr>
                          <m:t>𝑢</m:t>
                        </m:r>
                      </m:e>
                      <m:sub>
                        <m:r>
                          <a:rPr lang="en-US" altLang="zh-CN" sz="3200" b="0" i="1" smtClean="0">
                            <a:latin typeface="Cambria Math" panose="02040503050406030204" pitchFamily="18" charset="0"/>
                            <a:ea typeface="楷体" panose="02010609060101010101" pitchFamily="49" charset="-122"/>
                          </a:rPr>
                          <m:t>𝑦</m:t>
                        </m:r>
                      </m:sub>
                    </m:sSub>
                    <m:r>
                      <a:rPr lang="en-US" altLang="zh-CN" sz="3200" i="1">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𝑒</m:t>
                        </m:r>
                      </m:e>
                      <m:sup>
                        <m:r>
                          <a:rPr lang="en-US" altLang="zh-CN" sz="3200" i="1">
                            <a:latin typeface="Cambria Math" panose="02040503050406030204" pitchFamily="18" charset="0"/>
                            <a:ea typeface="楷体" panose="02010609060101010101" pitchFamily="49" charset="-122"/>
                          </a:rPr>
                          <m:t>𝑥</m:t>
                        </m:r>
                      </m:sup>
                    </m:sSup>
                    <m:r>
                      <a:rPr lang="en-US" altLang="zh-CN" sz="3200" b="0" i="1" smtClean="0">
                        <a:latin typeface="Cambria Math" panose="02040503050406030204" pitchFamily="18" charset="0"/>
                        <a:ea typeface="楷体" panose="02010609060101010101" pitchFamily="49" charset="-122"/>
                      </a:rPr>
                      <m:t>𝑠𝑖𝑛</m:t>
                    </m:r>
                    <m:r>
                      <a:rPr lang="en-US" altLang="zh-CN" sz="3200" i="1">
                        <a:latin typeface="Cambria Math" panose="02040503050406030204" pitchFamily="18" charset="0"/>
                        <a:ea typeface="楷体" panose="02010609060101010101" pitchFamily="49" charset="-122"/>
                      </a:rPr>
                      <m:t>𝑦</m:t>
                    </m:r>
                  </m:oMath>
                </a14:m>
                <a:endParaRPr lang="en-US" altLang="zh-CN" sz="3200" b="0" dirty="0">
                  <a:latin typeface="Cambria Math" panose="02040503050406030204" pitchFamily="18" charset="0"/>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1237207" y="2343178"/>
                <a:ext cx="8195549" cy="673766"/>
              </a:xfrm>
              <a:prstGeom prst="rect">
                <a:avLst/>
              </a:prstGeom>
              <a:blipFill rotWithShape="1">
                <a:blip r:embed="rId3"/>
                <a:stretch>
                  <a:fillRect l="-3" t="-4" r="6"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3789145" y="2886427"/>
                <a:ext cx="992645"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楷体" panose="02010609060101010101" pitchFamily="49" charset="-122"/>
                        </a:rPr>
                        <m:t>=</m:t>
                      </m:r>
                      <m:sSub>
                        <m:sSubPr>
                          <m:ctrlPr>
                            <a:rPr lang="en-US" altLang="zh-CN" sz="3200" b="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𝑣</m:t>
                          </m:r>
                        </m:e>
                        <m:sub>
                          <m:r>
                            <a:rPr lang="en-US" altLang="zh-CN" sz="3200" b="0" i="1" smtClean="0">
                              <a:latin typeface="Cambria Math" panose="02040503050406030204" pitchFamily="18" charset="0"/>
                              <a:ea typeface="楷体" panose="02010609060101010101" pitchFamily="49" charset="-122"/>
                            </a:rPr>
                            <m:t>𝑦</m:t>
                          </m:r>
                        </m:sub>
                      </m:sSub>
                    </m:oMath>
                  </m:oMathPara>
                </a14:m>
                <a:endParaRPr lang="en-US" altLang="zh-CN" sz="3200" b="0" dirty="0">
                  <a:latin typeface="Cambria Math" panose="02040503050406030204" pitchFamily="18" charset="0"/>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3789145" y="2886427"/>
                <a:ext cx="992645" cy="673766"/>
              </a:xfrm>
              <a:prstGeom prst="rect">
                <a:avLst/>
              </a:prstGeom>
              <a:blipFill rotWithShape="1">
                <a:blip r:embed="rId4"/>
                <a:stretch>
                  <a:fillRect l="-10" t="-52" r="24" b="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6162040" y="2886710"/>
                <a:ext cx="1416685" cy="6737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楷体" panose="02010609060101010101" pitchFamily="49" charset="-122"/>
                        </a:rPr>
                        <m:t>=−</m:t>
                      </m:r>
                      <m:sSub>
                        <m:sSubPr>
                          <m:ctrlPr>
                            <a:rPr lang="en-US" altLang="zh-CN" sz="3200" b="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𝑣</m:t>
                          </m:r>
                        </m:e>
                        <m:sub>
                          <m:r>
                            <a:rPr lang="en-US" altLang="zh-CN" sz="3200" b="0" i="1" smtClean="0">
                              <a:latin typeface="Cambria Math" panose="02040503050406030204" pitchFamily="18" charset="0"/>
                              <a:ea typeface="楷体" panose="02010609060101010101" pitchFamily="49" charset="-122"/>
                            </a:rPr>
                            <m:t>𝑥</m:t>
                          </m:r>
                        </m:sub>
                      </m:sSub>
                    </m:oMath>
                  </m:oMathPara>
                </a14:m>
                <a:endParaRPr lang="en-US" altLang="zh-CN" sz="3200" b="0" dirty="0">
                  <a:latin typeface="Cambria Math" panose="02040503050406030204" pitchFamily="18" charset="0"/>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6162040" y="2886710"/>
                <a:ext cx="1416685" cy="673735"/>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3282213" y="3585960"/>
                <a:ext cx="3301467"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latin typeface="Cambria Math" panose="02040503050406030204" pitchFamily="18" charset="0"/>
                    <a:ea typeface="楷体" panose="02010609060101010101" pitchFamily="49" charset="-122"/>
                  </a:rPr>
                  <a:t>即满足</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𝐶</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𝑅</m:t>
                    </m:r>
                  </m:oMath>
                </a14:m>
                <a:r>
                  <a:rPr lang="zh-CN" altLang="en-US" sz="3200" b="0" dirty="0">
                    <a:latin typeface="Cambria Math" panose="02040503050406030204" pitchFamily="18" charset="0"/>
                    <a:ea typeface="楷体" panose="02010609060101010101" pitchFamily="49" charset="-122"/>
                  </a:rPr>
                  <a:t>方程</a:t>
                </a:r>
                <a:endParaRPr lang="en-US" altLang="zh-CN" sz="3200" b="0" dirty="0">
                  <a:latin typeface="Cambria Math" panose="02040503050406030204" pitchFamily="18" charset="0"/>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3282213" y="3585960"/>
                <a:ext cx="3301467" cy="673766"/>
              </a:xfrm>
              <a:prstGeom prst="rect">
                <a:avLst/>
              </a:prstGeom>
              <a:blipFill rotWithShape="1">
                <a:blip r:embed="rId6"/>
                <a:stretch>
                  <a:fillRect l="-16" t="-17"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849392" y="4259726"/>
                <a:ext cx="6095235"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i="1" smtClean="0">
                        <a:latin typeface="Cambria Math" panose="02040503050406030204" pitchFamily="18" charset="0"/>
                        <a:ea typeface="Cambria Math" panose="02040503050406030204" pitchFamily="18" charset="0"/>
                        <a:sym typeface="Wingdings" panose="05000000000000000000" pitchFamily="2" charset="2"/>
                      </a:rPr>
                      <m:t>∴</m:t>
                    </m:r>
                    <m:r>
                      <a:rPr lang="en-US" altLang="zh-CN" sz="3200" i="1">
                        <a:latin typeface="Cambria Math" panose="02040503050406030204" pitchFamily="18" charset="0"/>
                        <a:ea typeface="楷体" panose="02010609060101010101" pitchFamily="49" charset="-122"/>
                      </a:rPr>
                      <m:t>𝑓</m:t>
                    </m:r>
                    <m:d>
                      <m:dPr>
                        <m:ctrlPr>
                          <a:rPr lang="en-US" altLang="zh-CN" sz="3200" i="1">
                            <a:latin typeface="Cambria Math" panose="02040503050406030204" pitchFamily="18" charset="0"/>
                            <a:ea typeface="楷体" panose="02010609060101010101" pitchFamily="49" charset="-122"/>
                          </a:rPr>
                        </m:ctrlPr>
                      </m:dPr>
                      <m:e>
                        <m:r>
                          <a:rPr lang="en-US" altLang="zh-CN" sz="3200" i="1">
                            <a:latin typeface="Cambria Math" panose="02040503050406030204" pitchFamily="18" charset="0"/>
                            <a:ea typeface="楷体" panose="02010609060101010101" pitchFamily="49" charset="-122"/>
                          </a:rPr>
                          <m:t>𝑧</m:t>
                        </m:r>
                      </m:e>
                    </m:d>
                  </m:oMath>
                </a14:m>
                <a:r>
                  <a:rPr lang="zh-CN" altLang="en-US" sz="3200" b="0" dirty="0">
                    <a:latin typeface="Cambria Math" panose="02040503050406030204" pitchFamily="18" charset="0"/>
                    <a:ea typeface="楷体" panose="02010609060101010101" pitchFamily="49" charset="-122"/>
                  </a:rPr>
                  <a:t>在复平面上解析</a:t>
                </a:r>
                <a:endParaRPr lang="en-US" altLang="zh-CN" sz="3200" b="0" dirty="0">
                  <a:latin typeface="Cambria Math" panose="02040503050406030204" pitchFamily="18" charset="0"/>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849392" y="4259726"/>
                <a:ext cx="6095235" cy="673766"/>
              </a:xfrm>
              <a:prstGeom prst="rect">
                <a:avLst/>
              </a:prstGeom>
              <a:blipFill rotWithShape="1">
                <a:blip r:embed="rId7"/>
                <a:stretch>
                  <a:fillRect l="-7" t="-22" r="4"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1055508" y="5210238"/>
                <a:ext cx="6697642"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ea typeface="楷体" panose="02010609060101010101" pitchFamily="49" charset="-122"/>
                  </a:rPr>
                  <a:t>且</a:t>
                </a:r>
                <a14:m>
                  <m:oMath xmlns:m="http://schemas.openxmlformats.org/officeDocument/2006/math">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𝑓</m:t>
                        </m:r>
                      </m:e>
                      <m:sup>
                        <m:r>
                          <a:rPr lang="en-US" altLang="zh-CN" sz="3200" i="1">
                            <a:latin typeface="Cambria Math" panose="02040503050406030204" pitchFamily="18" charset="0"/>
                            <a:ea typeface="楷体" panose="02010609060101010101" pitchFamily="49" charset="-122"/>
                          </a:rPr>
                          <m:t>′</m:t>
                        </m:r>
                      </m:sup>
                    </m:sSup>
                    <m:d>
                      <m:dPr>
                        <m:ctrlPr>
                          <a:rPr lang="en-US" altLang="zh-CN" sz="3200" i="1">
                            <a:latin typeface="Cambria Math" panose="02040503050406030204" pitchFamily="18" charset="0"/>
                            <a:ea typeface="楷体" panose="02010609060101010101" pitchFamily="49" charset="-122"/>
                          </a:rPr>
                        </m:ctrlPr>
                      </m:dPr>
                      <m:e>
                        <m:r>
                          <a:rPr lang="en-US" altLang="zh-CN" sz="3200" i="1">
                            <a:latin typeface="Cambria Math" panose="02040503050406030204" pitchFamily="18" charset="0"/>
                            <a:ea typeface="楷体" panose="02010609060101010101" pitchFamily="49" charset="-122"/>
                          </a:rPr>
                          <m:t>𝑧</m:t>
                        </m:r>
                      </m:e>
                    </m:d>
                    <m:r>
                      <a:rPr lang="en-US" altLang="zh-CN" sz="3200" i="1" smtClean="0">
                        <a:latin typeface="Cambria Math" panose="02040503050406030204" pitchFamily="18" charset="0"/>
                        <a:ea typeface="楷体" panose="02010609060101010101" pitchFamily="49" charset="-122"/>
                      </a:rPr>
                      <m:t>=</m:t>
                    </m:r>
                    <m:sSub>
                      <m:sSubPr>
                        <m:ctrlPr>
                          <a:rPr lang="en-US" altLang="zh-CN" sz="3200" i="1">
                            <a:latin typeface="Cambria Math" panose="02040503050406030204" pitchFamily="18" charset="0"/>
                            <a:ea typeface="楷体" panose="02010609060101010101" pitchFamily="49" charset="-122"/>
                          </a:rPr>
                        </m:ctrlPr>
                      </m:sSubPr>
                      <m:e>
                        <m:r>
                          <a:rPr lang="en-US" altLang="zh-CN" sz="3200" i="1">
                            <a:latin typeface="Cambria Math" panose="02040503050406030204" pitchFamily="18" charset="0"/>
                            <a:ea typeface="楷体" panose="02010609060101010101" pitchFamily="49" charset="-122"/>
                          </a:rPr>
                          <m:t>𝑢</m:t>
                        </m:r>
                      </m:e>
                      <m:sub>
                        <m:r>
                          <a:rPr lang="en-US" altLang="zh-CN" sz="3200" i="1">
                            <a:latin typeface="Cambria Math" panose="02040503050406030204" pitchFamily="18" charset="0"/>
                            <a:ea typeface="楷体" panose="02010609060101010101" pitchFamily="49" charset="-122"/>
                          </a:rPr>
                          <m:t>𝑥</m:t>
                        </m:r>
                      </m:sub>
                    </m:sSub>
                    <m:r>
                      <a:rPr lang="en-US" altLang="zh-CN" sz="3200" b="0" i="0"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𝑖</m:t>
                    </m:r>
                    <m:sSub>
                      <m:sSubPr>
                        <m:ctrlPr>
                          <a:rPr lang="en-US" altLang="zh-CN" sz="3200" i="1">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𝑣</m:t>
                        </m:r>
                      </m:e>
                      <m:sub>
                        <m:r>
                          <a:rPr lang="en-US" altLang="zh-CN" sz="3200" i="1">
                            <a:latin typeface="Cambria Math" panose="02040503050406030204" pitchFamily="18" charset="0"/>
                            <a:ea typeface="楷体" panose="02010609060101010101" pitchFamily="49" charset="-122"/>
                          </a:rPr>
                          <m:t>𝑥</m:t>
                        </m:r>
                      </m:sub>
                    </m:sSub>
                  </m:oMath>
                </a14:m>
                <a:endParaRPr lang="en-US" altLang="zh-CN" sz="3200" b="0" dirty="0">
                  <a:latin typeface="Cambria Math" panose="02040503050406030204" pitchFamily="18" charset="0"/>
                  <a:ea typeface="楷体" panose="02010609060101010101" pitchFamily="49" charset="-122"/>
                </a:endParaRPr>
              </a:p>
              <a:p>
                <a:pPr fontAlgn="auto">
                  <a:lnSpc>
                    <a:spcPct val="110000"/>
                  </a:lnSpc>
                </a:pPr>
                <a:r>
                  <a:rPr lang="en-US" altLang="zh-CN" sz="3200" b="0" dirty="0">
                    <a:latin typeface="Cambria Math" panose="02040503050406030204" pitchFamily="18" charset="0"/>
                    <a:ea typeface="楷体" panose="02010609060101010101" pitchFamily="49" charset="-122"/>
                  </a:rPr>
                  <a:t>                =</a:t>
                </a:r>
                <a:r>
                  <a:rPr lang="en-US" altLang="zh-CN" sz="3200" dirty="0">
                    <a:ea typeface="楷体" panose="02010609060101010101" pitchFamily="49" charset="-122"/>
                  </a:rPr>
                  <a:t> </a:t>
                </a:r>
                <a14:m>
                  <m:oMath xmlns:m="http://schemas.openxmlformats.org/officeDocument/2006/math">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𝑒</m:t>
                        </m:r>
                      </m:e>
                      <m:sup>
                        <m:r>
                          <a:rPr lang="en-US" altLang="zh-CN" sz="3200" i="1">
                            <a:latin typeface="Cambria Math" panose="02040503050406030204" pitchFamily="18" charset="0"/>
                            <a:ea typeface="楷体" panose="02010609060101010101" pitchFamily="49" charset="-122"/>
                          </a:rPr>
                          <m:t>𝑥</m:t>
                        </m:r>
                      </m:sup>
                    </m:sSup>
                    <m:r>
                      <a:rPr lang="en-US" altLang="zh-CN" sz="3200" i="1">
                        <a:latin typeface="Cambria Math" panose="02040503050406030204" pitchFamily="18" charset="0"/>
                        <a:ea typeface="楷体" panose="02010609060101010101" pitchFamily="49" charset="-122"/>
                      </a:rPr>
                      <m:t>𝑐𝑜𝑠𝑦</m:t>
                    </m:r>
                    <m:r>
                      <a:rPr lang="en-US" altLang="zh-CN" sz="3200" b="0" i="0" smtClean="0">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𝑖</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𝑒</m:t>
                        </m:r>
                      </m:e>
                      <m:sup>
                        <m:r>
                          <a:rPr lang="en-US" altLang="zh-CN" sz="3200" i="1">
                            <a:latin typeface="Cambria Math" panose="02040503050406030204" pitchFamily="18" charset="0"/>
                            <a:ea typeface="楷体" panose="02010609060101010101" pitchFamily="49" charset="-122"/>
                          </a:rPr>
                          <m:t>𝑥</m:t>
                        </m:r>
                      </m:sup>
                    </m:sSup>
                    <m:r>
                      <a:rPr lang="en-US" altLang="zh-CN" sz="3200" i="1">
                        <a:latin typeface="Cambria Math" panose="02040503050406030204" pitchFamily="18" charset="0"/>
                        <a:ea typeface="楷体" panose="02010609060101010101" pitchFamily="49" charset="-122"/>
                      </a:rPr>
                      <m:t>𝑠𝑖𝑛𝑦</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𝑓</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𝑧</m:t>
                    </m:r>
                    <m:r>
                      <a:rPr lang="en-US" altLang="zh-CN" sz="3200" b="0" i="1" smtClean="0">
                        <a:latin typeface="Cambria Math" panose="02040503050406030204" pitchFamily="18" charset="0"/>
                        <a:ea typeface="楷体" panose="02010609060101010101" pitchFamily="49" charset="-122"/>
                      </a:rPr>
                      <m:t>)</m:t>
                    </m:r>
                  </m:oMath>
                </a14:m>
                <a:endParaRPr lang="en-US" altLang="zh-CN" sz="3200" b="0" dirty="0">
                  <a:latin typeface="Cambria Math" panose="02040503050406030204" pitchFamily="18" charset="0"/>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1055508" y="5210238"/>
                <a:ext cx="6697642" cy="673766"/>
              </a:xfrm>
              <a:prstGeom prst="rect">
                <a:avLst/>
              </a:prstGeom>
              <a:blipFill rotWithShape="1">
                <a:blip r:embed="rId8"/>
                <a:stretch>
                  <a:fillRect l="-2" t="-29508" r="6" b="-2957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13" grpId="0"/>
      <p:bldP spid="14"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标题 1"/>
              <p:cNvSpPr txBox="1"/>
              <p:nvPr/>
            </p:nvSpPr>
            <p:spPr>
              <a:xfrm>
                <a:off x="122036" y="1050719"/>
                <a:ext cx="8866919" cy="6175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2800" i="1">
                        <a:latin typeface="Cambria Math" panose="02040503050406030204" pitchFamily="18" charset="0"/>
                        <a:ea typeface="楷体" panose="02010609060101010101" pitchFamily="49" charset="-122"/>
                      </a:rPr>
                      <m:t>𝐸𝑔</m:t>
                    </m:r>
                    <m:r>
                      <a:rPr lang="en-US" altLang="zh-CN" sz="2800" i="1">
                        <a:latin typeface="Cambria Math" panose="02040503050406030204" pitchFamily="18" charset="0"/>
                        <a:ea typeface="楷体" panose="02010609060101010101" pitchFamily="49" charset="-122"/>
                      </a:rPr>
                      <m:t>:</m:t>
                    </m:r>
                  </m:oMath>
                </a14:m>
                <a:r>
                  <a:rPr lang="zh-CN" altLang="en-US" sz="3100" dirty="0">
                    <a:latin typeface="楷体" panose="02010609060101010101" pitchFamily="49" charset="-122"/>
                    <a:ea typeface="楷体" panose="02010609060101010101" pitchFamily="49" charset="-122"/>
                  </a:rPr>
                  <a:t>设</a:t>
                </a:r>
                <a14:m>
                  <m:oMath xmlns:m="http://schemas.openxmlformats.org/officeDocument/2006/math">
                    <m:r>
                      <a:rPr lang="en-US" altLang="zh-CN" sz="3100" b="0" i="1" smtClean="0">
                        <a:latin typeface="Cambria Math" panose="02040503050406030204" pitchFamily="18" charset="0"/>
                        <a:ea typeface="楷体" panose="02010609060101010101" pitchFamily="49" charset="-122"/>
                      </a:rPr>
                      <m:t>𝑓</m:t>
                    </m:r>
                    <m:d>
                      <m:dPr>
                        <m:ctrlPr>
                          <a:rPr lang="en-US" altLang="zh-CN" sz="3100" b="0" i="1" smtClean="0">
                            <a:latin typeface="Cambria Math" panose="02040503050406030204" pitchFamily="18" charset="0"/>
                            <a:ea typeface="楷体" panose="02010609060101010101" pitchFamily="49" charset="-122"/>
                          </a:rPr>
                        </m:ctrlPr>
                      </m:dPr>
                      <m:e>
                        <m:r>
                          <a:rPr lang="en-US" altLang="zh-CN" sz="3100" b="0" i="1" smtClean="0">
                            <a:latin typeface="Cambria Math" panose="02040503050406030204" pitchFamily="18" charset="0"/>
                            <a:ea typeface="楷体" panose="02010609060101010101" pitchFamily="49" charset="-122"/>
                          </a:rPr>
                          <m:t>𝑧</m:t>
                        </m:r>
                      </m:e>
                    </m:d>
                    <m:r>
                      <a:rPr lang="en-US" altLang="zh-CN" sz="3100" b="0" i="1" smtClean="0">
                        <a:latin typeface="Cambria Math" panose="02040503050406030204" pitchFamily="18" charset="0"/>
                        <a:ea typeface="楷体" panose="02010609060101010101" pitchFamily="49" charset="-122"/>
                      </a:rPr>
                      <m:t>=</m:t>
                    </m:r>
                    <m:r>
                      <a:rPr lang="en-US" altLang="zh-CN" sz="3100" b="0" i="1" smtClean="0">
                        <a:latin typeface="Cambria Math" panose="02040503050406030204" pitchFamily="18" charset="0"/>
                        <a:ea typeface="楷体" panose="02010609060101010101" pitchFamily="49" charset="-122"/>
                      </a:rPr>
                      <m:t>𝑚</m:t>
                    </m:r>
                    <m:sSup>
                      <m:sSupPr>
                        <m:ctrlPr>
                          <a:rPr lang="en-US" altLang="zh-CN" sz="3100" b="0" i="1" smtClean="0">
                            <a:latin typeface="Cambria Math" panose="02040503050406030204" pitchFamily="18" charset="0"/>
                            <a:ea typeface="楷体" panose="02010609060101010101" pitchFamily="49" charset="-122"/>
                          </a:rPr>
                        </m:ctrlPr>
                      </m:sSupPr>
                      <m:e>
                        <m:r>
                          <a:rPr lang="en-US" altLang="zh-CN" sz="3100" b="0" i="1" smtClean="0">
                            <a:latin typeface="Cambria Math" panose="02040503050406030204" pitchFamily="18" charset="0"/>
                            <a:ea typeface="楷体" panose="02010609060101010101" pitchFamily="49" charset="-122"/>
                          </a:rPr>
                          <m:t>𝑦</m:t>
                        </m:r>
                      </m:e>
                      <m:sup>
                        <m:r>
                          <a:rPr lang="en-US" altLang="zh-CN" sz="3100" b="0" i="1" smtClean="0">
                            <a:latin typeface="Cambria Math" panose="02040503050406030204" pitchFamily="18" charset="0"/>
                            <a:ea typeface="楷体" panose="02010609060101010101" pitchFamily="49" charset="-122"/>
                          </a:rPr>
                          <m:t>3</m:t>
                        </m:r>
                      </m:sup>
                    </m:sSup>
                    <m:r>
                      <a:rPr lang="en-US" altLang="zh-CN" sz="3100" b="0" i="1" smtClean="0">
                        <a:latin typeface="Cambria Math" panose="02040503050406030204" pitchFamily="18" charset="0"/>
                        <a:ea typeface="楷体" panose="02010609060101010101" pitchFamily="49" charset="-122"/>
                      </a:rPr>
                      <m:t>+</m:t>
                    </m:r>
                    <m:r>
                      <a:rPr lang="en-US" altLang="zh-CN" sz="3100" b="0" i="1" smtClean="0">
                        <a:latin typeface="Cambria Math" panose="02040503050406030204" pitchFamily="18" charset="0"/>
                        <a:ea typeface="楷体" panose="02010609060101010101" pitchFamily="49" charset="-122"/>
                      </a:rPr>
                      <m:t>𝑛</m:t>
                    </m:r>
                    <m:sSup>
                      <m:sSupPr>
                        <m:ctrlPr>
                          <a:rPr lang="en-US" altLang="zh-CN" sz="3100" b="0" i="1" smtClean="0">
                            <a:latin typeface="Cambria Math" panose="02040503050406030204" pitchFamily="18" charset="0"/>
                            <a:ea typeface="楷体" panose="02010609060101010101" pitchFamily="49" charset="-122"/>
                          </a:rPr>
                        </m:ctrlPr>
                      </m:sSupPr>
                      <m:e>
                        <m:r>
                          <a:rPr lang="en-US" altLang="zh-CN" sz="3100" b="0" i="1" smtClean="0">
                            <a:latin typeface="Cambria Math" panose="02040503050406030204" pitchFamily="18" charset="0"/>
                            <a:ea typeface="楷体" panose="02010609060101010101" pitchFamily="49" charset="-122"/>
                          </a:rPr>
                          <m:t>𝑥</m:t>
                        </m:r>
                      </m:e>
                      <m:sup>
                        <m:r>
                          <a:rPr lang="en-US" altLang="zh-CN" sz="3100" b="0" i="1" smtClean="0">
                            <a:latin typeface="Cambria Math" panose="02040503050406030204" pitchFamily="18" charset="0"/>
                            <a:ea typeface="楷体" panose="02010609060101010101" pitchFamily="49" charset="-122"/>
                          </a:rPr>
                          <m:t>2</m:t>
                        </m:r>
                      </m:sup>
                    </m:sSup>
                    <m:r>
                      <a:rPr lang="en-US" altLang="zh-CN" sz="3100" b="0" i="1" smtClean="0">
                        <a:latin typeface="Cambria Math" panose="02040503050406030204" pitchFamily="18" charset="0"/>
                        <a:ea typeface="楷体" panose="02010609060101010101" pitchFamily="49" charset="-122"/>
                      </a:rPr>
                      <m:t>𝑦</m:t>
                    </m:r>
                    <m:r>
                      <a:rPr lang="en-US" altLang="zh-CN" sz="3100" b="0" i="1" smtClean="0">
                        <a:latin typeface="Cambria Math" panose="02040503050406030204" pitchFamily="18" charset="0"/>
                        <a:ea typeface="楷体" panose="02010609060101010101" pitchFamily="49" charset="-122"/>
                      </a:rPr>
                      <m:t>+</m:t>
                    </m:r>
                    <m:r>
                      <a:rPr lang="en-US" altLang="zh-CN" sz="3100" b="0" i="1" smtClean="0">
                        <a:latin typeface="Cambria Math" panose="02040503050406030204" pitchFamily="18" charset="0"/>
                        <a:ea typeface="楷体" panose="02010609060101010101" pitchFamily="49" charset="-122"/>
                      </a:rPr>
                      <m:t>𝑖</m:t>
                    </m:r>
                    <m:r>
                      <a:rPr lang="en-US" altLang="zh-CN" sz="3100" b="0" i="1" smtClean="0">
                        <a:latin typeface="Cambria Math" panose="02040503050406030204" pitchFamily="18" charset="0"/>
                        <a:ea typeface="楷体" panose="02010609060101010101" pitchFamily="49" charset="-122"/>
                      </a:rPr>
                      <m:t>(</m:t>
                    </m:r>
                    <m:sSup>
                      <m:sSupPr>
                        <m:ctrlPr>
                          <a:rPr lang="en-US" altLang="zh-CN" sz="3100" b="0" i="1" smtClean="0">
                            <a:latin typeface="Cambria Math" panose="02040503050406030204" pitchFamily="18" charset="0"/>
                            <a:ea typeface="楷体" panose="02010609060101010101" pitchFamily="49" charset="-122"/>
                          </a:rPr>
                        </m:ctrlPr>
                      </m:sSupPr>
                      <m:e>
                        <m:r>
                          <a:rPr lang="en-US" altLang="zh-CN" sz="3100" b="0" i="1" smtClean="0">
                            <a:latin typeface="Cambria Math" panose="02040503050406030204" pitchFamily="18" charset="0"/>
                            <a:ea typeface="楷体" panose="02010609060101010101" pitchFamily="49" charset="-122"/>
                          </a:rPr>
                          <m:t>𝑥</m:t>
                        </m:r>
                      </m:e>
                      <m:sup>
                        <m:r>
                          <a:rPr lang="en-US" altLang="zh-CN" sz="3100" b="0" i="1" smtClean="0">
                            <a:latin typeface="Cambria Math" panose="02040503050406030204" pitchFamily="18" charset="0"/>
                            <a:ea typeface="楷体" panose="02010609060101010101" pitchFamily="49" charset="-122"/>
                          </a:rPr>
                          <m:t>3</m:t>
                        </m:r>
                      </m:sup>
                    </m:sSup>
                    <m:r>
                      <a:rPr lang="en-US" altLang="zh-CN" sz="3100" b="0" i="1" smtClean="0">
                        <a:latin typeface="Cambria Math" panose="02040503050406030204" pitchFamily="18" charset="0"/>
                        <a:ea typeface="楷体" panose="02010609060101010101" pitchFamily="49" charset="-122"/>
                      </a:rPr>
                      <m:t>+</m:t>
                    </m:r>
                    <m:r>
                      <a:rPr lang="en-US" altLang="zh-CN" sz="3100" b="0" i="1" smtClean="0">
                        <a:latin typeface="Cambria Math" panose="02040503050406030204" pitchFamily="18" charset="0"/>
                        <a:ea typeface="楷体" panose="02010609060101010101" pitchFamily="49" charset="-122"/>
                      </a:rPr>
                      <m:t>𝑙𝑥</m:t>
                    </m:r>
                    <m:sSup>
                      <m:sSupPr>
                        <m:ctrlPr>
                          <a:rPr lang="en-US" altLang="zh-CN" sz="3100" b="0" i="1" smtClean="0">
                            <a:latin typeface="Cambria Math" panose="02040503050406030204" pitchFamily="18" charset="0"/>
                            <a:ea typeface="楷体" panose="02010609060101010101" pitchFamily="49" charset="-122"/>
                          </a:rPr>
                        </m:ctrlPr>
                      </m:sSupPr>
                      <m:e>
                        <m:r>
                          <a:rPr lang="en-US" altLang="zh-CN" sz="3100" b="0" i="1" smtClean="0">
                            <a:latin typeface="Cambria Math" panose="02040503050406030204" pitchFamily="18" charset="0"/>
                            <a:ea typeface="楷体" panose="02010609060101010101" pitchFamily="49" charset="-122"/>
                          </a:rPr>
                          <m:t>𝑦</m:t>
                        </m:r>
                      </m:e>
                      <m:sup>
                        <m:r>
                          <a:rPr lang="en-US" altLang="zh-CN" sz="3100" b="0" i="1" smtClean="0">
                            <a:latin typeface="Cambria Math" panose="02040503050406030204" pitchFamily="18" charset="0"/>
                            <a:ea typeface="楷体" panose="02010609060101010101" pitchFamily="49" charset="-122"/>
                          </a:rPr>
                          <m:t>2</m:t>
                        </m:r>
                      </m:sup>
                    </m:sSup>
                    <m:r>
                      <a:rPr lang="en-US" altLang="zh-CN" sz="3100" b="0" i="1" smtClean="0">
                        <a:latin typeface="Cambria Math" panose="02040503050406030204" pitchFamily="18" charset="0"/>
                        <a:ea typeface="楷体" panose="02010609060101010101" pitchFamily="49" charset="-122"/>
                      </a:rPr>
                      <m:t>)</m:t>
                    </m:r>
                  </m:oMath>
                </a14:m>
                <a:r>
                  <a:rPr lang="zh-CN" altLang="en-US" sz="3100" dirty="0">
                    <a:latin typeface="楷体" panose="02010609060101010101" pitchFamily="49" charset="-122"/>
                    <a:ea typeface="楷体" panose="02010609060101010101" pitchFamily="49" charset="-122"/>
                  </a:rPr>
                  <a:t>，问</a:t>
                </a:r>
                <a14:m>
                  <m:oMath xmlns:m="http://schemas.openxmlformats.org/officeDocument/2006/math">
                    <m:r>
                      <a:rPr lang="en-US" altLang="zh-CN" sz="3100" b="0" i="1" smtClean="0">
                        <a:latin typeface="Cambria Math" panose="02040503050406030204" pitchFamily="18" charset="0"/>
                        <a:ea typeface="楷体" panose="02010609060101010101" pitchFamily="49" charset="-122"/>
                      </a:rPr>
                      <m:t>𝑚</m:t>
                    </m:r>
                    <m:r>
                      <a:rPr lang="en-US" altLang="zh-CN" sz="3100" b="0" i="1" smtClean="0">
                        <a:latin typeface="Cambria Math" panose="02040503050406030204" pitchFamily="18" charset="0"/>
                        <a:ea typeface="楷体" panose="02010609060101010101" pitchFamily="49" charset="-122"/>
                      </a:rPr>
                      <m:t>,</m:t>
                    </m:r>
                    <m:r>
                      <a:rPr lang="en-US" altLang="zh-CN" sz="3100" b="0" i="1" smtClean="0">
                        <a:latin typeface="Cambria Math" panose="02040503050406030204" pitchFamily="18" charset="0"/>
                        <a:ea typeface="楷体" panose="02010609060101010101" pitchFamily="49" charset="-122"/>
                      </a:rPr>
                      <m:t>𝑛</m:t>
                    </m:r>
                    <m:r>
                      <a:rPr lang="en-US" altLang="zh-CN" sz="3100" b="0" i="1" smtClean="0">
                        <a:latin typeface="Cambria Math" panose="02040503050406030204" pitchFamily="18" charset="0"/>
                        <a:ea typeface="楷体" panose="02010609060101010101" pitchFamily="49" charset="-122"/>
                      </a:rPr>
                      <m:t>,</m:t>
                    </m:r>
                    <m:r>
                      <a:rPr lang="en-US" altLang="zh-CN" sz="3100" b="0" i="1" smtClean="0">
                        <a:latin typeface="Cambria Math" panose="02040503050406030204" pitchFamily="18" charset="0"/>
                        <a:ea typeface="楷体" panose="02010609060101010101" pitchFamily="49" charset="-122"/>
                      </a:rPr>
                      <m:t>𝑙</m:t>
                    </m:r>
                  </m:oMath>
                </a14:m>
                <a:r>
                  <a:rPr lang="zh-CN" altLang="en-US" sz="3100" dirty="0">
                    <a:latin typeface="楷体" panose="02010609060101010101" pitchFamily="49" charset="-122"/>
                    <a:ea typeface="楷体" panose="02010609060101010101" pitchFamily="49" charset="-122"/>
                  </a:rPr>
                  <a:t>为何值时，</a:t>
                </a:r>
                <a14:m>
                  <m:oMath xmlns:m="http://schemas.openxmlformats.org/officeDocument/2006/math">
                    <m:r>
                      <a:rPr lang="en-US" altLang="zh-CN" sz="3100" b="0" i="1" smtClean="0">
                        <a:latin typeface="Cambria Math" panose="02040503050406030204" pitchFamily="18" charset="0"/>
                        <a:ea typeface="楷体" panose="02010609060101010101" pitchFamily="49" charset="-122"/>
                      </a:rPr>
                      <m:t>𝑓</m:t>
                    </m:r>
                    <m:r>
                      <a:rPr lang="en-US" altLang="zh-CN" sz="3100" b="0" i="1" smtClean="0">
                        <a:latin typeface="Cambria Math" panose="02040503050406030204" pitchFamily="18" charset="0"/>
                        <a:ea typeface="楷体" panose="02010609060101010101" pitchFamily="49" charset="-122"/>
                      </a:rPr>
                      <m:t>(</m:t>
                    </m:r>
                    <m:r>
                      <a:rPr lang="en-US" altLang="zh-CN" sz="3100" b="0" i="1" smtClean="0">
                        <a:latin typeface="Cambria Math" panose="02040503050406030204" pitchFamily="18" charset="0"/>
                        <a:ea typeface="楷体" panose="02010609060101010101" pitchFamily="49" charset="-122"/>
                      </a:rPr>
                      <m:t>𝑧</m:t>
                    </m:r>
                    <m:r>
                      <a:rPr lang="en-US" altLang="zh-CN" sz="3100" b="0" i="1" smtClean="0">
                        <a:latin typeface="Cambria Math" panose="02040503050406030204" pitchFamily="18" charset="0"/>
                        <a:ea typeface="楷体" panose="02010609060101010101" pitchFamily="49" charset="-122"/>
                      </a:rPr>
                      <m:t>)</m:t>
                    </m:r>
                  </m:oMath>
                </a14:m>
                <a:r>
                  <a:rPr lang="zh-CN" altLang="en-US" sz="3100" dirty="0">
                    <a:latin typeface="楷体" panose="02010609060101010101" pitchFamily="49" charset="-122"/>
                    <a:ea typeface="楷体" panose="02010609060101010101" pitchFamily="49" charset="-122"/>
                    <a:sym typeface="+mn-ea"/>
                  </a:rPr>
                  <a:t>解析。</a:t>
                </a:r>
                <a:endParaRPr lang="en-US" altLang="zh-CN" sz="3100" dirty="0">
                  <a:latin typeface="楷体" panose="02010609060101010101" pitchFamily="49" charset="-122"/>
                  <a:ea typeface="楷体" panose="02010609060101010101" pitchFamily="49" charset="-122"/>
                </a:endParaRPr>
              </a:p>
              <a:p>
                <a:pPr fontAlgn="auto">
                  <a:lnSpc>
                    <a:spcPct val="110000"/>
                  </a:lnSpc>
                </a:pPr>
                <a:endParaRPr lang="en-US" altLang="zh-CN" sz="27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122036" y="1050719"/>
                <a:ext cx="8866919" cy="617501"/>
              </a:xfrm>
              <a:prstGeom prst="rect">
                <a:avLst/>
              </a:prstGeom>
              <a:blipFill rotWithShape="1">
                <a:blip r:embed="rId1"/>
                <a:stretch>
                  <a:fillRect l="-1" t="-72567" r="6" b="-72589"/>
                </a:stretch>
              </a:blipFill>
            </p:spPr>
            <p:txBody>
              <a:bodyPr/>
              <a:lstStyle/>
              <a:p>
                <a:r>
                  <a:rPr lang="zh-CN" altLang="en-US">
                    <a:noFill/>
                  </a:rPr>
                  <a:t> </a:t>
                </a:r>
              </a:p>
            </p:txBody>
          </p:sp>
        </mc:Fallback>
      </mc:AlternateContent>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标题 1"/>
              <p:cNvSpPr txBox="1"/>
              <p:nvPr/>
            </p:nvSpPr>
            <p:spPr>
              <a:xfrm>
                <a:off x="155045" y="1643895"/>
                <a:ext cx="7040518"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ea typeface="楷体" panose="02010609060101010101" pitchFamily="49" charset="-122"/>
                  </a:rPr>
                  <a:t>解：</a:t>
                </a:r>
                <a14:m>
                  <m:oMath xmlns:m="http://schemas.openxmlformats.org/officeDocument/2006/math">
                    <m:r>
                      <a:rPr lang="en-US" altLang="zh-CN" sz="3200" i="1">
                        <a:latin typeface="Cambria Math" panose="02040503050406030204" pitchFamily="18" charset="0"/>
                        <a:ea typeface="楷体" panose="02010609060101010101" pitchFamily="49" charset="-122"/>
                      </a:rPr>
                      <m:t>𝑢</m:t>
                    </m:r>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𝑚</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𝑦</m:t>
                        </m:r>
                      </m:e>
                      <m:sup>
                        <m:r>
                          <a:rPr lang="en-US" altLang="zh-CN" sz="3200" i="1">
                            <a:latin typeface="Cambria Math" panose="02040503050406030204" pitchFamily="18" charset="0"/>
                            <a:ea typeface="楷体" panose="02010609060101010101" pitchFamily="49" charset="-122"/>
                          </a:rPr>
                          <m:t>3</m:t>
                        </m:r>
                      </m:sup>
                    </m:sSup>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𝑛</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𝑥</m:t>
                        </m:r>
                      </m:e>
                      <m:sup>
                        <m:r>
                          <a:rPr lang="en-US" altLang="zh-CN" sz="3200" i="1">
                            <a:latin typeface="Cambria Math" panose="02040503050406030204" pitchFamily="18" charset="0"/>
                            <a:ea typeface="楷体" panose="02010609060101010101" pitchFamily="49" charset="-122"/>
                          </a:rPr>
                          <m:t>2</m:t>
                        </m:r>
                      </m:sup>
                    </m:sSup>
                    <m:r>
                      <a:rPr lang="en-US" altLang="zh-CN" sz="3200" i="1">
                        <a:latin typeface="Cambria Math" panose="02040503050406030204" pitchFamily="18" charset="0"/>
                        <a:ea typeface="楷体" panose="02010609060101010101" pitchFamily="49" charset="-122"/>
                      </a:rPr>
                      <m:t>𝑦</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𝑣</m:t>
                    </m:r>
                    <m:r>
                      <a:rPr lang="en-US" altLang="zh-CN" sz="3200" b="0" i="1" smtClean="0">
                        <a:latin typeface="Cambria Math" panose="02040503050406030204" pitchFamily="18" charset="0"/>
                        <a:ea typeface="楷体" panose="02010609060101010101" pitchFamily="49" charset="-122"/>
                      </a:rPr>
                      <m:t>=</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𝑥</m:t>
                        </m:r>
                      </m:e>
                      <m:sup>
                        <m:r>
                          <a:rPr lang="en-US" altLang="zh-CN" sz="3200" i="1">
                            <a:latin typeface="Cambria Math" panose="02040503050406030204" pitchFamily="18" charset="0"/>
                            <a:ea typeface="楷体" panose="02010609060101010101" pitchFamily="49" charset="-122"/>
                          </a:rPr>
                          <m:t>3</m:t>
                        </m:r>
                      </m:sup>
                    </m:sSup>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𝑙𝑥</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𝑦</m:t>
                        </m:r>
                      </m:e>
                      <m:sup>
                        <m:r>
                          <a:rPr lang="en-US" altLang="zh-CN" sz="3200" i="1">
                            <a:latin typeface="Cambria Math" panose="02040503050406030204" pitchFamily="18" charset="0"/>
                            <a:ea typeface="楷体" panose="02010609060101010101" pitchFamily="49" charset="-122"/>
                          </a:rPr>
                          <m:t>2</m:t>
                        </m:r>
                      </m:sup>
                    </m:sSup>
                  </m:oMath>
                </a14:m>
                <a:endParaRPr lang="en-US" altLang="zh-CN" sz="3200" b="0" i="1" dirty="0">
                  <a:latin typeface="Cambria Math" panose="02040503050406030204" pitchFamily="18" charset="0"/>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155045" y="1643895"/>
                <a:ext cx="7040518" cy="673766"/>
              </a:xfrm>
              <a:prstGeom prst="rect">
                <a:avLst/>
              </a:prstGeom>
              <a:blipFill rotWithShape="1">
                <a:blip r:embed="rId2"/>
                <a:stretch>
                  <a:fillRect l="-1" t="-76" r="5" b="8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1285334" y="2261396"/>
                <a:ext cx="7622848"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楷体" panose="02010609060101010101" pitchFamily="49" charset="-122"/>
                      </a:rPr>
                      <m:t>𝑢</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𝑣</m:t>
                    </m:r>
                  </m:oMath>
                </a14:m>
                <a:r>
                  <a:rPr lang="zh-CN" altLang="en-US" sz="3200" b="0" dirty="0">
                    <a:latin typeface="Cambria Math" panose="02040503050406030204" pitchFamily="18" charset="0"/>
                    <a:ea typeface="楷体" panose="02010609060101010101" pitchFamily="49" charset="-122"/>
                  </a:rPr>
                  <a:t>可微</a:t>
                </a:r>
                <a:r>
                  <a:rPr lang="en-US" altLang="zh-CN" sz="3200" b="0" dirty="0">
                    <a:latin typeface="Cambria Math" panose="02040503050406030204" pitchFamily="18" charset="0"/>
                    <a:ea typeface="楷体" panose="02010609060101010101" pitchFamily="49" charset="-122"/>
                  </a:rPr>
                  <a:t>, </a:t>
                </a:r>
                <a14:m>
                  <m:oMath xmlns:m="http://schemas.openxmlformats.org/officeDocument/2006/math">
                    <m:sSub>
                      <m:sSubPr>
                        <m:ctrlPr>
                          <a:rPr lang="en-US" altLang="zh-CN" sz="3200" b="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𝑢</m:t>
                        </m:r>
                      </m:e>
                      <m:sub>
                        <m:r>
                          <a:rPr lang="en-US" altLang="zh-CN" sz="3200" b="0" i="1" smtClean="0">
                            <a:latin typeface="Cambria Math" panose="02040503050406030204" pitchFamily="18" charset="0"/>
                            <a:ea typeface="楷体" panose="02010609060101010101" pitchFamily="49" charset="-122"/>
                          </a:rPr>
                          <m:t>𝑥</m:t>
                        </m:r>
                      </m:sub>
                    </m:sSub>
                    <m:r>
                      <a:rPr lang="en-US" altLang="zh-CN" sz="3200" i="1">
                        <a:latin typeface="Cambria Math" panose="02040503050406030204" pitchFamily="18" charset="0"/>
                        <a:ea typeface="楷体" panose="02010609060101010101" pitchFamily="49" charset="-122"/>
                      </a:rPr>
                      <m:t>=</m:t>
                    </m:r>
                    <m:r>
                      <a:rPr lang="en-US" altLang="zh-CN" sz="3200" i="1" smtClean="0">
                        <a:latin typeface="Cambria Math" panose="02040503050406030204" pitchFamily="18" charset="0"/>
                        <a:ea typeface="楷体" panose="02010609060101010101" pitchFamily="49" charset="-122"/>
                      </a:rPr>
                      <m:t>2</m:t>
                    </m:r>
                    <m:r>
                      <a:rPr lang="en-US" altLang="zh-CN" sz="3200" b="0" i="1" smtClean="0">
                        <a:latin typeface="Cambria Math" panose="02040503050406030204" pitchFamily="18" charset="0"/>
                        <a:ea typeface="楷体" panose="02010609060101010101" pitchFamily="49" charset="-122"/>
                      </a:rPr>
                      <m:t>𝑛𝑥𝑦</m:t>
                    </m:r>
                    <m:r>
                      <a:rPr lang="en-US" altLang="zh-CN" sz="3200" b="0" i="1" smtClean="0">
                        <a:latin typeface="Cambria Math" panose="02040503050406030204" pitchFamily="18" charset="0"/>
                        <a:ea typeface="楷体" panose="02010609060101010101" pitchFamily="49" charset="-122"/>
                      </a:rPr>
                      <m:t>,</m:t>
                    </m:r>
                    <m:sSub>
                      <m:sSubPr>
                        <m:ctrlPr>
                          <a:rPr lang="en-US" altLang="zh-CN" sz="3200" i="1">
                            <a:latin typeface="Cambria Math" panose="02040503050406030204" pitchFamily="18" charset="0"/>
                            <a:ea typeface="楷体" panose="02010609060101010101" pitchFamily="49" charset="-122"/>
                          </a:rPr>
                        </m:ctrlPr>
                      </m:sSubPr>
                      <m:e>
                        <m:r>
                          <a:rPr lang="en-US" altLang="zh-CN" sz="3200" i="1">
                            <a:latin typeface="Cambria Math" panose="02040503050406030204" pitchFamily="18" charset="0"/>
                            <a:ea typeface="楷体" panose="02010609060101010101" pitchFamily="49" charset="-122"/>
                          </a:rPr>
                          <m:t>𝑢</m:t>
                        </m:r>
                      </m:e>
                      <m:sub>
                        <m:r>
                          <a:rPr lang="en-US" altLang="zh-CN" sz="3200" b="0" i="1" smtClean="0">
                            <a:latin typeface="Cambria Math" panose="02040503050406030204" pitchFamily="18" charset="0"/>
                            <a:ea typeface="楷体" panose="02010609060101010101" pitchFamily="49" charset="-122"/>
                          </a:rPr>
                          <m:t>𝑦</m:t>
                        </m:r>
                      </m:sub>
                    </m:sSub>
                    <m:r>
                      <a:rPr lang="en-US" altLang="zh-CN" sz="3200" i="1">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3</m:t>
                    </m:r>
                    <m:r>
                      <a:rPr lang="en-US" altLang="zh-CN" sz="3200" b="0" i="1" smtClean="0">
                        <a:latin typeface="Cambria Math" panose="02040503050406030204" pitchFamily="18" charset="0"/>
                        <a:ea typeface="楷体" panose="02010609060101010101" pitchFamily="49" charset="-122"/>
                      </a:rPr>
                      <m:t>𝑚</m:t>
                    </m:r>
                    <m:sSup>
                      <m:sSupPr>
                        <m:ctrlPr>
                          <a:rPr lang="en-US" altLang="zh-CN" sz="3200" b="0" i="1" smtClean="0">
                            <a:latin typeface="Cambria Math" panose="02040503050406030204" pitchFamily="18" charset="0"/>
                            <a:ea typeface="楷体" panose="02010609060101010101" pitchFamily="49" charset="-122"/>
                          </a:rPr>
                        </m:ctrlPr>
                      </m:sSupPr>
                      <m:e>
                        <m:r>
                          <a:rPr lang="en-US" altLang="zh-CN" sz="3200" b="0" i="1" smtClean="0">
                            <a:latin typeface="Cambria Math" panose="02040503050406030204" pitchFamily="18" charset="0"/>
                            <a:ea typeface="楷体" panose="02010609060101010101" pitchFamily="49" charset="-122"/>
                          </a:rPr>
                          <m:t>𝑦</m:t>
                        </m:r>
                      </m:e>
                      <m:sup>
                        <m:r>
                          <a:rPr lang="en-US" altLang="zh-CN" sz="3200" b="0" i="1" smtClean="0">
                            <a:latin typeface="Cambria Math" panose="02040503050406030204" pitchFamily="18" charset="0"/>
                            <a:ea typeface="楷体" panose="02010609060101010101" pitchFamily="49" charset="-122"/>
                          </a:rPr>
                          <m:t>2</m:t>
                        </m:r>
                      </m:sup>
                    </m:sSup>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𝑛</m:t>
                    </m:r>
                    <m:sSup>
                      <m:sSupPr>
                        <m:ctrlPr>
                          <a:rPr lang="en-US" altLang="zh-CN" sz="3200" b="0" i="1" smtClean="0">
                            <a:latin typeface="Cambria Math" panose="02040503050406030204" pitchFamily="18" charset="0"/>
                            <a:ea typeface="楷体" panose="02010609060101010101" pitchFamily="49" charset="-122"/>
                          </a:rPr>
                        </m:ctrlPr>
                      </m:sSupPr>
                      <m:e>
                        <m:r>
                          <a:rPr lang="en-US" altLang="zh-CN" sz="3200" b="0" i="1" smtClean="0">
                            <a:latin typeface="Cambria Math" panose="02040503050406030204" pitchFamily="18" charset="0"/>
                            <a:ea typeface="楷体" panose="02010609060101010101" pitchFamily="49" charset="-122"/>
                          </a:rPr>
                          <m:t>𝑥</m:t>
                        </m:r>
                      </m:e>
                      <m:sup>
                        <m:r>
                          <a:rPr lang="en-US" altLang="zh-CN" sz="3200" b="0" i="1" smtClean="0">
                            <a:latin typeface="Cambria Math" panose="02040503050406030204" pitchFamily="18" charset="0"/>
                            <a:ea typeface="楷体" panose="02010609060101010101" pitchFamily="49" charset="-122"/>
                          </a:rPr>
                          <m:t>2</m:t>
                        </m:r>
                      </m:sup>
                    </m:sSup>
                  </m:oMath>
                </a14:m>
                <a:endParaRPr lang="en-US" altLang="zh-CN" sz="3200" b="0" dirty="0">
                  <a:latin typeface="Cambria Math" panose="02040503050406030204" pitchFamily="18" charset="0"/>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1285334" y="2261396"/>
                <a:ext cx="7622848" cy="673766"/>
              </a:xfrm>
              <a:prstGeom prst="rect">
                <a:avLst/>
              </a:prstGeom>
              <a:blipFill rotWithShape="1">
                <a:blip r:embed="rId3"/>
                <a:stretch>
                  <a:fillRect l="-1" t="-24" r="5"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3108279" y="2899065"/>
                <a:ext cx="5116508"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sSub>
                        <m:sSubPr>
                          <m:ctrlPr>
                            <a:rPr lang="en-US" altLang="zh-CN" sz="3200" b="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𝑣</m:t>
                          </m:r>
                        </m:e>
                        <m:sub>
                          <m:r>
                            <a:rPr lang="en-US" altLang="zh-CN" sz="3200" b="0" i="1" smtClean="0">
                              <a:latin typeface="Cambria Math" panose="02040503050406030204" pitchFamily="18" charset="0"/>
                              <a:ea typeface="楷体" panose="02010609060101010101" pitchFamily="49" charset="-122"/>
                            </a:rPr>
                            <m:t>𝑥</m:t>
                          </m:r>
                        </m:sub>
                      </m:sSub>
                      <m:r>
                        <a:rPr lang="en-US" altLang="zh-CN" sz="3200" i="1">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3</m:t>
                      </m:r>
                      <m:sSup>
                        <m:sSupPr>
                          <m:ctrlPr>
                            <a:rPr lang="en-US" altLang="zh-CN" sz="3200" b="0" i="1" smtClean="0">
                              <a:latin typeface="Cambria Math" panose="02040503050406030204" pitchFamily="18" charset="0"/>
                              <a:ea typeface="楷体" panose="02010609060101010101" pitchFamily="49" charset="-122"/>
                            </a:rPr>
                          </m:ctrlPr>
                        </m:sSupPr>
                        <m:e>
                          <m:r>
                            <a:rPr lang="en-US" altLang="zh-CN" sz="3200" b="0" i="1" smtClean="0">
                              <a:latin typeface="Cambria Math" panose="02040503050406030204" pitchFamily="18" charset="0"/>
                              <a:ea typeface="楷体" panose="02010609060101010101" pitchFamily="49" charset="-122"/>
                            </a:rPr>
                            <m:t>𝑥</m:t>
                          </m:r>
                        </m:e>
                        <m:sup>
                          <m:r>
                            <a:rPr lang="en-US" altLang="zh-CN" sz="3200" b="0" i="1" smtClean="0">
                              <a:latin typeface="Cambria Math" panose="02040503050406030204" pitchFamily="18" charset="0"/>
                              <a:ea typeface="楷体" panose="02010609060101010101" pitchFamily="49" charset="-122"/>
                            </a:rPr>
                            <m:t>2</m:t>
                          </m:r>
                        </m:sup>
                      </m:sSup>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𝑙</m:t>
                      </m:r>
                      <m:sSup>
                        <m:sSupPr>
                          <m:ctrlPr>
                            <a:rPr lang="en-US" altLang="zh-CN" sz="3200" b="0" i="1" smtClean="0">
                              <a:latin typeface="Cambria Math" panose="02040503050406030204" pitchFamily="18" charset="0"/>
                              <a:ea typeface="楷体" panose="02010609060101010101" pitchFamily="49" charset="-122"/>
                            </a:rPr>
                          </m:ctrlPr>
                        </m:sSupPr>
                        <m:e>
                          <m:r>
                            <a:rPr lang="en-US" altLang="zh-CN" sz="3200" b="0" i="1" smtClean="0">
                              <a:latin typeface="Cambria Math" panose="02040503050406030204" pitchFamily="18" charset="0"/>
                              <a:ea typeface="楷体" panose="02010609060101010101" pitchFamily="49" charset="-122"/>
                            </a:rPr>
                            <m:t>𝑦</m:t>
                          </m:r>
                        </m:e>
                        <m:sup>
                          <m:r>
                            <a:rPr lang="en-US" altLang="zh-CN" sz="3200" b="0" i="1" smtClean="0">
                              <a:latin typeface="Cambria Math" panose="02040503050406030204" pitchFamily="18" charset="0"/>
                              <a:ea typeface="楷体" panose="02010609060101010101" pitchFamily="49" charset="-122"/>
                            </a:rPr>
                            <m:t>2</m:t>
                          </m:r>
                        </m:sup>
                      </m:sSup>
                      <m:r>
                        <a:rPr lang="en-US" altLang="zh-CN" sz="3200" b="0" i="1" smtClean="0">
                          <a:latin typeface="Cambria Math" panose="02040503050406030204" pitchFamily="18" charset="0"/>
                          <a:ea typeface="楷体" panose="02010609060101010101" pitchFamily="49" charset="-122"/>
                        </a:rPr>
                        <m:t>,</m:t>
                      </m:r>
                      <m:sSub>
                        <m:sSubPr>
                          <m:ctrlPr>
                            <a:rPr lang="en-US" altLang="zh-CN" sz="3200" i="1">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𝑣</m:t>
                          </m:r>
                        </m:e>
                        <m:sub>
                          <m:r>
                            <a:rPr lang="en-US" altLang="zh-CN" sz="3200" b="0" i="1" smtClean="0">
                              <a:latin typeface="Cambria Math" panose="02040503050406030204" pitchFamily="18" charset="0"/>
                              <a:ea typeface="楷体" panose="02010609060101010101" pitchFamily="49" charset="-122"/>
                            </a:rPr>
                            <m:t>𝑦</m:t>
                          </m:r>
                        </m:sub>
                      </m:sSub>
                      <m:r>
                        <a:rPr lang="en-US" altLang="zh-CN" sz="3200" i="1">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2</m:t>
                      </m:r>
                      <m:r>
                        <a:rPr lang="en-US" altLang="zh-CN" sz="3200" b="0" i="1" smtClean="0">
                          <a:latin typeface="Cambria Math" panose="02040503050406030204" pitchFamily="18" charset="0"/>
                          <a:ea typeface="楷体" panose="02010609060101010101" pitchFamily="49" charset="-122"/>
                        </a:rPr>
                        <m:t>𝑙𝑥𝑦</m:t>
                      </m:r>
                    </m:oMath>
                  </m:oMathPara>
                </a14:m>
                <a:endParaRPr lang="en-US" altLang="zh-CN" sz="3200" b="0" dirty="0">
                  <a:latin typeface="Cambria Math" panose="02040503050406030204" pitchFamily="18" charset="0"/>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3108279" y="2899065"/>
                <a:ext cx="5116508" cy="673766"/>
              </a:xfrm>
              <a:prstGeom prst="rect">
                <a:avLst/>
              </a:prstGeom>
              <a:blipFill rotWithShape="1">
                <a:blip r:embed="rId4"/>
                <a:stretch>
                  <a:fillRect l="-12" t="-43" r="5"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839926" y="3480469"/>
                <a:ext cx="2129468"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𝑓</m:t>
                    </m:r>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𝑧</m:t>
                    </m:r>
                    <m:r>
                      <a:rPr lang="en-US" altLang="zh-CN" sz="3200" b="0" i="1" smtClean="0">
                        <a:latin typeface="Cambria Math" panose="02040503050406030204" pitchFamily="18" charset="0"/>
                        <a:ea typeface="Cambria Math" panose="02040503050406030204" pitchFamily="18" charset="0"/>
                      </a:rPr>
                      <m:t>)</m:t>
                    </m:r>
                  </m:oMath>
                </a14:m>
                <a:r>
                  <a:rPr lang="zh-CN" altLang="en-US" sz="3200" b="0" dirty="0">
                    <a:latin typeface="Cambria Math" panose="02040503050406030204" pitchFamily="18" charset="0"/>
                    <a:ea typeface="楷体" panose="02010609060101010101" pitchFamily="49" charset="-122"/>
                  </a:rPr>
                  <a:t>解析</a:t>
                </a:r>
                <a:endParaRPr lang="en-US" altLang="zh-CN" sz="3200" b="0" dirty="0">
                  <a:latin typeface="Cambria Math" panose="02040503050406030204" pitchFamily="18" charset="0"/>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839926" y="3480469"/>
                <a:ext cx="2129468" cy="673766"/>
              </a:xfrm>
              <a:prstGeom prst="rect">
                <a:avLst/>
              </a:prstGeom>
              <a:blipFill rotWithShape="1">
                <a:blip r:embed="rId5"/>
                <a:stretch>
                  <a:fillRect l="-21" t="-5" r="6"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2864440" y="3474986"/>
                <a:ext cx="3088785"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rPr>
                      <m:t>∴</m:t>
                    </m:r>
                  </m:oMath>
                </a14:m>
                <a:r>
                  <a:rPr lang="zh-CN" altLang="en-US" sz="3200" b="0" dirty="0">
                    <a:latin typeface="Cambria Math" panose="02040503050406030204" pitchFamily="18" charset="0"/>
                    <a:ea typeface="楷体" panose="02010609060101010101" pitchFamily="49" charset="-122"/>
                  </a:rPr>
                  <a:t>满足</a:t>
                </a:r>
                <a14:m>
                  <m:oMath xmlns:m="http://schemas.openxmlformats.org/officeDocument/2006/math">
                    <m:r>
                      <a:rPr lang="en-US" altLang="zh-CN" sz="3200" i="1">
                        <a:latin typeface="Cambria Math" panose="02040503050406030204" pitchFamily="18" charset="0"/>
                        <a:ea typeface="楷体" panose="02010609060101010101" pitchFamily="49" charset="-122"/>
                        <a:sym typeface="Wingdings" panose="05000000000000000000" pitchFamily="2" charset="2"/>
                      </a:rPr>
                      <m:t>𝐶</m:t>
                    </m:r>
                    <m:r>
                      <a:rPr lang="en-US" altLang="zh-CN" sz="3200" i="1">
                        <a:latin typeface="Cambria Math" panose="02040503050406030204" pitchFamily="18" charset="0"/>
                        <a:ea typeface="楷体" panose="02010609060101010101" pitchFamily="49" charset="-122"/>
                        <a:sym typeface="Wingdings" panose="05000000000000000000" pitchFamily="2" charset="2"/>
                      </a:rPr>
                      <m:t>−</m:t>
                    </m:r>
                    <m:r>
                      <a:rPr lang="en-US" altLang="zh-CN" sz="3200" i="1">
                        <a:latin typeface="Cambria Math" panose="02040503050406030204" pitchFamily="18" charset="0"/>
                        <a:ea typeface="楷体" panose="02010609060101010101" pitchFamily="49" charset="-122"/>
                        <a:sym typeface="Wingdings" panose="05000000000000000000" pitchFamily="2" charset="2"/>
                      </a:rPr>
                      <m:t>𝑅</m:t>
                    </m:r>
                  </m:oMath>
                </a14:m>
                <a:r>
                  <a:rPr lang="zh-CN" altLang="en-US" sz="3200" dirty="0">
                    <a:latin typeface="Cambria Math" panose="02040503050406030204" pitchFamily="18" charset="0"/>
                    <a:ea typeface="楷体" panose="02010609060101010101" pitchFamily="49" charset="-122"/>
                  </a:rPr>
                  <a:t>方程</a:t>
                </a:r>
                <a:endParaRPr lang="en-US" altLang="zh-CN" sz="3200" b="0" dirty="0">
                  <a:latin typeface="Cambria Math" panose="02040503050406030204" pitchFamily="18" charset="0"/>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2864440" y="3474986"/>
                <a:ext cx="3088785" cy="673766"/>
              </a:xfrm>
              <a:prstGeom prst="rect">
                <a:avLst/>
              </a:prstGeom>
              <a:blipFill rotWithShape="1">
                <a:blip r:embed="rId6"/>
                <a:stretch>
                  <a:fillRect l="-19" t="-39" r="3" b="4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839926" y="4112655"/>
                <a:ext cx="5238428"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b="0" dirty="0">
                    <a:latin typeface="Cambria Math" panose="02040503050406030204" pitchFamily="18" charset="0"/>
                    <a:ea typeface="楷体" panose="02010609060101010101" pitchFamily="49" charset="-122"/>
                  </a:rPr>
                  <a:t>即：</a:t>
                </a:r>
                <a:r>
                  <a:rPr lang="en-US" altLang="zh-CN" sz="3200" dirty="0">
                    <a:ea typeface="楷体" panose="02010609060101010101" pitchFamily="49" charset="-122"/>
                  </a:rPr>
                  <a:t> </a:t>
                </a:r>
                <a14:m>
                  <m:oMath xmlns:m="http://schemas.openxmlformats.org/officeDocument/2006/math">
                    <m:sSub>
                      <m:sSubPr>
                        <m:ctrlPr>
                          <a:rPr lang="en-US" altLang="zh-CN" sz="3200" i="1">
                            <a:latin typeface="Cambria Math" panose="02040503050406030204" pitchFamily="18" charset="0"/>
                            <a:ea typeface="楷体" panose="02010609060101010101" pitchFamily="49" charset="-122"/>
                          </a:rPr>
                        </m:ctrlPr>
                      </m:sSubPr>
                      <m:e>
                        <m:r>
                          <a:rPr lang="en-US" altLang="zh-CN" sz="3200" i="1">
                            <a:latin typeface="Cambria Math" panose="02040503050406030204" pitchFamily="18" charset="0"/>
                            <a:ea typeface="楷体" panose="02010609060101010101" pitchFamily="49" charset="-122"/>
                          </a:rPr>
                          <m:t>𝑢</m:t>
                        </m:r>
                      </m:e>
                      <m:sub>
                        <m:r>
                          <a:rPr lang="en-US" altLang="zh-CN" sz="3200" i="1">
                            <a:latin typeface="Cambria Math" panose="02040503050406030204" pitchFamily="18" charset="0"/>
                            <a:ea typeface="楷体" panose="02010609060101010101" pitchFamily="49" charset="-122"/>
                          </a:rPr>
                          <m:t>𝑥</m:t>
                        </m:r>
                      </m:sub>
                    </m:sSub>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2</m:t>
                    </m:r>
                    <m:r>
                      <a:rPr lang="en-US" altLang="zh-CN" sz="3200" i="1">
                        <a:latin typeface="Cambria Math" panose="02040503050406030204" pitchFamily="18" charset="0"/>
                        <a:ea typeface="楷体" panose="02010609060101010101" pitchFamily="49" charset="-122"/>
                      </a:rPr>
                      <m:t>𝑛𝑥𝑦</m:t>
                    </m:r>
                  </m:oMath>
                </a14:m>
                <a:r>
                  <a:rPr lang="en-US" altLang="zh-CN" sz="3200" b="0" dirty="0">
                    <a:latin typeface="Cambria Math" panose="02040503050406030204" pitchFamily="18" charset="0"/>
                    <a:ea typeface="楷体" panose="02010609060101010101" pitchFamily="49" charset="-122"/>
                  </a:rPr>
                  <a:t>=</a:t>
                </a:r>
                <a:r>
                  <a:rPr lang="en-US" altLang="zh-CN" sz="3200" dirty="0">
                    <a:ea typeface="楷体" panose="02010609060101010101" pitchFamily="49" charset="-122"/>
                  </a:rPr>
                  <a:t> </a:t>
                </a:r>
                <a14:m>
                  <m:oMath xmlns:m="http://schemas.openxmlformats.org/officeDocument/2006/math">
                    <m:r>
                      <a:rPr lang="en-US" altLang="zh-CN" sz="3200" i="1">
                        <a:latin typeface="Cambria Math" panose="02040503050406030204" pitchFamily="18" charset="0"/>
                        <a:ea typeface="楷体" panose="02010609060101010101" pitchFamily="49" charset="-122"/>
                      </a:rPr>
                      <m:t>2</m:t>
                    </m:r>
                    <m:r>
                      <a:rPr lang="en-US" altLang="zh-CN" sz="3200" i="1">
                        <a:latin typeface="Cambria Math" panose="02040503050406030204" pitchFamily="18" charset="0"/>
                        <a:ea typeface="楷体" panose="02010609060101010101" pitchFamily="49" charset="-122"/>
                      </a:rPr>
                      <m:t>𝑙𝑥𝑦</m:t>
                    </m:r>
                    <m:r>
                      <a:rPr lang="en-US" altLang="zh-CN" sz="3200" i="1" smtClean="0">
                        <a:latin typeface="Cambria Math" panose="02040503050406030204" pitchFamily="18" charset="0"/>
                        <a:ea typeface="楷体" panose="02010609060101010101" pitchFamily="49" charset="-122"/>
                      </a:rPr>
                      <m:t>=</m:t>
                    </m:r>
                    <m:sSub>
                      <m:sSubPr>
                        <m:ctrlPr>
                          <a:rPr lang="en-US" altLang="zh-CN" sz="3200" i="1">
                            <a:latin typeface="Cambria Math" panose="02040503050406030204" pitchFamily="18" charset="0"/>
                            <a:ea typeface="楷体" panose="02010609060101010101" pitchFamily="49" charset="-122"/>
                          </a:rPr>
                        </m:ctrlPr>
                      </m:sSubPr>
                      <m:e>
                        <m:r>
                          <a:rPr lang="en-US" altLang="zh-CN" sz="3200" i="1">
                            <a:latin typeface="Cambria Math" panose="02040503050406030204" pitchFamily="18" charset="0"/>
                            <a:ea typeface="楷体" panose="02010609060101010101" pitchFamily="49" charset="-122"/>
                          </a:rPr>
                          <m:t>𝑣</m:t>
                        </m:r>
                      </m:e>
                      <m:sub>
                        <m:r>
                          <a:rPr lang="en-US" altLang="zh-CN" sz="3200" i="1">
                            <a:latin typeface="Cambria Math" panose="02040503050406030204" pitchFamily="18" charset="0"/>
                            <a:ea typeface="楷体" panose="02010609060101010101" pitchFamily="49" charset="-122"/>
                          </a:rPr>
                          <m:t>𝑦</m:t>
                        </m:r>
                      </m:sub>
                    </m:sSub>
                  </m:oMath>
                </a14:m>
                <a:endParaRPr lang="en-US" altLang="zh-CN" sz="3200" b="0" dirty="0">
                  <a:latin typeface="Cambria Math" panose="02040503050406030204" pitchFamily="18" charset="0"/>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839926" y="4112655"/>
                <a:ext cx="5238428" cy="673766"/>
              </a:xfrm>
              <a:prstGeom prst="rect">
                <a:avLst/>
              </a:prstGeom>
              <a:blipFill rotWithShape="1">
                <a:blip r:embed="rId7"/>
                <a:stretch>
                  <a:fillRect l="-9" t="-59" r="3" b="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1634009" y="4649414"/>
                <a:ext cx="8065047"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en-US" altLang="zh-CN" sz="3200" dirty="0">
                    <a:ea typeface="楷体" panose="02010609060101010101" pitchFamily="49" charset="-122"/>
                  </a:rPr>
                  <a:t> </a:t>
                </a:r>
                <a14:m>
                  <m:oMath xmlns:m="http://schemas.openxmlformats.org/officeDocument/2006/math">
                    <m:sSub>
                      <m:sSubPr>
                        <m:ctrlPr>
                          <a:rPr lang="en-US" altLang="zh-CN" sz="3200" i="1">
                            <a:latin typeface="Cambria Math" panose="02040503050406030204" pitchFamily="18" charset="0"/>
                            <a:ea typeface="楷体" panose="02010609060101010101" pitchFamily="49" charset="-122"/>
                          </a:rPr>
                        </m:ctrlPr>
                      </m:sSubPr>
                      <m:e>
                        <m:r>
                          <a:rPr lang="en-US" altLang="zh-CN" sz="3200" i="1">
                            <a:latin typeface="Cambria Math" panose="02040503050406030204" pitchFamily="18" charset="0"/>
                            <a:ea typeface="楷体" panose="02010609060101010101" pitchFamily="49" charset="-122"/>
                          </a:rPr>
                          <m:t>𝑢</m:t>
                        </m:r>
                      </m:e>
                      <m:sub>
                        <m:r>
                          <a:rPr lang="en-US" altLang="zh-CN" sz="3200" i="1">
                            <a:latin typeface="Cambria Math" panose="02040503050406030204" pitchFamily="18" charset="0"/>
                            <a:ea typeface="楷体" panose="02010609060101010101" pitchFamily="49" charset="-122"/>
                          </a:rPr>
                          <m:t>𝑦</m:t>
                        </m:r>
                      </m:sub>
                    </m:sSub>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3</m:t>
                    </m:r>
                    <m:r>
                      <a:rPr lang="en-US" altLang="zh-CN" sz="3200" i="1">
                        <a:latin typeface="Cambria Math" panose="02040503050406030204" pitchFamily="18" charset="0"/>
                        <a:ea typeface="楷体" panose="02010609060101010101" pitchFamily="49" charset="-122"/>
                      </a:rPr>
                      <m:t>𝑚</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𝑦</m:t>
                        </m:r>
                      </m:e>
                      <m:sup>
                        <m:r>
                          <a:rPr lang="en-US" altLang="zh-CN" sz="3200" i="1">
                            <a:latin typeface="Cambria Math" panose="02040503050406030204" pitchFamily="18" charset="0"/>
                            <a:ea typeface="楷体" panose="02010609060101010101" pitchFamily="49" charset="-122"/>
                          </a:rPr>
                          <m:t>2</m:t>
                        </m:r>
                      </m:sup>
                    </m:sSup>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𝑛</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𝑥</m:t>
                        </m:r>
                      </m:e>
                      <m:sup>
                        <m:r>
                          <a:rPr lang="en-US" altLang="zh-CN" sz="3200" i="1">
                            <a:latin typeface="Cambria Math" panose="02040503050406030204" pitchFamily="18" charset="0"/>
                            <a:ea typeface="楷体" panose="02010609060101010101" pitchFamily="49" charset="-122"/>
                          </a:rPr>
                          <m:t>2</m:t>
                        </m:r>
                      </m:sup>
                    </m:sSup>
                    <m:r>
                      <a:rPr lang="en-US" altLang="zh-CN" sz="3200" i="1" smtClean="0">
                        <a:latin typeface="Cambria Math" panose="02040503050406030204" pitchFamily="18" charset="0"/>
                        <a:ea typeface="楷体" panose="02010609060101010101" pitchFamily="49" charset="-122"/>
                      </a:rPr>
                      <m:t>=</m:t>
                    </m:r>
                    <m:r>
                      <a:rPr lang="en-US" altLang="zh-CN" sz="3200" b="0" i="0" smtClean="0">
                        <a:latin typeface="Cambria Math" panose="02040503050406030204" pitchFamily="18" charset="0"/>
                        <a:ea typeface="楷体" panose="02010609060101010101" pitchFamily="49" charset="-122"/>
                      </a:rPr>
                      <m:t>−</m:t>
                    </m:r>
                    <m:d>
                      <m:dPr>
                        <m:ctrlPr>
                          <a:rPr lang="en-US" altLang="zh-CN" sz="3200" b="0" i="1" smtClean="0">
                            <a:latin typeface="Cambria Math" panose="02040503050406030204" pitchFamily="18" charset="0"/>
                            <a:ea typeface="楷体" panose="02010609060101010101" pitchFamily="49" charset="-122"/>
                          </a:rPr>
                        </m:ctrlPr>
                      </m:dPr>
                      <m:e>
                        <m:r>
                          <a:rPr lang="en-US" altLang="zh-CN" sz="3200" i="1">
                            <a:latin typeface="Cambria Math" panose="02040503050406030204" pitchFamily="18" charset="0"/>
                            <a:ea typeface="楷体" panose="02010609060101010101" pitchFamily="49" charset="-122"/>
                          </a:rPr>
                          <m:t>3</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𝑥</m:t>
                            </m:r>
                          </m:e>
                          <m:sup>
                            <m:r>
                              <a:rPr lang="en-US" altLang="zh-CN" sz="3200" i="1">
                                <a:latin typeface="Cambria Math" panose="02040503050406030204" pitchFamily="18" charset="0"/>
                                <a:ea typeface="楷体" panose="02010609060101010101" pitchFamily="49" charset="-122"/>
                              </a:rPr>
                              <m:t>2</m:t>
                            </m:r>
                          </m:sup>
                        </m:sSup>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𝑙</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𝑦</m:t>
                            </m:r>
                          </m:e>
                          <m:sup>
                            <m:r>
                              <a:rPr lang="en-US" altLang="zh-CN" sz="3200" i="1">
                                <a:latin typeface="Cambria Math" panose="02040503050406030204" pitchFamily="18" charset="0"/>
                                <a:ea typeface="楷体" panose="02010609060101010101" pitchFamily="49" charset="-122"/>
                              </a:rPr>
                              <m:t>2</m:t>
                            </m:r>
                          </m:sup>
                        </m:sSup>
                      </m:e>
                    </m:d>
                    <m:r>
                      <a:rPr lang="en-US" altLang="zh-CN" sz="3200" b="0" i="0" smtClean="0">
                        <a:latin typeface="Cambria Math" panose="02040503050406030204" pitchFamily="18" charset="0"/>
                        <a:ea typeface="楷体" panose="02010609060101010101" pitchFamily="49" charset="-122"/>
                      </a:rPr>
                      <m:t>=−</m:t>
                    </m:r>
                    <m:sSub>
                      <m:sSubPr>
                        <m:ctrlPr>
                          <a:rPr lang="en-US" altLang="zh-CN" sz="3200" i="1">
                            <a:latin typeface="Cambria Math" panose="02040503050406030204" pitchFamily="18" charset="0"/>
                            <a:ea typeface="楷体" panose="02010609060101010101" pitchFamily="49" charset="-122"/>
                          </a:rPr>
                        </m:ctrlPr>
                      </m:sSubPr>
                      <m:e>
                        <m:r>
                          <a:rPr lang="en-US" altLang="zh-CN" sz="3200" i="1">
                            <a:latin typeface="Cambria Math" panose="02040503050406030204" pitchFamily="18" charset="0"/>
                            <a:ea typeface="楷体" panose="02010609060101010101" pitchFamily="49" charset="-122"/>
                          </a:rPr>
                          <m:t>𝑣</m:t>
                        </m:r>
                      </m:e>
                      <m:sub>
                        <m:r>
                          <a:rPr lang="en-US" altLang="zh-CN" sz="3200" i="1">
                            <a:latin typeface="Cambria Math" panose="02040503050406030204" pitchFamily="18" charset="0"/>
                            <a:ea typeface="楷体" panose="02010609060101010101" pitchFamily="49" charset="-122"/>
                          </a:rPr>
                          <m:t>𝑥</m:t>
                        </m:r>
                      </m:sub>
                    </m:sSub>
                  </m:oMath>
                </a14:m>
                <a:endParaRPr lang="en-US" altLang="zh-CN" sz="3200" b="0" dirty="0">
                  <a:latin typeface="Cambria Math" panose="02040503050406030204" pitchFamily="18" charset="0"/>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1634009" y="4649414"/>
                <a:ext cx="8065047" cy="673766"/>
              </a:xfrm>
              <a:prstGeom prst="rect">
                <a:avLst/>
              </a:prstGeom>
              <a:blipFill rotWithShape="1">
                <a:blip r:embed="rId8"/>
                <a:stretch>
                  <a:fillRect l="-2" t="-86" r="1" b="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916404" y="5418607"/>
                <a:ext cx="3753919" cy="67376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𝑛</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𝑙</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3</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𝑚</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m:t>
                      </m:r>
                      <m:r>
                        <a:rPr lang="en-US" altLang="zh-CN" sz="3200" b="0" i="1" smtClean="0">
                          <a:latin typeface="Cambria Math" panose="02040503050406030204" pitchFamily="18" charset="0"/>
                          <a:ea typeface="楷体" panose="02010609060101010101" pitchFamily="49" charset="-122"/>
                          <a:sym typeface="Wingdings" panose="05000000000000000000" pitchFamily="2" charset="2"/>
                        </a:rPr>
                        <m:t>1</m:t>
                      </m:r>
                    </m:oMath>
                  </m:oMathPara>
                </a14:m>
                <a:endParaRPr lang="en-US" altLang="zh-CN" sz="3200" b="0" dirty="0">
                  <a:latin typeface="Cambria Math" panose="02040503050406030204" pitchFamily="18" charset="0"/>
                  <a:ea typeface="楷体" panose="02010609060101010101" pitchFamily="49" charset="-122"/>
                </a:endParaRPr>
              </a:p>
            </p:txBody>
          </p:sp>
        </mc:Choice>
        <mc:Fallback>
          <p:sp>
            <p:nvSpPr>
              <p:cNvPr id="19" name="标题 1"/>
              <p:cNvSpPr txBox="1">
                <a:spLocks noRot="1" noChangeAspect="1" noMove="1" noResize="1" noEditPoints="1" noAdjustHandles="1" noChangeArrowheads="1" noChangeShapeType="1" noTextEdit="1"/>
              </p:cNvSpPr>
              <p:nvPr/>
            </p:nvSpPr>
            <p:spPr>
              <a:xfrm>
                <a:off x="916404" y="5418607"/>
                <a:ext cx="3753919" cy="673766"/>
              </a:xfrm>
              <a:prstGeom prst="rect">
                <a:avLst/>
              </a:prstGeom>
              <a:blipFill rotWithShape="1">
                <a:blip r:embed="rId9"/>
                <a:stretch>
                  <a:fillRect l="-3" t="-23" r="14" b="2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12" grpId="0"/>
      <p:bldP spid="13" grpId="0"/>
      <p:bldP spid="14" grpId="0"/>
      <p:bldP spid="15" grpId="0"/>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标题 1"/>
              <p:cNvSpPr txBox="1"/>
              <p:nvPr/>
            </p:nvSpPr>
            <p:spPr>
              <a:xfrm>
                <a:off x="164829" y="557146"/>
                <a:ext cx="8618224" cy="6175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000" i="1">
                        <a:latin typeface="Cambria Math" panose="02040503050406030204" pitchFamily="18" charset="0"/>
                        <a:ea typeface="楷体" panose="02010609060101010101" pitchFamily="49" charset="-122"/>
                      </a:rPr>
                      <m:t>𝐸𝑔</m:t>
                    </m:r>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若</a:t>
                </a:r>
                <a14:m>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𝑓</m:t>
                        </m:r>
                      </m:e>
                      <m:sup>
                        <m:r>
                          <a:rPr lang="en-US" altLang="zh-CN" sz="3000" b="0" i="1" smtClean="0">
                            <a:latin typeface="Cambria Math" panose="02040503050406030204" pitchFamily="18" charset="0"/>
                            <a:ea typeface="楷体" panose="02010609060101010101" pitchFamily="49" charset="-122"/>
                          </a:rPr>
                          <m:t>′</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在</a:t>
                </a:r>
                <a:r>
                  <a:rPr lang="en-US" altLang="zh-CN" sz="3000" dirty="0">
                    <a:latin typeface="楷体" panose="02010609060101010101" pitchFamily="49" charset="-122"/>
                    <a:ea typeface="楷体" panose="02010609060101010101" pitchFamily="49" charset="-122"/>
                  </a:rPr>
                  <a:t>D</a:t>
                </a:r>
                <a:r>
                  <a:rPr lang="zh-CN" altLang="en-US" sz="3000" dirty="0">
                    <a:latin typeface="楷体" panose="02010609060101010101" pitchFamily="49" charset="-122"/>
                    <a:ea typeface="楷体" panose="02010609060101010101" pitchFamily="49" charset="-122"/>
                  </a:rPr>
                  <a:t>内处处为零，则</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在</a:t>
                </a:r>
                <a:r>
                  <a:rPr lang="en-US" altLang="zh-CN" sz="3000" dirty="0">
                    <a:latin typeface="楷体" panose="02010609060101010101" pitchFamily="49" charset="-122"/>
                    <a:ea typeface="楷体" panose="02010609060101010101" pitchFamily="49" charset="-122"/>
                  </a:rPr>
                  <a:t>D</a:t>
                </a:r>
                <a:r>
                  <a:rPr lang="zh-CN" altLang="en-US" sz="3000" dirty="0">
                    <a:latin typeface="楷体" panose="02010609060101010101" pitchFamily="49" charset="-122"/>
                    <a:ea typeface="楷体" panose="02010609060101010101" pitchFamily="49" charset="-122"/>
                  </a:rPr>
                  <a:t>内为一常数</a:t>
                </a:r>
                <a:r>
                  <a:rPr lang="zh-CN" altLang="en-US" sz="3200" dirty="0">
                    <a:latin typeface="楷体" panose="02010609060101010101" pitchFamily="49" charset="-122"/>
                    <a:ea typeface="楷体" panose="02010609060101010101" pitchFamily="49" charset="-122"/>
                  </a:rPr>
                  <a:t>。</a:t>
                </a:r>
                <a:endParaRPr lang="zh-CN" altLang="en-US" sz="32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164829" y="557146"/>
                <a:ext cx="8618224" cy="617501"/>
              </a:xfrm>
              <a:prstGeom prst="rect">
                <a:avLst/>
              </a:prstGeom>
              <a:blipFill rotWithShape="1">
                <a:blip r:embed="rId1"/>
                <a:stretch>
                  <a:fillRect l="-4" t="-41" r="-644" b="86"/>
                </a:stretch>
              </a:blipFill>
            </p:spPr>
            <p:txBody>
              <a:bodyPr/>
              <a:lstStyle/>
              <a:p>
                <a:r>
                  <a:rPr lang="zh-CN" altLang="en-US">
                    <a:noFill/>
                  </a:rPr>
                  <a:t> </a:t>
                </a:r>
              </a:p>
            </p:txBody>
          </p:sp>
        </mc:Fallback>
      </mc:AlternateContent>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标题 1"/>
              <p:cNvSpPr txBox="1"/>
              <p:nvPr/>
            </p:nvSpPr>
            <p:spPr>
              <a:xfrm>
                <a:off x="164829" y="1137870"/>
                <a:ext cx="6168594" cy="6175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𝑝𝑓</m:t>
                      </m:r>
                      <m:r>
                        <a:rPr lang="en-US" altLang="zh-CN" sz="3000" i="1">
                          <a:latin typeface="Cambria Math" panose="02040503050406030204" pitchFamily="18" charset="0"/>
                          <a:ea typeface="楷体" panose="02010609060101010101" pitchFamily="49" charset="-122"/>
                        </a:rPr>
                        <m:t>:</m:t>
                      </m:r>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𝑓</m:t>
                          </m:r>
                        </m:e>
                        <m:sup>
                          <m:r>
                            <a:rPr lang="en-US" altLang="zh-CN" sz="3000" b="0" i="1" smtClean="0">
                              <a:latin typeface="Cambria Math" panose="02040503050406030204" pitchFamily="18" charset="0"/>
                              <a:ea typeface="楷体" panose="02010609060101010101" pitchFamily="49" charset="-122"/>
                            </a:rPr>
                            <m:t>′</m:t>
                          </m:r>
                        </m:sup>
                      </m:sSup>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oMath>
                  </m:oMathPara>
                </a14:m>
                <a:endParaRPr lang="zh-CN" altLang="en-US" sz="32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164829" y="1137870"/>
                <a:ext cx="6168594" cy="617501"/>
              </a:xfrm>
              <a:prstGeom prst="rect">
                <a:avLst/>
              </a:prstGeom>
              <a:blipFill rotWithShape="1">
                <a:blip r:embed="rId2"/>
                <a:stretch>
                  <a:fillRect l="-6" t="-95" r="9"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735928" y="1867786"/>
                <a:ext cx="5202859" cy="6175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r>
                        <a:rPr lang="en-US" altLang="zh-CN" sz="3000" b="0" i="1" smtClean="0">
                          <a:latin typeface="Cambria Math" panose="02040503050406030204" pitchFamily="18" charset="0"/>
                          <a:ea typeface="楷体" panose="02010609060101010101" pitchFamily="49" charset="-122"/>
                        </a:rPr>
                        <m:t>,</m:t>
                      </m:r>
                      <m:sSub>
                        <m:sSubPr>
                          <m:ctrlPr>
                            <a:rPr lang="en-US" altLang="zh-CN" sz="3200" i="1">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𝑣</m:t>
                          </m:r>
                        </m:e>
                        <m:sub>
                          <m:r>
                            <a:rPr lang="en-US" altLang="zh-CN" sz="3200" i="1">
                              <a:latin typeface="Cambria Math" panose="02040503050406030204" pitchFamily="18" charset="0"/>
                              <a:ea typeface="楷体" panose="02010609060101010101" pitchFamily="49" charset="-122"/>
                            </a:rPr>
                            <m:t>𝑥</m:t>
                          </m:r>
                        </m:sub>
                      </m:sSub>
                      <m:r>
                        <a:rPr lang="en-US" altLang="zh-CN" sz="3200" i="1">
                          <a:latin typeface="Cambria Math" panose="02040503050406030204" pitchFamily="18" charset="0"/>
                          <a:ea typeface="楷体" panose="02010609060101010101" pitchFamily="49" charset="-122"/>
                        </a:rPr>
                        <m:t>=</m:t>
                      </m:r>
                      <m:sSub>
                        <m:sSubPr>
                          <m:ctrlPr>
                            <a:rPr lang="en-US" altLang="zh-CN" sz="3200" i="1">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𝑣</m:t>
                          </m:r>
                        </m:e>
                        <m:sub>
                          <m:r>
                            <a:rPr lang="en-US" altLang="zh-CN" sz="3200" i="1">
                              <a:latin typeface="Cambria Math" panose="02040503050406030204" pitchFamily="18" charset="0"/>
                              <a:ea typeface="楷体" panose="02010609060101010101" pitchFamily="49" charset="-122"/>
                            </a:rPr>
                            <m:t>𝑦</m:t>
                          </m:r>
                        </m:sub>
                      </m:sSub>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0</m:t>
                      </m:r>
                    </m:oMath>
                  </m:oMathPara>
                </a14:m>
                <a:endParaRPr lang="zh-CN" altLang="en-US" sz="32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735928" y="1867786"/>
                <a:ext cx="5202859" cy="617501"/>
              </a:xfrm>
              <a:prstGeom prst="rect">
                <a:avLst/>
              </a:prstGeom>
              <a:blipFill rotWithShape="1">
                <a:blip r:embed="rId3"/>
                <a:stretch>
                  <a:fillRect l="-11" t="-41" r="5" b="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769617" y="2523788"/>
                <a:ext cx="7089411" cy="6175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dirty="0">
                    <a:latin typeface="楷体" panose="02010609060101010101" pitchFamily="49" charset="-122"/>
                    <a:ea typeface="楷体" panose="02010609060101010101" pitchFamily="49" charset="-122"/>
                  </a:rPr>
                  <a:t>表示函数</a:t>
                </a:r>
                <a14:m>
                  <m:oMath xmlns:m="http://schemas.openxmlformats.org/officeDocument/2006/math">
                    <m:r>
                      <a:rPr lang="en-US" altLang="zh-CN" sz="3200" i="1">
                        <a:latin typeface="Cambria Math" panose="02040503050406030204" pitchFamily="18" charset="0"/>
                        <a:ea typeface="楷体" panose="02010609060101010101" pitchFamily="49" charset="-122"/>
                      </a:rPr>
                      <m:t>𝑢</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𝑣</m:t>
                    </m:r>
                  </m:oMath>
                </a14:m>
                <a:r>
                  <a:rPr lang="zh-CN" altLang="en-US" sz="3200" dirty="0">
                    <a:latin typeface="楷体" panose="02010609060101010101" pitchFamily="49" charset="-122"/>
                    <a:ea typeface="楷体" panose="02010609060101010101" pitchFamily="49" charset="-122"/>
                  </a:rPr>
                  <a:t>和变量</a:t>
                </a:r>
                <a14:m>
                  <m:oMath xmlns:m="http://schemas.openxmlformats.org/officeDocument/2006/math">
                    <m:r>
                      <a:rPr lang="en-US" altLang="zh-CN" sz="3200" b="0" i="1" smtClean="0">
                        <a:latin typeface="Cambria Math" panose="02040503050406030204" pitchFamily="18" charset="0"/>
                        <a:ea typeface="楷体" panose="02010609060101010101" pitchFamily="49" charset="-122"/>
                      </a:rPr>
                      <m:t>𝑥</m:t>
                    </m:r>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𝑦</m:t>
                    </m:r>
                  </m:oMath>
                </a14:m>
                <a:r>
                  <a:rPr lang="zh-CN" altLang="en-US" sz="3200" dirty="0">
                    <a:latin typeface="楷体" panose="02010609060101010101" pitchFamily="49" charset="-122"/>
                    <a:ea typeface="楷体" panose="02010609060101010101" pitchFamily="49" charset="-122"/>
                  </a:rPr>
                  <a:t>之间没有关系</a:t>
                </a:r>
                <a:endParaRPr lang="zh-CN" altLang="en-US" sz="32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769617" y="2523788"/>
                <a:ext cx="7089411" cy="617501"/>
              </a:xfrm>
              <a:prstGeom prst="rect">
                <a:avLst/>
              </a:prstGeom>
              <a:blipFill rotWithShape="1">
                <a:blip r:embed="rId4"/>
                <a:stretch>
                  <a:fillRect l="-9" t="-48" r="4" b="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735928" y="3292205"/>
                <a:ext cx="3369247" cy="6175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i="1" smtClean="0">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楷体" panose="02010609060101010101" pitchFamily="49" charset="-122"/>
                        </a:rPr>
                        <m:t>𝑢</m:t>
                      </m:r>
                      <m:r>
                        <a:rPr lang="en-US" altLang="zh-CN" sz="3200" i="1" smtClean="0">
                          <a:latin typeface="Cambria Math" panose="02040503050406030204" pitchFamily="18" charset="0"/>
                          <a:ea typeface="楷体" panose="02010609060101010101" pitchFamily="49" charset="-122"/>
                        </a:rPr>
                        <m:t>=</m:t>
                      </m:r>
                      <m:sSub>
                        <m:sSubPr>
                          <m:ctrlPr>
                            <a:rPr lang="en-US" altLang="zh-CN" sz="320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𝐶</m:t>
                          </m:r>
                        </m:e>
                        <m:sub>
                          <m:r>
                            <a:rPr lang="en-US" altLang="zh-CN" sz="3200" b="0" i="1" smtClean="0">
                              <a:latin typeface="Cambria Math" panose="02040503050406030204" pitchFamily="18" charset="0"/>
                              <a:ea typeface="楷体" panose="02010609060101010101" pitchFamily="49" charset="-122"/>
                            </a:rPr>
                            <m:t>1</m:t>
                          </m:r>
                        </m:sub>
                      </m:sSub>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𝑣</m:t>
                      </m:r>
                      <m:r>
                        <a:rPr lang="en-US" altLang="zh-CN" sz="3200" b="0" i="1" smtClean="0">
                          <a:latin typeface="Cambria Math" panose="02040503050406030204" pitchFamily="18" charset="0"/>
                          <a:ea typeface="楷体" panose="02010609060101010101" pitchFamily="49" charset="-122"/>
                        </a:rPr>
                        <m:t>=</m:t>
                      </m:r>
                      <m:sSub>
                        <m:sSubPr>
                          <m:ctrlPr>
                            <a:rPr lang="en-US" altLang="zh-CN" sz="3200" b="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𝐶</m:t>
                          </m:r>
                        </m:e>
                        <m:sub>
                          <m:r>
                            <a:rPr lang="en-US" altLang="zh-CN" sz="3200" b="0" i="1" smtClean="0">
                              <a:latin typeface="Cambria Math" panose="02040503050406030204" pitchFamily="18" charset="0"/>
                              <a:ea typeface="楷体" panose="02010609060101010101" pitchFamily="49" charset="-122"/>
                            </a:rPr>
                            <m:t>2</m:t>
                          </m:r>
                        </m:sub>
                      </m:sSub>
                    </m:oMath>
                  </m:oMathPara>
                </a14:m>
                <a:endParaRPr lang="zh-CN" altLang="en-US" sz="32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735928" y="3292205"/>
                <a:ext cx="3369247" cy="617501"/>
              </a:xfrm>
              <a:prstGeom prst="rect">
                <a:avLst/>
              </a:prstGeom>
              <a:blipFill rotWithShape="1">
                <a:blip r:embed="rId5"/>
                <a:stretch>
                  <a:fillRect l="-18" t="-59" r="16"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735927" y="3948207"/>
                <a:ext cx="4365462" cy="6175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𝑓</m:t>
                      </m:r>
                      <m:d>
                        <m:dPr>
                          <m:ctrlPr>
                            <a:rPr lang="en-US" altLang="zh-CN" sz="3200" b="0" i="1" smtClean="0">
                              <a:latin typeface="Cambria Math" panose="02040503050406030204" pitchFamily="18" charset="0"/>
                              <a:ea typeface="Cambria Math" panose="02040503050406030204" pitchFamily="18" charset="0"/>
                            </a:rPr>
                          </m:ctrlPr>
                        </m:dPr>
                        <m:e>
                          <m:r>
                            <a:rPr lang="en-US" altLang="zh-CN" sz="3200" b="0" i="1" smtClean="0">
                              <a:latin typeface="Cambria Math" panose="02040503050406030204" pitchFamily="18" charset="0"/>
                              <a:ea typeface="Cambria Math" panose="02040503050406030204" pitchFamily="18" charset="0"/>
                            </a:rPr>
                            <m:t>𝑧</m:t>
                          </m:r>
                        </m:e>
                      </m:d>
                      <m:r>
                        <a:rPr lang="en-US" altLang="zh-CN" sz="3200" i="1" smtClean="0">
                          <a:latin typeface="Cambria Math" panose="02040503050406030204" pitchFamily="18" charset="0"/>
                          <a:ea typeface="楷体" panose="02010609060101010101" pitchFamily="49" charset="-122"/>
                        </a:rPr>
                        <m:t>=</m:t>
                      </m:r>
                      <m:sSub>
                        <m:sSubPr>
                          <m:ctrlPr>
                            <a:rPr lang="en-US" altLang="zh-CN" sz="320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𝐶</m:t>
                          </m:r>
                        </m:e>
                        <m:sub>
                          <m:r>
                            <a:rPr lang="en-US" altLang="zh-CN" sz="3200" b="0" i="1" smtClean="0">
                              <a:latin typeface="Cambria Math" panose="02040503050406030204" pitchFamily="18" charset="0"/>
                              <a:ea typeface="楷体" panose="02010609060101010101" pitchFamily="49" charset="-122"/>
                            </a:rPr>
                            <m:t>1</m:t>
                          </m:r>
                        </m:sub>
                      </m:sSub>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𝑖</m:t>
                      </m:r>
                      <m:sSub>
                        <m:sSubPr>
                          <m:ctrlPr>
                            <a:rPr lang="en-US" altLang="zh-CN" sz="3200" b="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𝐶</m:t>
                          </m:r>
                        </m:e>
                        <m:sub>
                          <m:r>
                            <a:rPr lang="en-US" altLang="zh-CN" sz="3200" b="0" i="1" smtClean="0">
                              <a:latin typeface="Cambria Math" panose="02040503050406030204" pitchFamily="18" charset="0"/>
                              <a:ea typeface="楷体" panose="02010609060101010101" pitchFamily="49" charset="-122"/>
                            </a:rPr>
                            <m:t>2</m:t>
                          </m:r>
                        </m:sub>
                      </m:sSub>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𝐶</m:t>
                      </m:r>
                    </m:oMath>
                  </m:oMathPara>
                </a14:m>
                <a:endParaRPr lang="zh-CN" altLang="en-US" sz="32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735927" y="3948207"/>
                <a:ext cx="4365462" cy="617501"/>
              </a:xfrm>
              <a:prstGeom prst="rect">
                <a:avLst/>
              </a:prstGeom>
              <a:blipFill rotWithShape="1">
                <a:blip r:embed="rId6"/>
                <a:stretch>
                  <a:fillRect l="-14" t="-67" r="10" b="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标题 1"/>
              <p:cNvSpPr txBox="1"/>
              <p:nvPr/>
            </p:nvSpPr>
            <p:spPr>
              <a:xfrm>
                <a:off x="163980" y="798734"/>
                <a:ext cx="8893393"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000" i="1">
                        <a:latin typeface="Cambria Math" panose="02040503050406030204" pitchFamily="18" charset="0"/>
                        <a:ea typeface="楷体" panose="02010609060101010101" pitchFamily="49" charset="-122"/>
                      </a:rPr>
                      <m:t>𝐸𝑔</m:t>
                    </m:r>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设</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在</a:t>
                </a:r>
                <a:r>
                  <a:rPr lang="en-US" altLang="zh-CN" sz="3000" dirty="0">
                    <a:latin typeface="楷体" panose="02010609060101010101" pitchFamily="49" charset="-122"/>
                    <a:ea typeface="楷体" panose="02010609060101010101" pitchFamily="49" charset="-122"/>
                  </a:rPr>
                  <a:t>D</a:t>
                </a:r>
                <a:r>
                  <a:rPr lang="zh-CN" altLang="en-US" sz="3000" dirty="0">
                    <a:latin typeface="楷体" panose="02010609060101010101" pitchFamily="49" charset="-122"/>
                    <a:ea typeface="楷体" panose="02010609060101010101" pitchFamily="49" charset="-122"/>
                  </a:rPr>
                  <a:t>内解析且</a:t>
                </a:r>
                <a14:m>
                  <m:oMath xmlns:m="http://schemas.openxmlformats.org/officeDocument/2006/math">
                    <m:d>
                      <m:dPr>
                        <m:begChr m:val="|"/>
                        <m:endChr m:val="|"/>
                        <m:ctrlPr>
                          <a:rPr lang="en-US" altLang="zh-CN" sz="300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e>
                    </m:d>
                  </m:oMath>
                </a14:m>
                <a:r>
                  <a:rPr lang="zh-CN" altLang="en-US" sz="3000" dirty="0">
                    <a:latin typeface="楷体" panose="02010609060101010101" pitchFamily="49" charset="-122"/>
                    <a:ea typeface="楷体" panose="02010609060101010101" pitchFamily="49" charset="-122"/>
                  </a:rPr>
                  <a:t>为常数</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则</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是</a:t>
                </a:r>
                <a:r>
                  <a:rPr lang="en-US" altLang="zh-CN" sz="3000" dirty="0">
                    <a:latin typeface="楷体" panose="02010609060101010101" pitchFamily="49" charset="-122"/>
                    <a:ea typeface="楷体" panose="02010609060101010101" pitchFamily="49" charset="-122"/>
                  </a:rPr>
                  <a:t>D</a:t>
                </a:r>
                <a:r>
                  <a:rPr lang="zh-CN" altLang="en-US" sz="3000" dirty="0">
                    <a:latin typeface="楷体" panose="02010609060101010101" pitchFamily="49" charset="-122"/>
                    <a:ea typeface="楷体" panose="02010609060101010101" pitchFamily="49" charset="-122"/>
                  </a:rPr>
                  <a:t>内的常值函数。</a:t>
                </a:r>
                <a:endParaRPr lang="zh-CN" altLang="en-US"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163980" y="798734"/>
                <a:ext cx="8893393" cy="617220"/>
              </a:xfrm>
              <a:prstGeom prst="rect">
                <a:avLst/>
              </a:prstGeom>
              <a:blipFill rotWithShape="1">
                <a:blip r:embed="rId1"/>
                <a:stretch>
                  <a:fillRect l="-2" t="-31466" r="4" b="-31497"/>
                </a:stretch>
              </a:blipFill>
            </p:spPr>
            <p:txBody>
              <a:bodyPr/>
              <a:lstStyle/>
              <a:p>
                <a:r>
                  <a:rPr lang="zh-CN" altLang="en-US">
                    <a:noFill/>
                  </a:rPr>
                  <a:t> </a:t>
                </a:r>
              </a:p>
            </p:txBody>
          </p:sp>
        </mc:Fallback>
      </mc:AlternateContent>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标题 1"/>
              <p:cNvSpPr txBox="1"/>
              <p:nvPr/>
            </p:nvSpPr>
            <p:spPr>
              <a:xfrm>
                <a:off x="240982" y="1573924"/>
                <a:ext cx="8662035"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𝑝𝑓</m:t>
                    </m:r>
                    <m:r>
                      <a:rPr lang="en-US" altLang="zh-CN" sz="3000" i="1">
                        <a:latin typeface="Cambria Math" panose="02040503050406030204" pitchFamily="18" charset="0"/>
                        <a:ea typeface="楷体" panose="02010609060101010101" pitchFamily="49" charset="-122"/>
                      </a:rPr>
                      <m:t>:</m:t>
                    </m:r>
                    <m:d>
                      <m:dPr>
                        <m:begChr m:val="|"/>
                        <m:endChr m:val="|"/>
                        <m:ctrlPr>
                          <a:rPr lang="en-US" altLang="zh-CN" sz="300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e>
                    </m:d>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𝑀</m:t>
                    </m:r>
                  </m:oMath>
                </a14:m>
                <a:r>
                  <a:rPr lang="zh-CN" altLang="en-US" sz="3000" dirty="0">
                    <a:latin typeface="楷体" panose="02010609060101010101" pitchFamily="49" charset="-122"/>
                    <a:ea typeface="楷体" panose="02010609060101010101" pitchFamily="49" charset="-122"/>
                  </a:rPr>
                  <a:t>。若</a:t>
                </a:r>
                <a14:m>
                  <m:oMath xmlns:m="http://schemas.openxmlformats.org/officeDocument/2006/math">
                    <m:r>
                      <a:rPr lang="en-US" altLang="zh-CN" sz="3000" i="1">
                        <a:latin typeface="Cambria Math" panose="02040503050406030204" pitchFamily="18" charset="0"/>
                        <a:ea typeface="楷体" panose="02010609060101010101" pitchFamily="49" charset="-122"/>
                      </a:rPr>
                      <m:t>𝑀</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显然</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m:rPr>
                            <m:sty m:val="p"/>
                          </m:rPr>
                          <a:rPr lang="en-US" altLang="zh-CN" sz="3000" b="0" i="0" smtClean="0">
                            <a:latin typeface="Cambria Math" panose="02040503050406030204" pitchFamily="18" charset="0"/>
                            <a:ea typeface="楷体" panose="02010609060101010101" pitchFamily="49" charset="-122"/>
                          </a:rPr>
                          <m:t>z</m:t>
                        </m:r>
                      </m:e>
                    </m:d>
                    <m:r>
                      <a:rPr lang="en-US" altLang="zh-CN" sz="3000" b="0" i="0" smtClean="0">
                        <a:latin typeface="Cambria Math" panose="02040503050406030204" pitchFamily="18" charset="0"/>
                        <a:ea typeface="楷体" panose="02010609060101010101" pitchFamily="49" charset="-122"/>
                      </a:rPr>
                      <m:t>=</m:t>
                    </m:r>
                    <m:r>
                      <a:rPr lang="en-US" altLang="zh-CN" sz="3000" b="0" i="0" smtClean="0">
                        <a:latin typeface="Cambria Math" panose="02040503050406030204" pitchFamily="18" charset="0"/>
                        <a:ea typeface="楷体" panose="02010609060101010101" pitchFamily="49" charset="-122"/>
                      </a:rPr>
                      <m:t>0</m:t>
                    </m:r>
                  </m:oMath>
                </a14:m>
                <a:endParaRPr lang="zh-CN" altLang="en-US"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240982" y="1573924"/>
                <a:ext cx="8662035" cy="617220"/>
              </a:xfrm>
              <a:prstGeom prst="rect">
                <a:avLst/>
              </a:prstGeom>
              <a:blipFill rotWithShape="1">
                <a:blip r:embed="rId2"/>
                <a:stretch>
                  <a:fillRect l="-4" t="-64" r="4" b="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828734" y="2191144"/>
                <a:ext cx="5996189"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若</a:t>
                </a:r>
                <a14:m>
                  <m:oMath xmlns:m="http://schemas.openxmlformats.org/officeDocument/2006/math">
                    <m:r>
                      <a:rPr lang="en-US" altLang="zh-CN" sz="3000" i="1">
                        <a:latin typeface="Cambria Math" panose="02040503050406030204" pitchFamily="18" charset="0"/>
                        <a:ea typeface="楷体" panose="02010609060101010101" pitchFamily="49" charset="-122"/>
                      </a:rPr>
                      <m:t>𝑀</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oMath>
                </a14:m>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sSup>
                      <m:sSupPr>
                        <m:ctrlPr>
                          <a:rPr lang="en-US" altLang="zh-CN" sz="3000" b="0" i="1" smtClean="0">
                            <a:latin typeface="Cambria Math" panose="02040503050406030204" pitchFamily="18" charset="0"/>
                            <a:ea typeface="楷体" panose="02010609060101010101" pitchFamily="49" charset="-122"/>
                          </a:rPr>
                        </m:ctrlPr>
                      </m:sSupPr>
                      <m:e>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e>
                        </m:d>
                      </m:e>
                      <m:sup>
                        <m:r>
                          <a:rPr lang="en-US" altLang="zh-CN" sz="3000" i="1">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𝑢</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𝑣</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𝑀</m:t>
                        </m:r>
                      </m:e>
                      <m:sup>
                        <m:r>
                          <a:rPr lang="en-US" altLang="zh-CN" sz="3000" b="0" i="1" smtClean="0">
                            <a:latin typeface="Cambria Math" panose="02040503050406030204" pitchFamily="18" charset="0"/>
                            <a:ea typeface="楷体" panose="02010609060101010101" pitchFamily="49" charset="-122"/>
                          </a:rPr>
                          <m:t>2</m:t>
                        </m:r>
                      </m:sup>
                    </m:sSup>
                  </m:oMath>
                </a14:m>
                <a:endParaRPr lang="zh-CN" altLang="en-US"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828734" y="2191144"/>
                <a:ext cx="5996189" cy="617220"/>
              </a:xfrm>
              <a:prstGeom prst="rect">
                <a:avLst/>
              </a:prstGeom>
              <a:blipFill rotWithShape="1">
                <a:blip r:embed="rId3"/>
                <a:stretch>
                  <a:fillRect l="-1" t="-64" r="10" b="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802228" y="2829921"/>
                <a:ext cx="6953903"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上式两边分别关于</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oMath>
                </a14:m>
                <a:r>
                  <a:rPr lang="zh-CN" altLang="en-US" sz="3000" dirty="0">
                    <a:latin typeface="楷体" panose="02010609060101010101" pitchFamily="49" charset="-122"/>
                    <a:ea typeface="楷体" panose="02010609060101010101" pitchFamily="49" charset="-122"/>
                  </a:rPr>
                  <a:t>求偏导，有：</a:t>
                </a:r>
                <a:endParaRPr lang="zh-CN" altLang="en-US"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802228" y="2829921"/>
                <a:ext cx="6953903" cy="617220"/>
              </a:xfrm>
              <a:prstGeom prst="rect">
                <a:avLst/>
              </a:prstGeom>
              <a:blipFill rotWithShape="1">
                <a:blip r:embed="rId4"/>
                <a:stretch>
                  <a:fillRect l="-3" t="-58" r="3"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586047" y="3691867"/>
                <a:ext cx="3413411" cy="101165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𝑢</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𝑣</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oMath>
                  </m:oMathPara>
                </a14:m>
                <a:endParaRPr lang="en-US" altLang="zh-CN" sz="3000" b="0" dirty="0">
                  <a:latin typeface="楷体" panose="02010609060101010101" pitchFamily="49" charset="-122"/>
                  <a:ea typeface="楷体" panose="02010609060101010101" pitchFamily="49" charset="-122"/>
                </a:endParaRPr>
              </a:p>
              <a:p>
                <a:pPr>
                  <a:lnSpc>
                    <a:spcPct val="110000"/>
                  </a:lnSpc>
                </a:pPr>
                <a14:m>
                  <m:oMathPara xmlns:m="http://schemas.openxmlformats.org/officeDocument/2006/math">
                    <m:oMathParaPr>
                      <m:jc m:val="centerGroup"/>
                    </m:oMathParaPr>
                    <m:oMath xmlns:m="http://schemas.openxmlformats.org/officeDocument/2006/math">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𝑢</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𝑣</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oMath>
                  </m:oMathPara>
                </a14:m>
                <a:endParaRPr lang="en-US" altLang="zh-CN" sz="3000" dirty="0">
                  <a:latin typeface="楷体" panose="02010609060101010101" pitchFamily="49" charset="-122"/>
                  <a:ea typeface="楷体" panose="02010609060101010101" pitchFamily="49" charset="-122"/>
                </a:endParaRPr>
              </a:p>
              <a:p>
                <a:pPr fontAlgn="auto">
                  <a:lnSpc>
                    <a:spcPct val="110000"/>
                  </a:lnSpc>
                </a:pPr>
                <a:endParaRPr lang="zh-CN" altLang="en-US"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586047" y="3691867"/>
                <a:ext cx="3413411" cy="1011653"/>
              </a:xfrm>
              <a:prstGeom prst="rect">
                <a:avLst/>
              </a:prstGeom>
              <a:blipFill rotWithShape="1">
                <a:blip r:embed="rId5"/>
                <a:stretch>
                  <a:fillRect l="-17" t="-23410" r="7" b="-234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3615550" y="3652978"/>
                <a:ext cx="1051387" cy="33147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2000" b="0" i="1" smtClean="0">
                          <a:solidFill>
                            <a:srgbClr val="FF0000"/>
                          </a:solidFill>
                          <a:latin typeface="Cambria Math" panose="02040503050406030204" pitchFamily="18" charset="0"/>
                          <a:ea typeface="楷体" panose="02010609060101010101" pitchFamily="49" charset="-122"/>
                        </a:rPr>
                        <m:t>𝐶</m:t>
                      </m:r>
                      <m:r>
                        <a:rPr lang="en-US" altLang="zh-CN" sz="2000" b="0" i="1" smtClean="0">
                          <a:solidFill>
                            <a:srgbClr val="FF0000"/>
                          </a:solidFill>
                          <a:latin typeface="Cambria Math" panose="02040503050406030204" pitchFamily="18" charset="0"/>
                          <a:ea typeface="楷体" panose="02010609060101010101" pitchFamily="49" charset="-122"/>
                        </a:rPr>
                        <m:t>−</m:t>
                      </m:r>
                      <m:r>
                        <a:rPr lang="en-US" altLang="zh-CN" sz="2000" b="0" i="1" smtClean="0">
                          <a:solidFill>
                            <a:srgbClr val="FF0000"/>
                          </a:solidFill>
                          <a:latin typeface="Cambria Math" panose="02040503050406030204" pitchFamily="18" charset="0"/>
                          <a:ea typeface="楷体" panose="02010609060101010101" pitchFamily="49" charset="-122"/>
                        </a:rPr>
                        <m:t>𝑅</m:t>
                      </m:r>
                    </m:oMath>
                  </m:oMathPara>
                </a14:m>
                <a:endParaRPr lang="zh-CN" altLang="en-US" sz="2000" dirty="0">
                  <a:solidFill>
                    <a:srgbClr val="FF0000"/>
                  </a:solidFill>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3615550" y="3652978"/>
                <a:ext cx="1051387" cy="331471"/>
              </a:xfrm>
              <a:prstGeom prst="rect">
                <a:avLst/>
              </a:prstGeom>
              <a:blipFill rotWithShape="1">
                <a:blip r:embed="rId6"/>
                <a:stretch>
                  <a:fillRect l="-47" t="-521" r="31" b="-6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3615551" y="3920183"/>
                <a:ext cx="1051387" cy="33147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3615551" y="3920183"/>
                <a:ext cx="1051387" cy="331471"/>
              </a:xfrm>
              <a:prstGeom prst="rect">
                <a:avLst/>
              </a:prstGeom>
              <a:blipFill rotWithShape="1">
                <a:blip r:embed="rId7"/>
                <a:stretch>
                  <a:fillRect l="-47" t="-25769" r="31" b="-2595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4411952" y="3758703"/>
                <a:ext cx="3942799" cy="101165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𝑢</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𝑣</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i="1">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oMath>
                  </m:oMathPara>
                </a14:m>
                <a:endParaRPr lang="en-US" altLang="zh-CN" sz="3000" b="0" dirty="0">
                  <a:latin typeface="楷体" panose="02010609060101010101" pitchFamily="49" charset="-122"/>
                  <a:ea typeface="楷体" panose="02010609060101010101" pitchFamily="49" charset="-122"/>
                </a:endParaRPr>
              </a:p>
              <a:p>
                <a:pPr>
                  <a:lnSpc>
                    <a:spcPct val="110000"/>
                  </a:lnSpc>
                </a:pPr>
                <a14:m>
                  <m:oMathPara xmlns:m="http://schemas.openxmlformats.org/officeDocument/2006/math">
                    <m:oMathParaPr>
                      <m:jc m:val="centerGroup"/>
                    </m:oMathParaPr>
                    <m:oMath xmlns:m="http://schemas.openxmlformats.org/officeDocument/2006/math">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𝑢</m:t>
                      </m:r>
                      <m:sSub>
                        <m:sSubPr>
                          <m:ctrlPr>
                            <a:rPr lang="en-US" altLang="zh-CN" sz="3000" i="1" smtClean="0">
                              <a:solidFill>
                                <a:srgbClr val="FF0000"/>
                              </a:solidFill>
                              <a:latin typeface="Cambria Math" panose="02040503050406030204" pitchFamily="18" charset="0"/>
                              <a:ea typeface="楷体" panose="02010609060101010101" pitchFamily="49" charset="-122"/>
                            </a:rPr>
                          </m:ctrlPr>
                        </m:sSubPr>
                        <m:e>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𝑣</m:t>
                          </m:r>
                        </m:e>
                        <m:sub>
                          <m:r>
                            <a:rPr lang="en-US" altLang="zh-CN" sz="3000" b="0" i="1" smtClean="0">
                              <a:solidFill>
                                <a:srgbClr val="FF0000"/>
                              </a:solidFill>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𝑣</m:t>
                      </m:r>
                      <m:sSub>
                        <m:sSubPr>
                          <m:ctrlPr>
                            <a:rPr lang="en-US" altLang="zh-CN" sz="3000" i="1" smtClean="0">
                              <a:solidFill>
                                <a:srgbClr val="FF0000"/>
                              </a:solidFill>
                              <a:latin typeface="Cambria Math" panose="02040503050406030204" pitchFamily="18" charset="0"/>
                              <a:ea typeface="楷体" panose="02010609060101010101" pitchFamily="49" charset="-122"/>
                            </a:rPr>
                          </m:ctrlPr>
                        </m:sSubPr>
                        <m:e>
                          <m:r>
                            <a:rPr lang="en-US" altLang="zh-CN" sz="3000" b="0" i="1" smtClean="0">
                              <a:solidFill>
                                <a:srgbClr val="FF0000"/>
                              </a:solidFill>
                              <a:latin typeface="Cambria Math" panose="02040503050406030204" pitchFamily="18" charset="0"/>
                              <a:ea typeface="楷体" panose="02010609060101010101" pitchFamily="49" charset="-122"/>
                            </a:rPr>
                            <m:t>𝑢</m:t>
                          </m:r>
                        </m:e>
                        <m:sub>
                          <m:r>
                            <a:rPr lang="en-US" altLang="zh-CN" sz="3000" b="0" i="1" smtClean="0">
                              <a:solidFill>
                                <a:srgbClr val="FF0000"/>
                              </a:solidFill>
                              <a:latin typeface="Cambria Math" panose="02040503050406030204" pitchFamily="18" charset="0"/>
                              <a:ea typeface="楷体" panose="02010609060101010101" pitchFamily="49" charset="-122"/>
                            </a:rPr>
                            <m:t>𝑥</m:t>
                          </m:r>
                        </m:sub>
                      </m:sSub>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oMath>
                  </m:oMathPara>
                </a14:m>
                <a:endParaRPr lang="en-US" altLang="zh-CN" sz="3000" dirty="0">
                  <a:latin typeface="楷体" panose="02010609060101010101" pitchFamily="49" charset="-122"/>
                  <a:ea typeface="楷体" panose="02010609060101010101" pitchFamily="49" charset="-122"/>
                </a:endParaRPr>
              </a:p>
              <a:p>
                <a:pPr fontAlgn="auto">
                  <a:lnSpc>
                    <a:spcPct val="110000"/>
                  </a:lnSpc>
                </a:pPr>
                <a:endParaRPr lang="zh-CN" altLang="en-US" sz="3000" dirty="0">
                  <a:latin typeface="楷体" panose="02010609060101010101" pitchFamily="49" charset="-122"/>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4411952" y="3758703"/>
                <a:ext cx="3942799" cy="1011653"/>
              </a:xfrm>
              <a:prstGeom prst="rect">
                <a:avLst/>
              </a:prstGeom>
              <a:blipFill rotWithShape="1">
                <a:blip r:embed="rId8"/>
                <a:stretch>
                  <a:fillRect l="-15" t="-24556" r="1" b="-2458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8150572" y="3571099"/>
                <a:ext cx="551989" cy="33147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2000" b="0" i="1" smtClean="0">
                          <a:solidFill>
                            <a:srgbClr val="FF0000"/>
                          </a:solidFill>
                          <a:latin typeface="Cambria Math" panose="02040503050406030204" pitchFamily="18" charset="0"/>
                          <a:ea typeface="楷体" panose="02010609060101010101" pitchFamily="49" charset="-122"/>
                        </a:rPr>
                        <m:t>(</m:t>
                      </m:r>
                      <m:r>
                        <a:rPr lang="en-US" altLang="zh-CN" sz="2000" b="0" i="1" smtClean="0">
                          <a:solidFill>
                            <a:srgbClr val="FF0000"/>
                          </a:solidFill>
                          <a:latin typeface="Cambria Math" panose="02040503050406030204" pitchFamily="18" charset="0"/>
                          <a:ea typeface="楷体" panose="02010609060101010101" pitchFamily="49" charset="-122"/>
                        </a:rPr>
                        <m:t>1</m:t>
                      </m:r>
                      <m:r>
                        <a:rPr lang="en-US" altLang="zh-CN" sz="2000" b="0" i="1" smtClean="0">
                          <a:solidFill>
                            <a:srgbClr val="FF0000"/>
                          </a:solidFill>
                          <a:latin typeface="Cambria Math" panose="02040503050406030204" pitchFamily="18" charset="0"/>
                          <a:ea typeface="楷体" panose="02010609060101010101" pitchFamily="49" charset="-122"/>
                        </a:rPr>
                        <m:t>)</m:t>
                      </m:r>
                    </m:oMath>
                  </m:oMathPara>
                </a14:m>
                <a:endParaRPr lang="zh-CN" altLang="en-US" sz="2000" dirty="0">
                  <a:solidFill>
                    <a:srgbClr val="FF0000"/>
                  </a:solidFill>
                  <a:latin typeface="楷体" panose="02010609060101010101" pitchFamily="49" charset="-122"/>
                  <a:ea typeface="楷体" panose="02010609060101010101" pitchFamily="49" charset="-122"/>
                </a:endParaRPr>
              </a:p>
            </p:txBody>
          </p:sp>
        </mc:Choice>
        <mc:Fallback>
          <p:sp>
            <p:nvSpPr>
              <p:cNvPr id="16" name="标题 1"/>
              <p:cNvSpPr txBox="1">
                <a:spLocks noRot="1" noChangeAspect="1" noMove="1" noResize="1" noEditPoints="1" noAdjustHandles="1" noChangeArrowheads="1" noChangeShapeType="1" noTextEdit="1"/>
              </p:cNvSpPr>
              <p:nvPr/>
            </p:nvSpPr>
            <p:spPr>
              <a:xfrm>
                <a:off x="8150572" y="3571099"/>
                <a:ext cx="551989" cy="331471"/>
              </a:xfrm>
              <a:prstGeom prst="rect">
                <a:avLst/>
              </a:prstGeom>
              <a:blipFill rotWithShape="1">
                <a:blip r:embed="rId9"/>
                <a:stretch>
                  <a:fillRect l="-63" t="-532" r="94" b="-6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8215256" y="4098793"/>
                <a:ext cx="551989" cy="33147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2000" b="0" i="1" smtClean="0">
                          <a:solidFill>
                            <a:srgbClr val="FF0000"/>
                          </a:solidFill>
                          <a:latin typeface="Cambria Math" panose="02040503050406030204" pitchFamily="18" charset="0"/>
                          <a:ea typeface="楷体" panose="02010609060101010101" pitchFamily="49" charset="-122"/>
                        </a:rPr>
                        <m:t>(</m:t>
                      </m:r>
                      <m:r>
                        <a:rPr lang="en-US" altLang="zh-CN" sz="2000" b="0" i="1" smtClean="0">
                          <a:solidFill>
                            <a:srgbClr val="FF0000"/>
                          </a:solidFill>
                          <a:latin typeface="Cambria Math" panose="02040503050406030204" pitchFamily="18" charset="0"/>
                          <a:ea typeface="楷体" panose="02010609060101010101" pitchFamily="49" charset="-122"/>
                        </a:rPr>
                        <m:t>2</m:t>
                      </m:r>
                      <m:r>
                        <a:rPr lang="en-US" altLang="zh-CN" sz="2000" b="0" i="1" smtClean="0">
                          <a:solidFill>
                            <a:srgbClr val="FF0000"/>
                          </a:solidFill>
                          <a:latin typeface="Cambria Math" panose="02040503050406030204" pitchFamily="18" charset="0"/>
                          <a:ea typeface="楷体" panose="02010609060101010101" pitchFamily="49" charset="-122"/>
                        </a:rPr>
                        <m:t>)</m:t>
                      </m:r>
                    </m:oMath>
                  </m:oMathPara>
                </a14:m>
                <a:endParaRPr lang="zh-CN" altLang="en-US" sz="2000" dirty="0">
                  <a:solidFill>
                    <a:srgbClr val="FF0000"/>
                  </a:solidFill>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8215256" y="4098793"/>
                <a:ext cx="551989" cy="331471"/>
              </a:xfrm>
              <a:prstGeom prst="rect">
                <a:avLst/>
              </a:prstGeom>
              <a:blipFill rotWithShape="1">
                <a:blip r:embed="rId10"/>
                <a:stretch>
                  <a:fillRect l="-47" t="-535" r="79" b="-6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标题 1"/>
              <p:cNvSpPr txBox="1"/>
              <p:nvPr/>
            </p:nvSpPr>
            <p:spPr>
              <a:xfrm>
                <a:off x="473416" y="4659820"/>
                <a:ext cx="6515953"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1</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2</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𝑣</m:t>
                      </m:r>
                      <m:r>
                        <a:rPr lang="en-US" altLang="zh-CN" sz="3000" b="0" i="0" smtClean="0">
                          <a:latin typeface="Cambria Math" panose="02040503050406030204" pitchFamily="18" charset="0"/>
                          <a:ea typeface="楷体" panose="02010609060101010101" pitchFamily="49" charset="-122"/>
                        </a:rPr>
                        <m:t>:</m:t>
                      </m:r>
                      <m:r>
                        <a:rPr lang="en-US" altLang="zh-CN" sz="3000" b="0" i="0" smtClean="0">
                          <a:latin typeface="Cambria Math" panose="02040503050406030204" pitchFamily="18" charset="0"/>
                          <a:ea typeface="楷体" panose="02010609060101010101" pitchFamily="49" charset="-122"/>
                        </a:rPr>
                        <m:t>2</m:t>
                      </m:r>
                      <m:d>
                        <m:dPr>
                          <m:ctrlPr>
                            <a:rPr lang="en-US" altLang="zh-CN" sz="3000" b="0" i="1" smtClean="0">
                              <a:latin typeface="Cambria Math" panose="02040503050406030204" pitchFamily="18" charset="0"/>
                              <a:ea typeface="楷体" panose="02010609060101010101" pitchFamily="49" charset="-122"/>
                            </a:rPr>
                          </m:ctrlPr>
                        </m:dPr>
                        <m:e>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𝑢</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𝑣</m:t>
                              </m:r>
                            </m:e>
                            <m:sup>
                              <m:r>
                                <a:rPr lang="en-US" altLang="zh-CN" sz="3000" b="0" i="1" smtClean="0">
                                  <a:latin typeface="Cambria Math" panose="02040503050406030204" pitchFamily="18" charset="0"/>
                                  <a:ea typeface="楷体" panose="02010609060101010101" pitchFamily="49" charset="-122"/>
                                </a:rPr>
                                <m:t>2</m:t>
                              </m:r>
                            </m:sup>
                          </m:sSup>
                        </m:e>
                      </m:d>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18" name="标题 1"/>
              <p:cNvSpPr txBox="1">
                <a:spLocks noRot="1" noChangeAspect="1" noMove="1" noResize="1" noEditPoints="1" noAdjustHandles="1" noChangeArrowheads="1" noChangeShapeType="1" noTextEdit="1"/>
              </p:cNvSpPr>
              <p:nvPr/>
            </p:nvSpPr>
            <p:spPr>
              <a:xfrm>
                <a:off x="473416" y="4659820"/>
                <a:ext cx="6515953" cy="617220"/>
              </a:xfrm>
              <a:prstGeom prst="rect">
                <a:avLst/>
              </a:prstGeom>
              <a:blipFill rotWithShape="1">
                <a:blip r:embed="rId11"/>
                <a:stretch>
                  <a:fillRect l="-5" t="-31" r="9" b="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6654604" y="4657969"/>
                <a:ext cx="1836646"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Cambria Math" panose="02040503050406030204" pitchFamily="18" charset="0"/>
                        </a:rPr>
                        <m:t>⇒</m:t>
                      </m:r>
                      <m:sSub>
                        <m:sSubPr>
                          <m:ctrlPr>
                            <a:rPr lang="en-US" altLang="zh-CN" sz="3200" b="0" i="1" smtClean="0">
                              <a:latin typeface="Cambria Math" panose="02040503050406030204" pitchFamily="18" charset="0"/>
                              <a:ea typeface="楷体" panose="02010609060101010101" pitchFamily="49" charset="-122"/>
                            </a:rPr>
                          </m:ctrlPr>
                        </m:sSubPr>
                        <m:e>
                          <m:r>
                            <a:rPr lang="en-US" altLang="zh-CN" sz="3200" b="0" i="1" smtClean="0">
                              <a:latin typeface="Cambria Math" panose="02040503050406030204" pitchFamily="18" charset="0"/>
                              <a:ea typeface="楷体" panose="02010609060101010101" pitchFamily="49" charset="-122"/>
                            </a:rPr>
                            <m:t>𝑢</m:t>
                          </m:r>
                        </m:e>
                        <m:sub>
                          <m:r>
                            <a:rPr lang="en-US" altLang="zh-CN" sz="3200" b="0" i="1" smtClean="0">
                              <a:latin typeface="Cambria Math" panose="02040503050406030204" pitchFamily="18" charset="0"/>
                              <a:ea typeface="楷体" panose="02010609060101010101" pitchFamily="49" charset="-122"/>
                            </a:rPr>
                            <m:t>𝑥</m:t>
                          </m:r>
                        </m:sub>
                      </m:sSub>
                      <m:r>
                        <a:rPr lang="en-US" altLang="zh-CN" sz="3200" b="0" i="1" smtClean="0">
                          <a:latin typeface="Cambria Math" panose="02040503050406030204" pitchFamily="18" charset="0"/>
                          <a:ea typeface="楷体" panose="02010609060101010101" pitchFamily="49" charset="-122"/>
                        </a:rPr>
                        <m:t>=</m:t>
                      </m:r>
                      <m:r>
                        <a:rPr lang="en-US" altLang="zh-CN" sz="3200" b="0" i="1" smtClean="0">
                          <a:latin typeface="Cambria Math" panose="02040503050406030204" pitchFamily="18" charset="0"/>
                          <a:ea typeface="楷体" panose="02010609060101010101" pitchFamily="49" charset="-122"/>
                        </a:rPr>
                        <m:t>0</m:t>
                      </m:r>
                    </m:oMath>
                  </m:oMathPara>
                </a14:m>
                <a:endParaRPr lang="zh-CN" altLang="en-US" sz="32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6654604" y="4657969"/>
                <a:ext cx="1836646" cy="617220"/>
              </a:xfrm>
              <a:prstGeom prst="rect">
                <a:avLst/>
              </a:prstGeom>
              <a:blipFill rotWithShape="1">
                <a:blip r:embed="rId12"/>
                <a:stretch>
                  <a:fillRect l="-24" t="-40" r="2"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799673" y="5284076"/>
                <a:ext cx="2203224"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同理</a:t>
                </a:r>
                <a14:m>
                  <m:oMath xmlns:m="http://schemas.openxmlformats.org/officeDocument/2006/math">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oMath>
                </a14:m>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799673" y="5284076"/>
                <a:ext cx="2203224" cy="617220"/>
              </a:xfrm>
              <a:prstGeom prst="rect">
                <a:avLst/>
              </a:prstGeom>
              <a:blipFill rotWithShape="1">
                <a:blip r:embed="rId13"/>
                <a:stretch>
                  <a:fillRect l="-9" t="-39" r="28"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2602915" y="5309975"/>
                <a:ext cx="4255696"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𝑓</m:t>
                          </m:r>
                        </m:e>
                        <m:sup>
                          <m:r>
                            <a:rPr lang="en-US" altLang="zh-CN" sz="3000" b="0" i="1" smtClean="0">
                              <a:latin typeface="Cambria Math" panose="02040503050406030204" pitchFamily="18" charset="0"/>
                              <a:ea typeface="Cambria Math" panose="02040503050406030204" pitchFamily="18" charset="0"/>
                            </a:rPr>
                            <m:t>′</m:t>
                          </m:r>
                        </m:sup>
                      </m:sSup>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𝑧</m:t>
                          </m:r>
                        </m:e>
                      </m:d>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𝑢</m:t>
                          </m:r>
                        </m:e>
                        <m:sub>
                          <m:r>
                            <a:rPr lang="en-US" altLang="zh-CN" sz="3000" b="0" i="1" smtClean="0">
                              <a:latin typeface="Cambria Math" panose="02040503050406030204" pitchFamily="18" charset="0"/>
                              <a:ea typeface="Cambria Math" panose="02040503050406030204" pitchFamily="18" charset="0"/>
                            </a:rPr>
                            <m:t>𝑥</m:t>
                          </m:r>
                        </m:sub>
                      </m:sSub>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𝑣</m:t>
                          </m:r>
                        </m:e>
                        <m:sub>
                          <m:r>
                            <a:rPr lang="en-US" altLang="zh-CN" sz="3000" b="0" i="1" smtClean="0">
                              <a:latin typeface="Cambria Math" panose="02040503050406030204" pitchFamily="18" charset="0"/>
                              <a:ea typeface="Cambria Math" panose="02040503050406030204" pitchFamily="18" charset="0"/>
                            </a:rPr>
                            <m:t>𝑥</m:t>
                          </m:r>
                        </m:sub>
                      </m:sSub>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0</m:t>
                      </m:r>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2602915" y="5309975"/>
                <a:ext cx="4255696" cy="617220"/>
              </a:xfrm>
              <a:prstGeom prst="rect">
                <a:avLst/>
              </a:prstGeom>
              <a:blipFill rotWithShape="1">
                <a:blip r:embed="rId14"/>
                <a:stretch>
                  <a:fillRect l="-1" t="-17" r="14"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6654320" y="5329530"/>
                <a:ext cx="2007533"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𝑓</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𝑧</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𝑐</m:t>
                      </m:r>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6654320" y="5329530"/>
                <a:ext cx="2007533" cy="617220"/>
              </a:xfrm>
              <a:prstGeom prst="rect">
                <a:avLst/>
              </a:prstGeom>
              <a:blipFill rotWithShape="1">
                <a:blip r:embed="rId15"/>
                <a:stretch>
                  <a:fillRect l="-8" t="-99" r="23" b="9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2" presetClass="entr" presetSubtype="4"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500" fill="hold"/>
                                        <p:tgtEl>
                                          <p:spTgt spid="14"/>
                                        </p:tgtEl>
                                        <p:attrNameLst>
                                          <p:attrName>ppt_x</p:attrName>
                                        </p:attrNameLst>
                                      </p:cBhvr>
                                      <p:tavLst>
                                        <p:tav tm="0">
                                          <p:val>
                                            <p:strVal val="#ppt_x"/>
                                          </p:val>
                                        </p:tav>
                                        <p:tav tm="100000">
                                          <p:val>
                                            <p:strVal val="#ppt_x"/>
                                          </p:val>
                                        </p:tav>
                                      </p:tavLst>
                                    </p:anim>
                                    <p:anim calcmode="lin" valueType="num">
                                      <p:cBhvr additive="base">
                                        <p:cTn id="4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500" fill="hold"/>
                                        <p:tgtEl>
                                          <p:spTgt spid="15"/>
                                        </p:tgtEl>
                                        <p:attrNameLst>
                                          <p:attrName>ppt_x</p:attrName>
                                        </p:attrNameLst>
                                      </p:cBhvr>
                                      <p:tavLst>
                                        <p:tav tm="0">
                                          <p:val>
                                            <p:strVal val="#ppt_x"/>
                                          </p:val>
                                        </p:tav>
                                        <p:tav tm="100000">
                                          <p:val>
                                            <p:strVal val="#ppt_x"/>
                                          </p:val>
                                        </p:tav>
                                      </p:tavLst>
                                    </p:anim>
                                    <p:anim calcmode="lin" valueType="num">
                                      <p:cBhvr additive="base">
                                        <p:cTn id="4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ppt_x</p:attrName>
                                        </p:attrNameLst>
                                      </p:cBhvr>
                                      <p:tavLst>
                                        <p:tav tm="0">
                                          <p:val>
                                            <p:strVal val="#ppt_x"/>
                                          </p:val>
                                        </p:tav>
                                        <p:tav tm="100000">
                                          <p:val>
                                            <p:strVal val="#ppt_x"/>
                                          </p:val>
                                        </p:tav>
                                      </p:tavLst>
                                    </p:anim>
                                    <p:anim calcmode="lin" valueType="num">
                                      <p:cBhvr additive="base">
                                        <p:cTn id="5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00" fill="hold"/>
                                        <p:tgtEl>
                                          <p:spTgt spid="17"/>
                                        </p:tgtEl>
                                        <p:attrNameLst>
                                          <p:attrName>ppt_x</p:attrName>
                                        </p:attrNameLst>
                                      </p:cBhvr>
                                      <p:tavLst>
                                        <p:tav tm="0">
                                          <p:val>
                                            <p:strVal val="#ppt_x"/>
                                          </p:val>
                                        </p:tav>
                                        <p:tav tm="100000">
                                          <p:val>
                                            <p:strVal val="#ppt_x"/>
                                          </p:val>
                                        </p:tav>
                                      </p:tavLst>
                                    </p:anim>
                                    <p:anim calcmode="lin" valueType="num">
                                      <p:cBhvr additive="base">
                                        <p:cTn id="61"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fill="hold"/>
                                        <p:tgtEl>
                                          <p:spTgt spid="18"/>
                                        </p:tgtEl>
                                        <p:attrNameLst>
                                          <p:attrName>ppt_x</p:attrName>
                                        </p:attrNameLst>
                                      </p:cBhvr>
                                      <p:tavLst>
                                        <p:tav tm="0">
                                          <p:val>
                                            <p:strVal val="#ppt_x"/>
                                          </p:val>
                                        </p:tav>
                                        <p:tav tm="100000">
                                          <p:val>
                                            <p:strVal val="#ppt_x"/>
                                          </p:val>
                                        </p:tav>
                                      </p:tavLst>
                                    </p:anim>
                                    <p:anim calcmode="lin" valueType="num">
                                      <p:cBhvr additive="base">
                                        <p:cTn id="6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2"/>
                                        </p:tgtEl>
                                        <p:attrNameLst>
                                          <p:attrName>style.visibility</p:attrName>
                                        </p:attrNameLst>
                                      </p:cBhvr>
                                      <p:to>
                                        <p:strVal val="visible"/>
                                      </p:to>
                                    </p:set>
                                    <p:anim calcmode="lin" valueType="num">
                                      <p:cBhvr additive="base">
                                        <p:cTn id="72" dur="500" fill="hold"/>
                                        <p:tgtEl>
                                          <p:spTgt spid="2"/>
                                        </p:tgtEl>
                                        <p:attrNameLst>
                                          <p:attrName>ppt_x</p:attrName>
                                        </p:attrNameLst>
                                      </p:cBhvr>
                                      <p:tavLst>
                                        <p:tav tm="0">
                                          <p:val>
                                            <p:strVal val="#ppt_x"/>
                                          </p:val>
                                        </p:tav>
                                        <p:tav tm="100000">
                                          <p:val>
                                            <p:strVal val="#ppt_x"/>
                                          </p:val>
                                        </p:tav>
                                      </p:tavLst>
                                    </p:anim>
                                    <p:anim calcmode="lin" valueType="num">
                                      <p:cBhvr additive="base">
                                        <p:cTn id="7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3"/>
                                        </p:tgtEl>
                                        <p:attrNameLst>
                                          <p:attrName>style.visibility</p:attrName>
                                        </p:attrNameLst>
                                      </p:cBhvr>
                                      <p:to>
                                        <p:strVal val="visible"/>
                                      </p:to>
                                    </p:set>
                                    <p:anim calcmode="lin" valueType="num">
                                      <p:cBhvr additive="base">
                                        <p:cTn id="78" dur="500" fill="hold"/>
                                        <p:tgtEl>
                                          <p:spTgt spid="3"/>
                                        </p:tgtEl>
                                        <p:attrNameLst>
                                          <p:attrName>ppt_x</p:attrName>
                                        </p:attrNameLst>
                                      </p:cBhvr>
                                      <p:tavLst>
                                        <p:tav tm="0">
                                          <p:val>
                                            <p:strVal val="#ppt_x"/>
                                          </p:val>
                                        </p:tav>
                                        <p:tav tm="100000">
                                          <p:val>
                                            <p:strVal val="#ppt_x"/>
                                          </p:val>
                                        </p:tav>
                                      </p:tavLst>
                                    </p:anim>
                                    <p:anim calcmode="lin" valueType="num">
                                      <p:cBhvr additive="base">
                                        <p:cTn id="7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4"/>
                                        </p:tgtEl>
                                        <p:attrNameLst>
                                          <p:attrName>style.visibility</p:attrName>
                                        </p:attrNameLst>
                                      </p:cBhvr>
                                      <p:to>
                                        <p:strVal val="visible"/>
                                      </p:to>
                                    </p:set>
                                    <p:anim calcmode="lin" valueType="num">
                                      <p:cBhvr additive="base">
                                        <p:cTn id="84" dur="500" fill="hold"/>
                                        <p:tgtEl>
                                          <p:spTgt spid="4"/>
                                        </p:tgtEl>
                                        <p:attrNameLst>
                                          <p:attrName>ppt_x</p:attrName>
                                        </p:attrNameLst>
                                      </p:cBhvr>
                                      <p:tavLst>
                                        <p:tav tm="0">
                                          <p:val>
                                            <p:strVal val="#ppt_x"/>
                                          </p:val>
                                        </p:tav>
                                        <p:tav tm="100000">
                                          <p:val>
                                            <p:strVal val="#ppt_x"/>
                                          </p:val>
                                        </p:tav>
                                      </p:tavLst>
                                    </p:anim>
                                    <p:anim calcmode="lin" valueType="num">
                                      <p:cBhvr additive="base">
                                        <p:cTn id="8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5"/>
                                        </p:tgtEl>
                                        <p:attrNameLst>
                                          <p:attrName>style.visibility</p:attrName>
                                        </p:attrNameLst>
                                      </p:cBhvr>
                                      <p:to>
                                        <p:strVal val="visible"/>
                                      </p:to>
                                    </p:set>
                                    <p:anim calcmode="lin" valueType="num">
                                      <p:cBhvr additive="base">
                                        <p:cTn id="90" dur="500" fill="hold"/>
                                        <p:tgtEl>
                                          <p:spTgt spid="5"/>
                                        </p:tgtEl>
                                        <p:attrNameLst>
                                          <p:attrName>ppt_x</p:attrName>
                                        </p:attrNameLst>
                                      </p:cBhvr>
                                      <p:tavLst>
                                        <p:tav tm="0">
                                          <p:val>
                                            <p:strVal val="#ppt_x"/>
                                          </p:val>
                                        </p:tav>
                                        <p:tav tm="100000">
                                          <p:val>
                                            <p:strVal val="#ppt_x"/>
                                          </p:val>
                                        </p:tav>
                                      </p:tavLst>
                                    </p:anim>
                                    <p:anim calcmode="lin" valueType="num">
                                      <p:cBhvr additive="base">
                                        <p:cTn id="9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0" grpId="0"/>
      <p:bldP spid="11" grpId="0"/>
      <p:bldP spid="12" grpId="0"/>
      <p:bldP spid="13" grpId="0"/>
      <p:bldP spid="14" grpId="0"/>
      <p:bldP spid="15" grpId="0"/>
      <p:bldP spid="16" grpId="0"/>
      <p:bldP spid="17" grpId="0"/>
      <p:bldP spid="18" grpId="0"/>
      <p:bldP spid="2" grpId="0"/>
      <p:bldP spid="3" grpId="0"/>
      <p:bldP spid="4" grpId="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25797" y="585815"/>
            <a:ext cx="4407702"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b="1" dirty="0">
                <a:latin typeface="楷体" panose="02010609060101010101" pitchFamily="49" charset="-122"/>
                <a:ea typeface="楷体" panose="02010609060101010101" pitchFamily="49" charset="-122"/>
              </a:rPr>
              <a:t>四、导数的几何意义</a:t>
            </a:r>
            <a:endParaRPr lang="zh-CN" altLang="en-US" sz="3200" b="1"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2" name="标题 1"/>
              <p:cNvSpPr txBox="1"/>
              <p:nvPr/>
            </p:nvSpPr>
            <p:spPr>
              <a:xfrm>
                <a:off x="125797" y="1107622"/>
                <a:ext cx="8892406" cy="151738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solidFill>
                      <a:srgbClr val="FF0000"/>
                    </a:solidFill>
                    <a:latin typeface="楷体" panose="02010609060101010101" pitchFamily="49" charset="-122"/>
                    <a:ea typeface="楷体" panose="02010609060101010101" pitchFamily="49" charset="-122"/>
                  </a:rPr>
                  <a:t>高数中</a:t>
                </a:r>
                <a:r>
                  <a:rPr lang="en-US" altLang="zh-CN" sz="3000" dirty="0">
                    <a:latin typeface="楷体" panose="02010609060101010101" pitchFamily="49" charset="-122"/>
                    <a:ea typeface="楷体" panose="02010609060101010101" pitchFamily="49" charset="-122"/>
                  </a:rPr>
                  <a:t>,</a:t>
                </a:r>
                <a14:m>
                  <m:oMath xmlns:m="http://schemas.openxmlformats.org/officeDocument/2006/math">
                    <m:f>
                      <m:fPr>
                        <m:ctrlPr>
                          <a:rPr lang="en-US" altLang="zh-CN" sz="3000" i="1" smtClean="0">
                            <a:latin typeface="Cambria Math" panose="02040503050406030204" pitchFamily="18" charset="0"/>
                            <a:ea typeface="楷体" panose="02010609060101010101" pitchFamily="49" charset="-122"/>
                          </a:rPr>
                        </m:ctrlPr>
                      </m:fPr>
                      <m:num>
                        <m:r>
                          <a:rPr lang="en-US" altLang="zh-CN" sz="3000" i="1" smtClean="0">
                            <a:latin typeface="Cambria Math" panose="02040503050406030204" pitchFamily="18" charset="0"/>
                            <a:ea typeface="楷体" panose="02010609060101010101" pitchFamily="49" charset="-122"/>
                          </a:rPr>
                          <m:t>𝑑</m:t>
                        </m:r>
                        <m:r>
                          <a:rPr lang="en-US" altLang="zh-CN" sz="3000" b="0" i="1" smtClean="0">
                            <a:latin typeface="Cambria Math" panose="02040503050406030204" pitchFamily="18" charset="0"/>
                            <a:ea typeface="楷体" panose="02010609060101010101" pitchFamily="49" charset="-122"/>
                          </a:rPr>
                          <m:t>𝑓</m:t>
                        </m:r>
                      </m:num>
                      <m:den>
                        <m:r>
                          <a:rPr lang="en-US" altLang="zh-CN" sz="3000" i="1" smtClean="0">
                            <a:latin typeface="Cambria Math" panose="02040503050406030204" pitchFamily="18" charset="0"/>
                            <a:ea typeface="楷体" panose="02010609060101010101" pitchFamily="49" charset="-122"/>
                          </a:rPr>
                          <m:t>𝑑𝑥</m:t>
                        </m:r>
                      </m:den>
                    </m:f>
                    <m:sSub>
                      <m:sSubPr>
                        <m:ctrlPr>
                          <a:rPr lang="en-US" altLang="zh-CN" sz="3000" i="1" smtClean="0">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m:t>
                        </m:r>
                      </m:e>
                      <m:sub>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𝑥</m:t>
                            </m:r>
                          </m:e>
                          <m:sub>
                            <m:r>
                              <a:rPr lang="en-US" altLang="zh-CN" sz="3000" b="0" i="1" smtClean="0">
                                <a:latin typeface="Cambria Math" panose="02040503050406030204" pitchFamily="18" charset="0"/>
                                <a:ea typeface="楷体" panose="02010609060101010101" pitchFamily="49" charset="-122"/>
                              </a:rPr>
                              <m:t>0</m:t>
                            </m:r>
                          </m:sub>
                        </m:sSub>
                      </m:sub>
                    </m:sSub>
                  </m:oMath>
                </a14:m>
                <a:r>
                  <a:rPr lang="zh-CN" altLang="en-US" sz="3000" dirty="0">
                    <a:latin typeface="楷体" panose="02010609060101010101" pitchFamily="49" charset="-122"/>
                    <a:ea typeface="楷体" panose="02010609060101010101" pitchFamily="49" charset="-122"/>
                  </a:rPr>
                  <a:t>表示</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r>
                      <a:rPr lang="en-US" altLang="zh-CN" sz="3000" b="0" i="0"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r>
                      <a:rPr lang="en-US" altLang="zh-CN" sz="3000" b="0" i="0"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𝑥</m:t>
                        </m:r>
                      </m:e>
                      <m:sub>
                        <m:r>
                          <a:rPr lang="en-US" altLang="zh-CN" sz="3000" i="1">
                            <a:latin typeface="Cambria Math" panose="02040503050406030204" pitchFamily="18" charset="0"/>
                            <a:ea typeface="楷体" panose="02010609060101010101" pitchFamily="49" charset="-122"/>
                          </a:rPr>
                          <m:t>0</m:t>
                        </m:r>
                      </m:sub>
                    </m:sSub>
                  </m:oMath>
                </a14:m>
                <a:r>
                  <a:rPr lang="zh-CN" altLang="en-US" sz="3000" dirty="0">
                    <a:latin typeface="楷体" panose="02010609060101010101" pitchFamily="49" charset="-122"/>
                    <a:ea typeface="楷体" panose="02010609060101010101" pitchFamily="49" charset="-122"/>
                  </a:rPr>
                  <a:t>处因变量随自变量变       化的快慢程度</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125797" y="1107622"/>
                <a:ext cx="8892406" cy="1517382"/>
              </a:xfrm>
              <a:prstGeom prst="rect">
                <a:avLst/>
              </a:prstGeom>
              <a:blipFill rotWithShape="1">
                <a:blip r:embed="rId1"/>
                <a:stretch>
                  <a:fillRect l="-1" t="-12" r="6" b="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55289" y="2625004"/>
                <a:ext cx="8892406" cy="179902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solidFill>
                      <a:srgbClr val="FF0000"/>
                    </a:solidFill>
                    <a:latin typeface="楷体" panose="02010609060101010101" pitchFamily="49" charset="-122"/>
                    <a:ea typeface="楷体" panose="02010609060101010101" pitchFamily="49" charset="-122"/>
                  </a:rPr>
                  <a:t>复变中</a:t>
                </a:r>
                <a:r>
                  <a:rPr lang="en-US" altLang="zh-CN" sz="3000" dirty="0">
                    <a:latin typeface="楷体" panose="02010609060101010101" pitchFamily="49" charset="-122"/>
                    <a:ea typeface="楷体" panose="02010609060101010101" pitchFamily="49" charset="-122"/>
                  </a:rPr>
                  <a:t>,</a:t>
                </a:r>
                <a14:m>
                  <m:oMath xmlns:m="http://schemas.openxmlformats.org/officeDocument/2006/math">
                    <m:f>
                      <m:fPr>
                        <m:ctrlPr>
                          <a:rPr lang="en-US" altLang="zh-CN" sz="3000" i="1" smtClean="0">
                            <a:latin typeface="Cambria Math" panose="02040503050406030204" pitchFamily="18" charset="0"/>
                            <a:ea typeface="楷体" panose="02010609060101010101" pitchFamily="49" charset="-122"/>
                          </a:rPr>
                        </m:ctrlPr>
                      </m:fPr>
                      <m:num>
                        <m:r>
                          <a:rPr lang="en-US" altLang="zh-CN" sz="3000" i="1" smtClean="0">
                            <a:latin typeface="Cambria Math" panose="02040503050406030204" pitchFamily="18" charset="0"/>
                            <a:ea typeface="楷体" panose="02010609060101010101" pitchFamily="49" charset="-122"/>
                          </a:rPr>
                          <m:t>𝑑</m:t>
                        </m:r>
                        <m:r>
                          <a:rPr lang="en-US" altLang="zh-CN" sz="3000" b="0" i="1" smtClean="0">
                            <a:latin typeface="Cambria Math" panose="02040503050406030204" pitchFamily="18" charset="0"/>
                            <a:ea typeface="楷体" panose="02010609060101010101" pitchFamily="49" charset="-122"/>
                          </a:rPr>
                          <m:t>𝑓</m:t>
                        </m:r>
                      </m:num>
                      <m:den>
                        <m:r>
                          <a:rPr lang="en-US" altLang="zh-CN" sz="3000" i="1" smtClean="0">
                            <a:latin typeface="Cambria Math" panose="02040503050406030204" pitchFamily="18" charset="0"/>
                            <a:ea typeface="楷体" panose="02010609060101010101" pitchFamily="49" charset="-122"/>
                          </a:rPr>
                          <m:t>𝑑</m:t>
                        </m:r>
                        <m:r>
                          <a:rPr lang="en-US" altLang="zh-CN" sz="3000" b="0" i="1" smtClean="0">
                            <a:latin typeface="Cambria Math" panose="02040503050406030204" pitchFamily="18" charset="0"/>
                            <a:ea typeface="楷体" panose="02010609060101010101" pitchFamily="49" charset="-122"/>
                          </a:rPr>
                          <m:t>𝑧</m:t>
                        </m:r>
                      </m:den>
                    </m:f>
                    <m:sSub>
                      <m:sSubPr>
                        <m:ctrlPr>
                          <a:rPr lang="en-US" altLang="zh-CN" sz="3000" i="1" smtClean="0">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m:t>
                        </m:r>
                      </m:e>
                      <m:sub>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𝑧</m:t>
                            </m:r>
                          </m:e>
                          <m:sub>
                            <m:r>
                              <a:rPr lang="en-US" altLang="zh-CN" sz="3000" b="0" i="1" smtClean="0">
                                <a:latin typeface="Cambria Math" panose="02040503050406030204" pitchFamily="18" charset="0"/>
                                <a:ea typeface="楷体" panose="02010609060101010101" pitchFamily="49" charset="-122"/>
                              </a:rPr>
                              <m:t>0</m:t>
                            </m:r>
                          </m:sub>
                        </m:sSub>
                      </m:sub>
                    </m:sSub>
                  </m:oMath>
                </a14:m>
                <a:r>
                  <a:rPr lang="zh-CN" altLang="en-US" sz="3000" dirty="0">
                    <a:latin typeface="楷体" panose="02010609060101010101" pitchFamily="49" charset="-122"/>
                    <a:ea typeface="楷体" panose="02010609060101010101" pitchFamily="49" charset="-122"/>
                  </a:rPr>
                  <a:t>由于复数不能比较大小，所以对于因变量</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oMath>
                </a14:m>
                <a:r>
                  <a:rPr lang="zh-CN" altLang="en-US" sz="3000" dirty="0">
                    <a:latin typeface="楷体" panose="02010609060101010101" pitchFamily="49" charset="-122"/>
                    <a:ea typeface="楷体" panose="02010609060101010101" pitchFamily="49" charset="-122"/>
                  </a:rPr>
                  <a:t>随自变量</a:t>
                </a:r>
                <a14:m>
                  <m:oMath xmlns:m="http://schemas.openxmlformats.org/officeDocument/2006/math">
                    <m:r>
                      <a:rPr lang="en-US" altLang="zh-CN" sz="3000" i="1">
                        <a:latin typeface="Cambria Math" panose="02040503050406030204" pitchFamily="18" charset="0"/>
                        <a:ea typeface="楷体" panose="02010609060101010101" pitchFamily="49" charset="-122"/>
                      </a:rPr>
                      <m:t>𝑧</m:t>
                    </m:r>
                  </m:oMath>
                </a14:m>
                <a:r>
                  <a:rPr lang="zh-CN" altLang="en-US" sz="3000" dirty="0">
                    <a:latin typeface="楷体" panose="02010609060101010101" pitchFamily="49" charset="-122"/>
                    <a:ea typeface="楷体" panose="02010609060101010101" pitchFamily="49" charset="-122"/>
                  </a:rPr>
                  <a:t>的变化只能用</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𝑓</m:t>
                        </m:r>
                      </m:e>
                      <m:sup>
                        <m:r>
                          <a:rPr lang="en-US" altLang="zh-CN" sz="3000" b="0" i="1" smtClean="0">
                            <a:latin typeface="Cambria Math" panose="02040503050406030204" pitchFamily="18" charset="0"/>
                            <a:ea typeface="楷体" panose="02010609060101010101" pitchFamily="49" charset="-122"/>
                          </a:rPr>
                          <m:t>′</m:t>
                        </m:r>
                      </m:sup>
                    </m:sSup>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𝑧</m:t>
                        </m:r>
                      </m:e>
                      <m:sub>
                        <m:r>
                          <a:rPr lang="en-US" altLang="zh-CN" sz="3000" b="0" i="1" smtClean="0">
                            <a:latin typeface="Cambria Math" panose="02040503050406030204" pitchFamily="18" charset="0"/>
                            <a:ea typeface="楷体" panose="02010609060101010101" pitchFamily="49" charset="-122"/>
                          </a:rPr>
                          <m:t>0</m:t>
                        </m:r>
                      </m:sub>
                    </m:sSub>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来反映</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从这个角度讲</a:t>
                </a:r>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𝑓</m:t>
                        </m:r>
                      </m:e>
                      <m:sup>
                        <m:r>
                          <a:rPr lang="en-US" altLang="zh-CN" sz="3000" i="1">
                            <a:latin typeface="Cambria Math" panose="02040503050406030204" pitchFamily="18" charset="0"/>
                            <a:ea typeface="楷体" panose="02010609060101010101" pitchFamily="49" charset="-122"/>
                          </a:rPr>
                          <m:t>′</m:t>
                        </m:r>
                      </m:sup>
                    </m:sSup>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0</m:t>
                        </m:r>
                      </m:sub>
                    </m:sSub>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也表示了</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0</m:t>
                        </m:r>
                      </m:sub>
                    </m:sSub>
                  </m:oMath>
                </a14:m>
                <a:r>
                  <a:rPr lang="zh-CN" altLang="en-US" sz="3000" dirty="0">
                    <a:latin typeface="楷体" panose="02010609060101010101" pitchFamily="49" charset="-122"/>
                    <a:ea typeface="楷体" panose="02010609060101010101" pitchFamily="49" charset="-122"/>
                  </a:rPr>
                  <a:t>处的“变化率”</a:t>
                </a:r>
                <a:endParaRPr lang="zh-CN" altLang="en-US"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55289" y="2625004"/>
                <a:ext cx="8892406" cy="1799026"/>
              </a:xfrm>
              <a:prstGeom prst="rect">
                <a:avLst/>
              </a:prstGeom>
              <a:blipFill rotWithShape="1">
                <a:blip r:embed="rId2"/>
                <a:stretch>
                  <a:fillRect t="-31" r="6" b="34"/>
                </a:stretch>
              </a:blipFill>
            </p:spPr>
            <p:txBody>
              <a:bodyPr/>
              <a:lstStyle/>
              <a:p>
                <a:r>
                  <a:rPr lang="zh-CN" altLang="en-US">
                    <a:noFill/>
                  </a:rPr>
                  <a:t> </a:t>
                </a:r>
              </a:p>
            </p:txBody>
          </p:sp>
        </mc:Fallback>
      </mc:AlternateContent>
      <p:sp>
        <p:nvSpPr>
          <p:cNvPr id="7" name="标题 1"/>
          <p:cNvSpPr txBox="1"/>
          <p:nvPr/>
        </p:nvSpPr>
        <p:spPr>
          <a:xfrm>
            <a:off x="55289" y="4473159"/>
            <a:ext cx="8892406" cy="179902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下面的例子告诉我们：解析函数的导数在下述意义下表示了函数的变化率，使得解析函数在科学技术中得到了广泛的应用</a:t>
            </a:r>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10" name="直接连接符 9"/>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6" grpId="0"/>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txBox="1"/>
              <p:nvPr/>
            </p:nvSpPr>
            <p:spPr>
              <a:xfrm>
                <a:off x="62894" y="406400"/>
                <a:ext cx="9018203" cy="18576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如：平面上不可压缩的定常流体的流速场，速度向量</a:t>
                </a:r>
                <a14:m>
                  <m:oMath xmlns:m="http://schemas.openxmlformats.org/officeDocument/2006/math">
                    <m:r>
                      <a:rPr lang="en-US" altLang="zh-CN" sz="3000" i="1">
                        <a:latin typeface="Cambria Math" panose="02040503050406030204" pitchFamily="18" charset="0"/>
                        <a:ea typeface="楷体" panose="02010609060101010101" pitchFamily="49" charset="-122"/>
                      </a:rPr>
                      <m:t>𝑣</m:t>
                    </m:r>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i="1">
                            <a:latin typeface="Cambria Math" panose="02040503050406030204" pitchFamily="18" charset="0"/>
                            <a:ea typeface="楷体" panose="02010609060101010101" pitchFamily="49" charset="-122"/>
                          </a:rPr>
                          <m:t>𝑥</m:t>
                        </m:r>
                      </m:sub>
                    </m:sSub>
                    <m:acc>
                      <m:accPr>
                        <m:chr m:val="⃗"/>
                        <m:ctrlPr>
                          <a:rPr lang="en-US" altLang="zh-CN" sz="3000" i="1">
                            <a:latin typeface="Cambria Math" panose="02040503050406030204" pitchFamily="18" charset="0"/>
                            <a:ea typeface="楷体" panose="02010609060101010101" pitchFamily="49" charset="-122"/>
                          </a:rPr>
                        </m:ctrlPr>
                      </m:accPr>
                      <m:e>
                        <m:r>
                          <a:rPr lang="en-US" altLang="zh-CN" sz="3000" i="1">
                            <a:latin typeface="Cambria Math" panose="02040503050406030204" pitchFamily="18" charset="0"/>
                            <a:ea typeface="楷体" panose="02010609060101010101" pitchFamily="49" charset="-122"/>
                          </a:rPr>
                          <m:t>𝑖</m:t>
                        </m:r>
                      </m:e>
                    </m:acc>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i="1">
                            <a:latin typeface="Cambria Math" panose="02040503050406030204" pitchFamily="18" charset="0"/>
                            <a:ea typeface="楷体" panose="02010609060101010101" pitchFamily="49" charset="-122"/>
                          </a:rPr>
                          <m:t>𝑦</m:t>
                        </m:r>
                      </m:sub>
                    </m:sSub>
                    <m:acc>
                      <m:accPr>
                        <m:chr m:val="⃗"/>
                        <m:ctrlPr>
                          <a:rPr lang="en-US" altLang="zh-CN" sz="3000" i="1">
                            <a:latin typeface="Cambria Math" panose="02040503050406030204" pitchFamily="18" charset="0"/>
                            <a:ea typeface="楷体" panose="02010609060101010101" pitchFamily="49" charset="-122"/>
                          </a:rPr>
                        </m:ctrlPr>
                      </m:accPr>
                      <m:e>
                        <m:r>
                          <a:rPr lang="en-US" altLang="zh-CN" sz="3000" i="1">
                            <a:latin typeface="Cambria Math" panose="02040503050406030204" pitchFamily="18" charset="0"/>
                            <a:ea typeface="楷体" panose="02010609060101010101" pitchFamily="49" charset="-122"/>
                          </a:rPr>
                          <m:t>𝑗</m:t>
                        </m:r>
                      </m:e>
                    </m:acc>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其中</a:t>
                </a:r>
                <a14:m>
                  <m:oMath xmlns:m="http://schemas.openxmlformats.org/officeDocument/2006/math">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i="1">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oMath>
                </a14:m>
                <a:r>
                  <a:rPr lang="en-US" altLang="zh-CN" sz="3000" dirty="0">
                    <a:ea typeface="楷体" panose="02010609060101010101" pitchFamily="49" charset="-122"/>
                  </a:rPr>
                  <a:t> </a:t>
                </a:r>
                <a14:m>
                  <m:oMath xmlns:m="http://schemas.openxmlformats.org/officeDocument/2006/math">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oMath>
                </a14:m>
                <a:r>
                  <a:rPr lang="zh-CN" altLang="en-US" sz="3000" dirty="0">
                    <a:latin typeface="楷体" panose="02010609060101010101" pitchFamily="49" charset="-122"/>
                    <a:ea typeface="楷体" panose="02010609060101010101" pitchFamily="49" charset="-122"/>
                  </a:rPr>
                  <a:t>都有一阶连续偏导，且该场的复势函数</a:t>
                </a:r>
                <a14:m>
                  <m:oMath xmlns:m="http://schemas.openxmlformats.org/officeDocument/2006/math">
                    <m:r>
                      <a:rPr lang="zh-CN" altLang="en-US" sz="3000" i="1" smtClean="0">
                        <a:latin typeface="Cambria Math" panose="02040503050406030204" pitchFamily="18" charset="0"/>
                        <a:ea typeface="楷体" panose="02010609060101010101" pitchFamily="49" charset="-122"/>
                      </a:rPr>
                      <m:t>𝜔</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zh-CN" altLang="en-US" sz="3000" b="0" i="1" smtClean="0">
                        <a:latin typeface="Cambria Math" panose="02040503050406030204" pitchFamily="18" charset="0"/>
                        <a:ea typeface="楷体" panose="02010609060101010101" pitchFamily="49" charset="-122"/>
                      </a:rPr>
                      <m:t>𝜑</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zh-CN" altLang="en-US" sz="3000" b="0" i="1" smtClean="0">
                        <a:latin typeface="Cambria Math" panose="02040503050406030204" pitchFamily="18" charset="0"/>
                        <a:ea typeface="楷体" panose="02010609060101010101" pitchFamily="49" charset="-122"/>
                      </a:rPr>
                      <m:t>𝜓</m:t>
                    </m:r>
                  </m:oMath>
                </a14:m>
                <a:r>
                  <a:rPr lang="zh-CN" altLang="en-US" sz="3000" dirty="0">
                    <a:latin typeface="楷体" panose="02010609060101010101" pitchFamily="49" charset="-122"/>
                    <a:ea typeface="楷体" panose="02010609060101010101" pitchFamily="49" charset="-122"/>
                  </a:rPr>
                  <a:t>解析</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那么有：</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62894" y="406400"/>
                <a:ext cx="9018203" cy="1857676"/>
              </a:xfrm>
              <a:prstGeom prst="rect">
                <a:avLst/>
              </a:prstGeom>
              <a:blipFill rotWithShape="1">
                <a:blip r:embed="rId1"/>
                <a:stretch>
                  <a:fillRect r="7"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1670479" y="2101344"/>
                <a:ext cx="5803031" cy="110600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i="1">
                        <a:latin typeface="Cambria Math" panose="02040503050406030204" pitchFamily="18" charset="0"/>
                        <a:ea typeface="楷体" panose="02010609060101010101" pitchFamily="49" charset="-122"/>
                      </a:rPr>
                      <m:t>=</m:t>
                    </m:r>
                    <m:f>
                      <m:fPr>
                        <m:ctrlPr>
                          <a:rPr lang="en-US" altLang="zh-CN" sz="3000" i="1" smtClean="0">
                            <a:latin typeface="Cambria Math" panose="02040503050406030204" pitchFamily="18" charset="0"/>
                            <a:ea typeface="楷体" panose="02010609060101010101" pitchFamily="49" charset="-122"/>
                          </a:rPr>
                        </m:ctrlPr>
                      </m:fPr>
                      <m:num>
                        <m:r>
                          <a:rPr lang="en-US" altLang="zh-CN" sz="3000" i="1" smtClean="0">
                            <a:latin typeface="Cambria Math" panose="02040503050406030204" pitchFamily="18" charset="0"/>
                            <a:ea typeface="楷体" panose="02010609060101010101" pitchFamily="49" charset="-122"/>
                          </a:rPr>
                          <m:t>𝜕</m:t>
                        </m:r>
                        <m:r>
                          <a:rPr lang="zh-CN" altLang="en-US" sz="3000" i="1" smtClean="0">
                            <a:latin typeface="Cambria Math" panose="02040503050406030204" pitchFamily="18" charset="0"/>
                            <a:ea typeface="楷体" panose="02010609060101010101" pitchFamily="49" charset="-122"/>
                          </a:rPr>
                          <m:t>𝜑</m:t>
                        </m:r>
                      </m:num>
                      <m:den>
                        <m:r>
                          <a:rPr lang="en-US" altLang="zh-CN" sz="3000" i="1" smtClean="0">
                            <a:latin typeface="Cambria Math" panose="02040503050406030204" pitchFamily="18" charset="0"/>
                            <a:ea typeface="楷体" panose="02010609060101010101" pitchFamily="49" charset="-122"/>
                          </a:rPr>
                          <m:t>𝜕</m:t>
                        </m:r>
                        <m:r>
                          <a:rPr lang="en-US" altLang="zh-CN" sz="3000" i="1" smtClean="0">
                            <a:latin typeface="Cambria Math" panose="02040503050406030204" pitchFamily="18" charset="0"/>
                            <a:ea typeface="楷体" panose="02010609060101010101" pitchFamily="49" charset="-122"/>
                          </a:rPr>
                          <m:t>𝑥</m:t>
                        </m:r>
                      </m:den>
                    </m:f>
                    <m:r>
                      <a:rPr lang="en-US" altLang="zh-CN" sz="3000" i="1">
                        <a:latin typeface="Cambria Math" panose="02040503050406030204" pitchFamily="18" charset="0"/>
                        <a:ea typeface="楷体" panose="02010609060101010101" pitchFamily="49" charset="-122"/>
                      </a:rPr>
                      <m:t>=</m:t>
                    </m:r>
                    <m:f>
                      <m:fPr>
                        <m:ctrlPr>
                          <a:rPr lang="en-US" altLang="zh-CN" sz="3000" i="1" smtClean="0">
                            <a:latin typeface="Cambria Math" panose="02040503050406030204" pitchFamily="18" charset="0"/>
                            <a:ea typeface="楷体" panose="02010609060101010101" pitchFamily="49" charset="-122"/>
                          </a:rPr>
                        </m:ctrlPr>
                      </m:fPr>
                      <m:num>
                        <m:r>
                          <a:rPr lang="en-US" altLang="zh-CN" sz="3000" i="1" smtClean="0">
                            <a:latin typeface="Cambria Math" panose="02040503050406030204" pitchFamily="18" charset="0"/>
                            <a:ea typeface="楷体" panose="02010609060101010101" pitchFamily="49" charset="-122"/>
                          </a:rPr>
                          <m:t>𝜕</m:t>
                        </m:r>
                        <m:r>
                          <a:rPr lang="zh-CN" altLang="en-US" sz="3000" i="1" smtClean="0">
                            <a:latin typeface="Cambria Math" panose="02040503050406030204" pitchFamily="18" charset="0"/>
                            <a:ea typeface="楷体" panose="02010609060101010101" pitchFamily="49" charset="-122"/>
                          </a:rPr>
                          <m:t>𝜓</m:t>
                        </m:r>
                      </m:num>
                      <m:den>
                        <m:r>
                          <a:rPr lang="en-US" altLang="zh-CN" sz="300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den>
                    </m:f>
                    <m:r>
                      <a:rPr lang="en-US" altLang="zh-CN" sz="3000" b="0" i="1" smtClean="0">
                        <a:latin typeface="Cambria Math" panose="02040503050406030204" pitchFamily="18" charset="0"/>
                        <a:ea typeface="楷体" panose="02010609060101010101" pitchFamily="49" charset="-122"/>
                      </a:rPr>
                      <m:t>,      </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𝜑</m:t>
                        </m:r>
                      </m:num>
                      <m:den>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den>
                    </m:f>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𝜓</m:t>
                        </m:r>
                      </m:num>
                      <m:den>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den>
                    </m:f>
                  </m:oMath>
                </a14:m>
                <a:r>
                  <a:rPr lang="zh-CN" altLang="en-US" sz="3000" dirty="0">
                    <a:latin typeface="楷体" panose="02010609060101010101" pitchFamily="49" charset="-122"/>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1670479" y="2101344"/>
                <a:ext cx="5803031" cy="1106007"/>
              </a:xfrm>
              <a:prstGeom prst="rect">
                <a:avLst/>
              </a:prstGeom>
              <a:blipFill rotWithShape="1">
                <a:blip r:embed="rId2"/>
                <a:stretch>
                  <a:fillRect l="-7" t="-12" r="3" b="5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374827" y="2949265"/>
                <a:ext cx="8394333" cy="110600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groupChr>
                      <m:groupChrPr>
                        <m:chr m:val="⇒"/>
                        <m:pos m:val="top"/>
                        <m:ctrlPr>
                          <a:rPr lang="en-US" altLang="zh-CN" sz="3000" b="0" i="1" smtClean="0">
                            <a:latin typeface="Cambria Math" panose="02040503050406030204" pitchFamily="18" charset="0"/>
                            <a:ea typeface="楷体" panose="02010609060101010101" pitchFamily="49" charset="-122"/>
                          </a:rPr>
                        </m:ctrlPr>
                      </m:groupChrPr>
                      <m:e/>
                    </m:groupChr>
                    <m:r>
                      <a:rPr lang="en-US" altLang="zh-CN" sz="3000" b="0" i="1" smtClean="0">
                        <a:latin typeface="Cambria Math" panose="02040503050406030204" pitchFamily="18" charset="0"/>
                        <a:ea typeface="楷体" panose="02010609060101010101" pitchFamily="49" charset="-122"/>
                      </a:rPr>
                      <m:t>𝑣</m:t>
                    </m:r>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i="1">
                            <a:latin typeface="Cambria Math" panose="02040503050406030204" pitchFamily="18" charset="0"/>
                            <a:ea typeface="楷体" panose="02010609060101010101" pitchFamily="49" charset="-122"/>
                          </a:rPr>
                          <m:t>𝑦</m:t>
                        </m:r>
                      </m:sub>
                    </m:sSub>
                    <m:r>
                      <a:rPr lang="en-US" altLang="zh-CN" sz="3000" i="1">
                        <a:latin typeface="Cambria Math" panose="02040503050406030204" pitchFamily="18" charset="0"/>
                        <a:ea typeface="楷体" panose="02010609060101010101" pitchFamily="49" charset="-122"/>
                      </a:rPr>
                      <m:t>=</m:t>
                    </m:r>
                    <m:f>
                      <m:fPr>
                        <m:ctrlPr>
                          <a:rPr lang="en-US" altLang="zh-CN" sz="3000" i="1" smtClean="0">
                            <a:latin typeface="Cambria Math" panose="02040503050406030204" pitchFamily="18" charset="0"/>
                            <a:ea typeface="楷体" panose="02010609060101010101" pitchFamily="49" charset="-122"/>
                          </a:rPr>
                        </m:ctrlPr>
                      </m:fPr>
                      <m:num>
                        <m:r>
                          <a:rPr lang="en-US" altLang="zh-CN" sz="3000" i="1" smtClean="0">
                            <a:latin typeface="Cambria Math" panose="02040503050406030204" pitchFamily="18" charset="0"/>
                            <a:ea typeface="楷体" panose="02010609060101010101" pitchFamily="49" charset="-122"/>
                          </a:rPr>
                          <m:t>𝜕</m:t>
                        </m:r>
                        <m:r>
                          <a:rPr lang="zh-CN" altLang="en-US" sz="3000" i="1" smtClean="0">
                            <a:latin typeface="Cambria Math" panose="02040503050406030204" pitchFamily="18" charset="0"/>
                            <a:ea typeface="楷体" panose="02010609060101010101" pitchFamily="49" charset="-122"/>
                          </a:rPr>
                          <m:t>𝜑</m:t>
                        </m:r>
                      </m:num>
                      <m:den>
                        <m:r>
                          <a:rPr lang="en-US" altLang="zh-CN" sz="3000" i="1" smtClean="0">
                            <a:latin typeface="Cambria Math" panose="02040503050406030204" pitchFamily="18" charset="0"/>
                            <a:ea typeface="楷体" panose="02010609060101010101" pitchFamily="49" charset="-122"/>
                          </a:rPr>
                          <m:t>𝜕</m:t>
                        </m:r>
                        <m:r>
                          <a:rPr lang="en-US" altLang="zh-CN" sz="3000" i="1" smtClean="0">
                            <a:latin typeface="Cambria Math" panose="02040503050406030204" pitchFamily="18" charset="0"/>
                            <a:ea typeface="楷体" panose="02010609060101010101" pitchFamily="49" charset="-122"/>
                          </a:rPr>
                          <m:t>𝑥</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𝜑</m:t>
                        </m:r>
                      </m:num>
                      <m:den>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den>
                    </m:f>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𝜑</m:t>
                        </m:r>
                      </m:num>
                      <m:den>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den>
                    </m:f>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m:t>
                        </m:r>
                        <m:r>
                          <a:rPr lang="zh-CN" altLang="en-US" sz="3000" i="1" smtClean="0">
                            <a:latin typeface="Cambria Math" panose="02040503050406030204" pitchFamily="18" charset="0"/>
                            <a:ea typeface="楷体" panose="02010609060101010101" pitchFamily="49" charset="-122"/>
                          </a:rPr>
                          <m:t>𝜓</m:t>
                        </m:r>
                      </m:num>
                      <m:den>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den>
                    </m:f>
                    <m:r>
                      <a:rPr lang="en-US" altLang="zh-CN" sz="3000" b="0" i="1" smtClean="0">
                        <a:latin typeface="Cambria Math" panose="02040503050406030204" pitchFamily="18" charset="0"/>
                        <a:ea typeface="楷体" panose="02010609060101010101" pitchFamily="49" charset="-122"/>
                      </a:rPr>
                      <m:t>=</m:t>
                    </m:r>
                    <m:acc>
                      <m:accPr>
                        <m:chr m:val="̅"/>
                        <m:ctrlPr>
                          <a:rPr lang="en-US" altLang="zh-CN" sz="3000" b="0" i="1" smtClean="0">
                            <a:latin typeface="Cambria Math" panose="02040503050406030204" pitchFamily="18" charset="0"/>
                            <a:ea typeface="楷体" panose="02010609060101010101" pitchFamily="49" charset="-122"/>
                          </a:rPr>
                        </m:ctrlPr>
                      </m:accPr>
                      <m:e>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𝑓</m:t>
                            </m:r>
                          </m:e>
                          <m:sup>
                            <m:r>
                              <a:rPr lang="en-US" altLang="zh-CN" sz="3000" b="0" i="1" smtClean="0">
                                <a:latin typeface="Cambria Math" panose="02040503050406030204" pitchFamily="18" charset="0"/>
                                <a:ea typeface="楷体" panose="02010609060101010101" pitchFamily="49" charset="-122"/>
                              </a:rPr>
                              <m:t>′</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e>
                    </m:acc>
                  </m:oMath>
                </a14:m>
                <a:r>
                  <a:rPr lang="zh-CN" altLang="en-US" sz="3000" dirty="0">
                    <a:latin typeface="楷体" panose="02010609060101010101" pitchFamily="49" charset="-122"/>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374827" y="2949265"/>
                <a:ext cx="8394333" cy="1106007"/>
              </a:xfrm>
              <a:prstGeom prst="rect">
                <a:avLst/>
              </a:prstGeom>
              <a:blipFill rotWithShape="1">
                <a:blip r:embed="rId3"/>
                <a:stretch>
                  <a:fillRect l="-2" t="-29" r="5"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374826" y="3789928"/>
                <a:ext cx="8394333" cy="110600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groupChr>
                      <m:groupChrPr>
                        <m:chr m:val="⇒"/>
                        <m:pos m:val="top"/>
                        <m:ctrlPr>
                          <a:rPr lang="en-US" altLang="zh-CN" sz="3000" b="0" i="1" smtClean="0">
                            <a:latin typeface="Cambria Math" panose="02040503050406030204" pitchFamily="18" charset="0"/>
                            <a:ea typeface="楷体" panose="02010609060101010101" pitchFamily="49" charset="-122"/>
                          </a:rPr>
                        </m:ctrlPr>
                      </m:groupChrPr>
                      <m:e/>
                    </m:groupCh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𝑓</m:t>
                        </m:r>
                      </m:e>
                      <m:sup>
                        <m:r>
                          <a:rPr lang="en-US" altLang="zh-CN" sz="3000" b="0" i="1" smtClean="0">
                            <a:latin typeface="Cambria Math" panose="02040503050406030204" pitchFamily="18" charset="0"/>
                            <a:ea typeface="楷体" panose="02010609060101010101" pitchFamily="49" charset="-122"/>
                          </a:rPr>
                          <m:t>′</m:t>
                        </m:r>
                      </m:sup>
                    </m:sSup>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acc>
                      <m:accPr>
                        <m:chr m:val="̅"/>
                        <m:ctrlPr>
                          <a:rPr lang="en-US" altLang="zh-CN" sz="3000" b="0" i="1" smtClean="0">
                            <a:latin typeface="Cambria Math" panose="02040503050406030204" pitchFamily="18" charset="0"/>
                            <a:ea typeface="楷体" panose="02010609060101010101" pitchFamily="49" charset="-122"/>
                          </a:rPr>
                        </m:ctrlPr>
                      </m:accPr>
                      <m:e>
                        <m:r>
                          <a:rPr lang="en-US" altLang="zh-CN" sz="3000" b="0" i="1" smtClean="0">
                            <a:latin typeface="Cambria Math" panose="02040503050406030204" pitchFamily="18" charset="0"/>
                            <a:ea typeface="楷体" panose="02010609060101010101" pitchFamily="49" charset="-122"/>
                          </a:rPr>
                          <m:t>𝑣</m:t>
                        </m:r>
                      </m:e>
                    </m:acc>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i="1">
                            <a:latin typeface="Cambria Math" panose="02040503050406030204" pitchFamily="18" charset="0"/>
                            <a:ea typeface="楷体" panose="02010609060101010101" pitchFamily="49" charset="-122"/>
                          </a:rPr>
                          <m:t>𝑦</m:t>
                        </m:r>
                      </m:sub>
                    </m:sSub>
                  </m:oMath>
                </a14:m>
                <a:r>
                  <a:rPr lang="zh-CN" altLang="en-US" sz="3000" dirty="0">
                    <a:latin typeface="楷体" panose="02010609060101010101" pitchFamily="49" charset="-122"/>
                    <a:ea typeface="楷体" panose="02010609060101010101" pitchFamily="49" charset="-122"/>
                  </a:rPr>
                  <a:t>且</a:t>
                </a:r>
                <a14:m>
                  <m:oMath xmlns:m="http://schemas.openxmlformats.org/officeDocument/2006/math">
                    <m:d>
                      <m:dPr>
                        <m:begChr m:val="|"/>
                        <m:endChr m:val="|"/>
                        <m:ctrlPr>
                          <a:rPr lang="en-US" altLang="zh-CN" sz="3000" b="0" i="1" dirty="0" smtClean="0">
                            <a:latin typeface="Cambria Math" panose="02040503050406030204" pitchFamily="18" charset="0"/>
                            <a:ea typeface="楷体" panose="02010609060101010101" pitchFamily="49" charset="-122"/>
                          </a:rPr>
                        </m:ctrlPr>
                      </m:dPr>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𝑓</m:t>
                            </m:r>
                          </m:e>
                          <m:sup>
                            <m:r>
                              <a:rPr lang="en-US" altLang="zh-CN" sz="3000" i="1">
                                <a:latin typeface="Cambria Math" panose="02040503050406030204" pitchFamily="18" charset="0"/>
                                <a:ea typeface="楷体" panose="02010609060101010101" pitchFamily="49" charset="-122"/>
                              </a:rPr>
                              <m:t>′</m:t>
                            </m:r>
                          </m:sup>
                        </m:sSup>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e>
                    </m:d>
                    <m:r>
                      <a:rPr lang="en-US" altLang="zh-CN" sz="3000" b="0" i="1" dirty="0" smtClean="0">
                        <a:latin typeface="Cambria Math" panose="02040503050406030204" pitchFamily="18" charset="0"/>
                        <a:ea typeface="楷体" panose="02010609060101010101" pitchFamily="49" charset="-122"/>
                      </a:rPr>
                      <m:t>=</m:t>
                    </m:r>
                    <m:rad>
                      <m:radPr>
                        <m:degHide m:val="on"/>
                        <m:ctrlPr>
                          <a:rPr lang="en-US" altLang="zh-CN" sz="3000" b="0" i="1" dirty="0" smtClean="0">
                            <a:latin typeface="Cambria Math" panose="02040503050406030204" pitchFamily="18" charset="0"/>
                            <a:ea typeface="楷体" panose="02010609060101010101" pitchFamily="49" charset="-122"/>
                          </a:rPr>
                        </m:ctrlPr>
                      </m:radPr>
                      <m:deg/>
                      <m:e>
                        <m:sSup>
                          <m:sSupPr>
                            <m:ctrlPr>
                              <a:rPr lang="en-US" altLang="zh-CN" sz="3000" b="0" i="1" dirty="0" smtClean="0">
                                <a:latin typeface="Cambria Math" panose="02040503050406030204" pitchFamily="18" charset="0"/>
                                <a:ea typeface="楷体" panose="02010609060101010101" pitchFamily="49" charset="-122"/>
                              </a:rPr>
                            </m:ctrlPr>
                          </m:sSupPr>
                          <m:e>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i="1">
                                    <a:latin typeface="Cambria Math" panose="02040503050406030204" pitchFamily="18" charset="0"/>
                                    <a:ea typeface="楷体" panose="02010609060101010101" pitchFamily="49" charset="-122"/>
                                  </a:rPr>
                                  <m:t>𝑥</m:t>
                                </m:r>
                              </m:sub>
                            </m:sSub>
                          </m:e>
                          <m:sup>
                            <m:r>
                              <a:rPr lang="en-US" altLang="zh-CN" sz="3000" b="0" i="1" dirty="0" smtClean="0">
                                <a:latin typeface="Cambria Math" panose="02040503050406030204" pitchFamily="18" charset="0"/>
                                <a:ea typeface="楷体" panose="02010609060101010101" pitchFamily="49" charset="-122"/>
                              </a:rPr>
                              <m:t>2</m:t>
                            </m:r>
                          </m:sup>
                        </m:sSup>
                        <m:r>
                          <a:rPr lang="en-US" altLang="zh-CN" sz="3000" b="0" i="1" dirty="0" smtClean="0">
                            <a:latin typeface="Cambria Math" panose="02040503050406030204" pitchFamily="18" charset="0"/>
                            <a:ea typeface="楷体" panose="02010609060101010101" pitchFamily="49" charset="-122"/>
                          </a:rPr>
                          <m:t>+</m:t>
                        </m:r>
                        <m:sSup>
                          <m:sSupPr>
                            <m:ctrlPr>
                              <a:rPr lang="en-US" altLang="zh-CN" sz="3000" b="0" i="1" dirty="0" smtClean="0">
                                <a:latin typeface="Cambria Math" panose="02040503050406030204" pitchFamily="18" charset="0"/>
                                <a:ea typeface="楷体" panose="02010609060101010101" pitchFamily="49" charset="-122"/>
                              </a:rPr>
                            </m:ctrlPr>
                          </m:sSupPr>
                          <m:e>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i="1">
                                    <a:latin typeface="Cambria Math" panose="02040503050406030204" pitchFamily="18" charset="0"/>
                                    <a:ea typeface="楷体" panose="02010609060101010101" pitchFamily="49" charset="-122"/>
                                  </a:rPr>
                                  <m:t>𝑦</m:t>
                                </m:r>
                              </m:sub>
                            </m:sSub>
                          </m:e>
                          <m:sup>
                            <m:r>
                              <a:rPr lang="en-US" altLang="zh-CN" sz="3000" b="0" i="1" dirty="0" smtClean="0">
                                <a:latin typeface="Cambria Math" panose="02040503050406030204" pitchFamily="18" charset="0"/>
                                <a:ea typeface="楷体" panose="02010609060101010101" pitchFamily="49" charset="-122"/>
                              </a:rPr>
                              <m:t>2</m:t>
                            </m:r>
                          </m:sup>
                        </m:sSup>
                      </m:e>
                    </m:rad>
                  </m:oMath>
                </a14:m>
                <a:endParaRPr lang="zh-CN" altLang="en-US"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374826" y="3789928"/>
                <a:ext cx="8394333" cy="1106007"/>
              </a:xfrm>
              <a:prstGeom prst="rect">
                <a:avLst/>
              </a:prstGeom>
              <a:blipFill rotWithShape="1">
                <a:blip r:embed="rId4"/>
                <a:stretch>
                  <a:fillRect l="-2" t="-22" r="5"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181796" y="4938399"/>
                <a:ext cx="8780400" cy="15132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表明</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解析函数</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𝑧</m:t>
                    </m:r>
                  </m:oMath>
                </a14:m>
                <a:r>
                  <a:rPr lang="zh-CN" altLang="en-US" sz="3000" dirty="0">
                    <a:latin typeface="楷体" panose="02010609060101010101" pitchFamily="49" charset="-122"/>
                    <a:ea typeface="楷体" panose="02010609060101010101" pitchFamily="49" charset="-122"/>
                  </a:rPr>
                  <a:t>处的导数</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𝑓</m:t>
                        </m:r>
                      </m:e>
                      <m:sup>
                        <m:r>
                          <a:rPr lang="en-US" altLang="zh-CN" sz="3000" i="1">
                            <a:latin typeface="Cambria Math" panose="02040503050406030204" pitchFamily="18" charset="0"/>
                            <a:ea typeface="楷体" panose="02010609060101010101" pitchFamily="49" charset="-122"/>
                          </a:rPr>
                          <m:t>′</m:t>
                        </m:r>
                      </m:sup>
                    </m:sSup>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就是该场的复速度</a:t>
                </a:r>
                <a14:m>
                  <m:oMath xmlns:m="http://schemas.openxmlformats.org/officeDocument/2006/math">
                    <m:acc>
                      <m:accPr>
                        <m:chr m:val="̅"/>
                        <m:ctrlPr>
                          <a:rPr lang="en-US" altLang="zh-CN" sz="3000" i="1">
                            <a:latin typeface="Cambria Math" panose="02040503050406030204" pitchFamily="18" charset="0"/>
                            <a:ea typeface="楷体" panose="02010609060101010101" pitchFamily="49" charset="-122"/>
                          </a:rPr>
                        </m:ctrlPr>
                      </m:accPr>
                      <m:e>
                        <m:r>
                          <a:rPr lang="en-US" altLang="zh-CN" sz="3000" i="1">
                            <a:latin typeface="Cambria Math" panose="02040503050406030204" pitchFamily="18" charset="0"/>
                            <a:ea typeface="楷体" panose="02010609060101010101" pitchFamily="49" charset="-122"/>
                          </a:rPr>
                          <m:t>𝑣</m:t>
                        </m:r>
                      </m:e>
                    </m:acc>
                  </m:oMath>
                </a14:m>
                <a:r>
                  <a:rPr lang="zh-CN" altLang="en-US" sz="3000" dirty="0">
                    <a:latin typeface="楷体" panose="02010609060101010101" pitchFamily="49" charset="-122"/>
                    <a:ea typeface="楷体" panose="02010609060101010101" pitchFamily="49" charset="-122"/>
                  </a:rPr>
                  <a:t>，它的模</a:t>
                </a:r>
                <a14:m>
                  <m:oMath xmlns:m="http://schemas.openxmlformats.org/officeDocument/2006/math">
                    <m:d>
                      <m:dPr>
                        <m:begChr m:val="|"/>
                        <m:endChr m:val="|"/>
                        <m:ctrlPr>
                          <a:rPr lang="en-US" altLang="zh-CN" sz="3000" i="1" dirty="0">
                            <a:latin typeface="Cambria Math" panose="02040503050406030204" pitchFamily="18" charset="0"/>
                            <a:ea typeface="楷体" panose="02010609060101010101" pitchFamily="49" charset="-122"/>
                          </a:rPr>
                        </m:ctrlPr>
                      </m:dPr>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𝑓</m:t>
                            </m:r>
                          </m:e>
                          <m:sup>
                            <m:r>
                              <a:rPr lang="en-US" altLang="zh-CN" sz="3000" i="1">
                                <a:latin typeface="Cambria Math" panose="02040503050406030204" pitchFamily="18" charset="0"/>
                                <a:ea typeface="楷体" panose="02010609060101010101" pitchFamily="49" charset="-122"/>
                              </a:rPr>
                              <m:t>′</m:t>
                            </m:r>
                          </m:sup>
                        </m:sSup>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e>
                    </m:d>
                  </m:oMath>
                </a14:m>
                <a:r>
                  <a:rPr lang="zh-CN" altLang="en-US" sz="3000" dirty="0">
                    <a:latin typeface="楷体" panose="02010609060101010101" pitchFamily="49" charset="-122"/>
                    <a:ea typeface="楷体" panose="02010609060101010101" pitchFamily="49" charset="-122"/>
                  </a:rPr>
                  <a:t>就是速度</a:t>
                </a:r>
                <a14:m>
                  <m:oMath xmlns:m="http://schemas.openxmlformats.org/officeDocument/2006/math">
                    <m:r>
                      <a:rPr lang="en-US" altLang="zh-CN" sz="3000" i="1">
                        <a:latin typeface="Cambria Math" panose="02040503050406030204" pitchFamily="18" charset="0"/>
                        <a:ea typeface="楷体" panose="02010609060101010101" pitchFamily="49" charset="-122"/>
                      </a:rPr>
                      <m:t>𝑣</m:t>
                    </m:r>
                  </m:oMath>
                </a14:m>
                <a:r>
                  <a:rPr lang="zh-CN" altLang="en-US" sz="3000" dirty="0">
                    <a:latin typeface="楷体" panose="02010609060101010101" pitchFamily="49" charset="-122"/>
                    <a:ea typeface="楷体" panose="02010609060101010101" pitchFamily="49" charset="-122"/>
                  </a:rPr>
                  <a:t>的模</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反之</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一个以它为复势的平面流速场</a:t>
                </a:r>
                <a14:m>
                  <m:oMath xmlns:m="http://schemas.openxmlformats.org/officeDocument/2006/math">
                    <m:r>
                      <a:rPr lang="en-US" altLang="zh-CN" sz="3000" i="1">
                        <a:latin typeface="Cambria Math" panose="02040503050406030204" pitchFamily="18" charset="0"/>
                        <a:ea typeface="楷体" panose="02010609060101010101" pitchFamily="49" charset="-122"/>
                      </a:rPr>
                      <m:t>𝑣</m:t>
                    </m:r>
                  </m:oMath>
                </a14:m>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acc>
                      <m:accPr>
                        <m:chr m:val="̅"/>
                        <m:ctrlPr>
                          <a:rPr lang="en-US" altLang="zh-CN" sz="3000" i="1">
                            <a:latin typeface="Cambria Math" panose="02040503050406030204" pitchFamily="18" charset="0"/>
                            <a:ea typeface="楷体" panose="02010609060101010101" pitchFamily="49" charset="-122"/>
                          </a:rPr>
                        </m:ctrlPr>
                      </m:accPr>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𝑓</m:t>
                            </m:r>
                          </m:e>
                          <m:sup>
                            <m:r>
                              <a:rPr lang="en-US" altLang="zh-CN" sz="3000" i="1">
                                <a:latin typeface="Cambria Math" panose="02040503050406030204" pitchFamily="18" charset="0"/>
                                <a:ea typeface="楷体" panose="02010609060101010101" pitchFamily="49" charset="-122"/>
                              </a:rPr>
                              <m:t>′</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e>
                    </m:acc>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从而</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𝑓</m:t>
                        </m:r>
                      </m:e>
                      <m:sup>
                        <m:r>
                          <a:rPr lang="en-US" altLang="zh-CN" sz="3000" i="1">
                            <a:latin typeface="Cambria Math" panose="02040503050406030204" pitchFamily="18" charset="0"/>
                            <a:ea typeface="楷体" panose="02010609060101010101" pitchFamily="49" charset="-122"/>
                          </a:rPr>
                          <m:t>′</m:t>
                        </m:r>
                      </m:sup>
                    </m:sSup>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acc>
                      <m:accPr>
                        <m:chr m:val="̅"/>
                        <m:ctrlPr>
                          <a:rPr lang="en-US" altLang="zh-CN" sz="3000" i="1">
                            <a:latin typeface="Cambria Math" panose="02040503050406030204" pitchFamily="18" charset="0"/>
                            <a:ea typeface="楷体" panose="02010609060101010101" pitchFamily="49" charset="-122"/>
                          </a:rPr>
                        </m:ctrlPr>
                      </m:accPr>
                      <m:e>
                        <m:r>
                          <a:rPr lang="en-US" altLang="zh-CN" sz="3000" i="1">
                            <a:latin typeface="Cambria Math" panose="02040503050406030204" pitchFamily="18" charset="0"/>
                            <a:ea typeface="楷体" panose="02010609060101010101" pitchFamily="49" charset="-122"/>
                          </a:rPr>
                          <m:t>𝑣</m:t>
                        </m:r>
                      </m:e>
                    </m:acc>
                  </m:oMath>
                </a14:m>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181796" y="4938399"/>
                <a:ext cx="8780400" cy="1513201"/>
              </a:xfrm>
              <a:prstGeom prst="rect">
                <a:avLst/>
              </a:prstGeom>
              <a:blipFill rotWithShape="1">
                <a:blip r:embed="rId5"/>
                <a:stretch>
                  <a:fillRect l="-2" t="-1175" r="5" b="-1217"/>
                </a:stretch>
              </a:blipFill>
            </p:spPr>
            <p:txBody>
              <a:bodyPr/>
              <a:lstStyle/>
              <a:p>
                <a:r>
                  <a:rPr lang="zh-CN" altLang="en-US">
                    <a:noFill/>
                  </a:rPr>
                  <a:t> </a:t>
                </a:r>
              </a:p>
            </p:txBody>
          </p:sp>
        </mc:Fallback>
      </mc:AlternateContent>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2.2</a:t>
            </a:r>
            <a:r>
              <a:rPr lang="zh-CN" altLang="en-US" sz="1800" b="1" dirty="0">
                <a:latin typeface="楷体" panose="02010609060101010101" pitchFamily="49" charset="-122"/>
                <a:ea typeface="楷体" panose="02010609060101010101" pitchFamily="49" charset="-122"/>
              </a:rPr>
              <a:t>复变函数的导数和解析函数</a:t>
            </a:r>
            <a:endParaRPr lang="zh-CN" altLang="en-US" sz="1800" b="1" dirty="0">
              <a:latin typeface="楷体" panose="02010609060101010101" pitchFamily="49" charset="-122"/>
              <a:ea typeface="楷体" panose="02010609060101010101" pitchFamily="49" charset="-122"/>
            </a:endParaRPr>
          </a:p>
        </p:txBody>
      </p:sp>
      <p:cxnSp>
        <p:nvCxnSpPr>
          <p:cNvPr id="11" name="直接连接符 10"/>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3" grpId="0"/>
      <p:bldP spid="4" grpId="0"/>
      <p:bldP spid="7" grpId="0"/>
    </p:bldLst>
  </p:timing>
</p:sld>
</file>

<file path=ppt/tags/tag1.xml><?xml version="1.0" encoding="utf-8"?>
<p:tagLst xmlns:p="http://schemas.openxmlformats.org/presentationml/2006/main">
  <p:tag name="KSO_WM_UNIT_PLACING_PICTURE_USER_VIEWPORT" val="{&quot;height&quot;:1485,&quot;width&quot;:14400}"/>
</p:tagLst>
</file>

<file path=ppt/tags/tag2.xml><?xml version="1.0" encoding="utf-8"?>
<p:tagLst xmlns:p="http://schemas.openxmlformats.org/presentationml/2006/main">
  <p:tag name="COMMONDATA" val="eyJoZGlkIjoiMTAyMzJkOGNiMDEyZDQzM2FkNGM4ODJmZGE4NDczMDMifQ=="/>
  <p:tag name="KSO_WPP_MARK_KEY" val="a883a56a-cdd6-49cd-bd71-0de34519163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9374</Words>
  <Application>WPS 演示</Application>
  <PresentationFormat>全屏显示(4:3)</PresentationFormat>
  <Paragraphs>525</Paragraphs>
  <Slides>36</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36</vt:i4>
      </vt:variant>
    </vt:vector>
  </HeadingPairs>
  <TitlesOfParts>
    <vt:vector size="49" baseType="lpstr">
      <vt:lpstr>Arial</vt:lpstr>
      <vt:lpstr>宋体</vt:lpstr>
      <vt:lpstr>Wingdings</vt:lpstr>
      <vt:lpstr>楷体</vt:lpstr>
      <vt:lpstr>Cambria Math</vt:lpstr>
      <vt:lpstr>MS Mincho</vt:lpstr>
      <vt:lpstr>等线</vt:lpstr>
      <vt:lpstr>微软雅黑</vt:lpstr>
      <vt:lpstr>Arial Unicode MS</vt:lpstr>
      <vt:lpstr>等线 Light</vt:lpstr>
      <vt:lpstr>Calibri</vt:lpstr>
      <vt:lpstr>Office 主题​​</vt:lpstr>
      <vt:lpstr>1_Office 主题​​</vt:lpstr>
      <vt:lpstr>复变函数与积分变换</vt:lpstr>
      <vt:lpstr>主 要 内 容</vt:lpstr>
      <vt:lpstr>PowerPoint 演示文稿</vt:lpstr>
      <vt:lpstr>PowerPoint 演示文稿</vt:lpstr>
      <vt:lpstr>PowerPoint 演示文稿</vt:lpstr>
      <vt:lpstr>一、复变函数的导数</vt:lpstr>
      <vt:lpstr>PowerPoint 演示文稿</vt:lpstr>
      <vt:lpstr>PowerPoint 演示文稿</vt:lpstr>
      <vt:lpstr>2.常数的导数为0;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 方程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复变函数与积分变换</dc:title>
  <dc:creator>dym</dc:creator>
  <cp:lastModifiedBy>DhyWay</cp:lastModifiedBy>
  <cp:revision>102</cp:revision>
  <dcterms:created xsi:type="dcterms:W3CDTF">2020-09-10T08:53:00Z</dcterms:created>
  <dcterms:modified xsi:type="dcterms:W3CDTF">2025-08-19T06:26:21Z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C0469C47DFB04A69AA3E4C0E1551EE44</vt:lpwstr>
  </property>
  <property fmtid="{D5CDD505-2E9C-101B-9397-08002B2CF9AE}" pid="3" name="KSOProductBuildVer">
    <vt:lpwstr>2052-12.1.0.21915</vt:lpwstr>
  </property>
</Properties>
</file>