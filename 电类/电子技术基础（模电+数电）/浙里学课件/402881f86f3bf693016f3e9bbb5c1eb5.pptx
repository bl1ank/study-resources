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Override PartName="/ppt/theme/themeOverride3.xml" ContentType="application/vnd.openxmlformats-officedocument.themeOverride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handoutMasterIdLst>
    <p:handoutMasterId r:id="rId19"/>
  </p:handoutMasterIdLst>
  <p:sldIdLst>
    <p:sldId id="391" r:id="rId2"/>
    <p:sldId id="545" r:id="rId3"/>
    <p:sldId id="546" r:id="rId4"/>
    <p:sldId id="547" r:id="rId5"/>
    <p:sldId id="558" r:id="rId6"/>
    <p:sldId id="548" r:id="rId7"/>
    <p:sldId id="559" r:id="rId8"/>
    <p:sldId id="549" r:id="rId9"/>
    <p:sldId id="322" r:id="rId10"/>
    <p:sldId id="550" r:id="rId11"/>
    <p:sldId id="551" r:id="rId12"/>
    <p:sldId id="552" r:id="rId13"/>
    <p:sldId id="553" r:id="rId14"/>
    <p:sldId id="554" r:id="rId15"/>
    <p:sldId id="557" r:id="rId16"/>
    <p:sldId id="556" r:id="rId17"/>
    <p:sldId id="560" r:id="rId18"/>
  </p:sldIdLst>
  <p:sldSz cx="9144000" cy="5143500" type="screen16x9"/>
  <p:notesSz cx="6761163" cy="99425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000" i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9999"/>
    </p:penClr>
  </p:showPr>
  <p:clrMru>
    <a:srgbClr val="3333FF"/>
    <a:srgbClr val="FFFF00"/>
    <a:srgbClr val="FF9933"/>
    <a:srgbClr val="FFCC00"/>
    <a:srgbClr val="FFCC66"/>
    <a:srgbClr val="FF6600"/>
    <a:srgbClr val="FF00FF"/>
    <a:srgbClr val="A50021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165" autoAdjust="0"/>
    <p:restoredTop sz="94700" autoAdjust="0"/>
  </p:normalViewPr>
  <p:slideViewPr>
    <p:cSldViewPr snapToGrid="0">
      <p:cViewPr varScale="1">
        <p:scale>
          <a:sx n="94" d="100"/>
          <a:sy n="94" d="100"/>
        </p:scale>
        <p:origin x="-660" y="-9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5810"/>
    </p:cViewPr>
  </p:sorterViewPr>
  <p:notesViewPr>
    <p:cSldViewPr snapToGrid="0">
      <p:cViewPr varScale="1">
        <p:scale>
          <a:sx n="74" d="100"/>
          <a:sy n="74" d="100"/>
        </p:scale>
        <p:origin x="-2232" y="-84"/>
      </p:cViewPr>
      <p:guideLst>
        <p:guide orient="horz" pos="3131"/>
        <p:guide pos="2129"/>
      </p:guideLst>
    </p:cSldViewPr>
  </p:notesViewPr>
  <p:gridSpacing cx="46085125" cy="4608512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2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29050" y="0"/>
            <a:ext cx="293052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6F8BFB7-A544-4863-A7C2-8FB476C611D7}" type="datetimeFigureOut">
              <a:rPr lang="zh-CN" altLang="en-US"/>
              <a:pPr>
                <a:defRPr/>
              </a:pPr>
              <a:t>2017/10/15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29050" y="9444038"/>
            <a:ext cx="293052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12E7FB8-B784-4B04-AB7B-A96662CC2E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0F0E0E-06DE-4DCA-AD00-F14E2120FCB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7A17C-D207-4689-8672-B575015D2F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E03D6A-BC29-4754-9BEC-3F5289D1560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3CF8A9-BCC7-4259-B1C5-8272E3577C6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A22EA0-914B-47B8-8426-CADC154195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AE25F4-62EF-43FC-8568-3BDE74553F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06267-F85C-4A4D-B0C1-959E49547A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776AFF-43BD-42EB-8EDE-01AFF34CD8D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334CC2-6A4D-4312-8349-A6CB5BFCDF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F7716-B508-466B-A449-E99037ABD0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6858C5-4FAB-498B-B6AD-1760E5C70C5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274638"/>
            <a:ext cx="7886700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smtClean="0"/>
          </a:p>
        </p:txBody>
      </p:sp>
      <p:sp>
        <p:nvSpPr>
          <p:cNvPr id="122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370013"/>
            <a:ext cx="7886700" cy="326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9D8A59C-98EE-46F2-83B5-ABF01B853F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ransition spd="slow">
    <p:random/>
  </p:transition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11.bin"/><Relationship Id="rId4" Type="http://schemas.openxmlformats.org/officeDocument/2006/relationships/oleObject" Target="../embeddings/oleObject10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13.bin"/><Relationship Id="rId4" Type="http://schemas.openxmlformats.org/officeDocument/2006/relationships/oleObject" Target="../embeddings/oleObject1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1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4" Type="http://schemas.openxmlformats.org/officeDocument/2006/relationships/oleObject" Target="../embeddings/oleObject18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3.bin"/><Relationship Id="rId5" Type="http://schemas.openxmlformats.org/officeDocument/2006/relationships/oleObject" Target="../embeddings/oleObject22.bin"/><Relationship Id="rId4" Type="http://schemas.openxmlformats.org/officeDocument/2006/relationships/oleObject" Target="../embeddings/oleObject2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6.bin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3" name="Rectangle 5"/>
          <p:cNvSpPr>
            <a:spLocks noChangeArrowheads="1"/>
          </p:cNvSpPr>
          <p:nvPr/>
        </p:nvSpPr>
        <p:spPr bwMode="auto">
          <a:xfrm>
            <a:off x="1357290" y="428610"/>
            <a:ext cx="657229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6000" b="1" i="0" dirty="0" smtClean="0">
                <a:ea typeface="汉仪大隶书简" pitchFamily="49" charset="-122"/>
                <a:cs typeface="Times New Roman" pitchFamily="18" charset="0"/>
              </a:rPr>
              <a:t>12.2  </a:t>
            </a:r>
            <a:r>
              <a:rPr lang="zh-CN" altLang="en-US" sz="6000" b="1" i="0" dirty="0">
                <a:ea typeface="汉仪大隶书简" pitchFamily="49" charset="-122"/>
                <a:cs typeface="Times New Roman" pitchFamily="18" charset="0"/>
              </a:rPr>
              <a:t>逻辑函数</a:t>
            </a:r>
            <a:r>
              <a:rPr lang="zh-CN" altLang="en-US" sz="6000" b="1" i="0" dirty="0" smtClean="0">
                <a:ea typeface="汉仪大隶书简" pitchFamily="49" charset="-122"/>
                <a:cs typeface="Times New Roman" pitchFamily="18" charset="0"/>
              </a:rPr>
              <a:t>的</a:t>
            </a:r>
            <a:endParaRPr lang="en-US" altLang="zh-CN" sz="6000" b="1" i="0" dirty="0" smtClean="0">
              <a:ea typeface="汉仪大隶书简" pitchFamily="49" charset="-122"/>
              <a:cs typeface="Times New Roman" pitchFamily="18" charset="0"/>
            </a:endParaRPr>
          </a:p>
          <a:p>
            <a:pPr algn="ctr">
              <a:defRPr/>
            </a:pPr>
            <a:r>
              <a:rPr lang="zh-CN" altLang="en-US" sz="6000" b="1" i="0" dirty="0" smtClean="0">
                <a:ea typeface="汉仪大隶书简" pitchFamily="49" charset="-122"/>
                <a:cs typeface="Times New Roman" pitchFamily="18" charset="0"/>
              </a:rPr>
              <a:t>表示</a:t>
            </a:r>
            <a:r>
              <a:rPr lang="zh-CN" altLang="en-US" sz="6000" b="1" i="0" dirty="0">
                <a:ea typeface="汉仪大隶书简" pitchFamily="49" charset="-122"/>
                <a:cs typeface="Times New Roman" pitchFamily="18" charset="0"/>
              </a:rPr>
              <a:t>和化简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143108" y="2556788"/>
            <a:ext cx="5195903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zh-CN" altLang="en-US" sz="3600" b="1" i="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逻辑函数的表示方法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43108" y="3286130"/>
            <a:ext cx="4910151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zh-CN" altLang="en-US" sz="3600" b="1" i="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逻辑函数的化简法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106363"/>
            <a:ext cx="2786054" cy="857250"/>
          </a:xfrm>
        </p:spPr>
        <p:txBody>
          <a:bodyPr/>
          <a:lstStyle/>
          <a:p>
            <a:pPr eaLnBrk="1" hangingPunct="1"/>
            <a:r>
              <a:rPr lang="zh-CN" altLang="en-US" sz="3600" b="1" dirty="0" smtClean="0">
                <a:latin typeface="黑体" pitchFamily="49" charset="-122"/>
                <a:ea typeface="黑体" pitchFamily="49" charset="-122"/>
                <a:cs typeface="Arial" charset="0"/>
              </a:rPr>
              <a:t>逻辑函数</a:t>
            </a:r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285750" y="1071563"/>
            <a:ext cx="86106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</a:t>
            </a:r>
            <a:r>
              <a:rPr lang="zh-CN" altLang="en-US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定义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：输入逻辑变量和输出逻辑变量之间的逻辑关系。</a:t>
            </a:r>
          </a:p>
        </p:txBody>
      </p:sp>
      <p:sp>
        <p:nvSpPr>
          <p:cNvPr id="20" name="Text Box 13"/>
          <p:cNvSpPr txBox="1">
            <a:spLocks noChangeArrowheads="1"/>
          </p:cNvSpPr>
          <p:nvPr/>
        </p:nvSpPr>
        <p:spPr bwMode="auto">
          <a:xfrm>
            <a:off x="304800" y="3355975"/>
            <a:ext cx="4711700" cy="116955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25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</a:t>
            </a:r>
            <a:r>
              <a:rPr lang="zh-CN" altLang="en-US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逻辑函数的表示方法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：				</a:t>
            </a:r>
          </a:p>
        </p:txBody>
      </p:sp>
      <p:graphicFrame>
        <p:nvGraphicFramePr>
          <p:cNvPr id="21" name="Object 2"/>
          <p:cNvGraphicFramePr>
            <a:graphicFrameLocks noChangeAspect="1"/>
          </p:cNvGraphicFramePr>
          <p:nvPr/>
        </p:nvGraphicFramePr>
        <p:xfrm>
          <a:off x="3071813" y="1685925"/>
          <a:ext cx="2714625" cy="504825"/>
        </p:xfrm>
        <a:graphic>
          <a:graphicData uri="http://schemas.openxmlformats.org/presentationml/2006/ole">
            <p:oleObj spid="_x0000_s1026" name="Equation" r:id="rId4" imgW="888840" imgH="164880" progId="Equation.DSMT4">
              <p:embed/>
            </p:oleObj>
          </a:graphicData>
        </a:graphic>
      </p:graphicFrame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285750" y="2214563"/>
            <a:ext cx="8610600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</a:t>
            </a:r>
            <a:r>
              <a:rPr lang="zh-CN" altLang="en-US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特点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：输入变量和输出变量只有逻辑</a:t>
            </a:r>
            <a:r>
              <a:rPr lang="en-US" altLang="zh-CN" sz="2800" i="0" dirty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0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、逻辑</a:t>
            </a:r>
            <a:r>
              <a:rPr lang="zh-CN" altLang="en-US" sz="2800" i="0" dirty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solidFill>
                  <a:srgbClr val="0033CC"/>
                </a:solidFill>
                <a:ea typeface="华文中宋" pitchFamily="2" charset="-122"/>
                <a:cs typeface="Times New Roman" pitchFamily="18" charset="0"/>
              </a:rPr>
              <a:t>两种取值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。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838200" y="4070350"/>
            <a:ext cx="2387262" cy="768350"/>
            <a:chOff x="102" y="3648"/>
            <a:chExt cx="1338" cy="484"/>
          </a:xfrm>
        </p:grpSpPr>
        <p:graphicFrame>
          <p:nvGraphicFramePr>
            <p:cNvPr id="1029" name="Object 4">
              <a:hlinkClick r:id="" action="ppaction://noaction"/>
            </p:cNvPr>
            <p:cNvGraphicFramePr>
              <a:graphicFrameLocks noChangeAspect="1"/>
            </p:cNvGraphicFramePr>
            <p:nvPr/>
          </p:nvGraphicFramePr>
          <p:xfrm>
            <a:off x="102" y="3648"/>
            <a:ext cx="1338" cy="484"/>
          </p:xfrm>
          <a:graphic>
            <a:graphicData uri="http://schemas.openxmlformats.org/presentationml/2006/ole">
              <p:oleObj spid="_x0000_s1029" name="Clip" r:id="rId5" imgW="971172" imgH="409307" progId="">
                <p:embed/>
              </p:oleObj>
            </a:graphicData>
          </a:graphic>
        </p:graphicFrame>
        <p:sp>
          <p:nvSpPr>
            <p:cNvPr id="1041" name="Text Box 8"/>
            <p:cNvSpPr txBox="1">
              <a:spLocks noChangeArrowheads="1"/>
            </p:cNvSpPr>
            <p:nvPr/>
          </p:nvSpPr>
          <p:spPr bwMode="auto">
            <a:xfrm>
              <a:off x="203" y="3693"/>
              <a:ext cx="119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r>
                <a:rPr lang="zh-CN" altLang="en-US" sz="2800" i="0" dirty="0">
                  <a:solidFill>
                    <a:srgbClr val="3333FF"/>
                  </a:solidFill>
                  <a:ea typeface="华文中宋" pitchFamily="2" charset="-122"/>
                  <a:cs typeface="Times New Roman" pitchFamily="18" charset="0"/>
                </a:rPr>
                <a:t>逻辑状态表</a:t>
              </a:r>
            </a:p>
          </p:txBody>
        </p:sp>
      </p:grpSp>
      <p:grpSp>
        <p:nvGrpSpPr>
          <p:cNvPr id="3" name="Group 40"/>
          <p:cNvGrpSpPr>
            <a:grpSpLocks/>
          </p:cNvGrpSpPr>
          <p:nvPr/>
        </p:nvGrpSpPr>
        <p:grpSpPr bwMode="auto">
          <a:xfrm>
            <a:off x="3419474" y="4070350"/>
            <a:ext cx="2198191" cy="768350"/>
            <a:chOff x="1632" y="3456"/>
            <a:chExt cx="1260" cy="484"/>
          </a:xfrm>
        </p:grpSpPr>
        <p:graphicFrame>
          <p:nvGraphicFramePr>
            <p:cNvPr id="1028" name="Object 5"/>
            <p:cNvGraphicFramePr>
              <a:graphicFrameLocks noChangeAspect="1"/>
            </p:cNvGraphicFramePr>
            <p:nvPr/>
          </p:nvGraphicFramePr>
          <p:xfrm>
            <a:off x="1632" y="3456"/>
            <a:ext cx="1260" cy="484"/>
          </p:xfrm>
          <a:graphic>
            <a:graphicData uri="http://schemas.openxmlformats.org/presentationml/2006/ole">
              <p:oleObj spid="_x0000_s1028" name="Clip" r:id="rId6" imgW="971172" imgH="409307" progId="">
                <p:embed/>
              </p:oleObj>
            </a:graphicData>
          </a:graphic>
        </p:graphicFrame>
        <p:sp>
          <p:nvSpPr>
            <p:cNvPr id="1040" name="Text Box 11"/>
            <p:cNvSpPr txBox="1">
              <a:spLocks noChangeArrowheads="1"/>
            </p:cNvSpPr>
            <p:nvPr/>
          </p:nvSpPr>
          <p:spPr bwMode="auto">
            <a:xfrm>
              <a:off x="1680" y="3525"/>
              <a:ext cx="1135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800" i="0" dirty="0">
                  <a:solidFill>
                    <a:srgbClr val="3333FF"/>
                  </a:solidFill>
                  <a:ea typeface="华文中宋" pitchFamily="2" charset="-122"/>
                  <a:cs typeface="Times New Roman" pitchFamily="18" charset="0"/>
                </a:rPr>
                <a:t>逻辑表达式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5948363" y="4064000"/>
            <a:ext cx="1962150" cy="768350"/>
            <a:chOff x="3120" y="3648"/>
            <a:chExt cx="1152" cy="484"/>
          </a:xfrm>
        </p:grpSpPr>
        <p:graphicFrame>
          <p:nvGraphicFramePr>
            <p:cNvPr id="1027" name="Object 6"/>
            <p:cNvGraphicFramePr>
              <a:graphicFrameLocks noChangeAspect="1"/>
            </p:cNvGraphicFramePr>
            <p:nvPr/>
          </p:nvGraphicFramePr>
          <p:xfrm>
            <a:off x="3120" y="3648"/>
            <a:ext cx="1152" cy="484"/>
          </p:xfrm>
          <a:graphic>
            <a:graphicData uri="http://schemas.openxmlformats.org/presentationml/2006/ole">
              <p:oleObj spid="_x0000_s1027" name="Clip" r:id="rId7" imgW="971172" imgH="409307" progId="">
                <p:embed/>
              </p:oleObj>
            </a:graphicData>
          </a:graphic>
        </p:graphicFrame>
        <p:sp>
          <p:nvSpPr>
            <p:cNvPr id="1039" name="Text Box 14"/>
            <p:cNvSpPr txBox="1">
              <a:spLocks noChangeArrowheads="1"/>
            </p:cNvSpPr>
            <p:nvPr/>
          </p:nvSpPr>
          <p:spPr bwMode="auto">
            <a:xfrm>
              <a:off x="3331" y="3724"/>
              <a:ext cx="796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800" i="0" dirty="0">
                  <a:solidFill>
                    <a:srgbClr val="3333FF"/>
                  </a:solidFill>
                  <a:ea typeface="华文中宋" pitchFamily="2" charset="-122"/>
                  <a:cs typeface="Times New Roman" pitchFamily="18" charset="0"/>
                </a:rPr>
                <a:t> 逻辑图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 autoUpdateAnimBg="0"/>
      <p:bldP spid="20" grpId="0" build="p" autoUpdateAnimBg="0"/>
      <p:bldP spid="22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357157" y="1071563"/>
            <a:ext cx="8286778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25000"/>
              </a:lnSpc>
              <a:spcBef>
                <a:spcPct val="20000"/>
              </a:spcBef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</a:t>
            </a:r>
            <a:r>
              <a:rPr lang="zh-CN" altLang="en-US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逻辑状态表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：列出输入、输出变量的所有逻辑状态。</a:t>
            </a:r>
          </a:p>
        </p:txBody>
      </p:sp>
      <p:sp>
        <p:nvSpPr>
          <p:cNvPr id="9" name="Text Box 13"/>
          <p:cNvSpPr txBox="1">
            <a:spLocks noChangeArrowheads="1"/>
          </p:cNvSpPr>
          <p:nvPr/>
        </p:nvSpPr>
        <p:spPr bwMode="auto">
          <a:xfrm>
            <a:off x="285720" y="3500445"/>
            <a:ext cx="8358215" cy="116955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25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Monotype Sorts" pitchFamily="2" charset="2"/>
              <a:buNone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 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3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</a:t>
            </a:r>
            <a:r>
              <a:rPr lang="zh-CN" altLang="en-US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逻辑图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：用逻辑符号表示输入、输出变量间的逻辑关系。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57158" y="2330894"/>
            <a:ext cx="8215340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（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）</a:t>
            </a:r>
            <a:r>
              <a:rPr lang="zh-CN" altLang="en-US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逻辑式表达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：用基本运算与、或、非</a:t>
            </a:r>
            <a:r>
              <a:rPr lang="zh-CN" altLang="en-US" sz="2800" dirty="0">
                <a:ea typeface="华文中宋" pitchFamily="2" charset="-122"/>
                <a:cs typeface="Times New Roman" pitchFamily="18" charset="0"/>
              </a:rPr>
              <a:t>等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符号列出输入、输出变量间的逻辑代数式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。</a:t>
            </a:r>
            <a:endParaRPr lang="zh-CN" altLang="en-US" sz="2800" i="0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28596" y="214296"/>
            <a:ext cx="5195903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zh-CN" altLang="en-US" sz="3600" b="1" i="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逻辑函数的表示方法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autoUpdateAnimBg="0"/>
      <p:bldP spid="10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30"/>
          <p:cNvSpPr>
            <a:spLocks noChangeArrowheads="1"/>
          </p:cNvSpPr>
          <p:nvPr/>
        </p:nvSpPr>
        <p:spPr bwMode="auto">
          <a:xfrm>
            <a:off x="357188" y="701675"/>
            <a:ext cx="8393112" cy="2679837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square" lIns="90000" tIns="46800" rIns="90000" bIns="468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zh-CN" altLang="en-US" sz="2800" i="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例</a:t>
            </a:r>
            <a:r>
              <a:rPr lang="en-US" altLang="zh-CN" sz="2800" i="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：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设一个三输入变量的偶数判别电路，输入变量为</a:t>
            </a:r>
            <a:r>
              <a:rPr lang="en-US" altLang="zh-CN" sz="2800" dirty="0">
                <a:ea typeface="华文中宋" pitchFamily="2" charset="-122"/>
                <a:cs typeface="Times New Roman" pitchFamily="18" charset="0"/>
              </a:rPr>
              <a:t>A</a:t>
            </a:r>
            <a:r>
              <a:rPr lang="zh-CN" altLang="en-US" sz="2800" dirty="0"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dirty="0">
                <a:ea typeface="华文中宋" pitchFamily="2" charset="-122"/>
                <a:cs typeface="Times New Roman" pitchFamily="18" charset="0"/>
              </a:rPr>
              <a:t>B</a:t>
            </a:r>
            <a:r>
              <a:rPr lang="zh-CN" altLang="en-US" sz="2800" dirty="0">
                <a:ea typeface="华文中宋" pitchFamily="2" charset="-122"/>
                <a:cs typeface="Times New Roman" pitchFamily="18" charset="0"/>
              </a:rPr>
              <a:t>，</a:t>
            </a:r>
            <a:r>
              <a:rPr lang="en-US" altLang="zh-CN" sz="2800" dirty="0">
                <a:ea typeface="华文中宋" pitchFamily="2" charset="-122"/>
                <a:cs typeface="Times New Roman" pitchFamily="18" charset="0"/>
              </a:rPr>
              <a:t>C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，输出变量为</a:t>
            </a:r>
            <a:r>
              <a:rPr lang="en-US" altLang="zh-CN" sz="2800" dirty="0">
                <a:ea typeface="华文中宋" pitchFamily="2" charset="-122"/>
                <a:cs typeface="Times New Roman" pitchFamily="18" charset="0"/>
              </a:rPr>
              <a:t>F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。当输入变量中有偶数个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时，</a:t>
            </a:r>
            <a:r>
              <a:rPr lang="en-US" altLang="zh-CN" sz="2800" dirty="0">
                <a:ea typeface="华文中宋" pitchFamily="2" charset="-122"/>
                <a:cs typeface="Times New Roman" pitchFamily="18" charset="0"/>
              </a:rPr>
              <a:t>F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=1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；有奇数个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时，</a:t>
            </a:r>
            <a:r>
              <a:rPr lang="en-US" altLang="zh-CN" sz="2800" dirty="0">
                <a:ea typeface="华文中宋" pitchFamily="2" charset="-122"/>
                <a:cs typeface="Times New Roman" pitchFamily="18" charset="0"/>
              </a:rPr>
              <a:t>F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=0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。试用不同的逻辑函数表示法来表示。</a:t>
            </a:r>
            <a:endParaRPr lang="en-US" altLang="zh-CN" sz="2800" i="0" dirty="0">
              <a:ea typeface="华文中宋" pitchFamily="2" charset="-122"/>
              <a:cs typeface="Times New Roman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Box 44"/>
          <p:cNvSpPr txBox="1">
            <a:spLocks noChangeArrowheads="1"/>
          </p:cNvSpPr>
          <p:nvPr/>
        </p:nvSpPr>
        <p:spPr bwMode="auto">
          <a:xfrm>
            <a:off x="393700" y="1860550"/>
            <a:ext cx="5643563" cy="2280112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 algn="just">
              <a:lnSpc>
                <a:spcPct val="130000"/>
              </a:lnSpc>
              <a:spcBef>
                <a:spcPct val="50000"/>
              </a:spcBef>
              <a:defRPr/>
            </a:pP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       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三个输入变量有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2</a:t>
            </a:r>
            <a:r>
              <a:rPr lang="en-US" altLang="zh-CN" sz="2800" i="0" baseline="30000" dirty="0">
                <a:ea typeface="华文中宋" pitchFamily="2" charset="-122"/>
                <a:cs typeface="Times New Roman" pitchFamily="18" charset="0"/>
              </a:rPr>
              <a:t>3 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= 8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个组合状态，将这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8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个组合状态的输入，输出变量都列出来，就构成了逻辑状态表，如表所示。</a:t>
            </a: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527050" y="927100"/>
            <a:ext cx="3219449" cy="600076"/>
            <a:chOff x="2925" y="1517"/>
            <a:chExt cx="2028" cy="378"/>
          </a:xfrm>
        </p:grpSpPr>
        <p:sp>
          <p:nvSpPr>
            <p:cNvPr id="49" name="Rectangle 45"/>
            <p:cNvSpPr>
              <a:spLocks noChangeArrowheads="1"/>
            </p:cNvSpPr>
            <p:nvPr/>
          </p:nvSpPr>
          <p:spPr bwMode="auto">
            <a:xfrm>
              <a:off x="2925" y="1517"/>
              <a:ext cx="567" cy="378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zh-CN" altLang="en-US" sz="2800" i="0">
                  <a:ea typeface="华文中宋" pitchFamily="2" charset="-122"/>
                  <a:cs typeface="Times New Roman" pitchFamily="18" charset="0"/>
                </a:rPr>
                <a:t>解：</a:t>
              </a:r>
            </a:p>
          </p:txBody>
        </p:sp>
        <p:sp>
          <p:nvSpPr>
            <p:cNvPr id="50" name="Rectangle 47"/>
            <p:cNvSpPr>
              <a:spLocks noChangeArrowheads="1"/>
            </p:cNvSpPr>
            <p:nvPr/>
          </p:nvSpPr>
          <p:spPr bwMode="auto">
            <a:xfrm>
              <a:off x="3330" y="1517"/>
              <a:ext cx="1623" cy="378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en-US" altLang="zh-CN" sz="2800" i="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( 1 )</a:t>
              </a:r>
              <a:r>
                <a:rPr lang="zh-CN" altLang="en-US" sz="2800" i="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逻辑状态表</a:t>
              </a:r>
            </a:p>
          </p:txBody>
        </p:sp>
      </p:grpSp>
      <p:graphicFrame>
        <p:nvGraphicFramePr>
          <p:cNvPr id="51" name="Group 40"/>
          <p:cNvGraphicFramePr>
            <a:graphicFrameLocks noGrp="1"/>
          </p:cNvGraphicFramePr>
          <p:nvPr/>
        </p:nvGraphicFramePr>
        <p:xfrm>
          <a:off x="6357938" y="857250"/>
          <a:ext cx="2357454" cy="3474720"/>
        </p:xfrm>
        <a:graphic>
          <a:graphicData uri="http://schemas.openxmlformats.org/drawingml/2006/table">
            <a:tbl>
              <a:tblPr/>
              <a:tblGrid>
                <a:gridCol w="1653502"/>
                <a:gridCol w="703952"/>
              </a:tblGrid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</a:t>
                      </a: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</a:t>
                      </a: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  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</a:t>
                      </a: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0    0    0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0    0    1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0    1    0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0    1    1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1    0    0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1    0    1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1    1    0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1    1    1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8"/>
          <p:cNvSpPr>
            <a:spLocks noChangeArrowheads="1"/>
          </p:cNvSpPr>
          <p:nvPr/>
        </p:nvSpPr>
        <p:spPr bwMode="auto">
          <a:xfrm>
            <a:off x="357188" y="1285875"/>
            <a:ext cx="5857875" cy="289528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       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把逻辑状态表中的输入，输出变量写成</a:t>
            </a:r>
            <a:r>
              <a:rPr lang="zh-CN" altLang="en-US" sz="2800" i="0" dirty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与</a:t>
            </a:r>
            <a:r>
              <a:rPr lang="en-US" altLang="zh-CN" sz="2800" i="0" dirty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—</a:t>
            </a:r>
            <a:r>
              <a:rPr lang="zh-CN" altLang="en-US" sz="2800" i="0" dirty="0">
                <a:solidFill>
                  <a:srgbClr val="FF0000"/>
                </a:solidFill>
                <a:ea typeface="华文中宋" pitchFamily="2" charset="-122"/>
                <a:cs typeface="Times New Roman" pitchFamily="18" charset="0"/>
              </a:rPr>
              <a:t>或形式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的逻辑表达式，将</a:t>
            </a:r>
            <a:r>
              <a:rPr lang="en-US" altLang="zh-CN" sz="2800" dirty="0">
                <a:ea typeface="华文中宋" pitchFamily="2" charset="-122"/>
                <a:cs typeface="Times New Roman" pitchFamily="18" charset="0"/>
              </a:rPr>
              <a:t>F</a:t>
            </a:r>
            <a:r>
              <a:rPr lang="en-US" altLang="zh-CN" sz="2800" i="0" dirty="0">
                <a:ea typeface="华文中宋" pitchFamily="2" charset="-122"/>
                <a:cs typeface="Times New Roman" pitchFamily="18" charset="0"/>
              </a:rPr>
              <a:t> = 1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的各状态表示成全部输入变量的</a:t>
            </a:r>
            <a:r>
              <a:rPr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与函数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，并将总输出表示成这些与项的</a:t>
            </a:r>
            <a:r>
              <a:rPr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或</a:t>
            </a:r>
            <a:r>
              <a:rPr lang="zh-CN" altLang="en-US" sz="2800" i="0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函数。</a:t>
            </a:r>
            <a:endParaRPr lang="en-US" sz="2800" i="0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7" name="Rectangle 58"/>
          <p:cNvSpPr>
            <a:spLocks noChangeArrowheads="1"/>
          </p:cNvSpPr>
          <p:nvPr/>
        </p:nvSpPr>
        <p:spPr bwMode="auto">
          <a:xfrm>
            <a:off x="434975" y="785813"/>
            <a:ext cx="2760990" cy="52540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zh-CN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( 2 ) </a:t>
            </a:r>
            <a:r>
              <a:rPr lang="zh-CN" altLang="en-US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逻辑表达式</a:t>
            </a:r>
            <a:endParaRPr lang="en-US" altLang="zh-CN" sz="2800" i="0" dirty="0">
              <a:solidFill>
                <a:srgbClr val="C00000"/>
              </a:solidFill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52" name="Group 40"/>
          <p:cNvGraphicFramePr>
            <a:graphicFrameLocks noGrp="1"/>
          </p:cNvGraphicFramePr>
          <p:nvPr/>
        </p:nvGraphicFramePr>
        <p:xfrm>
          <a:off x="6357938" y="857250"/>
          <a:ext cx="2357454" cy="3474720"/>
        </p:xfrm>
        <a:graphic>
          <a:graphicData uri="http://schemas.openxmlformats.org/drawingml/2006/table">
            <a:tbl>
              <a:tblPr/>
              <a:tblGrid>
                <a:gridCol w="1653502"/>
                <a:gridCol w="703952"/>
              </a:tblGrid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</a:t>
                      </a: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</a:t>
                      </a: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  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</a:t>
                      </a: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0    0    0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0    0    1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0    1    0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0    1    1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1    0    0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1    0    1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1    1    0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1    1    1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8"/>
          <p:cNvSpPr>
            <a:spLocks noChangeArrowheads="1"/>
          </p:cNvSpPr>
          <p:nvPr/>
        </p:nvSpPr>
        <p:spPr bwMode="auto">
          <a:xfrm>
            <a:off x="349250" y="1638300"/>
            <a:ext cx="3103561" cy="654667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square" lIns="90000" tIns="46800" rIns="90000" bIns="46800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     得逻辑表达式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：</a:t>
            </a:r>
            <a:endParaRPr lang="en-US" sz="2800" i="0" dirty="0">
              <a:ea typeface="华文中宋" pitchFamily="2" charset="-122"/>
              <a:cs typeface="Times New Roman" pitchFamily="18" charset="0"/>
            </a:endParaRPr>
          </a:p>
        </p:txBody>
      </p:sp>
      <p:sp>
        <p:nvSpPr>
          <p:cNvPr id="47" name="Rectangle 58"/>
          <p:cNvSpPr>
            <a:spLocks noChangeArrowheads="1"/>
          </p:cNvSpPr>
          <p:nvPr/>
        </p:nvSpPr>
        <p:spPr bwMode="auto">
          <a:xfrm>
            <a:off x="434975" y="785813"/>
            <a:ext cx="2760990" cy="525401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wrap="none" lIns="90000" tIns="46800" rIns="90000" bIns="46800">
            <a:spAutoFit/>
          </a:bodyPr>
          <a:lstStyle/>
          <a:p>
            <a:pPr>
              <a:defRPr/>
            </a:pPr>
            <a:r>
              <a:rPr lang="en-US" altLang="zh-CN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( 2 ) </a:t>
            </a:r>
            <a:r>
              <a:rPr lang="zh-CN" altLang="en-US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逻辑表达式</a:t>
            </a:r>
            <a:endParaRPr lang="en-US" altLang="zh-CN" sz="2800" i="0" dirty="0">
              <a:solidFill>
                <a:srgbClr val="C00000"/>
              </a:solidFill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48" name="Object 2"/>
          <p:cNvGraphicFramePr>
            <a:graphicFrameLocks noChangeAspect="1"/>
          </p:cNvGraphicFramePr>
          <p:nvPr/>
        </p:nvGraphicFramePr>
        <p:xfrm>
          <a:off x="882650" y="3060700"/>
          <a:ext cx="4894263" cy="544513"/>
        </p:xfrm>
        <a:graphic>
          <a:graphicData uri="http://schemas.openxmlformats.org/presentationml/2006/ole">
            <p:oleObj spid="_x0000_s28674" name="Equation" r:id="rId3" imgW="1600200" imgH="177480" progId="Equation.DSMT4">
              <p:embed/>
            </p:oleObj>
          </a:graphicData>
        </a:graphic>
      </p:graphicFrame>
      <p:sp>
        <p:nvSpPr>
          <p:cNvPr id="49" name="Text Box 6"/>
          <p:cNvSpPr txBox="1">
            <a:spLocks noChangeArrowheads="1"/>
          </p:cNvSpPr>
          <p:nvPr/>
        </p:nvSpPr>
        <p:spPr bwMode="auto">
          <a:xfrm>
            <a:off x="882650" y="2438400"/>
            <a:ext cx="250031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与</a:t>
            </a:r>
            <a:r>
              <a:rPr lang="en-US" altLang="zh-CN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-</a:t>
            </a:r>
            <a:r>
              <a:rPr lang="zh-CN" altLang="en-US" sz="2800" i="0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或式：</a:t>
            </a:r>
            <a:endParaRPr lang="en-US" altLang="zh-CN" sz="2800" i="0" dirty="0">
              <a:solidFill>
                <a:srgbClr val="3333FF"/>
              </a:solidFill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52" name="Group 40"/>
          <p:cNvGraphicFramePr>
            <a:graphicFrameLocks noGrp="1"/>
          </p:cNvGraphicFramePr>
          <p:nvPr/>
        </p:nvGraphicFramePr>
        <p:xfrm>
          <a:off x="6357938" y="857250"/>
          <a:ext cx="2357454" cy="3474720"/>
        </p:xfrm>
        <a:graphic>
          <a:graphicData uri="http://schemas.openxmlformats.org/drawingml/2006/table">
            <a:tbl>
              <a:tblPr/>
              <a:tblGrid>
                <a:gridCol w="1653502"/>
                <a:gridCol w="703952"/>
              </a:tblGrid>
              <a:tr h="252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</a:t>
                      </a: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</a:t>
                      </a: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  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</a:t>
                      </a:r>
                      <a:endParaRPr kumimoji="1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  </a:t>
                      </a:r>
                      <a:r>
                        <a:rPr kumimoji="1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F</a:t>
                      </a: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225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0    0    0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0    0    1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0    1    0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0    1    1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1    0    0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1    0    1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1    1    0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 1    1    1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0000"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utoUpdateAnimBg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58"/>
          <p:cNvSpPr>
            <a:spLocks noChangeArrowheads="1"/>
          </p:cNvSpPr>
          <p:nvPr/>
        </p:nvSpPr>
        <p:spPr bwMode="auto">
          <a:xfrm>
            <a:off x="428625" y="345758"/>
            <a:ext cx="3000375" cy="3196902"/>
          </a:xfrm>
          <a:prstGeom prst="rect">
            <a:avLst/>
          </a:prstGeom>
          <a:noFill/>
          <a:ln w="22225">
            <a:noFill/>
            <a:miter lim="800000"/>
            <a:headEnd/>
            <a:tailEnd type="none" w="med" len="lg"/>
          </a:ln>
        </p:spPr>
        <p:txBody>
          <a:bodyPr lIns="90000" tIns="46800" rIns="90000" bIns="46800">
            <a:sp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en-US" altLang="zh-CN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( 3 ) </a:t>
            </a:r>
            <a:r>
              <a:rPr lang="zh-CN" altLang="en-US" sz="2800" i="0" dirty="0">
                <a:solidFill>
                  <a:srgbClr val="C00000"/>
                </a:solidFill>
                <a:ea typeface="华文中宋" pitchFamily="2" charset="-122"/>
                <a:cs typeface="Times New Roman" pitchFamily="18" charset="0"/>
              </a:rPr>
              <a:t>逻辑图：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若将逻辑表达式中的逻辑运算关系用相应的图形符号和连线表示，则构成逻辑图。</a:t>
            </a:r>
            <a:endParaRPr lang="en-US" altLang="zh-CN" sz="2800" i="0" dirty="0">
              <a:solidFill>
                <a:srgbClr val="C00000"/>
              </a:solidFill>
              <a:ea typeface="华文中宋" pitchFamily="2" charset="-122"/>
              <a:cs typeface="Times New Roman" pitchFamily="18" charset="0"/>
            </a:endParaRPr>
          </a:p>
        </p:txBody>
      </p:sp>
      <p:grpSp>
        <p:nvGrpSpPr>
          <p:cNvPr id="2" name="Group 124"/>
          <p:cNvGrpSpPr>
            <a:grpSpLocks/>
          </p:cNvGrpSpPr>
          <p:nvPr/>
        </p:nvGrpSpPr>
        <p:grpSpPr bwMode="auto">
          <a:xfrm>
            <a:off x="3714750" y="638175"/>
            <a:ext cx="5200672" cy="3951287"/>
            <a:chOff x="192" y="1436"/>
            <a:chExt cx="3058" cy="2306"/>
          </a:xfrm>
        </p:grpSpPr>
        <p:sp>
          <p:nvSpPr>
            <p:cNvPr id="3080" name="Rectangle 13"/>
            <p:cNvSpPr>
              <a:spLocks noChangeArrowheads="1"/>
            </p:cNvSpPr>
            <p:nvPr/>
          </p:nvSpPr>
          <p:spPr bwMode="auto">
            <a:xfrm>
              <a:off x="768" y="1918"/>
              <a:ext cx="240" cy="336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FFFD97"/>
                </a:gs>
              </a:gsLst>
              <a:lin ang="2700000" scaled="1"/>
            </a:gradFill>
            <a:ln w="28575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081" name="Rectangle 14"/>
            <p:cNvSpPr>
              <a:spLocks noChangeArrowheads="1"/>
            </p:cNvSpPr>
            <p:nvPr/>
          </p:nvSpPr>
          <p:spPr bwMode="auto">
            <a:xfrm>
              <a:off x="768" y="2542"/>
              <a:ext cx="240" cy="336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FFFD97"/>
                </a:gs>
              </a:gsLst>
              <a:lin ang="2700000" scaled="1"/>
            </a:gradFill>
            <a:ln w="28575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082" name="Rectangle 15"/>
            <p:cNvSpPr>
              <a:spLocks noChangeArrowheads="1"/>
            </p:cNvSpPr>
            <p:nvPr/>
          </p:nvSpPr>
          <p:spPr bwMode="auto">
            <a:xfrm>
              <a:off x="768" y="3118"/>
              <a:ext cx="240" cy="336"/>
            </a:xfrm>
            <a:prstGeom prst="rect">
              <a:avLst/>
            </a:prstGeom>
            <a:gradFill rotWithShape="1">
              <a:gsLst>
                <a:gs pos="0">
                  <a:schemeClr val="accent1"/>
                </a:gs>
                <a:gs pos="100000">
                  <a:srgbClr val="FFFD97"/>
                </a:gs>
              </a:gsLst>
              <a:lin ang="2700000" scaled="1"/>
            </a:gradFill>
            <a:ln w="28575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083" name="Rectangle 16"/>
            <p:cNvSpPr>
              <a:spLocks noChangeArrowheads="1"/>
            </p:cNvSpPr>
            <p:nvPr/>
          </p:nvSpPr>
          <p:spPr bwMode="auto">
            <a:xfrm>
              <a:off x="2064" y="1774"/>
              <a:ext cx="240" cy="384"/>
            </a:xfrm>
            <a:prstGeom prst="rect">
              <a:avLst/>
            </a:prstGeom>
            <a:gradFill rotWithShape="1">
              <a:gsLst>
                <a:gs pos="0">
                  <a:srgbClr val="FFFD97"/>
                </a:gs>
                <a:gs pos="100000">
                  <a:schemeClr val="accent1"/>
                </a:gs>
              </a:gsLst>
              <a:lin ang="2700000" scaled="1"/>
            </a:gradFill>
            <a:ln w="28575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084" name="Rectangle 17"/>
            <p:cNvSpPr>
              <a:spLocks noChangeArrowheads="1"/>
            </p:cNvSpPr>
            <p:nvPr/>
          </p:nvSpPr>
          <p:spPr bwMode="auto">
            <a:xfrm>
              <a:off x="2064" y="2254"/>
              <a:ext cx="240" cy="384"/>
            </a:xfrm>
            <a:prstGeom prst="rect">
              <a:avLst/>
            </a:prstGeom>
            <a:gradFill rotWithShape="1">
              <a:gsLst>
                <a:gs pos="0">
                  <a:srgbClr val="FFFD97"/>
                </a:gs>
                <a:gs pos="100000">
                  <a:schemeClr val="accent1"/>
                </a:gs>
              </a:gsLst>
              <a:lin ang="2700000" scaled="1"/>
            </a:gradFill>
            <a:ln w="28575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085" name="Rectangle 18"/>
            <p:cNvSpPr>
              <a:spLocks noChangeArrowheads="1"/>
            </p:cNvSpPr>
            <p:nvPr/>
          </p:nvSpPr>
          <p:spPr bwMode="auto">
            <a:xfrm>
              <a:off x="2064" y="2734"/>
              <a:ext cx="240" cy="384"/>
            </a:xfrm>
            <a:prstGeom prst="rect">
              <a:avLst/>
            </a:prstGeom>
            <a:gradFill rotWithShape="1">
              <a:gsLst>
                <a:gs pos="0">
                  <a:srgbClr val="FFFD97"/>
                </a:gs>
                <a:gs pos="100000">
                  <a:schemeClr val="accent1"/>
                </a:gs>
              </a:gsLst>
              <a:lin ang="2700000" scaled="1"/>
            </a:gradFill>
            <a:ln w="28575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086" name="Rectangle 19"/>
            <p:cNvSpPr>
              <a:spLocks noChangeArrowheads="1"/>
            </p:cNvSpPr>
            <p:nvPr/>
          </p:nvSpPr>
          <p:spPr bwMode="auto">
            <a:xfrm>
              <a:off x="2064" y="3262"/>
              <a:ext cx="240" cy="384"/>
            </a:xfrm>
            <a:prstGeom prst="rect">
              <a:avLst/>
            </a:prstGeom>
            <a:gradFill rotWithShape="1">
              <a:gsLst>
                <a:gs pos="0">
                  <a:srgbClr val="FFFD97"/>
                </a:gs>
                <a:gs pos="100000">
                  <a:schemeClr val="accent1"/>
                </a:gs>
              </a:gsLst>
              <a:lin ang="2700000" scaled="1"/>
            </a:gradFill>
            <a:ln w="28575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94" name="Rectangle 20"/>
            <p:cNvSpPr>
              <a:spLocks noChangeArrowheads="1"/>
            </p:cNvSpPr>
            <p:nvPr/>
          </p:nvSpPr>
          <p:spPr bwMode="auto">
            <a:xfrm>
              <a:off x="2736" y="2446"/>
              <a:ext cx="240" cy="432"/>
            </a:xfrm>
            <a:prstGeom prst="rect">
              <a:avLst/>
            </a:prstGeom>
            <a:gradFill rotWithShape="1">
              <a:gsLst>
                <a:gs pos="0">
                  <a:srgbClr val="FFFD97"/>
                </a:gs>
                <a:gs pos="50000">
                  <a:schemeClr val="accent1"/>
                </a:gs>
                <a:gs pos="100000">
                  <a:srgbClr val="FFFD97"/>
                </a:gs>
              </a:gsLst>
              <a:lin ang="18900000" scaled="1"/>
            </a:gradFill>
            <a:ln w="28575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lIns="90000" tIns="46800" rIns="90000" bIns="46800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088" name="Line 21"/>
            <p:cNvSpPr>
              <a:spLocks noChangeShapeType="1"/>
            </p:cNvSpPr>
            <p:nvPr/>
          </p:nvSpPr>
          <p:spPr bwMode="auto">
            <a:xfrm>
              <a:off x="1200" y="1726"/>
              <a:ext cx="0" cy="2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089" name="Line 22"/>
            <p:cNvSpPr>
              <a:spLocks noChangeShapeType="1"/>
            </p:cNvSpPr>
            <p:nvPr/>
          </p:nvSpPr>
          <p:spPr bwMode="auto">
            <a:xfrm>
              <a:off x="1344" y="1726"/>
              <a:ext cx="0" cy="2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090" name="Line 23"/>
            <p:cNvSpPr>
              <a:spLocks noChangeShapeType="1"/>
            </p:cNvSpPr>
            <p:nvPr/>
          </p:nvSpPr>
          <p:spPr bwMode="auto">
            <a:xfrm>
              <a:off x="1488" y="1726"/>
              <a:ext cx="0" cy="2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091" name="Line 24"/>
            <p:cNvSpPr>
              <a:spLocks noChangeShapeType="1"/>
            </p:cNvSpPr>
            <p:nvPr/>
          </p:nvSpPr>
          <p:spPr bwMode="auto">
            <a:xfrm>
              <a:off x="1632" y="1726"/>
              <a:ext cx="0" cy="2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092" name="Line 25"/>
            <p:cNvSpPr>
              <a:spLocks noChangeShapeType="1"/>
            </p:cNvSpPr>
            <p:nvPr/>
          </p:nvSpPr>
          <p:spPr bwMode="auto">
            <a:xfrm>
              <a:off x="1776" y="1726"/>
              <a:ext cx="0" cy="2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093" name="Line 26"/>
            <p:cNvSpPr>
              <a:spLocks noChangeShapeType="1"/>
            </p:cNvSpPr>
            <p:nvPr/>
          </p:nvSpPr>
          <p:spPr bwMode="auto">
            <a:xfrm>
              <a:off x="1920" y="1726"/>
              <a:ext cx="0" cy="201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094" name="Oval 27"/>
            <p:cNvSpPr>
              <a:spLocks noChangeArrowheads="1"/>
            </p:cNvSpPr>
            <p:nvPr/>
          </p:nvSpPr>
          <p:spPr bwMode="auto">
            <a:xfrm>
              <a:off x="1008" y="2062"/>
              <a:ext cx="42" cy="4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095" name="Oval 28"/>
            <p:cNvSpPr>
              <a:spLocks noChangeArrowheads="1"/>
            </p:cNvSpPr>
            <p:nvPr/>
          </p:nvSpPr>
          <p:spPr bwMode="auto">
            <a:xfrm>
              <a:off x="1008" y="2686"/>
              <a:ext cx="42" cy="4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096" name="Oval 29"/>
            <p:cNvSpPr>
              <a:spLocks noChangeArrowheads="1"/>
            </p:cNvSpPr>
            <p:nvPr/>
          </p:nvSpPr>
          <p:spPr bwMode="auto">
            <a:xfrm>
              <a:off x="1008" y="3262"/>
              <a:ext cx="42" cy="42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3097" name="Line 30"/>
            <p:cNvSpPr>
              <a:spLocks noChangeShapeType="1"/>
            </p:cNvSpPr>
            <p:nvPr/>
          </p:nvSpPr>
          <p:spPr bwMode="auto">
            <a:xfrm>
              <a:off x="432" y="1822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098" name="Line 31"/>
            <p:cNvSpPr>
              <a:spLocks noChangeShapeType="1"/>
            </p:cNvSpPr>
            <p:nvPr/>
          </p:nvSpPr>
          <p:spPr bwMode="auto">
            <a:xfrm>
              <a:off x="432" y="2446"/>
              <a:ext cx="105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099" name="Line 32"/>
            <p:cNvSpPr>
              <a:spLocks noChangeShapeType="1"/>
            </p:cNvSpPr>
            <p:nvPr/>
          </p:nvSpPr>
          <p:spPr bwMode="auto">
            <a:xfrm>
              <a:off x="432" y="3022"/>
              <a:ext cx="13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00" name="Line 33"/>
            <p:cNvSpPr>
              <a:spLocks noChangeShapeType="1"/>
            </p:cNvSpPr>
            <p:nvPr/>
          </p:nvSpPr>
          <p:spPr bwMode="auto">
            <a:xfrm>
              <a:off x="1056" y="3288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01" name="Line 34"/>
            <p:cNvSpPr>
              <a:spLocks noChangeShapeType="1"/>
            </p:cNvSpPr>
            <p:nvPr/>
          </p:nvSpPr>
          <p:spPr bwMode="auto">
            <a:xfrm>
              <a:off x="1056" y="2712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02" name="Line 35"/>
            <p:cNvSpPr>
              <a:spLocks noChangeShapeType="1"/>
            </p:cNvSpPr>
            <p:nvPr/>
          </p:nvSpPr>
          <p:spPr bwMode="auto">
            <a:xfrm>
              <a:off x="1056" y="2083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03" name="Line 36"/>
            <p:cNvSpPr>
              <a:spLocks noChangeShapeType="1"/>
            </p:cNvSpPr>
            <p:nvPr/>
          </p:nvSpPr>
          <p:spPr bwMode="auto">
            <a:xfrm>
              <a:off x="624" y="2079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04" name="Line 37"/>
            <p:cNvSpPr>
              <a:spLocks noChangeShapeType="1"/>
            </p:cNvSpPr>
            <p:nvPr/>
          </p:nvSpPr>
          <p:spPr bwMode="auto">
            <a:xfrm>
              <a:off x="624" y="1822"/>
              <a:ext cx="0" cy="2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05" name="Line 38"/>
            <p:cNvSpPr>
              <a:spLocks noChangeShapeType="1"/>
            </p:cNvSpPr>
            <p:nvPr/>
          </p:nvSpPr>
          <p:spPr bwMode="auto">
            <a:xfrm>
              <a:off x="624" y="3288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06" name="Line 39"/>
            <p:cNvSpPr>
              <a:spLocks noChangeShapeType="1"/>
            </p:cNvSpPr>
            <p:nvPr/>
          </p:nvSpPr>
          <p:spPr bwMode="auto">
            <a:xfrm>
              <a:off x="624" y="270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07" name="Line 40"/>
            <p:cNvSpPr>
              <a:spLocks noChangeShapeType="1"/>
            </p:cNvSpPr>
            <p:nvPr/>
          </p:nvSpPr>
          <p:spPr bwMode="auto">
            <a:xfrm>
              <a:off x="624" y="2446"/>
              <a:ext cx="0" cy="2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08" name="Line 41"/>
            <p:cNvSpPr>
              <a:spLocks noChangeShapeType="1"/>
            </p:cNvSpPr>
            <p:nvPr/>
          </p:nvSpPr>
          <p:spPr bwMode="auto">
            <a:xfrm>
              <a:off x="624" y="3022"/>
              <a:ext cx="0" cy="2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09" name="Line 42"/>
            <p:cNvSpPr>
              <a:spLocks noChangeShapeType="1"/>
            </p:cNvSpPr>
            <p:nvPr/>
          </p:nvSpPr>
          <p:spPr bwMode="auto">
            <a:xfrm>
              <a:off x="1344" y="1870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10" name="Line 43"/>
            <p:cNvSpPr>
              <a:spLocks noChangeShapeType="1"/>
            </p:cNvSpPr>
            <p:nvPr/>
          </p:nvSpPr>
          <p:spPr bwMode="auto">
            <a:xfrm>
              <a:off x="1488" y="196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11" name="Line 44"/>
            <p:cNvSpPr>
              <a:spLocks noChangeShapeType="1"/>
            </p:cNvSpPr>
            <p:nvPr/>
          </p:nvSpPr>
          <p:spPr bwMode="auto">
            <a:xfrm>
              <a:off x="1776" y="206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12" name="Line 45"/>
            <p:cNvSpPr>
              <a:spLocks noChangeShapeType="1"/>
            </p:cNvSpPr>
            <p:nvPr/>
          </p:nvSpPr>
          <p:spPr bwMode="auto">
            <a:xfrm>
              <a:off x="1200" y="2350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13" name="Line 46"/>
            <p:cNvSpPr>
              <a:spLocks noChangeShapeType="1"/>
            </p:cNvSpPr>
            <p:nvPr/>
          </p:nvSpPr>
          <p:spPr bwMode="auto">
            <a:xfrm flipV="1">
              <a:off x="1632" y="2446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14" name="Line 47"/>
            <p:cNvSpPr>
              <a:spLocks noChangeShapeType="1"/>
            </p:cNvSpPr>
            <p:nvPr/>
          </p:nvSpPr>
          <p:spPr bwMode="auto">
            <a:xfrm>
              <a:off x="1776" y="2542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15" name="Line 48"/>
            <p:cNvSpPr>
              <a:spLocks noChangeShapeType="1"/>
            </p:cNvSpPr>
            <p:nvPr/>
          </p:nvSpPr>
          <p:spPr bwMode="auto">
            <a:xfrm>
              <a:off x="1200" y="2830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16" name="Line 50"/>
            <p:cNvSpPr>
              <a:spLocks noChangeShapeType="1"/>
            </p:cNvSpPr>
            <p:nvPr/>
          </p:nvSpPr>
          <p:spPr bwMode="auto">
            <a:xfrm>
              <a:off x="1488" y="2926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17" name="Line 51"/>
            <p:cNvSpPr>
              <a:spLocks noChangeShapeType="1"/>
            </p:cNvSpPr>
            <p:nvPr/>
          </p:nvSpPr>
          <p:spPr bwMode="auto">
            <a:xfrm>
              <a:off x="1920" y="3022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18" name="Line 52"/>
            <p:cNvSpPr>
              <a:spLocks noChangeShapeType="1"/>
            </p:cNvSpPr>
            <p:nvPr/>
          </p:nvSpPr>
          <p:spPr bwMode="auto">
            <a:xfrm>
              <a:off x="1344" y="3358"/>
              <a:ext cx="72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19" name="Line 53"/>
            <p:cNvSpPr>
              <a:spLocks noChangeShapeType="1"/>
            </p:cNvSpPr>
            <p:nvPr/>
          </p:nvSpPr>
          <p:spPr bwMode="auto">
            <a:xfrm flipV="1">
              <a:off x="1632" y="3454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20" name="Line 54"/>
            <p:cNvSpPr>
              <a:spLocks noChangeShapeType="1"/>
            </p:cNvSpPr>
            <p:nvPr/>
          </p:nvSpPr>
          <p:spPr bwMode="auto">
            <a:xfrm>
              <a:off x="1920" y="355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21" name="Line 55"/>
            <p:cNvSpPr>
              <a:spLocks noChangeShapeType="1"/>
            </p:cNvSpPr>
            <p:nvPr/>
          </p:nvSpPr>
          <p:spPr bwMode="auto">
            <a:xfrm>
              <a:off x="2304" y="1966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22" name="Line 56"/>
            <p:cNvSpPr>
              <a:spLocks noChangeShapeType="1"/>
            </p:cNvSpPr>
            <p:nvPr/>
          </p:nvSpPr>
          <p:spPr bwMode="auto">
            <a:xfrm>
              <a:off x="2304" y="345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23" name="Line 57"/>
            <p:cNvSpPr>
              <a:spLocks noChangeShapeType="1"/>
            </p:cNvSpPr>
            <p:nvPr/>
          </p:nvSpPr>
          <p:spPr bwMode="auto">
            <a:xfrm>
              <a:off x="2304" y="244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24" name="Line 58"/>
            <p:cNvSpPr>
              <a:spLocks noChangeShapeType="1"/>
            </p:cNvSpPr>
            <p:nvPr/>
          </p:nvSpPr>
          <p:spPr bwMode="auto">
            <a:xfrm>
              <a:off x="2304" y="292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25" name="Line 59"/>
            <p:cNvSpPr>
              <a:spLocks noChangeShapeType="1"/>
            </p:cNvSpPr>
            <p:nvPr/>
          </p:nvSpPr>
          <p:spPr bwMode="auto">
            <a:xfrm rot="-5400000">
              <a:off x="2352" y="2542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26" name="Line 60"/>
            <p:cNvSpPr>
              <a:spLocks noChangeShapeType="1"/>
            </p:cNvSpPr>
            <p:nvPr/>
          </p:nvSpPr>
          <p:spPr bwMode="auto">
            <a:xfrm>
              <a:off x="2448" y="2638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27" name="Line 61"/>
            <p:cNvSpPr>
              <a:spLocks noChangeShapeType="1"/>
            </p:cNvSpPr>
            <p:nvPr/>
          </p:nvSpPr>
          <p:spPr bwMode="auto">
            <a:xfrm>
              <a:off x="2448" y="273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28" name="Line 62"/>
            <p:cNvSpPr>
              <a:spLocks noChangeShapeType="1"/>
            </p:cNvSpPr>
            <p:nvPr/>
          </p:nvSpPr>
          <p:spPr bwMode="auto">
            <a:xfrm rot="-5400000">
              <a:off x="2352" y="2830"/>
              <a:ext cx="1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29" name="Line 63"/>
            <p:cNvSpPr>
              <a:spLocks noChangeShapeType="1"/>
            </p:cNvSpPr>
            <p:nvPr/>
          </p:nvSpPr>
          <p:spPr bwMode="auto">
            <a:xfrm rot="-5400000">
              <a:off x="2304" y="2254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30" name="Line 64"/>
            <p:cNvSpPr>
              <a:spLocks noChangeShapeType="1"/>
            </p:cNvSpPr>
            <p:nvPr/>
          </p:nvSpPr>
          <p:spPr bwMode="auto">
            <a:xfrm rot="-5400000">
              <a:off x="2280" y="3142"/>
              <a:ext cx="62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31" name="Line 65"/>
            <p:cNvSpPr>
              <a:spLocks noChangeShapeType="1"/>
            </p:cNvSpPr>
            <p:nvPr/>
          </p:nvSpPr>
          <p:spPr bwMode="auto">
            <a:xfrm>
              <a:off x="2592" y="2542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32" name="Line 66"/>
            <p:cNvSpPr>
              <a:spLocks noChangeShapeType="1"/>
            </p:cNvSpPr>
            <p:nvPr/>
          </p:nvSpPr>
          <p:spPr bwMode="auto">
            <a:xfrm>
              <a:off x="2592" y="2830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33" name="Line 67"/>
            <p:cNvSpPr>
              <a:spLocks noChangeShapeType="1"/>
            </p:cNvSpPr>
            <p:nvPr/>
          </p:nvSpPr>
          <p:spPr bwMode="auto">
            <a:xfrm>
              <a:off x="2976" y="2686"/>
              <a:ext cx="14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34" name="Rectangle 69"/>
            <p:cNvSpPr>
              <a:spLocks noChangeArrowheads="1"/>
            </p:cNvSpPr>
            <p:nvPr/>
          </p:nvSpPr>
          <p:spPr bwMode="auto">
            <a:xfrm>
              <a:off x="217" y="1632"/>
              <a:ext cx="228" cy="271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>
                  <a:ea typeface="幼圆" pitchFamily="49" charset="-122"/>
                </a:rPr>
                <a:t>A</a:t>
              </a:r>
            </a:p>
          </p:txBody>
        </p:sp>
        <p:sp>
          <p:nvSpPr>
            <p:cNvPr id="3135" name="Rectangle 70"/>
            <p:cNvSpPr>
              <a:spLocks noChangeArrowheads="1"/>
            </p:cNvSpPr>
            <p:nvPr/>
          </p:nvSpPr>
          <p:spPr bwMode="auto">
            <a:xfrm>
              <a:off x="192" y="2302"/>
              <a:ext cx="217" cy="271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>
                  <a:ea typeface="幼圆" pitchFamily="49" charset="-122"/>
                </a:rPr>
                <a:t>B</a:t>
              </a:r>
            </a:p>
          </p:txBody>
        </p:sp>
        <p:sp>
          <p:nvSpPr>
            <p:cNvPr id="3136" name="Rectangle 71"/>
            <p:cNvSpPr>
              <a:spLocks noChangeArrowheads="1"/>
            </p:cNvSpPr>
            <p:nvPr/>
          </p:nvSpPr>
          <p:spPr bwMode="auto">
            <a:xfrm>
              <a:off x="192" y="2878"/>
              <a:ext cx="228" cy="271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>
                  <a:ea typeface="幼圆" pitchFamily="49" charset="-122"/>
                </a:rPr>
                <a:t>C</a:t>
              </a:r>
            </a:p>
          </p:txBody>
        </p:sp>
        <p:sp>
          <p:nvSpPr>
            <p:cNvPr id="3137" name="Rectangle 72"/>
            <p:cNvSpPr>
              <a:spLocks noChangeArrowheads="1"/>
            </p:cNvSpPr>
            <p:nvPr/>
          </p:nvSpPr>
          <p:spPr bwMode="auto">
            <a:xfrm>
              <a:off x="1008" y="1438"/>
              <a:ext cx="228" cy="271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>
                  <a:ea typeface="幼圆" pitchFamily="49" charset="-122"/>
                </a:rPr>
                <a:t>A</a:t>
              </a:r>
            </a:p>
          </p:txBody>
        </p:sp>
        <p:sp>
          <p:nvSpPr>
            <p:cNvPr id="3138" name="Rectangle 73"/>
            <p:cNvSpPr>
              <a:spLocks noChangeArrowheads="1"/>
            </p:cNvSpPr>
            <p:nvPr/>
          </p:nvSpPr>
          <p:spPr bwMode="auto">
            <a:xfrm>
              <a:off x="1392" y="1436"/>
              <a:ext cx="228" cy="271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>
                  <a:ea typeface="幼圆" pitchFamily="49" charset="-122"/>
                </a:rPr>
                <a:t>B</a:t>
              </a:r>
            </a:p>
          </p:txBody>
        </p:sp>
        <p:sp>
          <p:nvSpPr>
            <p:cNvPr id="3139" name="Rectangle 74"/>
            <p:cNvSpPr>
              <a:spLocks noChangeArrowheads="1"/>
            </p:cNvSpPr>
            <p:nvPr/>
          </p:nvSpPr>
          <p:spPr bwMode="auto">
            <a:xfrm>
              <a:off x="1685" y="1447"/>
              <a:ext cx="228" cy="271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>
                  <a:ea typeface="幼圆" pitchFamily="49" charset="-122"/>
                </a:rPr>
                <a:t>C</a:t>
              </a:r>
            </a:p>
          </p:txBody>
        </p:sp>
        <p:sp>
          <p:nvSpPr>
            <p:cNvPr id="3140" name="Rectangle 75"/>
            <p:cNvSpPr>
              <a:spLocks noChangeArrowheads="1"/>
            </p:cNvSpPr>
            <p:nvPr/>
          </p:nvSpPr>
          <p:spPr bwMode="auto">
            <a:xfrm>
              <a:off x="1200" y="1436"/>
              <a:ext cx="228" cy="271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>
                  <a:ea typeface="幼圆" pitchFamily="49" charset="-122"/>
                </a:rPr>
                <a:t>A</a:t>
              </a:r>
            </a:p>
          </p:txBody>
        </p:sp>
        <p:sp>
          <p:nvSpPr>
            <p:cNvPr id="3141" name="Rectangle 76"/>
            <p:cNvSpPr>
              <a:spLocks noChangeArrowheads="1"/>
            </p:cNvSpPr>
            <p:nvPr/>
          </p:nvSpPr>
          <p:spPr bwMode="auto">
            <a:xfrm>
              <a:off x="1486" y="1438"/>
              <a:ext cx="273" cy="271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>
                  <a:ea typeface="幼圆" pitchFamily="49" charset="-122"/>
                </a:rPr>
                <a:t> B</a:t>
              </a:r>
            </a:p>
          </p:txBody>
        </p:sp>
        <p:sp>
          <p:nvSpPr>
            <p:cNvPr id="3142" name="Rectangle 77"/>
            <p:cNvSpPr>
              <a:spLocks noChangeArrowheads="1"/>
            </p:cNvSpPr>
            <p:nvPr/>
          </p:nvSpPr>
          <p:spPr bwMode="auto">
            <a:xfrm>
              <a:off x="1859" y="1438"/>
              <a:ext cx="228" cy="271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>
                  <a:ea typeface="幼圆" pitchFamily="49" charset="-122"/>
                </a:rPr>
                <a:t>C</a:t>
              </a:r>
            </a:p>
          </p:txBody>
        </p:sp>
        <p:sp>
          <p:nvSpPr>
            <p:cNvPr id="3143" name="Rectangle 78"/>
            <p:cNvSpPr>
              <a:spLocks noChangeArrowheads="1"/>
            </p:cNvSpPr>
            <p:nvPr/>
          </p:nvSpPr>
          <p:spPr bwMode="auto">
            <a:xfrm>
              <a:off x="3022" y="2406"/>
              <a:ext cx="228" cy="271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sz="2400" b="1" dirty="0">
                  <a:ea typeface="幼圆" pitchFamily="49" charset="-122"/>
                </a:rPr>
                <a:t>F</a:t>
              </a:r>
            </a:p>
          </p:txBody>
        </p:sp>
        <p:sp>
          <p:nvSpPr>
            <p:cNvPr id="3144" name="Rectangle 79"/>
            <p:cNvSpPr>
              <a:spLocks noChangeArrowheads="1"/>
            </p:cNvSpPr>
            <p:nvPr/>
          </p:nvSpPr>
          <p:spPr bwMode="auto">
            <a:xfrm>
              <a:off x="768" y="1901"/>
              <a:ext cx="182" cy="235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i="0">
                  <a:ea typeface="幼圆" pitchFamily="49" charset="-122"/>
                </a:rPr>
                <a:t>1</a:t>
              </a:r>
            </a:p>
          </p:txBody>
        </p:sp>
        <p:sp>
          <p:nvSpPr>
            <p:cNvPr id="3145" name="Rectangle 80"/>
            <p:cNvSpPr>
              <a:spLocks noChangeArrowheads="1"/>
            </p:cNvSpPr>
            <p:nvPr/>
          </p:nvSpPr>
          <p:spPr bwMode="auto">
            <a:xfrm>
              <a:off x="768" y="2525"/>
              <a:ext cx="182" cy="235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i="0" dirty="0">
                  <a:ea typeface="幼圆" pitchFamily="49" charset="-122"/>
                </a:rPr>
                <a:t>1</a:t>
              </a:r>
            </a:p>
          </p:txBody>
        </p:sp>
        <p:sp>
          <p:nvSpPr>
            <p:cNvPr id="3146" name="Rectangle 81"/>
            <p:cNvSpPr>
              <a:spLocks noChangeArrowheads="1"/>
            </p:cNvSpPr>
            <p:nvPr/>
          </p:nvSpPr>
          <p:spPr bwMode="auto">
            <a:xfrm>
              <a:off x="768" y="3101"/>
              <a:ext cx="182" cy="235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i="0">
                  <a:ea typeface="幼圆" pitchFamily="49" charset="-122"/>
                </a:rPr>
                <a:t>1</a:t>
              </a:r>
            </a:p>
          </p:txBody>
        </p:sp>
        <p:sp>
          <p:nvSpPr>
            <p:cNvPr id="3147" name="Rectangle 82"/>
            <p:cNvSpPr>
              <a:spLocks noChangeArrowheads="1"/>
            </p:cNvSpPr>
            <p:nvPr/>
          </p:nvSpPr>
          <p:spPr bwMode="auto">
            <a:xfrm>
              <a:off x="2030" y="1757"/>
              <a:ext cx="224" cy="235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i="0">
                  <a:ea typeface="幼圆" pitchFamily="49" charset="-122"/>
                </a:rPr>
                <a:t>&amp;</a:t>
              </a:r>
            </a:p>
          </p:txBody>
        </p:sp>
        <p:sp>
          <p:nvSpPr>
            <p:cNvPr id="3148" name="Rectangle 83"/>
            <p:cNvSpPr>
              <a:spLocks noChangeArrowheads="1"/>
            </p:cNvSpPr>
            <p:nvPr/>
          </p:nvSpPr>
          <p:spPr bwMode="auto">
            <a:xfrm>
              <a:off x="2064" y="2717"/>
              <a:ext cx="224" cy="235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i="0">
                  <a:ea typeface="幼圆" pitchFamily="49" charset="-122"/>
                </a:rPr>
                <a:t>&amp;</a:t>
              </a:r>
            </a:p>
          </p:txBody>
        </p:sp>
        <p:sp>
          <p:nvSpPr>
            <p:cNvPr id="3149" name="Rectangle 84"/>
            <p:cNvSpPr>
              <a:spLocks noChangeArrowheads="1"/>
            </p:cNvSpPr>
            <p:nvPr/>
          </p:nvSpPr>
          <p:spPr bwMode="auto">
            <a:xfrm>
              <a:off x="2064" y="3245"/>
              <a:ext cx="224" cy="235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i="0">
                  <a:ea typeface="幼圆" pitchFamily="49" charset="-122"/>
                </a:rPr>
                <a:t>&amp;</a:t>
              </a:r>
            </a:p>
          </p:txBody>
        </p:sp>
        <p:sp>
          <p:nvSpPr>
            <p:cNvPr id="3150" name="Rectangle 85"/>
            <p:cNvSpPr>
              <a:spLocks noChangeArrowheads="1"/>
            </p:cNvSpPr>
            <p:nvPr/>
          </p:nvSpPr>
          <p:spPr bwMode="auto">
            <a:xfrm>
              <a:off x="2064" y="2237"/>
              <a:ext cx="224" cy="235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en-US" altLang="zh-CN" i="0">
                  <a:ea typeface="幼圆" pitchFamily="49" charset="-122"/>
                </a:rPr>
                <a:t>&amp;</a:t>
              </a:r>
            </a:p>
          </p:txBody>
        </p:sp>
        <p:sp>
          <p:nvSpPr>
            <p:cNvPr id="3151" name="Line 88"/>
            <p:cNvSpPr>
              <a:spLocks noChangeShapeType="1"/>
            </p:cNvSpPr>
            <p:nvPr/>
          </p:nvSpPr>
          <p:spPr bwMode="auto">
            <a:xfrm flipV="1">
              <a:off x="2766" y="2595"/>
              <a:ext cx="92" cy="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52" name="Rectangle 89"/>
            <p:cNvSpPr>
              <a:spLocks noChangeArrowheads="1"/>
            </p:cNvSpPr>
            <p:nvPr/>
          </p:nvSpPr>
          <p:spPr bwMode="auto">
            <a:xfrm>
              <a:off x="2680" y="2442"/>
              <a:ext cx="333" cy="235"/>
            </a:xfrm>
            <a:prstGeom prst="rect">
              <a:avLst/>
            </a:prstGeom>
            <a:noFill/>
            <a:ln w="22225">
              <a:noFill/>
              <a:miter lim="800000"/>
              <a:headEnd/>
              <a:tailEnd type="none" w="med" len="lg"/>
            </a:ln>
          </p:spPr>
          <p:txBody>
            <a:bodyPr wrap="none" lIns="90000" tIns="46800" rIns="90000" bIns="46800">
              <a:spAutoFit/>
            </a:bodyPr>
            <a:lstStyle/>
            <a:p>
              <a:r>
                <a:rPr lang="zh-CN" altLang="en-US" i="0" dirty="0">
                  <a:ea typeface="幼圆" pitchFamily="49" charset="-122"/>
                </a:rPr>
                <a:t>＞</a:t>
              </a:r>
              <a:r>
                <a:rPr lang="en-US" altLang="zh-CN" i="0" dirty="0">
                  <a:ea typeface="幼圆" pitchFamily="49" charset="-122"/>
                </a:rPr>
                <a:t>1</a:t>
              </a:r>
            </a:p>
          </p:txBody>
        </p:sp>
        <p:sp>
          <p:nvSpPr>
            <p:cNvPr id="3153" name="Line 90"/>
            <p:cNvSpPr>
              <a:spLocks noChangeShapeType="1"/>
            </p:cNvSpPr>
            <p:nvPr/>
          </p:nvSpPr>
          <p:spPr bwMode="auto">
            <a:xfrm>
              <a:off x="1248" y="1486"/>
              <a:ext cx="14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54" name="Line 91"/>
            <p:cNvSpPr>
              <a:spLocks noChangeShapeType="1"/>
            </p:cNvSpPr>
            <p:nvPr/>
          </p:nvSpPr>
          <p:spPr bwMode="auto">
            <a:xfrm>
              <a:off x="1584" y="1486"/>
              <a:ext cx="14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3155" name="Line 92"/>
            <p:cNvSpPr>
              <a:spLocks noChangeShapeType="1"/>
            </p:cNvSpPr>
            <p:nvPr/>
          </p:nvSpPr>
          <p:spPr bwMode="auto">
            <a:xfrm>
              <a:off x="1920" y="1486"/>
              <a:ext cx="14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lIns="90000" tIns="46800" rIns="90000" bIns="46800"/>
            <a:lstStyle/>
            <a:p>
              <a:endParaRPr lang="zh-CN" altLang="en-US"/>
            </a:p>
          </p:txBody>
        </p:sp>
        <p:sp>
          <p:nvSpPr>
            <p:cNvPr id="83" name="Oval 27"/>
            <p:cNvSpPr>
              <a:spLocks noChangeArrowheads="1"/>
            </p:cNvSpPr>
            <p:nvPr/>
          </p:nvSpPr>
          <p:spPr bwMode="auto">
            <a:xfrm>
              <a:off x="1185" y="1807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65" name="Oval 27"/>
            <p:cNvSpPr>
              <a:spLocks noChangeArrowheads="1"/>
            </p:cNvSpPr>
            <p:nvPr/>
          </p:nvSpPr>
          <p:spPr bwMode="auto">
            <a:xfrm>
              <a:off x="1764" y="2046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66" name="Oval 27"/>
            <p:cNvSpPr>
              <a:spLocks noChangeArrowheads="1"/>
            </p:cNvSpPr>
            <p:nvPr/>
          </p:nvSpPr>
          <p:spPr bwMode="auto">
            <a:xfrm>
              <a:off x="1473" y="1949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67" name="Oval 27"/>
            <p:cNvSpPr>
              <a:spLocks noChangeArrowheads="1"/>
            </p:cNvSpPr>
            <p:nvPr/>
          </p:nvSpPr>
          <p:spPr bwMode="auto">
            <a:xfrm>
              <a:off x="1325" y="1852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68" name="Oval 27"/>
            <p:cNvSpPr>
              <a:spLocks noChangeArrowheads="1"/>
            </p:cNvSpPr>
            <p:nvPr/>
          </p:nvSpPr>
          <p:spPr bwMode="auto">
            <a:xfrm>
              <a:off x="1328" y="2068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69" name="Oval 27"/>
            <p:cNvSpPr>
              <a:spLocks noChangeArrowheads="1"/>
            </p:cNvSpPr>
            <p:nvPr/>
          </p:nvSpPr>
          <p:spPr bwMode="auto">
            <a:xfrm>
              <a:off x="1185" y="2335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70" name="Oval 27"/>
            <p:cNvSpPr>
              <a:spLocks noChangeArrowheads="1"/>
            </p:cNvSpPr>
            <p:nvPr/>
          </p:nvSpPr>
          <p:spPr bwMode="auto">
            <a:xfrm>
              <a:off x="1468" y="2427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71" name="Oval 27"/>
            <p:cNvSpPr>
              <a:spLocks noChangeArrowheads="1"/>
            </p:cNvSpPr>
            <p:nvPr/>
          </p:nvSpPr>
          <p:spPr bwMode="auto">
            <a:xfrm>
              <a:off x="1622" y="2430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72" name="Oval 27"/>
            <p:cNvSpPr>
              <a:spLocks noChangeArrowheads="1"/>
            </p:cNvSpPr>
            <p:nvPr/>
          </p:nvSpPr>
          <p:spPr bwMode="auto">
            <a:xfrm>
              <a:off x="1759" y="2530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73" name="Oval 27"/>
            <p:cNvSpPr>
              <a:spLocks noChangeArrowheads="1"/>
            </p:cNvSpPr>
            <p:nvPr/>
          </p:nvSpPr>
          <p:spPr bwMode="auto">
            <a:xfrm>
              <a:off x="1611" y="2694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74" name="Oval 27"/>
            <p:cNvSpPr>
              <a:spLocks noChangeArrowheads="1"/>
            </p:cNvSpPr>
            <p:nvPr/>
          </p:nvSpPr>
          <p:spPr bwMode="auto">
            <a:xfrm>
              <a:off x="1188" y="2814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75" name="Oval 27"/>
            <p:cNvSpPr>
              <a:spLocks noChangeArrowheads="1"/>
            </p:cNvSpPr>
            <p:nvPr/>
          </p:nvSpPr>
          <p:spPr bwMode="auto">
            <a:xfrm>
              <a:off x="1474" y="2911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76" name="Oval 27"/>
            <p:cNvSpPr>
              <a:spLocks noChangeArrowheads="1"/>
            </p:cNvSpPr>
            <p:nvPr/>
          </p:nvSpPr>
          <p:spPr bwMode="auto">
            <a:xfrm>
              <a:off x="1757" y="3008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77" name="Oval 27"/>
            <p:cNvSpPr>
              <a:spLocks noChangeArrowheads="1"/>
            </p:cNvSpPr>
            <p:nvPr/>
          </p:nvSpPr>
          <p:spPr bwMode="auto">
            <a:xfrm>
              <a:off x="1329" y="3344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78" name="Oval 27"/>
            <p:cNvSpPr>
              <a:spLocks noChangeArrowheads="1"/>
            </p:cNvSpPr>
            <p:nvPr/>
          </p:nvSpPr>
          <p:spPr bwMode="auto">
            <a:xfrm>
              <a:off x="1906" y="3269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79" name="Oval 27"/>
            <p:cNvSpPr>
              <a:spLocks noChangeArrowheads="1"/>
            </p:cNvSpPr>
            <p:nvPr/>
          </p:nvSpPr>
          <p:spPr bwMode="auto">
            <a:xfrm>
              <a:off x="1615" y="3439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0" name="Oval 27"/>
            <p:cNvSpPr>
              <a:spLocks noChangeArrowheads="1"/>
            </p:cNvSpPr>
            <p:nvPr/>
          </p:nvSpPr>
          <p:spPr bwMode="auto">
            <a:xfrm>
              <a:off x="1906" y="3536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1" name="Oval 27"/>
            <p:cNvSpPr>
              <a:spLocks noChangeArrowheads="1"/>
            </p:cNvSpPr>
            <p:nvPr/>
          </p:nvSpPr>
          <p:spPr bwMode="auto">
            <a:xfrm>
              <a:off x="1905" y="3005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2" name="Oval 27"/>
            <p:cNvSpPr>
              <a:spLocks noChangeArrowheads="1"/>
            </p:cNvSpPr>
            <p:nvPr/>
          </p:nvSpPr>
          <p:spPr bwMode="auto">
            <a:xfrm>
              <a:off x="608" y="3008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3" name="Oval 27"/>
            <p:cNvSpPr>
              <a:spLocks noChangeArrowheads="1"/>
            </p:cNvSpPr>
            <p:nvPr/>
          </p:nvSpPr>
          <p:spPr bwMode="auto">
            <a:xfrm>
              <a:off x="611" y="2427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84" name="Oval 27"/>
            <p:cNvSpPr>
              <a:spLocks noChangeArrowheads="1"/>
            </p:cNvSpPr>
            <p:nvPr/>
          </p:nvSpPr>
          <p:spPr bwMode="auto">
            <a:xfrm>
              <a:off x="605" y="1804"/>
              <a:ext cx="32" cy="3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lIns="90000" tIns="46800" rIns="90000" bIns="46800" anchor="ctr"/>
            <a:lstStyle/>
            <a:p>
              <a:endParaRPr lang="zh-CN" altLang="en-US"/>
            </a:p>
          </p:txBody>
        </p:sp>
      </p:grpSp>
      <p:graphicFrame>
        <p:nvGraphicFramePr>
          <p:cNvPr id="109570" name="Object 2"/>
          <p:cNvGraphicFramePr>
            <a:graphicFrameLocks noChangeAspect="1"/>
          </p:cNvGraphicFramePr>
          <p:nvPr/>
        </p:nvGraphicFramePr>
        <p:xfrm>
          <a:off x="561340" y="3601720"/>
          <a:ext cx="2817813" cy="1104900"/>
        </p:xfrm>
        <a:graphic>
          <a:graphicData uri="http://schemas.openxmlformats.org/presentationml/2006/ole">
            <p:oleObj spid="_x0000_s3074" name="Equation" r:id="rId4" imgW="876240" imgH="342720" progId="Equation.DSMT4">
              <p:embed/>
            </p:oleObj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13"/>
          <p:cNvGraphicFramePr>
            <a:graphicFrameLocks noChangeAspect="1"/>
          </p:cNvGraphicFramePr>
          <p:nvPr/>
        </p:nvGraphicFramePr>
        <p:xfrm>
          <a:off x="169545" y="1388428"/>
          <a:ext cx="4602163" cy="3595687"/>
        </p:xfrm>
        <a:graphic>
          <a:graphicData uri="http://schemas.openxmlformats.org/presentationml/2006/ole">
            <p:oleObj spid="_x0000_s4098" name="Visio" r:id="rId4" imgW="3286800" imgH="2566798" progId="Visio.Drawing.11">
              <p:embed/>
            </p:oleObj>
          </a:graphicData>
        </a:graphic>
      </p:graphicFrame>
      <p:sp>
        <p:nvSpPr>
          <p:cNvPr id="4104" name="Text Box 79"/>
          <p:cNvSpPr txBox="1">
            <a:spLocks noChangeArrowheads="1"/>
          </p:cNvSpPr>
          <p:nvPr/>
        </p:nvSpPr>
        <p:spPr bwMode="auto">
          <a:xfrm>
            <a:off x="447675" y="928688"/>
            <a:ext cx="5653088" cy="525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i="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例</a:t>
            </a:r>
            <a:r>
              <a:rPr lang="en-US" altLang="zh-CN" sz="2800" i="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800" i="0" dirty="0">
                <a:solidFill>
                  <a:srgbClr val="0070C0"/>
                </a:solidFill>
                <a:ea typeface="华文中宋" pitchFamily="2" charset="-122"/>
                <a:cs typeface="Times New Roman" pitchFamily="18" charset="0"/>
              </a:rPr>
              <a:t>： 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已知逻辑图，求函数表达式。</a:t>
            </a:r>
          </a:p>
        </p:txBody>
      </p:sp>
      <p:graphicFrame>
        <p:nvGraphicFramePr>
          <p:cNvPr id="15" name="Object 11"/>
          <p:cNvGraphicFramePr>
            <a:graphicFrameLocks noChangeAspect="1"/>
          </p:cNvGraphicFramePr>
          <p:nvPr/>
        </p:nvGraphicFramePr>
        <p:xfrm>
          <a:off x="4572000" y="1357313"/>
          <a:ext cx="4213225" cy="515937"/>
        </p:xfrm>
        <a:graphic>
          <a:graphicData uri="http://schemas.openxmlformats.org/presentationml/2006/ole">
            <p:oleObj spid="_x0000_s4099" name="Equation" r:id="rId5" imgW="1574640" imgH="190440" progId="Equation.DSMT4">
              <p:embed/>
            </p:oleObj>
          </a:graphicData>
        </a:graphic>
      </p:graphicFrame>
      <p:sp>
        <p:nvSpPr>
          <p:cNvPr id="25" name="Text Box 86"/>
          <p:cNvSpPr txBox="1">
            <a:spLocks noChangeArrowheads="1"/>
          </p:cNvSpPr>
          <p:nvPr/>
        </p:nvSpPr>
        <p:spPr bwMode="auto">
          <a:xfrm>
            <a:off x="5143500" y="3862388"/>
            <a:ext cx="33480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i="0">
                <a:latin typeface="华文中宋" pitchFamily="2" charset="-122"/>
                <a:ea typeface="华文中宋" pitchFamily="2" charset="-122"/>
                <a:sym typeface="Symbol" pitchFamily="18" charset="2"/>
              </a:rPr>
              <a:t> 与</a:t>
            </a:r>
            <a:r>
              <a:rPr lang="zh-CN" altLang="en-US" sz="2800" i="0">
                <a:latin typeface="华文中宋" pitchFamily="2" charset="-122"/>
                <a:ea typeface="华文中宋" pitchFamily="2" charset="-122"/>
              </a:rPr>
              <a:t>项中的变量最少</a:t>
            </a:r>
          </a:p>
        </p:txBody>
      </p:sp>
      <p:sp>
        <p:nvSpPr>
          <p:cNvPr id="26" name="Text Box 82"/>
          <p:cNvSpPr txBox="1">
            <a:spLocks noChangeArrowheads="1"/>
          </p:cNvSpPr>
          <p:nvPr/>
        </p:nvSpPr>
        <p:spPr bwMode="auto">
          <a:xfrm>
            <a:off x="5143500" y="3357563"/>
            <a:ext cx="2286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i="0">
                <a:latin typeface="华文中宋" pitchFamily="2" charset="-122"/>
                <a:ea typeface="华文中宋" pitchFamily="2" charset="-122"/>
                <a:sym typeface="Symbol" pitchFamily="18" charset="2"/>
              </a:rPr>
              <a:t> 与</a:t>
            </a:r>
            <a:r>
              <a:rPr lang="zh-CN" altLang="en-US" sz="2800" i="0">
                <a:latin typeface="华文中宋" pitchFamily="2" charset="-122"/>
                <a:ea typeface="华文中宋" pitchFamily="2" charset="-122"/>
              </a:rPr>
              <a:t>项最少</a:t>
            </a:r>
          </a:p>
        </p:txBody>
      </p:sp>
      <p:graphicFrame>
        <p:nvGraphicFramePr>
          <p:cNvPr id="27" name="Object 12"/>
          <p:cNvGraphicFramePr>
            <a:graphicFrameLocks noChangeAspect="1"/>
          </p:cNvGraphicFramePr>
          <p:nvPr/>
        </p:nvGraphicFramePr>
        <p:xfrm>
          <a:off x="4824413" y="1831975"/>
          <a:ext cx="3605212" cy="1025525"/>
        </p:xfrm>
        <a:graphic>
          <a:graphicData uri="http://schemas.openxmlformats.org/presentationml/2006/ole">
            <p:oleObj spid="_x0000_s4100" name="Equation" r:id="rId6" imgW="1307880" imgH="368280" progId="Equation.DSMT4">
              <p:embed/>
            </p:oleObj>
          </a:graphicData>
        </a:graphic>
      </p:graphicFrame>
      <p:sp>
        <p:nvSpPr>
          <p:cNvPr id="28" name="Text Box 83"/>
          <p:cNvSpPr txBox="1">
            <a:spLocks noChangeArrowheads="1"/>
          </p:cNvSpPr>
          <p:nvPr/>
        </p:nvSpPr>
        <p:spPr bwMode="auto">
          <a:xfrm>
            <a:off x="6734175" y="2643188"/>
            <a:ext cx="19800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i="0" dirty="0">
                <a:solidFill>
                  <a:srgbClr val="3333FF"/>
                </a:solidFill>
                <a:latin typeface="华文中宋" pitchFamily="2" charset="-122"/>
                <a:ea typeface="华文中宋" pitchFamily="2" charset="-122"/>
              </a:rPr>
              <a:t>最简与或式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293988" y="167010"/>
            <a:ext cx="4910151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zh-CN" altLang="en-US" sz="3600" b="1" i="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逻辑函数的化简法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utoUpdateAnimBg="0"/>
      <p:bldP spid="26" grpId="0" autoUpdateAnimBg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75"/>
          <p:cNvSpPr txBox="1">
            <a:spLocks noChangeArrowheads="1"/>
          </p:cNvSpPr>
          <p:nvPr/>
        </p:nvSpPr>
        <p:spPr bwMode="auto">
          <a:xfrm>
            <a:off x="5309860" y="3085421"/>
            <a:ext cx="337168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i="0" dirty="0">
                <a:solidFill>
                  <a:srgbClr val="CC33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</a:t>
            </a:r>
            <a:r>
              <a:rPr lang="zh-CN" altLang="en-US" sz="2800" i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  </a:t>
            </a:r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每个门的输入端个数少</a:t>
            </a:r>
          </a:p>
        </p:txBody>
      </p:sp>
      <p:sp>
        <p:nvSpPr>
          <p:cNvPr id="24" name="Text Box 76"/>
          <p:cNvSpPr txBox="1">
            <a:spLocks noChangeArrowheads="1"/>
          </p:cNvSpPr>
          <p:nvPr/>
        </p:nvSpPr>
        <p:spPr bwMode="auto">
          <a:xfrm>
            <a:off x="5295616" y="2050700"/>
            <a:ext cx="329974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i="0" dirty="0">
                <a:solidFill>
                  <a:srgbClr val="CC33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</a:t>
            </a:r>
            <a:r>
              <a:rPr lang="zh-CN" altLang="en-US" sz="2800" i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  </a:t>
            </a:r>
            <a:r>
              <a:rPr lang="zh-CN" altLang="en-US" sz="2800" i="0" dirty="0">
                <a:latin typeface="华文中宋" pitchFamily="2" charset="-122"/>
                <a:ea typeface="华文中宋" pitchFamily="2" charset="-122"/>
              </a:rPr>
              <a:t>逻辑电路所用门的数量少</a:t>
            </a:r>
          </a:p>
        </p:txBody>
      </p:sp>
      <p:sp>
        <p:nvSpPr>
          <p:cNvPr id="25" name="Text Box 78"/>
          <p:cNvSpPr txBox="1">
            <a:spLocks noChangeArrowheads="1"/>
          </p:cNvSpPr>
          <p:nvPr/>
        </p:nvSpPr>
        <p:spPr bwMode="auto">
          <a:xfrm>
            <a:off x="3995484" y="4157863"/>
            <a:ext cx="447585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800" i="0" dirty="0">
                <a:solidFill>
                  <a:srgbClr val="CC3300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</a:t>
            </a:r>
            <a:r>
              <a:rPr lang="zh-CN" altLang="en-US" sz="2800" i="0" dirty="0">
                <a:solidFill>
                  <a:schemeClr val="tx2"/>
                </a:solidFill>
                <a:latin typeface="华文中宋" pitchFamily="2" charset="-122"/>
                <a:ea typeface="华文中宋" pitchFamily="2" charset="-122"/>
                <a:sym typeface="Symbol" pitchFamily="18" charset="2"/>
              </a:rPr>
              <a:t>  </a:t>
            </a:r>
            <a:r>
              <a:rPr lang="zh-CN" altLang="en-US" sz="2800" i="0" dirty="0">
                <a:solidFill>
                  <a:srgbClr val="A50021"/>
                </a:solidFill>
                <a:latin typeface="华文中宋" pitchFamily="2" charset="-122"/>
                <a:ea typeface="华文中宋" pitchFamily="2" charset="-122"/>
              </a:rPr>
              <a:t>降低成本，提高可靠性</a:t>
            </a:r>
          </a:p>
        </p:txBody>
      </p:sp>
      <p:grpSp>
        <p:nvGrpSpPr>
          <p:cNvPr id="5129" name="Group 91"/>
          <p:cNvGrpSpPr>
            <a:grpSpLocks/>
          </p:cNvGrpSpPr>
          <p:nvPr/>
        </p:nvGrpSpPr>
        <p:grpSpPr bwMode="auto">
          <a:xfrm>
            <a:off x="468532" y="1432092"/>
            <a:ext cx="7366000" cy="563563"/>
            <a:chOff x="696" y="947"/>
            <a:chExt cx="4640" cy="355"/>
          </a:xfrm>
        </p:grpSpPr>
        <p:graphicFrame>
          <p:nvGraphicFramePr>
            <p:cNvPr id="5123" name="Object 5"/>
            <p:cNvGraphicFramePr>
              <a:graphicFrameLocks noChangeAspect="1"/>
            </p:cNvGraphicFramePr>
            <p:nvPr/>
          </p:nvGraphicFramePr>
          <p:xfrm>
            <a:off x="2358" y="975"/>
            <a:ext cx="1147" cy="300"/>
          </p:xfrm>
          <a:graphic>
            <a:graphicData uri="http://schemas.openxmlformats.org/presentationml/2006/ole">
              <p:oleObj spid="_x0000_s5123" name="Equation" r:id="rId4" imgW="787320" imgH="203040" progId="Equation.DSMT4">
                <p:embed/>
              </p:oleObj>
            </a:graphicData>
          </a:graphic>
        </p:graphicFrame>
        <p:sp>
          <p:nvSpPr>
            <p:cNvPr id="5132" name="Text Box 85"/>
            <p:cNvSpPr txBox="1">
              <a:spLocks noChangeArrowheads="1"/>
            </p:cNvSpPr>
            <p:nvPr/>
          </p:nvSpPr>
          <p:spPr bwMode="auto">
            <a:xfrm>
              <a:off x="696" y="972"/>
              <a:ext cx="17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r>
                <a:rPr lang="zh-CN" altLang="en-US" sz="2800" i="0" dirty="0">
                  <a:solidFill>
                    <a:srgbClr val="0033CC"/>
                  </a:solidFill>
                  <a:latin typeface="华文中宋" pitchFamily="2" charset="-122"/>
                  <a:ea typeface="华文中宋" pitchFamily="2" charset="-122"/>
                </a:rPr>
                <a:t>根据最简与或式</a:t>
              </a:r>
            </a:p>
          </p:txBody>
        </p:sp>
        <p:sp>
          <p:nvSpPr>
            <p:cNvPr id="5133" name="Text Box 89"/>
            <p:cNvSpPr txBox="1">
              <a:spLocks noChangeArrowheads="1"/>
            </p:cNvSpPr>
            <p:nvPr/>
          </p:nvSpPr>
          <p:spPr bwMode="auto">
            <a:xfrm>
              <a:off x="3452" y="947"/>
              <a:ext cx="188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800" i="0" dirty="0">
                  <a:solidFill>
                    <a:srgbClr val="0033CC"/>
                  </a:solidFill>
                  <a:latin typeface="华文中宋" pitchFamily="2" charset="-122"/>
                  <a:ea typeface="华文中宋" pitchFamily="2" charset="-122"/>
                </a:rPr>
                <a:t>得到的电路图为：</a:t>
              </a:r>
            </a:p>
          </p:txBody>
        </p:sp>
      </p:grpSp>
      <p:graphicFrame>
        <p:nvGraphicFramePr>
          <p:cNvPr id="31" name="Object 6"/>
          <p:cNvGraphicFramePr>
            <a:graphicFrameLocks noChangeAspect="1"/>
          </p:cNvGraphicFramePr>
          <p:nvPr/>
        </p:nvGraphicFramePr>
        <p:xfrm>
          <a:off x="936625" y="2299150"/>
          <a:ext cx="4117975" cy="1876425"/>
        </p:xfrm>
        <a:graphic>
          <a:graphicData uri="http://schemas.openxmlformats.org/presentationml/2006/ole">
            <p:oleObj spid="_x0000_s5122" name="Visio" r:id="rId5" imgW="1915668" imgH="873252" progId="Visio.Drawing.11">
              <p:embed/>
            </p:oleObj>
          </a:graphicData>
        </a:graphic>
      </p:graphicFrame>
      <p:sp>
        <p:nvSpPr>
          <p:cNvPr id="5130" name="Text Box 4"/>
          <p:cNvSpPr txBox="1">
            <a:spLocks noChangeArrowheads="1"/>
          </p:cNvSpPr>
          <p:nvPr/>
        </p:nvSpPr>
        <p:spPr bwMode="auto">
          <a:xfrm>
            <a:off x="500063" y="876300"/>
            <a:ext cx="6121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i="0">
                <a:latin typeface="黑体" pitchFamily="49" charset="-122"/>
                <a:ea typeface="黑体" pitchFamily="49" charset="-122"/>
                <a:cs typeface="Arial" charset="0"/>
              </a:rPr>
              <a:t>逻辑函数化简的意义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293988" y="167010"/>
            <a:ext cx="4910151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zh-CN" altLang="en-US" sz="3600" b="1" i="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逻辑函数的化简法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  <p:bldP spid="24" grpId="0" autoUpdateAnimBg="0"/>
      <p:bldP spid="25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601663" y="1071565"/>
            <a:ext cx="8072424" cy="1044576"/>
            <a:chOff x="574" y="1948"/>
            <a:chExt cx="4569" cy="658"/>
          </a:xfrm>
        </p:grpSpPr>
        <p:sp>
          <p:nvSpPr>
            <p:cNvPr id="6155" name="Text Box 18" descr="羊皮纸"/>
            <p:cNvSpPr txBox="1">
              <a:spLocks noChangeArrowheads="1"/>
            </p:cNvSpPr>
            <p:nvPr/>
          </p:nvSpPr>
          <p:spPr bwMode="auto">
            <a:xfrm>
              <a:off x="574" y="1958"/>
              <a:ext cx="172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800" i="0" dirty="0">
                  <a:solidFill>
                    <a:srgbClr val="CC3300"/>
                  </a:solidFill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 </a:t>
              </a:r>
              <a:r>
                <a:rPr lang="zh-CN" altLang="en-US" sz="2800" i="0" dirty="0" smtClean="0">
                  <a:solidFill>
                    <a:srgbClr val="CC3300"/>
                  </a:solidFill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合</a:t>
              </a:r>
              <a:r>
                <a:rPr lang="zh-CN" altLang="en-US" sz="2800" i="0" dirty="0" smtClean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并</a:t>
              </a:r>
              <a:r>
                <a:rPr lang="zh-CN" altLang="en-US" sz="2800" i="0" dirty="0">
                  <a:solidFill>
                    <a:srgbClr val="C00000"/>
                  </a:solidFill>
                  <a:ea typeface="华文中宋" pitchFamily="2" charset="-122"/>
                  <a:cs typeface="Times New Roman" pitchFamily="18" charset="0"/>
                </a:rPr>
                <a:t>项法</a:t>
              </a:r>
              <a:r>
                <a:rPr lang="zh-CN" altLang="en-US" sz="2800" i="0" dirty="0" smtClean="0">
                  <a:ea typeface="华文中宋" pitchFamily="2" charset="-122"/>
                  <a:cs typeface="Times New Roman" pitchFamily="18" charset="0"/>
                </a:rPr>
                <a:t>：利用</a:t>
              </a:r>
              <a:endParaRPr lang="zh-CN" altLang="en-US" sz="2800" i="0" dirty="0">
                <a:ea typeface="华文中宋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6147" name="Object 4"/>
            <p:cNvGraphicFramePr>
              <a:graphicFrameLocks noChangeAspect="1"/>
            </p:cNvGraphicFramePr>
            <p:nvPr/>
          </p:nvGraphicFramePr>
          <p:xfrm>
            <a:off x="2176" y="1970"/>
            <a:ext cx="1198" cy="286"/>
          </p:xfrm>
          <a:graphic>
            <a:graphicData uri="http://schemas.openxmlformats.org/presentationml/2006/ole">
              <p:oleObj spid="_x0000_s6147" name="Equation" r:id="rId4" imgW="698400" imgH="164880" progId="Equation.DSMT4">
                <p:embed/>
              </p:oleObj>
            </a:graphicData>
          </a:graphic>
        </p:graphicFrame>
        <p:sp>
          <p:nvSpPr>
            <p:cNvPr id="6156" name="Text Box 20"/>
            <p:cNvSpPr txBox="1">
              <a:spLocks noChangeArrowheads="1"/>
            </p:cNvSpPr>
            <p:nvPr/>
          </p:nvSpPr>
          <p:spPr bwMode="auto">
            <a:xfrm>
              <a:off x="3413" y="1948"/>
              <a:ext cx="173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800" i="0" dirty="0">
                  <a:ea typeface="华文中宋" pitchFamily="2" charset="-122"/>
                  <a:cs typeface="Times New Roman" pitchFamily="18" charset="0"/>
                </a:rPr>
                <a:t>将两项并为一项，</a:t>
              </a:r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1694" y="2276"/>
              <a:ext cx="1881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>
                <a:defRPr/>
              </a:pPr>
              <a:r>
                <a:rPr lang="zh-CN" altLang="en-US" sz="2800" i="0" dirty="0">
                  <a:ea typeface="华文中宋" pitchFamily="2" charset="-122"/>
                  <a:cs typeface="Times New Roman" pitchFamily="18" charset="0"/>
                </a:rPr>
                <a:t>且消去一个变量</a:t>
              </a:r>
              <a:r>
                <a:rPr lang="en-US" altLang="zh-CN" sz="2800" dirty="0">
                  <a:ea typeface="华文中宋" pitchFamily="2" charset="-122"/>
                  <a:cs typeface="Times New Roman" pitchFamily="18" charset="0"/>
                </a:rPr>
                <a:t>B</a:t>
              </a:r>
              <a:r>
                <a:rPr lang="zh-CN" altLang="en-US" sz="2800" i="0" dirty="0">
                  <a:ea typeface="华文中宋" pitchFamily="2" charset="-122"/>
                  <a:cs typeface="Times New Roman" pitchFamily="18" charset="0"/>
                </a:rPr>
                <a:t>。</a:t>
              </a:r>
            </a:p>
          </p:txBody>
        </p:sp>
      </p:grpSp>
      <p:graphicFrame>
        <p:nvGraphicFramePr>
          <p:cNvPr id="22" name="Object 8"/>
          <p:cNvGraphicFramePr>
            <a:graphicFrameLocks noChangeAspect="1"/>
          </p:cNvGraphicFramePr>
          <p:nvPr/>
        </p:nvGraphicFramePr>
        <p:xfrm>
          <a:off x="2714625" y="2234248"/>
          <a:ext cx="3286125" cy="2011362"/>
        </p:xfrm>
        <a:graphic>
          <a:graphicData uri="http://schemas.openxmlformats.org/presentationml/2006/ole">
            <p:oleObj spid="_x0000_s6146" name="Equation" r:id="rId5" imgW="1155600" imgH="698400" progId="Equation.DSMT4">
              <p:embed/>
            </p:oleObj>
          </a:graphicData>
        </a:graphic>
      </p:graphicFrame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293988" y="167010"/>
            <a:ext cx="4910151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zh-CN" altLang="en-US" sz="3600" b="1" i="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逻辑函数的化简法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22" descr="羊皮纸"/>
          <p:cNvSpPr txBox="1">
            <a:spLocks noChangeArrowheads="1"/>
          </p:cNvSpPr>
          <p:nvPr/>
        </p:nvSpPr>
        <p:spPr bwMode="auto">
          <a:xfrm>
            <a:off x="571500" y="989648"/>
            <a:ext cx="758698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800" i="0" dirty="0">
                <a:solidFill>
                  <a:srgbClr val="CC3300"/>
                </a:solidFill>
                <a:ea typeface="华文中宋" pitchFamily="2" charset="-122"/>
                <a:cs typeface="Times New Roman" pitchFamily="18" charset="0"/>
                <a:sym typeface="Symbol" pitchFamily="18" charset="2"/>
              </a:rPr>
              <a:t>   吸收法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： 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利用 </a:t>
            </a:r>
            <a:r>
              <a:rPr lang="en-US" altLang="zh-CN" sz="2800" b="1" dirty="0" smtClean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A </a:t>
            </a:r>
            <a:r>
              <a:rPr lang="en-US" altLang="zh-CN" sz="2800" b="1" dirty="0">
                <a:solidFill>
                  <a:srgbClr val="3333FF"/>
                </a:solidFill>
                <a:ea typeface="华文中宋" pitchFamily="2" charset="-122"/>
                <a:cs typeface="Times New Roman" pitchFamily="18" charset="0"/>
              </a:rPr>
              <a:t>+ AB = A 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消去多余的</a:t>
            </a:r>
            <a:r>
              <a:rPr lang="zh-CN" altLang="en-US" sz="2800" i="0" dirty="0" smtClean="0">
                <a:ea typeface="华文中宋" pitchFamily="2" charset="-122"/>
                <a:cs typeface="Times New Roman" pitchFamily="18" charset="0"/>
              </a:rPr>
              <a:t>项 </a:t>
            </a:r>
            <a:r>
              <a:rPr lang="en-US" altLang="zh-CN" sz="2800" b="1" dirty="0" smtClean="0">
                <a:ea typeface="华文中宋" pitchFamily="2" charset="-122"/>
                <a:cs typeface="Times New Roman" pitchFamily="18" charset="0"/>
              </a:rPr>
              <a:t>AB</a:t>
            </a:r>
            <a:r>
              <a:rPr lang="zh-CN" altLang="en-US" sz="2800" i="0" dirty="0">
                <a:ea typeface="华文中宋" pitchFamily="2" charset="-122"/>
                <a:cs typeface="Times New Roman" pitchFamily="18" charset="0"/>
              </a:rPr>
              <a:t>。</a:t>
            </a:r>
            <a:endParaRPr lang="en-US" altLang="zh-CN" sz="2800" i="0" dirty="0">
              <a:ea typeface="华文中宋" pitchFamily="2" charset="-122"/>
              <a:cs typeface="Times New Roman" pitchFamily="18" charset="0"/>
            </a:endParaRPr>
          </a:p>
        </p:txBody>
      </p:sp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2786063" y="1713865"/>
          <a:ext cx="3394075" cy="2193925"/>
        </p:xfrm>
        <a:graphic>
          <a:graphicData uri="http://schemas.openxmlformats.org/presentationml/2006/ole">
            <p:oleObj spid="_x0000_s7170" name="Equation" r:id="rId4" imgW="1193760" imgH="761760" progId="Equation.DSMT4">
              <p:embed/>
            </p:oleObj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93988" y="167010"/>
            <a:ext cx="4910151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zh-CN" altLang="en-US" sz="3600" b="1" i="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逻辑函数的化简法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9" name="Group 38"/>
          <p:cNvGrpSpPr>
            <a:grpSpLocks/>
          </p:cNvGrpSpPr>
          <p:nvPr/>
        </p:nvGrpSpPr>
        <p:grpSpPr bwMode="auto">
          <a:xfrm>
            <a:off x="571500" y="999812"/>
            <a:ext cx="6983414" cy="538163"/>
            <a:chOff x="576" y="2967"/>
            <a:chExt cx="4399" cy="339"/>
          </a:xfrm>
        </p:grpSpPr>
        <p:sp>
          <p:nvSpPr>
            <p:cNvPr id="8201" name="Text Box 30" descr="羊皮纸"/>
            <p:cNvSpPr txBox="1">
              <a:spLocks noChangeArrowheads="1"/>
            </p:cNvSpPr>
            <p:nvPr/>
          </p:nvSpPr>
          <p:spPr bwMode="auto">
            <a:xfrm>
              <a:off x="576" y="2976"/>
              <a:ext cx="163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800" i="0" dirty="0">
                  <a:solidFill>
                    <a:srgbClr val="CC3300"/>
                  </a:solidFill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 </a:t>
              </a:r>
              <a:r>
                <a:rPr lang="zh-CN" altLang="en-US" sz="2800" i="0" dirty="0" smtClean="0">
                  <a:solidFill>
                    <a:srgbClr val="CC3300"/>
                  </a:solidFill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消</a:t>
              </a:r>
              <a:r>
                <a:rPr lang="zh-CN" altLang="en-US" sz="2800" i="0" dirty="0">
                  <a:solidFill>
                    <a:srgbClr val="CC3300"/>
                  </a:solidFill>
                  <a:ea typeface="华文中宋" pitchFamily="2" charset="-122"/>
                  <a:cs typeface="Times New Roman" pitchFamily="18" charset="0"/>
                  <a:sym typeface="Symbol" pitchFamily="18" charset="2"/>
                </a:rPr>
                <a:t>去法</a:t>
              </a:r>
              <a:r>
                <a:rPr lang="zh-CN" altLang="en-US" sz="2800" i="0" dirty="0">
                  <a:ea typeface="华文中宋" pitchFamily="2" charset="-122"/>
                  <a:cs typeface="Times New Roman" pitchFamily="18" charset="0"/>
                </a:rPr>
                <a:t>：利用</a:t>
              </a:r>
            </a:p>
          </p:txBody>
        </p:sp>
        <p:graphicFrame>
          <p:nvGraphicFramePr>
            <p:cNvPr id="8195" name="Object 4"/>
            <p:cNvGraphicFramePr>
              <a:graphicFrameLocks noChangeAspect="1"/>
            </p:cNvGraphicFramePr>
            <p:nvPr/>
          </p:nvGraphicFramePr>
          <p:xfrm>
            <a:off x="2114" y="3005"/>
            <a:ext cx="1333" cy="270"/>
          </p:xfrm>
          <a:graphic>
            <a:graphicData uri="http://schemas.openxmlformats.org/presentationml/2006/ole">
              <p:oleObj spid="_x0000_s8195" name="Equation" r:id="rId4" imgW="812520" imgH="164880" progId="Equation.DSMT4">
                <p:embed/>
              </p:oleObj>
            </a:graphicData>
          </a:graphic>
        </p:graphicFrame>
        <p:sp>
          <p:nvSpPr>
            <p:cNvPr id="8202" name="Text Box 32"/>
            <p:cNvSpPr txBox="1">
              <a:spLocks noChangeArrowheads="1"/>
            </p:cNvSpPr>
            <p:nvPr/>
          </p:nvSpPr>
          <p:spPr bwMode="auto">
            <a:xfrm>
              <a:off x="3352" y="2967"/>
              <a:ext cx="147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800" i="0" dirty="0">
                  <a:ea typeface="华文中宋" pitchFamily="2" charset="-122"/>
                  <a:cs typeface="Times New Roman" pitchFamily="18" charset="0"/>
                </a:rPr>
                <a:t>消去多余变量</a:t>
              </a:r>
              <a:endParaRPr lang="en-US" altLang="zh-CN" sz="2800" i="0" dirty="0">
                <a:ea typeface="华文中宋" pitchFamily="2" charset="-122"/>
                <a:cs typeface="Times New Roman" pitchFamily="18" charset="0"/>
              </a:endParaRPr>
            </a:p>
          </p:txBody>
        </p:sp>
        <p:graphicFrame>
          <p:nvGraphicFramePr>
            <p:cNvPr id="8196" name="Object 5"/>
            <p:cNvGraphicFramePr>
              <a:graphicFrameLocks noChangeAspect="1"/>
            </p:cNvGraphicFramePr>
            <p:nvPr/>
          </p:nvGraphicFramePr>
          <p:xfrm>
            <a:off x="4746" y="2980"/>
            <a:ext cx="229" cy="296"/>
          </p:xfrm>
          <a:graphic>
            <a:graphicData uri="http://schemas.openxmlformats.org/presentationml/2006/ole">
              <p:oleObj spid="_x0000_s8196" name="Equation" r:id="rId5" imgW="126720" imgH="164880" progId="Equation.DSMT4">
                <p:embed/>
              </p:oleObj>
            </a:graphicData>
          </a:graphic>
        </p:graphicFrame>
      </p:grpSp>
      <p:graphicFrame>
        <p:nvGraphicFramePr>
          <p:cNvPr id="22" name="Object 6"/>
          <p:cNvGraphicFramePr>
            <a:graphicFrameLocks noChangeAspect="1"/>
          </p:cNvGraphicFramePr>
          <p:nvPr/>
        </p:nvGraphicFramePr>
        <p:xfrm>
          <a:off x="2643188" y="1672908"/>
          <a:ext cx="3648075" cy="2668587"/>
        </p:xfrm>
        <a:graphic>
          <a:graphicData uri="http://schemas.openxmlformats.org/presentationml/2006/ole">
            <p:oleObj spid="_x0000_s8194" name="Equation" r:id="rId6" imgW="1282680" imgH="927000" progId="Equation.DSMT4">
              <p:embed/>
            </p:oleObj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93988" y="167010"/>
            <a:ext cx="4910151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zh-CN" altLang="en-US" sz="3600" b="1" i="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逻辑函数的化简法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6"/>
          <p:cNvGraphicFramePr>
            <a:graphicFrameLocks noChangeAspect="1"/>
          </p:cNvGraphicFramePr>
          <p:nvPr/>
        </p:nvGraphicFramePr>
        <p:xfrm>
          <a:off x="1643063" y="1857375"/>
          <a:ext cx="6140450" cy="2741613"/>
        </p:xfrm>
        <a:graphic>
          <a:graphicData uri="http://schemas.openxmlformats.org/presentationml/2006/ole">
            <p:oleObj spid="_x0000_s9218" name="Equation" r:id="rId4" imgW="2158920" imgH="952200" progId="Equation.DSMT4">
              <p:embed/>
            </p:oleObj>
          </a:graphicData>
        </a:graphic>
      </p:graphicFrame>
      <p:grpSp>
        <p:nvGrpSpPr>
          <p:cNvPr id="9223" name="组合 15"/>
          <p:cNvGrpSpPr>
            <a:grpSpLocks/>
          </p:cNvGrpSpPr>
          <p:nvPr/>
        </p:nvGrpSpPr>
        <p:grpSpPr bwMode="auto">
          <a:xfrm>
            <a:off x="500063" y="884238"/>
            <a:ext cx="8183562" cy="973137"/>
            <a:chOff x="500063" y="1455738"/>
            <a:chExt cx="8183562" cy="973137"/>
          </a:xfrm>
        </p:grpSpPr>
        <p:grpSp>
          <p:nvGrpSpPr>
            <p:cNvPr id="9225" name="Group 40"/>
            <p:cNvGrpSpPr>
              <a:grpSpLocks/>
            </p:cNvGrpSpPr>
            <p:nvPr/>
          </p:nvGrpSpPr>
          <p:grpSpPr bwMode="auto">
            <a:xfrm>
              <a:off x="500063" y="1455738"/>
              <a:ext cx="8183562" cy="973137"/>
              <a:chOff x="584" y="3214"/>
              <a:chExt cx="4606" cy="613"/>
            </a:xfrm>
          </p:grpSpPr>
          <p:sp>
            <p:nvSpPr>
              <p:cNvPr id="9226" name="Text Box 24" descr="羊皮纸"/>
              <p:cNvSpPr txBox="1">
                <a:spLocks noChangeArrowheads="1"/>
              </p:cNvSpPr>
              <p:nvPr/>
            </p:nvSpPr>
            <p:spPr bwMode="auto">
              <a:xfrm>
                <a:off x="584" y="3214"/>
                <a:ext cx="4606" cy="5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400" i="0" dirty="0">
                    <a:solidFill>
                      <a:srgbClr val="C00000"/>
                    </a:solidFill>
                    <a:latin typeface="华文中宋" pitchFamily="2" charset="-122"/>
                    <a:ea typeface="华文中宋" pitchFamily="2" charset="-122"/>
                    <a:sym typeface="Symbol" pitchFamily="18" charset="2"/>
                  </a:rPr>
                  <a:t>   </a:t>
                </a:r>
                <a:r>
                  <a:rPr lang="zh-CN" altLang="en-US" sz="2400" i="0" dirty="0">
                    <a:solidFill>
                      <a:srgbClr val="C00000"/>
                    </a:solidFill>
                    <a:latin typeface="华文中宋" pitchFamily="2" charset="-122"/>
                    <a:ea typeface="华文中宋" pitchFamily="2" charset="-122"/>
                  </a:rPr>
                  <a:t>配项法</a:t>
                </a:r>
                <a:r>
                  <a:rPr lang="zh-CN" altLang="en-US" sz="2400" i="0" dirty="0">
                    <a:latin typeface="华文中宋" pitchFamily="2" charset="-122"/>
                    <a:ea typeface="华文中宋" pitchFamily="2" charset="-122"/>
                  </a:rPr>
                  <a:t>：利用互补律、重叠律先增添项，再消去多余项</a:t>
                </a:r>
              </a:p>
              <a:p>
                <a:endParaRPr lang="zh-CN" altLang="en-US" sz="2400" i="0" dirty="0">
                  <a:latin typeface="华文中宋" pitchFamily="2" charset="-122"/>
                  <a:ea typeface="华文中宋" pitchFamily="2" charset="-122"/>
                </a:endParaRPr>
              </a:p>
            </p:txBody>
          </p:sp>
          <p:graphicFrame>
            <p:nvGraphicFramePr>
              <p:cNvPr id="9220" name="Object 3"/>
              <p:cNvGraphicFramePr>
                <a:graphicFrameLocks noChangeAspect="1"/>
              </p:cNvGraphicFramePr>
              <p:nvPr/>
            </p:nvGraphicFramePr>
            <p:xfrm>
              <a:off x="2393" y="3508"/>
              <a:ext cx="706" cy="319"/>
            </p:xfrm>
            <a:graphic>
              <a:graphicData uri="http://schemas.openxmlformats.org/presentationml/2006/ole">
                <p:oleObj spid="_x0000_s9220" name="Equation" r:id="rId5" imgW="482400" imgH="190440" progId="Equation.DSMT4">
                  <p:embed/>
                </p:oleObj>
              </a:graphicData>
            </a:graphic>
          </p:graphicFrame>
          <p:sp>
            <p:nvSpPr>
              <p:cNvPr id="9227" name="Text Box 27"/>
              <p:cNvSpPr txBox="1">
                <a:spLocks noChangeArrowheads="1"/>
              </p:cNvSpPr>
              <p:nvPr/>
            </p:nvSpPr>
            <p:spPr bwMode="auto">
              <a:xfrm>
                <a:off x="1438" y="3522"/>
                <a:ext cx="97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400" i="0" dirty="0">
                    <a:latin typeface="华文中宋" pitchFamily="2" charset="-122"/>
                    <a:ea typeface="华文中宋" pitchFamily="2" charset="-122"/>
                  </a:rPr>
                  <a:t>例如：利用</a:t>
                </a:r>
                <a:endParaRPr lang="en-US" altLang="zh-CN" sz="2400" i="0" dirty="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9228" name="Text Box 27"/>
              <p:cNvSpPr txBox="1">
                <a:spLocks noChangeArrowheads="1"/>
              </p:cNvSpPr>
              <p:nvPr/>
            </p:nvSpPr>
            <p:spPr bwMode="auto">
              <a:xfrm>
                <a:off x="3117" y="3536"/>
                <a:ext cx="1149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400" i="0" dirty="0">
                    <a:latin typeface="华文中宋" pitchFamily="2" charset="-122"/>
                    <a:ea typeface="华文中宋" pitchFamily="2" charset="-122"/>
                  </a:rPr>
                  <a:t>在与项中乘以</a:t>
                </a:r>
                <a:endParaRPr lang="en-US" altLang="zh-CN" sz="2400" i="0" dirty="0">
                  <a:latin typeface="华文中宋" pitchFamily="2" charset="-122"/>
                  <a:ea typeface="华文中宋" pitchFamily="2" charset="-122"/>
                </a:endParaRPr>
              </a:p>
            </p:txBody>
          </p:sp>
        </p:grpSp>
        <p:graphicFrame>
          <p:nvGraphicFramePr>
            <p:cNvPr id="9219" name="Object 3"/>
            <p:cNvGraphicFramePr>
              <a:graphicFrameLocks noChangeAspect="1"/>
            </p:cNvGraphicFramePr>
            <p:nvPr/>
          </p:nvGraphicFramePr>
          <p:xfrm>
            <a:off x="7000892" y="1922456"/>
            <a:ext cx="825500" cy="506412"/>
          </p:xfrm>
          <a:graphic>
            <a:graphicData uri="http://schemas.openxmlformats.org/presentationml/2006/ole">
              <p:oleObj spid="_x0000_s9219" name="Equation" r:id="rId6" imgW="317160" imgH="190440" progId="Equation.DSMT4">
                <p:embed/>
              </p:oleObj>
            </a:graphicData>
          </a:graphic>
        </p:graphicFrame>
      </p:grp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93988" y="167010"/>
            <a:ext cx="4910151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zh-CN" altLang="en-US" sz="3600" b="1" i="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逻辑函数的化简法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7" name="组合 15"/>
          <p:cNvGrpSpPr>
            <a:grpSpLocks/>
          </p:cNvGrpSpPr>
          <p:nvPr/>
        </p:nvGrpSpPr>
        <p:grpSpPr bwMode="auto">
          <a:xfrm>
            <a:off x="500063" y="884238"/>
            <a:ext cx="8183562" cy="973137"/>
            <a:chOff x="500063" y="1455738"/>
            <a:chExt cx="8183562" cy="973137"/>
          </a:xfrm>
        </p:grpSpPr>
        <p:grpSp>
          <p:nvGrpSpPr>
            <p:cNvPr id="10249" name="Group 40"/>
            <p:cNvGrpSpPr>
              <a:grpSpLocks/>
            </p:cNvGrpSpPr>
            <p:nvPr/>
          </p:nvGrpSpPr>
          <p:grpSpPr bwMode="auto">
            <a:xfrm>
              <a:off x="500063" y="1455738"/>
              <a:ext cx="8183562" cy="973137"/>
              <a:chOff x="584" y="3214"/>
              <a:chExt cx="4606" cy="613"/>
            </a:xfrm>
          </p:grpSpPr>
          <p:sp>
            <p:nvSpPr>
              <p:cNvPr id="10250" name="Text Box 24" descr="羊皮纸"/>
              <p:cNvSpPr txBox="1">
                <a:spLocks noChangeArrowheads="1"/>
              </p:cNvSpPr>
              <p:nvPr/>
            </p:nvSpPr>
            <p:spPr bwMode="auto">
              <a:xfrm>
                <a:off x="584" y="3214"/>
                <a:ext cx="4606" cy="5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400" i="0">
                    <a:solidFill>
                      <a:srgbClr val="C00000"/>
                    </a:solidFill>
                    <a:latin typeface="华文中宋" pitchFamily="2" charset="-122"/>
                    <a:ea typeface="华文中宋" pitchFamily="2" charset="-122"/>
                    <a:sym typeface="Symbol" pitchFamily="18" charset="2"/>
                  </a:rPr>
                  <a:t>   </a:t>
                </a:r>
                <a:r>
                  <a:rPr lang="zh-CN" altLang="en-US" sz="2400" i="0">
                    <a:solidFill>
                      <a:srgbClr val="C00000"/>
                    </a:solidFill>
                    <a:latin typeface="华文中宋" pitchFamily="2" charset="-122"/>
                    <a:ea typeface="华文中宋" pitchFamily="2" charset="-122"/>
                  </a:rPr>
                  <a:t>配项法</a:t>
                </a:r>
                <a:r>
                  <a:rPr lang="zh-CN" altLang="en-US" sz="2400" i="0">
                    <a:latin typeface="华文中宋" pitchFamily="2" charset="-122"/>
                    <a:ea typeface="华文中宋" pitchFamily="2" charset="-122"/>
                  </a:rPr>
                  <a:t>：利用互补律、重叠律先增添项，再消去多余项</a:t>
                </a:r>
              </a:p>
              <a:p>
                <a:endParaRPr lang="zh-CN" altLang="en-US" sz="2400" i="0">
                  <a:latin typeface="华文中宋" pitchFamily="2" charset="-122"/>
                  <a:ea typeface="华文中宋" pitchFamily="2" charset="-122"/>
                </a:endParaRPr>
              </a:p>
            </p:txBody>
          </p:sp>
          <p:graphicFrame>
            <p:nvGraphicFramePr>
              <p:cNvPr id="10244" name="Object 3"/>
              <p:cNvGraphicFramePr>
                <a:graphicFrameLocks noChangeAspect="1"/>
              </p:cNvGraphicFramePr>
              <p:nvPr/>
            </p:nvGraphicFramePr>
            <p:xfrm>
              <a:off x="2393" y="3508"/>
              <a:ext cx="706" cy="319"/>
            </p:xfrm>
            <a:graphic>
              <a:graphicData uri="http://schemas.openxmlformats.org/presentationml/2006/ole">
                <p:oleObj spid="_x0000_s10244" name="Equation" r:id="rId4" imgW="482400" imgH="190440" progId="Equation.DSMT4">
                  <p:embed/>
                </p:oleObj>
              </a:graphicData>
            </a:graphic>
          </p:graphicFrame>
          <p:sp>
            <p:nvSpPr>
              <p:cNvPr id="10251" name="Text Box 27"/>
              <p:cNvSpPr txBox="1">
                <a:spLocks noChangeArrowheads="1"/>
              </p:cNvSpPr>
              <p:nvPr/>
            </p:nvSpPr>
            <p:spPr bwMode="auto">
              <a:xfrm>
                <a:off x="1438" y="3522"/>
                <a:ext cx="97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400" i="0">
                    <a:latin typeface="华文中宋" pitchFamily="2" charset="-122"/>
                    <a:ea typeface="华文中宋" pitchFamily="2" charset="-122"/>
                  </a:rPr>
                  <a:t>例如：利用</a:t>
                </a:r>
                <a:endParaRPr lang="en-US" altLang="zh-CN" sz="2400" i="0">
                  <a:latin typeface="华文中宋" pitchFamily="2" charset="-122"/>
                  <a:ea typeface="华文中宋" pitchFamily="2" charset="-122"/>
                </a:endParaRPr>
              </a:p>
            </p:txBody>
          </p:sp>
          <p:sp>
            <p:nvSpPr>
              <p:cNvPr id="10252" name="Text Box 27"/>
              <p:cNvSpPr txBox="1">
                <a:spLocks noChangeArrowheads="1"/>
              </p:cNvSpPr>
              <p:nvPr/>
            </p:nvSpPr>
            <p:spPr bwMode="auto">
              <a:xfrm>
                <a:off x="3117" y="3536"/>
                <a:ext cx="1149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r>
                  <a:rPr lang="zh-CN" altLang="en-US" sz="2400" i="0">
                    <a:latin typeface="华文中宋" pitchFamily="2" charset="-122"/>
                    <a:ea typeface="华文中宋" pitchFamily="2" charset="-122"/>
                  </a:rPr>
                  <a:t>在与项中乘以</a:t>
                </a:r>
                <a:endParaRPr lang="en-US" altLang="zh-CN" sz="2400" i="0">
                  <a:latin typeface="华文中宋" pitchFamily="2" charset="-122"/>
                  <a:ea typeface="华文中宋" pitchFamily="2" charset="-122"/>
                </a:endParaRPr>
              </a:p>
            </p:txBody>
          </p:sp>
        </p:grpSp>
        <p:graphicFrame>
          <p:nvGraphicFramePr>
            <p:cNvPr id="10243" name="Object 3"/>
            <p:cNvGraphicFramePr>
              <a:graphicFrameLocks noChangeAspect="1"/>
            </p:cNvGraphicFramePr>
            <p:nvPr/>
          </p:nvGraphicFramePr>
          <p:xfrm>
            <a:off x="7000892" y="1922456"/>
            <a:ext cx="825500" cy="506412"/>
          </p:xfrm>
          <a:graphic>
            <a:graphicData uri="http://schemas.openxmlformats.org/presentationml/2006/ole">
              <p:oleObj spid="_x0000_s10243" name="Equation" r:id="rId5" imgW="317160" imgH="190440" progId="Equation.DSMT4">
                <p:embed/>
              </p:oleObj>
            </a:graphicData>
          </a:graphic>
        </p:graphicFrame>
      </p:grpSp>
      <p:graphicFrame>
        <p:nvGraphicFramePr>
          <p:cNvPr id="115718" name="Object 3"/>
          <p:cNvGraphicFramePr>
            <a:graphicFrameLocks noChangeAspect="1"/>
          </p:cNvGraphicFramePr>
          <p:nvPr/>
        </p:nvGraphicFramePr>
        <p:xfrm>
          <a:off x="1643063" y="1857375"/>
          <a:ext cx="6103937" cy="2741613"/>
        </p:xfrm>
        <a:graphic>
          <a:graphicData uri="http://schemas.openxmlformats.org/presentationml/2006/ole">
            <p:oleObj spid="_x0000_s10242" name="Equation" r:id="rId6" imgW="2145960" imgH="952200" progId="Equation.DSMT4">
              <p:embed/>
            </p:oleObj>
          </a:graphicData>
        </a:graphic>
      </p:graphicFrame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93988" y="167010"/>
            <a:ext cx="4910151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zh-CN" altLang="en-US" sz="3600" b="1" i="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逻辑函数的化简法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72" name="Group 40"/>
          <p:cNvGrpSpPr>
            <a:grpSpLocks/>
          </p:cNvGrpSpPr>
          <p:nvPr/>
        </p:nvGrpSpPr>
        <p:grpSpPr bwMode="auto">
          <a:xfrm>
            <a:off x="500063" y="1000125"/>
            <a:ext cx="7104062" cy="946150"/>
            <a:chOff x="584" y="3214"/>
            <a:chExt cx="3998" cy="596"/>
          </a:xfrm>
        </p:grpSpPr>
        <p:sp>
          <p:nvSpPr>
            <p:cNvPr id="11274" name="Text Box 24" descr="羊皮纸"/>
            <p:cNvSpPr txBox="1">
              <a:spLocks noChangeArrowheads="1"/>
            </p:cNvSpPr>
            <p:nvPr/>
          </p:nvSpPr>
          <p:spPr bwMode="auto">
            <a:xfrm>
              <a:off x="584" y="3214"/>
              <a:ext cx="80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800" b="1" i="0" dirty="0">
                  <a:solidFill>
                    <a:srgbClr val="0070C0"/>
                  </a:solidFill>
                  <a:sym typeface="Symbol" pitchFamily="18" charset="2"/>
                </a:rPr>
                <a:t>  </a:t>
              </a:r>
              <a:r>
                <a:rPr lang="zh-CN" altLang="en-US" sz="2800" b="1" i="0" dirty="0" smtClean="0">
                  <a:solidFill>
                    <a:srgbClr val="0070C0"/>
                  </a:solidFill>
                  <a:latin typeface="华文中宋" pitchFamily="2" charset="-122"/>
                  <a:ea typeface="华文中宋" pitchFamily="2" charset="-122"/>
                  <a:sym typeface="Symbol" pitchFamily="18" charset="2"/>
                </a:rPr>
                <a:t>例</a:t>
              </a:r>
              <a:r>
                <a:rPr lang="en-US" altLang="zh-CN" sz="2800" b="1" i="0" dirty="0" smtClean="0">
                  <a:solidFill>
                    <a:srgbClr val="0070C0"/>
                  </a:solidFill>
                  <a:sym typeface="Symbol" pitchFamily="18" charset="2"/>
                </a:rPr>
                <a:t>3</a:t>
              </a:r>
              <a:r>
                <a:rPr lang="zh-CN" altLang="en-US" sz="2800" b="1" i="0" dirty="0" smtClean="0">
                  <a:solidFill>
                    <a:srgbClr val="0070C0"/>
                  </a:solidFill>
                  <a:latin typeface="宋体" pitchFamily="2" charset="-122"/>
                </a:rPr>
                <a:t>：</a:t>
              </a:r>
              <a:endParaRPr lang="zh-CN" altLang="en-US" sz="2800" b="1" i="0" dirty="0">
                <a:solidFill>
                  <a:srgbClr val="0070C0"/>
                </a:solidFill>
                <a:latin typeface="宋体" pitchFamily="2" charset="-122"/>
              </a:endParaRPr>
            </a:p>
          </p:txBody>
        </p:sp>
        <p:graphicFrame>
          <p:nvGraphicFramePr>
            <p:cNvPr id="11269" name="Object 2"/>
            <p:cNvGraphicFramePr>
              <a:graphicFrameLocks noChangeAspect="1"/>
            </p:cNvGraphicFramePr>
            <p:nvPr/>
          </p:nvGraphicFramePr>
          <p:xfrm>
            <a:off x="1147" y="3512"/>
            <a:ext cx="3435" cy="298"/>
          </p:xfrm>
          <a:graphic>
            <a:graphicData uri="http://schemas.openxmlformats.org/presentationml/2006/ole">
              <p:oleObj spid="_x0000_s11269" name="Equation" r:id="rId4" imgW="2349360" imgH="177480" progId="Equation.DSMT4">
                <p:embed/>
              </p:oleObj>
            </a:graphicData>
          </a:graphic>
        </p:graphicFrame>
      </p:grpSp>
      <p:graphicFrame>
        <p:nvGraphicFramePr>
          <p:cNvPr id="20" name="Object 3"/>
          <p:cNvGraphicFramePr>
            <a:graphicFrameLocks noChangeAspect="1"/>
          </p:cNvGraphicFramePr>
          <p:nvPr/>
        </p:nvGraphicFramePr>
        <p:xfrm>
          <a:off x="1785938" y="2071688"/>
          <a:ext cx="5192712" cy="500062"/>
        </p:xfrm>
        <a:graphic>
          <a:graphicData uri="http://schemas.openxmlformats.org/presentationml/2006/ole">
            <p:oleObj spid="_x0000_s11266" name="Equation" r:id="rId5" imgW="1866600" imgH="177480" progId="Equation.DSMT4">
              <p:embed/>
            </p:oleObj>
          </a:graphicData>
        </a:graphic>
      </p:graphicFrame>
      <p:graphicFrame>
        <p:nvGraphicFramePr>
          <p:cNvPr id="21" name="Object 4"/>
          <p:cNvGraphicFramePr>
            <a:graphicFrameLocks noChangeAspect="1"/>
          </p:cNvGraphicFramePr>
          <p:nvPr/>
        </p:nvGraphicFramePr>
        <p:xfrm>
          <a:off x="1785938" y="2714625"/>
          <a:ext cx="3178175" cy="500063"/>
        </p:xfrm>
        <a:graphic>
          <a:graphicData uri="http://schemas.openxmlformats.org/presentationml/2006/ole">
            <p:oleObj spid="_x0000_s11267" name="Equation" r:id="rId6" imgW="1143000" imgH="177480" progId="Equation.DSMT4">
              <p:embed/>
            </p:oleObj>
          </a:graphicData>
        </a:graphic>
      </p:graphicFrame>
      <p:graphicFrame>
        <p:nvGraphicFramePr>
          <p:cNvPr id="22" name="Object 5"/>
          <p:cNvGraphicFramePr>
            <a:graphicFrameLocks noChangeAspect="1"/>
          </p:cNvGraphicFramePr>
          <p:nvPr/>
        </p:nvGraphicFramePr>
        <p:xfrm>
          <a:off x="1785938" y="3357563"/>
          <a:ext cx="2967037" cy="500062"/>
        </p:xfrm>
        <a:graphic>
          <a:graphicData uri="http://schemas.openxmlformats.org/presentationml/2006/ole">
            <p:oleObj spid="_x0000_s11268" name="Equation" r:id="rId7" imgW="1066680" imgH="177480" progId="Equation.DSMT4">
              <p:embed/>
            </p:oleObj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293988" y="167010"/>
            <a:ext cx="4910151" cy="540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en-US" altLang="zh-CN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kumimoji="0" lang="zh-CN" alt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uLnTx/>
                <a:uFillTx/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、</a:t>
            </a:r>
            <a:r>
              <a:rPr kumimoji="0" lang="zh-CN" altLang="en-US" sz="3600" b="1" i="0" dirty="0">
                <a:solidFill>
                  <a:srgbClr val="C00000"/>
                </a:solidFill>
                <a:ea typeface="黑体" pitchFamily="49" charset="-122"/>
                <a:cs typeface="Times New Roman" pitchFamily="18" charset="0"/>
              </a:rPr>
              <a:t>逻辑函数的化简法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4" descr="img200706121339341457副本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64164" y="2407444"/>
            <a:ext cx="3095625" cy="2221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6469" name="Rectangle 5"/>
          <p:cNvSpPr>
            <a:spLocks noChangeArrowheads="1"/>
          </p:cNvSpPr>
          <p:nvPr/>
        </p:nvSpPr>
        <p:spPr bwMode="auto">
          <a:xfrm>
            <a:off x="2700339" y="1491854"/>
            <a:ext cx="32400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4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中宋" panose="02010600040101010101" pitchFamily="2" charset="-122"/>
                <a:cs typeface="Times New Roman" panose="02020603050405020304" pitchFamily="18" charset="0"/>
              </a:rPr>
              <a:t>结    束</a:t>
            </a:r>
            <a:r>
              <a:rPr lang="zh-CN" altLang="en-US" sz="3600" dirty="0" smtClean="0">
                <a:solidFill>
                  <a:schemeClr val="tx1"/>
                </a:solidFill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1824329971"/>
      </p:ext>
    </p:extLst>
  </p:cSld>
  <p:clrMapOvr>
    <a:masterClrMapping/>
  </p:clrMapOvr>
  <p:transition spd="slow">
    <p:diamond/>
    <p:sndAc>
      <p:stSnd>
        <p:snd r:embed="rId2" name="结束.wav"/>
      </p:stSnd>
    </p:sndAc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电工学模板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15116</TotalTime>
  <Words>704</Words>
  <Application>Microsoft Office PowerPoint</Application>
  <PresentationFormat>全屏显示(16:9)</PresentationFormat>
  <Paragraphs>129</Paragraphs>
  <Slides>17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1_电工学模板</vt:lpstr>
      <vt:lpstr>Equation</vt:lpstr>
      <vt:lpstr>Clip</vt:lpstr>
      <vt:lpstr>Microsoft Office Visio 绘图</vt:lpstr>
      <vt:lpstr>Visio</vt:lpstr>
      <vt:lpstr>幻灯片 1</vt:lpstr>
      <vt:lpstr>逻辑函数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1176</cp:revision>
  <dcterms:modified xsi:type="dcterms:W3CDTF">2017-10-15T05:38:58Z</dcterms:modified>
</cp:coreProperties>
</file>