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heme/themeOverride4.xml" ContentType="application/vnd.openxmlformats-officedocument.themeOverride+xml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21"/>
  </p:handoutMasterIdLst>
  <p:sldIdLst>
    <p:sldId id="390" r:id="rId2"/>
    <p:sldId id="578" r:id="rId3"/>
    <p:sldId id="580" r:id="rId4"/>
    <p:sldId id="589" r:id="rId5"/>
    <p:sldId id="583" r:id="rId6"/>
    <p:sldId id="590" r:id="rId7"/>
    <p:sldId id="579" r:id="rId8"/>
    <p:sldId id="581" r:id="rId9"/>
    <p:sldId id="591" r:id="rId10"/>
    <p:sldId id="582" r:id="rId11"/>
    <p:sldId id="584" r:id="rId12"/>
    <p:sldId id="593" r:id="rId13"/>
    <p:sldId id="592" r:id="rId14"/>
    <p:sldId id="585" r:id="rId15"/>
    <p:sldId id="594" r:id="rId16"/>
    <p:sldId id="586" r:id="rId17"/>
    <p:sldId id="587" r:id="rId18"/>
    <p:sldId id="588" r:id="rId19"/>
    <p:sldId id="595" r:id="rId20"/>
  </p:sldIdLst>
  <p:sldSz cx="9144000" cy="5143500" type="screen16x9"/>
  <p:notesSz cx="7104063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9999"/>
    </p:penClr>
  </p:showPr>
  <p:clrMru>
    <a:srgbClr val="3333FF"/>
    <a:srgbClr val="FFFF00"/>
    <a:srgbClr val="FF9933"/>
    <a:srgbClr val="FFCC00"/>
    <a:srgbClr val="FFCC66"/>
    <a:srgbClr val="FF6600"/>
    <a:srgbClr val="FF00FF"/>
    <a:srgbClr val="A5002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129" autoAdjust="0"/>
    <p:restoredTop sz="94700" autoAdjust="0"/>
  </p:normalViewPr>
  <p:slideViewPr>
    <p:cSldViewPr snapToGrid="0">
      <p:cViewPr varScale="1">
        <p:scale>
          <a:sx n="94" d="100"/>
          <a:sy n="94" d="100"/>
        </p:scale>
        <p:origin x="-672" y="-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5810"/>
    </p:cViewPr>
  </p:sorter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e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11175"/>
          </a:xfrm>
          <a:prstGeom prst="rect">
            <a:avLst/>
          </a:prstGeom>
        </p:spPr>
        <p:txBody>
          <a:bodyPr vert="horz" lIns="94887" tIns="47444" rIns="94887" bIns="47444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9750" cy="511175"/>
          </a:xfrm>
          <a:prstGeom prst="rect">
            <a:avLst/>
          </a:prstGeom>
        </p:spPr>
        <p:txBody>
          <a:bodyPr vert="horz" lIns="94887" tIns="47444" rIns="94887" bIns="47444" rtlCol="0"/>
          <a:lstStyle>
            <a:lvl1pPr algn="r">
              <a:defRPr sz="1200"/>
            </a:lvl1pPr>
          </a:lstStyle>
          <a:p>
            <a:pPr>
              <a:defRPr/>
            </a:pPr>
            <a:fld id="{A2817A1D-2B34-481B-B38E-0D6955C5738C}" type="datetimeFigureOut">
              <a:rPr lang="zh-CN" altLang="en-US"/>
              <a:pPr>
                <a:defRPr/>
              </a:pPr>
              <a:t>2017/10/8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9750" cy="511175"/>
          </a:xfrm>
          <a:prstGeom prst="rect">
            <a:avLst/>
          </a:prstGeom>
        </p:spPr>
        <p:txBody>
          <a:bodyPr vert="horz" lIns="94887" tIns="47444" rIns="94887" bIns="47444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9750" cy="511175"/>
          </a:xfrm>
          <a:prstGeom prst="rect">
            <a:avLst/>
          </a:prstGeom>
        </p:spPr>
        <p:txBody>
          <a:bodyPr vert="horz" lIns="94887" tIns="47444" rIns="94887" bIns="47444" rtlCol="0" anchor="b"/>
          <a:lstStyle>
            <a:lvl1pPr algn="r">
              <a:defRPr sz="1200"/>
            </a:lvl1pPr>
          </a:lstStyle>
          <a:p>
            <a:pPr>
              <a:defRPr/>
            </a:pPr>
            <a:fld id="{7967367C-40B9-48D1-8A77-D3A9F9CCA7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3D79ED-0FCA-4700-B179-AA593B64B9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89E7D-7970-4265-855B-F5F9AF702D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10149-A1C7-426A-9145-1A5A2D1AF9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6D9AF0-076A-45C1-8999-1A96A9953A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E3023-495F-4A6E-83B1-67FFC55C58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8A83F-B1A0-45A8-9B0B-14BACD3049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152F9-A6B5-4BC1-B3AF-DB0D40501E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E8580-3EB7-46AC-82A8-0061839D23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72AB6-FFB2-4AB7-A374-10289C0992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C4F31-1A5A-49DB-896E-D2E300B13C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10136-C4D7-4E6D-86B2-C0450D589D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532F6A2-D9EE-461A-8ACA-20A808CF06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3.bin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3.x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7.bin"/><Relationship Id="rId2" Type="http://schemas.openxmlformats.org/officeDocument/2006/relationships/vmlDrawing" Target="../drawings/vmlDrawing3.vml"/><Relationship Id="rId1" Type="http://schemas.openxmlformats.org/officeDocument/2006/relationships/themeOverride" Target="../theme/themeOverride4.x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jpeg"/><Relationship Id="rId9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7.bin"/><Relationship Id="rId2" Type="http://schemas.openxmlformats.org/officeDocument/2006/relationships/vmlDrawing" Target="../drawings/vmlDrawing6.vml"/><Relationship Id="rId1" Type="http://schemas.openxmlformats.org/officeDocument/2006/relationships/themeOverride" Target="../theme/themeOverride7.x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5.bin"/><Relationship Id="rId2" Type="http://schemas.openxmlformats.org/officeDocument/2006/relationships/vmlDrawing" Target="../drawings/vmlDrawing10.vml"/><Relationship Id="rId1" Type="http://schemas.openxmlformats.org/officeDocument/2006/relationships/themeOverride" Target="../theme/themeOverride10.x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10" Type="http://schemas.openxmlformats.org/officeDocument/2006/relationships/oleObject" Target="../embeddings/oleObject28.bin"/><Relationship Id="rId4" Type="http://schemas.openxmlformats.org/officeDocument/2006/relationships/image" Target="../media/image1.jpeg"/><Relationship Id="rId9" Type="http://schemas.openxmlformats.org/officeDocument/2006/relationships/oleObject" Target="../embeddings/oleObject2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11.vml"/><Relationship Id="rId1" Type="http://schemas.openxmlformats.org/officeDocument/2006/relationships/themeOverride" Target="../theme/themeOverride11.xml"/><Relationship Id="rId6" Type="http://schemas.openxmlformats.org/officeDocument/2006/relationships/oleObject" Target="../embeddings/oleObject30.bin"/><Relationship Id="rId5" Type="http://schemas.openxmlformats.org/officeDocument/2006/relationships/oleObject" Target="../embeddings/oleObject29.bin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12.vml"/><Relationship Id="rId1" Type="http://schemas.openxmlformats.org/officeDocument/2006/relationships/themeOverride" Target="../theme/themeOverride12.xml"/><Relationship Id="rId5" Type="http://schemas.openxmlformats.org/officeDocument/2006/relationships/oleObject" Target="../embeddings/oleObject31.bin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8" name="Rectangle 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500166" y="2609846"/>
            <a:ext cx="6786579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、组合逻辑电路的分析和设计</a:t>
            </a: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608012" y="571500"/>
            <a:ext cx="729646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6000" b="1" i="0" dirty="0" smtClean="0">
                <a:ea typeface="汉仪大隶书简" pitchFamily="49" charset="-122"/>
                <a:cs typeface="Times New Roman" pitchFamily="18" charset="0"/>
              </a:rPr>
              <a:t>12.4  </a:t>
            </a:r>
            <a:r>
              <a:rPr lang="zh-CN" altLang="en-US" sz="6000" b="1" i="0" dirty="0" smtClean="0">
                <a:ea typeface="汉仪大隶书简" pitchFamily="49" charset="-122"/>
                <a:cs typeface="Times New Roman" pitchFamily="18" charset="0"/>
              </a:rPr>
              <a:t>组合逻辑电路的分析和设计</a:t>
            </a:r>
            <a:endParaRPr lang="zh-CN" altLang="en-US" sz="6000" b="1" i="0" dirty="0">
              <a:ea typeface="汉仪大隶书简" pitchFamily="49" charset="-122"/>
              <a:cs typeface="Times New Roman" pitchFamily="18" charset="0"/>
            </a:endParaRPr>
          </a:p>
        </p:txBody>
      </p:sp>
      <p:sp>
        <p:nvSpPr>
          <p:cNvPr id="175110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571604" y="3535370"/>
            <a:ext cx="278608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、加法器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638175" y="1222068"/>
            <a:ext cx="75057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i="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800" b="1" i="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）分析</a:t>
            </a:r>
            <a:r>
              <a:rPr lang="zh-CN" altLang="en-US" sz="2800" b="1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：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已知逻辑电路，分析其逻辑功能。</a:t>
            </a:r>
          </a:p>
        </p:txBody>
      </p:sp>
      <p:grpSp>
        <p:nvGrpSpPr>
          <p:cNvPr id="2" name="组合 22"/>
          <p:cNvGrpSpPr>
            <a:grpSpLocks/>
          </p:cNvGrpSpPr>
          <p:nvPr/>
        </p:nvGrpSpPr>
        <p:grpSpPr bwMode="auto">
          <a:xfrm>
            <a:off x="1214438" y="1928804"/>
            <a:ext cx="6851650" cy="2357437"/>
            <a:chOff x="1214414" y="2214554"/>
            <a:chExt cx="6852054" cy="2357454"/>
          </a:xfrm>
        </p:grpSpPr>
        <p:sp>
          <p:nvSpPr>
            <p:cNvPr id="12294" name="Text Box 4"/>
            <p:cNvSpPr txBox="1">
              <a:spLocks noChangeArrowheads="1"/>
            </p:cNvSpPr>
            <p:nvPr/>
          </p:nvSpPr>
          <p:spPr bwMode="auto">
            <a:xfrm>
              <a:off x="3000364" y="2214554"/>
              <a:ext cx="541337" cy="2308341"/>
            </a:xfrm>
            <a:prstGeom prst="rect">
              <a:avLst/>
            </a:prstGeom>
            <a:solidFill>
              <a:srgbClr val="CC99FF"/>
            </a:solidFill>
            <a:ln w="38100">
              <a:solidFill>
                <a:srgbClr val="FFFF99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写</a:t>
              </a:r>
            </a:p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逻辑</a:t>
              </a:r>
            </a:p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表</a:t>
              </a:r>
            </a:p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达</a:t>
              </a:r>
            </a:p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式</a:t>
              </a:r>
            </a:p>
          </p:txBody>
        </p:sp>
        <p:sp>
          <p:nvSpPr>
            <p:cNvPr id="12295" name="Text Box 6"/>
            <p:cNvSpPr txBox="1">
              <a:spLocks noChangeArrowheads="1"/>
            </p:cNvSpPr>
            <p:nvPr/>
          </p:nvSpPr>
          <p:spPr bwMode="auto">
            <a:xfrm>
              <a:off x="6072198" y="2500305"/>
              <a:ext cx="494046" cy="1939006"/>
            </a:xfrm>
            <a:prstGeom prst="rect">
              <a:avLst/>
            </a:prstGeom>
            <a:solidFill>
              <a:srgbClr val="CC99FF"/>
            </a:solidFill>
            <a:ln w="38100">
              <a:solidFill>
                <a:srgbClr val="FFFF99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 i="0">
                  <a:ea typeface="华文中宋" pitchFamily="2" charset="-122"/>
                  <a:cs typeface="Times New Roman" pitchFamily="18" charset="0"/>
                </a:rPr>
                <a:t>逻辑状态表</a:t>
              </a:r>
            </a:p>
          </p:txBody>
        </p:sp>
        <p:sp>
          <p:nvSpPr>
            <p:cNvPr id="12296" name="Text Box 11"/>
            <p:cNvSpPr txBox="1">
              <a:spLocks noChangeArrowheads="1"/>
            </p:cNvSpPr>
            <p:nvPr/>
          </p:nvSpPr>
          <p:spPr bwMode="auto">
            <a:xfrm>
              <a:off x="7572396" y="2643182"/>
              <a:ext cx="494072" cy="1569671"/>
            </a:xfrm>
            <a:prstGeom prst="rect">
              <a:avLst/>
            </a:prstGeom>
            <a:solidFill>
              <a:srgbClr val="CC99FF"/>
            </a:solidFill>
            <a:ln w="38100">
              <a:solidFill>
                <a:srgbClr val="FFFF99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i="0">
                  <a:ea typeface="华文中宋" pitchFamily="2" charset="-122"/>
                  <a:cs typeface="Times New Roman" pitchFamily="18" charset="0"/>
                </a:rPr>
                <a:t>逻</a:t>
              </a:r>
              <a:endParaRPr lang="en-US" altLang="zh-CN" sz="2400" i="0">
                <a:ea typeface="华文中宋" pitchFamily="2" charset="-122"/>
                <a:cs typeface="Times New Roman" pitchFamily="18" charset="0"/>
              </a:endParaRPr>
            </a:p>
            <a:p>
              <a:pPr algn="ctr"/>
              <a:r>
                <a:rPr lang="zh-CN" altLang="en-US" sz="2400" i="0">
                  <a:ea typeface="华文中宋" pitchFamily="2" charset="-122"/>
                  <a:cs typeface="Times New Roman" pitchFamily="18" charset="0"/>
                </a:rPr>
                <a:t>辑</a:t>
              </a:r>
            </a:p>
            <a:p>
              <a:pPr algn="ctr"/>
              <a:r>
                <a:rPr lang="zh-CN" altLang="en-US" sz="2400" i="0">
                  <a:ea typeface="华文中宋" pitchFamily="2" charset="-122"/>
                  <a:cs typeface="Times New Roman" pitchFamily="18" charset="0"/>
                </a:rPr>
                <a:t>功</a:t>
              </a:r>
            </a:p>
            <a:p>
              <a:pPr algn="ctr"/>
              <a:r>
                <a:rPr lang="zh-CN" altLang="en-US" sz="2400" i="0">
                  <a:ea typeface="华文中宋" pitchFamily="2" charset="-122"/>
                  <a:cs typeface="Times New Roman" pitchFamily="18" charset="0"/>
                </a:rPr>
                <a:t>能</a:t>
              </a:r>
            </a:p>
          </p:txBody>
        </p:sp>
        <p:sp>
          <p:nvSpPr>
            <p:cNvPr id="12297" name="Rectangle 12"/>
            <p:cNvSpPr>
              <a:spLocks noChangeArrowheads="1"/>
            </p:cNvSpPr>
            <p:nvPr/>
          </p:nvSpPr>
          <p:spPr bwMode="auto">
            <a:xfrm>
              <a:off x="1214414" y="2362208"/>
              <a:ext cx="533400" cy="2209800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已</a:t>
              </a:r>
            </a:p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知</a:t>
              </a:r>
            </a:p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逻</a:t>
              </a:r>
              <a:endParaRPr lang="en-US" altLang="zh-CN" sz="2400" i="0" dirty="0">
                <a:ea typeface="华文中宋" pitchFamily="2" charset="-122"/>
                <a:cs typeface="Times New Roman" pitchFamily="18" charset="0"/>
              </a:endParaRPr>
            </a:p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辑</a:t>
              </a:r>
              <a:endParaRPr lang="en-US" altLang="zh-CN" sz="2400" i="0" dirty="0">
                <a:ea typeface="华文中宋" pitchFamily="2" charset="-122"/>
                <a:cs typeface="Times New Roman" pitchFamily="18" charset="0"/>
              </a:endParaRPr>
            </a:p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图</a:t>
              </a:r>
            </a:p>
          </p:txBody>
        </p:sp>
        <p:sp>
          <p:nvSpPr>
            <p:cNvPr id="12298" name="Line 28"/>
            <p:cNvSpPr>
              <a:spLocks noChangeShapeType="1"/>
            </p:cNvSpPr>
            <p:nvPr/>
          </p:nvSpPr>
          <p:spPr bwMode="auto">
            <a:xfrm>
              <a:off x="1746381" y="3444859"/>
              <a:ext cx="12240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99" name="Text Box 4"/>
            <p:cNvSpPr txBox="1">
              <a:spLocks noChangeArrowheads="1"/>
            </p:cNvSpPr>
            <p:nvPr/>
          </p:nvSpPr>
          <p:spPr bwMode="auto">
            <a:xfrm>
              <a:off x="4572000" y="3000372"/>
              <a:ext cx="541337" cy="831003"/>
            </a:xfrm>
            <a:prstGeom prst="rect">
              <a:avLst/>
            </a:prstGeom>
            <a:solidFill>
              <a:srgbClr val="CC99FF"/>
            </a:solidFill>
            <a:ln w="38100">
              <a:solidFill>
                <a:srgbClr val="FFFF99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400" i="0" dirty="0">
                  <a:ea typeface="华文中宋" pitchFamily="2" charset="-122"/>
                  <a:cs typeface="Times New Roman" pitchFamily="18" charset="0"/>
                </a:rPr>
                <a:t>化简</a:t>
              </a:r>
            </a:p>
          </p:txBody>
        </p:sp>
        <p:sp>
          <p:nvSpPr>
            <p:cNvPr id="12300" name="Line 27"/>
            <p:cNvSpPr>
              <a:spLocks noChangeShapeType="1"/>
            </p:cNvSpPr>
            <p:nvPr/>
          </p:nvSpPr>
          <p:spPr bwMode="auto">
            <a:xfrm>
              <a:off x="6593531" y="3429000"/>
              <a:ext cx="9360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301" name="Line 27"/>
            <p:cNvSpPr>
              <a:spLocks noChangeShapeType="1"/>
            </p:cNvSpPr>
            <p:nvPr/>
          </p:nvSpPr>
          <p:spPr bwMode="auto">
            <a:xfrm>
              <a:off x="5135868" y="3429000"/>
              <a:ext cx="900053" cy="47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302" name="Line 27"/>
            <p:cNvSpPr>
              <a:spLocks noChangeShapeType="1"/>
            </p:cNvSpPr>
            <p:nvPr/>
          </p:nvSpPr>
          <p:spPr bwMode="auto">
            <a:xfrm>
              <a:off x="3576638" y="3424237"/>
              <a:ext cx="97205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5" name="Rectangle 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28596" y="285734"/>
            <a:ext cx="6786579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6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、组合逻辑电路的分析和设计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3"/>
          <p:cNvSpPr txBox="1">
            <a:spLocks noChangeArrowheads="1"/>
          </p:cNvSpPr>
          <p:nvPr/>
        </p:nvSpPr>
        <p:spPr bwMode="auto">
          <a:xfrm>
            <a:off x="214313" y="334593"/>
            <a:ext cx="59951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例</a:t>
            </a:r>
            <a:r>
              <a:rPr lang="en-US" altLang="zh-CN" sz="2800" b="1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800" b="1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：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  <a:sym typeface="Symbol" pitchFamily="18" charset="2"/>
              </a:rPr>
              <a:t>分析下图组合逻辑电路的功能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032" name="Group 3"/>
          <p:cNvGrpSpPr>
            <a:grpSpLocks/>
          </p:cNvGrpSpPr>
          <p:nvPr/>
        </p:nvGrpSpPr>
        <p:grpSpPr bwMode="auto">
          <a:xfrm>
            <a:off x="1959714" y="1079205"/>
            <a:ext cx="5319713" cy="1876425"/>
            <a:chOff x="468" y="786"/>
            <a:chExt cx="3351" cy="1182"/>
          </a:xfrm>
        </p:grpSpPr>
        <p:graphicFrame>
          <p:nvGraphicFramePr>
            <p:cNvPr id="1028" name="Object 6"/>
            <p:cNvGraphicFramePr>
              <a:graphicFrameLocks noChangeAspect="1"/>
            </p:cNvGraphicFramePr>
            <p:nvPr/>
          </p:nvGraphicFramePr>
          <p:xfrm>
            <a:off x="480" y="786"/>
            <a:ext cx="3312" cy="1182"/>
          </p:xfrm>
          <a:graphic>
            <a:graphicData uri="http://schemas.openxmlformats.org/presentationml/2006/ole">
              <p:oleObj spid="_x0000_s1028" name="Image" r:id="rId5" imgW="4867954" imgH="1724266" progId="">
                <p:embed/>
              </p:oleObj>
            </a:graphicData>
          </a:graphic>
        </p:graphicFrame>
        <p:sp>
          <p:nvSpPr>
            <p:cNvPr id="61" name="Text Box 7"/>
            <p:cNvSpPr txBox="1">
              <a:spLocks noChangeArrowheads="1"/>
            </p:cNvSpPr>
            <p:nvPr/>
          </p:nvSpPr>
          <p:spPr bwMode="auto">
            <a:xfrm>
              <a:off x="971" y="1200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i="0"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62" name="Text Box 8"/>
            <p:cNvSpPr txBox="1">
              <a:spLocks noChangeArrowheads="1"/>
            </p:cNvSpPr>
            <p:nvPr/>
          </p:nvSpPr>
          <p:spPr bwMode="auto">
            <a:xfrm>
              <a:off x="1968" y="912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i="0"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63" name="Text Box 9"/>
            <p:cNvSpPr txBox="1">
              <a:spLocks noChangeArrowheads="1"/>
            </p:cNvSpPr>
            <p:nvPr/>
          </p:nvSpPr>
          <p:spPr bwMode="auto">
            <a:xfrm>
              <a:off x="1936" y="1488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i="0"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64" name="Text Box 10"/>
            <p:cNvSpPr txBox="1">
              <a:spLocks noChangeArrowheads="1"/>
            </p:cNvSpPr>
            <p:nvPr/>
          </p:nvSpPr>
          <p:spPr bwMode="auto">
            <a:xfrm>
              <a:off x="3013" y="1211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i="0">
                  <a:ea typeface="华文中宋" pitchFamily="2" charset="-122"/>
                  <a:cs typeface="Times New Roman" pitchFamily="18" charset="0"/>
                </a:rPr>
                <a:t>＆</a:t>
              </a:r>
            </a:p>
          </p:txBody>
        </p:sp>
        <p:sp>
          <p:nvSpPr>
            <p:cNvPr id="65" name="Text Box 11"/>
            <p:cNvSpPr txBox="1">
              <a:spLocks noChangeArrowheads="1"/>
            </p:cNvSpPr>
            <p:nvPr/>
          </p:nvSpPr>
          <p:spPr bwMode="auto">
            <a:xfrm>
              <a:off x="3483" y="1035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ea typeface="华文中宋" pitchFamily="2" charset="-122"/>
                  <a:cs typeface="Times New Roman" pitchFamily="18" charset="0"/>
                </a:rPr>
                <a:t>F</a:t>
              </a:r>
            </a:p>
          </p:txBody>
        </p:sp>
        <p:sp>
          <p:nvSpPr>
            <p:cNvPr id="58" name="Text Box 4"/>
            <p:cNvSpPr txBox="1">
              <a:spLocks noChangeArrowheads="1"/>
            </p:cNvSpPr>
            <p:nvPr/>
          </p:nvSpPr>
          <p:spPr bwMode="auto">
            <a:xfrm>
              <a:off x="513" y="921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ea typeface="华文中宋" pitchFamily="2" charset="-122"/>
                  <a:cs typeface="Times New Roman" pitchFamily="18" charset="0"/>
                </a:rPr>
                <a:t>A</a:t>
              </a:r>
            </a:p>
          </p:txBody>
        </p:sp>
        <p:sp>
          <p:nvSpPr>
            <p:cNvPr id="59" name="Text Box 5"/>
            <p:cNvSpPr txBox="1">
              <a:spLocks noChangeArrowheads="1"/>
            </p:cNvSpPr>
            <p:nvPr/>
          </p:nvSpPr>
          <p:spPr bwMode="auto">
            <a:xfrm>
              <a:off x="468" y="1551"/>
              <a:ext cx="3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800" b="1">
                  <a:solidFill>
                    <a:schemeClr val="bg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</p:grpSp>
      <p:sp>
        <p:nvSpPr>
          <p:cNvPr id="66" name="Text Box 6"/>
          <p:cNvSpPr txBox="1">
            <a:spLocks noChangeArrowheads="1"/>
          </p:cNvSpPr>
          <p:nvPr/>
        </p:nvSpPr>
        <p:spPr bwMode="auto">
          <a:xfrm>
            <a:off x="215900" y="3167510"/>
            <a:ext cx="39549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解：（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）逻辑表达式：</a:t>
            </a:r>
          </a:p>
        </p:txBody>
      </p:sp>
      <p:graphicFrame>
        <p:nvGraphicFramePr>
          <p:cNvPr id="68" name="Object 3"/>
          <p:cNvGraphicFramePr>
            <a:graphicFrameLocks noChangeAspect="1"/>
          </p:cNvGraphicFramePr>
          <p:nvPr/>
        </p:nvGraphicFramePr>
        <p:xfrm>
          <a:off x="3779877" y="3067164"/>
          <a:ext cx="2100263" cy="571500"/>
        </p:xfrm>
        <a:graphic>
          <a:graphicData uri="http://schemas.openxmlformats.org/presentationml/2006/ole">
            <p:oleObj spid="_x0000_s1026" name="Equation" r:id="rId6" imgW="863280" imgH="215640" progId="Equation.DSMT4">
              <p:embed/>
            </p:oleObj>
          </a:graphicData>
        </a:graphic>
      </p:graphicFrame>
      <p:sp>
        <p:nvSpPr>
          <p:cNvPr id="69" name="Text Box 7"/>
          <p:cNvSpPr txBox="1">
            <a:spLocks noChangeArrowheads="1"/>
          </p:cNvSpPr>
          <p:nvPr/>
        </p:nvSpPr>
        <p:spPr bwMode="auto">
          <a:xfrm>
            <a:off x="900812" y="3773902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）化简：</a:t>
            </a:r>
          </a:p>
        </p:txBody>
      </p:sp>
      <p:graphicFrame>
        <p:nvGraphicFramePr>
          <p:cNvPr id="70" name="Object 5"/>
          <p:cNvGraphicFramePr>
            <a:graphicFrameLocks noChangeAspect="1"/>
          </p:cNvGraphicFramePr>
          <p:nvPr/>
        </p:nvGraphicFramePr>
        <p:xfrm>
          <a:off x="2716997" y="3784534"/>
          <a:ext cx="4508500" cy="1042988"/>
        </p:xfrm>
        <a:graphic>
          <a:graphicData uri="http://schemas.openxmlformats.org/presentationml/2006/ole">
            <p:oleObj spid="_x0000_s1027" name="Equation" r:id="rId7" imgW="1854000" imgH="393480" progId="Equation.DSMT4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utoUpdateAnimBg="0"/>
      <p:bldP spid="6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 7"/>
          <p:cNvSpPr txBox="1">
            <a:spLocks noChangeArrowheads="1"/>
          </p:cNvSpPr>
          <p:nvPr/>
        </p:nvSpPr>
        <p:spPr bwMode="auto">
          <a:xfrm>
            <a:off x="1068720" y="1801887"/>
            <a:ext cx="28777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）逻辑状态表</a:t>
            </a:r>
          </a:p>
        </p:txBody>
      </p:sp>
      <p:graphicFrame>
        <p:nvGraphicFramePr>
          <p:cNvPr id="70" name="Object 5"/>
          <p:cNvGraphicFramePr>
            <a:graphicFrameLocks noChangeAspect="1"/>
          </p:cNvGraphicFramePr>
          <p:nvPr/>
        </p:nvGraphicFramePr>
        <p:xfrm>
          <a:off x="3346450" y="600075"/>
          <a:ext cx="2090738" cy="493713"/>
        </p:xfrm>
        <a:graphic>
          <a:graphicData uri="http://schemas.openxmlformats.org/presentationml/2006/ole">
            <p:oleObj spid="_x0000_s26627" name="Equation" r:id="rId3" imgW="698400" imgH="164880" progId="Equation.DSMT4">
              <p:embed/>
            </p:oleObj>
          </a:graphicData>
        </a:graphic>
      </p:graphicFrame>
      <p:sp>
        <p:nvSpPr>
          <p:cNvPr id="87" name="Text Box 7"/>
          <p:cNvSpPr txBox="1">
            <a:spLocks noChangeArrowheads="1"/>
          </p:cNvSpPr>
          <p:nvPr/>
        </p:nvSpPr>
        <p:spPr bwMode="auto">
          <a:xfrm>
            <a:off x="5258133" y="1759357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）异或功能</a:t>
            </a:r>
          </a:p>
        </p:txBody>
      </p:sp>
      <p:grpSp>
        <p:nvGrpSpPr>
          <p:cNvPr id="3" name="组合 68"/>
          <p:cNvGrpSpPr>
            <a:grpSpLocks/>
          </p:cNvGrpSpPr>
          <p:nvPr/>
        </p:nvGrpSpPr>
        <p:grpSpPr bwMode="auto">
          <a:xfrm>
            <a:off x="5677455" y="2759150"/>
            <a:ext cx="2539847" cy="1057077"/>
            <a:chOff x="6046822" y="4572009"/>
            <a:chExt cx="2862264" cy="1208088"/>
          </a:xfrm>
        </p:grpSpPr>
        <p:grpSp>
          <p:nvGrpSpPr>
            <p:cNvPr id="4" name="Group 98"/>
            <p:cNvGrpSpPr>
              <a:grpSpLocks/>
            </p:cNvGrpSpPr>
            <p:nvPr/>
          </p:nvGrpSpPr>
          <p:grpSpPr bwMode="auto">
            <a:xfrm>
              <a:off x="6046822" y="4572009"/>
              <a:ext cx="2862264" cy="1208088"/>
              <a:chOff x="3721" y="1152"/>
              <a:chExt cx="1803" cy="761"/>
            </a:xfrm>
          </p:grpSpPr>
          <p:sp>
            <p:nvSpPr>
              <p:cNvPr id="91" name="Rectangle 25"/>
              <p:cNvSpPr>
                <a:spLocks noChangeArrowheads="1"/>
              </p:cNvSpPr>
              <p:nvPr/>
            </p:nvSpPr>
            <p:spPr bwMode="auto">
              <a:xfrm>
                <a:off x="4397" y="1200"/>
                <a:ext cx="450" cy="67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800" i="0"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5" name="Group 26"/>
              <p:cNvGrpSpPr>
                <a:grpSpLocks/>
              </p:cNvGrpSpPr>
              <p:nvPr/>
            </p:nvGrpSpPr>
            <p:grpSpPr bwMode="auto">
              <a:xfrm>
                <a:off x="3734" y="1152"/>
                <a:ext cx="671" cy="377"/>
                <a:chOff x="3101" y="3216"/>
                <a:chExt cx="787" cy="377"/>
              </a:xfrm>
            </p:grpSpPr>
            <p:grpSp>
              <p:nvGrpSpPr>
                <p:cNvPr id="6" name="Group 27"/>
                <p:cNvGrpSpPr>
                  <a:grpSpLocks/>
                </p:cNvGrpSpPr>
                <p:nvPr/>
              </p:nvGrpSpPr>
              <p:grpSpPr bwMode="auto">
                <a:xfrm>
                  <a:off x="3456" y="3360"/>
                  <a:ext cx="432" cy="96"/>
                  <a:chOff x="2208" y="3360"/>
                  <a:chExt cx="432" cy="96"/>
                </a:xfrm>
              </p:grpSpPr>
              <p:sp>
                <p:nvSpPr>
                  <p:cNvPr id="104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2303" y="3408"/>
                    <a:ext cx="33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 sz="2800"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3360"/>
                    <a:ext cx="95" cy="96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 sz="2800" i="0"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03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101" y="3216"/>
                  <a:ext cx="337" cy="3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dirty="0">
                      <a:ea typeface="华文中宋" pitchFamily="2" charset="-122"/>
                      <a:cs typeface="Times New Roman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7" name="Group 31"/>
              <p:cNvGrpSpPr>
                <a:grpSpLocks/>
              </p:cNvGrpSpPr>
              <p:nvPr/>
            </p:nvGrpSpPr>
            <p:grpSpPr bwMode="auto">
              <a:xfrm>
                <a:off x="3721" y="1536"/>
                <a:ext cx="671" cy="377"/>
                <a:chOff x="3098" y="3600"/>
                <a:chExt cx="790" cy="377"/>
              </a:xfrm>
            </p:grpSpPr>
            <p:grpSp>
              <p:nvGrpSpPr>
                <p:cNvPr id="8" name="Group 32"/>
                <p:cNvGrpSpPr>
                  <a:grpSpLocks/>
                </p:cNvGrpSpPr>
                <p:nvPr/>
              </p:nvGrpSpPr>
              <p:grpSpPr bwMode="auto">
                <a:xfrm>
                  <a:off x="3456" y="3744"/>
                  <a:ext cx="432" cy="96"/>
                  <a:chOff x="2208" y="3360"/>
                  <a:chExt cx="432" cy="96"/>
                </a:xfrm>
              </p:grpSpPr>
              <p:sp>
                <p:nvSpPr>
                  <p:cNvPr id="100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3408"/>
                    <a:ext cx="33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 sz="2800"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Oval 3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3360"/>
                    <a:ext cx="96" cy="96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 sz="2800" i="0"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9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098" y="3600"/>
                  <a:ext cx="338" cy="3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dirty="0">
                      <a:ea typeface="华文中宋" pitchFamily="2" charset="-122"/>
                      <a:cs typeface="Times New Roman" pitchFamily="18" charset="0"/>
                    </a:rPr>
                    <a:t>B</a:t>
                  </a:r>
                </a:p>
              </p:txBody>
            </p:sp>
          </p:grpSp>
          <p:grpSp>
            <p:nvGrpSpPr>
              <p:cNvPr id="9" name="Group 37"/>
              <p:cNvGrpSpPr>
                <a:grpSpLocks/>
              </p:cNvGrpSpPr>
              <p:nvPr/>
            </p:nvGrpSpPr>
            <p:grpSpPr bwMode="auto">
              <a:xfrm>
                <a:off x="4847" y="1488"/>
                <a:ext cx="368" cy="96"/>
                <a:chOff x="2496" y="3552"/>
                <a:chExt cx="432" cy="96"/>
              </a:xfrm>
            </p:grpSpPr>
            <p:sp>
              <p:nvSpPr>
                <p:cNvPr id="96" name="Line 38"/>
                <p:cNvSpPr>
                  <a:spLocks noChangeShapeType="1"/>
                </p:cNvSpPr>
                <p:nvPr/>
              </p:nvSpPr>
              <p:spPr bwMode="auto">
                <a:xfrm>
                  <a:off x="2496" y="3600"/>
                  <a:ext cx="33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80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7" name="Oval 39"/>
                <p:cNvSpPr>
                  <a:spLocks noChangeArrowheads="1"/>
                </p:cNvSpPr>
                <p:nvPr/>
              </p:nvSpPr>
              <p:spPr bwMode="auto">
                <a:xfrm>
                  <a:off x="2832" y="3552"/>
                  <a:ext cx="99" cy="9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800" i="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95" name="Text Box 40"/>
              <p:cNvSpPr txBox="1">
                <a:spLocks noChangeArrowheads="1"/>
              </p:cNvSpPr>
              <p:nvPr/>
            </p:nvSpPr>
            <p:spPr bwMode="auto">
              <a:xfrm>
                <a:off x="5237" y="1362"/>
                <a:ext cx="287" cy="3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r>
                  <a:rPr lang="en-US" altLang="zh-CN" sz="2800" dirty="0">
                    <a:ea typeface="华文中宋" pitchFamily="2" charset="-122"/>
                    <a:cs typeface="Times New Roman" pitchFamily="18" charset="0"/>
                  </a:rPr>
                  <a:t>F</a:t>
                </a:r>
              </a:p>
            </p:txBody>
          </p:sp>
        </p:grpSp>
        <p:sp>
          <p:nvSpPr>
            <p:cNvPr id="90" name="Text Box 41"/>
            <p:cNvSpPr txBox="1">
              <a:spLocks noChangeArrowheads="1"/>
            </p:cNvSpPr>
            <p:nvPr/>
          </p:nvSpPr>
          <p:spPr bwMode="auto">
            <a:xfrm>
              <a:off x="7136335" y="4688122"/>
              <a:ext cx="685196" cy="597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=1</a:t>
              </a:r>
              <a:endParaRPr lang="zh-CN" altLang="en-US" sz="2800" i="0" dirty="0"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06" name="Group 7"/>
          <p:cNvGraphicFramePr>
            <a:graphicFrameLocks noGrp="1"/>
          </p:cNvGraphicFramePr>
          <p:nvPr/>
        </p:nvGraphicFramePr>
        <p:xfrm>
          <a:off x="1489556" y="2522243"/>
          <a:ext cx="2782888" cy="1600200"/>
        </p:xfrm>
        <a:graphic>
          <a:graphicData uri="http://schemas.openxmlformats.org/drawingml/2006/table">
            <a:tbl>
              <a:tblPr/>
              <a:tblGrid>
                <a:gridCol w="1568442"/>
                <a:gridCol w="1214446"/>
              </a:tblGrid>
              <a:tr h="347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4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</a:t>
                      </a:r>
                      <a:r>
                        <a:rPr kumimoji="0" lang="en-US" altLang="zh-CN" sz="24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1" lang="en-US" altLang="zh-CN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4414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1      1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utoUpdateAnimBg="0"/>
      <p:bldP spid="8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203679" y="260166"/>
            <a:ext cx="61120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例</a:t>
            </a:r>
            <a:r>
              <a:rPr lang="en-US" altLang="zh-CN" sz="2800" b="1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sz="2800" b="1" i="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：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  <a:sym typeface="Symbol" pitchFamily="18" charset="2"/>
              </a:rPr>
              <a:t>分析下图组合逻辑电路的功能</a:t>
            </a:r>
            <a:endParaRPr lang="zh-CN" altLang="en-US" sz="2800" b="1" i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285750" y="3019979"/>
            <a:ext cx="39549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解：（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）逻辑表达式：</a:t>
            </a:r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2468083" y="871463"/>
          <a:ext cx="3429000" cy="2173287"/>
        </p:xfrm>
        <a:graphic>
          <a:graphicData uri="http://schemas.openxmlformats.org/presentationml/2006/ole">
            <p:oleObj spid="_x0000_s2050" name="Visio" r:id="rId5" imgW="2350736" imgH="1450882" progId="Visio.Drawing.11">
              <p:embed/>
            </p:oleObj>
          </a:graphicData>
        </a:graphic>
      </p:graphicFrame>
      <p:graphicFrame>
        <p:nvGraphicFramePr>
          <p:cNvPr id="34" name="Object 6"/>
          <p:cNvGraphicFramePr>
            <a:graphicFrameLocks noChangeAspect="1"/>
          </p:cNvGraphicFramePr>
          <p:nvPr/>
        </p:nvGraphicFramePr>
        <p:xfrm>
          <a:off x="2274702" y="3640802"/>
          <a:ext cx="1643063" cy="474662"/>
        </p:xfrm>
        <a:graphic>
          <a:graphicData uri="http://schemas.openxmlformats.org/presentationml/2006/ole">
            <p:oleObj spid="_x0000_s2051" name="Equation" r:id="rId6" imgW="660240" imgH="190440" progId="Equation.DSMT4">
              <p:embed/>
            </p:oleObj>
          </a:graphicData>
        </a:graphic>
      </p:graphicFrame>
      <p:graphicFrame>
        <p:nvGraphicFramePr>
          <p:cNvPr id="35" name="Object 7"/>
          <p:cNvGraphicFramePr>
            <a:graphicFrameLocks noChangeAspect="1"/>
          </p:cNvGraphicFramePr>
          <p:nvPr/>
        </p:nvGraphicFramePr>
        <p:xfrm>
          <a:off x="4590608" y="3650624"/>
          <a:ext cx="1643063" cy="474662"/>
        </p:xfrm>
        <a:graphic>
          <a:graphicData uri="http://schemas.openxmlformats.org/presentationml/2006/ole">
            <p:oleObj spid="_x0000_s2052" name="Equation" r:id="rId7" imgW="660240" imgH="190440" progId="Equation.DSMT4">
              <p:embed/>
            </p:oleObj>
          </a:graphicData>
        </a:graphic>
      </p:graphicFrame>
      <p:graphicFrame>
        <p:nvGraphicFramePr>
          <p:cNvPr id="36" name="Object 8"/>
          <p:cNvGraphicFramePr>
            <a:graphicFrameLocks noChangeAspect="1"/>
          </p:cNvGraphicFramePr>
          <p:nvPr/>
        </p:nvGraphicFramePr>
        <p:xfrm>
          <a:off x="2229847" y="4277943"/>
          <a:ext cx="1785937" cy="504825"/>
        </p:xfrm>
        <a:graphic>
          <a:graphicData uri="http://schemas.openxmlformats.org/presentationml/2006/ole">
            <p:oleObj spid="_x0000_s2053" name="Equation" r:id="rId8" imgW="672840" imgH="190440" progId="Equation.DSMT4">
              <p:embed/>
            </p:oleObj>
          </a:graphicData>
        </a:graphic>
      </p:graphicFrame>
      <p:graphicFrame>
        <p:nvGraphicFramePr>
          <p:cNvPr id="37" name="Object 9"/>
          <p:cNvGraphicFramePr>
            <a:graphicFrameLocks noChangeAspect="1"/>
          </p:cNvGraphicFramePr>
          <p:nvPr/>
        </p:nvGraphicFramePr>
        <p:xfrm>
          <a:off x="4576320" y="4246046"/>
          <a:ext cx="1112837" cy="520700"/>
        </p:xfrm>
        <a:graphic>
          <a:graphicData uri="http://schemas.openxmlformats.org/presentationml/2006/ole">
            <p:oleObj spid="_x0000_s2054" name="Equation" r:id="rId9" imgW="406080" imgH="190440" progId="Equation.DSMT4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6"/>
          <p:cNvGraphicFramePr>
            <a:graphicFrameLocks noChangeAspect="1"/>
          </p:cNvGraphicFramePr>
          <p:nvPr/>
        </p:nvGraphicFramePr>
        <p:xfrm>
          <a:off x="1115754" y="738115"/>
          <a:ext cx="1643063" cy="474662"/>
        </p:xfrm>
        <a:graphic>
          <a:graphicData uri="http://schemas.openxmlformats.org/presentationml/2006/ole">
            <p:oleObj spid="_x0000_s27651" name="Equation" r:id="rId3" imgW="660240" imgH="190440" progId="Equation.DSMT4">
              <p:embed/>
            </p:oleObj>
          </a:graphicData>
        </a:graphic>
      </p:graphicFrame>
      <p:graphicFrame>
        <p:nvGraphicFramePr>
          <p:cNvPr id="35" name="Object 7"/>
          <p:cNvGraphicFramePr>
            <a:graphicFrameLocks noChangeAspect="1"/>
          </p:cNvGraphicFramePr>
          <p:nvPr/>
        </p:nvGraphicFramePr>
        <p:xfrm>
          <a:off x="3229640" y="779833"/>
          <a:ext cx="1643063" cy="474662"/>
        </p:xfrm>
        <a:graphic>
          <a:graphicData uri="http://schemas.openxmlformats.org/presentationml/2006/ole">
            <p:oleObj spid="_x0000_s27652" name="Equation" r:id="rId4" imgW="660240" imgH="190440" progId="Equation.DSMT4">
              <p:embed/>
            </p:oleObj>
          </a:graphicData>
        </a:graphic>
      </p:graphicFrame>
      <p:graphicFrame>
        <p:nvGraphicFramePr>
          <p:cNvPr id="36" name="Object 8"/>
          <p:cNvGraphicFramePr>
            <a:graphicFrameLocks noChangeAspect="1"/>
          </p:cNvGraphicFramePr>
          <p:nvPr/>
        </p:nvGraphicFramePr>
        <p:xfrm>
          <a:off x="1081531" y="1300828"/>
          <a:ext cx="1785937" cy="504825"/>
        </p:xfrm>
        <a:graphic>
          <a:graphicData uri="http://schemas.openxmlformats.org/presentationml/2006/ole">
            <p:oleObj spid="_x0000_s27653" name="Equation" r:id="rId5" imgW="672840" imgH="190440" progId="Equation.DSMT4">
              <p:embed/>
            </p:oleObj>
          </a:graphicData>
        </a:graphic>
      </p:graphicFrame>
      <p:graphicFrame>
        <p:nvGraphicFramePr>
          <p:cNvPr id="37" name="Object 9"/>
          <p:cNvGraphicFramePr>
            <a:graphicFrameLocks noChangeAspect="1"/>
          </p:cNvGraphicFramePr>
          <p:nvPr/>
        </p:nvGraphicFramePr>
        <p:xfrm>
          <a:off x="3236618" y="1279562"/>
          <a:ext cx="1112837" cy="520700"/>
        </p:xfrm>
        <a:graphic>
          <a:graphicData uri="http://schemas.openxmlformats.org/presentationml/2006/ole">
            <p:oleObj spid="_x0000_s27654" name="Equation" r:id="rId6" imgW="406080" imgH="190440" progId="Equation.DSMT4">
              <p:embed/>
            </p:oleObj>
          </a:graphicData>
        </a:graphic>
      </p:graphicFrame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492752" y="2261081"/>
            <a:ext cx="31116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）逻辑状态表：</a:t>
            </a:r>
          </a:p>
        </p:txBody>
      </p:sp>
      <p:sp>
        <p:nvSpPr>
          <p:cNvPr id="52" name="Text Box 6"/>
          <p:cNvSpPr txBox="1">
            <a:spLocks noChangeArrowheads="1"/>
          </p:cNvSpPr>
          <p:nvPr/>
        </p:nvSpPr>
        <p:spPr bwMode="auto">
          <a:xfrm>
            <a:off x="499729" y="2927720"/>
            <a:ext cx="529501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）功能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：</a:t>
            </a:r>
            <a:endParaRPr lang="en-US" altLang="zh-CN" sz="2800" i="0" dirty="0" smtClean="0">
              <a:ea typeface="华文中宋" pitchFamily="2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i="0" dirty="0" smtClean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               二进制码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转换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至</a:t>
            </a:r>
            <a:r>
              <a:rPr lang="zh-CN" altLang="en-US" sz="2800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格雷码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 flipV="1">
            <a:off x="3622048" y="2531551"/>
            <a:ext cx="185737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54" name="Group 7"/>
          <p:cNvGraphicFramePr>
            <a:graphicFrameLocks noGrp="1"/>
          </p:cNvGraphicFramePr>
          <p:nvPr/>
        </p:nvGraphicFramePr>
        <p:xfrm>
          <a:off x="5643563" y="714375"/>
          <a:ext cx="3071835" cy="3829562"/>
        </p:xfrm>
        <a:graphic>
          <a:graphicData uri="http://schemas.openxmlformats.org/drawingml/2006/table">
            <a:tbl>
              <a:tblPr/>
              <a:tblGrid>
                <a:gridCol w="1500199"/>
                <a:gridCol w="1571636"/>
              </a:tblGrid>
              <a:tr h="347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 </a:t>
                      </a:r>
                      <a:r>
                        <a:rPr kumimoji="0" lang="en-US" altLang="zh-CN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 </a:t>
                      </a:r>
                      <a:r>
                        <a:rPr kumimoji="0" lang="en-US" altLang="zh-CN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r>
                        <a:rPr kumimoji="0" lang="en-US" altLang="zh-CN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 </a:t>
                      </a:r>
                      <a:r>
                        <a:rPr kumimoji="0" lang="en-US" altLang="zh-CN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 </a:t>
                      </a:r>
                      <a:r>
                        <a:rPr kumimoji="0" lang="en-US" altLang="zh-CN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 </a:t>
                      </a:r>
                      <a:r>
                        <a:rPr kumimoji="0" lang="en-US" altLang="zh-CN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4414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0   0   0   0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0   0   0   1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0   0   1   0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0   0   1   1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0   1   0   0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0   1   0   1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0   1   1   0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0   1   1   1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1   0   0   0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1   0   0   1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1   0   1   0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1   0   1   1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1   1   0   0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1   1   0   1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0   0   0   0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0   0   0   1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0   0   1   1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0   0   1   0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0   1   1   0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0   1   1   1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0   1   0   1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0   1   0   0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1   1   0   0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1   1   0   1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1   1   1   0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1   0   1   0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1   0   1   1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1   0   0   1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1   0   0   0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utoUpdateAnimBg="0"/>
      <p:bldP spid="5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415002" y="375795"/>
            <a:ext cx="17753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i="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sz="2800" b="1" i="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en-US" altLang="zh-CN" sz="2800" b="1" i="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800" b="1" i="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设计</a:t>
            </a:r>
            <a:endParaRPr lang="zh-CN" altLang="en-US" sz="2800" b="1" i="0" dirty="0"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1214438" y="1858716"/>
            <a:ext cx="6929437" cy="2357438"/>
            <a:chOff x="1214414" y="2214554"/>
            <a:chExt cx="6929489" cy="2357454"/>
          </a:xfrm>
        </p:grpSpPr>
        <p:sp>
          <p:nvSpPr>
            <p:cNvPr id="13318" name="Text Box 4"/>
            <p:cNvSpPr txBox="1">
              <a:spLocks noChangeArrowheads="1"/>
            </p:cNvSpPr>
            <p:nvPr/>
          </p:nvSpPr>
          <p:spPr bwMode="auto">
            <a:xfrm>
              <a:off x="3000364" y="2214554"/>
              <a:ext cx="541337" cy="2308341"/>
            </a:xfrm>
            <a:prstGeom prst="rect">
              <a:avLst/>
            </a:prstGeom>
            <a:solidFill>
              <a:srgbClr val="CC99FF"/>
            </a:solidFill>
            <a:ln w="38100">
              <a:solidFill>
                <a:srgbClr val="FFFF99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写</a:t>
              </a: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逻辑</a:t>
              </a: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状态</a:t>
              </a: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式</a:t>
              </a:r>
            </a:p>
          </p:txBody>
        </p:sp>
        <p:sp>
          <p:nvSpPr>
            <p:cNvPr id="13319" name="Text Box 6"/>
            <p:cNvSpPr txBox="1">
              <a:spLocks noChangeArrowheads="1"/>
            </p:cNvSpPr>
            <p:nvPr/>
          </p:nvSpPr>
          <p:spPr bwMode="auto">
            <a:xfrm>
              <a:off x="6072198" y="3026630"/>
              <a:ext cx="494046" cy="831003"/>
            </a:xfrm>
            <a:prstGeom prst="rect">
              <a:avLst/>
            </a:prstGeom>
            <a:solidFill>
              <a:srgbClr val="CC99FF"/>
            </a:solidFill>
            <a:ln w="38100">
              <a:solidFill>
                <a:srgbClr val="FFFF99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化简</a:t>
              </a:r>
            </a:p>
          </p:txBody>
        </p:sp>
        <p:sp>
          <p:nvSpPr>
            <p:cNvPr id="13320" name="Text Box 11"/>
            <p:cNvSpPr txBox="1">
              <a:spLocks noChangeArrowheads="1"/>
            </p:cNvSpPr>
            <p:nvPr/>
          </p:nvSpPr>
          <p:spPr bwMode="auto">
            <a:xfrm>
              <a:off x="7649855" y="2871613"/>
              <a:ext cx="494048" cy="1200337"/>
            </a:xfrm>
            <a:prstGeom prst="rect">
              <a:avLst/>
            </a:prstGeom>
            <a:solidFill>
              <a:srgbClr val="CC99FF"/>
            </a:solidFill>
            <a:ln w="38100">
              <a:solidFill>
                <a:srgbClr val="FFFF99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逻</a:t>
              </a:r>
              <a:endParaRPr lang="en-US" altLang="zh-CN" sz="2400" i="0">
                <a:latin typeface="华文中宋" pitchFamily="2" charset="-122"/>
                <a:ea typeface="华文中宋" pitchFamily="2" charset="-122"/>
              </a:endParaRP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辑</a:t>
              </a: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图</a:t>
              </a:r>
            </a:p>
          </p:txBody>
        </p:sp>
        <p:sp>
          <p:nvSpPr>
            <p:cNvPr id="13321" name="Rectangle 12"/>
            <p:cNvSpPr>
              <a:spLocks noChangeArrowheads="1"/>
            </p:cNvSpPr>
            <p:nvPr/>
          </p:nvSpPr>
          <p:spPr bwMode="auto">
            <a:xfrm>
              <a:off x="1214414" y="2214554"/>
              <a:ext cx="533400" cy="2357454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已</a:t>
              </a: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知</a:t>
              </a: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逻</a:t>
              </a:r>
              <a:endParaRPr lang="en-US" altLang="zh-CN" sz="2400" i="0">
                <a:latin typeface="华文中宋" pitchFamily="2" charset="-122"/>
                <a:ea typeface="华文中宋" pitchFamily="2" charset="-122"/>
              </a:endParaRP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辑</a:t>
              </a:r>
              <a:endParaRPr lang="en-US" altLang="zh-CN" sz="2400" i="0">
                <a:latin typeface="华文中宋" pitchFamily="2" charset="-122"/>
                <a:ea typeface="华文中宋" pitchFamily="2" charset="-122"/>
              </a:endParaRP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功</a:t>
              </a:r>
              <a:endParaRPr lang="en-US" altLang="zh-CN" sz="2400" i="0">
                <a:latin typeface="华文中宋" pitchFamily="2" charset="-122"/>
                <a:ea typeface="华文中宋" pitchFamily="2" charset="-122"/>
              </a:endParaRPr>
            </a:p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能</a:t>
              </a:r>
            </a:p>
          </p:txBody>
        </p:sp>
        <p:sp>
          <p:nvSpPr>
            <p:cNvPr id="13322" name="Line 28"/>
            <p:cNvSpPr>
              <a:spLocks noChangeShapeType="1"/>
            </p:cNvSpPr>
            <p:nvPr/>
          </p:nvSpPr>
          <p:spPr bwMode="auto">
            <a:xfrm>
              <a:off x="1767645" y="3444859"/>
              <a:ext cx="11880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3" name="Text Box 4"/>
            <p:cNvSpPr txBox="1">
              <a:spLocks noChangeArrowheads="1"/>
            </p:cNvSpPr>
            <p:nvPr/>
          </p:nvSpPr>
          <p:spPr bwMode="auto">
            <a:xfrm>
              <a:off x="4572000" y="2490140"/>
              <a:ext cx="541337" cy="1939006"/>
            </a:xfrm>
            <a:prstGeom prst="rect">
              <a:avLst/>
            </a:prstGeom>
            <a:solidFill>
              <a:srgbClr val="CC99FF"/>
            </a:solidFill>
            <a:ln w="38100">
              <a:solidFill>
                <a:srgbClr val="FFFF99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400" i="0">
                  <a:latin typeface="华文中宋" pitchFamily="2" charset="-122"/>
                  <a:ea typeface="华文中宋" pitchFamily="2" charset="-122"/>
                </a:rPr>
                <a:t>逻辑表达式</a:t>
              </a:r>
            </a:p>
          </p:txBody>
        </p:sp>
        <p:sp>
          <p:nvSpPr>
            <p:cNvPr id="13324" name="Line 27"/>
            <p:cNvSpPr>
              <a:spLocks noChangeShapeType="1"/>
            </p:cNvSpPr>
            <p:nvPr/>
          </p:nvSpPr>
          <p:spPr bwMode="auto">
            <a:xfrm>
              <a:off x="6614797" y="3429000"/>
              <a:ext cx="1008008" cy="47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5" name="Line 27"/>
            <p:cNvSpPr>
              <a:spLocks noChangeShapeType="1"/>
            </p:cNvSpPr>
            <p:nvPr/>
          </p:nvSpPr>
          <p:spPr bwMode="auto">
            <a:xfrm>
              <a:off x="5135864" y="3429000"/>
              <a:ext cx="900007" cy="47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" name="Line 27"/>
            <p:cNvSpPr>
              <a:spLocks noChangeShapeType="1"/>
            </p:cNvSpPr>
            <p:nvPr/>
          </p:nvSpPr>
          <p:spPr bwMode="auto">
            <a:xfrm>
              <a:off x="3576638" y="3424237"/>
              <a:ext cx="972007" cy="47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148651" y="1035013"/>
            <a:ext cx="71872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根据逻辑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问题，设计实现其功能的逻辑电路。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439257" y="214645"/>
            <a:ext cx="5000625" cy="444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ts val="0"/>
              </a:spcBef>
              <a:defRPr/>
            </a:pPr>
            <a:r>
              <a:rPr lang="zh-CN" altLang="en-US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例</a:t>
            </a:r>
            <a:r>
              <a:rPr lang="en-US" altLang="zh-CN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zh-CN" altLang="en-US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：</a:t>
            </a:r>
            <a:endParaRPr lang="en-US" altLang="zh-CN" sz="2800" i="0" dirty="0">
              <a:solidFill>
                <a:srgbClr val="CC3300"/>
              </a:solidFill>
              <a:ea typeface="华文中宋" pitchFamily="2" charset="-122"/>
              <a:cs typeface="Times New Roman" pitchFamily="18" charset="0"/>
              <a:sym typeface="Symbol" pitchFamily="18" charset="2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800" i="0" dirty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      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设计一逻辑电路供三人（</a:t>
            </a:r>
            <a:r>
              <a:rPr lang="en-US" altLang="zh-CN" sz="2800" b="1" dirty="0">
                <a:ea typeface="华文中宋" pitchFamily="2" charset="-122"/>
                <a:cs typeface="Times New Roman" pitchFamily="18" charset="0"/>
              </a:rPr>
              <a:t>A B C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）表决使用。每人有一电键，如果他赞成，就按电键，表示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1;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如果不赞成，不按电键，表示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。表决结果用指示灯来表示，如果多数赞成，则指示灯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亮 </a:t>
            </a:r>
            <a:r>
              <a:rPr lang="en-US" altLang="zh-CN" sz="2800" b="1" dirty="0" smtClean="0">
                <a:ea typeface="华文中宋" pitchFamily="2" charset="-122"/>
                <a:cs typeface="Times New Roman" pitchFamily="18" charset="0"/>
              </a:rPr>
              <a:t>F</a:t>
            </a:r>
            <a:r>
              <a:rPr lang="en-US" altLang="zh-CN" sz="2800" b="1" i="0" dirty="0" smtClean="0"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= 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，反之则不亮 </a:t>
            </a:r>
            <a:r>
              <a:rPr lang="en-US" altLang="zh-CN" sz="2800" b="1" dirty="0">
                <a:ea typeface="华文中宋" pitchFamily="2" charset="-122"/>
                <a:cs typeface="Times New Roman" pitchFamily="18" charset="0"/>
              </a:rPr>
              <a:t>F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 = 0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5684912" y="657558"/>
            <a:ext cx="34590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解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  <a:sym typeface="Wingdings" pitchFamily="2" charset="2"/>
              </a:rPr>
              <a:t>: (1</a:t>
            </a:r>
            <a:r>
              <a:rPr lang="en-US" altLang="zh-CN" sz="2800" i="0" dirty="0" smtClean="0">
                <a:ea typeface="华文中宋" pitchFamily="2" charset="-122"/>
                <a:cs typeface="Times New Roman" pitchFamily="18" charset="0"/>
                <a:sym typeface="Wingdings" pitchFamily="2" charset="2"/>
              </a:rPr>
              <a:t>)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  <a:sym typeface="Wingdings" pitchFamily="2" charset="2"/>
              </a:rPr>
              <a:t>列逻辑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状态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表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组合 81"/>
          <p:cNvGrpSpPr>
            <a:grpSpLocks/>
          </p:cNvGrpSpPr>
          <p:nvPr/>
        </p:nvGrpSpPr>
        <p:grpSpPr bwMode="auto">
          <a:xfrm>
            <a:off x="5891213" y="1128714"/>
            <a:ext cx="2895600" cy="3371851"/>
            <a:chOff x="3857620" y="1857365"/>
            <a:chExt cx="2895600" cy="3371851"/>
          </a:xfrm>
        </p:grpSpPr>
        <p:grpSp>
          <p:nvGrpSpPr>
            <p:cNvPr id="3086" name="Group 5"/>
            <p:cNvGrpSpPr>
              <a:grpSpLocks/>
            </p:cNvGrpSpPr>
            <p:nvPr/>
          </p:nvGrpSpPr>
          <p:grpSpPr bwMode="auto">
            <a:xfrm>
              <a:off x="3857620" y="1857365"/>
              <a:ext cx="2895600" cy="3371851"/>
              <a:chOff x="336" y="1689"/>
              <a:chExt cx="2016" cy="2124"/>
            </a:xfrm>
          </p:grpSpPr>
          <p:grpSp>
            <p:nvGrpSpPr>
              <p:cNvPr id="3095" name="Group 6"/>
              <p:cNvGrpSpPr>
                <a:grpSpLocks/>
              </p:cNvGrpSpPr>
              <p:nvPr/>
            </p:nvGrpSpPr>
            <p:grpSpPr bwMode="auto">
              <a:xfrm>
                <a:off x="336" y="1728"/>
                <a:ext cx="1968" cy="2085"/>
                <a:chOff x="336" y="1728"/>
                <a:chExt cx="1968" cy="2085"/>
              </a:xfrm>
            </p:grpSpPr>
            <p:sp>
              <p:nvSpPr>
                <p:cNvPr id="3099" name="Line 8"/>
                <p:cNvSpPr>
                  <a:spLocks noChangeShapeType="1"/>
                </p:cNvSpPr>
                <p:nvPr/>
              </p:nvSpPr>
              <p:spPr bwMode="auto">
                <a:xfrm>
                  <a:off x="336" y="1968"/>
                  <a:ext cx="19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100" name="Line 9"/>
                <p:cNvSpPr>
                  <a:spLocks noChangeShapeType="1"/>
                </p:cNvSpPr>
                <p:nvPr/>
              </p:nvSpPr>
              <p:spPr bwMode="auto">
                <a:xfrm>
                  <a:off x="1296" y="1728"/>
                  <a:ext cx="0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101" name="Line 10"/>
                <p:cNvSpPr>
                  <a:spLocks noChangeShapeType="1"/>
                </p:cNvSpPr>
                <p:nvPr/>
              </p:nvSpPr>
              <p:spPr bwMode="auto">
                <a:xfrm>
                  <a:off x="1829" y="1749"/>
                  <a:ext cx="0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102" name="Line 11"/>
                <p:cNvSpPr>
                  <a:spLocks noChangeShapeType="1"/>
                </p:cNvSpPr>
                <p:nvPr/>
              </p:nvSpPr>
              <p:spPr bwMode="auto">
                <a:xfrm>
                  <a:off x="805" y="1739"/>
                  <a:ext cx="0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3096" name="Text Box 12"/>
              <p:cNvSpPr txBox="1">
                <a:spLocks noChangeArrowheads="1"/>
              </p:cNvSpPr>
              <p:nvPr/>
            </p:nvSpPr>
            <p:spPr bwMode="auto">
              <a:xfrm>
                <a:off x="432" y="1689"/>
                <a:ext cx="187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ea typeface="华文中宋" pitchFamily="2" charset="-122"/>
                    <a:cs typeface="Times New Roman" pitchFamily="18" charset="0"/>
                  </a:rPr>
                  <a:t>A      B      C    F</a:t>
                </a:r>
              </a:p>
            </p:txBody>
          </p:sp>
          <p:sp>
            <p:nvSpPr>
              <p:cNvPr id="3097" name="Text Box 13"/>
              <p:cNvSpPr txBox="1">
                <a:spLocks noChangeArrowheads="1"/>
              </p:cNvSpPr>
              <p:nvPr/>
            </p:nvSpPr>
            <p:spPr bwMode="auto">
              <a:xfrm>
                <a:off x="480" y="2049"/>
                <a:ext cx="1872" cy="17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0 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    </a:t>
                </a:r>
              </a:p>
            </p:txBody>
          </p:sp>
        </p:grpSp>
        <p:sp>
          <p:nvSpPr>
            <p:cNvPr id="3087" name="Text Box 48"/>
            <p:cNvSpPr txBox="1">
              <a:spLocks noChangeArrowheads="1"/>
            </p:cNvSpPr>
            <p:nvPr/>
          </p:nvSpPr>
          <p:spPr bwMode="auto">
            <a:xfrm>
              <a:off x="6215074" y="2257420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088" name="Text Box 49"/>
            <p:cNvSpPr txBox="1">
              <a:spLocks noChangeArrowheads="1"/>
            </p:cNvSpPr>
            <p:nvPr/>
          </p:nvSpPr>
          <p:spPr bwMode="auto">
            <a:xfrm>
              <a:off x="6215074" y="2614610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089" name="Text Box 50"/>
            <p:cNvSpPr txBox="1">
              <a:spLocks noChangeArrowheads="1"/>
            </p:cNvSpPr>
            <p:nvPr/>
          </p:nvSpPr>
          <p:spPr bwMode="auto">
            <a:xfrm>
              <a:off x="6215074" y="2971800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090" name="Text Box 51"/>
            <p:cNvSpPr txBox="1">
              <a:spLocks noChangeArrowheads="1"/>
            </p:cNvSpPr>
            <p:nvPr/>
          </p:nvSpPr>
          <p:spPr bwMode="auto">
            <a:xfrm>
              <a:off x="6215074" y="3279766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091" name="Text Box 52"/>
            <p:cNvSpPr txBox="1">
              <a:spLocks noChangeArrowheads="1"/>
            </p:cNvSpPr>
            <p:nvPr/>
          </p:nvSpPr>
          <p:spPr bwMode="auto">
            <a:xfrm>
              <a:off x="6215074" y="3614741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092" name="Text Box 53"/>
            <p:cNvSpPr txBox="1">
              <a:spLocks noChangeArrowheads="1"/>
            </p:cNvSpPr>
            <p:nvPr/>
          </p:nvSpPr>
          <p:spPr bwMode="auto">
            <a:xfrm>
              <a:off x="6215074" y="3963979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093" name="Text Box 54"/>
            <p:cNvSpPr txBox="1">
              <a:spLocks noChangeArrowheads="1"/>
            </p:cNvSpPr>
            <p:nvPr/>
          </p:nvSpPr>
          <p:spPr bwMode="auto">
            <a:xfrm>
              <a:off x="6215074" y="4324342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094" name="Text Box 55"/>
            <p:cNvSpPr txBox="1">
              <a:spLocks noChangeArrowheads="1"/>
            </p:cNvSpPr>
            <p:nvPr/>
          </p:nvSpPr>
          <p:spPr bwMode="auto">
            <a:xfrm>
              <a:off x="6215074" y="4683116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Box 6"/>
          <p:cNvSpPr txBox="1">
            <a:spLocks noChangeArrowheads="1"/>
          </p:cNvSpPr>
          <p:nvPr/>
        </p:nvSpPr>
        <p:spPr bwMode="auto">
          <a:xfrm>
            <a:off x="497072" y="694993"/>
            <a:ext cx="43140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）写</a:t>
            </a:r>
            <a:r>
              <a:rPr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与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或式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逻辑表达式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58" name="Object 6"/>
          <p:cNvGraphicFramePr>
            <a:graphicFrameLocks noChangeAspect="1"/>
          </p:cNvGraphicFramePr>
          <p:nvPr/>
        </p:nvGraphicFramePr>
        <p:xfrm>
          <a:off x="871538" y="1624013"/>
          <a:ext cx="3900487" cy="425450"/>
        </p:xfrm>
        <a:graphic>
          <a:graphicData uri="http://schemas.openxmlformats.org/presentationml/2006/ole">
            <p:oleObj spid="_x0000_s28674" name="Equation" r:id="rId3" imgW="1625400" imgH="177480" progId="Equation.DSMT4">
              <p:embed/>
            </p:oleObj>
          </a:graphicData>
        </a:graphic>
      </p:graphicFrame>
      <p:grpSp>
        <p:nvGrpSpPr>
          <p:cNvPr id="28" name="组合 81"/>
          <p:cNvGrpSpPr>
            <a:grpSpLocks/>
          </p:cNvGrpSpPr>
          <p:nvPr/>
        </p:nvGrpSpPr>
        <p:grpSpPr bwMode="auto">
          <a:xfrm>
            <a:off x="5596573" y="1128714"/>
            <a:ext cx="2895600" cy="3371851"/>
            <a:chOff x="3857620" y="1857365"/>
            <a:chExt cx="2895600" cy="3371851"/>
          </a:xfrm>
        </p:grpSpPr>
        <p:grpSp>
          <p:nvGrpSpPr>
            <p:cNvPr id="29" name="Group 5"/>
            <p:cNvGrpSpPr>
              <a:grpSpLocks/>
            </p:cNvGrpSpPr>
            <p:nvPr/>
          </p:nvGrpSpPr>
          <p:grpSpPr bwMode="auto">
            <a:xfrm>
              <a:off x="3857620" y="1857365"/>
              <a:ext cx="2895600" cy="3371851"/>
              <a:chOff x="336" y="1689"/>
              <a:chExt cx="2016" cy="2124"/>
            </a:xfrm>
          </p:grpSpPr>
          <p:grpSp>
            <p:nvGrpSpPr>
              <p:cNvPr id="40" name="Group 6"/>
              <p:cNvGrpSpPr>
                <a:grpSpLocks/>
              </p:cNvGrpSpPr>
              <p:nvPr/>
            </p:nvGrpSpPr>
            <p:grpSpPr bwMode="auto">
              <a:xfrm>
                <a:off x="336" y="1728"/>
                <a:ext cx="1968" cy="2085"/>
                <a:chOff x="336" y="1728"/>
                <a:chExt cx="1968" cy="2085"/>
              </a:xfrm>
            </p:grpSpPr>
            <p:sp>
              <p:nvSpPr>
                <p:cNvPr id="44" name="Line 8"/>
                <p:cNvSpPr>
                  <a:spLocks noChangeShapeType="1"/>
                </p:cNvSpPr>
                <p:nvPr/>
              </p:nvSpPr>
              <p:spPr bwMode="auto">
                <a:xfrm>
                  <a:off x="336" y="1968"/>
                  <a:ext cx="19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5" name="Line 9"/>
                <p:cNvSpPr>
                  <a:spLocks noChangeShapeType="1"/>
                </p:cNvSpPr>
                <p:nvPr/>
              </p:nvSpPr>
              <p:spPr bwMode="auto">
                <a:xfrm>
                  <a:off x="1296" y="1728"/>
                  <a:ext cx="0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6" name="Line 10"/>
                <p:cNvSpPr>
                  <a:spLocks noChangeShapeType="1"/>
                </p:cNvSpPr>
                <p:nvPr/>
              </p:nvSpPr>
              <p:spPr bwMode="auto">
                <a:xfrm>
                  <a:off x="1829" y="1749"/>
                  <a:ext cx="0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7" name="Line 11"/>
                <p:cNvSpPr>
                  <a:spLocks noChangeShapeType="1"/>
                </p:cNvSpPr>
                <p:nvPr/>
              </p:nvSpPr>
              <p:spPr bwMode="auto">
                <a:xfrm>
                  <a:off x="805" y="1739"/>
                  <a:ext cx="0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1" name="Text Box 12"/>
              <p:cNvSpPr txBox="1">
                <a:spLocks noChangeArrowheads="1"/>
              </p:cNvSpPr>
              <p:nvPr/>
            </p:nvSpPr>
            <p:spPr bwMode="auto">
              <a:xfrm>
                <a:off x="432" y="1689"/>
                <a:ext cx="1872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ea typeface="华文中宋" pitchFamily="2" charset="-122"/>
                    <a:cs typeface="Times New Roman" pitchFamily="18" charset="0"/>
                  </a:rPr>
                  <a:t>A      B      C    F</a:t>
                </a:r>
              </a:p>
            </p:txBody>
          </p:sp>
          <p:sp>
            <p:nvSpPr>
              <p:cNvPr id="42" name="Text Box 13"/>
              <p:cNvSpPr txBox="1">
                <a:spLocks noChangeArrowheads="1"/>
              </p:cNvSpPr>
              <p:nvPr/>
            </p:nvSpPr>
            <p:spPr bwMode="auto">
              <a:xfrm>
                <a:off x="480" y="2049"/>
                <a:ext cx="1872" cy="17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0 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0       </a:t>
                </a:r>
              </a:p>
              <a:p>
                <a:pPr>
                  <a:lnSpc>
                    <a:spcPct val="45000"/>
                  </a:lnSpc>
                  <a:spcBef>
                    <a:spcPct val="50000"/>
                  </a:spcBef>
                </a:pP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400" b="1" i="0" dirty="0" smtClean="0"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400" b="1" i="0" dirty="0">
                    <a:ea typeface="华文中宋" pitchFamily="2" charset="-122"/>
                    <a:cs typeface="Times New Roman" pitchFamily="18" charset="0"/>
                  </a:rPr>
                  <a:t>1       </a:t>
                </a:r>
              </a:p>
            </p:txBody>
          </p:sp>
        </p:grpSp>
        <p:sp>
          <p:nvSpPr>
            <p:cNvPr id="30" name="Text Box 48"/>
            <p:cNvSpPr txBox="1">
              <a:spLocks noChangeArrowheads="1"/>
            </p:cNvSpPr>
            <p:nvPr/>
          </p:nvSpPr>
          <p:spPr bwMode="auto">
            <a:xfrm>
              <a:off x="6215074" y="2257420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 dirty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1" name="Text Box 49"/>
            <p:cNvSpPr txBox="1">
              <a:spLocks noChangeArrowheads="1"/>
            </p:cNvSpPr>
            <p:nvPr/>
          </p:nvSpPr>
          <p:spPr bwMode="auto">
            <a:xfrm>
              <a:off x="6215074" y="2614610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 dirty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4" name="Text Box 50"/>
            <p:cNvSpPr txBox="1">
              <a:spLocks noChangeArrowheads="1"/>
            </p:cNvSpPr>
            <p:nvPr/>
          </p:nvSpPr>
          <p:spPr bwMode="auto">
            <a:xfrm>
              <a:off x="6215074" y="2971800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5" name="Text Box 51"/>
            <p:cNvSpPr txBox="1">
              <a:spLocks noChangeArrowheads="1"/>
            </p:cNvSpPr>
            <p:nvPr/>
          </p:nvSpPr>
          <p:spPr bwMode="auto">
            <a:xfrm>
              <a:off x="6215074" y="3279766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6" name="Text Box 52"/>
            <p:cNvSpPr txBox="1">
              <a:spLocks noChangeArrowheads="1"/>
            </p:cNvSpPr>
            <p:nvPr/>
          </p:nvSpPr>
          <p:spPr bwMode="auto">
            <a:xfrm>
              <a:off x="6215074" y="3614741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7" name="Text Box 53"/>
            <p:cNvSpPr txBox="1">
              <a:spLocks noChangeArrowheads="1"/>
            </p:cNvSpPr>
            <p:nvPr/>
          </p:nvSpPr>
          <p:spPr bwMode="auto">
            <a:xfrm>
              <a:off x="6215074" y="3963979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8" name="Text Box 54"/>
            <p:cNvSpPr txBox="1">
              <a:spLocks noChangeArrowheads="1"/>
            </p:cNvSpPr>
            <p:nvPr/>
          </p:nvSpPr>
          <p:spPr bwMode="auto">
            <a:xfrm>
              <a:off x="6215074" y="4324342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9" name="Text Box 55"/>
            <p:cNvSpPr txBox="1">
              <a:spLocks noChangeArrowheads="1"/>
            </p:cNvSpPr>
            <p:nvPr/>
          </p:nvSpPr>
          <p:spPr bwMode="auto">
            <a:xfrm>
              <a:off x="6215074" y="4683116"/>
              <a:ext cx="335646" cy="463846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0"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48" name="Line 16"/>
          <p:cNvSpPr>
            <a:spLocks noChangeShapeType="1"/>
          </p:cNvSpPr>
          <p:nvPr/>
        </p:nvSpPr>
        <p:spPr bwMode="auto">
          <a:xfrm>
            <a:off x="5872798" y="2971800"/>
            <a:ext cx="24384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9" name="Line 17"/>
          <p:cNvSpPr>
            <a:spLocks noChangeShapeType="1"/>
          </p:cNvSpPr>
          <p:nvPr/>
        </p:nvSpPr>
        <p:spPr bwMode="auto">
          <a:xfrm>
            <a:off x="5872798" y="3657600"/>
            <a:ext cx="24384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0" name="Line 18"/>
          <p:cNvSpPr>
            <a:spLocks noChangeShapeType="1"/>
          </p:cNvSpPr>
          <p:nvPr/>
        </p:nvSpPr>
        <p:spPr bwMode="auto">
          <a:xfrm flipV="1">
            <a:off x="5872798" y="4030663"/>
            <a:ext cx="2438400" cy="7937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1" name="Line 19"/>
          <p:cNvSpPr>
            <a:spLocks noChangeShapeType="1"/>
          </p:cNvSpPr>
          <p:nvPr/>
        </p:nvSpPr>
        <p:spPr bwMode="auto">
          <a:xfrm>
            <a:off x="5872798" y="4343400"/>
            <a:ext cx="24384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utoUpdateAnimBg="0"/>
      <p:bldP spid="48" grpId="0" animBg="1"/>
      <p:bldP spid="49" grpId="0" animBg="1"/>
      <p:bldP spid="50" grpId="0" animBg="1"/>
      <p:bldP spid="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357188" y="608045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化简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54" name="Object 2"/>
          <p:cNvGraphicFramePr>
            <a:graphicFrameLocks noChangeAspect="1"/>
          </p:cNvGraphicFramePr>
          <p:nvPr/>
        </p:nvGraphicFramePr>
        <p:xfrm>
          <a:off x="285750" y="1214438"/>
          <a:ext cx="3997325" cy="466725"/>
        </p:xfrm>
        <a:graphic>
          <a:graphicData uri="http://schemas.openxmlformats.org/presentationml/2006/ole">
            <p:oleObj spid="_x0000_s4098" name="Equation" r:id="rId5" imgW="1625400" imgH="177480" progId="Equation.DSMT4">
              <p:embed/>
            </p:oleObj>
          </a:graphicData>
        </a:graphic>
      </p:graphicFrame>
      <p:sp>
        <p:nvSpPr>
          <p:cNvPr id="60" name="Text Box 6"/>
          <p:cNvSpPr txBox="1">
            <a:spLocks noChangeArrowheads="1"/>
          </p:cNvSpPr>
          <p:nvPr/>
        </p:nvSpPr>
        <p:spPr bwMode="auto">
          <a:xfrm>
            <a:off x="4714875" y="646145"/>
            <a:ext cx="32367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逻辑电路图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</a:t>
            </a:r>
          </a:p>
        </p:txBody>
      </p:sp>
      <p:grpSp>
        <p:nvGrpSpPr>
          <p:cNvPr id="2" name="Group 104"/>
          <p:cNvGrpSpPr>
            <a:grpSpLocks/>
          </p:cNvGrpSpPr>
          <p:nvPr/>
        </p:nvGrpSpPr>
        <p:grpSpPr bwMode="auto">
          <a:xfrm>
            <a:off x="4786229" y="1357304"/>
            <a:ext cx="3686196" cy="2832101"/>
            <a:chOff x="961" y="1872"/>
            <a:chExt cx="3361" cy="2056"/>
          </a:xfrm>
          <a:noFill/>
        </p:grpSpPr>
        <p:grpSp>
          <p:nvGrpSpPr>
            <p:cNvPr id="3" name="Group 100"/>
            <p:cNvGrpSpPr>
              <a:grpSpLocks/>
            </p:cNvGrpSpPr>
            <p:nvPr/>
          </p:nvGrpSpPr>
          <p:grpSpPr bwMode="auto">
            <a:xfrm>
              <a:off x="961" y="1872"/>
              <a:ext cx="3361" cy="2056"/>
              <a:chOff x="-37" y="1918"/>
              <a:chExt cx="3361" cy="2056"/>
            </a:xfrm>
            <a:grpFill/>
          </p:grpSpPr>
          <p:sp>
            <p:nvSpPr>
              <p:cNvPr id="72" name="Line 95"/>
              <p:cNvSpPr>
                <a:spLocks noChangeShapeType="1"/>
              </p:cNvSpPr>
              <p:nvPr/>
            </p:nvSpPr>
            <p:spPr bwMode="auto">
              <a:xfrm>
                <a:off x="703" y="3838"/>
                <a:ext cx="544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4" name="Group 91"/>
              <p:cNvGrpSpPr>
                <a:grpSpLocks/>
              </p:cNvGrpSpPr>
              <p:nvPr/>
            </p:nvGrpSpPr>
            <p:grpSpPr bwMode="auto">
              <a:xfrm>
                <a:off x="975" y="3113"/>
                <a:ext cx="272" cy="453"/>
                <a:chOff x="975" y="2387"/>
                <a:chExt cx="272" cy="453"/>
              </a:xfrm>
              <a:grpFill/>
            </p:grpSpPr>
            <p:sp>
              <p:nvSpPr>
                <p:cNvPr id="114" name="Line 92"/>
                <p:cNvSpPr>
                  <a:spLocks noChangeShapeType="1"/>
                </p:cNvSpPr>
                <p:nvPr/>
              </p:nvSpPr>
              <p:spPr bwMode="auto">
                <a:xfrm>
                  <a:off x="975" y="2387"/>
                  <a:ext cx="0" cy="453"/>
                </a:xfrm>
                <a:prstGeom prst="line">
                  <a:avLst/>
                </a:prstGeom>
                <a:grpFill/>
                <a:ln w="22225">
                  <a:solidFill>
                    <a:srgbClr val="3333FF"/>
                  </a:solidFill>
                  <a:round/>
                  <a:headEnd/>
                  <a:tailEnd type="none" w="med" len="lg"/>
                </a:ln>
                <a:effectLst/>
              </p:spPr>
              <p:txBody>
                <a:bodyPr lIns="90000" tIns="46800" rIns="90000" bIns="46800"/>
                <a:lstStyle/>
                <a:p>
                  <a:pPr>
                    <a:defRPr/>
                  </a:pPr>
                  <a:endParaRPr lang="zh-CN" altLang="en-US" sz="240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15" name="Line 93"/>
                <p:cNvSpPr>
                  <a:spLocks noChangeShapeType="1"/>
                </p:cNvSpPr>
                <p:nvPr/>
              </p:nvSpPr>
              <p:spPr bwMode="auto">
                <a:xfrm>
                  <a:off x="975" y="2840"/>
                  <a:ext cx="272" cy="0"/>
                </a:xfrm>
                <a:prstGeom prst="line">
                  <a:avLst/>
                </a:prstGeom>
                <a:grpFill/>
                <a:ln w="22225">
                  <a:solidFill>
                    <a:srgbClr val="3333FF"/>
                  </a:solidFill>
                  <a:round/>
                  <a:headEnd/>
                  <a:tailEnd type="none" w="med" len="lg"/>
                </a:ln>
                <a:effectLst/>
              </p:spPr>
              <p:txBody>
                <a:bodyPr lIns="90000" tIns="46800" rIns="90000" bIns="46800"/>
                <a:lstStyle/>
                <a:p>
                  <a:pPr>
                    <a:defRPr/>
                  </a:pPr>
                  <a:endParaRPr lang="zh-CN" altLang="en-US" sz="240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" name="Group 90"/>
              <p:cNvGrpSpPr>
                <a:grpSpLocks/>
              </p:cNvGrpSpPr>
              <p:nvPr/>
            </p:nvGrpSpPr>
            <p:grpSpPr bwMode="auto">
              <a:xfrm>
                <a:off x="975" y="2387"/>
                <a:ext cx="272" cy="453"/>
                <a:chOff x="975" y="2387"/>
                <a:chExt cx="272" cy="453"/>
              </a:xfrm>
              <a:grpFill/>
            </p:grpSpPr>
            <p:sp>
              <p:nvSpPr>
                <p:cNvPr id="112" name="Line 88"/>
                <p:cNvSpPr>
                  <a:spLocks noChangeShapeType="1"/>
                </p:cNvSpPr>
                <p:nvPr/>
              </p:nvSpPr>
              <p:spPr bwMode="auto">
                <a:xfrm>
                  <a:off x="975" y="2387"/>
                  <a:ext cx="0" cy="453"/>
                </a:xfrm>
                <a:prstGeom prst="line">
                  <a:avLst/>
                </a:prstGeom>
                <a:grpFill/>
                <a:ln w="22225">
                  <a:solidFill>
                    <a:srgbClr val="3333FF"/>
                  </a:solidFill>
                  <a:round/>
                  <a:headEnd/>
                  <a:tailEnd type="none" w="med" len="lg"/>
                </a:ln>
                <a:effectLst/>
              </p:spPr>
              <p:txBody>
                <a:bodyPr lIns="90000" tIns="46800" rIns="90000" bIns="46800"/>
                <a:lstStyle/>
                <a:p>
                  <a:pPr>
                    <a:defRPr/>
                  </a:pPr>
                  <a:endParaRPr lang="zh-CN" altLang="en-US" sz="240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13" name="Line 89"/>
                <p:cNvSpPr>
                  <a:spLocks noChangeShapeType="1"/>
                </p:cNvSpPr>
                <p:nvPr/>
              </p:nvSpPr>
              <p:spPr bwMode="auto">
                <a:xfrm>
                  <a:off x="975" y="2840"/>
                  <a:ext cx="272" cy="0"/>
                </a:xfrm>
                <a:prstGeom prst="line">
                  <a:avLst/>
                </a:prstGeom>
                <a:grpFill/>
                <a:ln w="22225">
                  <a:solidFill>
                    <a:srgbClr val="3333FF"/>
                  </a:solidFill>
                  <a:round/>
                  <a:headEnd/>
                  <a:tailEnd type="none" w="med" len="lg"/>
                </a:ln>
                <a:effectLst/>
              </p:spPr>
              <p:txBody>
                <a:bodyPr lIns="90000" tIns="46800" rIns="90000" bIns="46800"/>
                <a:lstStyle/>
                <a:p>
                  <a:pPr>
                    <a:defRPr/>
                  </a:pPr>
                  <a:endParaRPr lang="zh-CN" altLang="en-US" sz="240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75" name="Line 87"/>
              <p:cNvSpPr>
                <a:spLocks noChangeShapeType="1"/>
              </p:cNvSpPr>
              <p:nvPr/>
            </p:nvSpPr>
            <p:spPr bwMode="auto">
              <a:xfrm>
                <a:off x="379" y="3113"/>
                <a:ext cx="861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6" name="Line 86"/>
              <p:cNvSpPr>
                <a:spLocks noChangeShapeType="1"/>
              </p:cNvSpPr>
              <p:nvPr/>
            </p:nvSpPr>
            <p:spPr bwMode="auto">
              <a:xfrm>
                <a:off x="379" y="2387"/>
                <a:ext cx="861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7" name="Line 85"/>
              <p:cNvSpPr>
                <a:spLocks noChangeShapeType="1"/>
              </p:cNvSpPr>
              <p:nvPr/>
            </p:nvSpPr>
            <p:spPr bwMode="auto">
              <a:xfrm>
                <a:off x="379" y="2115"/>
                <a:ext cx="861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8" name="Line 84"/>
              <p:cNvSpPr>
                <a:spLocks noChangeShapeType="1"/>
              </p:cNvSpPr>
              <p:nvPr/>
            </p:nvSpPr>
            <p:spPr bwMode="auto">
              <a:xfrm>
                <a:off x="2796" y="2976"/>
                <a:ext cx="454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9" name="Line 82"/>
              <p:cNvSpPr>
                <a:spLocks noChangeShapeType="1"/>
              </p:cNvSpPr>
              <p:nvPr/>
            </p:nvSpPr>
            <p:spPr bwMode="auto">
              <a:xfrm>
                <a:off x="2064" y="2795"/>
                <a:ext cx="272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0" name="Line 83"/>
              <p:cNvSpPr>
                <a:spLocks noChangeShapeType="1"/>
              </p:cNvSpPr>
              <p:nvPr/>
            </p:nvSpPr>
            <p:spPr bwMode="auto">
              <a:xfrm>
                <a:off x="2064" y="3158"/>
                <a:ext cx="272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1" name="Line 78"/>
              <p:cNvSpPr>
                <a:spLocks noChangeShapeType="1"/>
              </p:cNvSpPr>
              <p:nvPr/>
            </p:nvSpPr>
            <p:spPr bwMode="auto">
              <a:xfrm>
                <a:off x="1701" y="2251"/>
                <a:ext cx="363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3" name="Line 79"/>
              <p:cNvSpPr>
                <a:spLocks noChangeShapeType="1"/>
              </p:cNvSpPr>
              <p:nvPr/>
            </p:nvSpPr>
            <p:spPr bwMode="auto">
              <a:xfrm>
                <a:off x="1701" y="3702"/>
                <a:ext cx="363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4" name="Line 77"/>
              <p:cNvSpPr>
                <a:spLocks noChangeShapeType="1"/>
              </p:cNvSpPr>
              <p:nvPr/>
            </p:nvSpPr>
            <p:spPr bwMode="auto">
              <a:xfrm>
                <a:off x="1700" y="2976"/>
                <a:ext cx="635" cy="0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6" name="Group 64"/>
              <p:cNvGrpSpPr>
                <a:grpSpLocks/>
              </p:cNvGrpSpPr>
              <p:nvPr/>
            </p:nvGrpSpPr>
            <p:grpSpPr bwMode="auto">
              <a:xfrm>
                <a:off x="1247" y="2704"/>
                <a:ext cx="464" cy="544"/>
                <a:chOff x="1156" y="2614"/>
                <a:chExt cx="464" cy="544"/>
              </a:xfrm>
              <a:grpFill/>
            </p:grpSpPr>
            <p:sp>
              <p:nvSpPr>
                <p:cNvPr id="110" name="Rectangle 61"/>
                <p:cNvSpPr>
                  <a:spLocks noChangeAspect="1" noChangeArrowheads="1"/>
                </p:cNvSpPr>
                <p:nvPr/>
              </p:nvSpPr>
              <p:spPr bwMode="auto">
                <a:xfrm>
                  <a:off x="1156" y="2614"/>
                  <a:ext cx="454" cy="544"/>
                </a:xfrm>
                <a:prstGeom prst="rect">
                  <a:avLst/>
                </a:prstGeom>
                <a:grpFill/>
                <a:ln w="12700">
                  <a:solidFill>
                    <a:srgbClr val="41414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altLang="zh-CN" sz="240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11" name="Rectangle 63"/>
                <p:cNvSpPr>
                  <a:spLocks noChangeArrowheads="1"/>
                </p:cNvSpPr>
                <p:nvPr/>
              </p:nvSpPr>
              <p:spPr bwMode="auto">
                <a:xfrm>
                  <a:off x="1174" y="2614"/>
                  <a:ext cx="446" cy="337"/>
                </a:xfrm>
                <a:prstGeom prst="rect">
                  <a:avLst/>
                </a:prstGeom>
                <a:grpFill/>
                <a:ln w="38100">
                  <a:noFill/>
                  <a:miter lim="800000"/>
                  <a:headEnd/>
                  <a:tailEnd type="none" w="med" len="lg"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 b="1" i="0" dirty="0"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</p:grpSp>
          <p:grpSp>
            <p:nvGrpSpPr>
              <p:cNvPr id="7" name="Group 65"/>
              <p:cNvGrpSpPr>
                <a:grpSpLocks/>
              </p:cNvGrpSpPr>
              <p:nvPr/>
            </p:nvGrpSpPr>
            <p:grpSpPr bwMode="auto">
              <a:xfrm>
                <a:off x="1247" y="3430"/>
                <a:ext cx="464" cy="544"/>
                <a:chOff x="1156" y="2614"/>
                <a:chExt cx="464" cy="544"/>
              </a:xfrm>
              <a:grpFill/>
            </p:grpSpPr>
            <p:sp>
              <p:nvSpPr>
                <p:cNvPr id="108" name="Rectangle 66"/>
                <p:cNvSpPr>
                  <a:spLocks noChangeAspect="1" noChangeArrowheads="1"/>
                </p:cNvSpPr>
                <p:nvPr/>
              </p:nvSpPr>
              <p:spPr bwMode="auto">
                <a:xfrm>
                  <a:off x="1156" y="2614"/>
                  <a:ext cx="454" cy="544"/>
                </a:xfrm>
                <a:prstGeom prst="rect">
                  <a:avLst/>
                </a:prstGeom>
                <a:grpFill/>
                <a:ln w="12700">
                  <a:solidFill>
                    <a:srgbClr val="41414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altLang="zh-CN" sz="240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9" name="Rectangle 67"/>
                <p:cNvSpPr>
                  <a:spLocks noChangeArrowheads="1"/>
                </p:cNvSpPr>
                <p:nvPr/>
              </p:nvSpPr>
              <p:spPr bwMode="auto">
                <a:xfrm>
                  <a:off x="1174" y="2614"/>
                  <a:ext cx="446" cy="337"/>
                </a:xfrm>
                <a:prstGeom prst="rect">
                  <a:avLst/>
                </a:prstGeom>
                <a:grpFill/>
                <a:ln w="38100">
                  <a:noFill/>
                  <a:miter lim="800000"/>
                  <a:headEnd/>
                  <a:tailEnd type="none" w="med" len="lg"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 b="1" i="0" dirty="0"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</p:grpSp>
          <p:grpSp>
            <p:nvGrpSpPr>
              <p:cNvPr id="8" name="Group 68"/>
              <p:cNvGrpSpPr>
                <a:grpSpLocks/>
              </p:cNvGrpSpPr>
              <p:nvPr/>
            </p:nvGrpSpPr>
            <p:grpSpPr bwMode="auto">
              <a:xfrm>
                <a:off x="1247" y="1979"/>
                <a:ext cx="467" cy="544"/>
                <a:chOff x="1156" y="2614"/>
                <a:chExt cx="467" cy="544"/>
              </a:xfrm>
              <a:grpFill/>
            </p:grpSpPr>
            <p:sp>
              <p:nvSpPr>
                <p:cNvPr id="106" name="Rectangle 69"/>
                <p:cNvSpPr>
                  <a:spLocks noChangeAspect="1" noChangeArrowheads="1"/>
                </p:cNvSpPr>
                <p:nvPr/>
              </p:nvSpPr>
              <p:spPr bwMode="auto">
                <a:xfrm>
                  <a:off x="1156" y="2614"/>
                  <a:ext cx="454" cy="544"/>
                </a:xfrm>
                <a:prstGeom prst="rect">
                  <a:avLst/>
                </a:prstGeom>
                <a:grpFill/>
                <a:ln w="12700">
                  <a:solidFill>
                    <a:srgbClr val="41414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altLang="zh-CN" sz="2400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07" name="Rectangle 70"/>
                <p:cNvSpPr>
                  <a:spLocks noChangeArrowheads="1"/>
                </p:cNvSpPr>
                <p:nvPr/>
              </p:nvSpPr>
              <p:spPr bwMode="auto">
                <a:xfrm>
                  <a:off x="1177" y="2614"/>
                  <a:ext cx="446" cy="337"/>
                </a:xfrm>
                <a:prstGeom prst="rect">
                  <a:avLst/>
                </a:prstGeom>
                <a:grpFill/>
                <a:ln w="38100">
                  <a:noFill/>
                  <a:miter lim="800000"/>
                  <a:headEnd/>
                  <a:tailEnd type="none" w="med" len="lg"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defRPr/>
                  </a:pPr>
                  <a:r>
                    <a:rPr lang="zh-CN" altLang="en-US" sz="2400" b="1" i="0" dirty="0">
                      <a:ea typeface="华文中宋" pitchFamily="2" charset="-122"/>
                      <a:cs typeface="Times New Roman" pitchFamily="18" charset="0"/>
                    </a:rPr>
                    <a:t>＆</a:t>
                  </a:r>
                </a:p>
              </p:txBody>
            </p:sp>
          </p:grpSp>
          <p:grpSp>
            <p:nvGrpSpPr>
              <p:cNvPr id="9" name="Group 76"/>
              <p:cNvGrpSpPr>
                <a:grpSpLocks/>
              </p:cNvGrpSpPr>
              <p:nvPr/>
            </p:nvGrpSpPr>
            <p:grpSpPr bwMode="auto">
              <a:xfrm>
                <a:off x="2336" y="2690"/>
                <a:ext cx="505" cy="558"/>
                <a:chOff x="2336" y="2690"/>
                <a:chExt cx="505" cy="558"/>
              </a:xfrm>
              <a:grpFill/>
            </p:grpSpPr>
            <p:grpSp>
              <p:nvGrpSpPr>
                <p:cNvPr id="10" name="Group 71"/>
                <p:cNvGrpSpPr>
                  <a:grpSpLocks/>
                </p:cNvGrpSpPr>
                <p:nvPr/>
              </p:nvGrpSpPr>
              <p:grpSpPr bwMode="auto">
                <a:xfrm>
                  <a:off x="2336" y="2692"/>
                  <a:ext cx="454" cy="556"/>
                  <a:chOff x="1156" y="2602"/>
                  <a:chExt cx="454" cy="556"/>
                </a:xfrm>
                <a:grpFill/>
              </p:grpSpPr>
              <p:sp>
                <p:nvSpPr>
                  <p:cNvPr id="104" name="Rectangle 7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56" y="2602"/>
                    <a:ext cx="454" cy="556"/>
                  </a:xfrm>
                  <a:prstGeom prst="rect">
                    <a:avLst/>
                  </a:prstGeom>
                  <a:grpFill/>
                  <a:ln w="12700">
                    <a:solidFill>
                      <a:srgbClr val="41414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2614"/>
                    <a:ext cx="166" cy="337"/>
                  </a:xfrm>
                  <a:prstGeom prst="rect">
                    <a:avLst/>
                  </a:prstGeom>
                  <a:grpFill/>
                  <a:ln w="38100">
                    <a:noFill/>
                    <a:miter lim="800000"/>
                    <a:headEnd/>
                    <a:tailEnd type="none" w="med" len="lg"/>
                  </a:ln>
                </p:spPr>
                <p:txBody>
                  <a:bodyPr wrap="none" lIns="90000" tIns="46800" rIns="90000" bIns="46800">
                    <a:spAutoFit/>
                  </a:bodyPr>
                  <a:lstStyle/>
                  <a:p>
                    <a:pPr>
                      <a:defRPr/>
                    </a:pPr>
                    <a:endParaRPr lang="en-US" altLang="zh-CN" sz="2400" b="1" i="0"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03" name="Rectangle 75"/>
                <p:cNvSpPr>
                  <a:spLocks noChangeArrowheads="1"/>
                </p:cNvSpPr>
                <p:nvPr/>
              </p:nvSpPr>
              <p:spPr bwMode="auto">
                <a:xfrm>
                  <a:off x="2381" y="2690"/>
                  <a:ext cx="460" cy="337"/>
                </a:xfrm>
                <a:prstGeom prst="rect">
                  <a:avLst/>
                </a:prstGeom>
                <a:grpFill/>
                <a:ln w="38100">
                  <a:noFill/>
                  <a:miter lim="800000"/>
                  <a:headEnd/>
                  <a:tailEnd type="none" w="med" len="lg"/>
                </a:ln>
              </p:spPr>
              <p:txBody>
                <a:bodyPr wrap="none" lIns="90000" tIns="46800" rIns="90000" bIns="46800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 b="1" i="0">
                      <a:ea typeface="华文中宋" pitchFamily="2" charset="-122"/>
                      <a:cs typeface="Times New Roman" pitchFamily="18" charset="0"/>
                    </a:rPr>
                    <a:t>≥1</a:t>
                  </a:r>
                </a:p>
              </p:txBody>
            </p:sp>
          </p:grpSp>
          <p:sp>
            <p:nvSpPr>
              <p:cNvPr id="95" name="Line 80"/>
              <p:cNvSpPr>
                <a:spLocks noChangeShapeType="1"/>
              </p:cNvSpPr>
              <p:nvPr/>
            </p:nvSpPr>
            <p:spPr bwMode="auto">
              <a:xfrm>
                <a:off x="2062" y="2251"/>
                <a:ext cx="0" cy="544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6" name="Line 81"/>
              <p:cNvSpPr>
                <a:spLocks noChangeShapeType="1"/>
              </p:cNvSpPr>
              <p:nvPr/>
            </p:nvSpPr>
            <p:spPr bwMode="auto">
              <a:xfrm>
                <a:off x="2062" y="3157"/>
                <a:ext cx="0" cy="544"/>
              </a:xfrm>
              <a:prstGeom prst="line">
                <a:avLst/>
              </a:prstGeom>
              <a:grpFill/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7" name="Line 94"/>
              <p:cNvSpPr>
                <a:spLocks noChangeShapeType="1"/>
              </p:cNvSpPr>
              <p:nvPr/>
            </p:nvSpPr>
            <p:spPr bwMode="auto">
              <a:xfrm>
                <a:off x="703" y="2115"/>
                <a:ext cx="0" cy="1723"/>
              </a:xfrm>
              <a:prstGeom prst="line">
                <a:avLst/>
              </a:prstGeom>
              <a:solidFill>
                <a:schemeClr val="accent1"/>
              </a:solidFill>
              <a:ln w="22225">
                <a:solidFill>
                  <a:srgbClr val="3333FF"/>
                </a:solidFill>
                <a:round/>
                <a:headEnd/>
                <a:tailEnd type="none" w="med" len="lg"/>
              </a:ln>
              <a:effectLst/>
            </p:spPr>
            <p:txBody>
              <a:bodyPr lIns="90000" tIns="46800" rIns="90000" bIns="46800"/>
              <a:lstStyle/>
              <a:p>
                <a:pPr>
                  <a:defRPr/>
                </a:pPr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8" name="Text Box 96"/>
              <p:cNvSpPr txBox="1">
                <a:spLocks noChangeArrowheads="1"/>
              </p:cNvSpPr>
              <p:nvPr/>
            </p:nvSpPr>
            <p:spPr bwMode="auto">
              <a:xfrm>
                <a:off x="-37" y="1918"/>
                <a:ext cx="337" cy="337"/>
              </a:xfrm>
              <a:prstGeom prst="rect">
                <a:avLst/>
              </a:prstGeom>
              <a:grp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ea typeface="华文中宋" pitchFamily="2" charset="-122"/>
                    <a:cs typeface="Times New Roman" pitchFamily="18" charset="0"/>
                  </a:rPr>
                  <a:t>A</a:t>
                </a:r>
              </a:p>
            </p:txBody>
          </p:sp>
          <p:sp>
            <p:nvSpPr>
              <p:cNvPr id="99" name="Text Box 97"/>
              <p:cNvSpPr txBox="1">
                <a:spLocks noChangeArrowheads="1"/>
              </p:cNvSpPr>
              <p:nvPr/>
            </p:nvSpPr>
            <p:spPr bwMode="auto">
              <a:xfrm>
                <a:off x="-37" y="2281"/>
                <a:ext cx="337" cy="337"/>
              </a:xfrm>
              <a:prstGeom prst="rect">
                <a:avLst/>
              </a:prstGeom>
              <a:grp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00" name="Text Box 98"/>
              <p:cNvSpPr txBox="1">
                <a:spLocks noChangeArrowheads="1"/>
              </p:cNvSpPr>
              <p:nvPr/>
            </p:nvSpPr>
            <p:spPr bwMode="auto">
              <a:xfrm>
                <a:off x="-37" y="2961"/>
                <a:ext cx="353" cy="337"/>
              </a:xfrm>
              <a:prstGeom prst="rect">
                <a:avLst/>
              </a:prstGeom>
              <a:grp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01" name="Text Box 99"/>
              <p:cNvSpPr txBox="1">
                <a:spLocks noChangeArrowheads="1"/>
              </p:cNvSpPr>
              <p:nvPr/>
            </p:nvSpPr>
            <p:spPr bwMode="auto">
              <a:xfrm>
                <a:off x="2979" y="2670"/>
                <a:ext cx="345" cy="337"/>
              </a:xfrm>
              <a:prstGeom prst="rect">
                <a:avLst/>
              </a:prstGeom>
              <a:grpFill/>
              <a:ln w="22225">
                <a:noFill/>
                <a:miter lim="800000"/>
                <a:headEnd/>
                <a:tailEnd type="none" w="med" len="lg"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defRPr/>
                </a:pPr>
                <a:r>
                  <a:rPr lang="en-US" altLang="zh-CN" sz="2400" b="1" dirty="0">
                    <a:ea typeface="华文中宋" pitchFamily="2" charset="-122"/>
                    <a:cs typeface="Times New Roman" pitchFamily="18" charset="0"/>
                  </a:rPr>
                  <a:t>F</a:t>
                </a:r>
              </a:p>
            </p:txBody>
          </p:sp>
        </p:grpSp>
        <p:sp>
          <p:nvSpPr>
            <p:cNvPr id="69" name="Oval 101"/>
            <p:cNvSpPr>
              <a:spLocks noChangeArrowheads="1"/>
            </p:cNvSpPr>
            <p:nvPr/>
          </p:nvSpPr>
          <p:spPr bwMode="auto">
            <a:xfrm>
              <a:off x="1677" y="2047"/>
              <a:ext cx="48" cy="39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4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Oval 102"/>
            <p:cNvSpPr>
              <a:spLocks noChangeArrowheads="1"/>
            </p:cNvSpPr>
            <p:nvPr/>
          </p:nvSpPr>
          <p:spPr bwMode="auto">
            <a:xfrm>
              <a:off x="1949" y="2319"/>
              <a:ext cx="48" cy="39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4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Oval 103"/>
            <p:cNvSpPr>
              <a:spLocks noChangeArrowheads="1"/>
            </p:cNvSpPr>
            <p:nvPr/>
          </p:nvSpPr>
          <p:spPr bwMode="auto">
            <a:xfrm>
              <a:off x="1949" y="3044"/>
              <a:ext cx="48" cy="39"/>
            </a:xfrm>
            <a:prstGeom prst="ellipse">
              <a:avLst/>
            </a:prstGeom>
            <a:solidFill>
              <a:srgbClr val="3333FF"/>
            </a:solidFill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400"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642938" y="2757157"/>
          <a:ext cx="3246437" cy="1430338"/>
        </p:xfrm>
        <a:graphic>
          <a:graphicData uri="http://schemas.openxmlformats.org/presentationml/2006/ole">
            <p:oleObj spid="_x0000_s4099" name="Equation" r:id="rId6" imgW="1320480" imgH="545760" progId="Equation.DSMT4">
              <p:embed/>
            </p:oleObj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642938" y="1767665"/>
          <a:ext cx="2779712" cy="898525"/>
        </p:xfrm>
        <a:graphic>
          <a:graphicData uri="http://schemas.openxmlformats.org/presentationml/2006/ole">
            <p:oleObj spid="_x0000_s4100" name="Equation" r:id="rId7" imgW="1130040" imgH="342720" progId="Equation.DSMT4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570548" y="988378"/>
            <a:ext cx="20608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zh-CN" altLang="en-US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半加器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936625" y="2301240"/>
            <a:ext cx="32367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）列逻辑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状态表</a:t>
            </a:r>
          </a:p>
        </p:txBody>
      </p:sp>
      <p:graphicFrame>
        <p:nvGraphicFramePr>
          <p:cNvPr id="46" name="Group 7"/>
          <p:cNvGraphicFramePr>
            <a:graphicFrameLocks noGrp="1"/>
          </p:cNvGraphicFramePr>
          <p:nvPr/>
        </p:nvGraphicFramePr>
        <p:xfrm>
          <a:off x="3345815" y="2923223"/>
          <a:ext cx="4429156" cy="1695715"/>
        </p:xfrm>
        <a:graphic>
          <a:graphicData uri="http://schemas.openxmlformats.org/drawingml/2006/table">
            <a:tbl>
              <a:tblPr/>
              <a:tblGrid>
                <a:gridCol w="2560606"/>
                <a:gridCol w="1868550"/>
              </a:tblGrid>
              <a:tr h="4286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dirty="0" smtClean="0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加数</a:t>
                      </a:r>
                      <a:r>
                        <a:rPr kumimoji="0" lang="en-US" altLang="zh-CN" sz="2400" b="0" dirty="0" smtClean="0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  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被加数</a:t>
                      </a:r>
                      <a:r>
                        <a:rPr kumimoji="0" lang="en-US" altLang="zh-CN" sz="2400" b="0" dirty="0" smtClean="0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0" marB="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和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S   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进位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</a:p>
                  </a:txBody>
                  <a:tcPr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67087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0              0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0              1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1              0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1              1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0        1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14964" y="233680"/>
            <a:ext cx="278608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、加法器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733108" y="1597978"/>
            <a:ext cx="7994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实现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两个一位二进制数相加，不考虑低位的进位。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26" grpId="0" autoUpdateAnimBg="0"/>
      <p:bldP spid="1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906145" y="3016568"/>
            <a:ext cx="32367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）写逻辑表达式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30" name="Object 3"/>
          <p:cNvGraphicFramePr>
            <a:graphicFrameLocks noChangeAspect="1"/>
          </p:cNvGraphicFramePr>
          <p:nvPr/>
        </p:nvGraphicFramePr>
        <p:xfrm>
          <a:off x="3505835" y="3596005"/>
          <a:ext cx="2928938" cy="873125"/>
        </p:xfrm>
        <a:graphic>
          <a:graphicData uri="http://schemas.openxmlformats.org/presentationml/2006/ole">
            <p:oleObj spid="_x0000_s30722" name="Equation" r:id="rId3" imgW="1117440" imgH="342720" progId="Equation.DSMT4">
              <p:embed/>
            </p:oleObj>
          </a:graphicData>
        </a:graphic>
      </p:graphicFrame>
      <p:graphicFrame>
        <p:nvGraphicFramePr>
          <p:cNvPr id="46" name="Group 7"/>
          <p:cNvGraphicFramePr>
            <a:graphicFrameLocks noGrp="1"/>
          </p:cNvGraphicFramePr>
          <p:nvPr/>
        </p:nvGraphicFramePr>
        <p:xfrm>
          <a:off x="3792855" y="870903"/>
          <a:ext cx="4429156" cy="1695715"/>
        </p:xfrm>
        <a:graphic>
          <a:graphicData uri="http://schemas.openxmlformats.org/drawingml/2006/table">
            <a:tbl>
              <a:tblPr/>
              <a:tblGrid>
                <a:gridCol w="2560606"/>
                <a:gridCol w="1868550"/>
              </a:tblGrid>
              <a:tr h="4286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dirty="0" smtClean="0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加数</a:t>
                      </a:r>
                      <a:r>
                        <a:rPr kumimoji="0" lang="en-US" altLang="zh-CN" sz="2400" b="0" dirty="0" smtClean="0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  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被加数</a:t>
                      </a:r>
                      <a:r>
                        <a:rPr kumimoji="0" lang="en-US" altLang="zh-CN" sz="2400" b="0" dirty="0" smtClean="0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0" marB="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和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S   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进位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</a:p>
                  </a:txBody>
                  <a:tcPr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67087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0              0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0              1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1              0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1              1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0        1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14964" y="233680"/>
            <a:ext cx="278608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、加法器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570548" y="988378"/>
            <a:ext cx="20608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zh-CN" altLang="en-US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半加器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1564641" y="1742440"/>
            <a:ext cx="24980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 anchorCtr="1">
            <a:spAutoFit/>
          </a:bodyPr>
          <a:lstStyle/>
          <a:p>
            <a:pPr algn="just"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）逻辑图</a:t>
            </a:r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1739265" y="3263900"/>
            <a:ext cx="25619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）逻辑符号</a:t>
            </a:r>
          </a:p>
        </p:txBody>
      </p:sp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4498975" y="1106488"/>
          <a:ext cx="2428875" cy="1706562"/>
        </p:xfrm>
        <a:graphic>
          <a:graphicData uri="http://schemas.openxmlformats.org/presentationml/2006/ole">
            <p:oleObj spid="_x0000_s29699" name="Visio" r:id="rId3" imgW="1576868" imgH="995894" progId="Visio.Drawing.11">
              <p:embed/>
            </p:oleObj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/>
        </p:nvGraphicFramePr>
        <p:xfrm>
          <a:off x="4509135" y="3347403"/>
          <a:ext cx="2408238" cy="1143000"/>
        </p:xfrm>
        <a:graphic>
          <a:graphicData uri="http://schemas.openxmlformats.org/presentationml/2006/ole">
            <p:oleObj spid="_x0000_s29700" name="Visio" r:id="rId4" imgW="1486777" imgH="647088" progId="Visio.Drawing.11">
              <p:embed/>
            </p:oleObj>
          </a:graphicData>
        </a:graphic>
      </p:graphicFrame>
      <p:sp>
        <p:nvSpPr>
          <p:cNvPr id="12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14964" y="233680"/>
            <a:ext cx="278608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、加法器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70548" y="988378"/>
            <a:ext cx="20608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zh-CN" altLang="en-US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半加器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3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23"/>
          <p:cNvSpPr>
            <a:spLocks noChangeArrowheads="1"/>
          </p:cNvSpPr>
          <p:nvPr/>
        </p:nvSpPr>
        <p:spPr bwMode="auto">
          <a:xfrm>
            <a:off x="1163266" y="2482018"/>
            <a:ext cx="682249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kumimoji="0" lang="en-US" altLang="zh-CN" sz="2800" dirty="0"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规定：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800" b="1" baseline="-25000" dirty="0">
                <a:ea typeface="华文中宋" pitchFamily="2" charset="-122"/>
                <a:cs typeface="Times New Roman" pitchFamily="18" charset="0"/>
              </a:rPr>
              <a:t>n</a:t>
            </a:r>
            <a:r>
              <a:rPr kumimoji="0" lang="zh-CN" altLang="en-US" sz="2800" b="1" dirty="0"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dirty="0" err="1">
                <a:ea typeface="华文中宋" pitchFamily="2" charset="-122"/>
                <a:cs typeface="Times New Roman" pitchFamily="18" charset="0"/>
              </a:rPr>
              <a:t>B</a:t>
            </a:r>
            <a:r>
              <a:rPr kumimoji="0" lang="en-US" altLang="zh-CN" sz="2800" b="1" baseline="-25000" dirty="0" err="1">
                <a:ea typeface="华文中宋" pitchFamily="2" charset="-122"/>
                <a:cs typeface="Times New Roman" pitchFamily="18" charset="0"/>
              </a:rPr>
              <a:t>n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为加数和被加数，</a:t>
            </a:r>
            <a:r>
              <a:rPr kumimoji="0" lang="en-US" altLang="zh-CN" sz="2800" b="1" dirty="0"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sz="2800" b="1" baseline="-25000" dirty="0">
                <a:ea typeface="华文中宋" pitchFamily="2" charset="-122"/>
                <a:cs typeface="Times New Roman" pitchFamily="18" charset="0"/>
              </a:rPr>
              <a:t>n</a:t>
            </a:r>
            <a:r>
              <a:rPr kumimoji="0" lang="en-US" altLang="zh-CN" sz="2800" b="1" i="0" baseline="-25000" dirty="0">
                <a:ea typeface="华文中宋" pitchFamily="2" charset="-122"/>
                <a:cs typeface="Times New Roman" pitchFamily="18" charset="0"/>
              </a:rPr>
              <a:t>-1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为低位进位，</a:t>
            </a:r>
            <a:r>
              <a:rPr kumimoji="0" lang="en-US" altLang="zh-CN" sz="2800" b="1" dirty="0" err="1">
                <a:ea typeface="华文中宋" pitchFamily="2" charset="-122"/>
                <a:cs typeface="Times New Roman" pitchFamily="18" charset="0"/>
              </a:rPr>
              <a:t>S</a:t>
            </a:r>
            <a:r>
              <a:rPr kumimoji="0" lang="en-US" altLang="zh-CN" sz="2800" b="1" baseline="-25000" dirty="0" err="1">
                <a:ea typeface="华文中宋" pitchFamily="2" charset="-122"/>
                <a:cs typeface="Times New Roman" pitchFamily="18" charset="0"/>
              </a:rPr>
              <a:t>n</a:t>
            </a:r>
            <a:r>
              <a:rPr kumimoji="0" lang="zh-CN" altLang="en-US" sz="2800" b="1" i="0" dirty="0"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dirty="0" err="1"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sz="2800" b="1" baseline="-25000" dirty="0" err="1">
                <a:ea typeface="华文中宋" pitchFamily="2" charset="-122"/>
                <a:cs typeface="Times New Roman" pitchFamily="18" charset="0"/>
              </a:rPr>
              <a:t>n</a:t>
            </a:r>
            <a:r>
              <a:rPr kumimoji="0" lang="zh-CN" altLang="en-US" sz="2800" i="0" dirty="0">
                <a:ea typeface="华文中宋" pitchFamily="2" charset="-122"/>
                <a:cs typeface="Times New Roman" pitchFamily="18" charset="0"/>
              </a:rPr>
              <a:t>为和及向高位的进位。 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767441" y="1586067"/>
            <a:ext cx="77042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实现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两个一位二进制数相加，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考虑低位的进位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570548" y="988378"/>
            <a:ext cx="20608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）全</a:t>
            </a:r>
            <a:r>
              <a:rPr lang="zh-CN" altLang="en-US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加器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14964" y="233680"/>
            <a:ext cx="278608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、加法器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7"/>
          <p:cNvGraphicFramePr>
            <a:graphicFrameLocks noGrp="1"/>
          </p:cNvGraphicFramePr>
          <p:nvPr/>
        </p:nvGraphicFramePr>
        <p:xfrm>
          <a:off x="5900957" y="1012443"/>
          <a:ext cx="2782888" cy="2816352"/>
        </p:xfrm>
        <a:graphic>
          <a:graphicData uri="http://schemas.openxmlformats.org/drawingml/2006/table">
            <a:tbl>
              <a:tblPr/>
              <a:tblGrid>
                <a:gridCol w="1568442"/>
                <a:gridCol w="1214446"/>
              </a:tblGrid>
              <a:tr h="3590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24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400" b="1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altLang="zh-CN" sz="24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n-1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en-US" altLang="zh-CN" sz="2400" b="1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1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kumimoji="1" lang="en-US" altLang="zh-CN" sz="2400" b="1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2678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0    0    0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0    0    1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0    1    0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0    1    1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1    0    0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1    0    1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1    1    0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1    1    1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1    1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559786" y="1719263"/>
            <a:ext cx="39982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）全加器逻辑状态表</a:t>
            </a: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285750" y="3180398"/>
          <a:ext cx="5568950" cy="503237"/>
        </p:xfrm>
        <a:graphic>
          <a:graphicData uri="http://schemas.openxmlformats.org/presentationml/2006/ole">
            <p:oleObj spid="_x0000_s31746" name="Equation" r:id="rId3" imgW="2450880" imgH="203040" progId="Equation.DSMT4">
              <p:embed/>
            </p:oleObj>
          </a:graphicData>
        </a:graphic>
      </p:graphicFrame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611572" y="2527903"/>
            <a:ext cx="25619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）逻辑式：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309563" y="3814445"/>
          <a:ext cx="5476875" cy="501650"/>
        </p:xfrm>
        <a:graphic>
          <a:graphicData uri="http://schemas.openxmlformats.org/presentationml/2006/ole">
            <p:oleObj spid="_x0000_s31747" name="Equation" r:id="rId4" imgW="2425680" imgH="203040" progId="Equation.DSMT4">
              <p:embed/>
            </p:oleObj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570548" y="988378"/>
            <a:ext cx="20608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）全</a:t>
            </a:r>
            <a:r>
              <a:rPr lang="zh-CN" altLang="en-US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加器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14964" y="233680"/>
            <a:ext cx="278608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i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Times New Roman" pitchFamily="18" charset="0"/>
              </a:rPr>
              <a:t>、加法器</a:t>
            </a:r>
            <a:endParaRPr lang="zh-CN" altLang="en-US" sz="3600" b="1" i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2"/>
          <p:cNvGraphicFramePr>
            <a:graphicFrameLocks noChangeAspect="1"/>
          </p:cNvGraphicFramePr>
          <p:nvPr/>
        </p:nvGraphicFramePr>
        <p:xfrm>
          <a:off x="530225" y="1106805"/>
          <a:ext cx="6096000" cy="550863"/>
        </p:xfrm>
        <a:graphic>
          <a:graphicData uri="http://schemas.openxmlformats.org/presentationml/2006/ole">
            <p:oleObj spid="_x0000_s7170" name="Equation" r:id="rId5" imgW="2450880" imgH="203040" progId="Equation.DSMT4">
              <p:embed/>
            </p:oleObj>
          </a:graphicData>
        </a:graphic>
      </p:graphicFrame>
      <p:sp>
        <p:nvSpPr>
          <p:cNvPr id="7178" name="Text Box 3"/>
          <p:cNvSpPr txBox="1">
            <a:spLocks noChangeArrowheads="1"/>
          </p:cNvSpPr>
          <p:nvPr/>
        </p:nvSpPr>
        <p:spPr bwMode="auto">
          <a:xfrm>
            <a:off x="326073" y="476885"/>
            <a:ext cx="18437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化简</a:t>
            </a:r>
          </a:p>
        </p:txBody>
      </p:sp>
      <p:graphicFrame>
        <p:nvGraphicFramePr>
          <p:cNvPr id="21" name="Object 2"/>
          <p:cNvGraphicFramePr>
            <a:graphicFrameLocks noChangeAspect="1"/>
          </p:cNvGraphicFramePr>
          <p:nvPr/>
        </p:nvGraphicFramePr>
        <p:xfrm>
          <a:off x="960755" y="1735138"/>
          <a:ext cx="7232650" cy="550862"/>
        </p:xfrm>
        <a:graphic>
          <a:graphicData uri="http://schemas.openxmlformats.org/presentationml/2006/ole">
            <p:oleObj spid="_x0000_s7171" name="Equation" r:id="rId6" imgW="2908080" imgH="203040" progId="Equation.DSMT4">
              <p:embed/>
            </p:oleObj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385763" y="3652520"/>
          <a:ext cx="6169025" cy="563563"/>
        </p:xfrm>
        <a:graphic>
          <a:graphicData uri="http://schemas.openxmlformats.org/presentationml/2006/ole">
            <p:oleObj spid="_x0000_s7172" name="Equation" r:id="rId7" imgW="2425680" imgH="203040" progId="Equation.DSMT4">
              <p:embed/>
            </p:oleObj>
          </a:graphicData>
        </a:graphic>
      </p:graphicFrame>
      <p:graphicFrame>
        <p:nvGraphicFramePr>
          <p:cNvPr id="24" name="Object 5"/>
          <p:cNvGraphicFramePr>
            <a:graphicFrameLocks noChangeAspect="1"/>
          </p:cNvGraphicFramePr>
          <p:nvPr/>
        </p:nvGraphicFramePr>
        <p:xfrm>
          <a:off x="785813" y="4244658"/>
          <a:ext cx="2857500" cy="508000"/>
        </p:xfrm>
        <a:graphic>
          <a:graphicData uri="http://schemas.openxmlformats.org/presentationml/2006/ole">
            <p:oleObj spid="_x0000_s7173" name="Equation" r:id="rId8" imgW="1168200" imgH="190440" progId="Equation.DSMT4">
              <p:embed/>
            </p:oleObj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385763" y="2497455"/>
          <a:ext cx="8369300" cy="541338"/>
        </p:xfrm>
        <a:graphic>
          <a:graphicData uri="http://schemas.openxmlformats.org/presentationml/2006/ole">
            <p:oleObj spid="_x0000_s7174" name="Equation" r:id="rId9" imgW="3543120" imgH="203040" progId="Equation.DSMT4">
              <p:embed/>
            </p:oleObj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/>
        </p:nvGraphicFramePr>
        <p:xfrm>
          <a:off x="744538" y="3068955"/>
          <a:ext cx="3070225" cy="508000"/>
        </p:xfrm>
        <a:graphic>
          <a:graphicData uri="http://schemas.openxmlformats.org/presentationml/2006/ole">
            <p:oleObj spid="_x0000_s7175" name="Equation" r:id="rId10" imgW="1257120" imgH="190440" progId="Equation.DSMT4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Text Box 3"/>
          <p:cNvSpPr txBox="1">
            <a:spLocks noChangeArrowheads="1"/>
          </p:cNvSpPr>
          <p:nvPr/>
        </p:nvSpPr>
        <p:spPr bwMode="auto">
          <a:xfrm>
            <a:off x="703580" y="879158"/>
            <a:ext cx="22028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2800" b="1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逻辑图</a:t>
            </a:r>
          </a:p>
        </p:txBody>
      </p:sp>
      <p:graphicFrame>
        <p:nvGraphicFramePr>
          <p:cNvPr id="13" name="Object 15"/>
          <p:cNvGraphicFramePr>
            <a:graphicFrameLocks noChangeAspect="1"/>
          </p:cNvGraphicFramePr>
          <p:nvPr/>
        </p:nvGraphicFramePr>
        <p:xfrm>
          <a:off x="785813" y="1617663"/>
          <a:ext cx="4292600" cy="2679700"/>
        </p:xfrm>
        <a:graphic>
          <a:graphicData uri="http://schemas.openxmlformats.org/presentationml/2006/ole">
            <p:oleObj spid="_x0000_s8194" name="Visio" r:id="rId5" imgW="3997824" imgH="2495266" progId="Visio.Drawing.11">
              <p:embed/>
            </p:oleObj>
          </a:graphicData>
        </a:graphic>
      </p:graphicFrame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775643" y="879158"/>
            <a:ext cx="18437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i="0">
                <a:ea typeface="华文中宋" pitchFamily="2" charset="-122"/>
                <a:cs typeface="Times New Roman" pitchFamily="18" charset="0"/>
              </a:rPr>
              <a:t>5</a:t>
            </a:r>
            <a:r>
              <a:rPr lang="zh-CN" altLang="en-US" sz="2800" b="1" i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>
                <a:ea typeface="华文中宋" pitchFamily="2" charset="-122"/>
                <a:cs typeface="Times New Roman" pitchFamily="18" charset="0"/>
              </a:rPr>
              <a:t>符号</a:t>
            </a:r>
          </a:p>
        </p:txBody>
      </p:sp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5214938" y="2082800"/>
          <a:ext cx="3602037" cy="1571625"/>
        </p:xfrm>
        <a:graphic>
          <a:graphicData uri="http://schemas.openxmlformats.org/presentationml/2006/ole">
            <p:oleObj spid="_x0000_s8195" name="Visio" r:id="rId6" imgW="1576995" imgH="635154" progId="Visio.Drawing.11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357188" y="470218"/>
            <a:ext cx="72424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zh-CN" altLang="en-US" sz="2800" b="1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en-US" altLang="zh-CN" sz="2800" i="0" dirty="0" smtClean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N</a:t>
            </a:r>
            <a:r>
              <a:rPr lang="zh-CN" altLang="en-US" sz="2800" i="0" dirty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位加法器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：实现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位二进制数相加 。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722313" y="3214688"/>
            <a:ext cx="34980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低位全加器进位输出 </a:t>
            </a:r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auto">
          <a:xfrm rot="16200000">
            <a:off x="4204018" y="3235008"/>
            <a:ext cx="495300" cy="533400"/>
          </a:xfrm>
          <a:prstGeom prst="downArrow">
            <a:avLst>
              <a:gd name="adj1" fmla="val 50000"/>
              <a:gd name="adj2" fmla="val 26923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 b="1" i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4866323" y="3235008"/>
            <a:ext cx="34163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高位全加器进位输入</a:t>
            </a: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746125" y="3712528"/>
            <a:ext cx="21242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注意：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CI</a:t>
            </a:r>
            <a:r>
              <a:rPr lang="en-US" altLang="zh-CN" sz="2800" b="1" i="0" baseline="-25000" dirty="0"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b="1" i="0" dirty="0">
                <a:ea typeface="华文中宋" pitchFamily="2" charset="-122"/>
                <a:cs typeface="Times New Roman" pitchFamily="18" charset="0"/>
              </a:rPr>
              <a:t>=0</a:t>
            </a: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>
            <p:ph idx="1"/>
          </p:nvPr>
        </p:nvGraphicFramePr>
        <p:xfrm>
          <a:off x="1409700" y="1071563"/>
          <a:ext cx="6037263" cy="2214562"/>
        </p:xfrm>
        <a:graphic>
          <a:graphicData uri="http://schemas.openxmlformats.org/presentationml/2006/ole">
            <p:oleObj spid="_x0000_s9218" name="Visio" r:id="rId5" imgW="4444955" imgH="1630824" progId="Visio.Drawing.11">
              <p:embed/>
            </p:oleObj>
          </a:graphicData>
        </a:graphic>
      </p:graphicFrame>
      <p:sp>
        <p:nvSpPr>
          <p:cNvPr id="24" name="Text Box 85"/>
          <p:cNvSpPr txBox="1">
            <a:spLocks noChangeArrowheads="1"/>
          </p:cNvSpPr>
          <p:nvPr/>
        </p:nvSpPr>
        <p:spPr bwMode="auto">
          <a:xfrm>
            <a:off x="752475" y="4303078"/>
            <a:ext cx="67484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特点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：电路简单；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串行进位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；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运算速度慢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；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0" grpId="0" animBg="1"/>
      <p:bldP spid="21" grpId="0" autoUpdateAnimBg="0"/>
      <p:bldP spid="22" grpId="0" autoUpdateAnimBg="0"/>
      <p:bldP spid="2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4" descr="img200706121339341457副本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4" y="2407444"/>
            <a:ext cx="3095625" cy="222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9" y="1491854"/>
            <a:ext cx="3240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1824329971"/>
      </p:ext>
    </p:extLst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电工学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15307</TotalTime>
  <Words>759</Words>
  <Application>Microsoft Office PowerPoint</Application>
  <PresentationFormat>全屏显示(16:9)</PresentationFormat>
  <Paragraphs>217</Paragraphs>
  <Slides>19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电工学模板</vt:lpstr>
      <vt:lpstr>Image</vt:lpstr>
      <vt:lpstr>Equation</vt:lpstr>
      <vt:lpstr>Visio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1190</cp:revision>
  <dcterms:modified xsi:type="dcterms:W3CDTF">2017-10-07T23:01:24Z</dcterms:modified>
</cp:coreProperties>
</file>