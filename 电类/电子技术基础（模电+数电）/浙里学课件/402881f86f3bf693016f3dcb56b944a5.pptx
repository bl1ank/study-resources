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414" r:id="rId3"/>
    <p:sldId id="442" r:id="rId4"/>
    <p:sldId id="415" r:id="rId5"/>
    <p:sldId id="417" r:id="rId6"/>
    <p:sldId id="418" r:id="rId7"/>
    <p:sldId id="419" r:id="rId8"/>
    <p:sldId id="420" r:id="rId9"/>
    <p:sldId id="443" r:id="rId10"/>
    <p:sldId id="421" r:id="rId11"/>
    <p:sldId id="422" r:id="rId12"/>
    <p:sldId id="423" r:id="rId13"/>
    <p:sldId id="42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44" r:id="rId22"/>
    <p:sldId id="393" r:id="rId2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96" autoAdjust="0"/>
    <p:restoredTop sz="94249" autoAdjust="0"/>
  </p:normalViewPr>
  <p:slideViewPr>
    <p:cSldViewPr snapToGrid="0">
      <p:cViewPr varScale="1">
        <p:scale>
          <a:sx n="55" d="100"/>
          <a:sy n="55" d="100"/>
        </p:scale>
        <p:origin x="-90" y="-5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1AD2-7476-45B4-814A-98B053717553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ED196-E9E0-4BA2-97A0-E51B0C3A5A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ED196-E9E0-4BA2-97A0-E51B0C3A5A37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EADA-3D95-48D2-89A7-07C72EA9446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89D3-DE2B-4AA4-9868-4C7F014F7B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7623-ACCE-456A-8C66-43C9A387D90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4AB-130B-495A-9AF9-6A07DC900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126F-8713-47A1-A13C-7B2F4F7A15DF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AF231-9D62-40D2-A1D5-0CF9E7FE9E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B2824-4A57-4DBC-B978-C06B332D1916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09AD2-B321-4804-8A0D-47B8447B8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6BF5-EB64-4B0B-9CAE-AD65C8D7E231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F820-5E9F-44C2-B5DB-D5F6705076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D9AE7-FE82-44FE-A373-FF6A95FFC760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59BB9-DD9C-4273-9461-0DC941E05E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0197D-47BA-44E5-B844-814C5892609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9AA4-51DB-47C7-8B7D-995F98166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5B22D-E6AC-4BF4-AD0D-FBB5464C39ED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2168E-CF0A-45EE-9C08-AD977B2F81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1A09-51D1-412B-A45E-EDBA5CF1DEA4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63D9-74C4-4539-B22F-C1B8A9AC22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22FA8-E42C-49BC-8AD4-3B7704EA5E87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C6C4-6EB4-4256-9C82-5DC44E4105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6AC6-C2AA-4616-BB04-0E06F71995C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0F57A-E9CA-492A-952A-099AE0B37D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D572CB-A546-489E-9812-17AAFBEE1A45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74A94E-6597-4439-BF7C-72D683715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Microsoft_Office_Word_97_-_2003___1.doc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Microsoft_Office_Word_97_-_2003___2.doc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9169" y="685347"/>
            <a:ext cx="6433230" cy="936625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 anchor="t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13.1  </a:t>
            </a:r>
            <a:r>
              <a:rPr lang="zh-CN" altLang="en-US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集成触发器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7656" y="1804602"/>
            <a:ext cx="4310743" cy="53975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、基本</a:t>
            </a: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RS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89728" y="2494938"/>
            <a:ext cx="6250757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、同步</a:t>
            </a: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RS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触发器和</a:t>
            </a: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锁存器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57070" y="3169853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、正边沿触发的</a:t>
            </a: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957071" y="3855652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、负边沿触发的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JK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44959" y="293745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、负边沿触发的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JK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grpSp>
        <p:nvGrpSpPr>
          <p:cNvPr id="9" name="Group 119"/>
          <p:cNvGrpSpPr>
            <a:grpSpLocks/>
          </p:cNvGrpSpPr>
          <p:nvPr/>
        </p:nvGrpSpPr>
        <p:grpSpPr bwMode="auto">
          <a:xfrm>
            <a:off x="643085" y="954379"/>
            <a:ext cx="6621463" cy="584200"/>
            <a:chOff x="385" y="3441"/>
            <a:chExt cx="4171" cy="368"/>
          </a:xfrm>
        </p:grpSpPr>
        <p:grpSp>
          <p:nvGrpSpPr>
            <p:cNvPr id="10" name="Group 106"/>
            <p:cNvGrpSpPr>
              <a:grpSpLocks/>
            </p:cNvGrpSpPr>
            <p:nvPr/>
          </p:nvGrpSpPr>
          <p:grpSpPr bwMode="auto">
            <a:xfrm>
              <a:off x="385" y="3441"/>
              <a:ext cx="4171" cy="368"/>
              <a:chOff x="249" y="3441"/>
              <a:chExt cx="4171" cy="368"/>
            </a:xfrm>
          </p:grpSpPr>
          <p:grpSp>
            <p:nvGrpSpPr>
              <p:cNvPr id="14" name="Group 105"/>
              <p:cNvGrpSpPr>
                <a:grpSpLocks/>
              </p:cNvGrpSpPr>
              <p:nvPr/>
            </p:nvGrpSpPr>
            <p:grpSpPr bwMode="auto">
              <a:xfrm>
                <a:off x="2501" y="3441"/>
                <a:ext cx="1919" cy="368"/>
                <a:chOff x="2501" y="3441"/>
                <a:chExt cx="1919" cy="368"/>
              </a:xfrm>
            </p:grpSpPr>
            <p:sp>
              <p:nvSpPr>
                <p:cNvPr id="16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501" y="3441"/>
                  <a:ext cx="1919" cy="368"/>
                </a:xfrm>
                <a:prstGeom prst="rect">
                  <a:avLst/>
                </a:prstGeom>
                <a:noFill/>
                <a:ln w="38100" cap="sq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r>
                    <a:rPr lang="en-US" altLang="zh-CN" sz="32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Q</a:t>
                  </a:r>
                  <a:r>
                    <a:rPr lang="en-US" altLang="zh-CN" sz="3200" b="1" i="1" baseline="30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n</a:t>
                  </a:r>
                  <a:r>
                    <a:rPr lang="en-US" altLang="zh-CN" sz="3200" b="1" i="0" baseline="30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+1</a:t>
                  </a:r>
                  <a:r>
                    <a:rPr lang="en-US" altLang="zh-CN" sz="3200" b="1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=</a:t>
                  </a:r>
                  <a:r>
                    <a:rPr lang="en-US" altLang="zh-CN" sz="32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J </a:t>
                  </a:r>
                  <a:r>
                    <a:rPr lang="en-US" altLang="zh-CN" sz="32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Q</a:t>
                  </a:r>
                  <a:r>
                    <a:rPr lang="en-US" altLang="zh-CN" sz="3200" b="1" i="1" baseline="30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n</a:t>
                  </a:r>
                  <a:r>
                    <a:rPr lang="en-US" altLang="zh-CN" sz="3200" b="1" i="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+</a:t>
                  </a:r>
                  <a:r>
                    <a:rPr lang="en-US" altLang="zh-CN" sz="32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KQ</a:t>
                  </a:r>
                  <a:r>
                    <a:rPr lang="en-US" altLang="zh-CN" sz="3200" b="1" i="1" baseline="30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n</a:t>
                  </a:r>
                  <a:endParaRPr lang="en-US" altLang="zh-CN" sz="3200" b="1" i="1" baseline="30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7" name="Line 7"/>
                <p:cNvSpPr>
                  <a:spLocks noChangeShapeType="1"/>
                </p:cNvSpPr>
                <p:nvPr/>
              </p:nvSpPr>
              <p:spPr bwMode="auto">
                <a:xfrm>
                  <a:off x="3939" y="3559"/>
                  <a:ext cx="120" cy="0"/>
                </a:xfrm>
                <a:prstGeom prst="line">
                  <a:avLst/>
                </a:prstGeom>
                <a:noFill/>
                <a:ln w="28575" cap="sq">
                  <a:noFill/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Line 97"/>
                <p:cNvSpPr>
                  <a:spLocks noChangeShapeType="1"/>
                </p:cNvSpPr>
                <p:nvPr/>
              </p:nvSpPr>
              <p:spPr bwMode="auto">
                <a:xfrm>
                  <a:off x="3515" y="3567"/>
                  <a:ext cx="136" cy="0"/>
                </a:xfrm>
                <a:prstGeom prst="line">
                  <a:avLst/>
                </a:prstGeom>
                <a:noFill/>
                <a:ln w="28575">
                  <a:noFill/>
                  <a:round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5" name="Rectangle 103"/>
              <p:cNvSpPr>
                <a:spLocks noChangeArrowheads="1"/>
              </p:cNvSpPr>
              <p:nvPr/>
            </p:nvSpPr>
            <p:spPr bwMode="auto">
              <a:xfrm>
                <a:off x="249" y="3475"/>
                <a:ext cx="2450" cy="331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JK</a:t>
                </a:r>
                <a:r>
                  <a:rPr lang="zh-CN" altLang="en-US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触发器的特性方程：</a:t>
                </a:r>
              </a:p>
            </p:txBody>
          </p:sp>
        </p:grpSp>
        <p:sp>
          <p:nvSpPr>
            <p:cNvPr id="11" name="Line 117"/>
            <p:cNvSpPr>
              <a:spLocks noChangeShapeType="1"/>
            </p:cNvSpPr>
            <p:nvPr/>
          </p:nvSpPr>
          <p:spPr bwMode="auto">
            <a:xfrm>
              <a:off x="3562" y="3498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Line 118"/>
            <p:cNvSpPr>
              <a:spLocks noChangeShapeType="1"/>
            </p:cNvSpPr>
            <p:nvPr/>
          </p:nvSpPr>
          <p:spPr bwMode="auto">
            <a:xfrm>
              <a:off x="3971" y="350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9" name="Object 135"/>
          <p:cNvGraphicFramePr>
            <a:graphicFrameLocks noChangeAspect="1"/>
          </p:cNvGraphicFramePr>
          <p:nvPr/>
        </p:nvGraphicFramePr>
        <p:xfrm>
          <a:off x="5642344" y="1724247"/>
          <a:ext cx="3276600" cy="3044825"/>
        </p:xfrm>
        <a:graphic>
          <a:graphicData uri="http://schemas.openxmlformats.org/presentationml/2006/ole">
            <p:oleObj spid="_x0000_s101377" name="Equation" r:id="rId4" imgW="1422360" imgH="1320480" progId="Equation.DSMT4">
              <p:embed/>
            </p:oleObj>
          </a:graphicData>
        </a:graphic>
      </p:graphicFrame>
      <p:grpSp>
        <p:nvGrpSpPr>
          <p:cNvPr id="114" name="组合 113"/>
          <p:cNvGrpSpPr/>
          <p:nvPr/>
        </p:nvGrpSpPr>
        <p:grpSpPr>
          <a:xfrm>
            <a:off x="351355" y="1660266"/>
            <a:ext cx="5067300" cy="3313113"/>
            <a:chOff x="744759" y="1830387"/>
            <a:chExt cx="5067300" cy="3313113"/>
          </a:xfrm>
        </p:grpSpPr>
        <p:sp>
          <p:nvSpPr>
            <p:cNvPr id="66" name="Freeform 138"/>
            <p:cNvSpPr>
              <a:spLocks/>
            </p:cNvSpPr>
            <p:nvPr/>
          </p:nvSpPr>
          <p:spPr bwMode="auto">
            <a:xfrm>
              <a:off x="852709" y="3632200"/>
              <a:ext cx="2447925" cy="1079500"/>
            </a:xfrm>
            <a:custGeom>
              <a:avLst/>
              <a:gdLst>
                <a:gd name="T0" fmla="*/ 1194 w 1991"/>
                <a:gd name="T1" fmla="*/ 0 h 509"/>
                <a:gd name="T2" fmla="*/ 1194 w 1991"/>
                <a:gd name="T3" fmla="*/ 908 h 509"/>
                <a:gd name="T4" fmla="*/ 0 w 1991"/>
                <a:gd name="T5" fmla="*/ 908 h 509"/>
                <a:gd name="T6" fmla="*/ 0 60000 65536"/>
                <a:gd name="T7" fmla="*/ 0 60000 65536"/>
                <a:gd name="T8" fmla="*/ 0 60000 65536"/>
                <a:gd name="T9" fmla="*/ 0 w 1991"/>
                <a:gd name="T10" fmla="*/ 0 h 509"/>
                <a:gd name="T11" fmla="*/ 1991 w 1991"/>
                <a:gd name="T12" fmla="*/ 509 h 5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1" h="509">
                  <a:moveTo>
                    <a:pt x="1991" y="0"/>
                  </a:moveTo>
                  <a:lnTo>
                    <a:pt x="1991" y="509"/>
                  </a:lnTo>
                  <a:lnTo>
                    <a:pt x="0" y="509"/>
                  </a:ln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139"/>
            <p:cNvSpPr>
              <a:spLocks noChangeShapeType="1"/>
            </p:cNvSpPr>
            <p:nvPr/>
          </p:nvSpPr>
          <p:spPr bwMode="auto">
            <a:xfrm flipH="1">
              <a:off x="779684" y="3775075"/>
              <a:ext cx="966788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Rectangle 140"/>
            <p:cNvSpPr>
              <a:spLocks noChangeArrowheads="1"/>
            </p:cNvSpPr>
            <p:nvPr/>
          </p:nvSpPr>
          <p:spPr bwMode="auto">
            <a:xfrm>
              <a:off x="1743297" y="4305300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355947"/>
                </a:gs>
                <a:gs pos="50000">
                  <a:srgbClr val="99FFCC"/>
                </a:gs>
                <a:gs pos="100000">
                  <a:srgbClr val="355947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141"/>
            <p:cNvSpPr>
              <a:spLocks noChangeShapeType="1"/>
            </p:cNvSpPr>
            <p:nvPr/>
          </p:nvSpPr>
          <p:spPr bwMode="auto">
            <a:xfrm flipV="1">
              <a:off x="778097" y="2336800"/>
              <a:ext cx="9652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Text Box 142"/>
            <p:cNvSpPr txBox="1">
              <a:spLocks noChangeArrowheads="1"/>
            </p:cNvSpPr>
            <p:nvPr/>
          </p:nvSpPr>
          <p:spPr bwMode="auto">
            <a:xfrm>
              <a:off x="808259" y="3344862"/>
              <a:ext cx="425116" cy="523220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K</a:t>
              </a:r>
            </a:p>
          </p:txBody>
        </p:sp>
        <p:sp>
          <p:nvSpPr>
            <p:cNvPr id="71" name="Text Box 143"/>
            <p:cNvSpPr txBox="1">
              <a:spLocks noChangeArrowheads="1"/>
            </p:cNvSpPr>
            <p:nvPr/>
          </p:nvSpPr>
          <p:spPr bwMode="auto">
            <a:xfrm>
              <a:off x="814609" y="1905000"/>
              <a:ext cx="344966" cy="523220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J</a:t>
              </a:r>
            </a:p>
          </p:txBody>
        </p:sp>
        <p:sp>
          <p:nvSpPr>
            <p:cNvPr id="72" name="Text Box 144"/>
            <p:cNvSpPr txBox="1">
              <a:spLocks noChangeArrowheads="1"/>
            </p:cNvSpPr>
            <p:nvPr/>
          </p:nvSpPr>
          <p:spPr bwMode="auto">
            <a:xfrm>
              <a:off x="744759" y="4208462"/>
              <a:ext cx="644728" cy="52322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800" b="1" i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CP</a:t>
              </a:r>
            </a:p>
          </p:txBody>
        </p:sp>
        <p:sp>
          <p:nvSpPr>
            <p:cNvPr id="73" name="Text Box 145"/>
            <p:cNvSpPr txBox="1">
              <a:spLocks noChangeArrowheads="1"/>
            </p:cNvSpPr>
            <p:nvPr/>
          </p:nvSpPr>
          <p:spPr bwMode="auto">
            <a:xfrm>
              <a:off x="1825847" y="4497387"/>
              <a:ext cx="387350" cy="45720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0">
                  <a:solidFill>
                    <a:srgbClr val="6633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  <a:r>
                <a:rPr lang="en-US" altLang="zh-CN" sz="2400" i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altLang="zh-CN" sz="2400" b="1" i="0">
                <a:solidFill>
                  <a:srgbClr val="FF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74" name="Line 146"/>
            <p:cNvSpPr>
              <a:spLocks noChangeShapeType="1"/>
            </p:cNvSpPr>
            <p:nvPr/>
          </p:nvSpPr>
          <p:spPr bwMode="auto">
            <a:xfrm flipV="1">
              <a:off x="1355947" y="3414712"/>
              <a:ext cx="458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75" name="Line 147"/>
            <p:cNvSpPr>
              <a:spLocks noChangeShapeType="1"/>
            </p:cNvSpPr>
            <p:nvPr/>
          </p:nvSpPr>
          <p:spPr bwMode="auto">
            <a:xfrm>
              <a:off x="2329084" y="2493964"/>
              <a:ext cx="4318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Line 148"/>
            <p:cNvSpPr>
              <a:spLocks noChangeShapeType="1"/>
            </p:cNvSpPr>
            <p:nvPr/>
          </p:nvSpPr>
          <p:spPr bwMode="auto">
            <a:xfrm flipV="1">
              <a:off x="1394047" y="2709864"/>
              <a:ext cx="393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78" name="Line 150"/>
            <p:cNvSpPr>
              <a:spLocks noChangeShapeType="1"/>
            </p:cNvSpPr>
            <p:nvPr/>
          </p:nvSpPr>
          <p:spPr bwMode="auto">
            <a:xfrm>
              <a:off x="2210022" y="3554413"/>
              <a:ext cx="287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79" name="Line 151"/>
            <p:cNvSpPr>
              <a:spLocks noChangeShapeType="1"/>
            </p:cNvSpPr>
            <p:nvPr/>
          </p:nvSpPr>
          <p:spPr bwMode="auto">
            <a:xfrm>
              <a:off x="3319684" y="2686050"/>
              <a:ext cx="6080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152"/>
            <p:cNvSpPr>
              <a:spLocks noChangeShapeType="1"/>
            </p:cNvSpPr>
            <p:nvPr/>
          </p:nvSpPr>
          <p:spPr bwMode="auto">
            <a:xfrm>
              <a:off x="5100859" y="2695575"/>
              <a:ext cx="71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154"/>
            <p:cNvSpPr>
              <a:spLocks noChangeShapeType="1"/>
            </p:cNvSpPr>
            <p:nvPr/>
          </p:nvSpPr>
          <p:spPr bwMode="auto">
            <a:xfrm>
              <a:off x="5212917" y="3548796"/>
              <a:ext cx="594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3" name="Group 155"/>
            <p:cNvGrpSpPr>
              <a:grpSpLocks/>
            </p:cNvGrpSpPr>
            <p:nvPr/>
          </p:nvGrpSpPr>
          <p:grpSpPr bwMode="auto">
            <a:xfrm>
              <a:off x="3803869" y="2336800"/>
              <a:ext cx="1333500" cy="1655763"/>
              <a:chOff x="4761" y="2659"/>
              <a:chExt cx="840" cy="1043"/>
            </a:xfrm>
          </p:grpSpPr>
          <p:sp>
            <p:nvSpPr>
              <p:cNvPr id="84" name="Rectangle 156"/>
              <p:cNvSpPr>
                <a:spLocks noChangeArrowheads="1"/>
              </p:cNvSpPr>
              <p:nvPr/>
            </p:nvSpPr>
            <p:spPr bwMode="auto">
              <a:xfrm>
                <a:off x="4830" y="2659"/>
                <a:ext cx="771" cy="1043"/>
              </a:xfrm>
              <a:prstGeom prst="rect">
                <a:avLst/>
              </a:prstGeom>
              <a:gradFill rotWithShape="1"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2700000" scaled="0"/>
              </a:gradFill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Text Box 157"/>
              <p:cNvSpPr txBox="1">
                <a:spLocks noChangeArrowheads="1"/>
              </p:cNvSpPr>
              <p:nvPr/>
            </p:nvSpPr>
            <p:spPr bwMode="auto">
              <a:xfrm>
                <a:off x="4926" y="3339"/>
                <a:ext cx="24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US" altLang="zh-CN" sz="3200" b="1" i="1" dirty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6" name="Text Box 158"/>
              <p:cNvSpPr txBox="1">
                <a:spLocks noChangeArrowheads="1"/>
              </p:cNvSpPr>
              <p:nvPr/>
            </p:nvSpPr>
            <p:spPr bwMode="auto">
              <a:xfrm>
                <a:off x="5334" y="2795"/>
                <a:ext cx="255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  <a:endParaRPr lang="en-US" altLang="zh-CN" sz="3200" b="1" i="1" dirty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7" name="Text Box 159"/>
              <p:cNvSpPr txBox="1">
                <a:spLocks noChangeArrowheads="1"/>
              </p:cNvSpPr>
              <p:nvPr/>
            </p:nvSpPr>
            <p:spPr bwMode="auto">
              <a:xfrm>
                <a:off x="5334" y="3339"/>
                <a:ext cx="255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  <a:endParaRPr lang="en-US" altLang="zh-CN" sz="3200" b="1" i="1" dirty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8" name="Line 160"/>
              <p:cNvSpPr>
                <a:spLocks noChangeShapeType="1"/>
              </p:cNvSpPr>
              <p:nvPr/>
            </p:nvSpPr>
            <p:spPr bwMode="auto">
              <a:xfrm>
                <a:off x="5420" y="3385"/>
                <a:ext cx="96" cy="0"/>
              </a:xfrm>
              <a:prstGeom prst="line">
                <a:avLst/>
              </a:prstGeom>
              <a:noFill/>
              <a:ln w="38100">
                <a:noFill/>
                <a:round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Text Box 161"/>
              <p:cNvSpPr txBox="1">
                <a:spLocks noChangeArrowheads="1"/>
              </p:cNvSpPr>
              <p:nvPr/>
            </p:nvSpPr>
            <p:spPr bwMode="auto">
              <a:xfrm>
                <a:off x="4761" y="3240"/>
                <a:ext cx="274" cy="404"/>
              </a:xfrm>
              <a:prstGeom prst="rect">
                <a:avLst/>
              </a:prstGeom>
              <a:noFill/>
              <a:ln w="38100" cap="sq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600" b="1" i="0" dirty="0">
                    <a:solidFill>
                      <a:srgbClr val="996633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  <a:sym typeface="Symbol" pitchFamily="18" charset="2"/>
                  </a:rPr>
                  <a:t></a:t>
                </a:r>
                <a:endParaRPr lang="en-US" altLang="zh-CN" sz="3600" b="1" i="0" dirty="0">
                  <a:solidFill>
                    <a:srgbClr val="996633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90" name="Text Box 162"/>
              <p:cNvSpPr txBox="1">
                <a:spLocks noChangeArrowheads="1"/>
              </p:cNvSpPr>
              <p:nvPr/>
            </p:nvSpPr>
            <p:spPr bwMode="auto">
              <a:xfrm>
                <a:off x="4876" y="2795"/>
                <a:ext cx="255" cy="288"/>
              </a:xfrm>
              <a:prstGeom prst="rect">
                <a:avLst/>
              </a:prstGeom>
              <a:noFill/>
              <a:ln w="38100" cap="sq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D</a:t>
                </a:r>
              </a:p>
            </p:txBody>
          </p:sp>
        </p:grpSp>
        <p:sp>
          <p:nvSpPr>
            <p:cNvPr id="91" name="Rectangle 163"/>
            <p:cNvSpPr>
              <a:spLocks noChangeArrowheads="1"/>
            </p:cNvSpPr>
            <p:nvPr/>
          </p:nvSpPr>
          <p:spPr bwMode="auto">
            <a:xfrm>
              <a:off x="1748059" y="2062162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47765E"/>
                </a:gs>
                <a:gs pos="50000">
                  <a:srgbClr val="99FFCC"/>
                </a:gs>
                <a:gs pos="100000">
                  <a:srgbClr val="47765E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Text Box 164"/>
            <p:cNvSpPr txBox="1">
              <a:spLocks noChangeArrowheads="1"/>
            </p:cNvSpPr>
            <p:nvPr/>
          </p:nvSpPr>
          <p:spPr bwMode="auto">
            <a:xfrm>
              <a:off x="1875059" y="2290762"/>
              <a:ext cx="184150" cy="45720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altLang="zh-CN" sz="2400" b="1" i="0">
                <a:solidFill>
                  <a:srgbClr val="008000"/>
                </a:solidFill>
                <a:ea typeface="幼圆" pitchFamily="49" charset="-122"/>
              </a:endParaRPr>
            </a:p>
          </p:txBody>
        </p:sp>
        <p:sp>
          <p:nvSpPr>
            <p:cNvPr id="93" name="Oval 165"/>
            <p:cNvSpPr>
              <a:spLocks noChangeArrowheads="1"/>
            </p:cNvSpPr>
            <p:nvPr/>
          </p:nvSpPr>
          <p:spPr bwMode="auto">
            <a:xfrm>
              <a:off x="2205259" y="2444749"/>
              <a:ext cx="108000" cy="108000"/>
            </a:xfrm>
            <a:prstGeom prst="ellipse">
              <a:avLst/>
            </a:prstGeom>
            <a:solidFill>
              <a:srgbClr val="99FFCC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" name="Rectangle 166"/>
            <p:cNvSpPr>
              <a:spLocks noChangeArrowheads="1"/>
            </p:cNvSpPr>
            <p:nvPr/>
          </p:nvSpPr>
          <p:spPr bwMode="auto">
            <a:xfrm>
              <a:off x="2760884" y="2263775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47765E"/>
                </a:gs>
                <a:gs pos="50000">
                  <a:srgbClr val="99FFCC"/>
                </a:gs>
                <a:gs pos="100000">
                  <a:srgbClr val="47765E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" name="Oval 167"/>
            <p:cNvSpPr>
              <a:spLocks noChangeArrowheads="1"/>
            </p:cNvSpPr>
            <p:nvPr/>
          </p:nvSpPr>
          <p:spPr bwMode="auto">
            <a:xfrm>
              <a:off x="3218084" y="2646361"/>
              <a:ext cx="108000" cy="108000"/>
            </a:xfrm>
            <a:prstGeom prst="ellipse">
              <a:avLst/>
            </a:prstGeom>
            <a:gradFill rotWithShape="1">
              <a:gsLst>
                <a:gs pos="0">
                  <a:srgbClr val="2F765E"/>
                </a:gs>
                <a:gs pos="50000">
                  <a:srgbClr val="66FFCC"/>
                </a:gs>
                <a:gs pos="100000">
                  <a:srgbClr val="2F765E"/>
                </a:gs>
              </a:gsLst>
              <a:lin ang="2700000" scaled="1"/>
            </a:gra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6" name="Rectangle 168"/>
            <p:cNvSpPr>
              <a:spLocks noChangeArrowheads="1"/>
            </p:cNvSpPr>
            <p:nvPr/>
          </p:nvSpPr>
          <p:spPr bwMode="auto">
            <a:xfrm>
              <a:off x="1752822" y="3127375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2F4E3E"/>
                </a:gs>
                <a:gs pos="50000">
                  <a:srgbClr val="99FFCC"/>
                </a:gs>
                <a:gs pos="100000">
                  <a:srgbClr val="2F4E3E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7" name="Text Box 169"/>
            <p:cNvSpPr txBox="1">
              <a:spLocks noChangeArrowheads="1"/>
            </p:cNvSpPr>
            <p:nvPr/>
          </p:nvSpPr>
          <p:spPr bwMode="auto">
            <a:xfrm>
              <a:off x="1754409" y="3344862"/>
              <a:ext cx="438150" cy="45720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0">
                  <a:solidFill>
                    <a:srgbClr val="663300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&amp;</a:t>
              </a:r>
            </a:p>
          </p:txBody>
        </p:sp>
        <p:sp>
          <p:nvSpPr>
            <p:cNvPr id="98" name="Line 170"/>
            <p:cNvSpPr>
              <a:spLocks noChangeShapeType="1"/>
            </p:cNvSpPr>
            <p:nvPr/>
          </p:nvSpPr>
          <p:spPr bwMode="auto">
            <a:xfrm>
              <a:off x="3300634" y="3632200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Oval 171"/>
            <p:cNvSpPr>
              <a:spLocks noChangeArrowheads="1"/>
            </p:cNvSpPr>
            <p:nvPr/>
          </p:nvSpPr>
          <p:spPr bwMode="auto">
            <a:xfrm>
              <a:off x="2175097" y="4660899"/>
              <a:ext cx="108000" cy="108000"/>
            </a:xfrm>
            <a:prstGeom prst="ellipse">
              <a:avLst/>
            </a:prstGeom>
            <a:solidFill>
              <a:srgbClr val="99FFCC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0" name="Rectangle 172"/>
            <p:cNvSpPr>
              <a:spLocks noChangeArrowheads="1"/>
            </p:cNvSpPr>
            <p:nvPr/>
          </p:nvSpPr>
          <p:spPr bwMode="auto">
            <a:xfrm>
              <a:off x="1681384" y="2265362"/>
              <a:ext cx="423812" cy="371513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b="1" i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rPr>
                <a:t>≥1</a:t>
              </a:r>
            </a:p>
          </p:txBody>
        </p:sp>
        <p:sp>
          <p:nvSpPr>
            <p:cNvPr id="107" name="Rectangle 173"/>
            <p:cNvSpPr>
              <a:spLocks noChangeArrowheads="1"/>
            </p:cNvSpPr>
            <p:nvPr/>
          </p:nvSpPr>
          <p:spPr bwMode="auto">
            <a:xfrm>
              <a:off x="2689447" y="2481262"/>
              <a:ext cx="423812" cy="371513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b="1" i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rPr>
                <a:t>≥1</a:t>
              </a:r>
            </a:p>
          </p:txBody>
        </p:sp>
        <p:sp>
          <p:nvSpPr>
            <p:cNvPr id="108" name="Line 174"/>
            <p:cNvSpPr>
              <a:spLocks noChangeShapeType="1"/>
            </p:cNvSpPr>
            <p:nvPr/>
          </p:nvSpPr>
          <p:spPr bwMode="auto">
            <a:xfrm flipV="1">
              <a:off x="1355947" y="1831975"/>
              <a:ext cx="0" cy="1584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09" name="Line 175"/>
            <p:cNvSpPr>
              <a:spLocks noChangeShapeType="1"/>
            </p:cNvSpPr>
            <p:nvPr/>
          </p:nvSpPr>
          <p:spPr bwMode="auto">
            <a:xfrm>
              <a:off x="1355947" y="1831975"/>
              <a:ext cx="4032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10" name="Line 176"/>
            <p:cNvSpPr>
              <a:spLocks noChangeShapeType="1"/>
            </p:cNvSpPr>
            <p:nvPr/>
          </p:nvSpPr>
          <p:spPr bwMode="auto">
            <a:xfrm>
              <a:off x="5386609" y="1830387"/>
              <a:ext cx="0" cy="863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11" name="Rectangle 177"/>
            <p:cNvSpPr>
              <a:spLocks noChangeArrowheads="1"/>
            </p:cNvSpPr>
            <p:nvPr/>
          </p:nvSpPr>
          <p:spPr bwMode="auto">
            <a:xfrm>
              <a:off x="3913409" y="2336800"/>
              <a:ext cx="1223963" cy="1655763"/>
            </a:xfrm>
            <a:prstGeom prst="rect">
              <a:avLst/>
            </a:prstGeom>
            <a:noFill/>
            <a:ln w="9525">
              <a:solidFill>
                <a:srgbClr val="FFCCCC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pPr algn="ctr"/>
              <a:endParaRPr lang="en-US" altLang="zh-CN" sz="3200" i="0">
                <a:solidFill>
                  <a:srgbClr val="996633"/>
                </a:solidFill>
              </a:endParaRPr>
            </a:p>
          </p:txBody>
        </p:sp>
        <p:sp>
          <p:nvSpPr>
            <p:cNvPr id="112" name="Line 178"/>
            <p:cNvSpPr>
              <a:spLocks noChangeShapeType="1"/>
            </p:cNvSpPr>
            <p:nvPr/>
          </p:nvSpPr>
          <p:spPr bwMode="auto">
            <a:xfrm>
              <a:off x="4777009" y="3487737"/>
              <a:ext cx="288925" cy="0"/>
            </a:xfrm>
            <a:prstGeom prst="line">
              <a:avLst/>
            </a:prstGeom>
            <a:noFill/>
            <a:ln w="38100">
              <a:solidFill>
                <a:srgbClr val="663300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13" name="Oval 179"/>
            <p:cNvSpPr>
              <a:spLocks noChangeArrowheads="1"/>
            </p:cNvSpPr>
            <p:nvPr/>
          </p:nvSpPr>
          <p:spPr bwMode="auto">
            <a:xfrm>
              <a:off x="1311497" y="2662236"/>
              <a:ext cx="108000" cy="108000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" name="Oval 153"/>
            <p:cNvSpPr>
              <a:spLocks noChangeArrowheads="1"/>
            </p:cNvSpPr>
            <p:nvPr/>
          </p:nvSpPr>
          <p:spPr bwMode="auto">
            <a:xfrm>
              <a:off x="5100859" y="3487737"/>
              <a:ext cx="108000" cy="1080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146"/>
            <p:cNvSpPr>
              <a:spLocks noChangeShapeType="1"/>
            </p:cNvSpPr>
            <p:nvPr/>
          </p:nvSpPr>
          <p:spPr bwMode="auto">
            <a:xfrm flipV="1">
              <a:off x="2513235" y="2919413"/>
              <a:ext cx="25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57" name="Line 176"/>
            <p:cNvSpPr>
              <a:spLocks noChangeShapeType="1"/>
            </p:cNvSpPr>
            <p:nvPr/>
          </p:nvSpPr>
          <p:spPr bwMode="auto">
            <a:xfrm>
              <a:off x="2514820" y="2911476"/>
              <a:ext cx="0" cy="6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44959" y="293745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、负边沿触发的</a:t>
            </a: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JK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触发器</a:t>
            </a:r>
          </a:p>
        </p:txBody>
      </p:sp>
      <p:graphicFrame>
        <p:nvGraphicFramePr>
          <p:cNvPr id="20" name="Object 136"/>
          <p:cNvGraphicFramePr>
            <a:graphicFrameLocks noChangeAspect="1"/>
          </p:cNvGraphicFramePr>
          <p:nvPr/>
        </p:nvGraphicFramePr>
        <p:xfrm>
          <a:off x="5663240" y="2204928"/>
          <a:ext cx="3044825" cy="1238250"/>
        </p:xfrm>
        <a:graphic>
          <a:graphicData uri="http://schemas.openxmlformats.org/presentationml/2006/ole">
            <p:oleObj spid="_x0000_s128003" name="公式" r:id="rId5" imgW="1180800" imgH="482400" progId="Equation.3">
              <p:embed/>
            </p:oleObj>
          </a:graphicData>
        </a:graphic>
      </p:graphicFrame>
      <p:sp>
        <p:nvSpPr>
          <p:cNvPr id="64" name="Text Box 180"/>
          <p:cNvSpPr txBox="1">
            <a:spLocks noChangeArrowheads="1"/>
          </p:cNvSpPr>
          <p:nvPr/>
        </p:nvSpPr>
        <p:spPr bwMode="auto">
          <a:xfrm>
            <a:off x="723014" y="1025008"/>
            <a:ext cx="4582633" cy="523220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square" anchor="ctr">
            <a:spAutoFit/>
          </a:bodyPr>
          <a:lstStyle/>
          <a:p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触发器转换为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65" name="Text Box 191"/>
          <p:cNvSpPr txBox="1">
            <a:spLocks noChangeArrowheads="1"/>
          </p:cNvSpPr>
          <p:nvPr/>
        </p:nvSpPr>
        <p:spPr bwMode="auto">
          <a:xfrm>
            <a:off x="3218600" y="4294705"/>
            <a:ext cx="34905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下降沿时刻有效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351355" y="1660266"/>
            <a:ext cx="5067300" cy="3313113"/>
            <a:chOff x="744759" y="1830387"/>
            <a:chExt cx="5067300" cy="3313113"/>
          </a:xfrm>
        </p:grpSpPr>
        <p:sp>
          <p:nvSpPr>
            <p:cNvPr id="50" name="Freeform 138"/>
            <p:cNvSpPr>
              <a:spLocks/>
            </p:cNvSpPr>
            <p:nvPr/>
          </p:nvSpPr>
          <p:spPr bwMode="auto">
            <a:xfrm>
              <a:off x="852709" y="3632200"/>
              <a:ext cx="2447925" cy="1079500"/>
            </a:xfrm>
            <a:custGeom>
              <a:avLst/>
              <a:gdLst>
                <a:gd name="T0" fmla="*/ 1194 w 1991"/>
                <a:gd name="T1" fmla="*/ 0 h 509"/>
                <a:gd name="T2" fmla="*/ 1194 w 1991"/>
                <a:gd name="T3" fmla="*/ 908 h 509"/>
                <a:gd name="T4" fmla="*/ 0 w 1991"/>
                <a:gd name="T5" fmla="*/ 908 h 509"/>
                <a:gd name="T6" fmla="*/ 0 60000 65536"/>
                <a:gd name="T7" fmla="*/ 0 60000 65536"/>
                <a:gd name="T8" fmla="*/ 0 60000 65536"/>
                <a:gd name="T9" fmla="*/ 0 w 1991"/>
                <a:gd name="T10" fmla="*/ 0 h 509"/>
                <a:gd name="T11" fmla="*/ 1991 w 1991"/>
                <a:gd name="T12" fmla="*/ 509 h 5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1" h="509">
                  <a:moveTo>
                    <a:pt x="1991" y="0"/>
                  </a:moveTo>
                  <a:lnTo>
                    <a:pt x="1991" y="509"/>
                  </a:lnTo>
                  <a:lnTo>
                    <a:pt x="0" y="509"/>
                  </a:ln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139"/>
            <p:cNvSpPr>
              <a:spLocks noChangeShapeType="1"/>
            </p:cNvSpPr>
            <p:nvPr/>
          </p:nvSpPr>
          <p:spPr bwMode="auto">
            <a:xfrm flipH="1">
              <a:off x="779684" y="3775075"/>
              <a:ext cx="966788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Rectangle 140"/>
            <p:cNvSpPr>
              <a:spLocks noChangeArrowheads="1"/>
            </p:cNvSpPr>
            <p:nvPr/>
          </p:nvSpPr>
          <p:spPr bwMode="auto">
            <a:xfrm>
              <a:off x="1743297" y="4305300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355947"/>
                </a:gs>
                <a:gs pos="50000">
                  <a:srgbClr val="99FFCC"/>
                </a:gs>
                <a:gs pos="100000">
                  <a:srgbClr val="355947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141"/>
            <p:cNvSpPr>
              <a:spLocks noChangeShapeType="1"/>
            </p:cNvSpPr>
            <p:nvPr/>
          </p:nvSpPr>
          <p:spPr bwMode="auto">
            <a:xfrm flipV="1">
              <a:off x="778097" y="2336800"/>
              <a:ext cx="9652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Text Box 142"/>
            <p:cNvSpPr txBox="1">
              <a:spLocks noChangeArrowheads="1"/>
            </p:cNvSpPr>
            <p:nvPr/>
          </p:nvSpPr>
          <p:spPr bwMode="auto">
            <a:xfrm>
              <a:off x="808259" y="3344862"/>
              <a:ext cx="425116" cy="523220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K</a:t>
              </a:r>
            </a:p>
          </p:txBody>
        </p:sp>
        <p:sp>
          <p:nvSpPr>
            <p:cNvPr id="55" name="Text Box 143"/>
            <p:cNvSpPr txBox="1">
              <a:spLocks noChangeArrowheads="1"/>
            </p:cNvSpPr>
            <p:nvPr/>
          </p:nvSpPr>
          <p:spPr bwMode="auto">
            <a:xfrm>
              <a:off x="814609" y="1905000"/>
              <a:ext cx="344966" cy="523220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J</a:t>
              </a:r>
            </a:p>
          </p:txBody>
        </p:sp>
        <p:sp>
          <p:nvSpPr>
            <p:cNvPr id="56" name="Text Box 144"/>
            <p:cNvSpPr txBox="1">
              <a:spLocks noChangeArrowheads="1"/>
            </p:cNvSpPr>
            <p:nvPr/>
          </p:nvSpPr>
          <p:spPr bwMode="auto">
            <a:xfrm>
              <a:off x="744759" y="4208462"/>
              <a:ext cx="644728" cy="52322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800" b="1" i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CP</a:t>
              </a:r>
            </a:p>
          </p:txBody>
        </p:sp>
        <p:sp>
          <p:nvSpPr>
            <p:cNvPr id="57" name="Text Box 145"/>
            <p:cNvSpPr txBox="1">
              <a:spLocks noChangeArrowheads="1"/>
            </p:cNvSpPr>
            <p:nvPr/>
          </p:nvSpPr>
          <p:spPr bwMode="auto">
            <a:xfrm>
              <a:off x="1825847" y="4497387"/>
              <a:ext cx="387350" cy="45720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0">
                  <a:solidFill>
                    <a:srgbClr val="6633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  <a:r>
                <a:rPr lang="en-US" altLang="zh-CN" sz="2400" i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altLang="zh-CN" sz="2400" b="1" i="0">
                <a:solidFill>
                  <a:srgbClr val="FF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58" name="Line 146"/>
            <p:cNvSpPr>
              <a:spLocks noChangeShapeType="1"/>
            </p:cNvSpPr>
            <p:nvPr/>
          </p:nvSpPr>
          <p:spPr bwMode="auto">
            <a:xfrm flipV="1">
              <a:off x="1355947" y="3414712"/>
              <a:ext cx="458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59" name="Line 147"/>
            <p:cNvSpPr>
              <a:spLocks noChangeShapeType="1"/>
            </p:cNvSpPr>
            <p:nvPr/>
          </p:nvSpPr>
          <p:spPr bwMode="auto">
            <a:xfrm>
              <a:off x="2329084" y="2493964"/>
              <a:ext cx="4318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Line 148"/>
            <p:cNvSpPr>
              <a:spLocks noChangeShapeType="1"/>
            </p:cNvSpPr>
            <p:nvPr/>
          </p:nvSpPr>
          <p:spPr bwMode="auto">
            <a:xfrm flipV="1">
              <a:off x="1394047" y="2709864"/>
              <a:ext cx="393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67" name="Line 150"/>
            <p:cNvSpPr>
              <a:spLocks noChangeShapeType="1"/>
            </p:cNvSpPr>
            <p:nvPr/>
          </p:nvSpPr>
          <p:spPr bwMode="auto">
            <a:xfrm>
              <a:off x="2210022" y="3554413"/>
              <a:ext cx="287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68" name="Line 151"/>
            <p:cNvSpPr>
              <a:spLocks noChangeShapeType="1"/>
            </p:cNvSpPr>
            <p:nvPr/>
          </p:nvSpPr>
          <p:spPr bwMode="auto">
            <a:xfrm>
              <a:off x="3319684" y="2686050"/>
              <a:ext cx="6080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152"/>
            <p:cNvSpPr>
              <a:spLocks noChangeShapeType="1"/>
            </p:cNvSpPr>
            <p:nvPr/>
          </p:nvSpPr>
          <p:spPr bwMode="auto">
            <a:xfrm>
              <a:off x="5100859" y="2695575"/>
              <a:ext cx="71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154"/>
            <p:cNvSpPr>
              <a:spLocks noChangeShapeType="1"/>
            </p:cNvSpPr>
            <p:nvPr/>
          </p:nvSpPr>
          <p:spPr bwMode="auto">
            <a:xfrm>
              <a:off x="5212917" y="3548796"/>
              <a:ext cx="594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1" name="Group 155"/>
            <p:cNvGrpSpPr>
              <a:grpSpLocks/>
            </p:cNvGrpSpPr>
            <p:nvPr/>
          </p:nvGrpSpPr>
          <p:grpSpPr bwMode="auto">
            <a:xfrm>
              <a:off x="3803875" y="2336800"/>
              <a:ext cx="1333501" cy="1655763"/>
              <a:chOff x="4761" y="2659"/>
              <a:chExt cx="840" cy="1043"/>
            </a:xfrm>
          </p:grpSpPr>
          <p:sp>
            <p:nvSpPr>
              <p:cNvPr id="93" name="Rectangle 156"/>
              <p:cNvSpPr>
                <a:spLocks noChangeArrowheads="1"/>
              </p:cNvSpPr>
              <p:nvPr/>
            </p:nvSpPr>
            <p:spPr bwMode="auto">
              <a:xfrm>
                <a:off x="4830" y="2659"/>
                <a:ext cx="771" cy="1043"/>
              </a:xfrm>
              <a:prstGeom prst="rect">
                <a:avLst/>
              </a:prstGeom>
              <a:gradFill rotWithShape="1"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2700000" scaled="0"/>
              </a:gradFill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Text Box 157"/>
              <p:cNvSpPr txBox="1">
                <a:spLocks noChangeArrowheads="1"/>
              </p:cNvSpPr>
              <p:nvPr/>
            </p:nvSpPr>
            <p:spPr bwMode="auto">
              <a:xfrm>
                <a:off x="4926" y="3339"/>
                <a:ext cx="24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endParaRPr lang="en-US" altLang="zh-CN" sz="3200" b="1" i="1" dirty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Text Box 158"/>
              <p:cNvSpPr txBox="1">
                <a:spLocks noChangeArrowheads="1"/>
              </p:cNvSpPr>
              <p:nvPr/>
            </p:nvSpPr>
            <p:spPr bwMode="auto">
              <a:xfrm>
                <a:off x="5334" y="2795"/>
                <a:ext cx="255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  <a:endParaRPr lang="en-US" altLang="zh-CN" sz="3200" b="1" i="1" dirty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Text Box 159"/>
              <p:cNvSpPr txBox="1">
                <a:spLocks noChangeArrowheads="1"/>
              </p:cNvSpPr>
              <p:nvPr/>
            </p:nvSpPr>
            <p:spPr bwMode="auto">
              <a:xfrm>
                <a:off x="5334" y="3339"/>
                <a:ext cx="255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  <a:endParaRPr lang="en-US" altLang="zh-CN" sz="3200" b="1" i="1" dirty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Line 160"/>
              <p:cNvSpPr>
                <a:spLocks noChangeShapeType="1"/>
              </p:cNvSpPr>
              <p:nvPr/>
            </p:nvSpPr>
            <p:spPr bwMode="auto">
              <a:xfrm>
                <a:off x="5420" y="3385"/>
                <a:ext cx="96" cy="0"/>
              </a:xfrm>
              <a:prstGeom prst="line">
                <a:avLst/>
              </a:prstGeom>
              <a:noFill/>
              <a:ln w="38100">
                <a:noFill/>
                <a:round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Text Box 161"/>
              <p:cNvSpPr txBox="1">
                <a:spLocks noChangeArrowheads="1"/>
              </p:cNvSpPr>
              <p:nvPr/>
            </p:nvSpPr>
            <p:spPr bwMode="auto">
              <a:xfrm>
                <a:off x="4761" y="3240"/>
                <a:ext cx="274" cy="404"/>
              </a:xfrm>
              <a:prstGeom prst="rect">
                <a:avLst/>
              </a:prstGeom>
              <a:noFill/>
              <a:ln w="38100" cap="sq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600" b="1" i="0" dirty="0">
                    <a:solidFill>
                      <a:srgbClr val="996633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  <a:sym typeface="Symbol" pitchFamily="18" charset="2"/>
                  </a:rPr>
                  <a:t></a:t>
                </a:r>
                <a:endParaRPr lang="en-US" altLang="zh-CN" sz="3600" b="1" i="0" dirty="0">
                  <a:solidFill>
                    <a:srgbClr val="996633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99" name="Text Box 162"/>
              <p:cNvSpPr txBox="1">
                <a:spLocks noChangeArrowheads="1"/>
              </p:cNvSpPr>
              <p:nvPr/>
            </p:nvSpPr>
            <p:spPr bwMode="auto">
              <a:xfrm>
                <a:off x="4876" y="2795"/>
                <a:ext cx="255" cy="288"/>
              </a:xfrm>
              <a:prstGeom prst="rect">
                <a:avLst/>
              </a:prstGeom>
              <a:noFill/>
              <a:ln w="38100" cap="sq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rgbClr val="6633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D</a:t>
                </a:r>
              </a:p>
            </p:txBody>
          </p:sp>
        </p:grpSp>
        <p:sp>
          <p:nvSpPr>
            <p:cNvPr id="72" name="Rectangle 163"/>
            <p:cNvSpPr>
              <a:spLocks noChangeArrowheads="1"/>
            </p:cNvSpPr>
            <p:nvPr/>
          </p:nvSpPr>
          <p:spPr bwMode="auto">
            <a:xfrm>
              <a:off x="1748059" y="2062162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47765E"/>
                </a:gs>
                <a:gs pos="50000">
                  <a:srgbClr val="99FFCC"/>
                </a:gs>
                <a:gs pos="100000">
                  <a:srgbClr val="47765E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Text Box 164"/>
            <p:cNvSpPr txBox="1">
              <a:spLocks noChangeArrowheads="1"/>
            </p:cNvSpPr>
            <p:nvPr/>
          </p:nvSpPr>
          <p:spPr bwMode="auto">
            <a:xfrm>
              <a:off x="1875059" y="2290762"/>
              <a:ext cx="184150" cy="45720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en-US" altLang="zh-CN" sz="2400" b="1" i="0">
                <a:solidFill>
                  <a:srgbClr val="008000"/>
                </a:solidFill>
                <a:ea typeface="幼圆" pitchFamily="49" charset="-122"/>
              </a:endParaRPr>
            </a:p>
          </p:txBody>
        </p:sp>
        <p:sp>
          <p:nvSpPr>
            <p:cNvPr id="74" name="Oval 165"/>
            <p:cNvSpPr>
              <a:spLocks noChangeArrowheads="1"/>
            </p:cNvSpPr>
            <p:nvPr/>
          </p:nvSpPr>
          <p:spPr bwMode="auto">
            <a:xfrm>
              <a:off x="2205259" y="2444749"/>
              <a:ext cx="108000" cy="108000"/>
            </a:xfrm>
            <a:prstGeom prst="ellipse">
              <a:avLst/>
            </a:prstGeom>
            <a:solidFill>
              <a:srgbClr val="99FFCC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Rectangle 166"/>
            <p:cNvSpPr>
              <a:spLocks noChangeArrowheads="1"/>
            </p:cNvSpPr>
            <p:nvPr/>
          </p:nvSpPr>
          <p:spPr bwMode="auto">
            <a:xfrm>
              <a:off x="2760884" y="2263775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47765E"/>
                </a:gs>
                <a:gs pos="50000">
                  <a:srgbClr val="99FFCC"/>
                </a:gs>
                <a:gs pos="100000">
                  <a:srgbClr val="47765E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Oval 167"/>
            <p:cNvSpPr>
              <a:spLocks noChangeArrowheads="1"/>
            </p:cNvSpPr>
            <p:nvPr/>
          </p:nvSpPr>
          <p:spPr bwMode="auto">
            <a:xfrm>
              <a:off x="3218084" y="2646361"/>
              <a:ext cx="108000" cy="108000"/>
            </a:xfrm>
            <a:prstGeom prst="ellipse">
              <a:avLst/>
            </a:prstGeom>
            <a:gradFill rotWithShape="1">
              <a:gsLst>
                <a:gs pos="0">
                  <a:srgbClr val="2F765E"/>
                </a:gs>
                <a:gs pos="50000">
                  <a:srgbClr val="66FFCC"/>
                </a:gs>
                <a:gs pos="100000">
                  <a:srgbClr val="2F765E"/>
                </a:gs>
              </a:gsLst>
              <a:lin ang="2700000" scaled="1"/>
            </a:gra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Rectangle 168"/>
            <p:cNvSpPr>
              <a:spLocks noChangeArrowheads="1"/>
            </p:cNvSpPr>
            <p:nvPr/>
          </p:nvSpPr>
          <p:spPr bwMode="auto">
            <a:xfrm>
              <a:off x="1752822" y="3127375"/>
              <a:ext cx="457200" cy="838200"/>
            </a:xfrm>
            <a:prstGeom prst="rect">
              <a:avLst/>
            </a:prstGeom>
            <a:gradFill rotWithShape="1">
              <a:gsLst>
                <a:gs pos="0">
                  <a:srgbClr val="2F4E3E"/>
                </a:gs>
                <a:gs pos="50000">
                  <a:srgbClr val="99FFCC"/>
                </a:gs>
                <a:gs pos="100000">
                  <a:srgbClr val="2F4E3E"/>
                </a:gs>
              </a:gsLst>
              <a:lin ang="0" scaled="1"/>
            </a:gradFill>
            <a:ln w="6350" cap="sq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8" name="Text Box 169"/>
            <p:cNvSpPr txBox="1">
              <a:spLocks noChangeArrowheads="1"/>
            </p:cNvSpPr>
            <p:nvPr/>
          </p:nvSpPr>
          <p:spPr bwMode="auto">
            <a:xfrm>
              <a:off x="1754409" y="3344862"/>
              <a:ext cx="438150" cy="45720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i="0">
                  <a:solidFill>
                    <a:srgbClr val="663300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&amp;</a:t>
              </a:r>
            </a:p>
          </p:txBody>
        </p:sp>
        <p:sp>
          <p:nvSpPr>
            <p:cNvPr id="79" name="Line 170"/>
            <p:cNvSpPr>
              <a:spLocks noChangeShapeType="1"/>
            </p:cNvSpPr>
            <p:nvPr/>
          </p:nvSpPr>
          <p:spPr bwMode="auto">
            <a:xfrm>
              <a:off x="3300634" y="3632200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Oval 171"/>
            <p:cNvSpPr>
              <a:spLocks noChangeArrowheads="1"/>
            </p:cNvSpPr>
            <p:nvPr/>
          </p:nvSpPr>
          <p:spPr bwMode="auto">
            <a:xfrm>
              <a:off x="2175097" y="4660899"/>
              <a:ext cx="108000" cy="108000"/>
            </a:xfrm>
            <a:prstGeom prst="ellipse">
              <a:avLst/>
            </a:prstGeom>
            <a:solidFill>
              <a:srgbClr val="99FFCC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" name="Rectangle 172"/>
            <p:cNvSpPr>
              <a:spLocks noChangeArrowheads="1"/>
            </p:cNvSpPr>
            <p:nvPr/>
          </p:nvSpPr>
          <p:spPr bwMode="auto">
            <a:xfrm>
              <a:off x="1681384" y="2265362"/>
              <a:ext cx="423812" cy="371513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b="1" i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rPr>
                <a:t>≥1</a:t>
              </a:r>
            </a:p>
          </p:txBody>
        </p:sp>
        <p:sp>
          <p:nvSpPr>
            <p:cNvPr id="82" name="Rectangle 173"/>
            <p:cNvSpPr>
              <a:spLocks noChangeArrowheads="1"/>
            </p:cNvSpPr>
            <p:nvPr/>
          </p:nvSpPr>
          <p:spPr bwMode="auto">
            <a:xfrm>
              <a:off x="2689447" y="2481262"/>
              <a:ext cx="423812" cy="371513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b="1" i="0">
                  <a:solidFill>
                    <a:srgbClr val="663300"/>
                  </a:solidFill>
                  <a:latin typeface="Times New Roman" pitchFamily="18" charset="0"/>
                  <a:cs typeface="Times New Roman" pitchFamily="18" charset="0"/>
                </a:rPr>
                <a:t>≥1</a:t>
              </a:r>
            </a:p>
          </p:txBody>
        </p:sp>
        <p:sp>
          <p:nvSpPr>
            <p:cNvPr id="84" name="Line 174"/>
            <p:cNvSpPr>
              <a:spLocks noChangeShapeType="1"/>
            </p:cNvSpPr>
            <p:nvPr/>
          </p:nvSpPr>
          <p:spPr bwMode="auto">
            <a:xfrm flipV="1">
              <a:off x="1355947" y="1831975"/>
              <a:ext cx="0" cy="1584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85" name="Line 175"/>
            <p:cNvSpPr>
              <a:spLocks noChangeShapeType="1"/>
            </p:cNvSpPr>
            <p:nvPr/>
          </p:nvSpPr>
          <p:spPr bwMode="auto">
            <a:xfrm>
              <a:off x="1355947" y="1831975"/>
              <a:ext cx="4032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86" name="Line 176"/>
            <p:cNvSpPr>
              <a:spLocks noChangeShapeType="1"/>
            </p:cNvSpPr>
            <p:nvPr/>
          </p:nvSpPr>
          <p:spPr bwMode="auto">
            <a:xfrm>
              <a:off x="5386609" y="1830387"/>
              <a:ext cx="0" cy="863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87" name="Rectangle 177"/>
            <p:cNvSpPr>
              <a:spLocks noChangeArrowheads="1"/>
            </p:cNvSpPr>
            <p:nvPr/>
          </p:nvSpPr>
          <p:spPr bwMode="auto">
            <a:xfrm>
              <a:off x="3913409" y="2336800"/>
              <a:ext cx="1223963" cy="1655763"/>
            </a:xfrm>
            <a:prstGeom prst="rect">
              <a:avLst/>
            </a:prstGeom>
            <a:noFill/>
            <a:ln w="9525">
              <a:solidFill>
                <a:srgbClr val="FFCCCC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pPr algn="ctr"/>
              <a:endParaRPr lang="en-US" altLang="zh-CN" sz="3200" i="0">
                <a:solidFill>
                  <a:srgbClr val="996633"/>
                </a:solidFill>
              </a:endParaRPr>
            </a:p>
          </p:txBody>
        </p:sp>
        <p:sp>
          <p:nvSpPr>
            <p:cNvPr id="88" name="Line 178"/>
            <p:cNvSpPr>
              <a:spLocks noChangeShapeType="1"/>
            </p:cNvSpPr>
            <p:nvPr/>
          </p:nvSpPr>
          <p:spPr bwMode="auto">
            <a:xfrm>
              <a:off x="4777009" y="3487737"/>
              <a:ext cx="288925" cy="0"/>
            </a:xfrm>
            <a:prstGeom prst="line">
              <a:avLst/>
            </a:prstGeom>
            <a:noFill/>
            <a:ln w="38100">
              <a:solidFill>
                <a:srgbClr val="663300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89" name="Oval 179"/>
            <p:cNvSpPr>
              <a:spLocks noChangeArrowheads="1"/>
            </p:cNvSpPr>
            <p:nvPr/>
          </p:nvSpPr>
          <p:spPr bwMode="auto">
            <a:xfrm>
              <a:off x="1311497" y="2662236"/>
              <a:ext cx="108000" cy="108000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Oval 153"/>
            <p:cNvSpPr>
              <a:spLocks noChangeArrowheads="1"/>
            </p:cNvSpPr>
            <p:nvPr/>
          </p:nvSpPr>
          <p:spPr bwMode="auto">
            <a:xfrm>
              <a:off x="5100859" y="3487737"/>
              <a:ext cx="108000" cy="1080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146"/>
            <p:cNvSpPr>
              <a:spLocks noChangeShapeType="1"/>
            </p:cNvSpPr>
            <p:nvPr/>
          </p:nvSpPr>
          <p:spPr bwMode="auto">
            <a:xfrm flipV="1">
              <a:off x="2513235" y="2919413"/>
              <a:ext cx="25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92" name="Line 176"/>
            <p:cNvSpPr>
              <a:spLocks noChangeShapeType="1"/>
            </p:cNvSpPr>
            <p:nvPr/>
          </p:nvSpPr>
          <p:spPr bwMode="auto">
            <a:xfrm>
              <a:off x="2514820" y="2911476"/>
              <a:ext cx="0" cy="6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93"/>
          <p:cNvGrpSpPr>
            <a:grpSpLocks/>
          </p:cNvGrpSpPr>
          <p:nvPr/>
        </p:nvGrpSpPr>
        <p:grpSpPr bwMode="auto">
          <a:xfrm>
            <a:off x="611188" y="882292"/>
            <a:ext cx="6066486" cy="4080454"/>
            <a:chOff x="2112" y="2602"/>
            <a:chExt cx="3016" cy="1190"/>
          </a:xfrm>
        </p:grpSpPr>
        <p:sp>
          <p:nvSpPr>
            <p:cNvPr id="9" name="Rectangle 94"/>
            <p:cNvSpPr>
              <a:spLocks noChangeArrowheads="1"/>
            </p:cNvSpPr>
            <p:nvPr/>
          </p:nvSpPr>
          <p:spPr bwMode="auto">
            <a:xfrm>
              <a:off x="2112" y="2602"/>
              <a:ext cx="3016" cy="11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rgbClr val="FFFFCC"/>
                </a:gs>
              </a:gsLst>
              <a:lin ang="2700000" scaled="1"/>
            </a:gra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Line 95"/>
            <p:cNvSpPr>
              <a:spLocks noChangeShapeType="1"/>
            </p:cNvSpPr>
            <p:nvPr/>
          </p:nvSpPr>
          <p:spPr bwMode="auto">
            <a:xfrm>
              <a:off x="2112" y="2756"/>
              <a:ext cx="30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Line 96"/>
            <p:cNvSpPr>
              <a:spLocks noChangeShapeType="1"/>
            </p:cNvSpPr>
            <p:nvPr/>
          </p:nvSpPr>
          <p:spPr bwMode="auto">
            <a:xfrm flipH="1">
              <a:off x="3120" y="2611"/>
              <a:ext cx="0" cy="1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Line 97"/>
            <p:cNvSpPr>
              <a:spLocks noChangeShapeType="1"/>
            </p:cNvSpPr>
            <p:nvPr/>
          </p:nvSpPr>
          <p:spPr bwMode="auto">
            <a:xfrm flipH="1">
              <a:off x="4152" y="2621"/>
              <a:ext cx="0" cy="1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694846" y="863453"/>
            <a:ext cx="367408" cy="584775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endParaRPr lang="en-US" altLang="zh-CN" sz="3200" b="1" i="1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364771" y="863453"/>
            <a:ext cx="458780" cy="584775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1785458" y="863453"/>
            <a:ext cx="822661" cy="584775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3200" b="1" i="1" baseline="30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endParaRPr lang="en-US" altLang="zh-CN" sz="3200" b="1" i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3082446" y="863453"/>
            <a:ext cx="907620" cy="584775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3200" b="1" i="1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3200" b="1" i="0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+1</a:t>
            </a:r>
            <a:endParaRPr lang="en-US" altLang="zh-CN" sz="32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7" name="Group 12"/>
          <p:cNvGrpSpPr>
            <a:grpSpLocks/>
          </p:cNvGrpSpPr>
          <p:nvPr/>
        </p:nvGrpSpPr>
        <p:grpSpPr bwMode="auto">
          <a:xfrm>
            <a:off x="360363" y="2289399"/>
            <a:ext cx="3549650" cy="995363"/>
            <a:chOff x="258" y="2311"/>
            <a:chExt cx="2236" cy="627"/>
          </a:xfrm>
        </p:grpSpPr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58" y="2311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1     0     0      1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58" y="2570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1     0     1      1</a:t>
              </a:r>
            </a:p>
          </p:txBody>
        </p:sp>
        <p:sp>
          <p:nvSpPr>
            <p:cNvPr id="20" name="AutoShape 15"/>
            <p:cNvSpPr>
              <a:spLocks/>
            </p:cNvSpPr>
            <p:nvPr/>
          </p:nvSpPr>
          <p:spPr bwMode="auto">
            <a:xfrm>
              <a:off x="2100" y="2425"/>
              <a:ext cx="96" cy="384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rgbClr val="0D59F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2248" y="2417"/>
              <a:ext cx="246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388938" y="3138706"/>
            <a:ext cx="3530600" cy="965200"/>
            <a:chOff x="270" y="2810"/>
            <a:chExt cx="2224" cy="608"/>
          </a:xfrm>
        </p:grpSpPr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270" y="2810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0     1     0      0</a:t>
              </a:r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270" y="3050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0     1     1      0</a:t>
              </a:r>
            </a:p>
          </p:txBody>
        </p:sp>
        <p:grpSp>
          <p:nvGrpSpPr>
            <p:cNvPr id="25" name="Group 20"/>
            <p:cNvGrpSpPr>
              <a:grpSpLocks/>
            </p:cNvGrpSpPr>
            <p:nvPr/>
          </p:nvGrpSpPr>
          <p:grpSpPr bwMode="auto">
            <a:xfrm>
              <a:off x="2130" y="2897"/>
              <a:ext cx="364" cy="422"/>
              <a:chOff x="5040" y="3034"/>
              <a:chExt cx="364" cy="422"/>
            </a:xfrm>
          </p:grpSpPr>
          <p:sp>
            <p:nvSpPr>
              <p:cNvPr id="26" name="AutoShape 21"/>
              <p:cNvSpPr>
                <a:spLocks/>
              </p:cNvSpPr>
              <p:nvPr/>
            </p:nvSpPr>
            <p:spPr bwMode="auto">
              <a:xfrm>
                <a:off x="5040" y="3072"/>
                <a:ext cx="96" cy="384"/>
              </a:xfrm>
              <a:prstGeom prst="rightBrace">
                <a:avLst>
                  <a:gd name="adj1" fmla="val 33333"/>
                  <a:gd name="adj2" fmla="val 50000"/>
                </a:avLst>
              </a:prstGeom>
              <a:noFill/>
              <a:ln w="38100">
                <a:solidFill>
                  <a:srgbClr val="0D59F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5158" y="3034"/>
                <a:ext cx="246" cy="36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i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grpSp>
        <p:nvGrpSpPr>
          <p:cNvPr id="28" name="Group 24"/>
          <p:cNvGrpSpPr>
            <a:grpSpLocks/>
          </p:cNvGrpSpPr>
          <p:nvPr/>
        </p:nvGrpSpPr>
        <p:grpSpPr bwMode="auto">
          <a:xfrm>
            <a:off x="360363" y="3965800"/>
            <a:ext cx="3694112" cy="977900"/>
            <a:chOff x="253" y="3331"/>
            <a:chExt cx="2327" cy="616"/>
          </a:xfrm>
        </p:grpSpPr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262" y="3331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1     1     0      1</a:t>
              </a:r>
            </a:p>
          </p:txBody>
        </p:sp>
        <p:sp>
          <p:nvSpPr>
            <p:cNvPr id="30" name="Text Box 26"/>
            <p:cNvSpPr txBox="1">
              <a:spLocks noChangeArrowheads="1"/>
            </p:cNvSpPr>
            <p:nvPr/>
          </p:nvSpPr>
          <p:spPr bwMode="auto">
            <a:xfrm>
              <a:off x="253" y="3579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1     1     1      0</a:t>
              </a:r>
            </a:p>
          </p:txBody>
        </p:sp>
        <p:grpSp>
          <p:nvGrpSpPr>
            <p:cNvPr id="31" name="Group 27"/>
            <p:cNvGrpSpPr>
              <a:grpSpLocks/>
            </p:cNvGrpSpPr>
            <p:nvPr/>
          </p:nvGrpSpPr>
          <p:grpSpPr bwMode="auto">
            <a:xfrm>
              <a:off x="2113" y="3432"/>
              <a:ext cx="467" cy="392"/>
              <a:chOff x="4476" y="2465"/>
              <a:chExt cx="467" cy="392"/>
            </a:xfrm>
          </p:grpSpPr>
          <p:sp>
            <p:nvSpPr>
              <p:cNvPr id="32" name="AutoShape 28"/>
              <p:cNvSpPr>
                <a:spLocks/>
              </p:cNvSpPr>
              <p:nvPr/>
            </p:nvSpPr>
            <p:spPr bwMode="auto">
              <a:xfrm>
                <a:off x="4476" y="2473"/>
                <a:ext cx="96" cy="384"/>
              </a:xfrm>
              <a:prstGeom prst="rightBrace">
                <a:avLst>
                  <a:gd name="adj1" fmla="val 33333"/>
                  <a:gd name="adj2" fmla="val 50000"/>
                </a:avLst>
              </a:prstGeom>
              <a:noFill/>
              <a:ln w="38100">
                <a:solidFill>
                  <a:srgbClr val="0D59F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3" name="Text Box 29"/>
              <p:cNvSpPr txBox="1">
                <a:spLocks noChangeArrowheads="1"/>
              </p:cNvSpPr>
              <p:nvPr/>
            </p:nvSpPr>
            <p:spPr bwMode="auto">
              <a:xfrm>
                <a:off x="4554" y="2465"/>
                <a:ext cx="389" cy="36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3200" i="1" baseline="30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endParaRPr lang="en-US" altLang="zh-CN" sz="32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Line 30"/>
              <p:cNvSpPr>
                <a:spLocks noChangeShapeType="1"/>
              </p:cNvSpPr>
              <p:nvPr/>
            </p:nvSpPr>
            <p:spPr bwMode="auto">
              <a:xfrm>
                <a:off x="4644" y="2508"/>
                <a:ext cx="120" cy="0"/>
              </a:xfrm>
              <a:prstGeom prst="line">
                <a:avLst/>
              </a:prstGeom>
              <a:noFill/>
              <a:ln w="38100" cap="sq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35" name="Group 31"/>
          <p:cNvGrpSpPr>
            <a:grpSpLocks/>
          </p:cNvGrpSpPr>
          <p:nvPr/>
        </p:nvGrpSpPr>
        <p:grpSpPr bwMode="auto">
          <a:xfrm>
            <a:off x="379413" y="1336898"/>
            <a:ext cx="3659187" cy="1079500"/>
            <a:chOff x="258" y="1699"/>
            <a:chExt cx="2305" cy="680"/>
          </a:xfrm>
        </p:grpSpPr>
        <p:sp>
          <p:nvSpPr>
            <p:cNvPr id="36" name="Text Box 32"/>
            <p:cNvSpPr txBox="1">
              <a:spLocks noChangeArrowheads="1"/>
            </p:cNvSpPr>
            <p:nvPr/>
          </p:nvSpPr>
          <p:spPr bwMode="auto">
            <a:xfrm>
              <a:off x="258" y="1699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0     0     0      0</a:t>
              </a: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258" y="2011"/>
              <a:ext cx="2048" cy="3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2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0     0     1      1</a:t>
              </a:r>
            </a:p>
          </p:txBody>
        </p:sp>
        <p:grpSp>
          <p:nvGrpSpPr>
            <p:cNvPr id="38" name="Group 34"/>
            <p:cNvGrpSpPr>
              <a:grpSpLocks/>
            </p:cNvGrpSpPr>
            <p:nvPr/>
          </p:nvGrpSpPr>
          <p:grpSpPr bwMode="auto">
            <a:xfrm>
              <a:off x="2082" y="1831"/>
              <a:ext cx="481" cy="384"/>
              <a:chOff x="4992" y="1968"/>
              <a:chExt cx="481" cy="384"/>
            </a:xfrm>
          </p:grpSpPr>
          <p:sp>
            <p:nvSpPr>
              <p:cNvPr id="39" name="AutoShape 35"/>
              <p:cNvSpPr>
                <a:spLocks/>
              </p:cNvSpPr>
              <p:nvPr/>
            </p:nvSpPr>
            <p:spPr bwMode="auto">
              <a:xfrm>
                <a:off x="4992" y="1968"/>
                <a:ext cx="96" cy="384"/>
              </a:xfrm>
              <a:prstGeom prst="rightBrace">
                <a:avLst>
                  <a:gd name="adj1" fmla="val 33333"/>
                  <a:gd name="adj2" fmla="val 50000"/>
                </a:avLst>
              </a:prstGeom>
              <a:noFill/>
              <a:ln w="38100">
                <a:solidFill>
                  <a:srgbClr val="0D59F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0" name="Text Box 36"/>
              <p:cNvSpPr txBox="1">
                <a:spLocks noChangeArrowheads="1"/>
              </p:cNvSpPr>
              <p:nvPr/>
            </p:nvSpPr>
            <p:spPr bwMode="auto">
              <a:xfrm>
                <a:off x="5084" y="1978"/>
                <a:ext cx="389" cy="36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3200" i="1" baseline="30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endParaRPr lang="en-US" altLang="zh-CN" sz="3200" i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41" name="Text Box 37"/>
          <p:cNvSpPr txBox="1">
            <a:spLocks noChangeArrowheads="1"/>
          </p:cNvSpPr>
          <p:nvPr/>
        </p:nvSpPr>
        <p:spPr bwMode="auto">
          <a:xfrm>
            <a:off x="4719638" y="1651222"/>
            <a:ext cx="1606550" cy="519112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保持功能</a:t>
            </a:r>
            <a:endParaRPr lang="zh-CN" altLang="en-US" sz="2400" b="1" i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4716463" y="2443384"/>
            <a:ext cx="1620957" cy="523220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 </a:t>
            </a: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</a:t>
            </a: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功能</a:t>
            </a:r>
            <a:endParaRPr lang="zh-CN" altLang="en-US" sz="2400" b="1" i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3" name="Text Box 39"/>
          <p:cNvSpPr txBox="1">
            <a:spLocks noChangeArrowheads="1"/>
          </p:cNvSpPr>
          <p:nvPr/>
        </p:nvSpPr>
        <p:spPr bwMode="auto">
          <a:xfrm>
            <a:off x="4787900" y="3306984"/>
            <a:ext cx="1620957" cy="523220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 </a:t>
            </a:r>
            <a:r>
              <a:rPr lang="en-US" altLang="zh-CN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</a:t>
            </a:r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功能</a:t>
            </a:r>
            <a:endParaRPr lang="zh-CN" altLang="en-US" sz="2400" b="1" i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4" name="Text Box 40"/>
          <p:cNvSpPr txBox="1">
            <a:spLocks noChangeArrowheads="1"/>
          </p:cNvSpPr>
          <p:nvPr/>
        </p:nvSpPr>
        <p:spPr bwMode="auto">
          <a:xfrm>
            <a:off x="4719638" y="4170584"/>
            <a:ext cx="1606550" cy="519113"/>
          </a:xfrm>
          <a:prstGeom prst="rect">
            <a:avLst/>
          </a:prstGeom>
          <a:noFill/>
          <a:ln w="38100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计数功能</a:t>
            </a:r>
            <a:endParaRPr lang="zh-CN" altLang="en-US" sz="2400" b="1" i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45" name="Group 98"/>
          <p:cNvGrpSpPr>
            <a:grpSpLocks/>
          </p:cNvGrpSpPr>
          <p:nvPr/>
        </p:nvGrpSpPr>
        <p:grpSpPr bwMode="auto">
          <a:xfrm>
            <a:off x="6410879" y="2654449"/>
            <a:ext cx="2328862" cy="1128712"/>
            <a:chOff x="3705" y="2205"/>
            <a:chExt cx="1467" cy="711"/>
          </a:xfrm>
        </p:grpSpPr>
        <p:sp>
          <p:nvSpPr>
            <p:cNvPr id="46" name="AutoShape 42"/>
            <p:cNvSpPr>
              <a:spLocks/>
            </p:cNvSpPr>
            <p:nvPr/>
          </p:nvSpPr>
          <p:spPr bwMode="auto">
            <a:xfrm>
              <a:off x="3705" y="2205"/>
              <a:ext cx="91" cy="658"/>
            </a:xfrm>
            <a:prstGeom prst="rightBrace">
              <a:avLst>
                <a:gd name="adj1" fmla="val 142778"/>
                <a:gd name="adj2" fmla="val 50000"/>
              </a:avLst>
            </a:prstGeom>
            <a:noFill/>
            <a:ln w="38100" cap="sq">
              <a:solidFill>
                <a:srgbClr val="0D59F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3969" y="2205"/>
              <a:ext cx="1203" cy="711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sz="36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3600" b="1" i="1" baseline="30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3600" b="1" i="0" baseline="30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+1</a:t>
              </a:r>
              <a:r>
                <a:rPr lang="zh-CN" altLang="en-US" sz="32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跟随 </a:t>
              </a:r>
              <a:r>
                <a:rPr lang="en-US" altLang="zh-CN" sz="32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zh-CN" altLang="en-US" sz="32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变化</a:t>
              </a:r>
              <a:endPara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48" name="Rectangle 80"/>
          <p:cNvSpPr>
            <a:spLocks noChangeArrowheads="1"/>
          </p:cNvSpPr>
          <p:nvPr/>
        </p:nvSpPr>
        <p:spPr bwMode="auto">
          <a:xfrm>
            <a:off x="691854" y="178760"/>
            <a:ext cx="40110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3200" b="1" i="0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触发器逻辑状态表</a:t>
            </a:r>
          </a:p>
        </p:txBody>
      </p:sp>
      <p:sp>
        <p:nvSpPr>
          <p:cNvPr id="49" name="Rectangle 100"/>
          <p:cNvSpPr>
            <a:spLocks noChangeArrowheads="1"/>
          </p:cNvSpPr>
          <p:nvPr/>
        </p:nvSpPr>
        <p:spPr bwMode="auto">
          <a:xfrm>
            <a:off x="5014433" y="934890"/>
            <a:ext cx="1015319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功 能</a:t>
            </a:r>
          </a:p>
        </p:txBody>
      </p:sp>
      <p:grpSp>
        <p:nvGrpSpPr>
          <p:cNvPr id="52" name="Group 77"/>
          <p:cNvGrpSpPr>
            <a:grpSpLocks/>
          </p:cNvGrpSpPr>
          <p:nvPr/>
        </p:nvGrpSpPr>
        <p:grpSpPr bwMode="auto">
          <a:xfrm>
            <a:off x="4898989" y="210330"/>
            <a:ext cx="2900362" cy="584201"/>
            <a:chOff x="3696" y="3442"/>
            <a:chExt cx="1827" cy="368"/>
          </a:xfrm>
        </p:grpSpPr>
        <p:sp>
          <p:nvSpPr>
            <p:cNvPr id="53" name="Text Box 69"/>
            <p:cNvSpPr txBox="1">
              <a:spLocks noChangeArrowheads="1"/>
            </p:cNvSpPr>
            <p:nvPr/>
          </p:nvSpPr>
          <p:spPr bwMode="auto">
            <a:xfrm>
              <a:off x="3696" y="3442"/>
              <a:ext cx="1827" cy="368"/>
            </a:xfrm>
            <a:prstGeom prst="rect">
              <a:avLst/>
            </a:prstGeom>
            <a:noFill/>
            <a:ln w="38100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3200" b="1" i="1" baseline="30000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zh-CN" sz="3200" b="1" i="0" baseline="30000" dirty="0">
                  <a:latin typeface="Times New Roman" pitchFamily="18" charset="0"/>
                  <a:cs typeface="Times New Roman" pitchFamily="18" charset="0"/>
                </a:rPr>
                <a:t>+1</a:t>
              </a:r>
              <a:r>
                <a:rPr lang="en-US" altLang="zh-CN" sz="3200" b="1" i="0" dirty="0"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US" altLang="zh-CN" sz="3200" b="1" i="1" dirty="0">
                  <a:latin typeface="Times New Roman" pitchFamily="18" charset="0"/>
                  <a:cs typeface="Times New Roman" pitchFamily="18" charset="0"/>
                </a:rPr>
                <a:t>J</a:t>
              </a:r>
              <a:r>
                <a:rPr lang="en-US" altLang="zh-CN" sz="3200" b="1" i="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3200" b="1" i="1" dirty="0" err="1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3200" b="1" i="1" baseline="30000" dirty="0" err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zh-CN" sz="3200" b="1" i="0" dirty="0" err="1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altLang="zh-CN" sz="3200" b="1" i="1" dirty="0" err="1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altLang="zh-CN" sz="3200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3200" b="1" i="1" dirty="0" err="1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sz="3200" b="1" i="1" baseline="30000" dirty="0" err="1">
                  <a:latin typeface="Times New Roman" pitchFamily="18" charset="0"/>
                  <a:cs typeface="Times New Roman" pitchFamily="18" charset="0"/>
                </a:rPr>
                <a:t>n</a:t>
              </a:r>
              <a:endParaRPr lang="en-US" altLang="zh-CN" sz="3200" b="1" i="1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Line 70"/>
            <p:cNvSpPr>
              <a:spLocks noChangeShapeType="1"/>
            </p:cNvSpPr>
            <p:nvPr/>
          </p:nvSpPr>
          <p:spPr bwMode="auto">
            <a:xfrm>
              <a:off x="4992" y="3480"/>
              <a:ext cx="12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Line 71"/>
            <p:cNvSpPr>
              <a:spLocks noChangeShapeType="1"/>
            </p:cNvSpPr>
            <p:nvPr/>
          </p:nvSpPr>
          <p:spPr bwMode="auto">
            <a:xfrm>
              <a:off x="4580" y="3493"/>
              <a:ext cx="9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41" grpId="0" autoUpdateAnimBg="0"/>
      <p:bldP spid="42" grpId="0" autoUpdateAnimBg="0"/>
      <p:bldP spid="43" grpId="0" autoUpdateAnimBg="0"/>
      <p:bldP spid="44" grpId="0" autoUpdateAnimBg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529257" y="3679862"/>
            <a:ext cx="100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符号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516173" y="846802"/>
            <a:ext cx="4894582" cy="2303462"/>
            <a:chOff x="2112" y="2448"/>
            <a:chExt cx="2595" cy="1344"/>
          </a:xfrm>
        </p:grpSpPr>
        <p:sp>
          <p:nvSpPr>
            <p:cNvPr id="4" name="Rectangle 10"/>
            <p:cNvSpPr>
              <a:spLocks noChangeArrowheads="1"/>
            </p:cNvSpPr>
            <p:nvPr/>
          </p:nvSpPr>
          <p:spPr bwMode="auto">
            <a:xfrm>
              <a:off x="2112" y="2448"/>
              <a:ext cx="2595" cy="1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rgbClr val="FFFFCC"/>
                </a:gs>
              </a:gsLst>
              <a:lin ang="2700000" scaled="1"/>
            </a:gra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>
              <a:off x="2112" y="2784"/>
              <a:ext cx="2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Line 12"/>
            <p:cNvSpPr>
              <a:spLocks noChangeShapeType="1"/>
            </p:cNvSpPr>
            <p:nvPr/>
          </p:nvSpPr>
          <p:spPr bwMode="auto">
            <a:xfrm>
              <a:off x="3120" y="244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13"/>
            <p:cNvSpPr>
              <a:spLocks noChangeShapeType="1"/>
            </p:cNvSpPr>
            <p:nvPr/>
          </p:nvSpPr>
          <p:spPr bwMode="auto">
            <a:xfrm>
              <a:off x="4152" y="244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8" name="Group 54"/>
          <p:cNvGrpSpPr>
            <a:grpSpLocks/>
          </p:cNvGrpSpPr>
          <p:nvPr/>
        </p:nvGrpSpPr>
        <p:grpSpPr bwMode="auto">
          <a:xfrm>
            <a:off x="1517761" y="684876"/>
            <a:ext cx="5053013" cy="660399"/>
            <a:chOff x="1157" y="743"/>
            <a:chExt cx="3183" cy="416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157" y="743"/>
              <a:ext cx="31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1376" y="829"/>
              <a:ext cx="296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         K        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i="1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1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+ 1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en-US" altLang="zh-CN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4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功  </a:t>
              </a:r>
              <a:r>
                <a:rPr lang="zh-CN" altLang="en-US" sz="24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能</a:t>
              </a:r>
              <a:endPara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1876536" y="1350039"/>
            <a:ext cx="47513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0         0            </a:t>
            </a:r>
            <a:r>
              <a:rPr lang="en-US" altLang="zh-CN" sz="2800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1" baseline="30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800" i="0" baseline="30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zh-CN" altLang="en-US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记忆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876536" y="2213639"/>
            <a:ext cx="48645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1         0             1</a:t>
            </a:r>
            <a:r>
              <a:rPr lang="en-US" altLang="zh-CN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</a:t>
            </a:r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 </a:t>
            </a:r>
            <a:r>
              <a:rPr lang="en-US" altLang="zh-CN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grpSp>
        <p:nvGrpSpPr>
          <p:cNvPr id="13" name="Group 53"/>
          <p:cNvGrpSpPr>
            <a:grpSpLocks/>
          </p:cNvGrpSpPr>
          <p:nvPr/>
        </p:nvGrpSpPr>
        <p:grpSpPr bwMode="auto">
          <a:xfrm>
            <a:off x="1876536" y="2647022"/>
            <a:ext cx="4970462" cy="523874"/>
            <a:chOff x="1429" y="2840"/>
            <a:chExt cx="3131" cy="330"/>
          </a:xfrm>
        </p:grpSpPr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1429" y="2840"/>
              <a:ext cx="31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1         1            </a:t>
              </a:r>
              <a:r>
                <a:rPr lang="en-US" altLang="zh-CN" sz="2800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i="1" baseline="30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       </a:t>
              </a:r>
              <a:r>
                <a:rPr lang="zh-CN" altLang="en-US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计数</a:t>
              </a:r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 flipV="1">
              <a:off x="2912" y="28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1876536" y="1781839"/>
            <a:ext cx="5616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0         1             0</a:t>
            </a:r>
            <a:r>
              <a:rPr lang="en-US" altLang="zh-CN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</a:t>
            </a:r>
            <a:r>
              <a:rPr lang="zh-CN" altLang="en-US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置 </a:t>
            </a:r>
            <a:r>
              <a: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53163" y="130471"/>
            <a:ext cx="474520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3200" b="1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触发器逻辑</a:t>
            </a:r>
            <a:r>
              <a:rPr lang="zh-CN" altLang="en-US" sz="3200" b="1" i="0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状态简化表</a:t>
            </a:r>
            <a:endParaRPr lang="zh-CN" altLang="en-US" sz="3200" b="1" i="0" dirty="0">
              <a:solidFill>
                <a:srgbClr val="00B0F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6410364" y="1997739"/>
            <a:ext cx="1538288" cy="574675"/>
            <a:chOff x="4604" y="890"/>
            <a:chExt cx="969" cy="362"/>
          </a:xfrm>
        </p:grpSpPr>
        <p:sp>
          <p:nvSpPr>
            <p:cNvPr id="19" name="AutoShape 47"/>
            <p:cNvSpPr>
              <a:spLocks/>
            </p:cNvSpPr>
            <p:nvPr/>
          </p:nvSpPr>
          <p:spPr bwMode="auto">
            <a:xfrm>
              <a:off x="4604" y="890"/>
              <a:ext cx="45" cy="362"/>
            </a:xfrm>
            <a:prstGeom prst="rightBrace">
              <a:avLst>
                <a:gd name="adj1" fmla="val 67037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/>
              <a:endParaRPr lang="en-US" altLang="zh-CN" sz="2400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Text Box 50"/>
            <p:cNvSpPr txBox="1">
              <a:spLocks noChangeArrowheads="1"/>
            </p:cNvSpPr>
            <p:nvPr/>
          </p:nvSpPr>
          <p:spPr bwMode="auto">
            <a:xfrm>
              <a:off x="4694" y="935"/>
              <a:ext cx="879" cy="292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2400" b="1" i="0" dirty="0">
                  <a:solidFill>
                    <a:schemeClr val="accent2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随</a:t>
              </a:r>
              <a:r>
                <a:rPr lang="en-US" altLang="zh-CN" sz="2400" b="1" i="1" dirty="0">
                  <a:solidFill>
                    <a:schemeClr val="accent2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zh-CN" altLang="en-US" sz="2400" b="1" i="0" dirty="0">
                  <a:solidFill>
                    <a:schemeClr val="accent2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变化</a:t>
              </a:r>
              <a:r>
                <a:rPr lang="zh-CN" altLang="en-US" sz="24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3774987" y="3426927"/>
            <a:ext cx="2561177" cy="1412881"/>
            <a:chOff x="7219937" y="3182378"/>
            <a:chExt cx="2561177" cy="1412881"/>
          </a:xfrm>
        </p:grpSpPr>
        <p:sp>
          <p:nvSpPr>
            <p:cNvPr id="38" name="矩形 37"/>
            <p:cNvSpPr/>
            <p:nvPr/>
          </p:nvSpPr>
          <p:spPr>
            <a:xfrm>
              <a:off x="8138855" y="3190100"/>
              <a:ext cx="800357" cy="1353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9036308" y="4171951"/>
              <a:ext cx="396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椭圆 39"/>
            <p:cNvSpPr/>
            <p:nvPr/>
          </p:nvSpPr>
          <p:spPr>
            <a:xfrm>
              <a:off x="8032530" y="4366216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8037293" y="3351803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8946931" y="4128090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7674233" y="3400426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7659946" y="4414839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669471" y="3919538"/>
              <a:ext cx="3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7664708" y="4171951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8950584" y="3543301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137"/>
            <p:cNvSpPr>
              <a:spLocks noChangeArrowheads="1"/>
            </p:cNvSpPr>
            <p:nvPr/>
          </p:nvSpPr>
          <p:spPr bwMode="auto">
            <a:xfrm>
              <a:off x="9429736" y="3325251"/>
              <a:ext cx="351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</a:p>
          </p:txBody>
        </p:sp>
        <p:grpSp>
          <p:nvGrpSpPr>
            <p:cNvPr id="49" name="组合 42"/>
            <p:cNvGrpSpPr/>
            <p:nvPr/>
          </p:nvGrpSpPr>
          <p:grpSpPr>
            <a:xfrm>
              <a:off x="9429736" y="3949139"/>
              <a:ext cx="351378" cy="369332"/>
              <a:chOff x="7584579" y="2477194"/>
              <a:chExt cx="351378" cy="369332"/>
            </a:xfrm>
          </p:grpSpPr>
          <p:sp>
            <p:nvSpPr>
              <p:cNvPr id="64" name="Rectangle 137"/>
              <p:cNvSpPr>
                <a:spLocks noChangeArrowheads="1"/>
              </p:cNvSpPr>
              <p:nvPr/>
            </p:nvSpPr>
            <p:spPr bwMode="auto">
              <a:xfrm>
                <a:off x="7584579" y="2477194"/>
                <a:ext cx="35137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</a:p>
            </p:txBody>
          </p:sp>
          <p:cxnSp>
            <p:nvCxnSpPr>
              <p:cNvPr id="65" name="直接连接符 64"/>
              <p:cNvCxnSpPr/>
              <p:nvPr/>
            </p:nvCxnSpPr>
            <p:spPr>
              <a:xfrm>
                <a:off x="7724550" y="2552368"/>
                <a:ext cx="1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3"/>
            <p:cNvGrpSpPr/>
            <p:nvPr/>
          </p:nvGrpSpPr>
          <p:grpSpPr>
            <a:xfrm>
              <a:off x="7281847" y="3182378"/>
              <a:ext cx="410690" cy="369332"/>
              <a:chOff x="8098929" y="2481957"/>
              <a:chExt cx="410690" cy="369332"/>
            </a:xfrm>
          </p:grpSpPr>
          <p:sp>
            <p:nvSpPr>
              <p:cNvPr id="62" name="Rectangle 137"/>
              <p:cNvSpPr>
                <a:spLocks noChangeArrowheads="1"/>
              </p:cNvSpPr>
              <p:nvPr/>
            </p:nvSpPr>
            <p:spPr bwMode="auto">
              <a:xfrm>
                <a:off x="8098929" y="2481957"/>
                <a:ext cx="41069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63" name="直接连接符 62"/>
              <p:cNvCxnSpPr/>
              <p:nvPr/>
            </p:nvCxnSpPr>
            <p:spPr>
              <a:xfrm>
                <a:off x="8205562" y="2557131"/>
                <a:ext cx="1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组合 46"/>
            <p:cNvGrpSpPr/>
            <p:nvPr/>
          </p:nvGrpSpPr>
          <p:grpSpPr>
            <a:xfrm>
              <a:off x="7286611" y="4225927"/>
              <a:ext cx="436338" cy="369332"/>
              <a:chOff x="8117980" y="2501568"/>
              <a:chExt cx="436338" cy="369332"/>
            </a:xfrm>
          </p:grpSpPr>
          <p:sp>
            <p:nvSpPr>
              <p:cNvPr id="60" name="Rectangle 137"/>
              <p:cNvSpPr>
                <a:spLocks noChangeArrowheads="1"/>
              </p:cNvSpPr>
              <p:nvPr/>
            </p:nvSpPr>
            <p:spPr bwMode="auto">
              <a:xfrm>
                <a:off x="8117980" y="2501568"/>
                <a:ext cx="43633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61" name="直接连接符 60"/>
              <p:cNvCxnSpPr/>
              <p:nvPr/>
            </p:nvCxnSpPr>
            <p:spPr>
              <a:xfrm>
                <a:off x="8229375" y="2576742"/>
                <a:ext cx="1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Rectangle 137"/>
            <p:cNvSpPr>
              <a:spLocks noChangeArrowheads="1"/>
            </p:cNvSpPr>
            <p:nvPr/>
          </p:nvSpPr>
          <p:spPr bwMode="auto">
            <a:xfrm>
              <a:off x="7219937" y="3706249"/>
              <a:ext cx="4796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Rectangle 137"/>
            <p:cNvSpPr>
              <a:spLocks noChangeArrowheads="1"/>
            </p:cNvSpPr>
            <p:nvPr/>
          </p:nvSpPr>
          <p:spPr bwMode="auto">
            <a:xfrm>
              <a:off x="7329472" y="3944376"/>
              <a:ext cx="3513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Rectangle 137"/>
            <p:cNvSpPr>
              <a:spLocks noChangeArrowheads="1"/>
            </p:cNvSpPr>
            <p:nvPr/>
          </p:nvSpPr>
          <p:spPr bwMode="auto">
            <a:xfrm>
              <a:off x="8167674" y="3744349"/>
              <a:ext cx="4539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Rectangle 137"/>
            <p:cNvSpPr>
              <a:spLocks noChangeArrowheads="1"/>
            </p:cNvSpPr>
            <p:nvPr/>
          </p:nvSpPr>
          <p:spPr bwMode="auto">
            <a:xfrm>
              <a:off x="8162911" y="3187138"/>
              <a:ext cx="30008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6" name="Rectangle 137"/>
            <p:cNvSpPr>
              <a:spLocks noChangeArrowheads="1"/>
            </p:cNvSpPr>
            <p:nvPr/>
          </p:nvSpPr>
          <p:spPr bwMode="auto">
            <a:xfrm>
              <a:off x="8162910" y="3982475"/>
              <a:ext cx="4667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7" name="Rectangle 137"/>
            <p:cNvSpPr>
              <a:spLocks noChangeArrowheads="1"/>
            </p:cNvSpPr>
            <p:nvPr/>
          </p:nvSpPr>
          <p:spPr bwMode="auto">
            <a:xfrm>
              <a:off x="8191486" y="4225927"/>
              <a:ext cx="3257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 rot="16200000" flipH="1">
              <a:off x="8135035" y="3858789"/>
              <a:ext cx="66120" cy="63795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V="1">
              <a:off x="8136196" y="3909459"/>
              <a:ext cx="64800" cy="6480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7678996" y="3667126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137"/>
            <p:cNvSpPr>
              <a:spLocks noChangeArrowheads="1"/>
            </p:cNvSpPr>
            <p:nvPr/>
          </p:nvSpPr>
          <p:spPr bwMode="auto">
            <a:xfrm>
              <a:off x="7343760" y="3453840"/>
              <a:ext cx="28725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Rectangle 137"/>
            <p:cNvSpPr>
              <a:spLocks noChangeArrowheads="1"/>
            </p:cNvSpPr>
            <p:nvPr/>
          </p:nvSpPr>
          <p:spPr bwMode="auto">
            <a:xfrm>
              <a:off x="8177198" y="3477650"/>
              <a:ext cx="40267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8032531" y="3866153"/>
              <a:ext cx="95693" cy="956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99"/>
          <p:cNvSpPr>
            <a:spLocks noChangeShapeType="1"/>
          </p:cNvSpPr>
          <p:nvPr/>
        </p:nvSpPr>
        <p:spPr bwMode="auto">
          <a:xfrm>
            <a:off x="2527927" y="1760757"/>
            <a:ext cx="22225" cy="225425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" name="Line 100"/>
          <p:cNvSpPr>
            <a:spLocks noChangeShapeType="1"/>
          </p:cNvSpPr>
          <p:nvPr/>
        </p:nvSpPr>
        <p:spPr bwMode="auto">
          <a:xfrm flipH="1">
            <a:off x="3347076" y="1703606"/>
            <a:ext cx="0" cy="2304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" name="Line 107"/>
          <p:cNvSpPr>
            <a:spLocks noChangeShapeType="1"/>
          </p:cNvSpPr>
          <p:nvPr/>
        </p:nvSpPr>
        <p:spPr bwMode="auto">
          <a:xfrm>
            <a:off x="5052052" y="1735357"/>
            <a:ext cx="0" cy="22320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Line 115"/>
          <p:cNvSpPr>
            <a:spLocks noChangeShapeType="1"/>
          </p:cNvSpPr>
          <p:nvPr/>
        </p:nvSpPr>
        <p:spPr bwMode="auto">
          <a:xfrm flipV="1">
            <a:off x="1326189" y="3943569"/>
            <a:ext cx="361950" cy="0"/>
          </a:xfrm>
          <a:prstGeom prst="line">
            <a:avLst/>
          </a:prstGeom>
          <a:noFill/>
          <a:ln w="34925" cap="sq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Line 116"/>
          <p:cNvSpPr>
            <a:spLocks noChangeShapeType="1"/>
          </p:cNvSpPr>
          <p:nvPr/>
        </p:nvSpPr>
        <p:spPr bwMode="auto">
          <a:xfrm flipV="1">
            <a:off x="3342314" y="3943569"/>
            <a:ext cx="0" cy="357188"/>
          </a:xfrm>
          <a:prstGeom prst="line">
            <a:avLst/>
          </a:prstGeom>
          <a:noFill/>
          <a:ln w="34925" cap="sq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8" name="Group 167"/>
          <p:cNvGrpSpPr>
            <a:grpSpLocks/>
          </p:cNvGrpSpPr>
          <p:nvPr/>
        </p:nvGrpSpPr>
        <p:grpSpPr bwMode="auto">
          <a:xfrm>
            <a:off x="4207502" y="3943569"/>
            <a:ext cx="846137" cy="358775"/>
            <a:chOff x="3470" y="3566"/>
            <a:chExt cx="533" cy="226"/>
          </a:xfrm>
        </p:grpSpPr>
        <p:sp>
          <p:nvSpPr>
            <p:cNvPr id="9" name="Line 118"/>
            <p:cNvSpPr>
              <a:spLocks noChangeShapeType="1"/>
            </p:cNvSpPr>
            <p:nvPr/>
          </p:nvSpPr>
          <p:spPr bwMode="auto">
            <a:xfrm flipV="1">
              <a:off x="3470" y="3566"/>
              <a:ext cx="0" cy="226"/>
            </a:xfrm>
            <a:prstGeom prst="line">
              <a:avLst/>
            </a:prstGeom>
            <a:noFill/>
            <a:ln w="34925" cap="sq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Line 119"/>
            <p:cNvSpPr>
              <a:spLocks noChangeShapeType="1"/>
            </p:cNvSpPr>
            <p:nvPr/>
          </p:nvSpPr>
          <p:spPr bwMode="auto">
            <a:xfrm flipV="1">
              <a:off x="3470" y="3566"/>
              <a:ext cx="533" cy="0"/>
            </a:xfrm>
            <a:prstGeom prst="line">
              <a:avLst/>
            </a:prstGeom>
            <a:noFill/>
            <a:ln w="34925" cap="sq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1" name="Group 123"/>
          <p:cNvGrpSpPr>
            <a:grpSpLocks/>
          </p:cNvGrpSpPr>
          <p:nvPr/>
        </p:nvGrpSpPr>
        <p:grpSpPr bwMode="auto">
          <a:xfrm>
            <a:off x="678491" y="3816562"/>
            <a:ext cx="443543" cy="523191"/>
            <a:chOff x="1090" y="3946"/>
            <a:chExt cx="200" cy="210"/>
          </a:xfrm>
        </p:grpSpPr>
        <p:sp>
          <p:nvSpPr>
            <p:cNvPr id="12" name="Text Box 124"/>
            <p:cNvSpPr txBox="1">
              <a:spLocks noChangeArrowheads="1"/>
            </p:cNvSpPr>
            <p:nvPr/>
          </p:nvSpPr>
          <p:spPr bwMode="auto">
            <a:xfrm>
              <a:off x="1090" y="3946"/>
              <a:ext cx="200" cy="21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endParaRPr lang="en-US" altLang="zh-CN" sz="2800" b="1" i="1" baseline="-2500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Line 125"/>
            <p:cNvSpPr>
              <a:spLocks noChangeShapeType="1"/>
            </p:cNvSpPr>
            <p:nvPr/>
          </p:nvSpPr>
          <p:spPr bwMode="auto">
            <a:xfrm>
              <a:off x="1104" y="3984"/>
              <a:ext cx="144" cy="0"/>
            </a:xfrm>
            <a:prstGeom prst="line">
              <a:avLst/>
            </a:prstGeom>
            <a:noFill/>
            <a:ln w="28575" cap="sq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5904134" y="1888200"/>
            <a:ext cx="3059113" cy="2327274"/>
            <a:chOff x="2692990" y="3569918"/>
            <a:chExt cx="3059113" cy="2327274"/>
          </a:xfrm>
        </p:grpSpPr>
        <p:grpSp>
          <p:nvGrpSpPr>
            <p:cNvPr id="16" name="Group 149"/>
            <p:cNvGrpSpPr>
              <a:grpSpLocks/>
            </p:cNvGrpSpPr>
            <p:nvPr/>
          </p:nvGrpSpPr>
          <p:grpSpPr bwMode="auto">
            <a:xfrm>
              <a:off x="2692990" y="3569918"/>
              <a:ext cx="3027363" cy="2327274"/>
              <a:chOff x="1208" y="391"/>
              <a:chExt cx="1907" cy="1466"/>
            </a:xfrm>
          </p:grpSpPr>
          <p:grpSp>
            <p:nvGrpSpPr>
              <p:cNvPr id="20" name="Group 132"/>
              <p:cNvGrpSpPr>
                <a:grpSpLocks/>
              </p:cNvGrpSpPr>
              <p:nvPr/>
            </p:nvGrpSpPr>
            <p:grpSpPr bwMode="auto">
              <a:xfrm>
                <a:off x="1208" y="391"/>
                <a:ext cx="1875" cy="1466"/>
                <a:chOff x="2270" y="2448"/>
                <a:chExt cx="1578" cy="1358"/>
              </a:xfrm>
            </p:grpSpPr>
            <p:sp>
              <p:nvSpPr>
                <p:cNvPr id="30" name="Rectangle 133"/>
                <p:cNvSpPr>
                  <a:spLocks noChangeArrowheads="1"/>
                </p:cNvSpPr>
                <p:nvPr/>
              </p:nvSpPr>
              <p:spPr bwMode="auto">
                <a:xfrm>
                  <a:off x="2270" y="2448"/>
                  <a:ext cx="1578" cy="1344"/>
                </a:xfrm>
                <a:prstGeom prst="rect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rgbClr val="FFFFCC"/>
                    </a:gs>
                  </a:gsLst>
                  <a:lin ang="2700000" scaled="1"/>
                </a:gra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altLang="zh-CN" sz="2400" i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1" name="Line 134"/>
                <p:cNvSpPr>
                  <a:spLocks noChangeShapeType="1"/>
                </p:cNvSpPr>
                <p:nvPr/>
              </p:nvSpPr>
              <p:spPr bwMode="auto">
                <a:xfrm>
                  <a:off x="2282" y="2778"/>
                  <a:ext cx="148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2" name="Line 135"/>
                <p:cNvSpPr>
                  <a:spLocks noChangeShapeType="1"/>
                </p:cNvSpPr>
                <p:nvPr/>
              </p:nvSpPr>
              <p:spPr bwMode="auto">
                <a:xfrm>
                  <a:off x="3266" y="2462"/>
                  <a:ext cx="0" cy="13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3" name="Line 136"/>
                <p:cNvSpPr>
                  <a:spLocks noChangeShapeType="1"/>
                </p:cNvSpPr>
                <p:nvPr/>
              </p:nvSpPr>
              <p:spPr bwMode="auto">
                <a:xfrm>
                  <a:off x="2743" y="2461"/>
                  <a:ext cx="0" cy="13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1" name="Text Box 140"/>
              <p:cNvSpPr txBox="1">
                <a:spLocks noChangeArrowheads="1"/>
              </p:cNvSpPr>
              <p:nvPr/>
            </p:nvSpPr>
            <p:spPr bwMode="auto">
              <a:xfrm>
                <a:off x="1247" y="708"/>
                <a:ext cx="186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i="1" baseline="30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n</a:t>
                </a:r>
                <a:r>
                  <a:rPr lang="en-US" altLang="zh-CN" sz="2800" i="0" baseline="30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</a:t>
                </a:r>
                <a:r>
                  <a:rPr lang="zh-CN" altLang="en-US" sz="24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记忆</a:t>
                </a:r>
                <a:endParaRPr lang="zh-CN" altLang="en-US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" name="Text Box 141"/>
              <p:cNvSpPr txBox="1">
                <a:spLocks noChangeArrowheads="1"/>
              </p:cNvSpPr>
              <p:nvPr/>
            </p:nvSpPr>
            <p:spPr bwMode="auto">
              <a:xfrm>
                <a:off x="1247" y="1252"/>
                <a:ext cx="1828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en-US" altLang="zh-CN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</a:t>
                </a:r>
                <a:r>
                  <a:rPr lang="zh-CN" altLang="en-US" sz="24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置 </a:t>
                </a:r>
                <a:r>
                  <a:rPr lang="en-US" altLang="zh-CN" sz="24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grpSp>
            <p:nvGrpSpPr>
              <p:cNvPr id="23" name="Group 142"/>
              <p:cNvGrpSpPr>
                <a:grpSpLocks/>
              </p:cNvGrpSpPr>
              <p:nvPr/>
            </p:nvGrpSpPr>
            <p:grpSpPr bwMode="auto">
              <a:xfrm>
                <a:off x="1247" y="1525"/>
                <a:ext cx="1788" cy="330"/>
                <a:chOff x="1429" y="2840"/>
                <a:chExt cx="1788" cy="330"/>
              </a:xfrm>
            </p:grpSpPr>
            <p:sp>
              <p:nvSpPr>
                <p:cNvPr id="28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1429" y="2840"/>
                  <a:ext cx="1788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1  </a:t>
                  </a:r>
                  <a:r>
                    <a:rPr lang="en-US" altLang="zh-CN" sz="2800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 1   </a:t>
                  </a:r>
                  <a:r>
                    <a:rPr lang="en-US" altLang="zh-CN" sz="2800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Q</a:t>
                  </a:r>
                  <a:r>
                    <a:rPr lang="en-US" altLang="zh-CN" sz="2800" b="1" i="1" baseline="30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n</a:t>
                  </a:r>
                  <a:r>
                    <a:rPr lang="en-US" altLang="zh-CN" sz="2800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      </a:t>
                  </a:r>
                  <a:r>
                    <a:rPr lang="en-US" altLang="zh-CN" sz="2800" i="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  </a:t>
                  </a:r>
                  <a:r>
                    <a:rPr lang="zh-CN" altLang="en-US" sz="2400" b="1" i="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计数</a:t>
                  </a:r>
                </a:p>
              </p:txBody>
            </p:sp>
            <p:sp>
              <p:nvSpPr>
                <p:cNvPr id="29" name="Line 144"/>
                <p:cNvSpPr>
                  <a:spLocks noChangeShapeType="1"/>
                </p:cNvSpPr>
                <p:nvPr/>
              </p:nvSpPr>
              <p:spPr bwMode="auto">
                <a:xfrm flipV="1">
                  <a:off x="2081" y="2895"/>
                  <a:ext cx="11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4" name="Text Box 145"/>
              <p:cNvSpPr txBox="1">
                <a:spLocks noChangeArrowheads="1"/>
              </p:cNvSpPr>
              <p:nvPr/>
            </p:nvSpPr>
            <p:spPr bwMode="auto">
              <a:xfrm>
                <a:off x="1247" y="980"/>
                <a:ext cx="179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 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0</a:t>
                </a:r>
                <a:r>
                  <a:rPr lang="en-US" altLang="zh-CN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  </a:t>
                </a:r>
                <a:r>
                  <a:rPr lang="zh-CN" altLang="en-US" sz="24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置 </a:t>
                </a:r>
                <a:r>
                  <a:rPr lang="en-US" altLang="zh-CN" sz="2400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6" name="AutoShape 147"/>
              <p:cNvSpPr>
                <a:spLocks/>
              </p:cNvSpPr>
              <p:nvPr/>
            </p:nvSpPr>
            <p:spPr bwMode="auto">
              <a:xfrm>
                <a:off x="2931" y="1111"/>
                <a:ext cx="45" cy="362"/>
              </a:xfrm>
              <a:prstGeom prst="rightBrace">
                <a:avLst>
                  <a:gd name="adj1" fmla="val 67037"/>
                  <a:gd name="adj2" fmla="val 50000"/>
                </a:avLst>
              </a:prstGeom>
              <a:noFill/>
              <a:ln w="349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/>
                <a:endParaRPr lang="en-US" altLang="zh-CN" sz="2400" i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9" name="Text Box 152"/>
            <p:cNvSpPr txBox="1">
              <a:spLocks noChangeArrowheads="1"/>
            </p:cNvSpPr>
            <p:nvPr/>
          </p:nvSpPr>
          <p:spPr bwMode="auto">
            <a:xfrm>
              <a:off x="2753315" y="3642943"/>
              <a:ext cx="2998788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   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   </a:t>
              </a:r>
              <a:r>
                <a:rPr lang="en-US" altLang="zh-CN" sz="28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b="1" i="1" baseline="30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en-US" altLang="zh-CN" sz="2800" b="1" i="0" baseline="30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0" baseline="30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+ 1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zh-CN" altLang="en-US" sz="24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功 能</a:t>
              </a:r>
              <a:endParaRPr lang="zh-CN" altLang="en-US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36" name="Rectangle 154"/>
          <p:cNvSpPr>
            <a:spLocks noChangeArrowheads="1"/>
          </p:cNvSpPr>
          <p:nvPr/>
        </p:nvSpPr>
        <p:spPr bwMode="auto">
          <a:xfrm>
            <a:off x="6139858" y="619714"/>
            <a:ext cx="2663900" cy="1084400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触发器逻辑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状态表</a:t>
            </a:r>
            <a:endParaRPr lang="zh-CN" altLang="en-US" sz="28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7" name="Rectangle 155"/>
          <p:cNvSpPr>
            <a:spLocks noChangeArrowheads="1"/>
          </p:cNvSpPr>
          <p:nvPr/>
        </p:nvSpPr>
        <p:spPr bwMode="auto">
          <a:xfrm>
            <a:off x="896746" y="206829"/>
            <a:ext cx="1940627" cy="586957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 lIns="90000" tIns="46800" rIns="90000" bIns="46800">
            <a:spAutoFit/>
          </a:bodyPr>
          <a:lstStyle/>
          <a:p>
            <a:pPr>
              <a:defRPr/>
            </a:pPr>
            <a:r>
              <a:rPr lang="zh-CN" altLang="en-US" sz="3200" b="1" i="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波形图 </a:t>
            </a:r>
          </a:p>
        </p:txBody>
      </p:sp>
      <p:sp>
        <p:nvSpPr>
          <p:cNvPr id="38" name="Line 157"/>
          <p:cNvSpPr>
            <a:spLocks noChangeShapeType="1"/>
          </p:cNvSpPr>
          <p:nvPr/>
        </p:nvSpPr>
        <p:spPr bwMode="auto">
          <a:xfrm>
            <a:off x="1686552" y="1711544"/>
            <a:ext cx="0" cy="2303463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9" name="Line 158"/>
          <p:cNvSpPr>
            <a:spLocks noChangeShapeType="1"/>
          </p:cNvSpPr>
          <p:nvPr/>
        </p:nvSpPr>
        <p:spPr bwMode="auto">
          <a:xfrm>
            <a:off x="4207502" y="1638519"/>
            <a:ext cx="0" cy="2412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40" name="Group 65"/>
          <p:cNvGrpSpPr>
            <a:grpSpLocks/>
          </p:cNvGrpSpPr>
          <p:nvPr/>
        </p:nvGrpSpPr>
        <p:grpSpPr bwMode="auto">
          <a:xfrm>
            <a:off x="822952" y="1135282"/>
            <a:ext cx="4752975" cy="576262"/>
            <a:chOff x="672" y="3072"/>
            <a:chExt cx="2160" cy="240"/>
          </a:xfrm>
        </p:grpSpPr>
        <p:grpSp>
          <p:nvGrpSpPr>
            <p:cNvPr id="41" name="Group 66"/>
            <p:cNvGrpSpPr>
              <a:grpSpLocks/>
            </p:cNvGrpSpPr>
            <p:nvPr/>
          </p:nvGrpSpPr>
          <p:grpSpPr bwMode="auto">
            <a:xfrm>
              <a:off x="2208" y="3072"/>
              <a:ext cx="384" cy="240"/>
              <a:chOff x="720" y="3072"/>
              <a:chExt cx="384" cy="240"/>
            </a:xfrm>
          </p:grpSpPr>
          <p:sp>
            <p:nvSpPr>
              <p:cNvPr id="63" name="Line 67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4" name="Line 68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5" name="Line 69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6" name="Line 70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2" name="Group 71"/>
            <p:cNvGrpSpPr>
              <a:grpSpLocks/>
            </p:cNvGrpSpPr>
            <p:nvPr/>
          </p:nvGrpSpPr>
          <p:grpSpPr bwMode="auto">
            <a:xfrm>
              <a:off x="1056" y="3072"/>
              <a:ext cx="384" cy="240"/>
              <a:chOff x="720" y="3072"/>
              <a:chExt cx="384" cy="240"/>
            </a:xfrm>
          </p:grpSpPr>
          <p:sp>
            <p:nvSpPr>
              <p:cNvPr id="59" name="Line 72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0" name="Line 73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1" name="Line 74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2" name="Line 75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3" name="Group 76"/>
            <p:cNvGrpSpPr>
              <a:grpSpLocks/>
            </p:cNvGrpSpPr>
            <p:nvPr/>
          </p:nvGrpSpPr>
          <p:grpSpPr bwMode="auto">
            <a:xfrm>
              <a:off x="1440" y="3072"/>
              <a:ext cx="384" cy="240"/>
              <a:chOff x="720" y="3072"/>
              <a:chExt cx="384" cy="240"/>
            </a:xfrm>
          </p:grpSpPr>
          <p:sp>
            <p:nvSpPr>
              <p:cNvPr id="55" name="Line 77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6" name="Line 78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7" name="Line 79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8" name="Line 80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4" name="Group 81"/>
            <p:cNvGrpSpPr>
              <a:grpSpLocks/>
            </p:cNvGrpSpPr>
            <p:nvPr/>
          </p:nvGrpSpPr>
          <p:grpSpPr bwMode="auto">
            <a:xfrm>
              <a:off x="1824" y="3072"/>
              <a:ext cx="384" cy="240"/>
              <a:chOff x="720" y="3072"/>
              <a:chExt cx="384" cy="240"/>
            </a:xfrm>
          </p:grpSpPr>
          <p:sp>
            <p:nvSpPr>
              <p:cNvPr id="51" name="Line 82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2" name="Line 83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3" name="Line 84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4" name="Line 85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5" name="Group 86"/>
            <p:cNvGrpSpPr>
              <a:grpSpLocks/>
            </p:cNvGrpSpPr>
            <p:nvPr/>
          </p:nvGrpSpPr>
          <p:grpSpPr bwMode="auto">
            <a:xfrm>
              <a:off x="672" y="3072"/>
              <a:ext cx="384" cy="240"/>
              <a:chOff x="720" y="3072"/>
              <a:chExt cx="384" cy="240"/>
            </a:xfrm>
          </p:grpSpPr>
          <p:sp>
            <p:nvSpPr>
              <p:cNvPr id="47" name="Line 87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8" name="Line 88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" name="Line 89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0" name="Line 90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46" name="Line 91"/>
            <p:cNvSpPr>
              <a:spLocks noChangeShapeType="1"/>
            </p:cNvSpPr>
            <p:nvPr/>
          </p:nvSpPr>
          <p:spPr bwMode="auto">
            <a:xfrm>
              <a:off x="2592" y="3312"/>
              <a:ext cx="2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7" name="Text Box 92"/>
          <p:cNvSpPr txBox="1">
            <a:spLocks noChangeArrowheads="1"/>
          </p:cNvSpPr>
          <p:nvPr/>
        </p:nvSpPr>
        <p:spPr bwMode="auto">
          <a:xfrm>
            <a:off x="629277" y="1095594"/>
            <a:ext cx="644728" cy="523220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endParaRPr lang="en-US" altLang="zh-CN" sz="2800" i="1">
              <a:solidFill>
                <a:srgbClr val="C0000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68" name="Group 175"/>
          <p:cNvGrpSpPr>
            <a:grpSpLocks/>
          </p:cNvGrpSpPr>
          <p:nvPr/>
        </p:nvGrpSpPr>
        <p:grpSpPr bwMode="auto">
          <a:xfrm>
            <a:off x="1254752" y="3295869"/>
            <a:ext cx="4386262" cy="365125"/>
            <a:chOff x="1603" y="3200"/>
            <a:chExt cx="2763" cy="230"/>
          </a:xfrm>
        </p:grpSpPr>
        <p:sp>
          <p:nvSpPr>
            <p:cNvPr id="69" name="Line 109"/>
            <p:cNvSpPr>
              <a:spLocks noChangeShapeType="1"/>
            </p:cNvSpPr>
            <p:nvPr/>
          </p:nvSpPr>
          <p:spPr bwMode="auto">
            <a:xfrm>
              <a:off x="1603" y="3426"/>
              <a:ext cx="1050" cy="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110"/>
            <p:cNvSpPr>
              <a:spLocks noChangeShapeType="1"/>
            </p:cNvSpPr>
            <p:nvPr/>
          </p:nvSpPr>
          <p:spPr bwMode="auto">
            <a:xfrm>
              <a:off x="2653" y="3203"/>
              <a:ext cx="0" cy="2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Line 111"/>
            <p:cNvSpPr>
              <a:spLocks noChangeShapeType="1"/>
            </p:cNvSpPr>
            <p:nvPr/>
          </p:nvSpPr>
          <p:spPr bwMode="auto">
            <a:xfrm flipV="1">
              <a:off x="2653" y="3200"/>
              <a:ext cx="1174" cy="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Line 112"/>
            <p:cNvSpPr>
              <a:spLocks noChangeShapeType="1"/>
            </p:cNvSpPr>
            <p:nvPr/>
          </p:nvSpPr>
          <p:spPr bwMode="auto">
            <a:xfrm>
              <a:off x="3827" y="3200"/>
              <a:ext cx="0" cy="2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Line 113"/>
            <p:cNvSpPr>
              <a:spLocks noChangeShapeType="1"/>
            </p:cNvSpPr>
            <p:nvPr/>
          </p:nvSpPr>
          <p:spPr bwMode="auto">
            <a:xfrm>
              <a:off x="3827" y="3426"/>
              <a:ext cx="5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4" name="Group 177"/>
          <p:cNvGrpSpPr>
            <a:grpSpLocks/>
          </p:cNvGrpSpPr>
          <p:nvPr/>
        </p:nvGrpSpPr>
        <p:grpSpPr bwMode="auto">
          <a:xfrm>
            <a:off x="627689" y="1979832"/>
            <a:ext cx="4905375" cy="523875"/>
            <a:chOff x="1215" y="2284"/>
            <a:chExt cx="3090" cy="330"/>
          </a:xfrm>
        </p:grpSpPr>
        <p:sp>
          <p:nvSpPr>
            <p:cNvPr id="75" name="Line 94"/>
            <p:cNvSpPr>
              <a:spLocks noChangeShapeType="1"/>
            </p:cNvSpPr>
            <p:nvPr/>
          </p:nvSpPr>
          <p:spPr bwMode="auto">
            <a:xfrm>
              <a:off x="1519" y="2614"/>
              <a:ext cx="2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Line 95"/>
            <p:cNvSpPr>
              <a:spLocks noChangeShapeType="1"/>
            </p:cNvSpPr>
            <p:nvPr/>
          </p:nvSpPr>
          <p:spPr bwMode="auto">
            <a:xfrm>
              <a:off x="1791" y="2296"/>
              <a:ext cx="0" cy="30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Line 96"/>
            <p:cNvSpPr>
              <a:spLocks noChangeShapeType="1"/>
            </p:cNvSpPr>
            <p:nvPr/>
          </p:nvSpPr>
          <p:spPr bwMode="auto">
            <a:xfrm>
              <a:off x="1791" y="2296"/>
              <a:ext cx="202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Line 98"/>
            <p:cNvSpPr>
              <a:spLocks noChangeShapeType="1"/>
            </p:cNvSpPr>
            <p:nvPr/>
          </p:nvSpPr>
          <p:spPr bwMode="auto">
            <a:xfrm>
              <a:off x="3833" y="2296"/>
              <a:ext cx="4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Text Box 120"/>
            <p:cNvSpPr txBox="1">
              <a:spLocks noChangeArrowheads="1"/>
            </p:cNvSpPr>
            <p:nvPr/>
          </p:nvSpPr>
          <p:spPr bwMode="auto">
            <a:xfrm>
              <a:off x="1215" y="2284"/>
              <a:ext cx="377" cy="330"/>
            </a:xfrm>
            <a:prstGeom prst="rect">
              <a:avLst/>
            </a:prstGeom>
            <a:noFill/>
            <a:ln w="28575" cap="sq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1" baseline="-2500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D</a:t>
              </a:r>
            </a:p>
          </p:txBody>
        </p:sp>
      </p:grpSp>
      <p:sp>
        <p:nvSpPr>
          <p:cNvPr id="80" name="Text Box 122"/>
          <p:cNvSpPr txBox="1">
            <a:spLocks noChangeArrowheads="1"/>
          </p:cNvSpPr>
          <p:nvPr/>
        </p:nvSpPr>
        <p:spPr bwMode="auto">
          <a:xfrm>
            <a:off x="688014" y="3221257"/>
            <a:ext cx="425116" cy="523220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endParaRPr lang="en-US" altLang="zh-CN" sz="2800" b="1" i="1" baseline="-25000">
              <a:solidFill>
                <a:srgbClr val="C0000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1" name="Line 104"/>
          <p:cNvSpPr>
            <a:spLocks noChangeShapeType="1"/>
          </p:cNvSpPr>
          <p:nvPr/>
        </p:nvSpPr>
        <p:spPr bwMode="auto">
          <a:xfrm>
            <a:off x="1099475" y="2575144"/>
            <a:ext cx="115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2" name="Line 105"/>
          <p:cNvSpPr>
            <a:spLocks noChangeShapeType="1"/>
          </p:cNvSpPr>
          <p:nvPr/>
        </p:nvSpPr>
        <p:spPr bwMode="auto">
          <a:xfrm>
            <a:off x="2262814" y="2575144"/>
            <a:ext cx="0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3" name="Text Box 121"/>
          <p:cNvSpPr txBox="1">
            <a:spLocks noChangeArrowheads="1"/>
          </p:cNvSpPr>
          <p:nvPr/>
        </p:nvSpPr>
        <p:spPr bwMode="auto">
          <a:xfrm>
            <a:off x="718177" y="2627532"/>
            <a:ext cx="344966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i="1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endParaRPr lang="en-US" altLang="zh-CN" sz="2800" b="1" i="1" baseline="-25000">
              <a:solidFill>
                <a:srgbClr val="C0000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4" name="Line 159"/>
          <p:cNvSpPr>
            <a:spLocks noChangeShapeType="1"/>
          </p:cNvSpPr>
          <p:nvPr/>
        </p:nvSpPr>
        <p:spPr bwMode="auto">
          <a:xfrm>
            <a:off x="2262814" y="3078382"/>
            <a:ext cx="1800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5" name="Line 160"/>
          <p:cNvSpPr>
            <a:spLocks noChangeShapeType="1"/>
          </p:cNvSpPr>
          <p:nvPr/>
        </p:nvSpPr>
        <p:spPr bwMode="auto">
          <a:xfrm flipV="1">
            <a:off x="4063039" y="2575144"/>
            <a:ext cx="0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6" name="Line 161"/>
          <p:cNvSpPr>
            <a:spLocks noChangeShapeType="1"/>
          </p:cNvSpPr>
          <p:nvPr/>
        </p:nvSpPr>
        <p:spPr bwMode="auto">
          <a:xfrm>
            <a:off x="4063039" y="2575144"/>
            <a:ext cx="1439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7" name="Line 163"/>
          <p:cNvSpPr>
            <a:spLocks noChangeShapeType="1"/>
          </p:cNvSpPr>
          <p:nvPr/>
        </p:nvSpPr>
        <p:spPr bwMode="auto">
          <a:xfrm>
            <a:off x="1686552" y="3943569"/>
            <a:ext cx="864000" cy="0"/>
          </a:xfrm>
          <a:prstGeom prst="line">
            <a:avLst/>
          </a:prstGeom>
          <a:noFill/>
          <a:ln w="34925">
            <a:solidFill>
              <a:srgbClr val="FF6600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8" name="Line 164"/>
          <p:cNvSpPr>
            <a:spLocks noChangeShapeType="1"/>
          </p:cNvSpPr>
          <p:nvPr/>
        </p:nvSpPr>
        <p:spPr bwMode="auto">
          <a:xfrm>
            <a:off x="2554914" y="3943569"/>
            <a:ext cx="792000" cy="0"/>
          </a:xfrm>
          <a:prstGeom prst="line">
            <a:avLst/>
          </a:prstGeom>
          <a:noFill/>
          <a:ln w="34925">
            <a:solidFill>
              <a:srgbClr val="FF6600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9" name="Line 166"/>
          <p:cNvSpPr>
            <a:spLocks noChangeShapeType="1"/>
          </p:cNvSpPr>
          <p:nvPr/>
        </p:nvSpPr>
        <p:spPr bwMode="auto">
          <a:xfrm>
            <a:off x="5052052" y="3943569"/>
            <a:ext cx="503238" cy="0"/>
          </a:xfrm>
          <a:prstGeom prst="line">
            <a:avLst/>
          </a:prstGeom>
          <a:noFill/>
          <a:ln w="34925">
            <a:solidFill>
              <a:srgbClr val="FF6600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0" name="Text Box 176"/>
          <p:cNvSpPr txBox="1">
            <a:spLocks noChangeArrowheads="1"/>
          </p:cNvSpPr>
          <p:nvPr/>
        </p:nvSpPr>
        <p:spPr bwMode="auto">
          <a:xfrm>
            <a:off x="1183314" y="3870544"/>
            <a:ext cx="297174" cy="371513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92" name="Line 117"/>
          <p:cNvSpPr>
            <a:spLocks noChangeShapeType="1"/>
          </p:cNvSpPr>
          <p:nvPr/>
        </p:nvSpPr>
        <p:spPr bwMode="auto">
          <a:xfrm>
            <a:off x="3352504" y="4304118"/>
            <a:ext cx="846000" cy="1588"/>
          </a:xfrm>
          <a:prstGeom prst="line">
            <a:avLst/>
          </a:prstGeom>
          <a:noFill/>
          <a:ln w="34925" cap="sq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7" grpId="0" animBg="1"/>
      <p:bldP spid="88" grpId="0" animBg="1"/>
      <p:bldP spid="89" grpId="0" animBg="1"/>
      <p:bldP spid="9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688604" y="864117"/>
            <a:ext cx="4457553" cy="603177"/>
          </a:xfrm>
        </p:spPr>
        <p:txBody>
          <a:bodyPr/>
          <a:lstStyle/>
          <a:p>
            <a:pPr eaLnBrk="1" hangingPunct="1"/>
            <a:r>
              <a:rPr lang="zh-CN" altLang="en-US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边沿</a:t>
            </a:r>
            <a:r>
              <a:rPr lang="en-US" altLang="zh-CN" sz="32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触发器的特点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569964" y="1973632"/>
            <a:ext cx="5936623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① 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边沿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触发。</a:t>
            </a:r>
          </a:p>
          <a:p>
            <a:pPr>
              <a:spcBef>
                <a:spcPct val="50000"/>
              </a:spcBef>
            </a:pP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② 功能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齐全，使用方便灵活。</a:t>
            </a:r>
          </a:p>
          <a:p>
            <a:pPr>
              <a:spcBef>
                <a:spcPct val="50000"/>
              </a:spcBef>
            </a:pP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③ 抗干扰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能力极强，工作速度很高。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96879" y="148856"/>
            <a:ext cx="37338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集成边沿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28600" y="777949"/>
          <a:ext cx="8686800" cy="3660775"/>
        </p:xfrm>
        <a:graphic>
          <a:graphicData uri="http://schemas.openxmlformats.org/presentationml/2006/ole">
            <p:oleObj spid="_x0000_s130050" name="图片" r:id="rId4" imgW="4000680" imgH="1685880" progId="Word.Picture.8">
              <p:embed/>
            </p:oleObj>
          </a:graphicData>
        </a:graphic>
      </p:graphicFrame>
      <p:sp useBgFill="1">
        <p:nvSpPr>
          <p:cNvPr id="6" name="矩形 5"/>
          <p:cNvSpPr/>
          <p:nvPr/>
        </p:nvSpPr>
        <p:spPr>
          <a:xfrm>
            <a:off x="4657060" y="776177"/>
            <a:ext cx="4284921" cy="3668232"/>
          </a:xfrm>
          <a:prstGeom prst="rect">
            <a:avLst/>
          </a:prstGeom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082363" y="1568524"/>
            <a:ext cx="1148316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200" b="1" i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注意</a:t>
            </a:r>
            <a:endParaRPr lang="zh-CN" altLang="en-US" sz="2400" i="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655510" y="2547498"/>
            <a:ext cx="4286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74LS112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为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下降沿触发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5" grpId="0" animBg="1" autoUpdateAnimBg="0"/>
      <p:bldP spid="4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96879" y="148856"/>
            <a:ext cx="37338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集成边沿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28600" y="777949"/>
          <a:ext cx="8686800" cy="3660775"/>
        </p:xfrm>
        <a:graphic>
          <a:graphicData uri="http://schemas.openxmlformats.org/presentationml/2006/ole">
            <p:oleObj spid="_x0000_s131074" name="图片" r:id="rId4" imgW="4000680" imgH="1685880" progId="Word.Picture.8">
              <p:embed/>
            </p:oleObj>
          </a:graphicData>
        </a:graphic>
      </p:graphicFrame>
      <p:sp useBgFill="1">
        <p:nvSpPr>
          <p:cNvPr id="6" name="矩形 5"/>
          <p:cNvSpPr/>
          <p:nvPr/>
        </p:nvSpPr>
        <p:spPr>
          <a:xfrm>
            <a:off x="202018" y="744279"/>
            <a:ext cx="4327452" cy="3763926"/>
          </a:xfrm>
          <a:prstGeom prst="rect">
            <a:avLst/>
          </a:prstGeom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08075" y="1536626"/>
            <a:ext cx="1148316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200" b="1" i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注意</a:t>
            </a:r>
            <a:endParaRPr lang="zh-CN" altLang="en-US" sz="2400" i="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1222" y="2515600"/>
            <a:ext cx="3861169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4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CC4027</a:t>
            </a:r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为</a:t>
            </a:r>
            <a:r>
              <a:rPr lang="en-US" altLang="zh-CN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上升沿触发</a:t>
            </a:r>
            <a:r>
              <a:rPr lang="zh-CN" altLang="en-US" sz="24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4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i="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24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为高电平有效。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4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14600" y="304800"/>
            <a:ext cx="4114800" cy="58896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触发器→</a:t>
            </a: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endParaRPr lang="zh-CN" altLang="en-US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609600" y="1066800"/>
            <a:ext cx="7651898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写出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触发器的特性方程，并进行变换，使之形式与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触发器的特性方程一致：</a:t>
            </a: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1700692" y="2374606"/>
          <a:ext cx="6483350" cy="627063"/>
        </p:xfrm>
        <a:graphic>
          <a:graphicData uri="http://schemas.openxmlformats.org/presentationml/2006/ole">
            <p:oleObj spid="_x0000_s132098" name="公式" r:id="rId4" imgW="2361960" imgH="228600" progId="Equation.3">
              <p:embed/>
            </p:oleObj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75168" y="3592033"/>
            <a:ext cx="57575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与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触发器的特性方程比较，得：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6234223" y="3274828"/>
          <a:ext cx="1333500" cy="1206500"/>
        </p:xfrm>
        <a:graphic>
          <a:graphicData uri="http://schemas.openxmlformats.org/presentationml/2006/ole">
            <p:oleObj spid="_x0000_s132099" name="公式" r:id="rId5" imgW="533160" imgH="48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build="p" autoUpdateAnimBg="0"/>
      <p:bldP spid="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2766237" y="2123300"/>
          <a:ext cx="5181600" cy="2238375"/>
        </p:xfrm>
        <a:graphic>
          <a:graphicData uri="http://schemas.openxmlformats.org/presentationml/2006/ole">
            <p:oleObj spid="_x0000_s133122" name="图片" r:id="rId3" imgW="1847880" imgH="771480" progId="Word.Picture.8">
              <p:embed/>
            </p:oleObj>
          </a:graphicData>
        </a:graphic>
      </p:graphicFrame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166037" y="2410637"/>
            <a:ext cx="990600" cy="1563688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>
                <a:latin typeface="华文中宋" pitchFamily="2" charset="-122"/>
                <a:ea typeface="华文中宋" pitchFamily="2" charset="-122"/>
              </a:rPr>
              <a:t>电路图</a:t>
            </a:r>
            <a:endParaRPr lang="zh-CN" altLang="en-US" sz="2400" b="1" i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14600" y="304800"/>
            <a:ext cx="4114800" cy="58896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触发器→</a:t>
            </a: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endParaRPr lang="zh-CN" altLang="en-US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353287" name="Object 7"/>
          <p:cNvGraphicFramePr>
            <a:graphicFrameLocks noChangeAspect="1"/>
          </p:cNvGraphicFramePr>
          <p:nvPr/>
        </p:nvGraphicFramePr>
        <p:xfrm>
          <a:off x="6999657" y="755097"/>
          <a:ext cx="1333500" cy="1206500"/>
        </p:xfrm>
        <a:graphic>
          <a:graphicData uri="http://schemas.openxmlformats.org/presentationml/2006/ole">
            <p:oleObj spid="_x0000_s133123" name="公式" r:id="rId4" imgW="533160" imgH="48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14600" y="304800"/>
            <a:ext cx="4114800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触发器→</a:t>
            </a: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51121" y="1368056"/>
            <a:ext cx="8061252" cy="2563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在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CP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时钟脉冲控制下，根据输入信号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取值的不同，具有保持和翻转功能的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电路</a:t>
            </a:r>
            <a:endParaRPr lang="en-US" altLang="zh-CN" sz="2800" b="1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algn="just">
              <a:lnSpc>
                <a:spcPct val="130000"/>
              </a:lnSpc>
              <a:spcBef>
                <a:spcPts val="1800"/>
              </a:spcBef>
            </a:pP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当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时能保持状态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不变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＝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时一定翻转的电路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，称为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触发器。</a:t>
            </a: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2011560" y="3297498"/>
            <a:ext cx="1524000" cy="685800"/>
          </a:xfrm>
          <a:prstGeom prst="ellips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build="p" autoUpdateAnimBg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94168" y="1632984"/>
          <a:ext cx="6019800" cy="2832100"/>
        </p:xfrm>
        <a:graphic>
          <a:graphicData uri="http://schemas.openxmlformats.org/presentationml/2006/ole">
            <p:oleObj spid="_x0000_s134146" name="Document" r:id="rId4" imgW="2359866" imgH="1427350" progId="Word.Document.8">
              <p:embed/>
            </p:oleObj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351568" y="815422"/>
            <a:ext cx="3209260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zh-CN" altLang="en-US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3200" b="1" i="0" dirty="0" smtClean="0">
                <a:latin typeface="华文中宋" pitchFamily="2" charset="-122"/>
                <a:ea typeface="华文中宋" pitchFamily="2" charset="-122"/>
              </a:rPr>
              <a:t>特性</a:t>
            </a:r>
            <a:r>
              <a:rPr lang="zh-CN" altLang="en-US" sz="3200" b="1" i="0" dirty="0">
                <a:latin typeface="华文中宋" pitchFamily="2" charset="-122"/>
                <a:ea typeface="华文中宋" pitchFamily="2" charset="-122"/>
              </a:rPr>
              <a:t>表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390168" y="718584"/>
            <a:ext cx="2438400" cy="58896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>
                <a:latin typeface="华文中宋" pitchFamily="2" charset="-122"/>
                <a:ea typeface="华文中宋" pitchFamily="2" charset="-122"/>
              </a:rPr>
              <a:t>逻辑符号</a:t>
            </a: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6506056" y="1404384"/>
          <a:ext cx="2322512" cy="3429000"/>
        </p:xfrm>
        <a:graphic>
          <a:graphicData uri="http://schemas.openxmlformats.org/presentationml/2006/ole">
            <p:oleObj spid="_x0000_s134147" name="图片" r:id="rId5" imgW="800280" imgH="1181160" progId="Word.Picture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56907" y="776176"/>
            <a:ext cx="3540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触发器特性方程：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028507" y="1523999"/>
          <a:ext cx="4464050" cy="577850"/>
        </p:xfrm>
        <a:graphic>
          <a:graphicData uri="http://schemas.openxmlformats.org/presentationml/2006/ole">
            <p:oleObj spid="_x0000_s135170" name="公式" r:id="rId5" imgW="1765080" imgH="228600" progId="Equation.3">
              <p:embed/>
            </p:oleObj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656907" y="2509283"/>
            <a:ext cx="5562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与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触发器的特性方程比较，得：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323907" y="3126821"/>
          <a:ext cx="1390650" cy="1287462"/>
        </p:xfrm>
        <a:graphic>
          <a:graphicData uri="http://schemas.openxmlformats.org/presentationml/2006/ole">
            <p:oleObj spid="_x0000_s135171" name="公式" r:id="rId6" imgW="49500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4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2356882" y="662763"/>
            <a:ext cx="3215781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 </a:t>
            </a:r>
            <a:r>
              <a:rPr lang="zh-CN" altLang="en-US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3200" b="1" i="0" dirty="0" smtClean="0">
                <a:latin typeface="华文中宋" pitchFamily="2" charset="-122"/>
                <a:ea typeface="华文中宋" pitchFamily="2" charset="-122"/>
              </a:rPr>
              <a:t>电路图</a:t>
            </a:r>
            <a:endParaRPr lang="zh-CN" altLang="en-US" sz="2400" b="1" i="0" dirty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1974112" y="1834117"/>
          <a:ext cx="5181600" cy="2238375"/>
        </p:xfrm>
        <a:graphic>
          <a:graphicData uri="http://schemas.openxmlformats.org/presentationml/2006/ole">
            <p:oleObj spid="_x0000_s136194" name="图片" r:id="rId3" imgW="1847880" imgH="771480" progId="Word.Picture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65745" y="308344"/>
            <a:ext cx="4419600" cy="52322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触发器→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 </a:t>
            </a:r>
            <a:r>
              <a:rPr lang="en-US" altLang="zh-CN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' 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endParaRPr lang="zh-CN" altLang="en-US" sz="28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81000" y="914400"/>
            <a:ext cx="7795437" cy="1082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在数字电路中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，每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来一个时钟脉冲就翻转一次的电路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，称为</a:t>
            </a:r>
            <a:r>
              <a:rPr lang="en-US" altLang="zh-CN" sz="28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 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' 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2059426" y="1369322"/>
            <a:ext cx="1828800" cy="685800"/>
          </a:xfrm>
          <a:prstGeom prst="ellips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54102" y="2228667"/>
            <a:ext cx="1752600" cy="588962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特性表</a:t>
            </a:r>
            <a:endParaRPr lang="zh-CN" altLang="en-US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019800" y="1605516"/>
            <a:ext cx="2438400" cy="58896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逻辑符号</a:t>
            </a:r>
            <a:endParaRPr lang="zh-CN" altLang="en-US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635418" y="2331189"/>
          <a:ext cx="1583550" cy="2337983"/>
        </p:xfrm>
        <a:graphic>
          <a:graphicData uri="http://schemas.openxmlformats.org/presentationml/2006/ole">
            <p:oleObj spid="_x0000_s137218" name="图片" r:id="rId4" imgW="800280" imgH="1181160" progId="Word.Picture.8">
              <p:embed/>
            </p:oleObj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50605" y="2949169"/>
          <a:ext cx="4572000" cy="1725612"/>
        </p:xfrm>
        <a:graphic>
          <a:graphicData uri="http://schemas.openxmlformats.org/presentationml/2006/ole">
            <p:oleObj spid="_x0000_s137219" name="文档" r:id="rId5" imgW="2134080" imgH="1024920" progId="Word.Documen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build="p" autoUpdateAnimBg="0"/>
      <p:bldP spid="4" grpId="0" animBg="1"/>
      <p:bldP spid="5" grpId="0" animBg="1" autoUpdateAnimBg="0"/>
      <p:bldP spid="6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524000" y="457200"/>
            <a:ext cx="34083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'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特性方程：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435395" y="2732568"/>
            <a:ext cx="54324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与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触发器的特性方程比较，得：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379913" y="3352800"/>
          <a:ext cx="1319212" cy="1323975"/>
        </p:xfrm>
        <a:graphic>
          <a:graphicData uri="http://schemas.openxmlformats.org/presentationml/2006/ole">
            <p:oleObj spid="_x0000_s138242" name="公式" r:id="rId5" imgW="469800" imgH="469800" progId="Equation.3">
              <p:embed/>
            </p:oleObj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5105400" y="381000"/>
          <a:ext cx="1619250" cy="571500"/>
        </p:xfrm>
        <a:graphic>
          <a:graphicData uri="http://schemas.openxmlformats.org/presentationml/2006/ole">
            <p:oleObj spid="_x0000_s138243" name="公式" r:id="rId6" imgW="647640" imgH="228600" progId="Equation.3">
              <p:embed/>
            </p:oleObj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479697" y="1300717"/>
            <a:ext cx="49530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变换</a:t>
            </a:r>
            <a:r>
              <a:rPr lang="en-US" altLang="zh-CN" sz="28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' 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的特性方程：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2372833" y="1944097"/>
          <a:ext cx="4267200" cy="595312"/>
        </p:xfrm>
        <a:graphic>
          <a:graphicData uri="http://schemas.openxmlformats.org/presentationml/2006/ole">
            <p:oleObj spid="_x0000_s138244" name="公式" r:id="rId7" imgW="163800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867247" y="534472"/>
            <a:ext cx="3416596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T</a:t>
            </a:r>
            <a:r>
              <a:rPr lang="en-US" altLang="zh-CN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'</a:t>
            </a:r>
            <a:r>
              <a:rPr lang="zh-CN" altLang="en-US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</a:t>
            </a:r>
            <a:r>
              <a:rPr lang="zh-CN" altLang="en-US" sz="3200" b="1" i="0" dirty="0" smtClean="0">
                <a:latin typeface="华文中宋" pitchFamily="2" charset="-122"/>
                <a:ea typeface="华文中宋" pitchFamily="2" charset="-122"/>
              </a:rPr>
              <a:t>电路图</a:t>
            </a:r>
            <a:endParaRPr lang="zh-CN" altLang="en-US" sz="3200" b="1" i="0" dirty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1867786" y="1564759"/>
          <a:ext cx="5181600" cy="2286000"/>
        </p:xfrm>
        <a:graphic>
          <a:graphicData uri="http://schemas.openxmlformats.org/presentationml/2006/ole">
            <p:oleObj spid="_x0000_s139266" name="图片" r:id="rId3" imgW="1847880" imgH="771480" progId="Word.Picture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555171" y="174172"/>
            <a:ext cx="43894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用</a:t>
            </a:r>
            <a:r>
              <a:rPr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JK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触发器构成计数器</a:t>
            </a:r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7056664" y="1469571"/>
            <a:ext cx="704850" cy="228600"/>
          </a:xfrm>
          <a:custGeom>
            <a:avLst/>
            <a:gdLst>
              <a:gd name="T0" fmla="*/ 0 w 528"/>
              <a:gd name="T1" fmla="*/ 0 h 132"/>
              <a:gd name="T2" fmla="*/ 342157877 w 528"/>
              <a:gd name="T3" fmla="*/ 0 h 132"/>
              <a:gd name="T4" fmla="*/ 342157877 w 528"/>
              <a:gd name="T5" fmla="*/ 395893562 h 132"/>
              <a:gd name="T6" fmla="*/ 620161085 w 528"/>
              <a:gd name="T7" fmla="*/ 395893562 h 132"/>
              <a:gd name="T8" fmla="*/ 620161085 w 528"/>
              <a:gd name="T9" fmla="*/ 35990642 h 132"/>
              <a:gd name="T10" fmla="*/ 940934600 w 528"/>
              <a:gd name="T11" fmla="*/ 35990642 h 1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28"/>
              <a:gd name="T19" fmla="*/ 0 h 132"/>
              <a:gd name="T20" fmla="*/ 528 w 528"/>
              <a:gd name="T21" fmla="*/ 132 h 1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28" h="132">
                <a:moveTo>
                  <a:pt x="0" y="0"/>
                </a:moveTo>
                <a:lnTo>
                  <a:pt x="192" y="0"/>
                </a:lnTo>
                <a:lnTo>
                  <a:pt x="192" y="132"/>
                </a:lnTo>
                <a:lnTo>
                  <a:pt x="348" y="132"/>
                </a:lnTo>
                <a:lnTo>
                  <a:pt x="348" y="12"/>
                </a:lnTo>
                <a:lnTo>
                  <a:pt x="528" y="12"/>
                </a:lnTo>
              </a:path>
            </a:pathLst>
          </a:custGeom>
          <a:noFill/>
          <a:ln w="38100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" name="Group 14"/>
          <p:cNvGrpSpPr>
            <a:grpSpLocks/>
          </p:cNvGrpSpPr>
          <p:nvPr/>
        </p:nvGrpSpPr>
        <p:grpSpPr bwMode="auto">
          <a:xfrm>
            <a:off x="2830286" y="740003"/>
            <a:ext cx="4213226" cy="468313"/>
            <a:chOff x="1680" y="665"/>
            <a:chExt cx="2654" cy="295"/>
          </a:xfrm>
        </p:grpSpPr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28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4094" y="665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6" name="Group 18"/>
          <p:cNvGrpSpPr>
            <a:grpSpLocks/>
          </p:cNvGrpSpPr>
          <p:nvPr/>
        </p:nvGrpSpPr>
        <p:grpSpPr bwMode="auto">
          <a:xfrm>
            <a:off x="5063899" y="3439886"/>
            <a:ext cx="628650" cy="304800"/>
            <a:chOff x="4368" y="2832"/>
            <a:chExt cx="396" cy="192"/>
          </a:xfrm>
        </p:grpSpPr>
        <p:sp>
          <p:nvSpPr>
            <p:cNvPr id="17" name="Freeform 19"/>
            <p:cNvSpPr>
              <a:spLocks/>
            </p:cNvSpPr>
            <p:nvPr/>
          </p:nvSpPr>
          <p:spPr bwMode="auto">
            <a:xfrm>
              <a:off x="4368" y="2880"/>
              <a:ext cx="396" cy="132"/>
            </a:xfrm>
            <a:custGeom>
              <a:avLst/>
              <a:gdLst>
                <a:gd name="T0" fmla="*/ 0 w 396"/>
                <a:gd name="T1" fmla="*/ 132 h 132"/>
                <a:gd name="T2" fmla="*/ 132 w 396"/>
                <a:gd name="T3" fmla="*/ 132 h 132"/>
                <a:gd name="T4" fmla="*/ 129 w 396"/>
                <a:gd name="T5" fmla="*/ 0 h 132"/>
                <a:gd name="T6" fmla="*/ 253 w 396"/>
                <a:gd name="T7" fmla="*/ 0 h 132"/>
                <a:gd name="T8" fmla="*/ 253 w 396"/>
                <a:gd name="T9" fmla="*/ 131 h 132"/>
                <a:gd name="T10" fmla="*/ 396 w 396"/>
                <a:gd name="T11" fmla="*/ 13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"/>
                <a:gd name="T19" fmla="*/ 0 h 132"/>
                <a:gd name="T20" fmla="*/ 396 w 39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" h="132">
                  <a:moveTo>
                    <a:pt x="0" y="132"/>
                  </a:moveTo>
                  <a:lnTo>
                    <a:pt x="132" y="132"/>
                  </a:lnTo>
                  <a:lnTo>
                    <a:pt x="129" y="0"/>
                  </a:lnTo>
                  <a:lnTo>
                    <a:pt x="253" y="0"/>
                  </a:lnTo>
                  <a:lnTo>
                    <a:pt x="253" y="131"/>
                  </a:lnTo>
                  <a:lnTo>
                    <a:pt x="396" y="131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2812371" y="690337"/>
            <a:ext cx="4202113" cy="522288"/>
            <a:chOff x="1680" y="631"/>
            <a:chExt cx="2647" cy="329"/>
          </a:xfrm>
        </p:grpSpPr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2887" y="65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4087" y="631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23" name="Group 25"/>
          <p:cNvGrpSpPr>
            <a:grpSpLocks/>
          </p:cNvGrpSpPr>
          <p:nvPr/>
        </p:nvGrpSpPr>
        <p:grpSpPr bwMode="auto">
          <a:xfrm>
            <a:off x="5468722" y="3435124"/>
            <a:ext cx="628651" cy="304800"/>
            <a:chOff x="4368" y="2832"/>
            <a:chExt cx="396" cy="192"/>
          </a:xfrm>
        </p:grpSpPr>
        <p:sp>
          <p:nvSpPr>
            <p:cNvPr id="24" name="Freeform 26"/>
            <p:cNvSpPr>
              <a:spLocks/>
            </p:cNvSpPr>
            <p:nvPr/>
          </p:nvSpPr>
          <p:spPr bwMode="auto">
            <a:xfrm>
              <a:off x="4368" y="2880"/>
              <a:ext cx="396" cy="132"/>
            </a:xfrm>
            <a:custGeom>
              <a:avLst/>
              <a:gdLst>
                <a:gd name="T0" fmla="*/ 0 w 396"/>
                <a:gd name="T1" fmla="*/ 132 h 132"/>
                <a:gd name="T2" fmla="*/ 132 w 396"/>
                <a:gd name="T3" fmla="*/ 132 h 132"/>
                <a:gd name="T4" fmla="*/ 129 w 396"/>
                <a:gd name="T5" fmla="*/ 0 h 132"/>
                <a:gd name="T6" fmla="*/ 253 w 396"/>
                <a:gd name="T7" fmla="*/ 0 h 132"/>
                <a:gd name="T8" fmla="*/ 253 w 396"/>
                <a:gd name="T9" fmla="*/ 131 h 132"/>
                <a:gd name="T10" fmla="*/ 396 w 396"/>
                <a:gd name="T11" fmla="*/ 13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"/>
                <a:gd name="T19" fmla="*/ 0 h 132"/>
                <a:gd name="T20" fmla="*/ 396 w 39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" h="132">
                  <a:moveTo>
                    <a:pt x="0" y="132"/>
                  </a:moveTo>
                  <a:lnTo>
                    <a:pt x="132" y="132"/>
                  </a:lnTo>
                  <a:lnTo>
                    <a:pt x="129" y="0"/>
                  </a:lnTo>
                  <a:lnTo>
                    <a:pt x="253" y="0"/>
                  </a:lnTo>
                  <a:lnTo>
                    <a:pt x="253" y="131"/>
                  </a:lnTo>
                  <a:lnTo>
                    <a:pt x="396" y="131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grpSp>
        <p:nvGrpSpPr>
          <p:cNvPr id="26" name="Group 28"/>
          <p:cNvGrpSpPr>
            <a:grpSpLocks/>
          </p:cNvGrpSpPr>
          <p:nvPr/>
        </p:nvGrpSpPr>
        <p:grpSpPr bwMode="auto">
          <a:xfrm>
            <a:off x="2779714" y="714830"/>
            <a:ext cx="4289425" cy="468313"/>
            <a:chOff x="1680" y="665"/>
            <a:chExt cx="2702" cy="295"/>
          </a:xfrm>
        </p:grpSpPr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8" name="Text Box 30"/>
            <p:cNvSpPr txBox="1">
              <a:spLocks noChangeArrowheads="1"/>
            </p:cNvSpPr>
            <p:nvPr/>
          </p:nvSpPr>
          <p:spPr bwMode="auto">
            <a:xfrm>
              <a:off x="2914" y="665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4142" y="665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30" name="Group 32"/>
          <p:cNvGrpSpPr>
            <a:grpSpLocks/>
          </p:cNvGrpSpPr>
          <p:nvPr/>
        </p:nvGrpSpPr>
        <p:grpSpPr bwMode="auto">
          <a:xfrm>
            <a:off x="5878286" y="3439886"/>
            <a:ext cx="628650" cy="304800"/>
            <a:chOff x="4368" y="2832"/>
            <a:chExt cx="396" cy="192"/>
          </a:xfrm>
        </p:grpSpPr>
        <p:sp>
          <p:nvSpPr>
            <p:cNvPr id="31" name="Freeform 33"/>
            <p:cNvSpPr>
              <a:spLocks/>
            </p:cNvSpPr>
            <p:nvPr/>
          </p:nvSpPr>
          <p:spPr bwMode="auto">
            <a:xfrm>
              <a:off x="4368" y="2880"/>
              <a:ext cx="396" cy="132"/>
            </a:xfrm>
            <a:custGeom>
              <a:avLst/>
              <a:gdLst>
                <a:gd name="T0" fmla="*/ 0 w 396"/>
                <a:gd name="T1" fmla="*/ 132 h 132"/>
                <a:gd name="T2" fmla="*/ 132 w 396"/>
                <a:gd name="T3" fmla="*/ 132 h 132"/>
                <a:gd name="T4" fmla="*/ 129 w 396"/>
                <a:gd name="T5" fmla="*/ 0 h 132"/>
                <a:gd name="T6" fmla="*/ 253 w 396"/>
                <a:gd name="T7" fmla="*/ 0 h 132"/>
                <a:gd name="T8" fmla="*/ 253 w 396"/>
                <a:gd name="T9" fmla="*/ 131 h 132"/>
                <a:gd name="T10" fmla="*/ 396 w 396"/>
                <a:gd name="T11" fmla="*/ 13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"/>
                <a:gd name="T19" fmla="*/ 0 h 132"/>
                <a:gd name="T20" fmla="*/ 396 w 39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" h="132">
                  <a:moveTo>
                    <a:pt x="0" y="132"/>
                  </a:moveTo>
                  <a:lnTo>
                    <a:pt x="132" y="132"/>
                  </a:lnTo>
                  <a:lnTo>
                    <a:pt x="129" y="0"/>
                  </a:lnTo>
                  <a:lnTo>
                    <a:pt x="253" y="0"/>
                  </a:lnTo>
                  <a:lnTo>
                    <a:pt x="253" y="131"/>
                  </a:lnTo>
                  <a:lnTo>
                    <a:pt x="396" y="131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</p:grpSp>
      <p:grpSp>
        <p:nvGrpSpPr>
          <p:cNvPr id="33" name="Group 35"/>
          <p:cNvGrpSpPr>
            <a:grpSpLocks/>
          </p:cNvGrpSpPr>
          <p:nvPr/>
        </p:nvGrpSpPr>
        <p:grpSpPr bwMode="auto">
          <a:xfrm>
            <a:off x="2812371" y="725943"/>
            <a:ext cx="4244975" cy="522288"/>
            <a:chOff x="1680" y="672"/>
            <a:chExt cx="2674" cy="329"/>
          </a:xfrm>
        </p:grpSpPr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2907" y="693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4114" y="713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37" name="Group 39"/>
          <p:cNvGrpSpPr>
            <a:grpSpLocks/>
          </p:cNvGrpSpPr>
          <p:nvPr/>
        </p:nvGrpSpPr>
        <p:grpSpPr bwMode="auto">
          <a:xfrm>
            <a:off x="6302148" y="3439886"/>
            <a:ext cx="628650" cy="304800"/>
            <a:chOff x="4368" y="2832"/>
            <a:chExt cx="396" cy="192"/>
          </a:xfrm>
        </p:grpSpPr>
        <p:sp>
          <p:nvSpPr>
            <p:cNvPr id="38" name="Freeform 40"/>
            <p:cNvSpPr>
              <a:spLocks/>
            </p:cNvSpPr>
            <p:nvPr/>
          </p:nvSpPr>
          <p:spPr bwMode="auto">
            <a:xfrm>
              <a:off x="4368" y="2880"/>
              <a:ext cx="396" cy="132"/>
            </a:xfrm>
            <a:custGeom>
              <a:avLst/>
              <a:gdLst>
                <a:gd name="T0" fmla="*/ 0 w 396"/>
                <a:gd name="T1" fmla="*/ 132 h 132"/>
                <a:gd name="T2" fmla="*/ 132 w 396"/>
                <a:gd name="T3" fmla="*/ 132 h 132"/>
                <a:gd name="T4" fmla="*/ 129 w 396"/>
                <a:gd name="T5" fmla="*/ 0 h 132"/>
                <a:gd name="T6" fmla="*/ 253 w 396"/>
                <a:gd name="T7" fmla="*/ 0 h 132"/>
                <a:gd name="T8" fmla="*/ 253 w 396"/>
                <a:gd name="T9" fmla="*/ 131 h 132"/>
                <a:gd name="T10" fmla="*/ 396 w 396"/>
                <a:gd name="T11" fmla="*/ 13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"/>
                <a:gd name="T19" fmla="*/ 0 h 132"/>
                <a:gd name="T20" fmla="*/ 396 w 39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" h="132">
                  <a:moveTo>
                    <a:pt x="0" y="132"/>
                  </a:moveTo>
                  <a:lnTo>
                    <a:pt x="132" y="132"/>
                  </a:lnTo>
                  <a:lnTo>
                    <a:pt x="129" y="0"/>
                  </a:lnTo>
                  <a:lnTo>
                    <a:pt x="253" y="0"/>
                  </a:lnTo>
                  <a:lnTo>
                    <a:pt x="253" y="131"/>
                  </a:lnTo>
                  <a:lnTo>
                    <a:pt x="396" y="131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Text Box 41"/>
            <p:cNvSpPr txBox="1"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40" name="Group 42"/>
          <p:cNvGrpSpPr>
            <a:grpSpLocks/>
          </p:cNvGrpSpPr>
          <p:nvPr/>
        </p:nvGrpSpPr>
        <p:grpSpPr bwMode="auto">
          <a:xfrm>
            <a:off x="2790600" y="725941"/>
            <a:ext cx="4224338" cy="457200"/>
            <a:chOff x="1680" y="672"/>
            <a:chExt cx="2661" cy="288"/>
          </a:xfrm>
        </p:grpSpPr>
        <p:sp>
          <p:nvSpPr>
            <p:cNvPr id="41" name="Text Box 43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2914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auto">
            <a:xfrm>
              <a:off x="4101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44" name="Group 46"/>
          <p:cNvGrpSpPr>
            <a:grpSpLocks/>
          </p:cNvGrpSpPr>
          <p:nvPr/>
        </p:nvGrpSpPr>
        <p:grpSpPr bwMode="auto">
          <a:xfrm>
            <a:off x="6711724" y="3439886"/>
            <a:ext cx="628650" cy="304800"/>
            <a:chOff x="4368" y="2832"/>
            <a:chExt cx="396" cy="192"/>
          </a:xfrm>
        </p:grpSpPr>
        <p:sp>
          <p:nvSpPr>
            <p:cNvPr id="45" name="Freeform 47"/>
            <p:cNvSpPr>
              <a:spLocks/>
            </p:cNvSpPr>
            <p:nvPr/>
          </p:nvSpPr>
          <p:spPr bwMode="auto">
            <a:xfrm>
              <a:off x="4368" y="2880"/>
              <a:ext cx="396" cy="132"/>
            </a:xfrm>
            <a:custGeom>
              <a:avLst/>
              <a:gdLst>
                <a:gd name="T0" fmla="*/ 0 w 396"/>
                <a:gd name="T1" fmla="*/ 132 h 132"/>
                <a:gd name="T2" fmla="*/ 132 w 396"/>
                <a:gd name="T3" fmla="*/ 132 h 132"/>
                <a:gd name="T4" fmla="*/ 129 w 396"/>
                <a:gd name="T5" fmla="*/ 0 h 132"/>
                <a:gd name="T6" fmla="*/ 253 w 396"/>
                <a:gd name="T7" fmla="*/ 0 h 132"/>
                <a:gd name="T8" fmla="*/ 253 w 396"/>
                <a:gd name="T9" fmla="*/ 131 h 132"/>
                <a:gd name="T10" fmla="*/ 396 w 396"/>
                <a:gd name="T11" fmla="*/ 13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"/>
                <a:gd name="T19" fmla="*/ 0 h 132"/>
                <a:gd name="T20" fmla="*/ 396 w 39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" h="132">
                  <a:moveTo>
                    <a:pt x="0" y="132"/>
                  </a:moveTo>
                  <a:lnTo>
                    <a:pt x="132" y="132"/>
                  </a:lnTo>
                  <a:lnTo>
                    <a:pt x="129" y="0"/>
                  </a:lnTo>
                  <a:lnTo>
                    <a:pt x="253" y="0"/>
                  </a:lnTo>
                  <a:lnTo>
                    <a:pt x="253" y="131"/>
                  </a:lnTo>
                  <a:lnTo>
                    <a:pt x="396" y="131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Text Box 48"/>
            <p:cNvSpPr txBox="1"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</a:p>
          </p:txBody>
        </p:sp>
      </p:grpSp>
      <p:grpSp>
        <p:nvGrpSpPr>
          <p:cNvPr id="47" name="Group 49"/>
          <p:cNvGrpSpPr>
            <a:grpSpLocks/>
          </p:cNvGrpSpPr>
          <p:nvPr/>
        </p:nvGrpSpPr>
        <p:grpSpPr bwMode="auto">
          <a:xfrm>
            <a:off x="2834142" y="744540"/>
            <a:ext cx="4233863" cy="490538"/>
            <a:chOff x="1680" y="672"/>
            <a:chExt cx="2667" cy="309"/>
          </a:xfrm>
        </p:grpSpPr>
        <p:sp>
          <p:nvSpPr>
            <p:cNvPr id="48" name="Text Box 50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9" name="Text Box 51"/>
            <p:cNvSpPr txBox="1">
              <a:spLocks noChangeArrowheads="1"/>
            </p:cNvSpPr>
            <p:nvPr/>
          </p:nvSpPr>
          <p:spPr bwMode="auto">
            <a:xfrm>
              <a:off x="2914" y="693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0" name="Text Box 52"/>
            <p:cNvSpPr txBox="1">
              <a:spLocks noChangeArrowheads="1"/>
            </p:cNvSpPr>
            <p:nvPr/>
          </p:nvSpPr>
          <p:spPr bwMode="auto">
            <a:xfrm>
              <a:off x="4107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51" name="Group 53"/>
          <p:cNvGrpSpPr>
            <a:grpSpLocks/>
          </p:cNvGrpSpPr>
          <p:nvPr/>
        </p:nvGrpSpPr>
        <p:grpSpPr bwMode="auto">
          <a:xfrm>
            <a:off x="7097486" y="3439886"/>
            <a:ext cx="628650" cy="304800"/>
            <a:chOff x="4368" y="2832"/>
            <a:chExt cx="396" cy="192"/>
          </a:xfrm>
        </p:grpSpPr>
        <p:sp>
          <p:nvSpPr>
            <p:cNvPr id="52" name="Freeform 54"/>
            <p:cNvSpPr>
              <a:spLocks/>
            </p:cNvSpPr>
            <p:nvPr/>
          </p:nvSpPr>
          <p:spPr bwMode="auto">
            <a:xfrm>
              <a:off x="4368" y="2880"/>
              <a:ext cx="396" cy="132"/>
            </a:xfrm>
            <a:custGeom>
              <a:avLst/>
              <a:gdLst>
                <a:gd name="T0" fmla="*/ 0 w 396"/>
                <a:gd name="T1" fmla="*/ 132 h 132"/>
                <a:gd name="T2" fmla="*/ 132 w 396"/>
                <a:gd name="T3" fmla="*/ 132 h 132"/>
                <a:gd name="T4" fmla="*/ 129 w 396"/>
                <a:gd name="T5" fmla="*/ 0 h 132"/>
                <a:gd name="T6" fmla="*/ 253 w 396"/>
                <a:gd name="T7" fmla="*/ 0 h 132"/>
                <a:gd name="T8" fmla="*/ 253 w 396"/>
                <a:gd name="T9" fmla="*/ 131 h 132"/>
                <a:gd name="T10" fmla="*/ 396 w 396"/>
                <a:gd name="T11" fmla="*/ 13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"/>
                <a:gd name="T19" fmla="*/ 0 h 132"/>
                <a:gd name="T20" fmla="*/ 396 w 39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" h="132">
                  <a:moveTo>
                    <a:pt x="0" y="132"/>
                  </a:moveTo>
                  <a:lnTo>
                    <a:pt x="132" y="132"/>
                  </a:lnTo>
                  <a:lnTo>
                    <a:pt x="129" y="0"/>
                  </a:lnTo>
                  <a:lnTo>
                    <a:pt x="253" y="0"/>
                  </a:lnTo>
                  <a:lnTo>
                    <a:pt x="253" y="131"/>
                  </a:lnTo>
                  <a:lnTo>
                    <a:pt x="396" y="131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</p:grpSp>
      <p:grpSp>
        <p:nvGrpSpPr>
          <p:cNvPr id="54" name="Group 56"/>
          <p:cNvGrpSpPr>
            <a:grpSpLocks/>
          </p:cNvGrpSpPr>
          <p:nvPr/>
        </p:nvGrpSpPr>
        <p:grpSpPr bwMode="auto">
          <a:xfrm>
            <a:off x="2823256" y="769034"/>
            <a:ext cx="4233863" cy="479426"/>
            <a:chOff x="1680" y="658"/>
            <a:chExt cx="2667" cy="302"/>
          </a:xfrm>
        </p:grpSpPr>
        <p:sp>
          <p:nvSpPr>
            <p:cNvPr id="55" name="Text Box 57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6" name="Text Box 58"/>
            <p:cNvSpPr txBox="1">
              <a:spLocks noChangeArrowheads="1"/>
            </p:cNvSpPr>
            <p:nvPr/>
          </p:nvSpPr>
          <p:spPr bwMode="auto">
            <a:xfrm>
              <a:off x="2887" y="665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7" name="Text Box 59"/>
            <p:cNvSpPr txBox="1">
              <a:spLocks noChangeArrowheads="1"/>
            </p:cNvSpPr>
            <p:nvPr/>
          </p:nvSpPr>
          <p:spPr bwMode="auto">
            <a:xfrm>
              <a:off x="4107" y="65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58" name="Group 60"/>
          <p:cNvGrpSpPr>
            <a:grpSpLocks/>
          </p:cNvGrpSpPr>
          <p:nvPr/>
        </p:nvGrpSpPr>
        <p:grpSpPr bwMode="auto">
          <a:xfrm>
            <a:off x="7497536" y="3439886"/>
            <a:ext cx="628650" cy="304800"/>
            <a:chOff x="4368" y="2832"/>
            <a:chExt cx="396" cy="192"/>
          </a:xfrm>
        </p:grpSpPr>
        <p:sp>
          <p:nvSpPr>
            <p:cNvPr id="59" name="Freeform 61"/>
            <p:cNvSpPr>
              <a:spLocks/>
            </p:cNvSpPr>
            <p:nvPr/>
          </p:nvSpPr>
          <p:spPr bwMode="auto">
            <a:xfrm>
              <a:off x="4368" y="2880"/>
              <a:ext cx="396" cy="132"/>
            </a:xfrm>
            <a:custGeom>
              <a:avLst/>
              <a:gdLst>
                <a:gd name="T0" fmla="*/ 0 w 396"/>
                <a:gd name="T1" fmla="*/ 132 h 132"/>
                <a:gd name="T2" fmla="*/ 132 w 396"/>
                <a:gd name="T3" fmla="*/ 132 h 132"/>
                <a:gd name="T4" fmla="*/ 129 w 396"/>
                <a:gd name="T5" fmla="*/ 0 h 132"/>
                <a:gd name="T6" fmla="*/ 253 w 396"/>
                <a:gd name="T7" fmla="*/ 0 h 132"/>
                <a:gd name="T8" fmla="*/ 253 w 396"/>
                <a:gd name="T9" fmla="*/ 131 h 132"/>
                <a:gd name="T10" fmla="*/ 396 w 396"/>
                <a:gd name="T11" fmla="*/ 13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"/>
                <a:gd name="T19" fmla="*/ 0 h 132"/>
                <a:gd name="T20" fmla="*/ 396 w 396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" h="132">
                  <a:moveTo>
                    <a:pt x="0" y="132"/>
                  </a:moveTo>
                  <a:lnTo>
                    <a:pt x="132" y="132"/>
                  </a:lnTo>
                  <a:lnTo>
                    <a:pt x="129" y="0"/>
                  </a:lnTo>
                  <a:lnTo>
                    <a:pt x="253" y="0"/>
                  </a:lnTo>
                  <a:lnTo>
                    <a:pt x="253" y="131"/>
                  </a:lnTo>
                  <a:lnTo>
                    <a:pt x="396" y="131"/>
                  </a:lnTo>
                </a:path>
              </a:pathLst>
            </a:custGeom>
            <a:noFill/>
            <a:ln w="3810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Text Box 62"/>
            <p:cNvSpPr txBox="1">
              <a:spLocks noChangeArrowheads="1"/>
            </p:cNvSpPr>
            <p:nvPr/>
          </p:nvSpPr>
          <p:spPr bwMode="auto">
            <a:xfrm>
              <a:off x="4464" y="2832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 i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</p:grpSp>
      <p:grpSp>
        <p:nvGrpSpPr>
          <p:cNvPr id="61" name="Group 63"/>
          <p:cNvGrpSpPr>
            <a:grpSpLocks/>
          </p:cNvGrpSpPr>
          <p:nvPr/>
        </p:nvGrpSpPr>
        <p:grpSpPr bwMode="auto">
          <a:xfrm>
            <a:off x="2801485" y="758374"/>
            <a:ext cx="4244975" cy="468313"/>
            <a:chOff x="1680" y="665"/>
            <a:chExt cx="2674" cy="295"/>
          </a:xfrm>
        </p:grpSpPr>
        <p:sp>
          <p:nvSpPr>
            <p:cNvPr id="62" name="Text Box 64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63" name="Text Box 65"/>
            <p:cNvSpPr txBox="1">
              <a:spLocks noChangeArrowheads="1"/>
            </p:cNvSpPr>
            <p:nvPr/>
          </p:nvSpPr>
          <p:spPr bwMode="auto">
            <a:xfrm>
              <a:off x="2901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64" name="Text Box 66"/>
            <p:cNvSpPr txBox="1">
              <a:spLocks noChangeArrowheads="1"/>
            </p:cNvSpPr>
            <p:nvPr/>
          </p:nvSpPr>
          <p:spPr bwMode="auto">
            <a:xfrm>
              <a:off x="4114" y="665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65" name="Group 70"/>
          <p:cNvGrpSpPr>
            <a:grpSpLocks/>
          </p:cNvGrpSpPr>
          <p:nvPr/>
        </p:nvGrpSpPr>
        <p:grpSpPr bwMode="auto">
          <a:xfrm>
            <a:off x="2823257" y="740910"/>
            <a:ext cx="4202113" cy="457200"/>
            <a:chOff x="1680" y="672"/>
            <a:chExt cx="2647" cy="288"/>
          </a:xfrm>
        </p:grpSpPr>
        <p:sp>
          <p:nvSpPr>
            <p:cNvPr id="66" name="Text Box 71"/>
            <p:cNvSpPr txBox="1">
              <a:spLocks noChangeArrowheads="1"/>
            </p:cNvSpPr>
            <p:nvPr/>
          </p:nvSpPr>
          <p:spPr bwMode="auto">
            <a:xfrm>
              <a:off x="1680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67" name="Text Box 72"/>
            <p:cNvSpPr txBox="1">
              <a:spLocks noChangeArrowheads="1"/>
            </p:cNvSpPr>
            <p:nvPr/>
          </p:nvSpPr>
          <p:spPr bwMode="auto">
            <a:xfrm>
              <a:off x="2873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68" name="Text Box 73"/>
            <p:cNvSpPr txBox="1">
              <a:spLocks noChangeArrowheads="1"/>
            </p:cNvSpPr>
            <p:nvPr/>
          </p:nvSpPr>
          <p:spPr bwMode="auto">
            <a:xfrm>
              <a:off x="4087" y="67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70" name="Group 75"/>
          <p:cNvGrpSpPr>
            <a:grpSpLocks/>
          </p:cNvGrpSpPr>
          <p:nvPr/>
        </p:nvGrpSpPr>
        <p:grpSpPr bwMode="auto">
          <a:xfrm>
            <a:off x="1025979" y="3509963"/>
            <a:ext cx="3233738" cy="1371600"/>
            <a:chOff x="480" y="2928"/>
            <a:chExt cx="2016" cy="864"/>
          </a:xfrm>
        </p:grpSpPr>
        <p:grpSp>
          <p:nvGrpSpPr>
            <p:cNvPr id="71" name="Group 76"/>
            <p:cNvGrpSpPr>
              <a:grpSpLocks/>
            </p:cNvGrpSpPr>
            <p:nvPr/>
          </p:nvGrpSpPr>
          <p:grpSpPr bwMode="auto">
            <a:xfrm>
              <a:off x="480" y="2928"/>
              <a:ext cx="2016" cy="864"/>
              <a:chOff x="2160" y="323"/>
              <a:chExt cx="2016" cy="925"/>
            </a:xfrm>
          </p:grpSpPr>
          <p:grpSp>
            <p:nvGrpSpPr>
              <p:cNvPr id="73" name="Group 77"/>
              <p:cNvGrpSpPr>
                <a:grpSpLocks/>
              </p:cNvGrpSpPr>
              <p:nvPr/>
            </p:nvGrpSpPr>
            <p:grpSpPr bwMode="auto">
              <a:xfrm>
                <a:off x="2160" y="323"/>
                <a:ext cx="2016" cy="925"/>
                <a:chOff x="2160" y="323"/>
                <a:chExt cx="2016" cy="925"/>
              </a:xfrm>
            </p:grpSpPr>
            <p:grpSp>
              <p:nvGrpSpPr>
                <p:cNvPr id="76" name="Group 78"/>
                <p:cNvGrpSpPr>
                  <a:grpSpLocks/>
                </p:cNvGrpSpPr>
                <p:nvPr/>
              </p:nvGrpSpPr>
              <p:grpSpPr bwMode="auto">
                <a:xfrm>
                  <a:off x="2160" y="323"/>
                  <a:ext cx="1920" cy="925"/>
                  <a:chOff x="2112" y="2448"/>
                  <a:chExt cx="3168" cy="1344"/>
                </a:xfrm>
              </p:grpSpPr>
              <p:sp>
                <p:nvSpPr>
                  <p:cNvPr id="80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2448"/>
                    <a:ext cx="3168" cy="134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folHlink"/>
                      </a:gs>
                      <a:gs pos="100000">
                        <a:srgbClr val="FFFFCC"/>
                      </a:gs>
                    </a:gsLst>
                    <a:lin ang="2700000" scaled="1"/>
                  </a:gradFill>
                  <a:ln w="9525">
                    <a:solidFill>
                      <a:schemeClr val="bg2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1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2112" y="2784"/>
                    <a:ext cx="3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2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3120" y="2448"/>
                    <a:ext cx="0" cy="13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3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4152" y="2448"/>
                    <a:ext cx="0" cy="13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77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400" y="329"/>
                  <a:ext cx="1776" cy="2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 i="1" dirty="0">
                      <a:latin typeface="Times New Roman" pitchFamily="18" charset="0"/>
                      <a:cs typeface="Times New Roman" pitchFamily="18" charset="0"/>
                    </a:rPr>
                    <a:t>J         K              Q</a:t>
                  </a:r>
                  <a:r>
                    <a:rPr lang="en-US" altLang="zh-CN" b="1" i="1" baseline="30000" dirty="0">
                      <a:latin typeface="Times New Roman" pitchFamily="18" charset="0"/>
                      <a:cs typeface="Times New Roman" pitchFamily="18" charset="0"/>
                    </a:rPr>
                    <a:t>n</a:t>
                  </a:r>
                  <a:r>
                    <a:rPr lang="en-US" altLang="zh-CN" b="1" i="0" baseline="30000" dirty="0">
                      <a:latin typeface="Times New Roman" pitchFamily="18" charset="0"/>
                      <a:cs typeface="Times New Roman" pitchFamily="18" charset="0"/>
                    </a:rPr>
                    <a:t>+1</a:t>
                  </a:r>
                  <a:endParaRPr lang="en-US" altLang="zh-CN" b="1" i="0" baseline="30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8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2400" y="968"/>
                  <a:ext cx="1680" cy="2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 i="0" dirty="0">
                      <a:latin typeface="Times New Roman" pitchFamily="18" charset="0"/>
                      <a:ea typeface="黑体" pitchFamily="2" charset="-122"/>
                      <a:cs typeface="Times New Roman" pitchFamily="18" charset="0"/>
                    </a:rPr>
                    <a:t>1</a:t>
                  </a:r>
                  <a:r>
                    <a:rPr lang="en-US" altLang="zh-CN" b="1" i="0" dirty="0">
                      <a:latin typeface="Times New Roman" pitchFamily="18" charset="0"/>
                      <a:cs typeface="Times New Roman" pitchFamily="18" charset="0"/>
                    </a:rPr>
                    <a:t>          </a:t>
                  </a:r>
                  <a:r>
                    <a:rPr lang="en-US" altLang="zh-CN" b="1" i="0" dirty="0">
                      <a:latin typeface="Times New Roman" pitchFamily="18" charset="0"/>
                      <a:ea typeface="黑体" pitchFamily="2" charset="-122"/>
                      <a:cs typeface="Times New Roman" pitchFamily="18" charset="0"/>
                    </a:rPr>
                    <a:t>1</a:t>
                  </a:r>
                  <a:r>
                    <a:rPr lang="en-US" altLang="zh-CN" b="1" i="0" dirty="0">
                      <a:latin typeface="Times New Roman" pitchFamily="18" charset="0"/>
                      <a:cs typeface="Times New Roman" pitchFamily="18" charset="0"/>
                    </a:rPr>
                    <a:t>                </a:t>
                  </a:r>
                  <a:r>
                    <a:rPr lang="en-US" altLang="zh-CN" b="1" i="1" dirty="0" err="1">
                      <a:latin typeface="Times New Roman" pitchFamily="18" charset="0"/>
                      <a:cs typeface="Times New Roman" pitchFamily="18" charset="0"/>
                    </a:rPr>
                    <a:t>Q</a:t>
                  </a:r>
                  <a:r>
                    <a:rPr lang="en-US" altLang="zh-CN" b="1" i="1" baseline="30000" dirty="0" err="1">
                      <a:latin typeface="Times New Roman" pitchFamily="18" charset="0"/>
                      <a:cs typeface="Times New Roman" pitchFamily="18" charset="0"/>
                    </a:rPr>
                    <a:t>n</a:t>
                  </a:r>
                  <a:endParaRPr lang="en-US" altLang="zh-CN" b="1" i="1" baseline="30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2400" y="692"/>
                  <a:ext cx="1680" cy="2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 i="0">
                      <a:latin typeface="Times New Roman" pitchFamily="18" charset="0"/>
                      <a:ea typeface="黑体" pitchFamily="2" charset="-122"/>
                      <a:cs typeface="Times New Roman" pitchFamily="18" charset="0"/>
                    </a:rPr>
                    <a:t>0</a:t>
                  </a:r>
                  <a:r>
                    <a:rPr lang="en-US" altLang="zh-CN" b="1" i="0">
                      <a:latin typeface="Times New Roman" pitchFamily="18" charset="0"/>
                      <a:cs typeface="Times New Roman" pitchFamily="18" charset="0"/>
                    </a:rPr>
                    <a:t>          </a:t>
                  </a:r>
                  <a:r>
                    <a:rPr lang="en-US" altLang="zh-CN" b="1" i="0">
                      <a:latin typeface="Times New Roman" pitchFamily="18" charset="0"/>
                      <a:ea typeface="黑体" pitchFamily="2" charset="-122"/>
                      <a:cs typeface="Times New Roman" pitchFamily="18" charset="0"/>
                    </a:rPr>
                    <a:t>1</a:t>
                  </a:r>
                  <a:r>
                    <a:rPr lang="en-US" altLang="zh-CN" b="1" i="0">
                      <a:latin typeface="Times New Roman" pitchFamily="18" charset="0"/>
                      <a:cs typeface="Times New Roman" pitchFamily="18" charset="0"/>
                    </a:rPr>
                    <a:t>                 </a:t>
                  </a:r>
                  <a:r>
                    <a:rPr lang="en-US" altLang="zh-CN" b="1" i="0">
                      <a:latin typeface="Times New Roman" pitchFamily="18" charset="0"/>
                      <a:ea typeface="黑体" pitchFamily="2" charset="-122"/>
                      <a:cs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74" name="Text Box 86"/>
              <p:cNvSpPr txBox="1">
                <a:spLocks noChangeArrowheads="1"/>
              </p:cNvSpPr>
              <p:nvPr/>
            </p:nvSpPr>
            <p:spPr bwMode="auto">
              <a:xfrm>
                <a:off x="2400" y="527"/>
                <a:ext cx="163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0" dirty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  <a:r>
                  <a:rPr lang="en-US" altLang="zh-CN" b="1" i="0" dirty="0">
                    <a:latin typeface="Times New Roman" pitchFamily="18" charset="0"/>
                    <a:cs typeface="Times New Roman" pitchFamily="18" charset="0"/>
                  </a:rPr>
                  <a:t>          </a:t>
                </a:r>
                <a:r>
                  <a:rPr lang="en-US" altLang="zh-CN" b="1" i="0" dirty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  <a:r>
                  <a:rPr lang="en-US" altLang="zh-CN" b="1" i="0" dirty="0">
                    <a:latin typeface="Times New Roman" pitchFamily="18" charset="0"/>
                    <a:cs typeface="Times New Roman" pitchFamily="18" charset="0"/>
                  </a:rPr>
                  <a:t>                </a:t>
                </a:r>
                <a:r>
                  <a:rPr lang="en-US" altLang="zh-CN" b="1" i="1" dirty="0" err="1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zh-CN" b="1" i="1" baseline="30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endParaRPr lang="en-US" altLang="zh-CN" b="1" i="1" baseline="30000" dirty="0">
                  <a:latin typeface="Times New Roman" pitchFamily="18" charset="0"/>
                  <a:ea typeface="幼圆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75" name="Text Box 87"/>
              <p:cNvSpPr txBox="1">
                <a:spLocks noChangeArrowheads="1"/>
              </p:cNvSpPr>
              <p:nvPr/>
            </p:nvSpPr>
            <p:spPr bwMode="auto">
              <a:xfrm>
                <a:off x="2400" y="819"/>
                <a:ext cx="1728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1</a:t>
                </a:r>
                <a:r>
                  <a:rPr lang="en-US" altLang="zh-CN" b="1" i="0">
                    <a:latin typeface="Times New Roman" pitchFamily="18" charset="0"/>
                    <a:cs typeface="Times New Roman" pitchFamily="18" charset="0"/>
                  </a:rPr>
                  <a:t>          </a:t>
                </a:r>
                <a:r>
                  <a:rPr lang="en-US" altLang="zh-CN" b="1" i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  <a:r>
                  <a:rPr lang="en-US" altLang="zh-CN" b="1" i="0">
                    <a:latin typeface="Times New Roman" pitchFamily="18" charset="0"/>
                    <a:cs typeface="Times New Roman" pitchFamily="18" charset="0"/>
                  </a:rPr>
                  <a:t>                 </a:t>
                </a:r>
                <a:r>
                  <a:rPr lang="en-US" altLang="zh-CN" b="1" i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72" name="Line 88"/>
            <p:cNvSpPr>
              <a:spLocks noChangeShapeType="1"/>
            </p:cNvSpPr>
            <p:nvPr/>
          </p:nvSpPr>
          <p:spPr bwMode="auto">
            <a:xfrm>
              <a:off x="1846" y="3586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5" name="Text Box 93"/>
          <p:cNvSpPr txBox="1">
            <a:spLocks noChangeArrowheads="1"/>
          </p:cNvSpPr>
          <p:nvPr/>
        </p:nvSpPr>
        <p:spPr bwMode="auto">
          <a:xfrm>
            <a:off x="3149374" y="150336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altLang="zh-CN" sz="2400" i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 Box 94"/>
          <p:cNvSpPr txBox="1">
            <a:spLocks noChangeArrowheads="1"/>
          </p:cNvSpPr>
          <p:nvPr/>
        </p:nvSpPr>
        <p:spPr bwMode="auto">
          <a:xfrm>
            <a:off x="5524274" y="150336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altLang="zh-CN" sz="2400" i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31" name="组合 230"/>
          <p:cNvGrpSpPr/>
          <p:nvPr/>
        </p:nvGrpSpPr>
        <p:grpSpPr>
          <a:xfrm>
            <a:off x="1282771" y="914351"/>
            <a:ext cx="6104994" cy="2453943"/>
            <a:chOff x="9415461" y="1234816"/>
            <a:chExt cx="6104994" cy="2453943"/>
          </a:xfrm>
        </p:grpSpPr>
        <p:grpSp>
          <p:nvGrpSpPr>
            <p:cNvPr id="103" name="组合 43"/>
            <p:cNvGrpSpPr/>
            <p:nvPr/>
          </p:nvGrpSpPr>
          <p:grpSpPr>
            <a:xfrm>
              <a:off x="15109765" y="1292772"/>
              <a:ext cx="410690" cy="369332"/>
              <a:chOff x="8098929" y="2481957"/>
              <a:chExt cx="410690" cy="369332"/>
            </a:xfrm>
          </p:grpSpPr>
          <p:sp>
            <p:nvSpPr>
              <p:cNvPr id="119" name="Rectangle 137"/>
              <p:cNvSpPr>
                <a:spLocks noChangeArrowheads="1"/>
              </p:cNvSpPr>
              <p:nvPr/>
            </p:nvSpPr>
            <p:spPr bwMode="auto">
              <a:xfrm>
                <a:off x="8098929" y="2481957"/>
                <a:ext cx="41069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D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>
                <a:off x="8219851" y="2557131"/>
                <a:ext cx="1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Rectangle 137"/>
            <p:cNvSpPr>
              <a:spLocks noChangeArrowheads="1"/>
            </p:cNvSpPr>
            <p:nvPr/>
          </p:nvSpPr>
          <p:spPr bwMode="auto">
            <a:xfrm>
              <a:off x="14955297" y="3319427"/>
              <a:ext cx="4796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164" name="直接连接符 163"/>
            <p:cNvCxnSpPr/>
            <p:nvPr/>
          </p:nvCxnSpPr>
          <p:spPr>
            <a:xfrm>
              <a:off x="9415461" y="3644674"/>
              <a:ext cx="594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9734550" y="3401787"/>
              <a:ext cx="3276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9591674" y="3516087"/>
              <a:ext cx="5328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9720261" y="1682525"/>
              <a:ext cx="5616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6" name="组合 225"/>
            <p:cNvGrpSpPr/>
            <p:nvPr/>
          </p:nvGrpSpPr>
          <p:grpSpPr>
            <a:xfrm>
              <a:off x="13337654" y="1483883"/>
              <a:ext cx="1583828" cy="2197397"/>
              <a:chOff x="14328254" y="1469595"/>
              <a:chExt cx="1583828" cy="2197397"/>
            </a:xfrm>
          </p:grpSpPr>
          <p:sp>
            <p:nvSpPr>
              <p:cNvPr id="168" name="矩形 167"/>
              <p:cNvSpPr/>
              <p:nvPr/>
            </p:nvSpPr>
            <p:spPr>
              <a:xfrm>
                <a:off x="14834629" y="1823564"/>
                <a:ext cx="800357" cy="1353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9" name="直接连接符 168"/>
              <p:cNvCxnSpPr/>
              <p:nvPr/>
            </p:nvCxnSpPr>
            <p:spPr>
              <a:xfrm>
                <a:off x="15732082" y="2805415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椭圆 170"/>
              <p:cNvSpPr/>
              <p:nvPr/>
            </p:nvSpPr>
            <p:spPr>
              <a:xfrm>
                <a:off x="14733067" y="1985267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/>
              <p:nvPr/>
            </p:nvSpPr>
            <p:spPr>
              <a:xfrm>
                <a:off x="15642705" y="2761554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3" name="直接连接符 172"/>
              <p:cNvCxnSpPr/>
              <p:nvPr/>
            </p:nvCxnSpPr>
            <p:spPr>
              <a:xfrm>
                <a:off x="14517645" y="2038653"/>
                <a:ext cx="21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>
                <a:off x="14365245" y="2553002"/>
                <a:ext cx="3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>
                <a:off x="14603370" y="2948290"/>
                <a:ext cx="21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15646358" y="2176765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Rectangle 137"/>
              <p:cNvSpPr>
                <a:spLocks noChangeArrowheads="1"/>
              </p:cNvSpPr>
              <p:nvPr/>
            </p:nvSpPr>
            <p:spPr bwMode="auto">
              <a:xfrm>
                <a:off x="15265539" y="2034915"/>
                <a:ext cx="42832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79" name="组合 42"/>
              <p:cNvGrpSpPr/>
              <p:nvPr/>
            </p:nvGrpSpPr>
            <p:grpSpPr>
              <a:xfrm>
                <a:off x="15254653" y="2604375"/>
                <a:ext cx="428322" cy="369332"/>
                <a:chOff x="7584579" y="2477194"/>
                <a:chExt cx="428322" cy="369332"/>
              </a:xfrm>
            </p:grpSpPr>
            <p:sp>
              <p:nvSpPr>
                <p:cNvPr id="198" name="Rectangle 137"/>
                <p:cNvSpPr>
                  <a:spLocks noChangeArrowheads="1"/>
                </p:cNvSpPr>
                <p:nvPr/>
              </p:nvSpPr>
              <p:spPr bwMode="auto">
                <a:xfrm>
                  <a:off x="7584579" y="2477194"/>
                  <a:ext cx="428322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Q</a:t>
                  </a:r>
                  <a:r>
                    <a:rPr lang="en-US" altLang="zh-CN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0</a:t>
                  </a:r>
                  <a:endPara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99" name="直接连接符 198"/>
                <p:cNvCxnSpPr/>
                <p:nvPr/>
              </p:nvCxnSpPr>
              <p:spPr>
                <a:xfrm>
                  <a:off x="7724550" y="2552368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6" name="Rectangle 137"/>
              <p:cNvSpPr>
                <a:spLocks noChangeArrowheads="1"/>
              </p:cNvSpPr>
              <p:nvPr/>
            </p:nvSpPr>
            <p:spPr bwMode="auto">
              <a:xfrm>
                <a:off x="14844397" y="2744527"/>
                <a:ext cx="41549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K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88" name="直接连接符 187"/>
              <p:cNvCxnSpPr/>
              <p:nvPr/>
            </p:nvCxnSpPr>
            <p:spPr>
              <a:xfrm rot="16200000" flipH="1">
                <a:off x="14830809" y="2492253"/>
                <a:ext cx="66120" cy="6379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 flipV="1">
                <a:off x="14831970" y="2542923"/>
                <a:ext cx="64800" cy="6480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14617658" y="2295827"/>
                <a:ext cx="21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Rectangle 137"/>
              <p:cNvSpPr>
                <a:spLocks noChangeArrowheads="1"/>
              </p:cNvSpPr>
              <p:nvPr/>
            </p:nvSpPr>
            <p:spPr bwMode="auto">
              <a:xfrm>
                <a:off x="14872972" y="2111114"/>
                <a:ext cx="3642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J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93" name="椭圆 192"/>
              <p:cNvSpPr/>
              <p:nvPr/>
            </p:nvSpPr>
            <p:spPr>
              <a:xfrm>
                <a:off x="14728305" y="2499617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6" name="直接连接符 205"/>
              <p:cNvCxnSpPr/>
              <p:nvPr/>
            </p:nvCxnSpPr>
            <p:spPr>
              <a:xfrm rot="5400000" flipH="1" flipV="1">
                <a:off x="14344037" y="1868852"/>
                <a:ext cx="3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 rot="5400000">
                <a:off x="15550874" y="3153391"/>
                <a:ext cx="702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 rot="5400000">
                <a:off x="13826989" y="3102905"/>
                <a:ext cx="10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 rot="16200000" flipH="1">
                <a:off x="15456943" y="1829595"/>
                <a:ext cx="72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椭圆 214"/>
              <p:cNvSpPr/>
              <p:nvPr/>
            </p:nvSpPr>
            <p:spPr>
              <a:xfrm>
                <a:off x="14528280" y="2242441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椭圆 215"/>
              <p:cNvSpPr/>
              <p:nvPr/>
            </p:nvSpPr>
            <p:spPr>
              <a:xfrm>
                <a:off x="14509229" y="2894903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椭圆 216"/>
              <p:cNvSpPr/>
              <p:nvPr/>
            </p:nvSpPr>
            <p:spPr>
              <a:xfrm>
                <a:off x="14328254" y="359499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椭圆 217"/>
              <p:cNvSpPr/>
              <p:nvPr/>
            </p:nvSpPr>
            <p:spPr>
              <a:xfrm>
                <a:off x="14494942" y="164236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5" name="组合 224"/>
            <p:cNvGrpSpPr/>
            <p:nvPr/>
          </p:nvGrpSpPr>
          <p:grpSpPr>
            <a:xfrm>
              <a:off x="11423129" y="1469595"/>
              <a:ext cx="1583828" cy="2202160"/>
              <a:chOff x="11708879" y="1469595"/>
              <a:chExt cx="1583828" cy="2202160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12215254" y="1828327"/>
                <a:ext cx="800357" cy="1353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5" name="直接连接符 124"/>
              <p:cNvCxnSpPr/>
              <p:nvPr/>
            </p:nvCxnSpPr>
            <p:spPr>
              <a:xfrm>
                <a:off x="13112707" y="2810178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椭圆 126"/>
              <p:cNvSpPr/>
              <p:nvPr/>
            </p:nvSpPr>
            <p:spPr>
              <a:xfrm>
                <a:off x="12113692" y="1990030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13023330" y="2766317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9" name="直接连接符 128"/>
              <p:cNvCxnSpPr/>
              <p:nvPr/>
            </p:nvCxnSpPr>
            <p:spPr>
              <a:xfrm>
                <a:off x="11898270" y="2043416"/>
                <a:ext cx="21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>
                <a:off x="11745870" y="2557765"/>
                <a:ext cx="3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>
                <a:off x="11983995" y="2891140"/>
                <a:ext cx="21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13026983" y="2181528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Rectangle 137"/>
              <p:cNvSpPr>
                <a:spLocks noChangeArrowheads="1"/>
              </p:cNvSpPr>
              <p:nvPr/>
            </p:nvSpPr>
            <p:spPr bwMode="auto">
              <a:xfrm>
                <a:off x="12646163" y="2017907"/>
                <a:ext cx="42832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35" name="组合 42"/>
              <p:cNvGrpSpPr/>
              <p:nvPr/>
            </p:nvGrpSpPr>
            <p:grpSpPr>
              <a:xfrm>
                <a:off x="12624392" y="2609138"/>
                <a:ext cx="428322" cy="369332"/>
                <a:chOff x="7584579" y="2477194"/>
                <a:chExt cx="428322" cy="369332"/>
              </a:xfrm>
            </p:grpSpPr>
            <p:sp>
              <p:nvSpPr>
                <p:cNvPr id="154" name="Rectangle 137"/>
                <p:cNvSpPr>
                  <a:spLocks noChangeArrowheads="1"/>
                </p:cNvSpPr>
                <p:nvPr/>
              </p:nvSpPr>
              <p:spPr bwMode="auto">
                <a:xfrm>
                  <a:off x="7584579" y="2477194"/>
                  <a:ext cx="428322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Q</a:t>
                  </a:r>
                  <a:r>
                    <a:rPr lang="en-US" altLang="zh-CN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55" name="直接连接符 154"/>
                <p:cNvCxnSpPr/>
                <p:nvPr/>
              </p:nvCxnSpPr>
              <p:spPr>
                <a:xfrm>
                  <a:off x="7724550" y="2552368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2" name="Rectangle 137"/>
              <p:cNvSpPr>
                <a:spLocks noChangeArrowheads="1"/>
              </p:cNvSpPr>
              <p:nvPr/>
            </p:nvSpPr>
            <p:spPr bwMode="auto">
              <a:xfrm>
                <a:off x="12228423" y="2718673"/>
                <a:ext cx="41549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K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44" name="直接连接符 143"/>
              <p:cNvCxnSpPr/>
              <p:nvPr/>
            </p:nvCxnSpPr>
            <p:spPr>
              <a:xfrm rot="16200000" flipH="1">
                <a:off x="12211434" y="2497016"/>
                <a:ext cx="66120" cy="6379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 flipV="1">
                <a:off x="12212595" y="2547686"/>
                <a:ext cx="64800" cy="6480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>
                <a:off x="11988757" y="2324403"/>
                <a:ext cx="21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ectangle 137"/>
              <p:cNvSpPr>
                <a:spLocks noChangeArrowheads="1"/>
              </p:cNvSpPr>
              <p:nvPr/>
            </p:nvSpPr>
            <p:spPr bwMode="auto">
              <a:xfrm>
                <a:off x="12253597" y="2115877"/>
                <a:ext cx="3642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J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>
                <a:off x="12108930" y="2504380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0" name="直接连接符 199"/>
              <p:cNvCxnSpPr/>
              <p:nvPr/>
            </p:nvCxnSpPr>
            <p:spPr>
              <a:xfrm rot="5400000">
                <a:off x="11401943" y="2917420"/>
                <a:ext cx="1188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 rot="5400000">
                <a:off x="11203531" y="3092020"/>
                <a:ext cx="108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 rot="5400000" flipH="1" flipV="1">
                <a:off x="11724662" y="1873615"/>
                <a:ext cx="3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 rot="5400000">
                <a:off x="12992302" y="3091908"/>
                <a:ext cx="594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 rot="16200000" flipH="1">
                <a:off x="12855257" y="1829595"/>
                <a:ext cx="72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椭圆 218"/>
              <p:cNvSpPr/>
              <p:nvPr/>
            </p:nvSpPr>
            <p:spPr>
              <a:xfrm>
                <a:off x="11947004" y="347116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椭圆 219"/>
              <p:cNvSpPr/>
              <p:nvPr/>
            </p:nvSpPr>
            <p:spPr>
              <a:xfrm>
                <a:off x="11880329" y="164236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椭圆 222"/>
              <p:cNvSpPr/>
              <p:nvPr/>
            </p:nvSpPr>
            <p:spPr>
              <a:xfrm>
                <a:off x="11708879" y="359975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/>
              <p:cNvSpPr/>
              <p:nvPr/>
            </p:nvSpPr>
            <p:spPr>
              <a:xfrm>
                <a:off x="11961291" y="285680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7" name="Rectangle 137"/>
            <p:cNvSpPr>
              <a:spLocks noChangeArrowheads="1"/>
            </p:cNvSpPr>
            <p:nvPr/>
          </p:nvSpPr>
          <p:spPr bwMode="auto">
            <a:xfrm>
              <a:off x="14427339" y="1234816"/>
              <a:ext cx="4283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8" name="Rectangle 137"/>
            <p:cNvSpPr>
              <a:spLocks noChangeArrowheads="1"/>
            </p:cNvSpPr>
            <p:nvPr/>
          </p:nvSpPr>
          <p:spPr bwMode="auto">
            <a:xfrm>
              <a:off x="12531864" y="1263391"/>
              <a:ext cx="4283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230" name="组合 229"/>
            <p:cNvGrpSpPr/>
            <p:nvPr/>
          </p:nvGrpSpPr>
          <p:grpSpPr>
            <a:xfrm>
              <a:off x="9416438" y="1272916"/>
              <a:ext cx="1697116" cy="2370511"/>
              <a:chOff x="9416438" y="1272916"/>
              <a:chExt cx="1697116" cy="2370511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0036101" y="1829132"/>
                <a:ext cx="800357" cy="1353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2" name="直接连接符 91"/>
              <p:cNvCxnSpPr/>
              <p:nvPr/>
            </p:nvCxnSpPr>
            <p:spPr>
              <a:xfrm>
                <a:off x="10933554" y="2810983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椭圆 93"/>
              <p:cNvSpPr/>
              <p:nvPr/>
            </p:nvSpPr>
            <p:spPr>
              <a:xfrm>
                <a:off x="9934539" y="1990835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10844177" y="2767122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/>
              <p:cNvCxnSpPr/>
              <p:nvPr/>
            </p:nvCxnSpPr>
            <p:spPr>
              <a:xfrm>
                <a:off x="9715500" y="2039458"/>
                <a:ext cx="216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>
                <a:off x="9416438" y="2651778"/>
                <a:ext cx="504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>
                <a:off x="9744075" y="2876298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10847830" y="2182333"/>
                <a:ext cx="18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37"/>
              <p:cNvSpPr>
                <a:spLocks noChangeArrowheads="1"/>
              </p:cNvSpPr>
              <p:nvPr/>
            </p:nvSpPr>
            <p:spPr bwMode="auto">
              <a:xfrm>
                <a:off x="10434353" y="1953396"/>
                <a:ext cx="42832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02" name="组合 42"/>
              <p:cNvGrpSpPr/>
              <p:nvPr/>
            </p:nvGrpSpPr>
            <p:grpSpPr>
              <a:xfrm>
                <a:off x="10445239" y="2609943"/>
                <a:ext cx="428322" cy="369332"/>
                <a:chOff x="7584579" y="2477194"/>
                <a:chExt cx="428322" cy="369332"/>
              </a:xfrm>
            </p:grpSpPr>
            <p:sp>
              <p:nvSpPr>
                <p:cNvPr id="121" name="Rectangle 137"/>
                <p:cNvSpPr>
                  <a:spLocks noChangeArrowheads="1"/>
                </p:cNvSpPr>
                <p:nvPr/>
              </p:nvSpPr>
              <p:spPr bwMode="auto">
                <a:xfrm>
                  <a:off x="7584579" y="2477194"/>
                  <a:ext cx="428322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i="1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Q</a:t>
                  </a:r>
                  <a:r>
                    <a:rPr lang="en-US" altLang="zh-CN" i="1" baseline="-25000" dirty="0" smtClean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2</a:t>
                  </a:r>
                  <a:endPara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22" name="直接连接符 121"/>
                <p:cNvCxnSpPr/>
                <p:nvPr/>
              </p:nvCxnSpPr>
              <p:spPr>
                <a:xfrm>
                  <a:off x="7724550" y="2552368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9" name="Rectangle 137"/>
              <p:cNvSpPr>
                <a:spLocks noChangeArrowheads="1"/>
              </p:cNvSpPr>
              <p:nvPr/>
            </p:nvSpPr>
            <p:spPr bwMode="auto">
              <a:xfrm>
                <a:off x="10060156" y="2719478"/>
                <a:ext cx="41549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K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11" name="直接连接符 110"/>
              <p:cNvCxnSpPr/>
              <p:nvPr/>
            </p:nvCxnSpPr>
            <p:spPr>
              <a:xfrm rot="16200000" flipH="1">
                <a:off x="10029639" y="2595792"/>
                <a:ext cx="66120" cy="6379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flipV="1">
                <a:off x="10030800" y="2646462"/>
                <a:ext cx="64800" cy="6480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9576242" y="2262616"/>
                <a:ext cx="46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Rectangle 137"/>
              <p:cNvSpPr>
                <a:spLocks noChangeArrowheads="1"/>
              </p:cNvSpPr>
              <p:nvPr/>
            </p:nvSpPr>
            <p:spPr bwMode="auto">
              <a:xfrm>
                <a:off x="10085330" y="2203767"/>
                <a:ext cx="3642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J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9927135" y="2603156"/>
                <a:ext cx="95693" cy="95693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8" name="直接连接符 157"/>
              <p:cNvCxnSpPr/>
              <p:nvPr/>
            </p:nvCxnSpPr>
            <p:spPr>
              <a:xfrm>
                <a:off x="9570450" y="3020534"/>
                <a:ext cx="46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 rot="5400000">
                <a:off x="9257281" y="2923720"/>
                <a:ext cx="972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>
                <a:off x="9744075" y="2440869"/>
                <a:ext cx="28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rot="5400000">
                <a:off x="8956119" y="2896270"/>
                <a:ext cx="1260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rot="5400000">
                <a:off x="8928894" y="3147333"/>
                <a:ext cx="9906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 rot="5400000" flipH="1" flipV="1">
                <a:off x="9538674" y="1859328"/>
                <a:ext cx="3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 rot="16200000" flipH="1">
                <a:off x="10656343" y="1807824"/>
                <a:ext cx="72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1" name="椭圆 220"/>
              <p:cNvSpPr/>
              <p:nvPr/>
            </p:nvSpPr>
            <p:spPr>
              <a:xfrm>
                <a:off x="9541942" y="2980629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椭圆 221"/>
              <p:cNvSpPr/>
              <p:nvPr/>
            </p:nvSpPr>
            <p:spPr>
              <a:xfrm>
                <a:off x="9708630" y="283775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Rectangle 137"/>
              <p:cNvSpPr>
                <a:spLocks noChangeArrowheads="1"/>
              </p:cNvSpPr>
              <p:nvPr/>
            </p:nvSpPr>
            <p:spPr bwMode="auto">
              <a:xfrm>
                <a:off x="10617339" y="1272916"/>
                <a:ext cx="42832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189514" y="515030"/>
            <a:ext cx="2286000" cy="519112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i="0" dirty="0">
                <a:solidFill>
                  <a:srgbClr val="FFFF00"/>
                </a:solidFill>
                <a:ea typeface="楷体_GB2312" pitchFamily="49" charset="-122"/>
              </a:rPr>
              <a:t>本节</a:t>
            </a:r>
            <a:r>
              <a:rPr lang="zh-CN" altLang="en-US" sz="2800" i="0" dirty="0" smtClean="0">
                <a:solidFill>
                  <a:srgbClr val="FFFF00"/>
                </a:solidFill>
                <a:ea typeface="楷体_GB2312" pitchFamily="49" charset="-122"/>
              </a:rPr>
              <a:t>小结</a:t>
            </a:r>
            <a:endParaRPr lang="zh-CN" altLang="en-US" sz="2400" i="0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501197" y="1213985"/>
            <a:ext cx="7946118" cy="2838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　　触发器是数字电路的极其重要的基本单元。触发器有两个稳定状态，在外界信号作用下，可以从一个稳态转变为另一个稳态；无外界信号作用时状态保持不变。因此，触发器可以作为二进制存储单元使用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189514" y="515030"/>
            <a:ext cx="2286000" cy="519112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i="0" dirty="0">
                <a:solidFill>
                  <a:srgbClr val="FFFF00"/>
                </a:solidFill>
                <a:ea typeface="楷体_GB2312" pitchFamily="49" charset="-122"/>
              </a:rPr>
              <a:t>本节</a:t>
            </a:r>
            <a:r>
              <a:rPr lang="zh-CN" altLang="en-US" sz="2800" i="0" dirty="0" smtClean="0">
                <a:solidFill>
                  <a:srgbClr val="FFFF00"/>
                </a:solidFill>
                <a:ea typeface="楷体_GB2312" pitchFamily="49" charset="-122"/>
              </a:rPr>
              <a:t>小结</a:t>
            </a:r>
            <a:endParaRPr lang="zh-CN" altLang="en-US" sz="2400" i="0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501197" y="1486128"/>
            <a:ext cx="7946118" cy="177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　　同一种功能的触发器，可以用不同的电路结构形式来实现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；</a:t>
            </a:r>
            <a:r>
              <a:rPr lang="zh-CN" altLang="en-US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反之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同一种电路结构形式，可以构成具有不同功能的各种类型触发器。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img200706121339341457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2408238"/>
            <a:ext cx="3095625" cy="22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8" y="1492250"/>
            <a:ext cx="3240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28575">
          <a:noFill/>
          <a:miter lim="800000"/>
          <a:headEnd/>
          <a:tailEnd type="none" w="sm" len="lg"/>
        </a:ln>
      </a:spPr>
      <a:bodyPr anchor="ctr">
        <a:spAutoFit/>
      </a:bodyPr>
      <a:lstStyle>
        <a:defPPr algn="l">
          <a:defRPr sz="2800" b="1" dirty="0">
            <a:latin typeface="Times New Roman" pitchFamily="18" charset="0"/>
            <a:ea typeface="华文中宋" pitchFamily="2" charset="-122"/>
            <a:cs typeface="Times New Roman" pitchFamily="18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</TotalTime>
  <Words>556</Words>
  <Application>Microsoft Office PowerPoint</Application>
  <PresentationFormat>全屏显示(16:9)</PresentationFormat>
  <Paragraphs>186</Paragraphs>
  <Slides>22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Office 主题</vt:lpstr>
      <vt:lpstr>Equation</vt:lpstr>
      <vt:lpstr>公式</vt:lpstr>
      <vt:lpstr>图片</vt:lpstr>
      <vt:lpstr>Document</vt:lpstr>
      <vt:lpstr>文档</vt:lpstr>
      <vt:lpstr>13.1  集成触发器</vt:lpstr>
      <vt:lpstr>幻灯片 2</vt:lpstr>
      <vt:lpstr>幻灯片 3</vt:lpstr>
      <vt:lpstr>幻灯片 4</vt:lpstr>
      <vt:lpstr>幻灯片 5</vt:lpstr>
      <vt:lpstr>幻灯片 6</vt:lpstr>
      <vt:lpstr>边沿JK触发器的特点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 电动机</dc:title>
  <dc:creator>wgz</dc:creator>
  <cp:lastModifiedBy>Administrator</cp:lastModifiedBy>
  <cp:revision>312</cp:revision>
  <dcterms:created xsi:type="dcterms:W3CDTF">2017-07-05T02:13:24Z</dcterms:created>
  <dcterms:modified xsi:type="dcterms:W3CDTF">2017-10-15T01:06:39Z</dcterms:modified>
</cp:coreProperties>
</file>