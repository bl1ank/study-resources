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Override7.xml" ContentType="application/vnd.openxmlformats-officedocument.themeOverride+xml"/>
  <Override PartName="/ppt/theme/themeOverride12.xml" ContentType="application/vnd.openxmlformats-officedocument.themeOverr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5.xml" ContentType="application/vnd.openxmlformats-officedocument.themeOverride+xml"/>
  <Override PartName="/ppt/theme/themeOverride10.xml" ContentType="application/vnd.openxmlformats-officedocument.themeOverr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heme/themeOverride3.xml" ContentType="application/vnd.openxmlformats-officedocument.themeOverr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Override9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theme/themeOverride8.xml" ContentType="application/vnd.openxmlformats-officedocument.themeOverride+xml"/>
  <Override PartName="/ppt/theme/themeOverride11.xml" ContentType="application/vnd.openxmlformats-officedocument.themeOverr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6.xml" ContentType="application/vnd.openxmlformats-officedocument.themeOverr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theme/themeOverride4.xml" ContentType="application/vnd.openxmlformats-officedocument.themeOverr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handoutMasterIdLst>
    <p:handoutMasterId r:id="rId32"/>
  </p:handoutMasterIdLst>
  <p:sldIdLst>
    <p:sldId id="447" r:id="rId2"/>
    <p:sldId id="475" r:id="rId3"/>
    <p:sldId id="546" r:id="rId4"/>
    <p:sldId id="518" r:id="rId5"/>
    <p:sldId id="547" r:id="rId6"/>
    <p:sldId id="548" r:id="rId7"/>
    <p:sldId id="549" r:id="rId8"/>
    <p:sldId id="476" r:id="rId9"/>
    <p:sldId id="550" r:id="rId10"/>
    <p:sldId id="347" r:id="rId11"/>
    <p:sldId id="490" r:id="rId12"/>
    <p:sldId id="552" r:id="rId13"/>
    <p:sldId id="533" r:id="rId14"/>
    <p:sldId id="557" r:id="rId15"/>
    <p:sldId id="534" r:id="rId16"/>
    <p:sldId id="558" r:id="rId17"/>
    <p:sldId id="553" r:id="rId18"/>
    <p:sldId id="559" r:id="rId19"/>
    <p:sldId id="554" r:id="rId20"/>
    <p:sldId id="560" r:id="rId21"/>
    <p:sldId id="555" r:id="rId22"/>
    <p:sldId id="561" r:id="rId23"/>
    <p:sldId id="294" r:id="rId24"/>
    <p:sldId id="540" r:id="rId25"/>
    <p:sldId id="539" r:id="rId26"/>
    <p:sldId id="541" r:id="rId27"/>
    <p:sldId id="544" r:id="rId28"/>
    <p:sldId id="543" r:id="rId29"/>
    <p:sldId id="545" r:id="rId30"/>
    <p:sldId id="562" r:id="rId31"/>
  </p:sldIdLst>
  <p:sldSz cx="9144000" cy="5143500" type="screen16x9"/>
  <p:notesSz cx="6761163" cy="99425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9999"/>
    </p:penClr>
  </p:showPr>
  <p:clrMru>
    <a:srgbClr val="FFCC66"/>
    <a:srgbClr val="FF9933"/>
    <a:srgbClr val="3333FF"/>
    <a:srgbClr val="FFFF00"/>
    <a:srgbClr val="FFCC00"/>
    <a:srgbClr val="FF6600"/>
    <a:srgbClr val="FF00FF"/>
    <a:srgbClr val="A5002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 horzBarState="maximized">
    <p:restoredLeft sz="16129" autoAdjust="0"/>
    <p:restoredTop sz="94700" autoAdjust="0"/>
  </p:normalViewPr>
  <p:slideViewPr>
    <p:cSldViewPr snapToGrid="0">
      <p:cViewPr varScale="1">
        <p:scale>
          <a:sx n="87" d="100"/>
          <a:sy n="87" d="100"/>
        </p:scale>
        <p:origin x="-96" y="-19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5810"/>
    </p:cViewPr>
  </p:sorter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EE631F0-4FF4-4F3A-B704-53D0B0102A3E}" type="datetimeFigureOut">
              <a:rPr lang="zh-CN" altLang="en-US"/>
              <a:pPr>
                <a:defRPr/>
              </a:pPr>
              <a:t>2017/10/6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0920C27-F0E4-42F7-833C-04D413C0C4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5195F1-A848-4265-B7D5-0D5F57EC38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2B62FF-610C-4F27-9F16-D1D720236A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0D93D0-FE7C-4E24-A1B3-E4E29EBD9E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0CB98-3F50-4E84-AFC7-29A645EDB6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B2264-E6E5-4DAE-9995-2F6F59E913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4D247-46DD-4FB3-8CD9-7A2B8A27F9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6876-FA11-420C-A728-7952F24EA6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A653E4-1C60-4255-A057-B7A7156769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F99345-773D-41BB-8996-ED388BCEBA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E2376-BA3A-4B3D-9104-9801B922B2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C9EF2-CFD5-4D90-8F52-877446FD59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12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6D38786-21E5-434E-9677-2394C0AEF8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3.xml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3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4.bin"/><Relationship Id="rId2" Type="http://schemas.openxmlformats.org/officeDocument/2006/relationships/vmlDrawing" Target="../drawings/vmlDrawing2.vml"/><Relationship Id="rId1" Type="http://schemas.openxmlformats.org/officeDocument/2006/relationships/themeOverride" Target="../theme/themeOverride7.x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5.wav"/><Relationship Id="rId4" Type="http://schemas.openxmlformats.org/officeDocument/2006/relationships/audio" Target="../media/audio4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mlDrawing" Target="../drawings/vmlDrawing5.vml"/><Relationship Id="rId1" Type="http://schemas.openxmlformats.org/officeDocument/2006/relationships/themeOverride" Target="../theme/themeOverride9.x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Relationship Id="rId5" Type="http://schemas.openxmlformats.org/officeDocument/2006/relationships/image" Target="../media/image1.jpeg"/><Relationship Id="rId4" Type="http://schemas.openxmlformats.org/officeDocument/2006/relationships/audio" Target="../media/audio5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16.bin"/><Relationship Id="rId2" Type="http://schemas.openxmlformats.org/officeDocument/2006/relationships/vmlDrawing" Target="../drawings/vmlDrawing6.vml"/><Relationship Id="rId1" Type="http://schemas.openxmlformats.org/officeDocument/2006/relationships/themeOverride" Target="../theme/themeOverride12.x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.jpeg"/><Relationship Id="rId9" Type="http://schemas.openxmlformats.org/officeDocument/2006/relationships/oleObject" Target="../embeddings/oleObject1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21.bin"/><Relationship Id="rId2" Type="http://schemas.openxmlformats.org/officeDocument/2006/relationships/vmlDrawing" Target="../drawings/vmlDrawing7.vml"/><Relationship Id="rId1" Type="http://schemas.openxmlformats.org/officeDocument/2006/relationships/themeOverride" Target="../theme/themeOverride13.x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.jpeg"/><Relationship Id="rId9" Type="http://schemas.openxmlformats.org/officeDocument/2006/relationships/oleObject" Target="../embeddings/oleObject23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26.bin"/><Relationship Id="rId2" Type="http://schemas.openxmlformats.org/officeDocument/2006/relationships/vmlDrawing" Target="../drawings/vmlDrawing8.vml"/><Relationship Id="rId1" Type="http://schemas.openxmlformats.org/officeDocument/2006/relationships/themeOverride" Target="../theme/themeOverride14.x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image" Target="../media/image1.jpeg"/><Relationship Id="rId9" Type="http://schemas.openxmlformats.org/officeDocument/2006/relationships/oleObject" Target="../embeddings/oleObject2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58888" y="795338"/>
            <a:ext cx="6767512" cy="971550"/>
          </a:xfrm>
        </p:spPr>
        <p:txBody>
          <a:bodyPr/>
          <a:lstStyle/>
          <a:p>
            <a:r>
              <a:rPr lang="en-US" altLang="zh-CN" b="1" dirty="0" smtClean="0">
                <a:latin typeface="Times New Roman" pitchFamily="18" charset="0"/>
                <a:ea typeface="汉仪大隶书简" pitchFamily="49" charset="-122"/>
                <a:cs typeface="Times New Roman" pitchFamily="18" charset="0"/>
              </a:rPr>
              <a:t>12   </a:t>
            </a:r>
            <a:r>
              <a:rPr lang="zh-CN" altLang="en-US" b="1" dirty="0" smtClean="0">
                <a:latin typeface="Times New Roman" pitchFamily="18" charset="0"/>
                <a:ea typeface="汉仪大隶书简" pitchFamily="49" charset="-122"/>
                <a:cs typeface="Times New Roman" pitchFamily="18" charset="0"/>
              </a:rPr>
              <a:t>组合逻辑电路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643174" y="2500312"/>
            <a:ext cx="4286280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数字电路概述</a:t>
            </a:r>
            <a:endParaRPr lang="zh-CN" altLang="en-US" sz="3600" b="1" i="0" dirty="0">
              <a:solidFill>
                <a:srgbClr val="C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643174" y="3286130"/>
            <a:ext cx="3286148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逻辑代数</a:t>
            </a:r>
            <a:endParaRPr lang="zh-CN" altLang="en-US" sz="3600" b="1" i="0" dirty="0">
              <a:solidFill>
                <a:srgbClr val="C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890559" y="1548464"/>
            <a:ext cx="19800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i="0" dirty="0">
                <a:solidFill>
                  <a:srgbClr val="A50021"/>
                </a:solidFill>
                <a:latin typeface="华文中宋" pitchFamily="2" charset="-122"/>
                <a:ea typeface="华文中宋" pitchFamily="2" charset="-122"/>
              </a:rPr>
              <a:t>模拟信号：</a:t>
            </a:r>
            <a:endParaRPr lang="zh-CN" altLang="en-US" sz="2800" i="0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2749816" y="1523698"/>
            <a:ext cx="55329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i="0" dirty="0" smtClean="0">
                <a:latin typeface="华文中宋" pitchFamily="2" charset="-122"/>
                <a:ea typeface="华文中宋" pitchFamily="2" charset="-122"/>
              </a:rPr>
              <a:t>幅</a:t>
            </a:r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值在上限和下限之间连续取值。</a:t>
            </a:r>
          </a:p>
        </p:txBody>
      </p:sp>
      <p:sp>
        <p:nvSpPr>
          <p:cNvPr id="34" name="Text Box 9"/>
          <p:cNvSpPr txBox="1">
            <a:spLocks noChangeArrowheads="1"/>
          </p:cNvSpPr>
          <p:nvPr/>
        </p:nvSpPr>
        <p:spPr bwMode="auto">
          <a:xfrm>
            <a:off x="3232859" y="3938377"/>
            <a:ext cx="23391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典型模拟信号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285720" y="214296"/>
            <a:ext cx="4286280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数字电路概述</a:t>
            </a:r>
            <a:endParaRPr lang="zh-CN" altLang="en-US" sz="3600" b="1" i="0" dirty="0">
              <a:solidFill>
                <a:srgbClr val="C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357158" y="857238"/>
            <a:ext cx="50366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 i="0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1).   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模拟信号</a:t>
            </a:r>
            <a:r>
              <a:rPr lang="zh-CN" altLang="en-US" sz="3200" b="1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和数字信号</a:t>
            </a:r>
          </a:p>
        </p:txBody>
      </p:sp>
      <p:grpSp>
        <p:nvGrpSpPr>
          <p:cNvPr id="19" name="Group 13"/>
          <p:cNvGrpSpPr>
            <a:grpSpLocks/>
          </p:cNvGrpSpPr>
          <p:nvPr/>
        </p:nvGrpSpPr>
        <p:grpSpPr bwMode="auto">
          <a:xfrm>
            <a:off x="946778" y="2390665"/>
            <a:ext cx="3624262" cy="1447800"/>
            <a:chOff x="2155" y="2400"/>
            <a:chExt cx="2283" cy="912"/>
          </a:xfrm>
        </p:grpSpPr>
        <p:grpSp>
          <p:nvGrpSpPr>
            <p:cNvPr id="20" name="Group 14"/>
            <p:cNvGrpSpPr>
              <a:grpSpLocks/>
            </p:cNvGrpSpPr>
            <p:nvPr/>
          </p:nvGrpSpPr>
          <p:grpSpPr bwMode="auto">
            <a:xfrm>
              <a:off x="2160" y="2623"/>
              <a:ext cx="1657" cy="689"/>
              <a:chOff x="1344" y="1536"/>
              <a:chExt cx="1992" cy="832"/>
            </a:xfrm>
          </p:grpSpPr>
          <p:sp>
            <p:nvSpPr>
              <p:cNvPr id="24" name="Freeform 15"/>
              <p:cNvSpPr>
                <a:spLocks/>
              </p:cNvSpPr>
              <p:nvPr/>
            </p:nvSpPr>
            <p:spPr bwMode="auto">
              <a:xfrm>
                <a:off x="1344" y="1536"/>
                <a:ext cx="666" cy="418"/>
              </a:xfrm>
              <a:custGeom>
                <a:avLst/>
                <a:gdLst>
                  <a:gd name="T0" fmla="*/ 0 w 666"/>
                  <a:gd name="T1" fmla="*/ 418 h 418"/>
                  <a:gd name="T2" fmla="*/ 96 w 666"/>
                  <a:gd name="T3" fmla="*/ 247 h 418"/>
                  <a:gd name="T4" fmla="*/ 204 w 666"/>
                  <a:gd name="T5" fmla="*/ 91 h 418"/>
                  <a:gd name="T6" fmla="*/ 336 w 666"/>
                  <a:gd name="T7" fmla="*/ 1 h 418"/>
                  <a:gd name="T8" fmla="*/ 456 w 666"/>
                  <a:gd name="T9" fmla="*/ 85 h 418"/>
                  <a:gd name="T10" fmla="*/ 587 w 666"/>
                  <a:gd name="T11" fmla="*/ 275 h 418"/>
                  <a:gd name="T12" fmla="*/ 666 w 666"/>
                  <a:gd name="T13" fmla="*/ 415 h 4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66"/>
                  <a:gd name="T22" fmla="*/ 0 h 418"/>
                  <a:gd name="T23" fmla="*/ 666 w 666"/>
                  <a:gd name="T24" fmla="*/ 418 h 4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66" h="418">
                    <a:moveTo>
                      <a:pt x="0" y="418"/>
                    </a:moveTo>
                    <a:cubicBezTo>
                      <a:pt x="16" y="390"/>
                      <a:pt x="62" y="301"/>
                      <a:pt x="96" y="247"/>
                    </a:cubicBezTo>
                    <a:cubicBezTo>
                      <a:pt x="130" y="193"/>
                      <a:pt x="164" y="132"/>
                      <a:pt x="204" y="91"/>
                    </a:cubicBezTo>
                    <a:cubicBezTo>
                      <a:pt x="244" y="50"/>
                      <a:pt x="294" y="2"/>
                      <a:pt x="336" y="1"/>
                    </a:cubicBezTo>
                    <a:cubicBezTo>
                      <a:pt x="378" y="0"/>
                      <a:pt x="414" y="39"/>
                      <a:pt x="456" y="85"/>
                    </a:cubicBezTo>
                    <a:cubicBezTo>
                      <a:pt x="498" y="131"/>
                      <a:pt x="552" y="220"/>
                      <a:pt x="587" y="275"/>
                    </a:cubicBezTo>
                    <a:cubicBezTo>
                      <a:pt x="622" y="330"/>
                      <a:pt x="650" y="386"/>
                      <a:pt x="666" y="415"/>
                    </a:cubicBezTo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Freeform 16"/>
              <p:cNvSpPr>
                <a:spLocks/>
              </p:cNvSpPr>
              <p:nvPr/>
            </p:nvSpPr>
            <p:spPr bwMode="auto">
              <a:xfrm flipV="1">
                <a:off x="2010" y="1950"/>
                <a:ext cx="666" cy="418"/>
              </a:xfrm>
              <a:custGeom>
                <a:avLst/>
                <a:gdLst>
                  <a:gd name="T0" fmla="*/ 0 w 666"/>
                  <a:gd name="T1" fmla="*/ 418 h 418"/>
                  <a:gd name="T2" fmla="*/ 96 w 666"/>
                  <a:gd name="T3" fmla="*/ 247 h 418"/>
                  <a:gd name="T4" fmla="*/ 204 w 666"/>
                  <a:gd name="T5" fmla="*/ 91 h 418"/>
                  <a:gd name="T6" fmla="*/ 336 w 666"/>
                  <a:gd name="T7" fmla="*/ 1 h 418"/>
                  <a:gd name="T8" fmla="*/ 456 w 666"/>
                  <a:gd name="T9" fmla="*/ 85 h 418"/>
                  <a:gd name="T10" fmla="*/ 587 w 666"/>
                  <a:gd name="T11" fmla="*/ 275 h 418"/>
                  <a:gd name="T12" fmla="*/ 666 w 666"/>
                  <a:gd name="T13" fmla="*/ 415 h 4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66"/>
                  <a:gd name="T22" fmla="*/ 0 h 418"/>
                  <a:gd name="T23" fmla="*/ 666 w 666"/>
                  <a:gd name="T24" fmla="*/ 418 h 4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66" h="418">
                    <a:moveTo>
                      <a:pt x="0" y="418"/>
                    </a:moveTo>
                    <a:cubicBezTo>
                      <a:pt x="16" y="390"/>
                      <a:pt x="62" y="301"/>
                      <a:pt x="96" y="247"/>
                    </a:cubicBezTo>
                    <a:cubicBezTo>
                      <a:pt x="130" y="193"/>
                      <a:pt x="164" y="132"/>
                      <a:pt x="204" y="91"/>
                    </a:cubicBezTo>
                    <a:cubicBezTo>
                      <a:pt x="244" y="50"/>
                      <a:pt x="294" y="2"/>
                      <a:pt x="336" y="1"/>
                    </a:cubicBezTo>
                    <a:cubicBezTo>
                      <a:pt x="378" y="0"/>
                      <a:pt x="414" y="39"/>
                      <a:pt x="456" y="85"/>
                    </a:cubicBezTo>
                    <a:cubicBezTo>
                      <a:pt x="498" y="131"/>
                      <a:pt x="552" y="220"/>
                      <a:pt x="587" y="275"/>
                    </a:cubicBezTo>
                    <a:cubicBezTo>
                      <a:pt x="622" y="330"/>
                      <a:pt x="650" y="386"/>
                      <a:pt x="666" y="415"/>
                    </a:cubicBezTo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Freeform 17"/>
              <p:cNvSpPr>
                <a:spLocks/>
              </p:cNvSpPr>
              <p:nvPr/>
            </p:nvSpPr>
            <p:spPr bwMode="auto">
              <a:xfrm>
                <a:off x="2670" y="1536"/>
                <a:ext cx="666" cy="418"/>
              </a:xfrm>
              <a:custGeom>
                <a:avLst/>
                <a:gdLst>
                  <a:gd name="T0" fmla="*/ 0 w 666"/>
                  <a:gd name="T1" fmla="*/ 418 h 418"/>
                  <a:gd name="T2" fmla="*/ 96 w 666"/>
                  <a:gd name="T3" fmla="*/ 247 h 418"/>
                  <a:gd name="T4" fmla="*/ 204 w 666"/>
                  <a:gd name="T5" fmla="*/ 91 h 418"/>
                  <a:gd name="T6" fmla="*/ 336 w 666"/>
                  <a:gd name="T7" fmla="*/ 1 h 418"/>
                  <a:gd name="T8" fmla="*/ 456 w 666"/>
                  <a:gd name="T9" fmla="*/ 85 h 418"/>
                  <a:gd name="T10" fmla="*/ 587 w 666"/>
                  <a:gd name="T11" fmla="*/ 275 h 418"/>
                  <a:gd name="T12" fmla="*/ 666 w 666"/>
                  <a:gd name="T13" fmla="*/ 415 h 4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66"/>
                  <a:gd name="T22" fmla="*/ 0 h 418"/>
                  <a:gd name="T23" fmla="*/ 666 w 666"/>
                  <a:gd name="T24" fmla="*/ 418 h 4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66" h="418">
                    <a:moveTo>
                      <a:pt x="0" y="418"/>
                    </a:moveTo>
                    <a:cubicBezTo>
                      <a:pt x="16" y="390"/>
                      <a:pt x="62" y="301"/>
                      <a:pt x="96" y="247"/>
                    </a:cubicBezTo>
                    <a:cubicBezTo>
                      <a:pt x="130" y="193"/>
                      <a:pt x="164" y="132"/>
                      <a:pt x="204" y="91"/>
                    </a:cubicBezTo>
                    <a:cubicBezTo>
                      <a:pt x="244" y="50"/>
                      <a:pt x="294" y="2"/>
                      <a:pt x="336" y="1"/>
                    </a:cubicBezTo>
                    <a:cubicBezTo>
                      <a:pt x="378" y="0"/>
                      <a:pt x="414" y="39"/>
                      <a:pt x="456" y="85"/>
                    </a:cubicBezTo>
                    <a:cubicBezTo>
                      <a:pt x="498" y="131"/>
                      <a:pt x="552" y="220"/>
                      <a:pt x="587" y="275"/>
                    </a:cubicBezTo>
                    <a:cubicBezTo>
                      <a:pt x="622" y="330"/>
                      <a:pt x="650" y="386"/>
                      <a:pt x="666" y="415"/>
                    </a:cubicBezTo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 flipV="1">
              <a:off x="2155" y="2976"/>
              <a:ext cx="1925" cy="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4080" y="2784"/>
              <a:ext cx="35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defRPr/>
              </a:pPr>
              <a:r>
                <a:rPr lang="en-US" altLang="zh-CN" b="1" i="1">
                  <a:solidFill>
                    <a:srgbClr val="00001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" pitchFamily="18" charset="0"/>
                  <a:ea typeface="楷体_GB2312" pitchFamily="49" charset="-122"/>
                </a:rPr>
                <a:t>t</a:t>
              </a: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V="1">
              <a:off x="2160" y="2400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" name="Group 23"/>
          <p:cNvGrpSpPr>
            <a:grpSpLocks/>
          </p:cNvGrpSpPr>
          <p:nvPr/>
        </p:nvGrpSpPr>
        <p:grpSpPr bwMode="auto">
          <a:xfrm>
            <a:off x="4848927" y="2186874"/>
            <a:ext cx="3240087" cy="1371600"/>
            <a:chOff x="2112" y="2880"/>
            <a:chExt cx="2041" cy="864"/>
          </a:xfrm>
        </p:grpSpPr>
        <p:grpSp>
          <p:nvGrpSpPr>
            <p:cNvPr id="36" name="Group 24"/>
            <p:cNvGrpSpPr>
              <a:grpSpLocks/>
            </p:cNvGrpSpPr>
            <p:nvPr/>
          </p:nvGrpSpPr>
          <p:grpSpPr bwMode="auto">
            <a:xfrm>
              <a:off x="2112" y="3264"/>
              <a:ext cx="1632" cy="331"/>
              <a:chOff x="1008" y="2736"/>
              <a:chExt cx="2736" cy="480"/>
            </a:xfrm>
          </p:grpSpPr>
          <p:grpSp>
            <p:nvGrpSpPr>
              <p:cNvPr id="41" name="Group 25"/>
              <p:cNvGrpSpPr>
                <a:grpSpLocks/>
              </p:cNvGrpSpPr>
              <p:nvPr/>
            </p:nvGrpSpPr>
            <p:grpSpPr bwMode="auto">
              <a:xfrm>
                <a:off x="1008" y="2736"/>
                <a:ext cx="912" cy="480"/>
                <a:chOff x="1008" y="2736"/>
                <a:chExt cx="912" cy="480"/>
              </a:xfrm>
            </p:grpSpPr>
            <p:sp>
              <p:nvSpPr>
                <p:cNvPr id="48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1008" y="2736"/>
                  <a:ext cx="480" cy="480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Line 27"/>
                <p:cNvSpPr>
                  <a:spLocks noChangeShapeType="1"/>
                </p:cNvSpPr>
                <p:nvPr/>
              </p:nvSpPr>
              <p:spPr bwMode="auto">
                <a:xfrm>
                  <a:off x="1488" y="2736"/>
                  <a:ext cx="432" cy="480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Group 28"/>
              <p:cNvGrpSpPr>
                <a:grpSpLocks/>
              </p:cNvGrpSpPr>
              <p:nvPr/>
            </p:nvGrpSpPr>
            <p:grpSpPr bwMode="auto">
              <a:xfrm>
                <a:off x="1920" y="2736"/>
                <a:ext cx="912" cy="480"/>
                <a:chOff x="1008" y="2736"/>
                <a:chExt cx="912" cy="480"/>
              </a:xfrm>
            </p:grpSpPr>
            <p:sp>
              <p:nvSpPr>
                <p:cNvPr id="46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1008" y="2736"/>
                  <a:ext cx="480" cy="480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Line 30"/>
                <p:cNvSpPr>
                  <a:spLocks noChangeShapeType="1"/>
                </p:cNvSpPr>
                <p:nvPr/>
              </p:nvSpPr>
              <p:spPr bwMode="auto">
                <a:xfrm>
                  <a:off x="1488" y="2736"/>
                  <a:ext cx="432" cy="480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Group 31"/>
              <p:cNvGrpSpPr>
                <a:grpSpLocks/>
              </p:cNvGrpSpPr>
              <p:nvPr/>
            </p:nvGrpSpPr>
            <p:grpSpPr bwMode="auto">
              <a:xfrm>
                <a:off x="2832" y="2736"/>
                <a:ext cx="912" cy="480"/>
                <a:chOff x="1008" y="2736"/>
                <a:chExt cx="912" cy="480"/>
              </a:xfrm>
            </p:grpSpPr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1008" y="2736"/>
                  <a:ext cx="480" cy="480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488" y="2736"/>
                  <a:ext cx="432" cy="480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8" name="Line 34"/>
            <p:cNvSpPr>
              <a:spLocks noChangeShapeType="1"/>
            </p:cNvSpPr>
            <p:nvPr/>
          </p:nvSpPr>
          <p:spPr bwMode="auto">
            <a:xfrm flipV="1">
              <a:off x="2112" y="2880"/>
              <a:ext cx="0" cy="73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Rectangle 35"/>
            <p:cNvSpPr>
              <a:spLocks noChangeArrowheads="1"/>
            </p:cNvSpPr>
            <p:nvPr/>
          </p:nvSpPr>
          <p:spPr bwMode="auto">
            <a:xfrm>
              <a:off x="3984" y="3456"/>
              <a:ext cx="16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  <a:defRPr/>
              </a:pPr>
              <a:r>
                <a:rPr lang="en-US" altLang="zh-CN" b="1" i="1">
                  <a:solidFill>
                    <a:srgbClr val="00001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" pitchFamily="18" charset="0"/>
                  <a:ea typeface="楷体_GB2312" pitchFamily="49" charset="-122"/>
                </a:rPr>
                <a:t>t</a:t>
              </a:r>
              <a:endParaRPr lang="en-US" altLang="zh-CN" sz="3200" b="1">
                <a:solidFill>
                  <a:srgbClr val="00001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" pitchFamily="18" charset="0"/>
                <a:ea typeface="楷体_GB2312" pitchFamily="49" charset="-122"/>
              </a:endParaRP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2112" y="3600"/>
              <a:ext cx="18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utoUpdateAnimBg="0"/>
      <p:bldP spid="33" grpId="0" autoUpdateAnimBg="0"/>
      <p:bldP spid="34" grpId="0" autoUpdateAnimBg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9"/>
          <p:cNvSpPr txBox="1">
            <a:spLocks noChangeArrowheads="1"/>
          </p:cNvSpPr>
          <p:nvPr/>
        </p:nvSpPr>
        <p:spPr bwMode="auto">
          <a:xfrm>
            <a:off x="3383451" y="4252905"/>
            <a:ext cx="23391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典型数字信号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824770" y="1590515"/>
            <a:ext cx="19800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i="0" dirty="0">
                <a:solidFill>
                  <a:srgbClr val="A50021"/>
                </a:solidFill>
                <a:latin typeface="华文中宋" pitchFamily="2" charset="-122"/>
                <a:ea typeface="华文中宋" pitchFamily="2" charset="-122"/>
              </a:rPr>
              <a:t>数字信号：</a:t>
            </a:r>
            <a:endParaRPr lang="zh-CN" altLang="en-US" sz="2800" i="0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2615609" y="1559398"/>
            <a:ext cx="578208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i="0" dirty="0" smtClean="0">
                <a:latin typeface="华文中宋" pitchFamily="2" charset="-122"/>
                <a:ea typeface="华文中宋" pitchFamily="2" charset="-122"/>
              </a:rPr>
              <a:t>幅</a:t>
            </a:r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值在上限和下限之间取值离散。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285720" y="214296"/>
            <a:ext cx="4286280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数字电路概述</a:t>
            </a:r>
            <a:endParaRPr lang="zh-CN" altLang="en-US" sz="3600" b="1" i="0" dirty="0">
              <a:solidFill>
                <a:srgbClr val="C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357158" y="857238"/>
            <a:ext cx="50366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 i="0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1).   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模拟信号</a:t>
            </a:r>
            <a:r>
              <a:rPr lang="zh-CN" altLang="en-US" sz="3200" b="1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和数字信号</a:t>
            </a:r>
          </a:p>
        </p:txBody>
      </p:sp>
      <p:pic>
        <p:nvPicPr>
          <p:cNvPr id="27" name="Picture 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9702" y="2322829"/>
            <a:ext cx="2939209" cy="1728176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</p:spPr>
      </p:pic>
      <p:pic>
        <p:nvPicPr>
          <p:cNvPr id="19" name="Picture 25" descr="http://f.hiphotos.baidu.com/exp/w=500/sign=64a003fe546034a829e2b881fb1249d9/9e3df8dcd100baa13094cd444f10b912c9fc2e9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78326" y="2305372"/>
            <a:ext cx="2415753" cy="1758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utoUpdateAnimBg="0"/>
      <p:bldP spid="16" grpId="0" autoUpdateAnimBg="0"/>
      <p:bldP spid="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894280" y="1200815"/>
            <a:ext cx="770413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用以传递和加工处理</a:t>
            </a:r>
            <a:r>
              <a:rPr lang="zh-CN" altLang="en-US" sz="2800" i="0" dirty="0">
                <a:solidFill>
                  <a:srgbClr val="A50021"/>
                </a:solidFill>
                <a:latin typeface="华文中宋" pitchFamily="2" charset="-122"/>
                <a:ea typeface="华文中宋" pitchFamily="2" charset="-122"/>
              </a:rPr>
              <a:t>数字信号</a:t>
            </a:r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的电路就称为数字电路。 </a:t>
            </a: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1101651" y="2471516"/>
          <a:ext cx="7593013" cy="1349375"/>
        </p:xfrm>
        <a:graphic>
          <a:graphicData uri="http://schemas.openxmlformats.org/presentationml/2006/ole">
            <p:oleObj spid="_x0000_s1026" name="Visio" r:id="rId5" imgW="5398922" imgH="960425" progId="Visio.Drawing.11">
              <p:embed/>
            </p:oleObj>
          </a:graphicData>
        </a:graphic>
      </p:graphicFrame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25261" y="400039"/>
            <a:ext cx="301336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 i="0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2).  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数字电路</a:t>
            </a:r>
            <a:endParaRPr lang="zh-CN" altLang="en-US" sz="3200" b="1" i="0" dirty="0">
              <a:solidFill>
                <a:srgbClr val="0070C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1052032" y="4073229"/>
            <a:ext cx="7475538" cy="565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zh-CN" altLang="en-US" sz="2800" i="0" dirty="0" smtClean="0">
                <a:solidFill>
                  <a:srgbClr val="000018"/>
                </a:solidFill>
                <a:latin typeface="华文中宋" pitchFamily="2" charset="-122"/>
                <a:ea typeface="华文中宋" pitchFamily="2" charset="-122"/>
              </a:rPr>
              <a:t>注重</a:t>
            </a:r>
            <a:r>
              <a:rPr lang="zh-CN" altLang="en-US" sz="2800" i="0" dirty="0">
                <a:solidFill>
                  <a:srgbClr val="000018"/>
                </a:solidFill>
                <a:latin typeface="华文中宋" pitchFamily="2" charset="-122"/>
                <a:ea typeface="华文中宋" pitchFamily="2" charset="-122"/>
              </a:rPr>
              <a:t>研究的是输入、输出信号之间的逻辑关系。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8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422793" y="1232820"/>
            <a:ext cx="7700483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i="0" dirty="0" smtClean="0">
                <a:latin typeface="华文中宋" pitchFamily="2" charset="-122"/>
                <a:ea typeface="华文中宋" pitchFamily="2" charset="-122"/>
              </a:rPr>
              <a:t>      数字电路</a:t>
            </a:r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中晶体管多数工作在</a:t>
            </a:r>
            <a:r>
              <a:rPr lang="zh-CN" altLang="en-US" sz="2800" i="0" dirty="0">
                <a:solidFill>
                  <a:srgbClr val="A50021"/>
                </a:solidFill>
                <a:latin typeface="华文中宋" pitchFamily="2" charset="-122"/>
                <a:ea typeface="华文中宋" pitchFamily="2" charset="-122"/>
              </a:rPr>
              <a:t>开关</a:t>
            </a:r>
            <a:r>
              <a:rPr lang="zh-CN" altLang="en-US" sz="2800" i="0" dirty="0" smtClean="0">
                <a:solidFill>
                  <a:srgbClr val="A50021"/>
                </a:solidFill>
                <a:latin typeface="华文中宋" pitchFamily="2" charset="-122"/>
                <a:ea typeface="华文中宋" pitchFamily="2" charset="-122"/>
              </a:rPr>
              <a:t>状态。</a:t>
            </a:r>
            <a:endParaRPr lang="en-US" altLang="zh-CN" sz="2800" i="0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25261" y="400039"/>
            <a:ext cx="301336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 i="0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2).  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数字电路</a:t>
            </a:r>
            <a:endParaRPr lang="zh-CN" altLang="en-US" sz="3200" b="1" i="0" dirty="0">
              <a:solidFill>
                <a:srgbClr val="0070C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444057" y="2136592"/>
            <a:ext cx="8280400" cy="1308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i="0" dirty="0" smtClean="0">
                <a:latin typeface="华文中宋" pitchFamily="2" charset="-122"/>
                <a:ea typeface="华文中宋" pitchFamily="2" charset="-122"/>
              </a:rPr>
              <a:t>      数字电路可以</a:t>
            </a:r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由分立元器件组成，也可由集成电路</a:t>
            </a:r>
            <a:r>
              <a:rPr lang="zh-CN" altLang="en-US" sz="2800" i="0" dirty="0" smtClean="0">
                <a:latin typeface="华文中宋" pitchFamily="2" charset="-122"/>
                <a:ea typeface="华文中宋" pitchFamily="2" charset="-122"/>
              </a:rPr>
              <a:t>实现，集成电路应用更广泛。</a:t>
            </a:r>
            <a:endParaRPr lang="en-US" altLang="zh-CN" sz="2800" i="0" dirty="0"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  <p:bldP spid="6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25261" y="400039"/>
            <a:ext cx="301336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 i="0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2).  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数字电路</a:t>
            </a:r>
            <a:endParaRPr lang="zh-CN" altLang="en-US" sz="3200" b="1" i="0" dirty="0">
              <a:solidFill>
                <a:srgbClr val="0070C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" name="Text Box 77"/>
          <p:cNvSpPr txBox="1">
            <a:spLocks noChangeArrowheads="1"/>
          </p:cNvSpPr>
          <p:nvPr/>
        </p:nvSpPr>
        <p:spPr bwMode="auto">
          <a:xfrm>
            <a:off x="948255" y="1269299"/>
            <a:ext cx="520655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FontTx/>
              <a:buBlip>
                <a:blip r:embed="rId2"/>
              </a:buBlip>
            </a:pPr>
            <a:r>
              <a:rPr lang="en-US" altLang="zh-CN" sz="2800" i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800" i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逻辑电路（数字电路）分类   </a:t>
            </a:r>
          </a:p>
        </p:txBody>
      </p:sp>
      <p:grpSp>
        <p:nvGrpSpPr>
          <p:cNvPr id="7" name="组合 68"/>
          <p:cNvGrpSpPr>
            <a:grpSpLocks/>
          </p:cNvGrpSpPr>
          <p:nvPr/>
        </p:nvGrpSpPr>
        <p:grpSpPr bwMode="auto">
          <a:xfrm>
            <a:off x="2200792" y="3175011"/>
            <a:ext cx="6492825" cy="1107996"/>
            <a:chOff x="2726377" y="4727101"/>
            <a:chExt cx="6492172" cy="1106925"/>
          </a:xfrm>
        </p:grpSpPr>
        <p:sp>
          <p:nvSpPr>
            <p:cNvPr id="9" name="AutoShape 23"/>
            <p:cNvSpPr>
              <a:spLocks/>
            </p:cNvSpPr>
            <p:nvPr/>
          </p:nvSpPr>
          <p:spPr bwMode="auto">
            <a:xfrm>
              <a:off x="2726377" y="4930632"/>
              <a:ext cx="126005" cy="651302"/>
            </a:xfrm>
            <a:prstGeom prst="leftBrace">
              <a:avLst>
                <a:gd name="adj1" fmla="val 49990"/>
                <a:gd name="adj2" fmla="val 50000"/>
              </a:avLst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10" name="Text Box 77"/>
            <p:cNvSpPr txBox="1">
              <a:spLocks noChangeArrowheads="1"/>
            </p:cNvSpPr>
            <p:nvPr/>
          </p:nvSpPr>
          <p:spPr bwMode="auto">
            <a:xfrm>
              <a:off x="2906237" y="4727101"/>
              <a:ext cx="6312312" cy="110692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ts val="1200"/>
                </a:spcBef>
              </a:pPr>
              <a:r>
                <a:rPr lang="zh-CN" altLang="en-US" sz="2800" i="0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门电路，加法器，编码器，译码器</a:t>
              </a:r>
              <a:r>
                <a:rPr lang="en-US" altLang="zh-CN" sz="2800" i="0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……</a:t>
              </a:r>
            </a:p>
            <a:p>
              <a:pPr algn="l">
                <a:spcBef>
                  <a:spcPts val="1200"/>
                </a:spcBef>
              </a:pPr>
              <a:r>
                <a:rPr lang="zh-CN" altLang="en-US" sz="2800" i="0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触发器，寄存器，计数器，存储器</a:t>
              </a:r>
              <a:r>
                <a:rPr lang="en-US" altLang="zh-CN" sz="2800" i="0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……</a:t>
              </a:r>
              <a:endParaRPr lang="zh-CN" altLang="en-US" sz="2800" i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</p:grpSp>
      <p:grpSp>
        <p:nvGrpSpPr>
          <p:cNvPr id="11" name="组合 69"/>
          <p:cNvGrpSpPr>
            <a:grpSpLocks/>
          </p:cNvGrpSpPr>
          <p:nvPr/>
        </p:nvGrpSpPr>
        <p:grpSpPr bwMode="auto">
          <a:xfrm>
            <a:off x="2173805" y="1948716"/>
            <a:ext cx="3169705" cy="1107996"/>
            <a:chOff x="2699081" y="3485156"/>
            <a:chExt cx="3169400" cy="1108711"/>
          </a:xfrm>
        </p:grpSpPr>
        <p:sp>
          <p:nvSpPr>
            <p:cNvPr id="12" name="Text Box 77"/>
            <p:cNvSpPr txBox="1">
              <a:spLocks noChangeArrowheads="1"/>
            </p:cNvSpPr>
            <p:nvPr/>
          </p:nvSpPr>
          <p:spPr bwMode="auto">
            <a:xfrm>
              <a:off x="2824351" y="3485156"/>
              <a:ext cx="3044130" cy="110871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ts val="1200"/>
                </a:spcBef>
              </a:pPr>
              <a:r>
                <a:rPr lang="zh-CN" altLang="en-US" sz="2800" i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组合逻辑电路</a:t>
              </a:r>
              <a:endParaRPr lang="en-US" altLang="zh-CN" sz="2800" i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endParaRPr>
            </a:p>
            <a:p>
              <a:pPr algn="l">
                <a:spcBef>
                  <a:spcPts val="1200"/>
                </a:spcBef>
              </a:pPr>
              <a:r>
                <a:rPr lang="zh-CN" altLang="en-US" sz="2800" i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时序逻辑电路。   </a:t>
              </a:r>
            </a:p>
          </p:txBody>
        </p:sp>
        <p:sp>
          <p:nvSpPr>
            <p:cNvPr id="14" name="AutoShape 23"/>
            <p:cNvSpPr>
              <a:spLocks/>
            </p:cNvSpPr>
            <p:nvPr/>
          </p:nvSpPr>
          <p:spPr bwMode="auto">
            <a:xfrm>
              <a:off x="2699081" y="3675038"/>
              <a:ext cx="126005" cy="651302"/>
            </a:xfrm>
            <a:prstGeom prst="leftBrace">
              <a:avLst>
                <a:gd name="adj1" fmla="val 49990"/>
                <a:gd name="adj2" fmla="val 50000"/>
              </a:avLst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25261" y="400039"/>
            <a:ext cx="301336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 i="0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2).  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数字电路</a:t>
            </a:r>
            <a:endParaRPr lang="zh-CN" altLang="en-US" sz="3200" b="1" i="0" dirty="0">
              <a:solidFill>
                <a:srgbClr val="0070C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3" name="AutoShape 2" descr="20%"/>
          <p:cNvSpPr>
            <a:spLocks noChangeArrowheads="1"/>
          </p:cNvSpPr>
          <p:nvPr/>
        </p:nvSpPr>
        <p:spPr bwMode="auto">
          <a:xfrm>
            <a:off x="127589" y="999460"/>
            <a:ext cx="4869712" cy="3790341"/>
          </a:xfrm>
          <a:prstGeom prst="verticalScroll">
            <a:avLst>
              <a:gd name="adj" fmla="val 12500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  <a:ln w="9525" cap="sq">
            <a:solidFill>
              <a:srgbClr val="0066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0" dirty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   </a:t>
            </a:r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电平的高低一般用</a:t>
            </a:r>
            <a:r>
              <a:rPr lang="zh-CN" altLang="en-US" sz="2800" b="1" i="0" dirty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“</a:t>
            </a:r>
            <a:r>
              <a:rPr lang="en-US" altLang="zh-CN" sz="2800" b="1" i="0" dirty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1”</a:t>
            </a:r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和</a:t>
            </a:r>
            <a:r>
              <a:rPr lang="zh-CN" altLang="en-US" sz="2800" b="1" i="0" dirty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“</a:t>
            </a:r>
            <a:r>
              <a:rPr lang="en-US" altLang="zh-CN" sz="2800" b="1" i="0" dirty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0”</a:t>
            </a:r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两种状态区别，若规定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高电平为“</a:t>
            </a:r>
            <a:r>
              <a:rPr lang="en-US" altLang="zh-CN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1”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，低电平为“</a:t>
            </a:r>
            <a:r>
              <a:rPr lang="en-US" altLang="zh-CN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0”</a:t>
            </a:r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则称为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正逻辑</a:t>
            </a:r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。反之则称为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负逻辑</a:t>
            </a:r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。若无特殊说明，均采用正逻辑。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8399948" y="1891425"/>
            <a:ext cx="420688" cy="523220"/>
          </a:xfrm>
          <a:prstGeom prst="rect">
            <a:avLst/>
          </a:prstGeom>
          <a:noFill/>
          <a:ln w="38100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800" b="1" i="0">
                <a:solidFill>
                  <a:srgbClr val="333300"/>
                </a:solidFill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8368198" y="3917075"/>
            <a:ext cx="438150" cy="523220"/>
          </a:xfrm>
          <a:prstGeom prst="rect">
            <a:avLst/>
          </a:prstGeom>
          <a:noFill/>
          <a:ln w="38100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800" b="1" i="0">
                <a:solidFill>
                  <a:srgbClr val="333300"/>
                </a:solidFill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grpSp>
        <p:nvGrpSpPr>
          <p:cNvPr id="17" name="Group 5"/>
          <p:cNvGrpSpPr>
            <a:grpSpLocks/>
          </p:cNvGrpSpPr>
          <p:nvPr/>
        </p:nvGrpSpPr>
        <p:grpSpPr bwMode="auto">
          <a:xfrm>
            <a:off x="4699486" y="4193304"/>
            <a:ext cx="3352800" cy="523876"/>
            <a:chOff x="2928" y="3235"/>
            <a:chExt cx="2112" cy="330"/>
          </a:xfrm>
        </p:grpSpPr>
        <p:sp>
          <p:nvSpPr>
            <p:cNvPr id="18" name="Text Box 6"/>
            <p:cNvSpPr txBox="1">
              <a:spLocks noChangeArrowheads="1"/>
            </p:cNvSpPr>
            <p:nvPr/>
          </p:nvSpPr>
          <p:spPr bwMode="auto">
            <a:xfrm>
              <a:off x="2928" y="3235"/>
              <a:ext cx="658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0V</a:t>
              </a:r>
            </a:p>
          </p:txBody>
        </p:sp>
        <p:sp>
          <p:nvSpPr>
            <p:cNvPr id="19" name="Line 7"/>
            <p:cNvSpPr>
              <a:spLocks noChangeShapeType="1"/>
            </p:cNvSpPr>
            <p:nvPr/>
          </p:nvSpPr>
          <p:spPr bwMode="auto">
            <a:xfrm>
              <a:off x="3360" y="3408"/>
              <a:ext cx="1680" cy="0"/>
            </a:xfrm>
            <a:prstGeom prst="line">
              <a:avLst/>
            </a:prstGeom>
            <a:noFill/>
            <a:ln w="38100" cap="sq">
              <a:solidFill>
                <a:srgbClr val="33CC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20" name="Group 8"/>
          <p:cNvGrpSpPr>
            <a:grpSpLocks/>
          </p:cNvGrpSpPr>
          <p:nvPr/>
        </p:nvGrpSpPr>
        <p:grpSpPr bwMode="auto">
          <a:xfrm>
            <a:off x="5418623" y="3894850"/>
            <a:ext cx="2671763" cy="579438"/>
            <a:chOff x="3360" y="2227"/>
            <a:chExt cx="1683" cy="365"/>
          </a:xfrm>
        </p:grpSpPr>
        <p:grpSp>
          <p:nvGrpSpPr>
            <p:cNvPr id="21" name="Group 9"/>
            <p:cNvGrpSpPr>
              <a:grpSpLocks/>
            </p:cNvGrpSpPr>
            <p:nvPr/>
          </p:nvGrpSpPr>
          <p:grpSpPr bwMode="auto">
            <a:xfrm>
              <a:off x="3378" y="2227"/>
              <a:ext cx="1665" cy="336"/>
              <a:chOff x="3815" y="2676"/>
              <a:chExt cx="1465" cy="336"/>
            </a:xfrm>
          </p:grpSpPr>
          <p:sp>
            <p:nvSpPr>
              <p:cNvPr id="23" name="Line 10"/>
              <p:cNvSpPr>
                <a:spLocks noChangeShapeType="1"/>
              </p:cNvSpPr>
              <p:nvPr/>
            </p:nvSpPr>
            <p:spPr bwMode="auto">
              <a:xfrm>
                <a:off x="3816" y="3012"/>
                <a:ext cx="146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800" i="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" name="Line 11"/>
              <p:cNvSpPr>
                <a:spLocks noChangeShapeType="1"/>
              </p:cNvSpPr>
              <p:nvPr/>
            </p:nvSpPr>
            <p:spPr bwMode="auto">
              <a:xfrm>
                <a:off x="3816" y="2676"/>
                <a:ext cx="146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800" i="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" name="Rectangle 12" descr="宽上对角线"/>
              <p:cNvSpPr>
                <a:spLocks noChangeArrowheads="1"/>
              </p:cNvSpPr>
              <p:nvPr/>
            </p:nvSpPr>
            <p:spPr bwMode="auto">
              <a:xfrm>
                <a:off x="3815" y="2688"/>
                <a:ext cx="1452" cy="312"/>
              </a:xfrm>
              <a:prstGeom prst="rect">
                <a:avLst/>
              </a:prstGeom>
              <a:pattFill prst="wdUpDiag">
                <a:fgClr>
                  <a:srgbClr val="66FF66"/>
                </a:fgClr>
                <a:bgClr>
                  <a:srgbClr val="FFFFFF"/>
                </a:bgClr>
              </a:pattFill>
              <a:ln w="38100">
                <a:solidFill>
                  <a:schemeClr val="accent2"/>
                </a:solidFill>
                <a:miter lim="800000"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800" i="0"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3360" y="2592"/>
              <a:ext cx="1680" cy="0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26" name="Group 14"/>
          <p:cNvGrpSpPr>
            <a:grpSpLocks/>
          </p:cNvGrpSpPr>
          <p:nvPr/>
        </p:nvGrpSpPr>
        <p:grpSpPr bwMode="auto">
          <a:xfrm>
            <a:off x="5386873" y="1835863"/>
            <a:ext cx="2759075" cy="606425"/>
            <a:chOff x="3359" y="429"/>
            <a:chExt cx="1738" cy="382"/>
          </a:xfrm>
        </p:grpSpPr>
        <p:grpSp>
          <p:nvGrpSpPr>
            <p:cNvPr id="27" name="Group 15"/>
            <p:cNvGrpSpPr>
              <a:grpSpLocks/>
            </p:cNvGrpSpPr>
            <p:nvPr/>
          </p:nvGrpSpPr>
          <p:grpSpPr bwMode="auto">
            <a:xfrm>
              <a:off x="3359" y="429"/>
              <a:ext cx="1728" cy="345"/>
              <a:chOff x="3817" y="2139"/>
              <a:chExt cx="1465" cy="345"/>
            </a:xfrm>
          </p:grpSpPr>
          <p:sp>
            <p:nvSpPr>
              <p:cNvPr id="29" name="Line 16"/>
              <p:cNvSpPr>
                <a:spLocks noChangeShapeType="1"/>
              </p:cNvSpPr>
              <p:nvPr/>
            </p:nvSpPr>
            <p:spPr bwMode="auto">
              <a:xfrm>
                <a:off x="3817" y="2139"/>
                <a:ext cx="1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800" i="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" name="Rectangle 18" descr="宽上对角线"/>
              <p:cNvSpPr>
                <a:spLocks noChangeArrowheads="1"/>
              </p:cNvSpPr>
              <p:nvPr/>
            </p:nvSpPr>
            <p:spPr bwMode="auto">
              <a:xfrm>
                <a:off x="3837" y="2172"/>
                <a:ext cx="1441" cy="312"/>
              </a:xfrm>
              <a:prstGeom prst="rect">
                <a:avLst/>
              </a:prstGeom>
              <a:pattFill prst="wdUpDiag">
                <a:fgClr>
                  <a:srgbClr val="66FF66"/>
                </a:fgClr>
                <a:bgClr>
                  <a:srgbClr val="FFFFFF"/>
                </a:bgClr>
              </a:pattFill>
              <a:ln w="38100">
                <a:solidFill>
                  <a:schemeClr val="accent2"/>
                </a:solidFill>
                <a:miter lim="800000"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800" i="0"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8" name="Line 19"/>
            <p:cNvSpPr>
              <a:spLocks noChangeShapeType="1"/>
            </p:cNvSpPr>
            <p:nvPr/>
          </p:nvSpPr>
          <p:spPr bwMode="auto">
            <a:xfrm>
              <a:off x="3369" y="811"/>
              <a:ext cx="1728" cy="0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31" name="Group 20"/>
          <p:cNvGrpSpPr>
            <a:grpSpLocks/>
          </p:cNvGrpSpPr>
          <p:nvPr/>
        </p:nvGrpSpPr>
        <p:grpSpPr bwMode="auto">
          <a:xfrm>
            <a:off x="4732823" y="1480261"/>
            <a:ext cx="3352800" cy="523874"/>
            <a:chOff x="2962" y="1801"/>
            <a:chExt cx="2112" cy="330"/>
          </a:xfrm>
        </p:grpSpPr>
        <p:sp>
          <p:nvSpPr>
            <p:cNvPr id="32" name="Text Box 21"/>
            <p:cNvSpPr txBox="1">
              <a:spLocks noChangeArrowheads="1"/>
            </p:cNvSpPr>
            <p:nvPr/>
          </p:nvSpPr>
          <p:spPr bwMode="auto">
            <a:xfrm>
              <a:off x="2962" y="1801"/>
              <a:ext cx="56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i="0" baseline="-2500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CC</a:t>
              </a:r>
              <a:endParaRPr lang="en-US" altLang="zh-CN" sz="2800" b="1" i="0" dirty="0">
                <a:solidFill>
                  <a:srgbClr val="FF3300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Line 22"/>
            <p:cNvSpPr>
              <a:spLocks noChangeShapeType="1"/>
            </p:cNvSpPr>
            <p:nvPr/>
          </p:nvSpPr>
          <p:spPr bwMode="auto">
            <a:xfrm>
              <a:off x="3394" y="2022"/>
              <a:ext cx="1680" cy="0"/>
            </a:xfrm>
            <a:prstGeom prst="line">
              <a:avLst/>
            </a:prstGeom>
            <a:noFill/>
            <a:ln w="38100" cap="sq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34" name="AutoShape 23"/>
          <p:cNvSpPr>
            <a:spLocks/>
          </p:cNvSpPr>
          <p:nvPr/>
        </p:nvSpPr>
        <p:spPr bwMode="auto">
          <a:xfrm>
            <a:off x="8142773" y="3898025"/>
            <a:ext cx="185738" cy="558641"/>
          </a:xfrm>
          <a:prstGeom prst="rightBrace">
            <a:avLst>
              <a:gd name="adj1" fmla="val 33180"/>
              <a:gd name="adj2" fmla="val 50000"/>
            </a:avLst>
          </a:prstGeom>
          <a:noFill/>
          <a:ln w="38100" cap="sq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 sz="2800" i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5" name="AutoShape 24"/>
          <p:cNvSpPr>
            <a:spLocks/>
          </p:cNvSpPr>
          <p:nvPr/>
        </p:nvSpPr>
        <p:spPr bwMode="auto">
          <a:xfrm>
            <a:off x="8215798" y="1924763"/>
            <a:ext cx="169863" cy="548521"/>
          </a:xfrm>
          <a:prstGeom prst="rightBrace">
            <a:avLst>
              <a:gd name="adj1" fmla="val 29223"/>
              <a:gd name="adj2" fmla="val 50000"/>
            </a:avLst>
          </a:prstGeom>
          <a:noFill/>
          <a:ln w="38100" cap="sq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 sz="2800" i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6" name="AutoShape 25"/>
          <p:cNvSpPr>
            <a:spLocks noChangeArrowheads="1"/>
          </p:cNvSpPr>
          <p:nvPr/>
        </p:nvSpPr>
        <p:spPr bwMode="auto">
          <a:xfrm>
            <a:off x="6842611" y="908763"/>
            <a:ext cx="1310700" cy="578882"/>
          </a:xfrm>
          <a:prstGeom prst="wedgeRoundRectCallout">
            <a:avLst>
              <a:gd name="adj1" fmla="val -43718"/>
              <a:gd name="adj2" fmla="val 148074"/>
              <a:gd name="adj3" fmla="val 16667"/>
            </a:avLst>
          </a:prstGeom>
          <a:solidFill>
            <a:srgbClr val="FFFFCC"/>
          </a:solidFill>
          <a:ln w="38100" cap="sq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i="0">
                <a:solidFill>
                  <a:schemeClr val="accent2"/>
                </a:solidFill>
                <a:ea typeface="华文中宋" pitchFamily="2" charset="-122"/>
                <a:cs typeface="Times New Roman" pitchFamily="18" charset="0"/>
              </a:rPr>
              <a:t>高电平</a:t>
            </a:r>
          </a:p>
        </p:txBody>
      </p:sp>
      <p:sp>
        <p:nvSpPr>
          <p:cNvPr id="37" name="AutoShape 26"/>
          <p:cNvSpPr>
            <a:spLocks noChangeArrowheads="1"/>
          </p:cNvSpPr>
          <p:nvPr/>
        </p:nvSpPr>
        <p:spPr bwMode="auto">
          <a:xfrm>
            <a:off x="6701323" y="2991563"/>
            <a:ext cx="1310700" cy="578882"/>
          </a:xfrm>
          <a:prstGeom prst="wedgeRoundRectCallout">
            <a:avLst>
              <a:gd name="adj1" fmla="val -43718"/>
              <a:gd name="adj2" fmla="val 148074"/>
              <a:gd name="adj3" fmla="val 16667"/>
            </a:avLst>
          </a:prstGeom>
          <a:solidFill>
            <a:srgbClr val="FFFFCC"/>
          </a:solidFill>
          <a:ln w="38100" cap="sq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i="0">
                <a:solidFill>
                  <a:schemeClr val="accent2"/>
                </a:solidFill>
                <a:ea typeface="华文中宋" pitchFamily="2" charset="-122"/>
                <a:cs typeface="Times New Roman" pitchFamily="18" charset="0"/>
              </a:rPr>
              <a:t>低电平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5" grpId="0" autoUpdateAnimBg="0"/>
      <p:bldP spid="16" grpId="0" autoUpdateAnimBg="0"/>
      <p:bldP spid="34" grpId="0" animBg="1"/>
      <p:bldP spid="35" grpId="0" animBg="1"/>
      <p:bldP spid="36" grpId="0" animBg="1" autoUpdateAnimBg="0"/>
      <p:bldP spid="37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Rectangle 3"/>
          <p:cNvSpPr>
            <a:spLocks noChangeArrowheads="1"/>
          </p:cNvSpPr>
          <p:nvPr/>
        </p:nvSpPr>
        <p:spPr bwMode="auto">
          <a:xfrm>
            <a:off x="428625" y="1105125"/>
            <a:ext cx="8215313" cy="340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altLang="zh-CN" sz="2800" b="1" i="0" dirty="0">
                <a:solidFill>
                  <a:schemeClr val="tx2"/>
                </a:solidFill>
                <a:ea typeface="+mn-ea"/>
                <a:cs typeface="Times New Roman" pitchFamily="18" charset="0"/>
              </a:rPr>
              <a:t>		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逻辑是表示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事物发生的条件和结果之间的规律，即因果关系。</a:t>
            </a:r>
            <a:endParaRPr lang="en-US" altLang="zh-CN" sz="2800" i="0" dirty="0">
              <a:ea typeface="华文中宋" pitchFamily="2" charset="-122"/>
              <a:cs typeface="Times New Roman" pitchFamily="18" charset="0"/>
            </a:endParaRPr>
          </a:p>
          <a:p>
            <a:pPr marL="342900" indent="-342900" algn="just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		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自然界存在的逻辑多种多样，而数字电路主要关注的是二值逻辑。在二值逻辑中，逻辑变量取值只有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和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两种可能，如高和低、亮和灭、开和关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等</a:t>
            </a:r>
            <a:r>
              <a:rPr lang="zh-CN" altLang="en-US" sz="2800" i="0" dirty="0">
                <a:solidFill>
                  <a:schemeClr val="tx2"/>
                </a:solidFill>
                <a:ea typeface="华文中宋" pitchFamily="2" charset="-122"/>
                <a:cs typeface="Times New Roman" pitchFamily="18" charset="0"/>
              </a:rPr>
              <a:t>。</a:t>
            </a:r>
            <a:endParaRPr lang="en-US" altLang="zh-CN" sz="2800" i="0" dirty="0">
              <a:solidFill>
                <a:schemeClr val="tx2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357157" y="357509"/>
            <a:ext cx="70218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 i="0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3).  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数字电路</a:t>
            </a:r>
            <a:r>
              <a:rPr lang="zh-CN" altLang="en-US" sz="3200" b="1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的分析工具</a:t>
            </a:r>
            <a:r>
              <a:rPr lang="en-US" altLang="zh-CN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—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逻辑代数</a:t>
            </a:r>
            <a:endParaRPr lang="zh-CN" altLang="en-US" sz="3200" b="1" i="0" dirty="0">
              <a:solidFill>
                <a:srgbClr val="0070C0"/>
              </a:solidFill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6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820442" y="2113517"/>
            <a:ext cx="7489825" cy="1954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800" i="0" dirty="0" smtClean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逻辑</a:t>
            </a:r>
            <a:r>
              <a:rPr lang="zh-CN" altLang="en-US" sz="2800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功能的表示方法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800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   真值表、逻辑表达式、逻辑电路图、波形</a:t>
            </a:r>
            <a:r>
              <a:rPr lang="en-US" altLang="zh-CN" sz="2800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(</a:t>
            </a:r>
            <a:r>
              <a:rPr lang="zh-CN" altLang="en-US" sz="2800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时序</a:t>
            </a:r>
            <a:r>
              <a:rPr lang="en-US" altLang="zh-CN" sz="2800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)</a:t>
            </a:r>
            <a:r>
              <a:rPr lang="zh-CN" altLang="en-US" sz="2800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图等。 </a:t>
            </a:r>
          </a:p>
        </p:txBody>
      </p:sp>
      <p:sp>
        <p:nvSpPr>
          <p:cNvPr id="31" name="Text Box 9"/>
          <p:cNvSpPr txBox="1">
            <a:spLocks noChangeArrowheads="1"/>
          </p:cNvSpPr>
          <p:nvPr/>
        </p:nvSpPr>
        <p:spPr bwMode="auto">
          <a:xfrm>
            <a:off x="357157" y="357509"/>
            <a:ext cx="70218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 i="0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3).  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数字电路</a:t>
            </a:r>
            <a:r>
              <a:rPr lang="zh-CN" altLang="en-US" sz="3200" b="1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的分析工具</a:t>
            </a:r>
            <a:r>
              <a:rPr lang="en-US" altLang="zh-CN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—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逻辑代数</a:t>
            </a:r>
            <a:endParaRPr lang="zh-CN" altLang="en-US" sz="3200" b="1" i="0" dirty="0">
              <a:solidFill>
                <a:srgbClr val="0070C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82501" y="1292775"/>
            <a:ext cx="66453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i="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逻辑代数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就是研究逻辑变量之间的运算。</a:t>
            </a:r>
            <a:endParaRPr lang="zh-CN" alt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Text Box 6"/>
          <p:cNvSpPr txBox="1">
            <a:spLocks noChangeArrowheads="1"/>
          </p:cNvSpPr>
          <p:nvPr/>
        </p:nvSpPr>
        <p:spPr bwMode="auto">
          <a:xfrm>
            <a:off x="661803" y="1724468"/>
            <a:ext cx="74136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基本逻辑运算：</a:t>
            </a:r>
            <a:r>
              <a:rPr lang="zh-CN" altLang="en-US" sz="2800" i="0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与</a:t>
            </a:r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运算、</a:t>
            </a:r>
            <a:r>
              <a:rPr lang="zh-CN" altLang="en-US" sz="2800" i="0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或</a:t>
            </a:r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运算、</a:t>
            </a:r>
            <a:r>
              <a:rPr lang="zh-CN" altLang="en-US" sz="2800" i="0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非</a:t>
            </a:r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运算</a:t>
            </a:r>
            <a:endParaRPr lang="zh-CN" altLang="en-US" sz="2800" i="0" dirty="0">
              <a:solidFill>
                <a:schemeClr val="tx2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5370" name="Text Box 29"/>
          <p:cNvSpPr txBox="1">
            <a:spLocks noChangeArrowheads="1"/>
          </p:cNvSpPr>
          <p:nvPr/>
        </p:nvSpPr>
        <p:spPr bwMode="auto">
          <a:xfrm>
            <a:off x="672435" y="2542067"/>
            <a:ext cx="74136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i="0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任何复杂的逻辑运算均可由基本逻辑运算实现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78439" y="479135"/>
            <a:ext cx="3286148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逻辑代数</a:t>
            </a:r>
            <a:endParaRPr lang="zh-CN" altLang="en-US" sz="3600" b="1" i="0" dirty="0">
              <a:solidFill>
                <a:srgbClr val="C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357157" y="293714"/>
            <a:ext cx="468267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 i="0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1).  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三</a:t>
            </a:r>
            <a:r>
              <a:rPr lang="zh-CN" altLang="en-US" sz="3200" b="1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种基本逻辑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关系</a:t>
            </a:r>
            <a:endParaRPr lang="zh-CN" altLang="en-US" sz="3200" b="1" i="0" dirty="0">
              <a:solidFill>
                <a:srgbClr val="0070C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1" name="Text Box 91"/>
          <p:cNvSpPr txBox="1">
            <a:spLocks noChangeArrowheads="1"/>
          </p:cNvSpPr>
          <p:nvPr/>
        </p:nvSpPr>
        <p:spPr bwMode="auto">
          <a:xfrm>
            <a:off x="809625" y="1003300"/>
            <a:ext cx="44935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）与逻辑和与门电路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      </a:t>
            </a:r>
          </a:p>
        </p:txBody>
      </p:sp>
      <p:sp>
        <p:nvSpPr>
          <p:cNvPr id="227" name="矩形 226"/>
          <p:cNvSpPr>
            <a:spLocks noChangeArrowheads="1"/>
          </p:cNvSpPr>
          <p:nvPr/>
        </p:nvSpPr>
        <p:spPr bwMode="auto">
          <a:xfrm>
            <a:off x="994223" y="3456671"/>
            <a:ext cx="65604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实现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与逻辑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关系的电路称为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与门电路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。 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28" name="矩形 227"/>
          <p:cNvSpPr/>
          <p:nvPr/>
        </p:nvSpPr>
        <p:spPr>
          <a:xfrm>
            <a:off x="987425" y="1595440"/>
            <a:ext cx="7808913" cy="171777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在决定某一事件发生的若干条件中，只有当所有条件都满足时事件才会发生，这种逻辑关系称为“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99">
                    <a:lumMod val="75000"/>
                  </a:srgbClr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与逻辑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”。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 build="p" autoUpdateAnimBg="0"/>
      <p:bldP spid="227" grpId="0"/>
      <p:bldP spid="2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4"/>
          <p:cNvGrpSpPr>
            <a:grpSpLocks/>
          </p:cNvGrpSpPr>
          <p:nvPr/>
        </p:nvGrpSpPr>
        <p:grpSpPr bwMode="auto">
          <a:xfrm>
            <a:off x="1874613" y="1217386"/>
            <a:ext cx="838201" cy="2609850"/>
            <a:chOff x="1393" y="1476"/>
            <a:chExt cx="528" cy="1644"/>
          </a:xfrm>
        </p:grpSpPr>
        <p:sp>
          <p:nvSpPr>
            <p:cNvPr id="183" name="Text Box 165"/>
            <p:cNvSpPr txBox="1">
              <a:spLocks noChangeArrowheads="1"/>
            </p:cNvSpPr>
            <p:nvPr/>
          </p:nvSpPr>
          <p:spPr bwMode="auto">
            <a:xfrm>
              <a:off x="1526" y="2329"/>
              <a:ext cx="244" cy="6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B</a:t>
              </a:r>
            </a:p>
          </p:txBody>
        </p:sp>
        <p:sp>
          <p:nvSpPr>
            <p:cNvPr id="184" name="Text Box 166"/>
            <p:cNvSpPr txBox="1">
              <a:spLocks noChangeArrowheads="1"/>
            </p:cNvSpPr>
            <p:nvPr/>
          </p:nvSpPr>
          <p:spPr bwMode="auto">
            <a:xfrm>
              <a:off x="1466" y="1476"/>
              <a:ext cx="44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＋</a:t>
              </a:r>
              <a:r>
                <a:rPr kumimoji="0" lang="en-US" altLang="zh-CN" sz="2400" b="1" i="1" u="none" strike="noStrike" kern="0" cap="none" spc="0" normalizeH="0" baseline="0" noProof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U</a:t>
              </a:r>
            </a:p>
          </p:txBody>
        </p:sp>
        <p:sp>
          <p:nvSpPr>
            <p:cNvPr id="185" name="Line 167"/>
            <p:cNvSpPr>
              <a:spLocks noChangeShapeType="1"/>
            </p:cNvSpPr>
            <p:nvPr/>
          </p:nvSpPr>
          <p:spPr bwMode="auto">
            <a:xfrm>
              <a:off x="1504" y="1639"/>
              <a:ext cx="0" cy="75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6" name="Line 168"/>
            <p:cNvSpPr>
              <a:spLocks noChangeShapeType="1"/>
            </p:cNvSpPr>
            <p:nvPr/>
          </p:nvSpPr>
          <p:spPr bwMode="auto">
            <a:xfrm>
              <a:off x="1504" y="2554"/>
              <a:ext cx="0" cy="17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7" name="Line 169"/>
            <p:cNvSpPr>
              <a:spLocks noChangeShapeType="1"/>
            </p:cNvSpPr>
            <p:nvPr/>
          </p:nvSpPr>
          <p:spPr bwMode="auto">
            <a:xfrm>
              <a:off x="1504" y="2872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8" name="Line 170"/>
            <p:cNvSpPr>
              <a:spLocks noChangeShapeType="1"/>
            </p:cNvSpPr>
            <p:nvPr/>
          </p:nvSpPr>
          <p:spPr bwMode="auto">
            <a:xfrm>
              <a:off x="1393" y="3120"/>
              <a:ext cx="20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9" name="Oval 171"/>
            <p:cNvSpPr>
              <a:spLocks noChangeArrowheads="1"/>
            </p:cNvSpPr>
            <p:nvPr/>
          </p:nvSpPr>
          <p:spPr bwMode="auto">
            <a:xfrm>
              <a:off x="1480" y="1590"/>
              <a:ext cx="50" cy="5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0" name="Text Box 172"/>
            <p:cNvSpPr txBox="1">
              <a:spLocks noChangeArrowheads="1"/>
            </p:cNvSpPr>
            <p:nvPr/>
          </p:nvSpPr>
          <p:spPr bwMode="auto">
            <a:xfrm>
              <a:off x="1677" y="1873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F</a:t>
              </a:r>
            </a:p>
          </p:txBody>
        </p:sp>
      </p:grpSp>
      <p:sp>
        <p:nvSpPr>
          <p:cNvPr id="191" name="Rectangle 173"/>
          <p:cNvSpPr>
            <a:spLocks noChangeArrowheads="1"/>
          </p:cNvSpPr>
          <p:nvPr/>
        </p:nvSpPr>
        <p:spPr bwMode="auto">
          <a:xfrm>
            <a:off x="6885451" y="1161140"/>
            <a:ext cx="1644425" cy="190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10000"/>
              </a:spcBef>
            </a:pPr>
            <a:r>
              <a:rPr lang="en-US" altLang="zh-CN" sz="2800" b="1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F</a:t>
            </a:r>
            <a:r>
              <a:rPr lang="zh-CN" altLang="en-US" sz="2800" b="1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＝</a:t>
            </a:r>
            <a:r>
              <a:rPr lang="en-US" altLang="zh-CN" sz="2800" b="1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A·B</a:t>
            </a:r>
          </a:p>
          <a:p>
            <a:pPr algn="l">
              <a:spcBef>
                <a:spcPct val="10000"/>
              </a:spcBef>
            </a:pPr>
            <a:r>
              <a:rPr lang="en-US" altLang="zh-CN" sz="2800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· 0 =  0 </a:t>
            </a:r>
          </a:p>
          <a:p>
            <a:pPr algn="l">
              <a:spcBef>
                <a:spcPct val="5000"/>
              </a:spcBef>
            </a:pPr>
            <a:r>
              <a:rPr lang="en-US" altLang="zh-CN" sz="2800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· 1 = </a:t>
            </a:r>
            <a:r>
              <a:rPr lang="en-US" altLang="zh-CN" sz="2800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</a:t>
            </a:r>
          </a:p>
          <a:p>
            <a:pPr algn="l">
              <a:spcBef>
                <a:spcPct val="5000"/>
              </a:spcBef>
            </a:pPr>
            <a:r>
              <a:rPr lang="en-US" altLang="zh-CN" sz="2800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· </a:t>
            </a:r>
            <a:r>
              <a:rPr lang="en-US" altLang="zh-CN" sz="2800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192" name="Rectangle 174"/>
          <p:cNvSpPr>
            <a:spLocks noChangeArrowheads="1"/>
          </p:cNvSpPr>
          <p:nvPr/>
        </p:nvSpPr>
        <p:spPr bwMode="auto">
          <a:xfrm>
            <a:off x="5531989" y="2298474"/>
            <a:ext cx="50482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800000"/>
                </a:solidFill>
                <a:ea typeface="华文中宋" pitchFamily="2" charset="-122"/>
                <a:cs typeface="Times New Roman" pitchFamily="18" charset="0"/>
              </a:rPr>
              <a:t>0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800000"/>
                </a:solidFill>
                <a:ea typeface="华文中宋" pitchFamily="2" charset="-122"/>
                <a:cs typeface="Times New Roman" pitchFamily="18" charset="0"/>
              </a:rPr>
              <a:t>0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800000"/>
                </a:solidFill>
                <a:ea typeface="华文中宋" pitchFamily="2" charset="-122"/>
                <a:cs typeface="Times New Roman" pitchFamily="18" charset="0"/>
              </a:rPr>
              <a:t>0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800000"/>
                </a:solidFill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93" name="Rectangle 175"/>
          <p:cNvSpPr>
            <a:spLocks noChangeArrowheads="1"/>
          </p:cNvSpPr>
          <p:nvPr/>
        </p:nvSpPr>
        <p:spPr bwMode="auto">
          <a:xfrm>
            <a:off x="3899130" y="2298473"/>
            <a:ext cx="977672" cy="2066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0 </a:t>
            </a:r>
            <a:r>
              <a:rPr kumimoji="0" lang="en-US" altLang="zh-CN" sz="2800" b="1" i="0" dirty="0" smtClean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zh-CN" altLang="zh-CN" sz="2800" b="1" i="0" dirty="0" smtClean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 </a:t>
            </a: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0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0 </a:t>
            </a:r>
            <a:r>
              <a:rPr kumimoji="0" lang="en-US" altLang="zh-CN" sz="2800" b="1" i="0" dirty="0" smtClean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  </a:t>
            </a: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1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1 </a:t>
            </a:r>
            <a:r>
              <a:rPr kumimoji="0" lang="en-US" altLang="zh-CN" sz="2800" b="1" i="0" dirty="0" smtClean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  </a:t>
            </a: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0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1  </a:t>
            </a:r>
            <a:r>
              <a:rPr kumimoji="0" lang="en-US" altLang="zh-CN" sz="2800" b="1" i="0" dirty="0" smtClean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 </a:t>
            </a: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94" name="AutoShape 176"/>
          <p:cNvSpPr>
            <a:spLocks noChangeArrowheads="1"/>
          </p:cNvSpPr>
          <p:nvPr/>
        </p:nvSpPr>
        <p:spPr bwMode="auto">
          <a:xfrm>
            <a:off x="1795236" y="1812699"/>
            <a:ext cx="511175" cy="504825"/>
          </a:xfrm>
          <a:prstGeom prst="flowChartSummingJunction">
            <a:avLst/>
          </a:prstGeom>
          <a:solidFill>
            <a:srgbClr val="FFFFFF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5" name="AutoShape 177"/>
          <p:cNvSpPr>
            <a:spLocks noChangeArrowheads="1"/>
          </p:cNvSpPr>
          <p:nvPr/>
        </p:nvSpPr>
        <p:spPr bwMode="auto">
          <a:xfrm>
            <a:off x="1804761" y="1809524"/>
            <a:ext cx="503238" cy="504825"/>
          </a:xfrm>
          <a:prstGeom prst="flowChartSummingJunction">
            <a:avLst/>
          </a:prstGeom>
          <a:solidFill>
            <a:srgbClr val="FF0000"/>
          </a:solidFill>
          <a:ln w="38100">
            <a:solidFill>
              <a:srgbClr val="720D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6" name="Oval 178"/>
          <p:cNvSpPr>
            <a:spLocks noChangeArrowheads="1"/>
          </p:cNvSpPr>
          <p:nvPr/>
        </p:nvSpPr>
        <p:spPr bwMode="auto">
          <a:xfrm>
            <a:off x="1350736" y="2501674"/>
            <a:ext cx="1447800" cy="1143000"/>
          </a:xfrm>
          <a:prstGeom prst="ellipse">
            <a:avLst/>
          </a:prstGeom>
          <a:noFill/>
          <a:ln w="19050">
            <a:solidFill>
              <a:srgbClr val="000099"/>
            </a:solidFill>
            <a:prstDash val="lgDashDot"/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7" name="Line 189"/>
          <p:cNvSpPr>
            <a:spLocks noChangeShapeType="1"/>
          </p:cNvSpPr>
          <p:nvPr/>
        </p:nvSpPr>
        <p:spPr bwMode="auto">
          <a:xfrm flipH="1" flipV="1">
            <a:off x="1920649" y="2677886"/>
            <a:ext cx="138112" cy="2571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8" name="Line 190"/>
          <p:cNvSpPr>
            <a:spLocks noChangeShapeType="1"/>
          </p:cNvSpPr>
          <p:nvPr/>
        </p:nvSpPr>
        <p:spPr bwMode="auto">
          <a:xfrm flipH="1" flipV="1">
            <a:off x="1914299" y="3190649"/>
            <a:ext cx="138112" cy="2571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9" name="Line 191"/>
          <p:cNvSpPr>
            <a:spLocks noChangeShapeType="1"/>
          </p:cNvSpPr>
          <p:nvPr/>
        </p:nvSpPr>
        <p:spPr bwMode="auto">
          <a:xfrm>
            <a:off x="2052411" y="2657249"/>
            <a:ext cx="0" cy="28575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00" name="Line 192"/>
          <p:cNvSpPr>
            <a:spLocks noChangeShapeType="1"/>
          </p:cNvSpPr>
          <p:nvPr/>
        </p:nvSpPr>
        <p:spPr bwMode="auto">
          <a:xfrm>
            <a:off x="2050824" y="3170011"/>
            <a:ext cx="0" cy="28575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3" name="Group 193"/>
          <p:cNvGrpSpPr>
            <a:grpSpLocks/>
          </p:cNvGrpSpPr>
          <p:nvPr/>
        </p:nvGrpSpPr>
        <p:grpSpPr bwMode="auto">
          <a:xfrm>
            <a:off x="3601589" y="1842861"/>
            <a:ext cx="2590800" cy="2438400"/>
            <a:chOff x="3505" y="1723"/>
            <a:chExt cx="1632" cy="1536"/>
          </a:xfrm>
        </p:grpSpPr>
        <p:sp>
          <p:nvSpPr>
            <p:cNvPr id="202" name="Rectangle 194"/>
            <p:cNvSpPr>
              <a:spLocks noChangeArrowheads="1"/>
            </p:cNvSpPr>
            <p:nvPr/>
          </p:nvSpPr>
          <p:spPr bwMode="auto">
            <a:xfrm>
              <a:off x="3686" y="1723"/>
              <a:ext cx="136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DC5900"/>
                </a:buClr>
                <a:buSzPct val="75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  <a:r>
                <a:rPr kumimoji="0" lang="zh-CN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 </a:t>
              </a:r>
              <a:r>
                <a:rPr kumimoji="0" lang="en-US" altLang="zh-CN" sz="24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 </a:t>
              </a: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B         F</a:t>
              </a: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</a:t>
              </a:r>
              <a:endParaRPr kumimoji="0" lang="en-US" altLang="zh-CN" sz="2400" b="1" i="1" u="none" strike="noStrike" kern="0" cap="none" spc="0" normalizeH="0" baseline="0" noProof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3" name="Line 195"/>
            <p:cNvSpPr>
              <a:spLocks noChangeShapeType="1"/>
            </p:cNvSpPr>
            <p:nvPr/>
          </p:nvSpPr>
          <p:spPr bwMode="auto">
            <a:xfrm>
              <a:off x="3505" y="1723"/>
              <a:ext cx="16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4" name="Line 196"/>
            <p:cNvSpPr>
              <a:spLocks noChangeShapeType="1"/>
            </p:cNvSpPr>
            <p:nvPr/>
          </p:nvSpPr>
          <p:spPr bwMode="auto">
            <a:xfrm>
              <a:off x="3505" y="2030"/>
              <a:ext cx="16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5" name="Line 197"/>
            <p:cNvSpPr>
              <a:spLocks noChangeShapeType="1"/>
            </p:cNvSpPr>
            <p:nvPr/>
          </p:nvSpPr>
          <p:spPr bwMode="auto">
            <a:xfrm>
              <a:off x="3505" y="2337"/>
              <a:ext cx="16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6" name="Line 198"/>
            <p:cNvSpPr>
              <a:spLocks noChangeShapeType="1"/>
            </p:cNvSpPr>
            <p:nvPr/>
          </p:nvSpPr>
          <p:spPr bwMode="auto">
            <a:xfrm>
              <a:off x="3505" y="2645"/>
              <a:ext cx="16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7" name="Line 199"/>
            <p:cNvSpPr>
              <a:spLocks noChangeShapeType="1"/>
            </p:cNvSpPr>
            <p:nvPr/>
          </p:nvSpPr>
          <p:spPr bwMode="auto">
            <a:xfrm>
              <a:off x="3505" y="2952"/>
              <a:ext cx="16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8" name="Line 200"/>
            <p:cNvSpPr>
              <a:spLocks noChangeShapeType="1"/>
            </p:cNvSpPr>
            <p:nvPr/>
          </p:nvSpPr>
          <p:spPr bwMode="auto">
            <a:xfrm>
              <a:off x="3505" y="3259"/>
              <a:ext cx="16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9" name="Line 201"/>
            <p:cNvSpPr>
              <a:spLocks noChangeShapeType="1"/>
            </p:cNvSpPr>
            <p:nvPr/>
          </p:nvSpPr>
          <p:spPr bwMode="auto">
            <a:xfrm>
              <a:off x="4572" y="1723"/>
              <a:ext cx="0" cy="15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210" name="Text Box 202"/>
          <p:cNvSpPr txBox="1">
            <a:spLocks noChangeArrowheads="1"/>
          </p:cNvSpPr>
          <p:nvPr/>
        </p:nvSpPr>
        <p:spPr bwMode="auto">
          <a:xfrm>
            <a:off x="4087364" y="1261836"/>
            <a:ext cx="1524000" cy="523220"/>
          </a:xfrm>
          <a:prstGeom prst="rect">
            <a:avLst/>
          </a:prstGeom>
          <a:gradFill rotWithShape="1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真值表</a:t>
            </a:r>
          </a:p>
        </p:txBody>
      </p:sp>
      <p:grpSp>
        <p:nvGrpSpPr>
          <p:cNvPr id="4" name="Group 203"/>
          <p:cNvGrpSpPr>
            <a:grpSpLocks/>
          </p:cNvGrpSpPr>
          <p:nvPr/>
        </p:nvGrpSpPr>
        <p:grpSpPr bwMode="auto">
          <a:xfrm>
            <a:off x="6869574" y="3037570"/>
            <a:ext cx="1574799" cy="523876"/>
            <a:chOff x="4249" y="3443"/>
            <a:chExt cx="992" cy="330"/>
          </a:xfrm>
        </p:grpSpPr>
        <p:sp>
          <p:nvSpPr>
            <p:cNvPr id="212" name="Text Box 204"/>
            <p:cNvSpPr txBox="1">
              <a:spLocks noChangeArrowheads="1"/>
            </p:cNvSpPr>
            <p:nvPr/>
          </p:nvSpPr>
          <p:spPr bwMode="auto">
            <a:xfrm>
              <a:off x="4249" y="3443"/>
              <a:ext cx="99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· </a:t>
              </a:r>
              <a:r>
                <a:rPr kumimoji="0" lang="en-US" altLang="zh-CN" sz="2800" b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= 0 </a:t>
              </a:r>
            </a:p>
          </p:txBody>
        </p:sp>
        <p:sp>
          <p:nvSpPr>
            <p:cNvPr id="213" name="Line 205"/>
            <p:cNvSpPr>
              <a:spLocks noChangeShapeType="1"/>
            </p:cNvSpPr>
            <p:nvPr/>
          </p:nvSpPr>
          <p:spPr bwMode="auto">
            <a:xfrm>
              <a:off x="4654" y="3499"/>
              <a:ext cx="14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5" name="Group 207"/>
          <p:cNvGrpSpPr>
            <a:grpSpLocks/>
          </p:cNvGrpSpPr>
          <p:nvPr/>
        </p:nvGrpSpPr>
        <p:grpSpPr bwMode="auto">
          <a:xfrm>
            <a:off x="733199" y="2874737"/>
            <a:ext cx="2544762" cy="1362075"/>
            <a:chOff x="576" y="2790"/>
            <a:chExt cx="1603" cy="858"/>
          </a:xfrm>
        </p:grpSpPr>
        <p:sp>
          <p:nvSpPr>
            <p:cNvPr id="215" name="Rectangle 206"/>
            <p:cNvSpPr>
              <a:spLocks noChangeArrowheads="1"/>
            </p:cNvSpPr>
            <p:nvPr/>
          </p:nvSpPr>
          <p:spPr bwMode="auto">
            <a:xfrm>
              <a:off x="576" y="2790"/>
              <a:ext cx="1600" cy="858"/>
            </a:xfrm>
            <a:prstGeom prst="rect">
              <a:avLst/>
            </a:prstGeom>
            <a:solidFill>
              <a:srgbClr val="EBF7FF"/>
            </a:solidFill>
            <a:ln w="19050" algn="ctr">
              <a:solidFill>
                <a:srgbClr val="000000"/>
              </a:solidFill>
              <a:prstDash val="lgDashDot"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6" name="Group 179"/>
            <p:cNvGrpSpPr>
              <a:grpSpLocks/>
            </p:cNvGrpSpPr>
            <p:nvPr/>
          </p:nvGrpSpPr>
          <p:grpSpPr bwMode="auto">
            <a:xfrm>
              <a:off x="581" y="2903"/>
              <a:ext cx="1598" cy="640"/>
              <a:chOff x="686" y="3397"/>
              <a:chExt cx="1598" cy="640"/>
            </a:xfrm>
          </p:grpSpPr>
          <p:sp>
            <p:nvSpPr>
              <p:cNvPr id="217" name="Rectangle 180"/>
              <p:cNvSpPr>
                <a:spLocks noChangeArrowheads="1"/>
              </p:cNvSpPr>
              <p:nvPr/>
            </p:nvSpPr>
            <p:spPr bwMode="auto">
              <a:xfrm>
                <a:off x="1336" y="3438"/>
                <a:ext cx="405" cy="516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ea typeface="楷体_GB2312" pitchFamily="49" charset="-122"/>
                  </a:rPr>
                  <a:t>  </a:t>
                </a:r>
                <a:r>
                  <a:rPr kumimoji="0" lang="en-US" altLang="zh-CN" sz="24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ea typeface="楷体_GB2312" pitchFamily="49" charset="-122"/>
                  </a:rPr>
                  <a:t>&amp;</a:t>
                </a:r>
              </a:p>
            </p:txBody>
          </p:sp>
          <p:sp>
            <p:nvSpPr>
              <p:cNvPr id="218" name="Line 181"/>
              <p:cNvSpPr>
                <a:spLocks noChangeShapeType="1"/>
              </p:cNvSpPr>
              <p:nvPr/>
            </p:nvSpPr>
            <p:spPr bwMode="auto">
              <a:xfrm>
                <a:off x="1733" y="3692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9" name="Line 182"/>
              <p:cNvSpPr>
                <a:spLocks noChangeShapeType="1"/>
              </p:cNvSpPr>
              <p:nvPr/>
            </p:nvSpPr>
            <p:spPr bwMode="auto">
              <a:xfrm>
                <a:off x="949" y="3580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0" name="Line 183"/>
              <p:cNvSpPr>
                <a:spLocks noChangeShapeType="1"/>
              </p:cNvSpPr>
              <p:nvPr/>
            </p:nvSpPr>
            <p:spPr bwMode="auto">
              <a:xfrm>
                <a:off x="949" y="3820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1" name="AutoShape 184"/>
              <p:cNvSpPr>
                <a:spLocks noChangeArrowheads="1"/>
              </p:cNvSpPr>
              <p:nvPr/>
            </p:nvSpPr>
            <p:spPr bwMode="auto">
              <a:xfrm>
                <a:off x="1973" y="3667"/>
                <a:ext cx="45" cy="45"/>
              </a:xfrm>
              <a:prstGeom prst="flowChartConnector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2" name="AutoShape 185"/>
              <p:cNvSpPr>
                <a:spLocks noChangeArrowheads="1"/>
              </p:cNvSpPr>
              <p:nvPr/>
            </p:nvSpPr>
            <p:spPr bwMode="auto">
              <a:xfrm>
                <a:off x="904" y="3547"/>
                <a:ext cx="45" cy="45"/>
              </a:xfrm>
              <a:prstGeom prst="flowChartConnector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3" name="AutoShape 186"/>
              <p:cNvSpPr>
                <a:spLocks noChangeArrowheads="1"/>
              </p:cNvSpPr>
              <p:nvPr/>
            </p:nvSpPr>
            <p:spPr bwMode="auto">
              <a:xfrm>
                <a:off x="904" y="3787"/>
                <a:ext cx="45" cy="45"/>
              </a:xfrm>
              <a:prstGeom prst="flowChartConnector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4" name="Text Box 187"/>
              <p:cNvSpPr txBox="1">
                <a:spLocks noChangeArrowheads="1"/>
              </p:cNvSpPr>
              <p:nvPr/>
            </p:nvSpPr>
            <p:spPr bwMode="auto">
              <a:xfrm>
                <a:off x="686" y="3397"/>
                <a:ext cx="240" cy="6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1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楷体_GB2312" pitchFamily="49" charset="-122"/>
                  </a:rPr>
                  <a:t>A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1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225" name="Text Box 188"/>
              <p:cNvSpPr txBox="1">
                <a:spLocks noChangeArrowheads="1"/>
              </p:cNvSpPr>
              <p:nvPr/>
            </p:nvSpPr>
            <p:spPr bwMode="auto">
              <a:xfrm>
                <a:off x="2044" y="3554"/>
                <a:ext cx="24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1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楷体_GB2312" pitchFamily="49" charset="-122"/>
                  </a:rPr>
                  <a:t>F</a:t>
                </a:r>
              </a:p>
            </p:txBody>
          </p:sp>
        </p:grpSp>
      </p:grpSp>
      <p:sp>
        <p:nvSpPr>
          <p:cNvPr id="226" name="Rectangle 208"/>
          <p:cNvSpPr>
            <a:spLocks noChangeArrowheads="1"/>
          </p:cNvSpPr>
          <p:nvPr/>
        </p:nvSpPr>
        <p:spPr bwMode="auto">
          <a:xfrm>
            <a:off x="6726701" y="3568474"/>
            <a:ext cx="206979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 smtClean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   与运算</a:t>
            </a:r>
            <a:endParaRPr lang="zh-CN" altLang="en-US" sz="2800" b="1" i="0" dirty="0">
              <a:solidFill>
                <a:srgbClr val="000099"/>
              </a:solidFill>
              <a:ea typeface="华文中宋" pitchFamily="2" charset="-122"/>
              <a:cs typeface="Times New Roman" pitchFamily="18" charset="0"/>
            </a:endParaRPr>
          </a:p>
          <a:p>
            <a:r>
              <a:rPr lang="zh-CN" altLang="en-US" sz="2800" b="1" i="0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（逻辑乘） </a:t>
            </a:r>
          </a:p>
        </p:txBody>
      </p:sp>
      <p:sp>
        <p:nvSpPr>
          <p:cNvPr id="51" name="Text Box 91"/>
          <p:cNvSpPr txBox="1">
            <a:spLocks noChangeArrowheads="1"/>
          </p:cNvSpPr>
          <p:nvPr/>
        </p:nvSpPr>
        <p:spPr bwMode="auto">
          <a:xfrm>
            <a:off x="352425" y="219529"/>
            <a:ext cx="44935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）与逻辑和与门电路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   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0"/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3000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000"/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3000"/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0" dur="1000"/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5" dur="1000"/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0" dur="1000"/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5" dur="1000"/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5" dur="1000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9" dur="1000"/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build="p" autoUpdateAnimBg="0"/>
      <p:bldP spid="194" grpId="0" animBg="1"/>
      <p:bldP spid="195" grpId="0" animBg="1"/>
      <p:bldP spid="195" grpId="1" animBg="1"/>
      <p:bldP spid="196" grpId="0" animBg="1"/>
      <p:bldP spid="197" grpId="0" animBg="1"/>
      <p:bldP spid="197" grpId="1" animBg="1"/>
      <p:bldP spid="197" grpId="2" animBg="1"/>
      <p:bldP spid="198" grpId="0" animBg="1"/>
      <p:bldP spid="198" grpId="1" animBg="1"/>
      <p:bldP spid="198" grpId="2" animBg="1"/>
      <p:bldP spid="199" grpId="0" animBg="1"/>
      <p:bldP spid="199" grpId="1" animBg="1"/>
      <p:bldP spid="200" grpId="0" animBg="1"/>
      <p:bldP spid="200" grpId="1" animBg="1"/>
      <p:bldP spid="210" grpId="0" animBg="1" autoUpdateAnimBg="0"/>
      <p:bldP spid="226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angle 2"/>
          <p:cNvSpPr txBox="1">
            <a:spLocks noChangeArrowheads="1"/>
          </p:cNvSpPr>
          <p:nvPr/>
        </p:nvSpPr>
        <p:spPr bwMode="auto">
          <a:xfrm>
            <a:off x="283709" y="276906"/>
            <a:ext cx="363855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r>
              <a:rPr kumimoji="0" lang="zh-CN" altLang="en-US" sz="2800" b="1" i="0" kern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二极管</a:t>
            </a:r>
            <a:r>
              <a:rPr kumimoji="0" lang="zh-CN" altLang="en-US" sz="2800" b="1" i="0" kern="0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“与”</a:t>
            </a:r>
            <a:r>
              <a:rPr kumimoji="0" lang="zh-CN" altLang="en-US" sz="2800" b="1" i="0" kern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 门电路</a:t>
            </a:r>
          </a:p>
        </p:txBody>
      </p:sp>
      <p:sp>
        <p:nvSpPr>
          <p:cNvPr id="335" name="Text Box 3"/>
          <p:cNvSpPr txBox="1">
            <a:spLocks noChangeArrowheads="1"/>
          </p:cNvSpPr>
          <p:nvPr/>
        </p:nvSpPr>
        <p:spPr bwMode="auto">
          <a:xfrm>
            <a:off x="496206" y="1266593"/>
            <a:ext cx="15023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sz="2800" b="1" i="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i="0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(</a:t>
            </a:r>
            <a:r>
              <a:rPr lang="en-US" altLang="zh-CN" sz="2800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800" b="1" i="0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) </a:t>
            </a:r>
            <a:r>
              <a:rPr lang="zh-CN" altLang="en-US" sz="2800" b="1" i="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电路</a:t>
            </a:r>
          </a:p>
        </p:txBody>
      </p:sp>
      <p:grpSp>
        <p:nvGrpSpPr>
          <p:cNvPr id="339" name="Group 7"/>
          <p:cNvGrpSpPr>
            <a:grpSpLocks/>
          </p:cNvGrpSpPr>
          <p:nvPr/>
        </p:nvGrpSpPr>
        <p:grpSpPr bwMode="auto">
          <a:xfrm>
            <a:off x="990595" y="2525483"/>
            <a:ext cx="1001060" cy="1819275"/>
            <a:chOff x="528" y="1632"/>
            <a:chExt cx="447" cy="1146"/>
          </a:xfrm>
        </p:grpSpPr>
        <p:sp>
          <p:nvSpPr>
            <p:cNvPr id="340" name="Text Box 8"/>
            <p:cNvSpPr txBox="1">
              <a:spLocks noChangeArrowheads="1"/>
            </p:cNvSpPr>
            <p:nvPr/>
          </p:nvSpPr>
          <p:spPr bwMode="auto">
            <a:xfrm>
              <a:off x="528" y="2064"/>
              <a:ext cx="44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0V</a:t>
              </a:r>
            </a:p>
          </p:txBody>
        </p:sp>
        <p:sp>
          <p:nvSpPr>
            <p:cNvPr id="341" name="Text Box 9"/>
            <p:cNvSpPr txBox="1">
              <a:spLocks noChangeArrowheads="1"/>
            </p:cNvSpPr>
            <p:nvPr/>
          </p:nvSpPr>
          <p:spPr bwMode="auto">
            <a:xfrm>
              <a:off x="528" y="1632"/>
              <a:ext cx="43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0V</a:t>
              </a:r>
            </a:p>
          </p:txBody>
        </p:sp>
        <p:sp>
          <p:nvSpPr>
            <p:cNvPr id="342" name="Text Box 10"/>
            <p:cNvSpPr txBox="1">
              <a:spLocks noChangeArrowheads="1"/>
            </p:cNvSpPr>
            <p:nvPr/>
          </p:nvSpPr>
          <p:spPr bwMode="auto">
            <a:xfrm>
              <a:off x="528" y="2448"/>
              <a:ext cx="42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0V</a:t>
              </a:r>
            </a:p>
          </p:txBody>
        </p:sp>
      </p:grpSp>
      <p:grpSp>
        <p:nvGrpSpPr>
          <p:cNvPr id="343" name="Group 11"/>
          <p:cNvGrpSpPr>
            <a:grpSpLocks/>
          </p:cNvGrpSpPr>
          <p:nvPr/>
        </p:nvGrpSpPr>
        <p:grpSpPr bwMode="auto">
          <a:xfrm>
            <a:off x="2166256" y="1687280"/>
            <a:ext cx="1066800" cy="2286000"/>
            <a:chOff x="1248" y="1152"/>
            <a:chExt cx="672" cy="1440"/>
          </a:xfrm>
        </p:grpSpPr>
        <p:sp>
          <p:nvSpPr>
            <p:cNvPr id="344" name="Line 12"/>
            <p:cNvSpPr>
              <a:spLocks noChangeShapeType="1"/>
            </p:cNvSpPr>
            <p:nvPr/>
          </p:nvSpPr>
          <p:spPr bwMode="auto">
            <a:xfrm>
              <a:off x="1920" y="1152"/>
              <a:ext cx="0" cy="144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5" name="Line 13"/>
            <p:cNvSpPr>
              <a:spLocks noChangeShapeType="1"/>
            </p:cNvSpPr>
            <p:nvPr/>
          </p:nvSpPr>
          <p:spPr bwMode="auto">
            <a:xfrm flipH="1">
              <a:off x="1248" y="1776"/>
              <a:ext cx="672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6" name="Line 14"/>
            <p:cNvSpPr>
              <a:spLocks noChangeShapeType="1"/>
            </p:cNvSpPr>
            <p:nvPr/>
          </p:nvSpPr>
          <p:spPr bwMode="auto">
            <a:xfrm flipH="1">
              <a:off x="1248" y="2160"/>
              <a:ext cx="672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7" name="Line 15"/>
            <p:cNvSpPr>
              <a:spLocks noChangeShapeType="1"/>
            </p:cNvSpPr>
            <p:nvPr/>
          </p:nvSpPr>
          <p:spPr bwMode="auto">
            <a:xfrm flipH="1">
              <a:off x="1248" y="2592"/>
              <a:ext cx="672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348" name="Group 16"/>
          <p:cNvGrpSpPr>
            <a:grpSpLocks/>
          </p:cNvGrpSpPr>
          <p:nvPr/>
        </p:nvGrpSpPr>
        <p:grpSpPr bwMode="auto">
          <a:xfrm>
            <a:off x="1001485" y="2460165"/>
            <a:ext cx="827088" cy="1895475"/>
            <a:chOff x="576" y="1584"/>
            <a:chExt cx="521" cy="1194"/>
          </a:xfrm>
        </p:grpSpPr>
        <p:graphicFrame>
          <p:nvGraphicFramePr>
            <p:cNvPr id="349" name="Object 17"/>
            <p:cNvGraphicFramePr>
              <a:graphicFrameLocks noChangeAspect="1"/>
            </p:cNvGraphicFramePr>
            <p:nvPr/>
          </p:nvGraphicFramePr>
          <p:xfrm>
            <a:off x="576" y="1584"/>
            <a:ext cx="418" cy="1104"/>
          </p:xfrm>
          <a:graphic>
            <a:graphicData uri="http://schemas.openxmlformats.org/presentationml/2006/ole">
              <p:oleObj spid="_x0000_s3110" name="BMP 图象" r:id="rId5" imgW="314286" imgH="1000000" progId="PBrush">
                <p:embed/>
              </p:oleObj>
            </a:graphicData>
          </a:graphic>
        </p:graphicFrame>
        <p:grpSp>
          <p:nvGrpSpPr>
            <p:cNvPr id="350" name="Group 18"/>
            <p:cNvGrpSpPr>
              <a:grpSpLocks/>
            </p:cNvGrpSpPr>
            <p:nvPr/>
          </p:nvGrpSpPr>
          <p:grpSpPr bwMode="auto">
            <a:xfrm>
              <a:off x="576" y="1632"/>
              <a:ext cx="521" cy="1146"/>
              <a:chOff x="528" y="1632"/>
              <a:chExt cx="521" cy="1146"/>
            </a:xfrm>
          </p:grpSpPr>
          <p:sp>
            <p:nvSpPr>
              <p:cNvPr id="351" name="Text Box 19"/>
              <p:cNvSpPr txBox="1">
                <a:spLocks noChangeArrowheads="1"/>
              </p:cNvSpPr>
              <p:nvPr/>
            </p:nvSpPr>
            <p:spPr bwMode="auto">
              <a:xfrm>
                <a:off x="528" y="2064"/>
                <a:ext cx="52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rPr>
                  <a:t>0V</a:t>
                </a:r>
              </a:p>
            </p:txBody>
          </p:sp>
          <p:sp>
            <p:nvSpPr>
              <p:cNvPr id="352" name="Text Box 20"/>
              <p:cNvSpPr txBox="1">
                <a:spLocks noChangeArrowheads="1"/>
              </p:cNvSpPr>
              <p:nvPr/>
            </p:nvSpPr>
            <p:spPr bwMode="auto">
              <a:xfrm>
                <a:off x="528" y="1632"/>
                <a:ext cx="494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rPr>
                  <a:t>0V</a:t>
                </a:r>
              </a:p>
            </p:txBody>
          </p:sp>
          <p:sp>
            <p:nvSpPr>
              <p:cNvPr id="353" name="Text Box 21"/>
              <p:cNvSpPr txBox="1">
                <a:spLocks noChangeArrowheads="1"/>
              </p:cNvSpPr>
              <p:nvPr/>
            </p:nvSpPr>
            <p:spPr bwMode="auto">
              <a:xfrm>
                <a:off x="528" y="2448"/>
                <a:ext cx="41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rPr>
                  <a:t>3V</a:t>
                </a:r>
              </a:p>
            </p:txBody>
          </p:sp>
        </p:grpSp>
      </p:grpSp>
      <p:grpSp>
        <p:nvGrpSpPr>
          <p:cNvPr id="354" name="Group 22"/>
          <p:cNvGrpSpPr>
            <a:grpSpLocks/>
          </p:cNvGrpSpPr>
          <p:nvPr/>
        </p:nvGrpSpPr>
        <p:grpSpPr bwMode="auto">
          <a:xfrm>
            <a:off x="1575706" y="1411055"/>
            <a:ext cx="2947988" cy="2962275"/>
            <a:chOff x="864" y="912"/>
            <a:chExt cx="1857" cy="1866"/>
          </a:xfrm>
        </p:grpSpPr>
        <p:sp>
          <p:nvSpPr>
            <p:cNvPr id="355" name="Line 23"/>
            <p:cNvSpPr>
              <a:spLocks noChangeShapeType="1"/>
            </p:cNvSpPr>
            <p:nvPr/>
          </p:nvSpPr>
          <p:spPr bwMode="auto">
            <a:xfrm>
              <a:off x="1941" y="1168"/>
              <a:ext cx="0" cy="157"/>
            </a:xfrm>
            <a:prstGeom prst="line">
              <a:avLst/>
            </a:prstGeom>
            <a:noFill/>
            <a:ln w="38100">
              <a:solidFill>
                <a:srgbClr val="00001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6" name="Line 24"/>
            <p:cNvSpPr>
              <a:spLocks noChangeShapeType="1"/>
            </p:cNvSpPr>
            <p:nvPr/>
          </p:nvSpPr>
          <p:spPr bwMode="auto">
            <a:xfrm>
              <a:off x="1946" y="1639"/>
              <a:ext cx="0" cy="982"/>
            </a:xfrm>
            <a:prstGeom prst="line">
              <a:avLst/>
            </a:prstGeom>
            <a:noFill/>
            <a:ln w="38100">
              <a:solidFill>
                <a:srgbClr val="00001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7" name="Text Box 25"/>
            <p:cNvSpPr txBox="1">
              <a:spLocks noChangeArrowheads="1"/>
            </p:cNvSpPr>
            <p:nvPr/>
          </p:nvSpPr>
          <p:spPr bwMode="auto">
            <a:xfrm>
              <a:off x="1920" y="912"/>
              <a:ext cx="801" cy="4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U</a:t>
              </a:r>
            </a:p>
            <a:p>
              <a:pPr marL="0" marR="0" lvl="0" indent="0" algn="l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12V</a:t>
              </a:r>
              <a:endParaRPr kumimoji="0" lang="en-US" altLang="zh-CN" sz="2800" b="0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8" name="Text Box 26"/>
            <p:cNvSpPr txBox="1">
              <a:spLocks noChangeArrowheads="1"/>
            </p:cNvSpPr>
            <p:nvPr/>
          </p:nvSpPr>
          <p:spPr bwMode="auto">
            <a:xfrm>
              <a:off x="2023" y="1296"/>
              <a:ext cx="320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18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R</a:t>
              </a:r>
              <a:endParaRPr kumimoji="0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000018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9" name="Text Box 27"/>
            <p:cNvSpPr txBox="1">
              <a:spLocks noChangeArrowheads="1"/>
            </p:cNvSpPr>
            <p:nvPr/>
          </p:nvSpPr>
          <p:spPr bwMode="auto">
            <a:xfrm>
              <a:off x="1371" y="1371"/>
              <a:ext cx="46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kumimoji="0" lang="en-US" altLang="zh-CN" sz="28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  <a:endPara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0" name="Rectangle 28"/>
            <p:cNvSpPr>
              <a:spLocks noChangeArrowheads="1"/>
            </p:cNvSpPr>
            <p:nvPr/>
          </p:nvSpPr>
          <p:spPr bwMode="auto">
            <a:xfrm>
              <a:off x="1399" y="2215"/>
              <a:ext cx="386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kumimoji="0" lang="en-US" altLang="zh-CN" sz="28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C</a:t>
              </a:r>
              <a:endPara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1" name="Text Box 29"/>
            <p:cNvSpPr txBox="1">
              <a:spLocks noChangeArrowheads="1"/>
            </p:cNvSpPr>
            <p:nvPr/>
          </p:nvSpPr>
          <p:spPr bwMode="auto">
            <a:xfrm>
              <a:off x="912" y="1632"/>
              <a:ext cx="33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</a:p>
          </p:txBody>
        </p:sp>
        <p:sp>
          <p:nvSpPr>
            <p:cNvPr id="362" name="Text Box 30"/>
            <p:cNvSpPr txBox="1">
              <a:spLocks noChangeArrowheads="1"/>
            </p:cNvSpPr>
            <p:nvPr/>
          </p:nvSpPr>
          <p:spPr bwMode="auto">
            <a:xfrm>
              <a:off x="864" y="2064"/>
              <a:ext cx="38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363" name="Rectangle 31"/>
            <p:cNvSpPr>
              <a:spLocks noChangeArrowheads="1"/>
            </p:cNvSpPr>
            <p:nvPr/>
          </p:nvSpPr>
          <p:spPr bwMode="auto">
            <a:xfrm>
              <a:off x="1888" y="1325"/>
              <a:ext cx="106" cy="314"/>
            </a:xfrm>
            <a:prstGeom prst="rect">
              <a:avLst/>
            </a:prstGeom>
            <a:noFill/>
            <a:ln w="38100">
              <a:solidFill>
                <a:srgbClr val="000018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4" name="Rectangle 32"/>
            <p:cNvSpPr>
              <a:spLocks noChangeArrowheads="1"/>
            </p:cNvSpPr>
            <p:nvPr/>
          </p:nvSpPr>
          <p:spPr bwMode="auto">
            <a:xfrm>
              <a:off x="2256" y="1632"/>
              <a:ext cx="288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Y</a:t>
              </a:r>
            </a:p>
          </p:txBody>
        </p:sp>
        <p:sp>
          <p:nvSpPr>
            <p:cNvPr id="366" name="Line 34"/>
            <p:cNvSpPr>
              <a:spLocks noChangeShapeType="1"/>
            </p:cNvSpPr>
            <p:nvPr/>
          </p:nvSpPr>
          <p:spPr bwMode="auto">
            <a:xfrm>
              <a:off x="1968" y="1824"/>
              <a:ext cx="288" cy="0"/>
            </a:xfrm>
            <a:prstGeom prst="line">
              <a:avLst/>
            </a:prstGeom>
            <a:noFill/>
            <a:ln w="38100">
              <a:solidFill>
                <a:srgbClr val="007A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7" name="Oval 36"/>
            <p:cNvSpPr>
              <a:spLocks noChangeArrowheads="1"/>
            </p:cNvSpPr>
            <p:nvPr/>
          </p:nvSpPr>
          <p:spPr bwMode="auto">
            <a:xfrm>
              <a:off x="1908" y="1104"/>
              <a:ext cx="73" cy="73"/>
            </a:xfrm>
            <a:prstGeom prst="ellipse">
              <a:avLst/>
            </a:prstGeom>
            <a:noFill/>
            <a:ln w="38100">
              <a:solidFill>
                <a:srgbClr val="007A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8" name="Text Box 37"/>
            <p:cNvSpPr txBox="1">
              <a:spLocks noChangeArrowheads="1"/>
            </p:cNvSpPr>
            <p:nvPr/>
          </p:nvSpPr>
          <p:spPr bwMode="auto">
            <a:xfrm>
              <a:off x="1337" y="1797"/>
              <a:ext cx="406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kumimoji="0" lang="en-US" altLang="zh-CN" sz="28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B</a:t>
              </a:r>
              <a:endPara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9" name="Text Box 38"/>
            <p:cNvSpPr txBox="1">
              <a:spLocks noChangeArrowheads="1"/>
            </p:cNvSpPr>
            <p:nvPr/>
          </p:nvSpPr>
          <p:spPr bwMode="auto">
            <a:xfrm>
              <a:off x="864" y="2448"/>
              <a:ext cx="38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grpSp>
          <p:nvGrpSpPr>
            <p:cNvPr id="370" name="Group 39"/>
            <p:cNvGrpSpPr>
              <a:grpSpLocks/>
            </p:cNvGrpSpPr>
            <p:nvPr/>
          </p:nvGrpSpPr>
          <p:grpSpPr bwMode="auto">
            <a:xfrm>
              <a:off x="1152" y="2507"/>
              <a:ext cx="792" cy="193"/>
              <a:chOff x="1152" y="2507"/>
              <a:chExt cx="792" cy="193"/>
            </a:xfrm>
          </p:grpSpPr>
          <p:sp>
            <p:nvSpPr>
              <p:cNvPr id="388" name="Line 40"/>
              <p:cNvSpPr>
                <a:spLocks noChangeShapeType="1"/>
              </p:cNvSpPr>
              <p:nvPr/>
            </p:nvSpPr>
            <p:spPr bwMode="auto">
              <a:xfrm rot="16208703">
                <a:off x="1581" y="2245"/>
                <a:ext cx="0" cy="726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89" name="Oval 41"/>
              <p:cNvSpPr>
                <a:spLocks noChangeArrowheads="1"/>
              </p:cNvSpPr>
              <p:nvPr/>
            </p:nvSpPr>
            <p:spPr bwMode="auto">
              <a:xfrm>
                <a:off x="1152" y="2571"/>
                <a:ext cx="73" cy="73"/>
              </a:xfrm>
              <a:prstGeom prst="ellipse">
                <a:avLst/>
              </a:prstGeom>
              <a:noFill/>
              <a:ln w="38100">
                <a:solidFill>
                  <a:srgbClr val="007A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390" name="Group 42"/>
              <p:cNvGrpSpPr>
                <a:grpSpLocks/>
              </p:cNvGrpSpPr>
              <p:nvPr/>
            </p:nvGrpSpPr>
            <p:grpSpPr bwMode="auto">
              <a:xfrm>
                <a:off x="1440" y="2507"/>
                <a:ext cx="193" cy="193"/>
                <a:chOff x="2111" y="2831"/>
                <a:chExt cx="193" cy="193"/>
              </a:xfrm>
            </p:grpSpPr>
            <p:sp>
              <p:nvSpPr>
                <p:cNvPr id="391" name="Line 43"/>
                <p:cNvSpPr>
                  <a:spLocks noChangeShapeType="1"/>
                </p:cNvSpPr>
                <p:nvPr/>
              </p:nvSpPr>
              <p:spPr bwMode="auto">
                <a:xfrm rot="-5391297">
                  <a:off x="2015" y="2927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000018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92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2112" y="2832"/>
                  <a:ext cx="192" cy="96"/>
                </a:xfrm>
                <a:prstGeom prst="line">
                  <a:avLst/>
                </a:prstGeom>
                <a:noFill/>
                <a:ln w="38100">
                  <a:solidFill>
                    <a:srgbClr val="007A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93" name="Line 45"/>
                <p:cNvSpPr>
                  <a:spLocks noChangeShapeType="1"/>
                </p:cNvSpPr>
                <p:nvPr/>
              </p:nvSpPr>
              <p:spPr bwMode="auto">
                <a:xfrm>
                  <a:off x="2112" y="2928"/>
                  <a:ext cx="192" cy="96"/>
                </a:xfrm>
                <a:prstGeom prst="line">
                  <a:avLst/>
                </a:prstGeom>
                <a:noFill/>
                <a:ln w="38100">
                  <a:solidFill>
                    <a:srgbClr val="007A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94" name="Line 46"/>
                <p:cNvSpPr>
                  <a:spLocks noChangeShapeType="1"/>
                </p:cNvSpPr>
                <p:nvPr/>
              </p:nvSpPr>
              <p:spPr bwMode="auto">
                <a:xfrm>
                  <a:off x="2304" y="2832"/>
                  <a:ext cx="0" cy="188"/>
                </a:xfrm>
                <a:prstGeom prst="line">
                  <a:avLst/>
                </a:prstGeom>
                <a:noFill/>
                <a:ln w="38100">
                  <a:solidFill>
                    <a:srgbClr val="007A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371" name="Group 47"/>
            <p:cNvGrpSpPr>
              <a:grpSpLocks/>
            </p:cNvGrpSpPr>
            <p:nvPr/>
          </p:nvGrpSpPr>
          <p:grpSpPr bwMode="auto">
            <a:xfrm>
              <a:off x="1152" y="2112"/>
              <a:ext cx="813" cy="193"/>
              <a:chOff x="1152" y="2507"/>
              <a:chExt cx="813" cy="193"/>
            </a:xfrm>
          </p:grpSpPr>
          <p:sp>
            <p:nvSpPr>
              <p:cNvPr id="381" name="Line 48"/>
              <p:cNvSpPr>
                <a:spLocks noChangeShapeType="1"/>
              </p:cNvSpPr>
              <p:nvPr/>
            </p:nvSpPr>
            <p:spPr bwMode="auto">
              <a:xfrm rot="-5391297">
                <a:off x="1592" y="2234"/>
                <a:ext cx="0" cy="747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82" name="Oval 49"/>
              <p:cNvSpPr>
                <a:spLocks noChangeArrowheads="1"/>
              </p:cNvSpPr>
              <p:nvPr/>
            </p:nvSpPr>
            <p:spPr bwMode="auto">
              <a:xfrm>
                <a:off x="1152" y="2571"/>
                <a:ext cx="73" cy="73"/>
              </a:xfrm>
              <a:prstGeom prst="ellipse">
                <a:avLst/>
              </a:prstGeom>
              <a:noFill/>
              <a:ln w="38100">
                <a:solidFill>
                  <a:srgbClr val="007A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383" name="Group 50"/>
              <p:cNvGrpSpPr>
                <a:grpSpLocks/>
              </p:cNvGrpSpPr>
              <p:nvPr/>
            </p:nvGrpSpPr>
            <p:grpSpPr bwMode="auto">
              <a:xfrm>
                <a:off x="1440" y="2507"/>
                <a:ext cx="193" cy="193"/>
                <a:chOff x="2111" y="2831"/>
                <a:chExt cx="193" cy="193"/>
              </a:xfrm>
            </p:grpSpPr>
            <p:sp>
              <p:nvSpPr>
                <p:cNvPr id="384" name="Line 51"/>
                <p:cNvSpPr>
                  <a:spLocks noChangeShapeType="1"/>
                </p:cNvSpPr>
                <p:nvPr/>
              </p:nvSpPr>
              <p:spPr bwMode="auto">
                <a:xfrm rot="-5391297">
                  <a:off x="2015" y="2927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000018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85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2112" y="2832"/>
                  <a:ext cx="192" cy="96"/>
                </a:xfrm>
                <a:prstGeom prst="line">
                  <a:avLst/>
                </a:prstGeom>
                <a:noFill/>
                <a:ln w="38100">
                  <a:solidFill>
                    <a:srgbClr val="007A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86" name="Line 53"/>
                <p:cNvSpPr>
                  <a:spLocks noChangeShapeType="1"/>
                </p:cNvSpPr>
                <p:nvPr/>
              </p:nvSpPr>
              <p:spPr bwMode="auto">
                <a:xfrm>
                  <a:off x="2112" y="2928"/>
                  <a:ext cx="192" cy="96"/>
                </a:xfrm>
                <a:prstGeom prst="line">
                  <a:avLst/>
                </a:prstGeom>
                <a:noFill/>
                <a:ln w="38100">
                  <a:solidFill>
                    <a:srgbClr val="007A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87" name="Line 54"/>
                <p:cNvSpPr>
                  <a:spLocks noChangeShapeType="1"/>
                </p:cNvSpPr>
                <p:nvPr/>
              </p:nvSpPr>
              <p:spPr bwMode="auto">
                <a:xfrm>
                  <a:off x="2304" y="2832"/>
                  <a:ext cx="0" cy="188"/>
                </a:xfrm>
                <a:prstGeom prst="line">
                  <a:avLst/>
                </a:prstGeom>
                <a:noFill/>
                <a:ln w="38100">
                  <a:solidFill>
                    <a:srgbClr val="007A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372" name="Group 55"/>
            <p:cNvGrpSpPr>
              <a:grpSpLocks/>
            </p:cNvGrpSpPr>
            <p:nvPr/>
          </p:nvGrpSpPr>
          <p:grpSpPr bwMode="auto">
            <a:xfrm>
              <a:off x="1152" y="1728"/>
              <a:ext cx="813" cy="193"/>
              <a:chOff x="1152" y="2507"/>
              <a:chExt cx="813" cy="193"/>
            </a:xfrm>
          </p:grpSpPr>
          <p:sp>
            <p:nvSpPr>
              <p:cNvPr id="374" name="Line 56"/>
              <p:cNvSpPr>
                <a:spLocks noChangeShapeType="1"/>
              </p:cNvSpPr>
              <p:nvPr/>
            </p:nvSpPr>
            <p:spPr bwMode="auto">
              <a:xfrm rot="16208703">
                <a:off x="1592" y="2234"/>
                <a:ext cx="0" cy="747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75" name="Oval 57"/>
              <p:cNvSpPr>
                <a:spLocks noChangeArrowheads="1"/>
              </p:cNvSpPr>
              <p:nvPr/>
            </p:nvSpPr>
            <p:spPr bwMode="auto">
              <a:xfrm>
                <a:off x="1152" y="2571"/>
                <a:ext cx="73" cy="73"/>
              </a:xfrm>
              <a:prstGeom prst="ellipse">
                <a:avLst/>
              </a:prstGeom>
              <a:noFill/>
              <a:ln w="38100">
                <a:solidFill>
                  <a:srgbClr val="007A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376" name="Group 58"/>
              <p:cNvGrpSpPr>
                <a:grpSpLocks/>
              </p:cNvGrpSpPr>
              <p:nvPr/>
            </p:nvGrpSpPr>
            <p:grpSpPr bwMode="auto">
              <a:xfrm>
                <a:off x="1440" y="2507"/>
                <a:ext cx="193" cy="193"/>
                <a:chOff x="2111" y="2831"/>
                <a:chExt cx="193" cy="193"/>
              </a:xfrm>
            </p:grpSpPr>
            <p:sp>
              <p:nvSpPr>
                <p:cNvPr id="377" name="Line 59"/>
                <p:cNvSpPr>
                  <a:spLocks noChangeShapeType="1"/>
                </p:cNvSpPr>
                <p:nvPr/>
              </p:nvSpPr>
              <p:spPr bwMode="auto">
                <a:xfrm rot="-5391297">
                  <a:off x="2015" y="2927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000018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78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2112" y="2832"/>
                  <a:ext cx="192" cy="96"/>
                </a:xfrm>
                <a:prstGeom prst="line">
                  <a:avLst/>
                </a:prstGeom>
                <a:noFill/>
                <a:ln w="38100">
                  <a:solidFill>
                    <a:srgbClr val="007A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79" name="Line 61"/>
                <p:cNvSpPr>
                  <a:spLocks noChangeShapeType="1"/>
                </p:cNvSpPr>
                <p:nvPr/>
              </p:nvSpPr>
              <p:spPr bwMode="auto">
                <a:xfrm>
                  <a:off x="2112" y="2928"/>
                  <a:ext cx="192" cy="96"/>
                </a:xfrm>
                <a:prstGeom prst="line">
                  <a:avLst/>
                </a:prstGeom>
                <a:noFill/>
                <a:ln w="38100">
                  <a:solidFill>
                    <a:srgbClr val="007A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80" name="Line 62"/>
                <p:cNvSpPr>
                  <a:spLocks noChangeShapeType="1"/>
                </p:cNvSpPr>
                <p:nvPr/>
              </p:nvSpPr>
              <p:spPr bwMode="auto">
                <a:xfrm>
                  <a:off x="2304" y="2832"/>
                  <a:ext cx="0" cy="188"/>
                </a:xfrm>
                <a:prstGeom prst="line">
                  <a:avLst/>
                </a:prstGeom>
                <a:noFill/>
                <a:ln w="38100">
                  <a:solidFill>
                    <a:srgbClr val="007A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373" name="Oval 35"/>
            <p:cNvSpPr>
              <a:spLocks noChangeArrowheads="1"/>
            </p:cNvSpPr>
            <p:nvPr/>
          </p:nvSpPr>
          <p:spPr bwMode="auto">
            <a:xfrm>
              <a:off x="2244" y="1775"/>
              <a:ext cx="73" cy="73"/>
            </a:xfrm>
            <a:prstGeom prst="ellipse">
              <a:avLst/>
            </a:prstGeom>
            <a:noFill/>
            <a:ln w="38100">
              <a:solidFill>
                <a:srgbClr val="007A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4" name="Oval 33"/>
            <p:cNvSpPr>
              <a:spLocks noChangeArrowheads="1"/>
            </p:cNvSpPr>
            <p:nvPr/>
          </p:nvSpPr>
          <p:spPr bwMode="auto">
            <a:xfrm>
              <a:off x="1930" y="2193"/>
              <a:ext cx="32" cy="32"/>
            </a:xfrm>
            <a:prstGeom prst="ellipse">
              <a:avLst/>
            </a:prstGeom>
            <a:solidFill>
              <a:srgbClr val="007A77"/>
            </a:solidFill>
            <a:ln w="38100">
              <a:solidFill>
                <a:srgbClr val="007A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5" name="Oval 33"/>
            <p:cNvSpPr>
              <a:spLocks noChangeArrowheads="1"/>
            </p:cNvSpPr>
            <p:nvPr/>
          </p:nvSpPr>
          <p:spPr bwMode="auto">
            <a:xfrm>
              <a:off x="1930" y="1809"/>
              <a:ext cx="32" cy="32"/>
            </a:xfrm>
            <a:prstGeom prst="ellipse">
              <a:avLst/>
            </a:prstGeom>
            <a:solidFill>
              <a:srgbClr val="007A77"/>
            </a:solidFill>
            <a:ln w="38100">
              <a:solidFill>
                <a:srgbClr val="007A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395" name="Group 63"/>
          <p:cNvGrpSpPr>
            <a:grpSpLocks/>
          </p:cNvGrpSpPr>
          <p:nvPr/>
        </p:nvGrpSpPr>
        <p:grpSpPr bwMode="auto">
          <a:xfrm>
            <a:off x="947056" y="2483526"/>
            <a:ext cx="925025" cy="1895475"/>
            <a:chOff x="576" y="1584"/>
            <a:chExt cx="429" cy="1194"/>
          </a:xfrm>
        </p:grpSpPr>
        <p:graphicFrame>
          <p:nvGraphicFramePr>
            <p:cNvPr id="396" name="Object 64"/>
            <p:cNvGraphicFramePr>
              <a:graphicFrameLocks noChangeAspect="1"/>
            </p:cNvGraphicFramePr>
            <p:nvPr/>
          </p:nvGraphicFramePr>
          <p:xfrm>
            <a:off x="576" y="1584"/>
            <a:ext cx="288" cy="1104"/>
          </p:xfrm>
          <a:graphic>
            <a:graphicData uri="http://schemas.openxmlformats.org/presentationml/2006/ole">
              <p:oleObj spid="_x0000_s3111" name="BMP 图象" r:id="rId6" imgW="314286" imgH="1000000" progId="PBrush">
                <p:embed/>
              </p:oleObj>
            </a:graphicData>
          </a:graphic>
        </p:graphicFrame>
        <p:grpSp>
          <p:nvGrpSpPr>
            <p:cNvPr id="397" name="Group 65"/>
            <p:cNvGrpSpPr>
              <a:grpSpLocks/>
            </p:cNvGrpSpPr>
            <p:nvPr/>
          </p:nvGrpSpPr>
          <p:grpSpPr bwMode="auto">
            <a:xfrm>
              <a:off x="576" y="1632"/>
              <a:ext cx="429" cy="1146"/>
              <a:chOff x="528" y="1632"/>
              <a:chExt cx="429" cy="1146"/>
            </a:xfrm>
          </p:grpSpPr>
          <p:sp>
            <p:nvSpPr>
              <p:cNvPr id="398" name="Text Box 66"/>
              <p:cNvSpPr txBox="1">
                <a:spLocks noChangeArrowheads="1"/>
              </p:cNvSpPr>
              <p:nvPr/>
            </p:nvSpPr>
            <p:spPr bwMode="auto">
              <a:xfrm>
                <a:off x="528" y="2064"/>
                <a:ext cx="4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rPr>
                  <a:t>3V</a:t>
                </a:r>
              </a:p>
            </p:txBody>
          </p:sp>
          <p:sp>
            <p:nvSpPr>
              <p:cNvPr id="399" name="Text Box 67"/>
              <p:cNvSpPr txBox="1">
                <a:spLocks noChangeArrowheads="1"/>
              </p:cNvSpPr>
              <p:nvPr/>
            </p:nvSpPr>
            <p:spPr bwMode="auto">
              <a:xfrm>
                <a:off x="528" y="1632"/>
                <a:ext cx="40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rPr>
                  <a:t>3V</a:t>
                </a:r>
              </a:p>
            </p:txBody>
          </p:sp>
          <p:sp>
            <p:nvSpPr>
              <p:cNvPr id="400" name="Text Box 68"/>
              <p:cNvSpPr txBox="1">
                <a:spLocks noChangeArrowheads="1"/>
              </p:cNvSpPr>
              <p:nvPr/>
            </p:nvSpPr>
            <p:spPr bwMode="auto">
              <a:xfrm>
                <a:off x="528" y="2448"/>
                <a:ext cx="424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rPr>
                  <a:t>3V</a:t>
                </a:r>
              </a:p>
            </p:txBody>
          </p:sp>
        </p:grpSp>
      </p:grpSp>
      <p:sp>
        <p:nvSpPr>
          <p:cNvPr id="401" name="Text Box 69"/>
          <p:cNvSpPr txBox="1">
            <a:spLocks noChangeArrowheads="1"/>
          </p:cNvSpPr>
          <p:nvPr/>
        </p:nvSpPr>
        <p:spPr bwMode="auto">
          <a:xfrm>
            <a:off x="3825194" y="2905801"/>
            <a:ext cx="7141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0" dirty="0">
                <a:solidFill>
                  <a:srgbClr val="FF3300"/>
                </a:solidFill>
                <a:ea typeface="华文中宋" pitchFamily="2" charset="-122"/>
                <a:cs typeface="Times New Roman" pitchFamily="18" charset="0"/>
              </a:rPr>
              <a:t>0V</a:t>
            </a:r>
          </a:p>
        </p:txBody>
      </p:sp>
      <p:grpSp>
        <p:nvGrpSpPr>
          <p:cNvPr id="402" name="Group 70"/>
          <p:cNvGrpSpPr>
            <a:grpSpLocks/>
          </p:cNvGrpSpPr>
          <p:nvPr/>
        </p:nvGrpSpPr>
        <p:grpSpPr bwMode="auto">
          <a:xfrm>
            <a:off x="5181600" y="1545762"/>
            <a:ext cx="2743200" cy="523876"/>
            <a:chOff x="3264" y="1248"/>
            <a:chExt cx="1728" cy="330"/>
          </a:xfrm>
        </p:grpSpPr>
        <p:grpSp>
          <p:nvGrpSpPr>
            <p:cNvPr id="403" name="Group 71"/>
            <p:cNvGrpSpPr>
              <a:grpSpLocks/>
            </p:cNvGrpSpPr>
            <p:nvPr/>
          </p:nvGrpSpPr>
          <p:grpSpPr bwMode="auto">
            <a:xfrm>
              <a:off x="3264" y="1248"/>
              <a:ext cx="1296" cy="330"/>
              <a:chOff x="3264" y="1248"/>
              <a:chExt cx="1296" cy="330"/>
            </a:xfrm>
          </p:grpSpPr>
          <p:sp>
            <p:nvSpPr>
              <p:cNvPr id="405" name="Text Box 72"/>
              <p:cNvSpPr txBox="1">
                <a:spLocks noChangeArrowheads="1"/>
              </p:cNvSpPr>
              <p:nvPr/>
            </p:nvSpPr>
            <p:spPr bwMode="auto">
              <a:xfrm>
                <a:off x="326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06" name="Text Box 73"/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07" name="Text Box 74"/>
              <p:cNvSpPr txBox="1">
                <a:spLocks noChangeArrowheads="1"/>
              </p:cNvSpPr>
              <p:nvPr/>
            </p:nvSpPr>
            <p:spPr bwMode="auto">
              <a:xfrm>
                <a:off x="4272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04" name="Text Box 75"/>
            <p:cNvSpPr txBox="1">
              <a:spLocks noChangeArrowheads="1"/>
            </p:cNvSpPr>
            <p:nvPr/>
          </p:nvSpPr>
          <p:spPr bwMode="auto">
            <a:xfrm>
              <a:off x="4704" y="124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408" name="Group 76"/>
          <p:cNvGrpSpPr>
            <a:grpSpLocks/>
          </p:cNvGrpSpPr>
          <p:nvPr/>
        </p:nvGrpSpPr>
        <p:grpSpPr bwMode="auto">
          <a:xfrm>
            <a:off x="5181600" y="1926762"/>
            <a:ext cx="2743200" cy="523876"/>
            <a:chOff x="3264" y="1248"/>
            <a:chExt cx="1728" cy="330"/>
          </a:xfrm>
        </p:grpSpPr>
        <p:grpSp>
          <p:nvGrpSpPr>
            <p:cNvPr id="409" name="Group 77"/>
            <p:cNvGrpSpPr>
              <a:grpSpLocks/>
            </p:cNvGrpSpPr>
            <p:nvPr/>
          </p:nvGrpSpPr>
          <p:grpSpPr bwMode="auto">
            <a:xfrm>
              <a:off x="3264" y="1248"/>
              <a:ext cx="1296" cy="330"/>
              <a:chOff x="3264" y="1248"/>
              <a:chExt cx="1296" cy="330"/>
            </a:xfrm>
          </p:grpSpPr>
          <p:sp>
            <p:nvSpPr>
              <p:cNvPr id="411" name="Text Box 78"/>
              <p:cNvSpPr txBox="1">
                <a:spLocks noChangeArrowheads="1"/>
              </p:cNvSpPr>
              <p:nvPr/>
            </p:nvSpPr>
            <p:spPr bwMode="auto">
              <a:xfrm>
                <a:off x="326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  <a:defRPr/>
                </a:pPr>
                <a:r>
                  <a:rPr lang="en-US" altLang="zh-CN" sz="2800" b="1" i="0" dirty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12" name="Text Box 79"/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13" name="Text Box 80"/>
              <p:cNvSpPr txBox="1">
                <a:spLocks noChangeArrowheads="1"/>
              </p:cNvSpPr>
              <p:nvPr/>
            </p:nvSpPr>
            <p:spPr bwMode="auto">
              <a:xfrm>
                <a:off x="4272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410" name="Text Box 81"/>
            <p:cNvSpPr txBox="1">
              <a:spLocks noChangeArrowheads="1"/>
            </p:cNvSpPr>
            <p:nvPr/>
          </p:nvSpPr>
          <p:spPr bwMode="auto">
            <a:xfrm>
              <a:off x="4704" y="124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414" name="Group 82"/>
          <p:cNvGrpSpPr>
            <a:grpSpLocks/>
          </p:cNvGrpSpPr>
          <p:nvPr/>
        </p:nvGrpSpPr>
        <p:grpSpPr bwMode="auto">
          <a:xfrm>
            <a:off x="5181600" y="2307761"/>
            <a:ext cx="2743200" cy="2047876"/>
            <a:chOff x="3264" y="1728"/>
            <a:chExt cx="1728" cy="1290"/>
          </a:xfrm>
        </p:grpSpPr>
        <p:grpSp>
          <p:nvGrpSpPr>
            <p:cNvPr id="415" name="Group 83"/>
            <p:cNvGrpSpPr>
              <a:grpSpLocks/>
            </p:cNvGrpSpPr>
            <p:nvPr/>
          </p:nvGrpSpPr>
          <p:grpSpPr bwMode="auto">
            <a:xfrm>
              <a:off x="3264" y="2448"/>
              <a:ext cx="1728" cy="330"/>
              <a:chOff x="3264" y="1248"/>
              <a:chExt cx="1728" cy="330"/>
            </a:xfrm>
          </p:grpSpPr>
          <p:grpSp>
            <p:nvGrpSpPr>
              <p:cNvPr id="440" name="Group 84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442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443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444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</p:grpSp>
          <p:sp>
            <p:nvSpPr>
              <p:cNvPr id="441" name="Text Box 88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416" name="Group 89"/>
            <p:cNvGrpSpPr>
              <a:grpSpLocks/>
            </p:cNvGrpSpPr>
            <p:nvPr/>
          </p:nvGrpSpPr>
          <p:grpSpPr bwMode="auto">
            <a:xfrm>
              <a:off x="3264" y="2688"/>
              <a:ext cx="1728" cy="330"/>
              <a:chOff x="3264" y="1248"/>
              <a:chExt cx="1728" cy="330"/>
            </a:xfrm>
          </p:grpSpPr>
          <p:grpSp>
            <p:nvGrpSpPr>
              <p:cNvPr id="435" name="Group 90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437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438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439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436" name="Text Box 94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417" name="Group 95"/>
            <p:cNvGrpSpPr>
              <a:grpSpLocks/>
            </p:cNvGrpSpPr>
            <p:nvPr/>
          </p:nvGrpSpPr>
          <p:grpSpPr bwMode="auto">
            <a:xfrm>
              <a:off x="3264" y="2208"/>
              <a:ext cx="1728" cy="330"/>
              <a:chOff x="3264" y="1248"/>
              <a:chExt cx="1728" cy="330"/>
            </a:xfrm>
          </p:grpSpPr>
          <p:grpSp>
            <p:nvGrpSpPr>
              <p:cNvPr id="430" name="Group 96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432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433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434" name="Text Box 99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431" name="Text Box 100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418" name="Group 101"/>
            <p:cNvGrpSpPr>
              <a:grpSpLocks/>
            </p:cNvGrpSpPr>
            <p:nvPr/>
          </p:nvGrpSpPr>
          <p:grpSpPr bwMode="auto">
            <a:xfrm>
              <a:off x="3264" y="1968"/>
              <a:ext cx="1728" cy="330"/>
              <a:chOff x="3264" y="1248"/>
              <a:chExt cx="1728" cy="330"/>
            </a:xfrm>
          </p:grpSpPr>
          <p:grpSp>
            <p:nvGrpSpPr>
              <p:cNvPr id="425" name="Group 102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427" name="Text Box 103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428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429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</p:grpSp>
          <p:sp>
            <p:nvSpPr>
              <p:cNvPr id="426" name="Text Box 106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419" name="Group 107"/>
            <p:cNvGrpSpPr>
              <a:grpSpLocks/>
            </p:cNvGrpSpPr>
            <p:nvPr/>
          </p:nvGrpSpPr>
          <p:grpSpPr bwMode="auto">
            <a:xfrm>
              <a:off x="3264" y="1728"/>
              <a:ext cx="1728" cy="330"/>
              <a:chOff x="3264" y="1248"/>
              <a:chExt cx="1728" cy="330"/>
            </a:xfrm>
          </p:grpSpPr>
          <p:grpSp>
            <p:nvGrpSpPr>
              <p:cNvPr id="420" name="Group 108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422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423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424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421" name="Text Box 112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</p:grpSp>
      <p:grpSp>
        <p:nvGrpSpPr>
          <p:cNvPr id="445" name="Group 113"/>
          <p:cNvGrpSpPr>
            <a:grpSpLocks/>
          </p:cNvGrpSpPr>
          <p:nvPr/>
        </p:nvGrpSpPr>
        <p:grpSpPr bwMode="auto">
          <a:xfrm>
            <a:off x="5181600" y="4212762"/>
            <a:ext cx="2743200" cy="523876"/>
            <a:chOff x="3264" y="1248"/>
            <a:chExt cx="1728" cy="330"/>
          </a:xfrm>
        </p:grpSpPr>
        <p:grpSp>
          <p:nvGrpSpPr>
            <p:cNvPr id="446" name="Group 114"/>
            <p:cNvGrpSpPr>
              <a:grpSpLocks/>
            </p:cNvGrpSpPr>
            <p:nvPr/>
          </p:nvGrpSpPr>
          <p:grpSpPr bwMode="auto">
            <a:xfrm>
              <a:off x="3264" y="1248"/>
              <a:ext cx="1296" cy="330"/>
              <a:chOff x="3264" y="1248"/>
              <a:chExt cx="1296" cy="330"/>
            </a:xfrm>
          </p:grpSpPr>
          <p:sp>
            <p:nvSpPr>
              <p:cNvPr id="448" name="Text Box 115"/>
              <p:cNvSpPr txBox="1">
                <a:spLocks noChangeArrowheads="1"/>
              </p:cNvSpPr>
              <p:nvPr/>
            </p:nvSpPr>
            <p:spPr bwMode="auto">
              <a:xfrm>
                <a:off x="326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9" name="Text Box 116"/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50" name="Text Box 117"/>
              <p:cNvSpPr txBox="1">
                <a:spLocks noChangeArrowheads="1"/>
              </p:cNvSpPr>
              <p:nvPr/>
            </p:nvSpPr>
            <p:spPr bwMode="auto">
              <a:xfrm>
                <a:off x="4272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447" name="Text Box 118"/>
            <p:cNvSpPr txBox="1">
              <a:spLocks noChangeArrowheads="1"/>
            </p:cNvSpPr>
            <p:nvPr/>
          </p:nvSpPr>
          <p:spPr bwMode="auto">
            <a:xfrm>
              <a:off x="4704" y="124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451" name="Group 119"/>
          <p:cNvGrpSpPr>
            <a:grpSpLocks/>
          </p:cNvGrpSpPr>
          <p:nvPr/>
        </p:nvGrpSpPr>
        <p:grpSpPr bwMode="auto">
          <a:xfrm>
            <a:off x="4876801" y="478960"/>
            <a:ext cx="3382963" cy="4191000"/>
            <a:chOff x="3072" y="576"/>
            <a:chExt cx="2131" cy="2640"/>
          </a:xfrm>
        </p:grpSpPr>
        <p:sp>
          <p:nvSpPr>
            <p:cNvPr id="452" name="Text Box 120"/>
            <p:cNvSpPr txBox="1">
              <a:spLocks noChangeArrowheads="1"/>
            </p:cNvSpPr>
            <p:nvPr/>
          </p:nvSpPr>
          <p:spPr bwMode="auto">
            <a:xfrm>
              <a:off x="3264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  <a:endParaRPr kumimoji="0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3" name="Text Box 121"/>
            <p:cNvSpPr txBox="1">
              <a:spLocks noChangeArrowheads="1"/>
            </p:cNvSpPr>
            <p:nvPr/>
          </p:nvSpPr>
          <p:spPr bwMode="auto">
            <a:xfrm>
              <a:off x="3744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454" name="Text Box 122"/>
            <p:cNvSpPr txBox="1">
              <a:spLocks noChangeArrowheads="1"/>
            </p:cNvSpPr>
            <p:nvPr/>
          </p:nvSpPr>
          <p:spPr bwMode="auto">
            <a:xfrm>
              <a:off x="4704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Y</a:t>
              </a:r>
              <a:endParaRPr kumimoji="0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5" name="Line 123"/>
            <p:cNvSpPr>
              <a:spLocks noChangeShapeType="1"/>
            </p:cNvSpPr>
            <p:nvPr/>
          </p:nvSpPr>
          <p:spPr bwMode="auto">
            <a:xfrm>
              <a:off x="4128" y="912"/>
              <a:ext cx="0" cy="2304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6" name="Line 124"/>
            <p:cNvSpPr>
              <a:spLocks noChangeShapeType="1"/>
            </p:cNvSpPr>
            <p:nvPr/>
          </p:nvSpPr>
          <p:spPr bwMode="auto">
            <a:xfrm>
              <a:off x="3600" y="912"/>
              <a:ext cx="0" cy="2304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7" name="Line 125"/>
            <p:cNvSpPr>
              <a:spLocks noChangeShapeType="1"/>
            </p:cNvSpPr>
            <p:nvPr/>
          </p:nvSpPr>
          <p:spPr bwMode="auto">
            <a:xfrm>
              <a:off x="3216" y="1248"/>
              <a:ext cx="1776" cy="0"/>
            </a:xfrm>
            <a:prstGeom prst="line">
              <a:avLst/>
            </a:prstGeom>
            <a:noFill/>
            <a:ln w="28575" cap="sq">
              <a:solidFill>
                <a:srgbClr val="003399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8" name="Line 126"/>
            <p:cNvSpPr>
              <a:spLocks noChangeShapeType="1"/>
            </p:cNvSpPr>
            <p:nvPr/>
          </p:nvSpPr>
          <p:spPr bwMode="auto">
            <a:xfrm>
              <a:off x="3072" y="3216"/>
              <a:ext cx="1872" cy="0"/>
            </a:xfrm>
            <a:prstGeom prst="line">
              <a:avLst/>
            </a:prstGeom>
            <a:noFill/>
            <a:ln w="28575" cap="sq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9" name="Line 127"/>
            <p:cNvSpPr>
              <a:spLocks noChangeShapeType="1"/>
            </p:cNvSpPr>
            <p:nvPr/>
          </p:nvSpPr>
          <p:spPr bwMode="auto">
            <a:xfrm>
              <a:off x="4656" y="912"/>
              <a:ext cx="0" cy="2304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0" name="Text Box 128"/>
            <p:cNvSpPr txBox="1">
              <a:spLocks noChangeArrowheads="1"/>
            </p:cNvSpPr>
            <p:nvPr/>
          </p:nvSpPr>
          <p:spPr bwMode="auto">
            <a:xfrm>
              <a:off x="4272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61" name="Line 129"/>
            <p:cNvSpPr>
              <a:spLocks noChangeShapeType="1"/>
            </p:cNvSpPr>
            <p:nvPr/>
          </p:nvSpPr>
          <p:spPr bwMode="auto">
            <a:xfrm>
              <a:off x="3216" y="912"/>
              <a:ext cx="1776" cy="0"/>
            </a:xfrm>
            <a:prstGeom prst="line">
              <a:avLst/>
            </a:prstGeom>
            <a:noFill/>
            <a:ln w="28575">
              <a:solidFill>
                <a:srgbClr val="007A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2" name="Rectangle 130"/>
            <p:cNvSpPr>
              <a:spLocks noChangeArrowheads="1"/>
            </p:cNvSpPr>
            <p:nvPr/>
          </p:nvSpPr>
          <p:spPr bwMode="auto">
            <a:xfrm>
              <a:off x="3120" y="576"/>
              <a:ext cx="208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ea typeface="华文中宋" pitchFamily="2" charset="-122"/>
                  <a:cs typeface="Times New Roman" pitchFamily="18" charset="0"/>
                </a:rPr>
                <a:t>“</a:t>
              </a: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ea typeface="华文中宋" pitchFamily="2" charset="-122"/>
                  <a:cs typeface="Times New Roman" pitchFamily="18" charset="0"/>
                </a:rPr>
                <a:t>与” 门逻辑状态表</a:t>
              </a:r>
            </a:p>
          </p:txBody>
        </p:sp>
      </p:grpSp>
      <p:grpSp>
        <p:nvGrpSpPr>
          <p:cNvPr id="463" name="Group 131"/>
          <p:cNvGrpSpPr>
            <a:grpSpLocks/>
          </p:cNvGrpSpPr>
          <p:nvPr/>
        </p:nvGrpSpPr>
        <p:grpSpPr bwMode="auto">
          <a:xfrm>
            <a:off x="2090056" y="1611080"/>
            <a:ext cx="1143000" cy="1676400"/>
            <a:chOff x="1344" y="1152"/>
            <a:chExt cx="720" cy="1056"/>
          </a:xfrm>
        </p:grpSpPr>
        <p:sp>
          <p:nvSpPr>
            <p:cNvPr id="464" name="Line 132"/>
            <p:cNvSpPr>
              <a:spLocks noChangeShapeType="1"/>
            </p:cNvSpPr>
            <p:nvPr/>
          </p:nvSpPr>
          <p:spPr bwMode="auto">
            <a:xfrm>
              <a:off x="2064" y="1152"/>
              <a:ext cx="0" cy="105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5" name="Line 133"/>
            <p:cNvSpPr>
              <a:spLocks noChangeShapeType="1"/>
            </p:cNvSpPr>
            <p:nvPr/>
          </p:nvSpPr>
          <p:spPr bwMode="auto">
            <a:xfrm flipH="1">
              <a:off x="1344" y="1824"/>
              <a:ext cx="72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6" name="Line 134"/>
            <p:cNvSpPr>
              <a:spLocks noChangeShapeType="1"/>
            </p:cNvSpPr>
            <p:nvPr/>
          </p:nvSpPr>
          <p:spPr bwMode="auto">
            <a:xfrm flipH="1">
              <a:off x="1344" y="2208"/>
              <a:ext cx="72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467" name="Group 135"/>
          <p:cNvGrpSpPr>
            <a:grpSpLocks/>
          </p:cNvGrpSpPr>
          <p:nvPr/>
        </p:nvGrpSpPr>
        <p:grpSpPr bwMode="auto">
          <a:xfrm>
            <a:off x="2166256" y="1687280"/>
            <a:ext cx="1066800" cy="2286000"/>
            <a:chOff x="1248" y="1152"/>
            <a:chExt cx="672" cy="1440"/>
          </a:xfrm>
        </p:grpSpPr>
        <p:sp>
          <p:nvSpPr>
            <p:cNvPr id="468" name="Line 136"/>
            <p:cNvSpPr>
              <a:spLocks noChangeShapeType="1"/>
            </p:cNvSpPr>
            <p:nvPr/>
          </p:nvSpPr>
          <p:spPr bwMode="auto">
            <a:xfrm>
              <a:off x="1920" y="1152"/>
              <a:ext cx="0" cy="144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9" name="Line 137"/>
            <p:cNvSpPr>
              <a:spLocks noChangeShapeType="1"/>
            </p:cNvSpPr>
            <p:nvPr/>
          </p:nvSpPr>
          <p:spPr bwMode="auto">
            <a:xfrm flipH="1">
              <a:off x="1248" y="1776"/>
              <a:ext cx="67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0" name="Line 138"/>
            <p:cNvSpPr>
              <a:spLocks noChangeShapeType="1"/>
            </p:cNvSpPr>
            <p:nvPr/>
          </p:nvSpPr>
          <p:spPr bwMode="auto">
            <a:xfrm flipH="1">
              <a:off x="1248" y="2160"/>
              <a:ext cx="67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1" name="Line 139"/>
            <p:cNvSpPr>
              <a:spLocks noChangeShapeType="1"/>
            </p:cNvSpPr>
            <p:nvPr/>
          </p:nvSpPr>
          <p:spPr bwMode="auto">
            <a:xfrm flipH="1">
              <a:off x="1248" y="2592"/>
              <a:ext cx="67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472" name="Group 140"/>
          <p:cNvGrpSpPr>
            <a:grpSpLocks/>
          </p:cNvGrpSpPr>
          <p:nvPr/>
        </p:nvGrpSpPr>
        <p:grpSpPr bwMode="auto">
          <a:xfrm>
            <a:off x="3849460" y="2921675"/>
            <a:ext cx="733425" cy="523875"/>
            <a:chOff x="2544" y="2304"/>
            <a:chExt cx="462" cy="330"/>
          </a:xfrm>
        </p:grpSpPr>
        <p:graphicFrame>
          <p:nvGraphicFramePr>
            <p:cNvPr id="473" name="Object 141"/>
            <p:cNvGraphicFramePr>
              <a:graphicFrameLocks noChangeAspect="1"/>
            </p:cNvGraphicFramePr>
            <p:nvPr/>
          </p:nvGraphicFramePr>
          <p:xfrm>
            <a:off x="2592" y="2352"/>
            <a:ext cx="288" cy="202"/>
          </p:xfrm>
          <a:graphic>
            <a:graphicData uri="http://schemas.openxmlformats.org/presentationml/2006/ole">
              <p:oleObj spid="_x0000_s3112" name="BMP 图象" r:id="rId7" imgW="380852" imgH="266737" progId="PBrush">
                <p:embed/>
              </p:oleObj>
            </a:graphicData>
          </a:graphic>
        </p:graphicFrame>
        <p:sp>
          <p:nvSpPr>
            <p:cNvPr id="474" name="Text Box 142"/>
            <p:cNvSpPr txBox="1">
              <a:spLocks noChangeArrowheads="1"/>
            </p:cNvSpPr>
            <p:nvPr/>
          </p:nvSpPr>
          <p:spPr bwMode="auto">
            <a:xfrm>
              <a:off x="2544" y="2304"/>
              <a:ext cx="46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0V</a:t>
              </a:r>
            </a:p>
          </p:txBody>
        </p:sp>
      </p:grpSp>
      <p:grpSp>
        <p:nvGrpSpPr>
          <p:cNvPr id="475" name="Group 143"/>
          <p:cNvGrpSpPr>
            <a:grpSpLocks/>
          </p:cNvGrpSpPr>
          <p:nvPr/>
        </p:nvGrpSpPr>
        <p:grpSpPr bwMode="auto">
          <a:xfrm>
            <a:off x="3854451" y="2943446"/>
            <a:ext cx="804863" cy="523875"/>
            <a:chOff x="2535" y="2304"/>
            <a:chExt cx="507" cy="330"/>
          </a:xfrm>
        </p:grpSpPr>
        <p:graphicFrame>
          <p:nvGraphicFramePr>
            <p:cNvPr id="476" name="Object 144"/>
            <p:cNvGraphicFramePr>
              <a:graphicFrameLocks noChangeAspect="1"/>
            </p:cNvGraphicFramePr>
            <p:nvPr/>
          </p:nvGraphicFramePr>
          <p:xfrm>
            <a:off x="2592" y="2352"/>
            <a:ext cx="288" cy="202"/>
          </p:xfrm>
          <a:graphic>
            <a:graphicData uri="http://schemas.openxmlformats.org/presentationml/2006/ole">
              <p:oleObj spid="_x0000_s3113" name="BMP 图象" r:id="rId8" imgW="380852" imgH="266737" progId="PBrush">
                <p:embed/>
              </p:oleObj>
            </a:graphicData>
          </a:graphic>
        </p:graphicFrame>
        <p:sp>
          <p:nvSpPr>
            <p:cNvPr id="477" name="Text Box 145"/>
            <p:cNvSpPr txBox="1">
              <a:spLocks noChangeArrowheads="1"/>
            </p:cNvSpPr>
            <p:nvPr/>
          </p:nvSpPr>
          <p:spPr bwMode="auto">
            <a:xfrm>
              <a:off x="2535" y="2304"/>
              <a:ext cx="50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3V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 Box 5"/>
          <p:cNvSpPr txBox="1">
            <a:spLocks noChangeArrowheads="1"/>
          </p:cNvSpPr>
          <p:nvPr/>
        </p:nvSpPr>
        <p:spPr bwMode="auto">
          <a:xfrm>
            <a:off x="457199" y="3020785"/>
            <a:ext cx="4452258" cy="1212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输入</a:t>
            </a:r>
            <a:r>
              <a:rPr lang="en-US" altLang="zh-CN" sz="2800" b="1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b="1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b="1" dirty="0" smtClean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C </a:t>
            </a:r>
            <a:r>
              <a:rPr lang="en-US" altLang="zh-CN" sz="2800" b="1" i="0" dirty="0" smtClean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 smtClean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全为 “</a:t>
            </a:r>
            <a:r>
              <a:rPr lang="en-US" altLang="zh-CN" sz="2800" b="1" i="0" dirty="0" smtClean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1”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，</a:t>
            </a: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输出 </a:t>
            </a:r>
            <a:r>
              <a:rPr lang="en-US" altLang="zh-CN" sz="2800" b="1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Y</a:t>
            </a:r>
            <a:r>
              <a:rPr lang="en-US" altLang="zh-CN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为“</a:t>
            </a:r>
            <a:r>
              <a:rPr lang="en-US" altLang="zh-CN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1”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。</a:t>
            </a:r>
            <a:endParaRPr lang="zh-CN" altLang="en-US" sz="2800" b="1" i="0" dirty="0">
              <a:solidFill>
                <a:srgbClr val="000018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38" name="Rectangle 6"/>
          <p:cNvSpPr>
            <a:spLocks noChangeArrowheads="1"/>
          </p:cNvSpPr>
          <p:nvPr/>
        </p:nvSpPr>
        <p:spPr bwMode="auto">
          <a:xfrm>
            <a:off x="457201" y="1725386"/>
            <a:ext cx="4299858" cy="1212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输入</a:t>
            </a:r>
            <a:r>
              <a:rPr lang="en-US" altLang="zh-CN" sz="2800" b="1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b="1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b="1" dirty="0" smtClean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b="1" i="0" dirty="0" smtClean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 smtClean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不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全为“</a:t>
            </a:r>
            <a:r>
              <a:rPr lang="en-US" altLang="zh-CN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1”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，</a:t>
            </a: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输出 </a:t>
            </a:r>
            <a:r>
              <a:rPr lang="en-US" altLang="zh-CN" sz="2800" b="1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Y</a:t>
            </a:r>
            <a:r>
              <a:rPr lang="en-US" altLang="zh-CN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为“</a:t>
            </a:r>
            <a:r>
              <a:rPr lang="en-US" altLang="zh-CN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0”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。</a:t>
            </a:r>
            <a:endParaRPr lang="zh-CN" altLang="en-US" sz="2800" b="1" i="0" dirty="0">
              <a:solidFill>
                <a:srgbClr val="000018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47" name="Rectangle 2"/>
          <p:cNvSpPr txBox="1">
            <a:spLocks noChangeArrowheads="1"/>
          </p:cNvSpPr>
          <p:nvPr/>
        </p:nvSpPr>
        <p:spPr bwMode="auto">
          <a:xfrm>
            <a:off x="283709" y="276906"/>
            <a:ext cx="3638550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r>
              <a:rPr kumimoji="0" lang="zh-CN" altLang="en-US" sz="2800" b="1" i="0" kern="0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二极管“与” 门电路</a:t>
            </a:r>
          </a:p>
        </p:txBody>
      </p:sp>
      <p:sp>
        <p:nvSpPr>
          <p:cNvPr id="67" name="Rectangle 4"/>
          <p:cNvSpPr>
            <a:spLocks noChangeArrowheads="1"/>
          </p:cNvSpPr>
          <p:nvPr/>
        </p:nvSpPr>
        <p:spPr bwMode="auto">
          <a:xfrm>
            <a:off x="553585" y="1060676"/>
            <a:ext cx="21739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sz="2800" b="1" i="0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(</a:t>
            </a:r>
            <a:r>
              <a:rPr lang="en-US" altLang="zh-CN" sz="2800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800" b="1" i="0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) </a:t>
            </a:r>
            <a:r>
              <a:rPr lang="zh-CN" altLang="en-US" sz="2800" b="1" i="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工作原理</a:t>
            </a:r>
          </a:p>
        </p:txBody>
      </p:sp>
      <p:grpSp>
        <p:nvGrpSpPr>
          <p:cNvPr id="68" name="Group 70"/>
          <p:cNvGrpSpPr>
            <a:grpSpLocks/>
          </p:cNvGrpSpPr>
          <p:nvPr/>
        </p:nvGrpSpPr>
        <p:grpSpPr bwMode="auto">
          <a:xfrm>
            <a:off x="5181600" y="1545762"/>
            <a:ext cx="2743200" cy="523876"/>
            <a:chOff x="3264" y="1248"/>
            <a:chExt cx="1728" cy="330"/>
          </a:xfrm>
        </p:grpSpPr>
        <p:grpSp>
          <p:nvGrpSpPr>
            <p:cNvPr id="69" name="Group 71"/>
            <p:cNvGrpSpPr>
              <a:grpSpLocks/>
            </p:cNvGrpSpPr>
            <p:nvPr/>
          </p:nvGrpSpPr>
          <p:grpSpPr bwMode="auto">
            <a:xfrm>
              <a:off x="3264" y="1248"/>
              <a:ext cx="1296" cy="330"/>
              <a:chOff x="3264" y="1248"/>
              <a:chExt cx="1296" cy="330"/>
            </a:xfrm>
          </p:grpSpPr>
          <p:sp>
            <p:nvSpPr>
              <p:cNvPr id="71" name="Text Box 72"/>
              <p:cNvSpPr txBox="1">
                <a:spLocks noChangeArrowheads="1"/>
              </p:cNvSpPr>
              <p:nvPr/>
            </p:nvSpPr>
            <p:spPr bwMode="auto">
              <a:xfrm>
                <a:off x="326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72" name="Text Box 73"/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73" name="Text Box 74"/>
              <p:cNvSpPr txBox="1">
                <a:spLocks noChangeArrowheads="1"/>
              </p:cNvSpPr>
              <p:nvPr/>
            </p:nvSpPr>
            <p:spPr bwMode="auto">
              <a:xfrm>
                <a:off x="4272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70" name="Text Box 75"/>
            <p:cNvSpPr txBox="1">
              <a:spLocks noChangeArrowheads="1"/>
            </p:cNvSpPr>
            <p:nvPr/>
          </p:nvSpPr>
          <p:spPr bwMode="auto">
            <a:xfrm>
              <a:off x="4704" y="124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74" name="Group 76"/>
          <p:cNvGrpSpPr>
            <a:grpSpLocks/>
          </p:cNvGrpSpPr>
          <p:nvPr/>
        </p:nvGrpSpPr>
        <p:grpSpPr bwMode="auto">
          <a:xfrm>
            <a:off x="5181600" y="1926762"/>
            <a:ext cx="2743200" cy="523876"/>
            <a:chOff x="3264" y="1248"/>
            <a:chExt cx="1728" cy="330"/>
          </a:xfrm>
        </p:grpSpPr>
        <p:grpSp>
          <p:nvGrpSpPr>
            <p:cNvPr id="75" name="Group 77"/>
            <p:cNvGrpSpPr>
              <a:grpSpLocks/>
            </p:cNvGrpSpPr>
            <p:nvPr/>
          </p:nvGrpSpPr>
          <p:grpSpPr bwMode="auto">
            <a:xfrm>
              <a:off x="3264" y="1248"/>
              <a:ext cx="1296" cy="330"/>
              <a:chOff x="3264" y="1248"/>
              <a:chExt cx="1296" cy="330"/>
            </a:xfrm>
          </p:grpSpPr>
          <p:sp>
            <p:nvSpPr>
              <p:cNvPr id="77" name="Text Box 78"/>
              <p:cNvSpPr txBox="1">
                <a:spLocks noChangeArrowheads="1"/>
              </p:cNvSpPr>
              <p:nvPr/>
            </p:nvSpPr>
            <p:spPr bwMode="auto">
              <a:xfrm>
                <a:off x="326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  <a:defRPr/>
                </a:pPr>
                <a:r>
                  <a:rPr lang="en-US" altLang="zh-CN" sz="2800" b="1" i="0" dirty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78" name="Text Box 79"/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79" name="Text Box 80"/>
              <p:cNvSpPr txBox="1">
                <a:spLocks noChangeArrowheads="1"/>
              </p:cNvSpPr>
              <p:nvPr/>
            </p:nvSpPr>
            <p:spPr bwMode="auto">
              <a:xfrm>
                <a:off x="4272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76" name="Text Box 81"/>
            <p:cNvSpPr txBox="1">
              <a:spLocks noChangeArrowheads="1"/>
            </p:cNvSpPr>
            <p:nvPr/>
          </p:nvSpPr>
          <p:spPr bwMode="auto">
            <a:xfrm>
              <a:off x="4704" y="124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80" name="Group 82"/>
          <p:cNvGrpSpPr>
            <a:grpSpLocks/>
          </p:cNvGrpSpPr>
          <p:nvPr/>
        </p:nvGrpSpPr>
        <p:grpSpPr bwMode="auto">
          <a:xfrm>
            <a:off x="5181600" y="2307761"/>
            <a:ext cx="2743200" cy="2047876"/>
            <a:chOff x="3264" y="1728"/>
            <a:chExt cx="1728" cy="1290"/>
          </a:xfrm>
        </p:grpSpPr>
        <p:grpSp>
          <p:nvGrpSpPr>
            <p:cNvPr id="81" name="Group 83"/>
            <p:cNvGrpSpPr>
              <a:grpSpLocks/>
            </p:cNvGrpSpPr>
            <p:nvPr/>
          </p:nvGrpSpPr>
          <p:grpSpPr bwMode="auto">
            <a:xfrm>
              <a:off x="3264" y="2448"/>
              <a:ext cx="1728" cy="330"/>
              <a:chOff x="3264" y="1248"/>
              <a:chExt cx="1728" cy="330"/>
            </a:xfrm>
          </p:grpSpPr>
          <p:grpSp>
            <p:nvGrpSpPr>
              <p:cNvPr id="106" name="Group 84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108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09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110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</p:grpSp>
          <p:sp>
            <p:nvSpPr>
              <p:cNvPr id="107" name="Text Box 88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82" name="Group 89"/>
            <p:cNvGrpSpPr>
              <a:grpSpLocks/>
            </p:cNvGrpSpPr>
            <p:nvPr/>
          </p:nvGrpSpPr>
          <p:grpSpPr bwMode="auto">
            <a:xfrm>
              <a:off x="3264" y="2688"/>
              <a:ext cx="1728" cy="330"/>
              <a:chOff x="3264" y="1248"/>
              <a:chExt cx="1728" cy="330"/>
            </a:xfrm>
          </p:grpSpPr>
          <p:grpSp>
            <p:nvGrpSpPr>
              <p:cNvPr id="101" name="Group 90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103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04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05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102" name="Text Box 94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83" name="Group 95"/>
            <p:cNvGrpSpPr>
              <a:grpSpLocks/>
            </p:cNvGrpSpPr>
            <p:nvPr/>
          </p:nvGrpSpPr>
          <p:grpSpPr bwMode="auto">
            <a:xfrm>
              <a:off x="3264" y="2208"/>
              <a:ext cx="1728" cy="330"/>
              <a:chOff x="3264" y="1248"/>
              <a:chExt cx="1728" cy="330"/>
            </a:xfrm>
          </p:grpSpPr>
          <p:grpSp>
            <p:nvGrpSpPr>
              <p:cNvPr id="96" name="Group 96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98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99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100" name="Text Box 99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97" name="Text Box 100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84" name="Group 101"/>
            <p:cNvGrpSpPr>
              <a:grpSpLocks/>
            </p:cNvGrpSpPr>
            <p:nvPr/>
          </p:nvGrpSpPr>
          <p:grpSpPr bwMode="auto">
            <a:xfrm>
              <a:off x="3264" y="1968"/>
              <a:ext cx="1728" cy="330"/>
              <a:chOff x="3264" y="1248"/>
              <a:chExt cx="1728" cy="330"/>
            </a:xfrm>
          </p:grpSpPr>
          <p:grpSp>
            <p:nvGrpSpPr>
              <p:cNvPr id="91" name="Group 102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93" name="Text Box 103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94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95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</p:grpSp>
          <p:sp>
            <p:nvSpPr>
              <p:cNvPr id="92" name="Text Box 106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85" name="Group 107"/>
            <p:cNvGrpSpPr>
              <a:grpSpLocks/>
            </p:cNvGrpSpPr>
            <p:nvPr/>
          </p:nvGrpSpPr>
          <p:grpSpPr bwMode="auto">
            <a:xfrm>
              <a:off x="3264" y="1728"/>
              <a:ext cx="1728" cy="330"/>
              <a:chOff x="3264" y="1248"/>
              <a:chExt cx="1728" cy="330"/>
            </a:xfrm>
          </p:grpSpPr>
          <p:grpSp>
            <p:nvGrpSpPr>
              <p:cNvPr id="86" name="Group 108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88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89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90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87" name="Text Box 112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</p:grpSp>
      <p:grpSp>
        <p:nvGrpSpPr>
          <p:cNvPr id="111" name="Group 113"/>
          <p:cNvGrpSpPr>
            <a:grpSpLocks/>
          </p:cNvGrpSpPr>
          <p:nvPr/>
        </p:nvGrpSpPr>
        <p:grpSpPr bwMode="auto">
          <a:xfrm>
            <a:off x="5181600" y="4212762"/>
            <a:ext cx="2743200" cy="523876"/>
            <a:chOff x="3264" y="1248"/>
            <a:chExt cx="1728" cy="330"/>
          </a:xfrm>
        </p:grpSpPr>
        <p:grpSp>
          <p:nvGrpSpPr>
            <p:cNvPr id="112" name="Group 114"/>
            <p:cNvGrpSpPr>
              <a:grpSpLocks/>
            </p:cNvGrpSpPr>
            <p:nvPr/>
          </p:nvGrpSpPr>
          <p:grpSpPr bwMode="auto">
            <a:xfrm>
              <a:off x="3264" y="1248"/>
              <a:ext cx="1296" cy="330"/>
              <a:chOff x="3264" y="1248"/>
              <a:chExt cx="1296" cy="330"/>
            </a:xfrm>
          </p:grpSpPr>
          <p:sp>
            <p:nvSpPr>
              <p:cNvPr id="114" name="Text Box 115"/>
              <p:cNvSpPr txBox="1">
                <a:spLocks noChangeArrowheads="1"/>
              </p:cNvSpPr>
              <p:nvPr/>
            </p:nvSpPr>
            <p:spPr bwMode="auto">
              <a:xfrm>
                <a:off x="326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15" name="Text Box 116"/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16" name="Text Box 117"/>
              <p:cNvSpPr txBox="1">
                <a:spLocks noChangeArrowheads="1"/>
              </p:cNvSpPr>
              <p:nvPr/>
            </p:nvSpPr>
            <p:spPr bwMode="auto">
              <a:xfrm>
                <a:off x="4272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113" name="Text Box 118"/>
            <p:cNvSpPr txBox="1">
              <a:spLocks noChangeArrowheads="1"/>
            </p:cNvSpPr>
            <p:nvPr/>
          </p:nvSpPr>
          <p:spPr bwMode="auto">
            <a:xfrm>
              <a:off x="4704" y="124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17" name="Group 119"/>
          <p:cNvGrpSpPr>
            <a:grpSpLocks/>
          </p:cNvGrpSpPr>
          <p:nvPr/>
        </p:nvGrpSpPr>
        <p:grpSpPr bwMode="auto">
          <a:xfrm>
            <a:off x="4876801" y="478960"/>
            <a:ext cx="3382963" cy="4191000"/>
            <a:chOff x="3072" y="576"/>
            <a:chExt cx="2131" cy="2640"/>
          </a:xfrm>
        </p:grpSpPr>
        <p:sp>
          <p:nvSpPr>
            <p:cNvPr id="118" name="Text Box 120"/>
            <p:cNvSpPr txBox="1">
              <a:spLocks noChangeArrowheads="1"/>
            </p:cNvSpPr>
            <p:nvPr/>
          </p:nvSpPr>
          <p:spPr bwMode="auto">
            <a:xfrm>
              <a:off x="3264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  <a:endParaRPr kumimoji="0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9" name="Text Box 121"/>
            <p:cNvSpPr txBox="1">
              <a:spLocks noChangeArrowheads="1"/>
            </p:cNvSpPr>
            <p:nvPr/>
          </p:nvSpPr>
          <p:spPr bwMode="auto">
            <a:xfrm>
              <a:off x="3744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20" name="Text Box 122"/>
            <p:cNvSpPr txBox="1">
              <a:spLocks noChangeArrowheads="1"/>
            </p:cNvSpPr>
            <p:nvPr/>
          </p:nvSpPr>
          <p:spPr bwMode="auto">
            <a:xfrm>
              <a:off x="4704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Y</a:t>
              </a:r>
              <a:endParaRPr kumimoji="0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1" name="Line 123"/>
            <p:cNvSpPr>
              <a:spLocks noChangeShapeType="1"/>
            </p:cNvSpPr>
            <p:nvPr/>
          </p:nvSpPr>
          <p:spPr bwMode="auto">
            <a:xfrm>
              <a:off x="4128" y="912"/>
              <a:ext cx="0" cy="2304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2" name="Line 124"/>
            <p:cNvSpPr>
              <a:spLocks noChangeShapeType="1"/>
            </p:cNvSpPr>
            <p:nvPr/>
          </p:nvSpPr>
          <p:spPr bwMode="auto">
            <a:xfrm>
              <a:off x="3600" y="912"/>
              <a:ext cx="0" cy="2304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3" name="Line 125"/>
            <p:cNvSpPr>
              <a:spLocks noChangeShapeType="1"/>
            </p:cNvSpPr>
            <p:nvPr/>
          </p:nvSpPr>
          <p:spPr bwMode="auto">
            <a:xfrm>
              <a:off x="3216" y="1248"/>
              <a:ext cx="1776" cy="0"/>
            </a:xfrm>
            <a:prstGeom prst="line">
              <a:avLst/>
            </a:prstGeom>
            <a:noFill/>
            <a:ln w="28575" cap="sq">
              <a:solidFill>
                <a:srgbClr val="003399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4" name="Line 126"/>
            <p:cNvSpPr>
              <a:spLocks noChangeShapeType="1"/>
            </p:cNvSpPr>
            <p:nvPr/>
          </p:nvSpPr>
          <p:spPr bwMode="auto">
            <a:xfrm>
              <a:off x="3072" y="3216"/>
              <a:ext cx="1872" cy="0"/>
            </a:xfrm>
            <a:prstGeom prst="line">
              <a:avLst/>
            </a:prstGeom>
            <a:noFill/>
            <a:ln w="28575" cap="sq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5" name="Line 127"/>
            <p:cNvSpPr>
              <a:spLocks noChangeShapeType="1"/>
            </p:cNvSpPr>
            <p:nvPr/>
          </p:nvSpPr>
          <p:spPr bwMode="auto">
            <a:xfrm>
              <a:off x="4656" y="912"/>
              <a:ext cx="0" cy="2304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6" name="Text Box 128"/>
            <p:cNvSpPr txBox="1">
              <a:spLocks noChangeArrowheads="1"/>
            </p:cNvSpPr>
            <p:nvPr/>
          </p:nvSpPr>
          <p:spPr bwMode="auto">
            <a:xfrm>
              <a:off x="4272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27" name="Line 129"/>
            <p:cNvSpPr>
              <a:spLocks noChangeShapeType="1"/>
            </p:cNvSpPr>
            <p:nvPr/>
          </p:nvSpPr>
          <p:spPr bwMode="auto">
            <a:xfrm>
              <a:off x="3216" y="912"/>
              <a:ext cx="1776" cy="0"/>
            </a:xfrm>
            <a:prstGeom prst="line">
              <a:avLst/>
            </a:prstGeom>
            <a:noFill/>
            <a:ln w="28575">
              <a:solidFill>
                <a:srgbClr val="007A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8" name="Rectangle 130"/>
            <p:cNvSpPr>
              <a:spLocks noChangeArrowheads="1"/>
            </p:cNvSpPr>
            <p:nvPr/>
          </p:nvSpPr>
          <p:spPr bwMode="auto">
            <a:xfrm>
              <a:off x="3120" y="576"/>
              <a:ext cx="208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ea typeface="华文中宋" pitchFamily="2" charset="-122"/>
                  <a:cs typeface="Times New Roman" pitchFamily="18" charset="0"/>
                </a:rPr>
                <a:t>“</a:t>
              </a: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ea typeface="华文中宋" pitchFamily="2" charset="-122"/>
                  <a:cs typeface="Times New Roman" pitchFamily="18" charset="0"/>
                </a:rPr>
                <a:t>与” 门逻辑状态表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" grpId="0" autoUpdateAnimBg="0"/>
      <p:bldP spid="338" grpId="0" autoUpdateAnimBg="0"/>
      <p:bldP spid="6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Box 176"/>
          <p:cNvSpPr txBox="1">
            <a:spLocks noChangeArrowheads="1"/>
          </p:cNvSpPr>
          <p:nvPr/>
        </p:nvSpPr>
        <p:spPr bwMode="auto">
          <a:xfrm>
            <a:off x="309789" y="596452"/>
            <a:ext cx="430575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fontAlgn="auto">
              <a:spcBef>
                <a:spcPct val="50000"/>
              </a:spcBef>
              <a:spcAft>
                <a:spcPts val="0"/>
              </a:spcAft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）或逻辑和或门电路 </a:t>
            </a:r>
          </a:p>
        </p:txBody>
      </p:sp>
      <p:sp>
        <p:nvSpPr>
          <p:cNvPr id="67" name="Text Box 177"/>
          <p:cNvSpPr txBox="1">
            <a:spLocks noChangeArrowheads="1"/>
          </p:cNvSpPr>
          <p:nvPr/>
        </p:nvSpPr>
        <p:spPr bwMode="auto">
          <a:xfrm>
            <a:off x="1014413" y="3373222"/>
            <a:ext cx="64684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实现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或逻辑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关系的电路称为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或门电路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。 </a:t>
            </a:r>
          </a:p>
        </p:txBody>
      </p:sp>
      <p:sp>
        <p:nvSpPr>
          <p:cNvPr id="113" name="矩形 112"/>
          <p:cNvSpPr/>
          <p:nvPr/>
        </p:nvSpPr>
        <p:spPr>
          <a:xfrm>
            <a:off x="973138" y="1414020"/>
            <a:ext cx="7807325" cy="171777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在决定某一事件发生的若干条件中，只要有一个条件满足，事件就会发生，这种逻辑关系称为“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99">
                    <a:lumMod val="75000"/>
                  </a:srgbClr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或逻辑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”。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Box 176"/>
          <p:cNvSpPr txBox="1">
            <a:spLocks noChangeArrowheads="1"/>
          </p:cNvSpPr>
          <p:nvPr/>
        </p:nvSpPr>
        <p:spPr bwMode="auto">
          <a:xfrm>
            <a:off x="309789" y="389618"/>
            <a:ext cx="430575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fontAlgn="auto">
              <a:spcBef>
                <a:spcPct val="50000"/>
              </a:spcBef>
              <a:spcAft>
                <a:spcPts val="0"/>
              </a:spcAft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）或逻辑和或门电路 </a:t>
            </a:r>
          </a:p>
        </p:txBody>
      </p:sp>
      <p:grpSp>
        <p:nvGrpSpPr>
          <p:cNvPr id="2" name="Group 278"/>
          <p:cNvGrpSpPr>
            <a:grpSpLocks/>
          </p:cNvGrpSpPr>
          <p:nvPr/>
        </p:nvGrpSpPr>
        <p:grpSpPr bwMode="auto">
          <a:xfrm>
            <a:off x="1135743" y="989467"/>
            <a:ext cx="1776413" cy="2511425"/>
            <a:chOff x="970" y="1668"/>
            <a:chExt cx="1119" cy="1582"/>
          </a:xfrm>
        </p:grpSpPr>
        <p:sp>
          <p:nvSpPr>
            <p:cNvPr id="69" name="Text Box 279"/>
            <p:cNvSpPr txBox="1">
              <a:spLocks noChangeArrowheads="1"/>
            </p:cNvSpPr>
            <p:nvPr/>
          </p:nvSpPr>
          <p:spPr bwMode="auto">
            <a:xfrm>
              <a:off x="1537" y="1668"/>
              <a:ext cx="4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＋</a:t>
              </a:r>
              <a:r>
                <a:rPr kumimoji="0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U</a:t>
              </a:r>
            </a:p>
          </p:txBody>
        </p:sp>
        <p:sp>
          <p:nvSpPr>
            <p:cNvPr id="70" name="Line 280"/>
            <p:cNvSpPr>
              <a:spLocks noChangeShapeType="1"/>
            </p:cNvSpPr>
            <p:nvPr/>
          </p:nvSpPr>
          <p:spPr bwMode="auto">
            <a:xfrm>
              <a:off x="1561" y="1834"/>
              <a:ext cx="0" cy="70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Freeform 281"/>
            <p:cNvSpPr>
              <a:spLocks/>
            </p:cNvSpPr>
            <p:nvPr/>
          </p:nvSpPr>
          <p:spPr bwMode="auto">
            <a:xfrm>
              <a:off x="1260" y="2526"/>
              <a:ext cx="594" cy="210"/>
            </a:xfrm>
            <a:custGeom>
              <a:avLst/>
              <a:gdLst>
                <a:gd name="T0" fmla="*/ 0 w 594"/>
                <a:gd name="T1" fmla="*/ 770 h 162"/>
                <a:gd name="T2" fmla="*/ 0 w 594"/>
                <a:gd name="T3" fmla="*/ 0 h 162"/>
                <a:gd name="T4" fmla="*/ 594 w 594"/>
                <a:gd name="T5" fmla="*/ 0 h 162"/>
                <a:gd name="T6" fmla="*/ 588 w 594"/>
                <a:gd name="T7" fmla="*/ 770 h 1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4"/>
                <a:gd name="T13" fmla="*/ 0 h 162"/>
                <a:gd name="T14" fmla="*/ 594 w 594"/>
                <a:gd name="T15" fmla="*/ 162 h 1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4" h="162">
                  <a:moveTo>
                    <a:pt x="0" y="162"/>
                  </a:moveTo>
                  <a:lnTo>
                    <a:pt x="0" y="0"/>
                  </a:lnTo>
                  <a:lnTo>
                    <a:pt x="594" y="0"/>
                  </a:lnTo>
                  <a:lnTo>
                    <a:pt x="588" y="162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Line 282"/>
            <p:cNvSpPr>
              <a:spLocks noChangeShapeType="1"/>
            </p:cNvSpPr>
            <p:nvPr/>
          </p:nvSpPr>
          <p:spPr bwMode="auto">
            <a:xfrm>
              <a:off x="1555" y="3091"/>
              <a:ext cx="0" cy="1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Line 283"/>
            <p:cNvSpPr>
              <a:spLocks noChangeShapeType="1"/>
            </p:cNvSpPr>
            <p:nvPr/>
          </p:nvSpPr>
          <p:spPr bwMode="auto">
            <a:xfrm>
              <a:off x="1456" y="3250"/>
              <a:ext cx="19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Oval 284"/>
            <p:cNvSpPr>
              <a:spLocks noChangeArrowheads="1"/>
            </p:cNvSpPr>
            <p:nvPr/>
          </p:nvSpPr>
          <p:spPr bwMode="auto">
            <a:xfrm>
              <a:off x="1536" y="1784"/>
              <a:ext cx="53" cy="5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Text Box 285"/>
            <p:cNvSpPr txBox="1">
              <a:spLocks noChangeArrowheads="1"/>
            </p:cNvSpPr>
            <p:nvPr/>
          </p:nvSpPr>
          <p:spPr bwMode="auto">
            <a:xfrm>
              <a:off x="970" y="2695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A</a:t>
              </a:r>
            </a:p>
          </p:txBody>
        </p:sp>
        <p:sp>
          <p:nvSpPr>
            <p:cNvPr id="76" name="Text Box 286"/>
            <p:cNvSpPr txBox="1">
              <a:spLocks noChangeArrowheads="1"/>
            </p:cNvSpPr>
            <p:nvPr/>
          </p:nvSpPr>
          <p:spPr bwMode="auto">
            <a:xfrm>
              <a:off x="1845" y="2695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B</a:t>
              </a:r>
            </a:p>
          </p:txBody>
        </p:sp>
        <p:sp>
          <p:nvSpPr>
            <p:cNvPr id="77" name="Text Box 287"/>
            <p:cNvSpPr txBox="1">
              <a:spLocks noChangeArrowheads="1"/>
            </p:cNvSpPr>
            <p:nvPr/>
          </p:nvSpPr>
          <p:spPr bwMode="auto">
            <a:xfrm>
              <a:off x="1146" y="2035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F</a:t>
              </a:r>
            </a:p>
          </p:txBody>
        </p:sp>
        <p:sp>
          <p:nvSpPr>
            <p:cNvPr id="78" name="Freeform 288"/>
            <p:cNvSpPr>
              <a:spLocks/>
            </p:cNvSpPr>
            <p:nvPr/>
          </p:nvSpPr>
          <p:spPr bwMode="auto">
            <a:xfrm flipV="1">
              <a:off x="1260" y="2892"/>
              <a:ext cx="594" cy="210"/>
            </a:xfrm>
            <a:custGeom>
              <a:avLst/>
              <a:gdLst>
                <a:gd name="T0" fmla="*/ 0 w 594"/>
                <a:gd name="T1" fmla="*/ 770 h 162"/>
                <a:gd name="T2" fmla="*/ 0 w 594"/>
                <a:gd name="T3" fmla="*/ 0 h 162"/>
                <a:gd name="T4" fmla="*/ 594 w 594"/>
                <a:gd name="T5" fmla="*/ 0 h 162"/>
                <a:gd name="T6" fmla="*/ 588 w 594"/>
                <a:gd name="T7" fmla="*/ 770 h 1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4"/>
                <a:gd name="T13" fmla="*/ 0 h 162"/>
                <a:gd name="T14" fmla="*/ 594 w 594"/>
                <a:gd name="T15" fmla="*/ 162 h 1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4" h="162">
                  <a:moveTo>
                    <a:pt x="0" y="162"/>
                  </a:moveTo>
                  <a:lnTo>
                    <a:pt x="0" y="0"/>
                  </a:lnTo>
                  <a:lnTo>
                    <a:pt x="594" y="0"/>
                  </a:lnTo>
                  <a:lnTo>
                    <a:pt x="588" y="162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9" name="AutoShape 289"/>
          <p:cNvSpPr>
            <a:spLocks noChangeArrowheads="1"/>
          </p:cNvSpPr>
          <p:nvPr/>
        </p:nvSpPr>
        <p:spPr bwMode="auto">
          <a:xfrm>
            <a:off x="1818368" y="1589542"/>
            <a:ext cx="511175" cy="504825"/>
          </a:xfrm>
          <a:prstGeom prst="flowChartSummingJunction">
            <a:avLst/>
          </a:prstGeom>
          <a:solidFill>
            <a:srgbClr val="FFFFFF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0" name="Line 290"/>
          <p:cNvSpPr>
            <a:spLocks noChangeShapeType="1"/>
          </p:cNvSpPr>
          <p:nvPr/>
        </p:nvSpPr>
        <p:spPr bwMode="auto">
          <a:xfrm flipH="1" flipV="1">
            <a:off x="1464356" y="2676979"/>
            <a:ext cx="138112" cy="2571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1" name="Line 291"/>
          <p:cNvSpPr>
            <a:spLocks noChangeShapeType="1"/>
          </p:cNvSpPr>
          <p:nvPr/>
        </p:nvSpPr>
        <p:spPr bwMode="auto">
          <a:xfrm flipH="1" flipV="1">
            <a:off x="2393043" y="2676979"/>
            <a:ext cx="138113" cy="2571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3" name="Group 292"/>
          <p:cNvGrpSpPr>
            <a:grpSpLocks/>
          </p:cNvGrpSpPr>
          <p:nvPr/>
        </p:nvGrpSpPr>
        <p:grpSpPr bwMode="auto">
          <a:xfrm>
            <a:off x="815068" y="3850140"/>
            <a:ext cx="2522538" cy="1015999"/>
            <a:chOff x="686" y="3397"/>
            <a:chExt cx="1589" cy="640"/>
          </a:xfrm>
        </p:grpSpPr>
        <p:sp>
          <p:nvSpPr>
            <p:cNvPr id="83" name="Rectangle 293"/>
            <p:cNvSpPr>
              <a:spLocks noChangeArrowheads="1"/>
            </p:cNvSpPr>
            <p:nvPr/>
          </p:nvSpPr>
          <p:spPr bwMode="auto">
            <a:xfrm>
              <a:off x="1335" y="3419"/>
              <a:ext cx="420" cy="54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</a:rPr>
                <a:t>  </a:t>
              </a:r>
              <a:r>
                <a:rPr kumimoji="0" lang="en-US" altLang="zh-CN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</a:rPr>
                <a:t>≥1</a:t>
              </a:r>
            </a:p>
          </p:txBody>
        </p:sp>
        <p:sp>
          <p:nvSpPr>
            <p:cNvPr id="84" name="Line 294"/>
            <p:cNvSpPr>
              <a:spLocks noChangeShapeType="1"/>
            </p:cNvSpPr>
            <p:nvPr/>
          </p:nvSpPr>
          <p:spPr bwMode="auto">
            <a:xfrm>
              <a:off x="1756" y="3694"/>
              <a:ext cx="2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Line 295"/>
            <p:cNvSpPr>
              <a:spLocks noChangeShapeType="1"/>
            </p:cNvSpPr>
            <p:nvPr/>
          </p:nvSpPr>
          <p:spPr bwMode="auto">
            <a:xfrm>
              <a:off x="949" y="3580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Line 296"/>
            <p:cNvSpPr>
              <a:spLocks noChangeShapeType="1"/>
            </p:cNvSpPr>
            <p:nvPr/>
          </p:nvSpPr>
          <p:spPr bwMode="auto">
            <a:xfrm>
              <a:off x="949" y="3820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AutoShape 297"/>
            <p:cNvSpPr>
              <a:spLocks noChangeArrowheads="1"/>
            </p:cNvSpPr>
            <p:nvPr/>
          </p:nvSpPr>
          <p:spPr bwMode="auto">
            <a:xfrm>
              <a:off x="1996" y="3670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AutoShape 298"/>
            <p:cNvSpPr>
              <a:spLocks noChangeArrowheads="1"/>
            </p:cNvSpPr>
            <p:nvPr/>
          </p:nvSpPr>
          <p:spPr bwMode="auto">
            <a:xfrm>
              <a:off x="904" y="3556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AutoShape 299"/>
            <p:cNvSpPr>
              <a:spLocks noChangeArrowheads="1"/>
            </p:cNvSpPr>
            <p:nvPr/>
          </p:nvSpPr>
          <p:spPr bwMode="auto">
            <a:xfrm>
              <a:off x="904" y="3796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Text Box 300"/>
            <p:cNvSpPr txBox="1">
              <a:spLocks noChangeArrowheads="1"/>
            </p:cNvSpPr>
            <p:nvPr/>
          </p:nvSpPr>
          <p:spPr bwMode="auto">
            <a:xfrm>
              <a:off x="686" y="3397"/>
              <a:ext cx="240" cy="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楷体_GB2312" pitchFamily="49" charset="-122"/>
                </a:rPr>
                <a:t>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楷体_GB2312" pitchFamily="49" charset="-122"/>
                </a:rPr>
                <a:t>B</a:t>
              </a:r>
            </a:p>
          </p:txBody>
        </p:sp>
        <p:sp>
          <p:nvSpPr>
            <p:cNvPr id="91" name="Text Box 301"/>
            <p:cNvSpPr txBox="1">
              <a:spLocks noChangeArrowheads="1"/>
            </p:cNvSpPr>
            <p:nvPr/>
          </p:nvSpPr>
          <p:spPr bwMode="auto">
            <a:xfrm>
              <a:off x="2035" y="3556"/>
              <a:ext cx="24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楷体_GB2312" pitchFamily="49" charset="-122"/>
                </a:rPr>
                <a:t>F</a:t>
              </a:r>
            </a:p>
          </p:txBody>
        </p:sp>
      </p:grpSp>
      <p:sp>
        <p:nvSpPr>
          <p:cNvPr id="92" name="Rectangle 302"/>
          <p:cNvSpPr>
            <a:spLocks noChangeArrowheads="1"/>
          </p:cNvSpPr>
          <p:nvPr/>
        </p:nvSpPr>
        <p:spPr bwMode="auto">
          <a:xfrm>
            <a:off x="5580743" y="2124529"/>
            <a:ext cx="50482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>
                <a:solidFill>
                  <a:srgbClr val="800000"/>
                </a:solidFill>
                <a:ea typeface="华文中宋" pitchFamily="2" charset="-122"/>
                <a:cs typeface="Times New Roman" pitchFamily="18" charset="0"/>
              </a:rPr>
              <a:t>0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>
                <a:solidFill>
                  <a:srgbClr val="800000"/>
                </a:solidFill>
                <a:ea typeface="华文中宋" pitchFamily="2" charset="-122"/>
                <a:cs typeface="Times New Roman" pitchFamily="18" charset="0"/>
              </a:rPr>
              <a:t>1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>
                <a:solidFill>
                  <a:srgbClr val="800000"/>
                </a:solidFill>
                <a:ea typeface="华文中宋" pitchFamily="2" charset="-122"/>
                <a:cs typeface="Times New Roman" pitchFamily="18" charset="0"/>
              </a:rPr>
              <a:t>1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>
                <a:solidFill>
                  <a:srgbClr val="800000"/>
                </a:solidFill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93" name="Rectangle 303"/>
          <p:cNvSpPr>
            <a:spLocks noChangeArrowheads="1"/>
          </p:cNvSpPr>
          <p:nvPr/>
        </p:nvSpPr>
        <p:spPr bwMode="auto">
          <a:xfrm>
            <a:off x="3951967" y="2140404"/>
            <a:ext cx="1077232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0 </a:t>
            </a:r>
            <a:r>
              <a:rPr kumimoji="0" lang="en-US" altLang="zh-CN" sz="2800" b="1" i="0" dirty="0" smtClean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zh-CN" altLang="zh-CN" sz="2800" b="1" i="0" dirty="0" smtClean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 </a:t>
            </a: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0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0 </a:t>
            </a:r>
            <a:r>
              <a:rPr kumimoji="0" lang="zh-CN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en-US" altLang="zh-CN" sz="2800" b="1" i="0" dirty="0" smtClean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zh-CN" altLang="zh-CN" sz="2800" b="1" i="0" dirty="0" smtClean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1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1  </a:t>
            </a:r>
            <a:r>
              <a:rPr kumimoji="0" lang="en-US" altLang="zh-CN" sz="2800" b="1" i="0" dirty="0" smtClean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 </a:t>
            </a: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0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1 </a:t>
            </a:r>
            <a:r>
              <a:rPr kumimoji="0" lang="en-US" altLang="zh-CN" sz="2800" b="1" i="0" dirty="0" smtClean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 </a:t>
            </a:r>
            <a:r>
              <a:rPr kumimoji="0" lang="zh-CN" altLang="zh-CN" sz="2800" b="1" i="0" dirty="0" smtClean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grpSp>
        <p:nvGrpSpPr>
          <p:cNvPr id="4" name="Group 304"/>
          <p:cNvGrpSpPr>
            <a:grpSpLocks/>
          </p:cNvGrpSpPr>
          <p:nvPr/>
        </p:nvGrpSpPr>
        <p:grpSpPr bwMode="auto">
          <a:xfrm>
            <a:off x="3647168" y="1667329"/>
            <a:ext cx="2590800" cy="2438400"/>
            <a:chOff x="3505" y="1723"/>
            <a:chExt cx="1632" cy="1536"/>
          </a:xfrm>
        </p:grpSpPr>
        <p:sp>
          <p:nvSpPr>
            <p:cNvPr id="95" name="Rectangle 305"/>
            <p:cNvSpPr>
              <a:spLocks noChangeArrowheads="1"/>
            </p:cNvSpPr>
            <p:nvPr/>
          </p:nvSpPr>
          <p:spPr bwMode="auto">
            <a:xfrm>
              <a:off x="3686" y="1723"/>
              <a:ext cx="136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DC5900"/>
                </a:buClr>
                <a:buSzPct val="75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  <a:r>
                <a:rPr kumimoji="0" lang="zh-CN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 </a:t>
              </a:r>
              <a:r>
                <a:rPr kumimoji="0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 </a:t>
              </a:r>
              <a:r>
                <a:rPr kumimoji="0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B         F</a:t>
              </a:r>
              <a:r>
                <a:rPr kumimoji="0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</a:t>
              </a:r>
              <a:endParaRPr kumimoji="0" lang="en-US" altLang="zh-CN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Line 306"/>
            <p:cNvSpPr>
              <a:spLocks noChangeShapeType="1"/>
            </p:cNvSpPr>
            <p:nvPr/>
          </p:nvSpPr>
          <p:spPr bwMode="auto">
            <a:xfrm>
              <a:off x="3505" y="1723"/>
              <a:ext cx="16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7" name="Line 307"/>
            <p:cNvSpPr>
              <a:spLocks noChangeShapeType="1"/>
            </p:cNvSpPr>
            <p:nvPr/>
          </p:nvSpPr>
          <p:spPr bwMode="auto">
            <a:xfrm>
              <a:off x="3505" y="2030"/>
              <a:ext cx="16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Line 308"/>
            <p:cNvSpPr>
              <a:spLocks noChangeShapeType="1"/>
            </p:cNvSpPr>
            <p:nvPr/>
          </p:nvSpPr>
          <p:spPr bwMode="auto">
            <a:xfrm>
              <a:off x="3505" y="2337"/>
              <a:ext cx="16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9" name="Line 309"/>
            <p:cNvSpPr>
              <a:spLocks noChangeShapeType="1"/>
            </p:cNvSpPr>
            <p:nvPr/>
          </p:nvSpPr>
          <p:spPr bwMode="auto">
            <a:xfrm>
              <a:off x="3505" y="2645"/>
              <a:ext cx="16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Line 310"/>
            <p:cNvSpPr>
              <a:spLocks noChangeShapeType="1"/>
            </p:cNvSpPr>
            <p:nvPr/>
          </p:nvSpPr>
          <p:spPr bwMode="auto">
            <a:xfrm>
              <a:off x="3505" y="2952"/>
              <a:ext cx="16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1" name="Line 311"/>
            <p:cNvSpPr>
              <a:spLocks noChangeShapeType="1"/>
            </p:cNvSpPr>
            <p:nvPr/>
          </p:nvSpPr>
          <p:spPr bwMode="auto">
            <a:xfrm>
              <a:off x="3505" y="3259"/>
              <a:ext cx="16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2" name="Line 312"/>
            <p:cNvSpPr>
              <a:spLocks noChangeShapeType="1"/>
            </p:cNvSpPr>
            <p:nvPr/>
          </p:nvSpPr>
          <p:spPr bwMode="auto">
            <a:xfrm>
              <a:off x="4572" y="1723"/>
              <a:ext cx="0" cy="15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03" name="Text Box 313"/>
          <p:cNvSpPr txBox="1">
            <a:spLocks noChangeArrowheads="1"/>
          </p:cNvSpPr>
          <p:nvPr/>
        </p:nvSpPr>
        <p:spPr bwMode="auto">
          <a:xfrm>
            <a:off x="4132943" y="1072017"/>
            <a:ext cx="1524000" cy="523220"/>
          </a:xfrm>
          <a:prstGeom prst="rect">
            <a:avLst/>
          </a:prstGeom>
          <a:gradFill rotWithShape="1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真值表</a:t>
            </a:r>
          </a:p>
        </p:txBody>
      </p:sp>
      <p:sp>
        <p:nvSpPr>
          <p:cNvPr id="104" name="Rectangle 314"/>
          <p:cNvSpPr>
            <a:spLocks noChangeArrowheads="1"/>
          </p:cNvSpPr>
          <p:nvPr/>
        </p:nvSpPr>
        <p:spPr bwMode="auto">
          <a:xfrm>
            <a:off x="6582456" y="1391104"/>
            <a:ext cx="1651414" cy="190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800" b="1" i="1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F</a:t>
            </a:r>
            <a:r>
              <a:rPr lang="zh-CN" altLang="en-US" sz="2800" b="1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＝</a:t>
            </a:r>
            <a:r>
              <a:rPr lang="en-US" altLang="zh-CN" sz="2800" b="1" i="1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zh-CN" altLang="en-US" sz="2800" b="1" i="0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＋</a:t>
            </a:r>
            <a:r>
              <a:rPr lang="en-US" altLang="zh-CN" sz="2800" b="1" i="1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B </a:t>
            </a:r>
          </a:p>
          <a:p>
            <a:pPr algn="l"/>
            <a:r>
              <a:rPr lang="en-US" altLang="zh-CN" sz="2800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zh-CN" altLang="en-US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＋</a:t>
            </a:r>
            <a:r>
              <a:rPr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0 = </a:t>
            </a:r>
            <a:r>
              <a:rPr lang="en-US" altLang="zh-CN" sz="2800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A</a:t>
            </a:r>
          </a:p>
          <a:p>
            <a:pPr algn="l">
              <a:spcBef>
                <a:spcPct val="10000"/>
              </a:spcBef>
            </a:pPr>
            <a:r>
              <a:rPr lang="en-US" altLang="zh-CN" sz="2800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zh-CN" altLang="en-US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＋</a:t>
            </a:r>
            <a:r>
              <a:rPr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1 = 1 </a:t>
            </a:r>
          </a:p>
          <a:p>
            <a:pPr algn="l">
              <a:spcBef>
                <a:spcPct val="10000"/>
              </a:spcBef>
            </a:pPr>
            <a:r>
              <a:rPr lang="en-US" altLang="zh-CN" sz="2800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zh-CN" altLang="en-US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＋</a:t>
            </a:r>
            <a:r>
              <a:rPr lang="en-US" altLang="zh-CN" sz="2800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A </a:t>
            </a:r>
            <a:r>
              <a:rPr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= </a:t>
            </a:r>
            <a:r>
              <a:rPr lang="en-US" altLang="zh-CN" sz="2800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A</a:t>
            </a:r>
          </a:p>
        </p:txBody>
      </p:sp>
      <p:sp>
        <p:nvSpPr>
          <p:cNvPr id="105" name="AutoShape 315"/>
          <p:cNvSpPr>
            <a:spLocks noChangeArrowheads="1"/>
          </p:cNvSpPr>
          <p:nvPr/>
        </p:nvSpPr>
        <p:spPr bwMode="auto">
          <a:xfrm>
            <a:off x="1819956" y="1586367"/>
            <a:ext cx="503237" cy="504825"/>
          </a:xfrm>
          <a:prstGeom prst="flowChartSummingJunction">
            <a:avLst/>
          </a:prstGeom>
          <a:solidFill>
            <a:srgbClr val="FF0000"/>
          </a:solidFill>
          <a:ln w="38100">
            <a:solidFill>
              <a:srgbClr val="720D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6" name="Oval 316"/>
          <p:cNvSpPr>
            <a:spLocks noChangeArrowheads="1"/>
          </p:cNvSpPr>
          <p:nvPr/>
        </p:nvSpPr>
        <p:spPr bwMode="auto">
          <a:xfrm>
            <a:off x="1200831" y="2151517"/>
            <a:ext cx="1666875" cy="1371600"/>
          </a:xfrm>
          <a:prstGeom prst="ellipse">
            <a:avLst/>
          </a:prstGeom>
          <a:noFill/>
          <a:ln w="19050">
            <a:solidFill>
              <a:srgbClr val="000099"/>
            </a:solidFill>
            <a:prstDash val="lgDashDot"/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7" name="Line 317"/>
          <p:cNvSpPr>
            <a:spLocks noChangeShapeType="1"/>
          </p:cNvSpPr>
          <p:nvPr/>
        </p:nvSpPr>
        <p:spPr bwMode="auto">
          <a:xfrm>
            <a:off x="1596118" y="2656342"/>
            <a:ext cx="0" cy="28575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8" name="Line 318"/>
          <p:cNvSpPr>
            <a:spLocks noChangeShapeType="1"/>
          </p:cNvSpPr>
          <p:nvPr/>
        </p:nvSpPr>
        <p:spPr bwMode="auto">
          <a:xfrm>
            <a:off x="2529568" y="2656342"/>
            <a:ext cx="0" cy="28575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5" name="Group 319"/>
          <p:cNvGrpSpPr>
            <a:grpSpLocks/>
          </p:cNvGrpSpPr>
          <p:nvPr/>
        </p:nvGrpSpPr>
        <p:grpSpPr bwMode="auto">
          <a:xfrm>
            <a:off x="6614208" y="3281812"/>
            <a:ext cx="1633538" cy="523874"/>
            <a:chOff x="4205" y="3445"/>
            <a:chExt cx="1029" cy="330"/>
          </a:xfrm>
        </p:grpSpPr>
        <p:sp>
          <p:nvSpPr>
            <p:cNvPr id="110" name="Text Box 320"/>
            <p:cNvSpPr txBox="1">
              <a:spLocks noChangeArrowheads="1"/>
            </p:cNvSpPr>
            <p:nvPr/>
          </p:nvSpPr>
          <p:spPr bwMode="auto">
            <a:xfrm>
              <a:off x="4205" y="3445"/>
              <a:ext cx="10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  <a:r>
                <a:rPr kumimoji="0" lang="zh-CN" altLang="en-US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＋</a:t>
              </a:r>
              <a:r>
                <a:rPr kumimoji="0" lang="en-US" altLang="zh-CN" sz="2800" b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= 1 </a:t>
              </a:r>
            </a:p>
          </p:txBody>
        </p:sp>
        <p:sp>
          <p:nvSpPr>
            <p:cNvPr id="111" name="Line 321"/>
            <p:cNvSpPr>
              <a:spLocks noChangeShapeType="1"/>
            </p:cNvSpPr>
            <p:nvPr/>
          </p:nvSpPr>
          <p:spPr bwMode="auto">
            <a:xfrm>
              <a:off x="4666" y="3501"/>
              <a:ext cx="1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12" name="Rectangle 322"/>
          <p:cNvSpPr>
            <a:spLocks noChangeArrowheads="1"/>
          </p:cNvSpPr>
          <p:nvPr/>
        </p:nvSpPr>
        <p:spPr bwMode="auto">
          <a:xfrm>
            <a:off x="6395131" y="3819979"/>
            <a:ext cx="206979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 smtClean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    或运算</a:t>
            </a:r>
            <a:endParaRPr lang="zh-CN" altLang="en-US" sz="2800" b="1" i="0" dirty="0">
              <a:solidFill>
                <a:srgbClr val="000099"/>
              </a:solidFill>
              <a:ea typeface="华文中宋" pitchFamily="2" charset="-122"/>
              <a:cs typeface="Times New Roman" pitchFamily="18" charset="0"/>
            </a:endParaRPr>
          </a:p>
          <a:p>
            <a:r>
              <a:rPr lang="zh-CN" altLang="en-US" sz="2800" b="1" i="0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（逻辑加）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10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100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1" dur="10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10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0" dur="10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5" dur="1000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0" dur="10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5" dur="10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0" dur="10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5" dur="10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0" dur="1000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5" dur="1000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5" dur="10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0" dur="1000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79" grpId="1" animBg="1"/>
      <p:bldP spid="79" grpId="2" animBg="1"/>
      <p:bldP spid="80" grpId="0" animBg="1"/>
      <p:bldP spid="80" grpId="1" animBg="1"/>
      <p:bldP spid="80" grpId="2" animBg="1"/>
      <p:bldP spid="81" grpId="0" animBg="1"/>
      <p:bldP spid="81" grpId="1" animBg="1"/>
      <p:bldP spid="81" grpId="2" animBg="1"/>
      <p:bldP spid="92" grpId="0" build="p" autoUpdateAnimBg="0"/>
      <p:bldP spid="93" grpId="0" build="p" autoUpdateAnimBg="0"/>
      <p:bldP spid="103" grpId="0" animBg="1" autoUpdateAnimBg="0"/>
      <p:bldP spid="104" grpId="0" build="p" autoUpdateAnimBg="0"/>
      <p:bldP spid="105" grpId="0" animBg="1"/>
      <p:bldP spid="105" grpId="1" animBg="1"/>
      <p:bldP spid="106" grpId="0" animBg="1"/>
      <p:bldP spid="107" grpId="0" animBg="1"/>
      <p:bldP spid="107" grpId="1" animBg="1"/>
      <p:bldP spid="108" grpId="0" animBg="1"/>
      <p:bldP spid="108" grpId="1" animBg="1"/>
      <p:bldP spid="112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90274" y="290286"/>
            <a:ext cx="4174898" cy="547688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r>
              <a:rPr kumimoji="0" lang="zh-CN" altLang="en-US" sz="2800" b="1" i="0" kern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二极管“或” 门电路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06174" y="929592"/>
            <a:ext cx="18902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sz="2800" b="1" i="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a</a:t>
            </a:r>
            <a:r>
              <a:rPr lang="zh-CN" altLang="en-US" sz="2800" b="1" i="0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b="1" i="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电路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685797" y="1578426"/>
            <a:ext cx="827088" cy="1819275"/>
            <a:chOff x="528" y="1632"/>
            <a:chExt cx="521" cy="1146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528" y="2064"/>
              <a:ext cx="52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0V</a:t>
              </a: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528" y="1632"/>
              <a:ext cx="45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0V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528" y="2448"/>
              <a:ext cx="50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0V</a:t>
              </a:r>
            </a:p>
          </p:txBody>
        </p:sp>
      </p:grp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685800" y="1600197"/>
            <a:ext cx="762001" cy="1895475"/>
            <a:chOff x="576" y="1584"/>
            <a:chExt cx="480" cy="1194"/>
          </a:xfrm>
        </p:grpSpPr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576" y="1584"/>
            <a:ext cx="398" cy="1104"/>
          </p:xfrm>
          <a:graphic>
            <a:graphicData uri="http://schemas.openxmlformats.org/presentationml/2006/ole">
              <p:oleObj spid="_x0000_s35841" name="BMP 图象" r:id="rId3" imgW="314286" imgH="1000000" progId="PBrush">
                <p:embed/>
              </p:oleObj>
            </a:graphicData>
          </a:graphic>
        </p:graphicFrame>
        <p:grpSp>
          <p:nvGrpSpPr>
            <p:cNvPr id="10" name="Group 10"/>
            <p:cNvGrpSpPr>
              <a:grpSpLocks/>
            </p:cNvGrpSpPr>
            <p:nvPr/>
          </p:nvGrpSpPr>
          <p:grpSpPr bwMode="auto">
            <a:xfrm>
              <a:off x="576" y="1632"/>
              <a:ext cx="480" cy="1146"/>
              <a:chOff x="528" y="1632"/>
              <a:chExt cx="480" cy="1146"/>
            </a:xfrm>
          </p:grpSpPr>
          <p:sp>
            <p:nvSpPr>
              <p:cNvPr id="11" name="Text Box 11"/>
              <p:cNvSpPr txBox="1">
                <a:spLocks noChangeArrowheads="1"/>
              </p:cNvSpPr>
              <p:nvPr/>
            </p:nvSpPr>
            <p:spPr bwMode="auto">
              <a:xfrm>
                <a:off x="528" y="2064"/>
                <a:ext cx="43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 dirty="0">
                    <a:solidFill>
                      <a:srgbClr val="FF3300"/>
                    </a:solidFill>
                    <a:ea typeface="华文中宋" pitchFamily="2" charset="-122"/>
                    <a:cs typeface="Times New Roman" pitchFamily="18" charset="0"/>
                  </a:rPr>
                  <a:t>0V</a:t>
                </a:r>
              </a:p>
            </p:txBody>
          </p:sp>
          <p:sp>
            <p:nvSpPr>
              <p:cNvPr id="12" name="Text Box 12"/>
              <p:cNvSpPr txBox="1">
                <a:spLocks noChangeArrowheads="1"/>
              </p:cNvSpPr>
              <p:nvPr/>
            </p:nvSpPr>
            <p:spPr bwMode="auto">
              <a:xfrm>
                <a:off x="528" y="1632"/>
                <a:ext cx="432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 dirty="0">
                    <a:solidFill>
                      <a:srgbClr val="FF3300"/>
                    </a:solidFill>
                    <a:ea typeface="华文中宋" pitchFamily="2" charset="-122"/>
                    <a:cs typeface="Times New Roman" pitchFamily="18" charset="0"/>
                  </a:rPr>
                  <a:t>0V</a:t>
                </a:r>
              </a:p>
            </p:txBody>
          </p:sp>
          <p:sp>
            <p:nvSpPr>
              <p:cNvPr id="13" name="Text Box 13"/>
              <p:cNvSpPr txBox="1">
                <a:spLocks noChangeArrowheads="1"/>
              </p:cNvSpPr>
              <p:nvPr/>
            </p:nvSpPr>
            <p:spPr bwMode="auto">
              <a:xfrm>
                <a:off x="528" y="2448"/>
                <a:ext cx="480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 dirty="0">
                    <a:solidFill>
                      <a:srgbClr val="FF3300"/>
                    </a:solidFill>
                    <a:ea typeface="华文中宋" pitchFamily="2" charset="-122"/>
                    <a:cs typeface="Times New Roman" pitchFamily="18" charset="0"/>
                  </a:rPr>
                  <a:t>3V</a:t>
                </a:r>
              </a:p>
            </p:txBody>
          </p:sp>
        </p:grpSp>
      </p:grp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631372" y="1621969"/>
            <a:ext cx="804863" cy="1895475"/>
            <a:chOff x="576" y="1584"/>
            <a:chExt cx="507" cy="1194"/>
          </a:xfrm>
        </p:grpSpPr>
        <p:graphicFrame>
          <p:nvGraphicFramePr>
            <p:cNvPr id="15" name="Object 15"/>
            <p:cNvGraphicFramePr>
              <a:graphicFrameLocks noChangeAspect="1"/>
            </p:cNvGraphicFramePr>
            <p:nvPr/>
          </p:nvGraphicFramePr>
          <p:xfrm>
            <a:off x="576" y="1584"/>
            <a:ext cx="425" cy="1104"/>
          </p:xfrm>
          <a:graphic>
            <a:graphicData uri="http://schemas.openxmlformats.org/presentationml/2006/ole">
              <p:oleObj spid="_x0000_s35842" name="BMP 图象" r:id="rId4" imgW="314286" imgH="1000000" progId="PBrush">
                <p:embed/>
              </p:oleObj>
            </a:graphicData>
          </a:graphic>
        </p:graphicFrame>
        <p:grpSp>
          <p:nvGrpSpPr>
            <p:cNvPr id="16" name="Group 16"/>
            <p:cNvGrpSpPr>
              <a:grpSpLocks/>
            </p:cNvGrpSpPr>
            <p:nvPr/>
          </p:nvGrpSpPr>
          <p:grpSpPr bwMode="auto">
            <a:xfrm>
              <a:off x="576" y="1632"/>
              <a:ext cx="507" cy="1146"/>
              <a:chOff x="528" y="1632"/>
              <a:chExt cx="507" cy="1146"/>
            </a:xfrm>
          </p:grpSpPr>
          <p:sp>
            <p:nvSpPr>
              <p:cNvPr id="17" name="Text Box 17"/>
              <p:cNvSpPr txBox="1">
                <a:spLocks noChangeArrowheads="1"/>
              </p:cNvSpPr>
              <p:nvPr/>
            </p:nvSpPr>
            <p:spPr bwMode="auto">
              <a:xfrm>
                <a:off x="528" y="2064"/>
                <a:ext cx="507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 dirty="0">
                    <a:solidFill>
                      <a:srgbClr val="FF3300"/>
                    </a:solidFill>
                    <a:ea typeface="华文中宋" pitchFamily="2" charset="-122"/>
                    <a:cs typeface="Times New Roman" pitchFamily="18" charset="0"/>
                  </a:rPr>
                  <a:t>3V</a:t>
                </a:r>
              </a:p>
            </p:txBody>
          </p:sp>
          <p:sp>
            <p:nvSpPr>
              <p:cNvPr id="18" name="Text Box 18"/>
              <p:cNvSpPr txBox="1">
                <a:spLocks noChangeArrowheads="1"/>
              </p:cNvSpPr>
              <p:nvPr/>
            </p:nvSpPr>
            <p:spPr bwMode="auto">
              <a:xfrm>
                <a:off x="528" y="1632"/>
                <a:ext cx="43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 dirty="0">
                    <a:solidFill>
                      <a:srgbClr val="FF3300"/>
                    </a:solidFill>
                    <a:ea typeface="华文中宋" pitchFamily="2" charset="-122"/>
                    <a:cs typeface="Times New Roman" pitchFamily="18" charset="0"/>
                  </a:rPr>
                  <a:t>3V</a:t>
                </a:r>
              </a:p>
            </p:txBody>
          </p:sp>
          <p:sp>
            <p:nvSpPr>
              <p:cNvPr id="19" name="Text Box 19"/>
              <p:cNvSpPr txBox="1">
                <a:spLocks noChangeArrowheads="1"/>
              </p:cNvSpPr>
              <p:nvPr/>
            </p:nvSpPr>
            <p:spPr bwMode="auto">
              <a:xfrm>
                <a:off x="528" y="2448"/>
                <a:ext cx="487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 dirty="0">
                    <a:solidFill>
                      <a:srgbClr val="FF3300"/>
                    </a:solidFill>
                    <a:ea typeface="华文中宋" pitchFamily="2" charset="-122"/>
                    <a:cs typeface="Times New Roman" pitchFamily="18" charset="0"/>
                  </a:rPr>
                  <a:t>3V</a:t>
                </a:r>
              </a:p>
            </p:txBody>
          </p:sp>
        </p:grpSp>
      </p:grp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3505199" y="3254826"/>
            <a:ext cx="72934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0" dirty="0">
                <a:solidFill>
                  <a:srgbClr val="FF3300"/>
                </a:solidFill>
                <a:ea typeface="华文中宋" pitchFamily="2" charset="-122"/>
                <a:cs typeface="Times New Roman" pitchFamily="18" charset="0"/>
              </a:rPr>
              <a:t>0V</a:t>
            </a:r>
          </a:p>
        </p:txBody>
      </p:sp>
      <p:grpSp>
        <p:nvGrpSpPr>
          <p:cNvPr id="21" name="Group 21"/>
          <p:cNvGrpSpPr>
            <a:grpSpLocks/>
          </p:cNvGrpSpPr>
          <p:nvPr/>
        </p:nvGrpSpPr>
        <p:grpSpPr bwMode="auto">
          <a:xfrm>
            <a:off x="5181600" y="1458674"/>
            <a:ext cx="2743200" cy="523876"/>
            <a:chOff x="3264" y="1248"/>
            <a:chExt cx="1728" cy="330"/>
          </a:xfrm>
        </p:grpSpPr>
        <p:grpSp>
          <p:nvGrpSpPr>
            <p:cNvPr id="22" name="Group 22"/>
            <p:cNvGrpSpPr>
              <a:grpSpLocks/>
            </p:cNvGrpSpPr>
            <p:nvPr/>
          </p:nvGrpSpPr>
          <p:grpSpPr bwMode="auto">
            <a:xfrm>
              <a:off x="3264" y="1248"/>
              <a:ext cx="1296" cy="330"/>
              <a:chOff x="3264" y="1248"/>
              <a:chExt cx="1296" cy="330"/>
            </a:xfrm>
          </p:grpSpPr>
          <p:sp>
            <p:nvSpPr>
              <p:cNvPr id="24" name="Text Box 23"/>
              <p:cNvSpPr txBox="1">
                <a:spLocks noChangeArrowheads="1"/>
              </p:cNvSpPr>
              <p:nvPr/>
            </p:nvSpPr>
            <p:spPr bwMode="auto">
              <a:xfrm>
                <a:off x="326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25" name="Text Box 24"/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26" name="Text Box 25"/>
              <p:cNvSpPr txBox="1">
                <a:spLocks noChangeArrowheads="1"/>
              </p:cNvSpPr>
              <p:nvPr/>
            </p:nvSpPr>
            <p:spPr bwMode="auto">
              <a:xfrm>
                <a:off x="4272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23" name="Text Box 26"/>
            <p:cNvSpPr txBox="1">
              <a:spLocks noChangeArrowheads="1"/>
            </p:cNvSpPr>
            <p:nvPr/>
          </p:nvSpPr>
          <p:spPr bwMode="auto">
            <a:xfrm>
              <a:off x="4704" y="124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27" name="Group 27"/>
          <p:cNvGrpSpPr>
            <a:grpSpLocks/>
          </p:cNvGrpSpPr>
          <p:nvPr/>
        </p:nvGrpSpPr>
        <p:grpSpPr bwMode="auto">
          <a:xfrm>
            <a:off x="5181600" y="1839674"/>
            <a:ext cx="2743200" cy="523876"/>
            <a:chOff x="3264" y="1248"/>
            <a:chExt cx="1728" cy="330"/>
          </a:xfrm>
        </p:grpSpPr>
        <p:grpSp>
          <p:nvGrpSpPr>
            <p:cNvPr id="28" name="Group 28"/>
            <p:cNvGrpSpPr>
              <a:grpSpLocks/>
            </p:cNvGrpSpPr>
            <p:nvPr/>
          </p:nvGrpSpPr>
          <p:grpSpPr bwMode="auto">
            <a:xfrm>
              <a:off x="3264" y="1248"/>
              <a:ext cx="1296" cy="330"/>
              <a:chOff x="3264" y="1248"/>
              <a:chExt cx="1296" cy="330"/>
            </a:xfrm>
          </p:grpSpPr>
          <p:sp>
            <p:nvSpPr>
              <p:cNvPr id="30" name="Text Box 29"/>
              <p:cNvSpPr txBox="1">
                <a:spLocks noChangeArrowheads="1"/>
              </p:cNvSpPr>
              <p:nvPr/>
            </p:nvSpPr>
            <p:spPr bwMode="auto">
              <a:xfrm>
                <a:off x="326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31" name="Text Box 30"/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32" name="Text Box 31"/>
              <p:cNvSpPr txBox="1">
                <a:spLocks noChangeArrowheads="1"/>
              </p:cNvSpPr>
              <p:nvPr/>
            </p:nvSpPr>
            <p:spPr bwMode="auto">
              <a:xfrm>
                <a:off x="4272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29" name="Text Box 32"/>
            <p:cNvSpPr txBox="1">
              <a:spLocks noChangeArrowheads="1"/>
            </p:cNvSpPr>
            <p:nvPr/>
          </p:nvSpPr>
          <p:spPr bwMode="auto">
            <a:xfrm>
              <a:off x="4704" y="124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33" name="Group 33"/>
          <p:cNvGrpSpPr>
            <a:grpSpLocks/>
          </p:cNvGrpSpPr>
          <p:nvPr/>
        </p:nvGrpSpPr>
        <p:grpSpPr bwMode="auto">
          <a:xfrm>
            <a:off x="5181600" y="2220673"/>
            <a:ext cx="2743200" cy="2047876"/>
            <a:chOff x="3264" y="1728"/>
            <a:chExt cx="1728" cy="1290"/>
          </a:xfrm>
        </p:grpSpPr>
        <p:grpSp>
          <p:nvGrpSpPr>
            <p:cNvPr id="34" name="Group 34"/>
            <p:cNvGrpSpPr>
              <a:grpSpLocks/>
            </p:cNvGrpSpPr>
            <p:nvPr/>
          </p:nvGrpSpPr>
          <p:grpSpPr bwMode="auto">
            <a:xfrm>
              <a:off x="3264" y="2448"/>
              <a:ext cx="1728" cy="330"/>
              <a:chOff x="3264" y="1248"/>
              <a:chExt cx="1728" cy="330"/>
            </a:xfrm>
          </p:grpSpPr>
          <p:grpSp>
            <p:nvGrpSpPr>
              <p:cNvPr id="59" name="Group 35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61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62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63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</p:grpSp>
          <p:sp>
            <p:nvSpPr>
              <p:cNvPr id="60" name="Text Box 39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35" name="Group 40"/>
            <p:cNvGrpSpPr>
              <a:grpSpLocks/>
            </p:cNvGrpSpPr>
            <p:nvPr/>
          </p:nvGrpSpPr>
          <p:grpSpPr bwMode="auto">
            <a:xfrm>
              <a:off x="3264" y="2688"/>
              <a:ext cx="1728" cy="330"/>
              <a:chOff x="3264" y="1248"/>
              <a:chExt cx="1728" cy="330"/>
            </a:xfrm>
          </p:grpSpPr>
          <p:grpSp>
            <p:nvGrpSpPr>
              <p:cNvPr id="54" name="Group 41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56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57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58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55" name="Text Box 45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36" name="Group 46"/>
            <p:cNvGrpSpPr>
              <a:grpSpLocks/>
            </p:cNvGrpSpPr>
            <p:nvPr/>
          </p:nvGrpSpPr>
          <p:grpSpPr bwMode="auto">
            <a:xfrm>
              <a:off x="3264" y="2208"/>
              <a:ext cx="1728" cy="330"/>
              <a:chOff x="3264" y="1248"/>
              <a:chExt cx="1728" cy="330"/>
            </a:xfrm>
          </p:grpSpPr>
          <p:grpSp>
            <p:nvGrpSpPr>
              <p:cNvPr id="49" name="Group 47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51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52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53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50" name="Text Box 51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37" name="Group 52"/>
            <p:cNvGrpSpPr>
              <a:grpSpLocks/>
            </p:cNvGrpSpPr>
            <p:nvPr/>
          </p:nvGrpSpPr>
          <p:grpSpPr bwMode="auto">
            <a:xfrm>
              <a:off x="3264" y="1968"/>
              <a:ext cx="1728" cy="330"/>
              <a:chOff x="3264" y="1248"/>
              <a:chExt cx="1728" cy="330"/>
            </a:xfrm>
          </p:grpSpPr>
          <p:grpSp>
            <p:nvGrpSpPr>
              <p:cNvPr id="44" name="Group 53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46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47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48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</p:grpSp>
          <p:sp>
            <p:nvSpPr>
              <p:cNvPr id="45" name="Text Box 57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38" name="Group 58"/>
            <p:cNvGrpSpPr>
              <a:grpSpLocks/>
            </p:cNvGrpSpPr>
            <p:nvPr/>
          </p:nvGrpSpPr>
          <p:grpSpPr bwMode="auto">
            <a:xfrm>
              <a:off x="3264" y="1728"/>
              <a:ext cx="1728" cy="330"/>
              <a:chOff x="3264" y="1248"/>
              <a:chExt cx="1728" cy="330"/>
            </a:xfrm>
          </p:grpSpPr>
          <p:grpSp>
            <p:nvGrpSpPr>
              <p:cNvPr id="39" name="Group 59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41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42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43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40" name="Text Box 63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</p:grpSp>
      <p:grpSp>
        <p:nvGrpSpPr>
          <p:cNvPr id="64" name="Group 64"/>
          <p:cNvGrpSpPr>
            <a:grpSpLocks/>
          </p:cNvGrpSpPr>
          <p:nvPr/>
        </p:nvGrpSpPr>
        <p:grpSpPr bwMode="auto">
          <a:xfrm>
            <a:off x="5181600" y="4125674"/>
            <a:ext cx="2743200" cy="523876"/>
            <a:chOff x="3264" y="1248"/>
            <a:chExt cx="1728" cy="330"/>
          </a:xfrm>
        </p:grpSpPr>
        <p:grpSp>
          <p:nvGrpSpPr>
            <p:cNvPr id="65" name="Group 65"/>
            <p:cNvGrpSpPr>
              <a:grpSpLocks/>
            </p:cNvGrpSpPr>
            <p:nvPr/>
          </p:nvGrpSpPr>
          <p:grpSpPr bwMode="auto">
            <a:xfrm>
              <a:off x="3264" y="1248"/>
              <a:ext cx="1296" cy="330"/>
              <a:chOff x="3264" y="1248"/>
              <a:chExt cx="1296" cy="330"/>
            </a:xfrm>
          </p:grpSpPr>
          <p:sp>
            <p:nvSpPr>
              <p:cNvPr id="67" name="Text Box 66"/>
              <p:cNvSpPr txBox="1">
                <a:spLocks noChangeArrowheads="1"/>
              </p:cNvSpPr>
              <p:nvPr/>
            </p:nvSpPr>
            <p:spPr bwMode="auto">
              <a:xfrm>
                <a:off x="326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68" name="Text Box 67"/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69" name="Text Box 68"/>
              <p:cNvSpPr txBox="1">
                <a:spLocks noChangeArrowheads="1"/>
              </p:cNvSpPr>
              <p:nvPr/>
            </p:nvSpPr>
            <p:spPr bwMode="auto">
              <a:xfrm>
                <a:off x="4272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66" name="Text Box 69"/>
            <p:cNvSpPr txBox="1">
              <a:spLocks noChangeArrowheads="1"/>
            </p:cNvSpPr>
            <p:nvPr/>
          </p:nvSpPr>
          <p:spPr bwMode="auto">
            <a:xfrm>
              <a:off x="4704" y="124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70" name="Group 70"/>
          <p:cNvGrpSpPr>
            <a:grpSpLocks/>
          </p:cNvGrpSpPr>
          <p:nvPr/>
        </p:nvGrpSpPr>
        <p:grpSpPr bwMode="auto">
          <a:xfrm>
            <a:off x="4876801" y="391872"/>
            <a:ext cx="3382963" cy="4191000"/>
            <a:chOff x="3072" y="576"/>
            <a:chExt cx="2131" cy="2640"/>
          </a:xfrm>
        </p:grpSpPr>
        <p:sp>
          <p:nvSpPr>
            <p:cNvPr id="71" name="Text Box 71"/>
            <p:cNvSpPr txBox="1">
              <a:spLocks noChangeArrowheads="1"/>
            </p:cNvSpPr>
            <p:nvPr/>
          </p:nvSpPr>
          <p:spPr bwMode="auto">
            <a:xfrm>
              <a:off x="3264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dirty="0">
                  <a:ea typeface="华文中宋" pitchFamily="2" charset="-122"/>
                  <a:cs typeface="Times New Roman" pitchFamily="18" charset="0"/>
                </a:rPr>
                <a:t>A</a:t>
              </a:r>
              <a:endParaRPr lang="en-US" altLang="zh-CN" sz="2800" b="1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2" name="Text Box 72"/>
            <p:cNvSpPr txBox="1">
              <a:spLocks noChangeArrowheads="1"/>
            </p:cNvSpPr>
            <p:nvPr/>
          </p:nvSpPr>
          <p:spPr bwMode="auto">
            <a:xfrm>
              <a:off x="3744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dirty="0"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800" b="1" dirty="0">
                <a:solidFill>
                  <a:schemeClr val="accent2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Text Box 73"/>
            <p:cNvSpPr txBox="1">
              <a:spLocks noChangeArrowheads="1"/>
            </p:cNvSpPr>
            <p:nvPr/>
          </p:nvSpPr>
          <p:spPr bwMode="auto">
            <a:xfrm>
              <a:off x="4704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>
                  <a:ea typeface="华文中宋" pitchFamily="2" charset="-122"/>
                  <a:cs typeface="Times New Roman" pitchFamily="18" charset="0"/>
                </a:rPr>
                <a:t>Y</a:t>
              </a:r>
              <a:endParaRPr lang="en-US" altLang="zh-CN" sz="2800" b="1">
                <a:solidFill>
                  <a:schemeClr val="accent2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4" name="Line 74"/>
            <p:cNvSpPr>
              <a:spLocks noChangeShapeType="1"/>
            </p:cNvSpPr>
            <p:nvPr/>
          </p:nvSpPr>
          <p:spPr bwMode="auto">
            <a:xfrm>
              <a:off x="4128" y="912"/>
              <a:ext cx="0" cy="23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5" name="Line 75"/>
            <p:cNvSpPr>
              <a:spLocks noChangeShapeType="1"/>
            </p:cNvSpPr>
            <p:nvPr/>
          </p:nvSpPr>
          <p:spPr bwMode="auto">
            <a:xfrm>
              <a:off x="3600" y="912"/>
              <a:ext cx="0" cy="23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Line 76"/>
            <p:cNvSpPr>
              <a:spLocks noChangeShapeType="1"/>
            </p:cNvSpPr>
            <p:nvPr/>
          </p:nvSpPr>
          <p:spPr bwMode="auto">
            <a:xfrm>
              <a:off x="3216" y="1248"/>
              <a:ext cx="1776" cy="0"/>
            </a:xfrm>
            <a:prstGeom prst="line">
              <a:avLst/>
            </a:prstGeom>
            <a:noFill/>
            <a:ln w="28575" cap="sq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Line 77"/>
            <p:cNvSpPr>
              <a:spLocks noChangeShapeType="1"/>
            </p:cNvSpPr>
            <p:nvPr/>
          </p:nvSpPr>
          <p:spPr bwMode="auto">
            <a:xfrm>
              <a:off x="3072" y="3216"/>
              <a:ext cx="1872" cy="0"/>
            </a:xfrm>
            <a:prstGeom prst="line">
              <a:avLst/>
            </a:prstGeom>
            <a:noFill/>
            <a:ln w="28575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8" name="Line 78"/>
            <p:cNvSpPr>
              <a:spLocks noChangeShapeType="1"/>
            </p:cNvSpPr>
            <p:nvPr/>
          </p:nvSpPr>
          <p:spPr bwMode="auto">
            <a:xfrm>
              <a:off x="4656" y="912"/>
              <a:ext cx="0" cy="23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Text Box 79"/>
            <p:cNvSpPr txBox="1">
              <a:spLocks noChangeArrowheads="1"/>
            </p:cNvSpPr>
            <p:nvPr/>
          </p:nvSpPr>
          <p:spPr bwMode="auto">
            <a:xfrm>
              <a:off x="4272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800" b="1">
                <a:solidFill>
                  <a:schemeClr val="accent2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0" name="Line 80"/>
            <p:cNvSpPr>
              <a:spLocks noChangeShapeType="1"/>
            </p:cNvSpPr>
            <p:nvPr/>
          </p:nvSpPr>
          <p:spPr bwMode="auto">
            <a:xfrm>
              <a:off x="3216" y="912"/>
              <a:ext cx="17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Rectangle 81"/>
            <p:cNvSpPr>
              <a:spLocks noChangeArrowheads="1"/>
            </p:cNvSpPr>
            <p:nvPr/>
          </p:nvSpPr>
          <p:spPr bwMode="auto">
            <a:xfrm>
              <a:off x="3120" y="576"/>
              <a:ext cx="208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altLang="zh-CN" sz="2800" b="1" i="0"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“</a:t>
              </a:r>
              <a:r>
                <a:rPr lang="zh-CN" altLang="en-US" sz="2800" b="1" i="0"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或” 门逻辑状态表</a:t>
              </a:r>
            </a:p>
          </p:txBody>
        </p:sp>
      </p:grpSp>
      <p:grpSp>
        <p:nvGrpSpPr>
          <p:cNvPr id="82" name="Group 82"/>
          <p:cNvGrpSpPr>
            <a:grpSpLocks/>
          </p:cNvGrpSpPr>
          <p:nvPr/>
        </p:nvGrpSpPr>
        <p:grpSpPr bwMode="auto">
          <a:xfrm>
            <a:off x="3505200" y="3254826"/>
            <a:ext cx="708025" cy="523875"/>
            <a:chOff x="2544" y="2304"/>
            <a:chExt cx="446" cy="330"/>
          </a:xfrm>
        </p:grpSpPr>
        <p:graphicFrame>
          <p:nvGraphicFramePr>
            <p:cNvPr id="83" name="Object 83"/>
            <p:cNvGraphicFramePr>
              <a:graphicFrameLocks noChangeAspect="1"/>
            </p:cNvGraphicFramePr>
            <p:nvPr/>
          </p:nvGraphicFramePr>
          <p:xfrm>
            <a:off x="2592" y="2352"/>
            <a:ext cx="288" cy="202"/>
          </p:xfrm>
          <a:graphic>
            <a:graphicData uri="http://schemas.openxmlformats.org/presentationml/2006/ole">
              <p:oleObj spid="_x0000_s35843" name="BMP 图象" r:id="rId5" imgW="380852" imgH="266737" progId="PBrush">
                <p:embed/>
              </p:oleObj>
            </a:graphicData>
          </a:graphic>
        </p:graphicFrame>
        <p:sp>
          <p:nvSpPr>
            <p:cNvPr id="84" name="Text Box 84"/>
            <p:cNvSpPr txBox="1">
              <a:spLocks noChangeArrowheads="1"/>
            </p:cNvSpPr>
            <p:nvPr/>
          </p:nvSpPr>
          <p:spPr bwMode="auto">
            <a:xfrm>
              <a:off x="2544" y="2304"/>
              <a:ext cx="44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3V</a:t>
              </a:r>
            </a:p>
          </p:txBody>
        </p:sp>
      </p:grpSp>
      <p:grpSp>
        <p:nvGrpSpPr>
          <p:cNvPr id="85" name="Group 85"/>
          <p:cNvGrpSpPr>
            <a:grpSpLocks/>
          </p:cNvGrpSpPr>
          <p:nvPr/>
        </p:nvGrpSpPr>
        <p:grpSpPr bwMode="auto">
          <a:xfrm>
            <a:off x="3526975" y="3265712"/>
            <a:ext cx="696913" cy="523875"/>
            <a:chOff x="2544" y="2304"/>
            <a:chExt cx="439" cy="330"/>
          </a:xfrm>
        </p:grpSpPr>
        <p:graphicFrame>
          <p:nvGraphicFramePr>
            <p:cNvPr id="86" name="Object 86"/>
            <p:cNvGraphicFramePr>
              <a:graphicFrameLocks noChangeAspect="1"/>
            </p:cNvGraphicFramePr>
            <p:nvPr/>
          </p:nvGraphicFramePr>
          <p:xfrm>
            <a:off x="2592" y="2352"/>
            <a:ext cx="288" cy="202"/>
          </p:xfrm>
          <a:graphic>
            <a:graphicData uri="http://schemas.openxmlformats.org/presentationml/2006/ole">
              <p:oleObj spid="_x0000_s35844" name="BMP 图象" r:id="rId6" imgW="380852" imgH="266737" progId="PBrush">
                <p:embed/>
              </p:oleObj>
            </a:graphicData>
          </a:graphic>
        </p:graphicFrame>
        <p:sp>
          <p:nvSpPr>
            <p:cNvPr id="87" name="Text Box 87"/>
            <p:cNvSpPr txBox="1">
              <a:spLocks noChangeArrowheads="1"/>
            </p:cNvSpPr>
            <p:nvPr/>
          </p:nvSpPr>
          <p:spPr bwMode="auto">
            <a:xfrm>
              <a:off x="2544" y="2304"/>
              <a:ext cx="43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3V</a:t>
              </a:r>
            </a:p>
          </p:txBody>
        </p:sp>
      </p:grpSp>
      <p:grpSp>
        <p:nvGrpSpPr>
          <p:cNvPr id="88" name="Group 88"/>
          <p:cNvGrpSpPr>
            <a:grpSpLocks/>
          </p:cNvGrpSpPr>
          <p:nvPr/>
        </p:nvGrpSpPr>
        <p:grpSpPr bwMode="auto">
          <a:xfrm>
            <a:off x="1295400" y="1251405"/>
            <a:ext cx="2862263" cy="3524250"/>
            <a:chOff x="768" y="946"/>
            <a:chExt cx="1803" cy="2220"/>
          </a:xfrm>
        </p:grpSpPr>
        <p:sp>
          <p:nvSpPr>
            <p:cNvPr id="89" name="Line 89"/>
            <p:cNvSpPr>
              <a:spLocks noChangeShapeType="1"/>
            </p:cNvSpPr>
            <p:nvPr/>
          </p:nvSpPr>
          <p:spPr bwMode="auto">
            <a:xfrm>
              <a:off x="1872" y="2640"/>
              <a:ext cx="0" cy="157"/>
            </a:xfrm>
            <a:prstGeom prst="line">
              <a:avLst/>
            </a:prstGeom>
            <a:noFill/>
            <a:ln w="38100">
              <a:solidFill>
                <a:srgbClr val="00001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Line 90"/>
            <p:cNvSpPr>
              <a:spLocks noChangeShapeType="1"/>
            </p:cNvSpPr>
            <p:nvPr/>
          </p:nvSpPr>
          <p:spPr bwMode="auto">
            <a:xfrm>
              <a:off x="1872" y="1344"/>
              <a:ext cx="0" cy="982"/>
            </a:xfrm>
            <a:prstGeom prst="line">
              <a:avLst/>
            </a:prstGeom>
            <a:noFill/>
            <a:ln w="38100">
              <a:solidFill>
                <a:srgbClr val="00001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Text Box 91"/>
            <p:cNvSpPr txBox="1">
              <a:spLocks noChangeArrowheads="1"/>
            </p:cNvSpPr>
            <p:nvPr/>
          </p:nvSpPr>
          <p:spPr bwMode="auto">
            <a:xfrm>
              <a:off x="1858" y="2674"/>
              <a:ext cx="658" cy="4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lnSpc>
                  <a:spcPct val="80000"/>
                </a:lnSpc>
              </a:pPr>
              <a:r>
                <a:rPr lang="en-US" altLang="zh-CN" sz="2800" b="1" i="0" dirty="0" smtClean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 -</a:t>
              </a:r>
              <a:r>
                <a:rPr lang="en-US" altLang="zh-CN" sz="2800" b="1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</a:p>
            <a:p>
              <a:pPr algn="l">
                <a:lnSpc>
                  <a:spcPct val="80000"/>
                </a:lnSpc>
              </a:pPr>
              <a:r>
                <a:rPr lang="en-US" altLang="zh-CN" sz="2800" b="1" i="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i="0" dirty="0" smtClean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-12V</a:t>
              </a:r>
              <a:endParaRPr lang="en-US" altLang="zh-CN" sz="2800" i="0" dirty="0">
                <a:solidFill>
                  <a:srgbClr val="FF3300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Text Box 92"/>
            <p:cNvSpPr txBox="1">
              <a:spLocks noChangeArrowheads="1"/>
            </p:cNvSpPr>
            <p:nvPr/>
          </p:nvSpPr>
          <p:spPr bwMode="auto">
            <a:xfrm>
              <a:off x="1920" y="2352"/>
              <a:ext cx="320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R</a:t>
              </a:r>
            </a:p>
          </p:txBody>
        </p:sp>
        <p:sp>
          <p:nvSpPr>
            <p:cNvPr id="93" name="Text Box 93"/>
            <p:cNvSpPr txBox="1">
              <a:spLocks noChangeArrowheads="1"/>
            </p:cNvSpPr>
            <p:nvPr/>
          </p:nvSpPr>
          <p:spPr bwMode="auto">
            <a:xfrm>
              <a:off x="1221" y="946"/>
              <a:ext cx="466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b="1" i="0" baseline="-2500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A</a:t>
              </a:r>
              <a:endParaRPr lang="en-US" altLang="zh-CN" sz="2800" b="1" i="0" dirty="0">
                <a:solidFill>
                  <a:srgbClr val="FF3300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4" name="Rectangle 94"/>
            <p:cNvSpPr>
              <a:spLocks noChangeArrowheads="1"/>
            </p:cNvSpPr>
            <p:nvPr/>
          </p:nvSpPr>
          <p:spPr bwMode="auto">
            <a:xfrm>
              <a:off x="1221" y="1769"/>
              <a:ext cx="38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sz="2800" b="1" i="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b="1" i="0" baseline="-2500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800" b="1" i="0" dirty="0">
                <a:solidFill>
                  <a:srgbClr val="FF3300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5" name="Text Box 95"/>
            <p:cNvSpPr txBox="1">
              <a:spLocks noChangeArrowheads="1"/>
            </p:cNvSpPr>
            <p:nvPr/>
          </p:nvSpPr>
          <p:spPr bwMode="auto">
            <a:xfrm>
              <a:off x="816" y="1152"/>
              <a:ext cx="33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A</a:t>
              </a:r>
            </a:p>
          </p:txBody>
        </p:sp>
        <p:sp>
          <p:nvSpPr>
            <p:cNvPr id="96" name="Text Box 96"/>
            <p:cNvSpPr txBox="1">
              <a:spLocks noChangeArrowheads="1"/>
            </p:cNvSpPr>
            <p:nvPr/>
          </p:nvSpPr>
          <p:spPr bwMode="auto">
            <a:xfrm>
              <a:off x="768" y="1584"/>
              <a:ext cx="38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97" name="Rectangle 97"/>
            <p:cNvSpPr>
              <a:spLocks noChangeArrowheads="1"/>
            </p:cNvSpPr>
            <p:nvPr/>
          </p:nvSpPr>
          <p:spPr bwMode="auto">
            <a:xfrm>
              <a:off x="1824" y="2326"/>
              <a:ext cx="106" cy="314"/>
            </a:xfrm>
            <a:prstGeom prst="rect">
              <a:avLst/>
            </a:prstGeom>
            <a:noFill/>
            <a:ln w="38100">
              <a:solidFill>
                <a:srgbClr val="000018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Rectangle 98"/>
            <p:cNvSpPr>
              <a:spLocks noChangeArrowheads="1"/>
            </p:cNvSpPr>
            <p:nvPr/>
          </p:nvSpPr>
          <p:spPr bwMode="auto">
            <a:xfrm>
              <a:off x="2208" y="2016"/>
              <a:ext cx="363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800" b="1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Y</a:t>
              </a:r>
            </a:p>
          </p:txBody>
        </p:sp>
        <p:sp>
          <p:nvSpPr>
            <p:cNvPr id="99" name="Line 99"/>
            <p:cNvSpPr>
              <a:spLocks noChangeShapeType="1"/>
            </p:cNvSpPr>
            <p:nvPr/>
          </p:nvSpPr>
          <p:spPr bwMode="auto">
            <a:xfrm>
              <a:off x="1872" y="2133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Oval 100"/>
            <p:cNvSpPr>
              <a:spLocks noChangeArrowheads="1"/>
            </p:cNvSpPr>
            <p:nvPr/>
          </p:nvSpPr>
          <p:spPr bwMode="auto">
            <a:xfrm>
              <a:off x="2160" y="2088"/>
              <a:ext cx="73" cy="7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1" name="Oval 101"/>
            <p:cNvSpPr>
              <a:spLocks noChangeArrowheads="1"/>
            </p:cNvSpPr>
            <p:nvPr/>
          </p:nvSpPr>
          <p:spPr bwMode="auto">
            <a:xfrm>
              <a:off x="1832" y="2784"/>
              <a:ext cx="73" cy="7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2" name="Text Box 102"/>
            <p:cNvSpPr txBox="1">
              <a:spLocks noChangeArrowheads="1"/>
            </p:cNvSpPr>
            <p:nvPr/>
          </p:nvSpPr>
          <p:spPr bwMode="auto">
            <a:xfrm>
              <a:off x="1234" y="1371"/>
              <a:ext cx="446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800" b="1" i="0" baseline="-25000" dirty="0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800" b="1" i="0" dirty="0">
                <a:solidFill>
                  <a:srgbClr val="FF3300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3" name="Text Box 103"/>
            <p:cNvSpPr txBox="1">
              <a:spLocks noChangeArrowheads="1"/>
            </p:cNvSpPr>
            <p:nvPr/>
          </p:nvSpPr>
          <p:spPr bwMode="auto">
            <a:xfrm>
              <a:off x="768" y="1968"/>
              <a:ext cx="38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3300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grpSp>
          <p:nvGrpSpPr>
            <p:cNvPr id="104" name="Group 104"/>
            <p:cNvGrpSpPr>
              <a:grpSpLocks/>
            </p:cNvGrpSpPr>
            <p:nvPr/>
          </p:nvGrpSpPr>
          <p:grpSpPr bwMode="auto">
            <a:xfrm>
              <a:off x="1056" y="2017"/>
              <a:ext cx="826" cy="215"/>
              <a:chOff x="1056" y="2017"/>
              <a:chExt cx="826" cy="215"/>
            </a:xfrm>
          </p:grpSpPr>
          <p:sp>
            <p:nvSpPr>
              <p:cNvPr id="117" name="Oval 105"/>
              <p:cNvSpPr>
                <a:spLocks noChangeArrowheads="1"/>
              </p:cNvSpPr>
              <p:nvPr/>
            </p:nvSpPr>
            <p:spPr bwMode="auto">
              <a:xfrm>
                <a:off x="1850" y="2112"/>
                <a:ext cx="32" cy="32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 i="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8" name="Line 106"/>
              <p:cNvSpPr>
                <a:spLocks noChangeShapeType="1"/>
              </p:cNvSpPr>
              <p:nvPr/>
            </p:nvSpPr>
            <p:spPr bwMode="auto">
              <a:xfrm rot="-5391297">
                <a:off x="1496" y="1754"/>
                <a:ext cx="0" cy="747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 i="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9" name="Oval 107"/>
              <p:cNvSpPr>
                <a:spLocks noChangeArrowheads="1"/>
              </p:cNvSpPr>
              <p:nvPr/>
            </p:nvSpPr>
            <p:spPr bwMode="auto">
              <a:xfrm>
                <a:off x="1056" y="2091"/>
                <a:ext cx="73" cy="7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 i="0"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120" name="Group 108"/>
              <p:cNvGrpSpPr>
                <a:grpSpLocks/>
              </p:cNvGrpSpPr>
              <p:nvPr/>
            </p:nvGrpSpPr>
            <p:grpSpPr bwMode="auto">
              <a:xfrm>
                <a:off x="1346" y="2017"/>
                <a:ext cx="216" cy="215"/>
                <a:chOff x="1320" y="3360"/>
                <a:chExt cx="216" cy="192"/>
              </a:xfrm>
            </p:grpSpPr>
            <p:sp>
              <p:nvSpPr>
                <p:cNvPr id="121" name="AutoShape 109"/>
                <p:cNvSpPr>
                  <a:spLocks noChangeArrowheads="1"/>
                </p:cNvSpPr>
                <p:nvPr/>
              </p:nvSpPr>
              <p:spPr bwMode="auto">
                <a:xfrm rot="5400000">
                  <a:off x="1344" y="3360"/>
                  <a:ext cx="144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 i="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22" name="Line 110"/>
                <p:cNvSpPr>
                  <a:spLocks noChangeShapeType="1"/>
                </p:cNvSpPr>
                <p:nvPr/>
              </p:nvSpPr>
              <p:spPr bwMode="auto">
                <a:xfrm>
                  <a:off x="1536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 i="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105" name="Group 111"/>
            <p:cNvGrpSpPr>
              <a:grpSpLocks/>
            </p:cNvGrpSpPr>
            <p:nvPr/>
          </p:nvGrpSpPr>
          <p:grpSpPr bwMode="auto">
            <a:xfrm>
              <a:off x="1056" y="1632"/>
              <a:ext cx="813" cy="215"/>
              <a:chOff x="1056" y="1632"/>
              <a:chExt cx="813" cy="215"/>
            </a:xfrm>
          </p:grpSpPr>
          <p:sp>
            <p:nvSpPr>
              <p:cNvPr id="112" name="Line 112"/>
              <p:cNvSpPr>
                <a:spLocks noChangeShapeType="1"/>
              </p:cNvSpPr>
              <p:nvPr/>
            </p:nvSpPr>
            <p:spPr bwMode="auto">
              <a:xfrm rot="-5391297">
                <a:off x="1496" y="1369"/>
                <a:ext cx="0" cy="747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 i="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3" name="Oval 113"/>
              <p:cNvSpPr>
                <a:spLocks noChangeArrowheads="1"/>
              </p:cNvSpPr>
              <p:nvPr/>
            </p:nvSpPr>
            <p:spPr bwMode="auto">
              <a:xfrm>
                <a:off x="1056" y="1706"/>
                <a:ext cx="73" cy="7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 i="0"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114" name="Group 114"/>
              <p:cNvGrpSpPr>
                <a:grpSpLocks/>
              </p:cNvGrpSpPr>
              <p:nvPr/>
            </p:nvGrpSpPr>
            <p:grpSpPr bwMode="auto">
              <a:xfrm>
                <a:off x="1346" y="1632"/>
                <a:ext cx="216" cy="215"/>
                <a:chOff x="1320" y="3360"/>
                <a:chExt cx="216" cy="192"/>
              </a:xfrm>
            </p:grpSpPr>
            <p:sp>
              <p:nvSpPr>
                <p:cNvPr id="115" name="AutoShape 115"/>
                <p:cNvSpPr>
                  <a:spLocks noChangeArrowheads="1"/>
                </p:cNvSpPr>
                <p:nvPr/>
              </p:nvSpPr>
              <p:spPr bwMode="auto">
                <a:xfrm rot="5400000">
                  <a:off x="1344" y="3360"/>
                  <a:ext cx="144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 i="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16" name="Line 116"/>
                <p:cNvSpPr>
                  <a:spLocks noChangeShapeType="1"/>
                </p:cNvSpPr>
                <p:nvPr/>
              </p:nvSpPr>
              <p:spPr bwMode="auto">
                <a:xfrm>
                  <a:off x="1536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 i="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106" name="Group 117"/>
            <p:cNvGrpSpPr>
              <a:grpSpLocks/>
            </p:cNvGrpSpPr>
            <p:nvPr/>
          </p:nvGrpSpPr>
          <p:grpSpPr bwMode="auto">
            <a:xfrm>
              <a:off x="1056" y="1226"/>
              <a:ext cx="813" cy="215"/>
              <a:chOff x="1056" y="1632"/>
              <a:chExt cx="813" cy="215"/>
            </a:xfrm>
          </p:grpSpPr>
          <p:sp>
            <p:nvSpPr>
              <p:cNvPr id="107" name="Line 118"/>
              <p:cNvSpPr>
                <a:spLocks noChangeShapeType="1"/>
              </p:cNvSpPr>
              <p:nvPr/>
            </p:nvSpPr>
            <p:spPr bwMode="auto">
              <a:xfrm rot="-5391297">
                <a:off x="1496" y="1369"/>
                <a:ext cx="0" cy="747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 i="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8" name="Oval 119"/>
              <p:cNvSpPr>
                <a:spLocks noChangeArrowheads="1"/>
              </p:cNvSpPr>
              <p:nvPr/>
            </p:nvSpPr>
            <p:spPr bwMode="auto">
              <a:xfrm>
                <a:off x="1056" y="1706"/>
                <a:ext cx="73" cy="7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 i="0"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109" name="Group 120"/>
              <p:cNvGrpSpPr>
                <a:grpSpLocks/>
              </p:cNvGrpSpPr>
              <p:nvPr/>
            </p:nvGrpSpPr>
            <p:grpSpPr bwMode="auto">
              <a:xfrm>
                <a:off x="1346" y="1632"/>
                <a:ext cx="216" cy="215"/>
                <a:chOff x="1320" y="3360"/>
                <a:chExt cx="216" cy="192"/>
              </a:xfrm>
            </p:grpSpPr>
            <p:sp>
              <p:nvSpPr>
                <p:cNvPr id="110" name="AutoShape 121"/>
                <p:cNvSpPr>
                  <a:spLocks noChangeArrowheads="1"/>
                </p:cNvSpPr>
                <p:nvPr/>
              </p:nvSpPr>
              <p:spPr bwMode="auto">
                <a:xfrm rot="5400000">
                  <a:off x="1344" y="3360"/>
                  <a:ext cx="144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 i="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11" name="Line 122"/>
                <p:cNvSpPr>
                  <a:spLocks noChangeShapeType="1"/>
                </p:cNvSpPr>
                <p:nvPr/>
              </p:nvSpPr>
              <p:spPr bwMode="auto">
                <a:xfrm>
                  <a:off x="1536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 i="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</p:grpSp>
      <p:grpSp>
        <p:nvGrpSpPr>
          <p:cNvPr id="123" name="Group 123"/>
          <p:cNvGrpSpPr>
            <a:grpSpLocks/>
          </p:cNvGrpSpPr>
          <p:nvPr/>
        </p:nvGrpSpPr>
        <p:grpSpPr bwMode="auto">
          <a:xfrm>
            <a:off x="1828800" y="1883226"/>
            <a:ext cx="1143000" cy="2362200"/>
            <a:chOff x="1152" y="1248"/>
            <a:chExt cx="720" cy="1488"/>
          </a:xfrm>
        </p:grpSpPr>
        <p:sp>
          <p:nvSpPr>
            <p:cNvPr id="124" name="Line 124"/>
            <p:cNvSpPr>
              <a:spLocks noChangeShapeType="1"/>
            </p:cNvSpPr>
            <p:nvPr/>
          </p:nvSpPr>
          <p:spPr bwMode="auto">
            <a:xfrm>
              <a:off x="1152" y="1248"/>
              <a:ext cx="67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5" name="Line 125"/>
            <p:cNvSpPr>
              <a:spLocks noChangeShapeType="1"/>
            </p:cNvSpPr>
            <p:nvPr/>
          </p:nvSpPr>
          <p:spPr bwMode="auto">
            <a:xfrm>
              <a:off x="1152" y="1632"/>
              <a:ext cx="67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6" name="Line 126"/>
            <p:cNvSpPr>
              <a:spLocks noChangeShapeType="1"/>
            </p:cNvSpPr>
            <p:nvPr/>
          </p:nvSpPr>
          <p:spPr bwMode="auto">
            <a:xfrm>
              <a:off x="1152" y="2016"/>
              <a:ext cx="67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7" name="Line 127"/>
            <p:cNvSpPr>
              <a:spLocks noChangeShapeType="1"/>
            </p:cNvSpPr>
            <p:nvPr/>
          </p:nvSpPr>
          <p:spPr bwMode="auto">
            <a:xfrm>
              <a:off x="1872" y="1248"/>
              <a:ext cx="0" cy="14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28" name="Group 128"/>
          <p:cNvGrpSpPr>
            <a:grpSpLocks/>
          </p:cNvGrpSpPr>
          <p:nvPr/>
        </p:nvGrpSpPr>
        <p:grpSpPr bwMode="auto">
          <a:xfrm>
            <a:off x="1905000" y="3178626"/>
            <a:ext cx="990600" cy="990600"/>
            <a:chOff x="1200" y="2064"/>
            <a:chExt cx="624" cy="624"/>
          </a:xfrm>
        </p:grpSpPr>
        <p:sp>
          <p:nvSpPr>
            <p:cNvPr id="129" name="Line 129"/>
            <p:cNvSpPr>
              <a:spLocks noChangeShapeType="1"/>
            </p:cNvSpPr>
            <p:nvPr/>
          </p:nvSpPr>
          <p:spPr bwMode="auto">
            <a:xfrm>
              <a:off x="1200" y="2064"/>
              <a:ext cx="576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0" name="Line 130"/>
            <p:cNvSpPr>
              <a:spLocks noChangeShapeType="1"/>
            </p:cNvSpPr>
            <p:nvPr/>
          </p:nvSpPr>
          <p:spPr bwMode="auto">
            <a:xfrm>
              <a:off x="1824" y="2064"/>
              <a:ext cx="0" cy="6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31" name="Group 131"/>
          <p:cNvGrpSpPr>
            <a:grpSpLocks/>
          </p:cNvGrpSpPr>
          <p:nvPr/>
        </p:nvGrpSpPr>
        <p:grpSpPr bwMode="auto">
          <a:xfrm>
            <a:off x="1828800" y="1883226"/>
            <a:ext cx="1143000" cy="2362200"/>
            <a:chOff x="1152" y="1248"/>
            <a:chExt cx="720" cy="1488"/>
          </a:xfrm>
        </p:grpSpPr>
        <p:sp>
          <p:nvSpPr>
            <p:cNvPr id="132" name="Line 132"/>
            <p:cNvSpPr>
              <a:spLocks noChangeShapeType="1"/>
            </p:cNvSpPr>
            <p:nvPr/>
          </p:nvSpPr>
          <p:spPr bwMode="auto">
            <a:xfrm>
              <a:off x="1152" y="1248"/>
              <a:ext cx="67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3" name="Line 133"/>
            <p:cNvSpPr>
              <a:spLocks noChangeShapeType="1"/>
            </p:cNvSpPr>
            <p:nvPr/>
          </p:nvSpPr>
          <p:spPr bwMode="auto">
            <a:xfrm>
              <a:off x="1152" y="1632"/>
              <a:ext cx="67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4" name="Line 134"/>
            <p:cNvSpPr>
              <a:spLocks noChangeShapeType="1"/>
            </p:cNvSpPr>
            <p:nvPr/>
          </p:nvSpPr>
          <p:spPr bwMode="auto">
            <a:xfrm>
              <a:off x="1152" y="2016"/>
              <a:ext cx="67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5" name="Line 135"/>
            <p:cNvSpPr>
              <a:spLocks noChangeShapeType="1"/>
            </p:cNvSpPr>
            <p:nvPr/>
          </p:nvSpPr>
          <p:spPr bwMode="auto">
            <a:xfrm>
              <a:off x="1872" y="1248"/>
              <a:ext cx="0" cy="148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90274" y="290286"/>
            <a:ext cx="4174898" cy="547688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r>
              <a:rPr kumimoji="0" lang="zh-CN" altLang="en-US" sz="2800" b="1" i="0" kern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二极管“或” 门电路</a:t>
            </a:r>
          </a:p>
        </p:txBody>
      </p:sp>
      <p:sp>
        <p:nvSpPr>
          <p:cNvPr id="136" name="Rectangle 136"/>
          <p:cNvSpPr>
            <a:spLocks noChangeArrowheads="1"/>
          </p:cNvSpPr>
          <p:nvPr/>
        </p:nvSpPr>
        <p:spPr bwMode="auto">
          <a:xfrm>
            <a:off x="556759" y="1101268"/>
            <a:ext cx="25619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zh-CN" altLang="en-US" sz="2800" b="1" i="0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b</a:t>
            </a:r>
            <a:r>
              <a:rPr lang="zh-CN" altLang="en-US" sz="2800" b="1" i="0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b="1" i="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工作原理</a:t>
            </a:r>
          </a:p>
        </p:txBody>
      </p:sp>
      <p:sp>
        <p:nvSpPr>
          <p:cNvPr id="137" name="Text Box 137"/>
          <p:cNvSpPr txBox="1">
            <a:spLocks noChangeArrowheads="1"/>
          </p:cNvSpPr>
          <p:nvPr/>
        </p:nvSpPr>
        <p:spPr bwMode="auto">
          <a:xfrm>
            <a:off x="522515" y="3162299"/>
            <a:ext cx="4212771" cy="1212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输入</a:t>
            </a:r>
            <a:r>
              <a:rPr lang="en-US" altLang="zh-CN" sz="2800" b="1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b="1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b="1" dirty="0" smtClean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b="1" i="0" dirty="0" smtClean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 smtClean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全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为低电平“</a:t>
            </a:r>
            <a:r>
              <a:rPr lang="en-US" altLang="zh-CN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0”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，</a:t>
            </a: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输出 </a:t>
            </a:r>
            <a:r>
              <a:rPr lang="en-US" altLang="zh-CN" sz="2800" b="1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Y</a:t>
            </a:r>
            <a:r>
              <a:rPr lang="en-US" altLang="zh-CN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为“</a:t>
            </a:r>
            <a:r>
              <a:rPr lang="en-US" altLang="zh-CN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0”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。</a:t>
            </a:r>
            <a:endParaRPr lang="zh-CN" altLang="en-US" sz="2800" b="1" i="0" dirty="0">
              <a:solidFill>
                <a:srgbClr val="000018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38" name="Rectangle 138"/>
          <p:cNvSpPr>
            <a:spLocks noChangeArrowheads="1"/>
          </p:cNvSpPr>
          <p:nvPr/>
        </p:nvSpPr>
        <p:spPr bwMode="auto">
          <a:xfrm>
            <a:off x="544286" y="1845126"/>
            <a:ext cx="4016828" cy="1212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输入</a:t>
            </a:r>
            <a:r>
              <a:rPr lang="en-US" altLang="zh-CN" sz="2800" b="1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b="1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b="1" dirty="0" smtClean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b="1" i="0" dirty="0" smtClean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 smtClean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有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一个为“</a:t>
            </a:r>
            <a:r>
              <a:rPr lang="en-US" altLang="zh-CN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1”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，</a:t>
            </a:r>
            <a:r>
              <a:rPr lang="zh-CN" altLang="en-US" sz="2800" b="1" i="0" dirty="0">
                <a:solidFill>
                  <a:srgbClr val="000018"/>
                </a:solidFill>
                <a:ea typeface="华文中宋" pitchFamily="2" charset="-122"/>
                <a:cs typeface="Times New Roman" pitchFamily="18" charset="0"/>
              </a:rPr>
              <a:t>输出 </a:t>
            </a:r>
            <a:r>
              <a:rPr lang="en-US" altLang="zh-CN" sz="2800" b="1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Y</a:t>
            </a:r>
            <a:r>
              <a:rPr lang="en-US" altLang="zh-CN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为“</a:t>
            </a:r>
            <a:r>
              <a:rPr lang="en-US" altLang="zh-CN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1”</a:t>
            </a:r>
            <a:r>
              <a:rPr lang="zh-CN" altLang="en-US" sz="2800" b="1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。</a:t>
            </a:r>
            <a:endParaRPr lang="zh-CN" altLang="en-US" sz="2800" b="1" i="0" dirty="0">
              <a:solidFill>
                <a:srgbClr val="000018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39" name="Group 21"/>
          <p:cNvGrpSpPr>
            <a:grpSpLocks/>
          </p:cNvGrpSpPr>
          <p:nvPr/>
        </p:nvGrpSpPr>
        <p:grpSpPr bwMode="auto">
          <a:xfrm>
            <a:off x="5181600" y="1458674"/>
            <a:ext cx="2743200" cy="523876"/>
            <a:chOff x="3264" y="1248"/>
            <a:chExt cx="1728" cy="330"/>
          </a:xfrm>
        </p:grpSpPr>
        <p:grpSp>
          <p:nvGrpSpPr>
            <p:cNvPr id="140" name="Group 22"/>
            <p:cNvGrpSpPr>
              <a:grpSpLocks/>
            </p:cNvGrpSpPr>
            <p:nvPr/>
          </p:nvGrpSpPr>
          <p:grpSpPr bwMode="auto">
            <a:xfrm>
              <a:off x="3264" y="1248"/>
              <a:ext cx="1296" cy="330"/>
              <a:chOff x="3264" y="1248"/>
              <a:chExt cx="1296" cy="330"/>
            </a:xfrm>
          </p:grpSpPr>
          <p:sp>
            <p:nvSpPr>
              <p:cNvPr id="142" name="Text Box 23"/>
              <p:cNvSpPr txBox="1">
                <a:spLocks noChangeArrowheads="1"/>
              </p:cNvSpPr>
              <p:nvPr/>
            </p:nvSpPr>
            <p:spPr bwMode="auto">
              <a:xfrm>
                <a:off x="326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143" name="Text Box 24"/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144" name="Text Box 25"/>
              <p:cNvSpPr txBox="1">
                <a:spLocks noChangeArrowheads="1"/>
              </p:cNvSpPr>
              <p:nvPr/>
            </p:nvSpPr>
            <p:spPr bwMode="auto">
              <a:xfrm>
                <a:off x="4272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141" name="Text Box 26"/>
            <p:cNvSpPr txBox="1">
              <a:spLocks noChangeArrowheads="1"/>
            </p:cNvSpPr>
            <p:nvPr/>
          </p:nvSpPr>
          <p:spPr bwMode="auto">
            <a:xfrm>
              <a:off x="4704" y="124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45" name="Group 27"/>
          <p:cNvGrpSpPr>
            <a:grpSpLocks/>
          </p:cNvGrpSpPr>
          <p:nvPr/>
        </p:nvGrpSpPr>
        <p:grpSpPr bwMode="auto">
          <a:xfrm>
            <a:off x="5181600" y="1839674"/>
            <a:ext cx="2743200" cy="523876"/>
            <a:chOff x="3264" y="1248"/>
            <a:chExt cx="1728" cy="330"/>
          </a:xfrm>
        </p:grpSpPr>
        <p:grpSp>
          <p:nvGrpSpPr>
            <p:cNvPr id="146" name="Group 28"/>
            <p:cNvGrpSpPr>
              <a:grpSpLocks/>
            </p:cNvGrpSpPr>
            <p:nvPr/>
          </p:nvGrpSpPr>
          <p:grpSpPr bwMode="auto">
            <a:xfrm>
              <a:off x="3264" y="1248"/>
              <a:ext cx="1296" cy="330"/>
              <a:chOff x="3264" y="1248"/>
              <a:chExt cx="1296" cy="330"/>
            </a:xfrm>
          </p:grpSpPr>
          <p:sp>
            <p:nvSpPr>
              <p:cNvPr id="148" name="Text Box 29"/>
              <p:cNvSpPr txBox="1">
                <a:spLocks noChangeArrowheads="1"/>
              </p:cNvSpPr>
              <p:nvPr/>
            </p:nvSpPr>
            <p:spPr bwMode="auto">
              <a:xfrm>
                <a:off x="326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149" name="Text Box 30"/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150" name="Text Box 31"/>
              <p:cNvSpPr txBox="1">
                <a:spLocks noChangeArrowheads="1"/>
              </p:cNvSpPr>
              <p:nvPr/>
            </p:nvSpPr>
            <p:spPr bwMode="auto">
              <a:xfrm>
                <a:off x="4272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147" name="Text Box 32"/>
            <p:cNvSpPr txBox="1">
              <a:spLocks noChangeArrowheads="1"/>
            </p:cNvSpPr>
            <p:nvPr/>
          </p:nvSpPr>
          <p:spPr bwMode="auto">
            <a:xfrm>
              <a:off x="4704" y="124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51" name="Group 33"/>
          <p:cNvGrpSpPr>
            <a:grpSpLocks/>
          </p:cNvGrpSpPr>
          <p:nvPr/>
        </p:nvGrpSpPr>
        <p:grpSpPr bwMode="auto">
          <a:xfrm>
            <a:off x="5181600" y="2220673"/>
            <a:ext cx="2743200" cy="2047876"/>
            <a:chOff x="3264" y="1728"/>
            <a:chExt cx="1728" cy="1290"/>
          </a:xfrm>
        </p:grpSpPr>
        <p:grpSp>
          <p:nvGrpSpPr>
            <p:cNvPr id="152" name="Group 34"/>
            <p:cNvGrpSpPr>
              <a:grpSpLocks/>
            </p:cNvGrpSpPr>
            <p:nvPr/>
          </p:nvGrpSpPr>
          <p:grpSpPr bwMode="auto">
            <a:xfrm>
              <a:off x="3264" y="2448"/>
              <a:ext cx="1728" cy="330"/>
              <a:chOff x="3264" y="1248"/>
              <a:chExt cx="1728" cy="330"/>
            </a:xfrm>
          </p:grpSpPr>
          <p:grpSp>
            <p:nvGrpSpPr>
              <p:cNvPr id="177" name="Group 35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179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80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181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</p:grpSp>
          <p:sp>
            <p:nvSpPr>
              <p:cNvPr id="178" name="Text Box 39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153" name="Group 40"/>
            <p:cNvGrpSpPr>
              <a:grpSpLocks/>
            </p:cNvGrpSpPr>
            <p:nvPr/>
          </p:nvGrpSpPr>
          <p:grpSpPr bwMode="auto">
            <a:xfrm>
              <a:off x="3264" y="2688"/>
              <a:ext cx="1728" cy="330"/>
              <a:chOff x="3264" y="1248"/>
              <a:chExt cx="1728" cy="330"/>
            </a:xfrm>
          </p:grpSpPr>
          <p:grpSp>
            <p:nvGrpSpPr>
              <p:cNvPr id="172" name="Group 41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174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75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76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173" name="Text Box 45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154" name="Group 46"/>
            <p:cNvGrpSpPr>
              <a:grpSpLocks/>
            </p:cNvGrpSpPr>
            <p:nvPr/>
          </p:nvGrpSpPr>
          <p:grpSpPr bwMode="auto">
            <a:xfrm>
              <a:off x="3264" y="2208"/>
              <a:ext cx="1728" cy="330"/>
              <a:chOff x="3264" y="1248"/>
              <a:chExt cx="1728" cy="330"/>
            </a:xfrm>
          </p:grpSpPr>
          <p:grpSp>
            <p:nvGrpSpPr>
              <p:cNvPr id="167" name="Group 47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169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70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171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168" name="Text Box 51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155" name="Group 52"/>
            <p:cNvGrpSpPr>
              <a:grpSpLocks/>
            </p:cNvGrpSpPr>
            <p:nvPr/>
          </p:nvGrpSpPr>
          <p:grpSpPr bwMode="auto">
            <a:xfrm>
              <a:off x="3264" y="1968"/>
              <a:ext cx="1728" cy="330"/>
              <a:chOff x="3264" y="1248"/>
              <a:chExt cx="1728" cy="330"/>
            </a:xfrm>
          </p:grpSpPr>
          <p:grpSp>
            <p:nvGrpSpPr>
              <p:cNvPr id="162" name="Group 53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164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165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66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</p:grpSp>
          <p:sp>
            <p:nvSpPr>
              <p:cNvPr id="163" name="Text Box 57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156" name="Group 58"/>
            <p:cNvGrpSpPr>
              <a:grpSpLocks/>
            </p:cNvGrpSpPr>
            <p:nvPr/>
          </p:nvGrpSpPr>
          <p:grpSpPr bwMode="auto">
            <a:xfrm>
              <a:off x="3264" y="1728"/>
              <a:ext cx="1728" cy="330"/>
              <a:chOff x="3264" y="1248"/>
              <a:chExt cx="1728" cy="330"/>
            </a:xfrm>
          </p:grpSpPr>
          <p:grpSp>
            <p:nvGrpSpPr>
              <p:cNvPr id="157" name="Group 59"/>
              <p:cNvGrpSpPr>
                <a:grpSpLocks/>
              </p:cNvGrpSpPr>
              <p:nvPr/>
            </p:nvGrpSpPr>
            <p:grpSpPr bwMode="auto">
              <a:xfrm>
                <a:off x="3264" y="1248"/>
                <a:ext cx="1296" cy="330"/>
                <a:chOff x="3264" y="1248"/>
                <a:chExt cx="1296" cy="330"/>
              </a:xfrm>
            </p:grpSpPr>
            <p:sp>
              <p:nvSpPr>
                <p:cNvPr id="159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326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16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3744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61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272" y="1248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800" b="1" i="0">
                      <a:solidFill>
                        <a:srgbClr val="000018"/>
                      </a:solidFill>
                      <a:ea typeface="华文中宋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158" name="Text Box 63"/>
              <p:cNvSpPr txBox="1">
                <a:spLocks noChangeArrowheads="1"/>
              </p:cNvSpPr>
              <p:nvPr/>
            </p:nvSpPr>
            <p:spPr bwMode="auto">
              <a:xfrm>
                <a:off x="470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</p:grpSp>
      <p:grpSp>
        <p:nvGrpSpPr>
          <p:cNvPr id="182" name="Group 64"/>
          <p:cNvGrpSpPr>
            <a:grpSpLocks/>
          </p:cNvGrpSpPr>
          <p:nvPr/>
        </p:nvGrpSpPr>
        <p:grpSpPr bwMode="auto">
          <a:xfrm>
            <a:off x="5181600" y="4125674"/>
            <a:ext cx="2743200" cy="523876"/>
            <a:chOff x="3264" y="1248"/>
            <a:chExt cx="1728" cy="330"/>
          </a:xfrm>
        </p:grpSpPr>
        <p:grpSp>
          <p:nvGrpSpPr>
            <p:cNvPr id="183" name="Group 65"/>
            <p:cNvGrpSpPr>
              <a:grpSpLocks/>
            </p:cNvGrpSpPr>
            <p:nvPr/>
          </p:nvGrpSpPr>
          <p:grpSpPr bwMode="auto">
            <a:xfrm>
              <a:off x="3264" y="1248"/>
              <a:ext cx="1296" cy="330"/>
              <a:chOff x="3264" y="1248"/>
              <a:chExt cx="1296" cy="330"/>
            </a:xfrm>
          </p:grpSpPr>
          <p:sp>
            <p:nvSpPr>
              <p:cNvPr id="185" name="Text Box 66"/>
              <p:cNvSpPr txBox="1">
                <a:spLocks noChangeArrowheads="1"/>
              </p:cNvSpPr>
              <p:nvPr/>
            </p:nvSpPr>
            <p:spPr bwMode="auto">
              <a:xfrm>
                <a:off x="326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86" name="Text Box 67"/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87" name="Text Box 68"/>
              <p:cNvSpPr txBox="1">
                <a:spLocks noChangeArrowheads="1"/>
              </p:cNvSpPr>
              <p:nvPr/>
            </p:nvSpPr>
            <p:spPr bwMode="auto">
              <a:xfrm>
                <a:off x="4272" y="1248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0">
                    <a:solidFill>
                      <a:srgbClr val="000018"/>
                    </a:solidFill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184" name="Text Box 69"/>
            <p:cNvSpPr txBox="1">
              <a:spLocks noChangeArrowheads="1"/>
            </p:cNvSpPr>
            <p:nvPr/>
          </p:nvSpPr>
          <p:spPr bwMode="auto">
            <a:xfrm>
              <a:off x="4704" y="124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88" name="Group 70"/>
          <p:cNvGrpSpPr>
            <a:grpSpLocks/>
          </p:cNvGrpSpPr>
          <p:nvPr/>
        </p:nvGrpSpPr>
        <p:grpSpPr bwMode="auto">
          <a:xfrm>
            <a:off x="4876801" y="391872"/>
            <a:ext cx="3382963" cy="4191000"/>
            <a:chOff x="3072" y="576"/>
            <a:chExt cx="2131" cy="2640"/>
          </a:xfrm>
        </p:grpSpPr>
        <p:sp>
          <p:nvSpPr>
            <p:cNvPr id="189" name="Text Box 71"/>
            <p:cNvSpPr txBox="1">
              <a:spLocks noChangeArrowheads="1"/>
            </p:cNvSpPr>
            <p:nvPr/>
          </p:nvSpPr>
          <p:spPr bwMode="auto">
            <a:xfrm>
              <a:off x="3264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dirty="0">
                  <a:ea typeface="华文中宋" pitchFamily="2" charset="-122"/>
                  <a:cs typeface="Times New Roman" pitchFamily="18" charset="0"/>
                </a:rPr>
                <a:t>A</a:t>
              </a:r>
              <a:endParaRPr lang="en-US" altLang="zh-CN" sz="2800" b="1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0" name="Text Box 72"/>
            <p:cNvSpPr txBox="1">
              <a:spLocks noChangeArrowheads="1"/>
            </p:cNvSpPr>
            <p:nvPr/>
          </p:nvSpPr>
          <p:spPr bwMode="auto">
            <a:xfrm>
              <a:off x="3744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dirty="0"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800" b="1" dirty="0">
                <a:solidFill>
                  <a:schemeClr val="accent2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1" name="Text Box 73"/>
            <p:cNvSpPr txBox="1">
              <a:spLocks noChangeArrowheads="1"/>
            </p:cNvSpPr>
            <p:nvPr/>
          </p:nvSpPr>
          <p:spPr bwMode="auto">
            <a:xfrm>
              <a:off x="4704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>
                  <a:ea typeface="华文中宋" pitchFamily="2" charset="-122"/>
                  <a:cs typeface="Times New Roman" pitchFamily="18" charset="0"/>
                </a:rPr>
                <a:t>Y</a:t>
              </a:r>
              <a:endParaRPr lang="en-US" altLang="zh-CN" sz="2800" b="1">
                <a:solidFill>
                  <a:schemeClr val="accent2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2" name="Line 74"/>
            <p:cNvSpPr>
              <a:spLocks noChangeShapeType="1"/>
            </p:cNvSpPr>
            <p:nvPr/>
          </p:nvSpPr>
          <p:spPr bwMode="auto">
            <a:xfrm>
              <a:off x="4128" y="912"/>
              <a:ext cx="0" cy="23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3" name="Line 75"/>
            <p:cNvSpPr>
              <a:spLocks noChangeShapeType="1"/>
            </p:cNvSpPr>
            <p:nvPr/>
          </p:nvSpPr>
          <p:spPr bwMode="auto">
            <a:xfrm>
              <a:off x="3600" y="912"/>
              <a:ext cx="0" cy="23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4" name="Line 76"/>
            <p:cNvSpPr>
              <a:spLocks noChangeShapeType="1"/>
            </p:cNvSpPr>
            <p:nvPr/>
          </p:nvSpPr>
          <p:spPr bwMode="auto">
            <a:xfrm>
              <a:off x="3216" y="1248"/>
              <a:ext cx="1776" cy="0"/>
            </a:xfrm>
            <a:prstGeom prst="line">
              <a:avLst/>
            </a:prstGeom>
            <a:noFill/>
            <a:ln w="28575" cap="sq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5" name="Line 77"/>
            <p:cNvSpPr>
              <a:spLocks noChangeShapeType="1"/>
            </p:cNvSpPr>
            <p:nvPr/>
          </p:nvSpPr>
          <p:spPr bwMode="auto">
            <a:xfrm>
              <a:off x="3072" y="3216"/>
              <a:ext cx="1872" cy="0"/>
            </a:xfrm>
            <a:prstGeom prst="line">
              <a:avLst/>
            </a:prstGeom>
            <a:noFill/>
            <a:ln w="28575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6" name="Line 78"/>
            <p:cNvSpPr>
              <a:spLocks noChangeShapeType="1"/>
            </p:cNvSpPr>
            <p:nvPr/>
          </p:nvSpPr>
          <p:spPr bwMode="auto">
            <a:xfrm>
              <a:off x="4656" y="912"/>
              <a:ext cx="0" cy="23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7" name="Text Box 79"/>
            <p:cNvSpPr txBox="1">
              <a:spLocks noChangeArrowheads="1"/>
            </p:cNvSpPr>
            <p:nvPr/>
          </p:nvSpPr>
          <p:spPr bwMode="auto">
            <a:xfrm>
              <a:off x="4272" y="912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800" b="1">
                <a:solidFill>
                  <a:schemeClr val="accent2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8" name="Line 80"/>
            <p:cNvSpPr>
              <a:spLocks noChangeShapeType="1"/>
            </p:cNvSpPr>
            <p:nvPr/>
          </p:nvSpPr>
          <p:spPr bwMode="auto">
            <a:xfrm>
              <a:off x="3216" y="912"/>
              <a:ext cx="17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9" name="Rectangle 81"/>
            <p:cNvSpPr>
              <a:spLocks noChangeArrowheads="1"/>
            </p:cNvSpPr>
            <p:nvPr/>
          </p:nvSpPr>
          <p:spPr bwMode="auto">
            <a:xfrm>
              <a:off x="3120" y="576"/>
              <a:ext cx="208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altLang="zh-CN" sz="2800" b="1" i="0"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“</a:t>
              </a:r>
              <a:r>
                <a:rPr lang="zh-CN" altLang="en-US" sz="2800" b="1" i="0"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或” 门逻辑状态表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utoUpdateAnimBg="0"/>
      <p:bldP spid="137" grpId="0" autoUpdateAnimBg="0"/>
      <p:bldP spid="13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Box 63"/>
          <p:cNvSpPr txBox="1">
            <a:spLocks noChangeArrowheads="1"/>
          </p:cNvSpPr>
          <p:nvPr/>
        </p:nvSpPr>
        <p:spPr bwMode="auto">
          <a:xfrm>
            <a:off x="766763" y="598488"/>
            <a:ext cx="413446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vl="0" fontAlgn="auto">
              <a:spcBef>
                <a:spcPct val="50000"/>
              </a:spcBef>
              <a:spcAft>
                <a:spcPts val="0"/>
              </a:spcAft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（</a:t>
            </a:r>
            <a:r>
              <a:rPr kumimoji="0" lang="en-US" altLang="zh-CN" sz="2800" b="1" i="0" kern="0" dirty="0" smtClean="0">
                <a:solidFill>
                  <a:srgbClr val="003399"/>
                </a:solidFill>
                <a:ea typeface="华文中宋" pitchFamily="2" charset="-122"/>
                <a:cs typeface="Times New Roman" pitchFamily="18" charset="0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）非逻辑和非门电路  </a:t>
            </a:r>
          </a:p>
        </p:txBody>
      </p:sp>
      <p:sp>
        <p:nvSpPr>
          <p:cNvPr id="78" name="Text Box 74"/>
          <p:cNvSpPr txBox="1">
            <a:spLocks noChangeArrowheads="1"/>
          </p:cNvSpPr>
          <p:nvPr/>
        </p:nvSpPr>
        <p:spPr bwMode="auto">
          <a:xfrm>
            <a:off x="944334" y="3336924"/>
            <a:ext cx="6558206" cy="597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3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实现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非逻辑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关系的电路称为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非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门电路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。  </a:t>
            </a:r>
          </a:p>
        </p:txBody>
      </p:sp>
      <p:sp>
        <p:nvSpPr>
          <p:cNvPr id="107" name="矩形 106"/>
          <p:cNvSpPr/>
          <p:nvPr/>
        </p:nvSpPr>
        <p:spPr>
          <a:xfrm>
            <a:off x="929595" y="1392238"/>
            <a:ext cx="7807325" cy="171777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决定某一事件发生的条件只有一个，当这个条件不满足时事件才会发生，这种逻辑关系称为“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99">
                    <a:lumMod val="75000"/>
                  </a:srgbClr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非逻辑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”。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1"/>
          <p:cNvGrpSpPr>
            <a:grpSpLocks/>
          </p:cNvGrpSpPr>
          <p:nvPr/>
        </p:nvGrpSpPr>
        <p:grpSpPr bwMode="auto">
          <a:xfrm>
            <a:off x="1057275" y="1196295"/>
            <a:ext cx="1893888" cy="2362200"/>
            <a:chOff x="864" y="1284"/>
            <a:chExt cx="1193" cy="1488"/>
          </a:xfrm>
        </p:grpSpPr>
        <p:sp>
          <p:nvSpPr>
            <p:cNvPr id="57" name="Freeform 137"/>
            <p:cNvSpPr>
              <a:spLocks/>
            </p:cNvSpPr>
            <p:nvPr/>
          </p:nvSpPr>
          <p:spPr bwMode="auto">
            <a:xfrm flipV="1">
              <a:off x="1164" y="1576"/>
              <a:ext cx="474" cy="254"/>
            </a:xfrm>
            <a:custGeom>
              <a:avLst/>
              <a:gdLst>
                <a:gd name="T0" fmla="*/ 2 w 474"/>
                <a:gd name="T1" fmla="*/ 0 h 254"/>
                <a:gd name="T2" fmla="*/ 0 w 474"/>
                <a:gd name="T3" fmla="*/ 254 h 254"/>
                <a:gd name="T4" fmla="*/ 474 w 474"/>
                <a:gd name="T5" fmla="*/ 254 h 254"/>
                <a:gd name="T6" fmla="*/ 0 60000 65536"/>
                <a:gd name="T7" fmla="*/ 0 60000 65536"/>
                <a:gd name="T8" fmla="*/ 0 60000 65536"/>
                <a:gd name="T9" fmla="*/ 0 w 474"/>
                <a:gd name="T10" fmla="*/ 0 h 254"/>
                <a:gd name="T11" fmla="*/ 474 w 474"/>
                <a:gd name="T12" fmla="*/ 254 h 2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4" h="254">
                  <a:moveTo>
                    <a:pt x="2" y="0"/>
                  </a:moveTo>
                  <a:lnTo>
                    <a:pt x="0" y="254"/>
                  </a:lnTo>
                  <a:lnTo>
                    <a:pt x="474" y="254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Text Box 121"/>
            <p:cNvSpPr txBox="1">
              <a:spLocks noChangeArrowheads="1"/>
            </p:cNvSpPr>
            <p:nvPr/>
          </p:nvSpPr>
          <p:spPr bwMode="auto">
            <a:xfrm>
              <a:off x="864" y="1741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A</a:t>
              </a:r>
            </a:p>
          </p:txBody>
        </p:sp>
        <p:sp>
          <p:nvSpPr>
            <p:cNvPr id="59" name="Text Box 122"/>
            <p:cNvSpPr txBox="1">
              <a:spLocks noChangeArrowheads="1"/>
            </p:cNvSpPr>
            <p:nvPr/>
          </p:nvSpPr>
          <p:spPr bwMode="auto">
            <a:xfrm>
              <a:off x="1602" y="1284"/>
              <a:ext cx="44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＋</a:t>
              </a:r>
              <a:r>
                <a:rPr kumimoji="0" lang="en-US" altLang="zh-CN" sz="2400" b="1" i="1" u="none" strike="noStrike" kern="0" cap="none" spc="0" normalizeH="0" baseline="0" noProof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U</a:t>
              </a:r>
            </a:p>
          </p:txBody>
        </p:sp>
        <p:sp>
          <p:nvSpPr>
            <p:cNvPr id="60" name="Line 123"/>
            <p:cNvSpPr>
              <a:spLocks noChangeShapeType="1"/>
            </p:cNvSpPr>
            <p:nvPr/>
          </p:nvSpPr>
          <p:spPr bwMode="auto">
            <a:xfrm>
              <a:off x="1640" y="1441"/>
              <a:ext cx="0" cy="132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Freeform 124"/>
            <p:cNvSpPr>
              <a:spLocks/>
            </p:cNvSpPr>
            <p:nvPr/>
          </p:nvSpPr>
          <p:spPr bwMode="auto">
            <a:xfrm>
              <a:off x="1164" y="1978"/>
              <a:ext cx="474" cy="254"/>
            </a:xfrm>
            <a:custGeom>
              <a:avLst/>
              <a:gdLst>
                <a:gd name="T0" fmla="*/ 2 w 474"/>
                <a:gd name="T1" fmla="*/ 0 h 254"/>
                <a:gd name="T2" fmla="*/ 0 w 474"/>
                <a:gd name="T3" fmla="*/ 254 h 254"/>
                <a:gd name="T4" fmla="*/ 474 w 474"/>
                <a:gd name="T5" fmla="*/ 254 h 254"/>
                <a:gd name="T6" fmla="*/ 0 60000 65536"/>
                <a:gd name="T7" fmla="*/ 0 60000 65536"/>
                <a:gd name="T8" fmla="*/ 0 60000 65536"/>
                <a:gd name="T9" fmla="*/ 0 w 474"/>
                <a:gd name="T10" fmla="*/ 0 h 254"/>
                <a:gd name="T11" fmla="*/ 474 w 474"/>
                <a:gd name="T12" fmla="*/ 254 h 2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4" h="254">
                  <a:moveTo>
                    <a:pt x="2" y="0"/>
                  </a:moveTo>
                  <a:lnTo>
                    <a:pt x="0" y="254"/>
                  </a:lnTo>
                  <a:lnTo>
                    <a:pt x="474" y="254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Line 126"/>
            <p:cNvSpPr>
              <a:spLocks noChangeShapeType="1"/>
            </p:cNvSpPr>
            <p:nvPr/>
          </p:nvSpPr>
          <p:spPr bwMode="auto">
            <a:xfrm>
              <a:off x="1535" y="2772"/>
              <a:ext cx="20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Oval 127"/>
            <p:cNvSpPr>
              <a:spLocks noChangeArrowheads="1"/>
            </p:cNvSpPr>
            <p:nvPr/>
          </p:nvSpPr>
          <p:spPr bwMode="auto">
            <a:xfrm>
              <a:off x="1616" y="1398"/>
              <a:ext cx="50" cy="5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Text Box 128"/>
            <p:cNvSpPr txBox="1">
              <a:spLocks noChangeArrowheads="1"/>
            </p:cNvSpPr>
            <p:nvPr/>
          </p:nvSpPr>
          <p:spPr bwMode="auto">
            <a:xfrm>
              <a:off x="1813" y="1801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楷体_GB2312" pitchFamily="49" charset="-122"/>
                </a:rPr>
                <a:t>F</a:t>
              </a:r>
            </a:p>
          </p:txBody>
        </p:sp>
        <p:sp>
          <p:nvSpPr>
            <p:cNvPr id="65" name="AutoShape 129"/>
            <p:cNvSpPr>
              <a:spLocks noChangeArrowheads="1"/>
            </p:cNvSpPr>
            <p:nvPr/>
          </p:nvSpPr>
          <p:spPr bwMode="auto">
            <a:xfrm>
              <a:off x="1479" y="1744"/>
              <a:ext cx="322" cy="318"/>
            </a:xfrm>
            <a:prstGeom prst="flowChartSummingJunction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Rectangle 136"/>
            <p:cNvSpPr>
              <a:spLocks noChangeArrowheads="1"/>
            </p:cNvSpPr>
            <p:nvPr/>
          </p:nvSpPr>
          <p:spPr bwMode="auto">
            <a:xfrm>
              <a:off x="1596" y="2370"/>
              <a:ext cx="90" cy="216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Rectangle 139"/>
            <p:cNvSpPr>
              <a:spLocks noChangeArrowheads="1"/>
            </p:cNvSpPr>
            <p:nvPr/>
          </p:nvSpPr>
          <p:spPr bwMode="auto">
            <a:xfrm>
              <a:off x="1668" y="2328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</a:t>
              </a:r>
            </a:p>
          </p:txBody>
        </p:sp>
        <p:sp>
          <p:nvSpPr>
            <p:cNvPr id="54" name="Oval 127"/>
            <p:cNvSpPr>
              <a:spLocks noChangeArrowheads="1"/>
            </p:cNvSpPr>
            <p:nvPr/>
          </p:nvSpPr>
          <p:spPr bwMode="auto">
            <a:xfrm>
              <a:off x="1628" y="2220"/>
              <a:ext cx="23" cy="2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Oval 127"/>
            <p:cNvSpPr>
              <a:spLocks noChangeArrowheads="1"/>
            </p:cNvSpPr>
            <p:nvPr/>
          </p:nvSpPr>
          <p:spPr bwMode="auto">
            <a:xfrm>
              <a:off x="1628" y="1565"/>
              <a:ext cx="23" cy="2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" name="Group 142"/>
          <p:cNvGrpSpPr>
            <a:grpSpLocks/>
          </p:cNvGrpSpPr>
          <p:nvPr/>
        </p:nvGrpSpPr>
        <p:grpSpPr bwMode="auto">
          <a:xfrm>
            <a:off x="879475" y="4036332"/>
            <a:ext cx="2709863" cy="785813"/>
            <a:chOff x="851" y="3073"/>
            <a:chExt cx="1707" cy="495"/>
          </a:xfrm>
        </p:grpSpPr>
        <p:sp>
          <p:nvSpPr>
            <p:cNvPr id="70" name="Rectangle 65"/>
            <p:cNvSpPr>
              <a:spLocks noChangeArrowheads="1"/>
            </p:cNvSpPr>
            <p:nvPr/>
          </p:nvSpPr>
          <p:spPr bwMode="auto">
            <a:xfrm>
              <a:off x="1524" y="3073"/>
              <a:ext cx="373" cy="495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71" name="Line 67"/>
            <p:cNvSpPr>
              <a:spLocks noChangeShapeType="1"/>
            </p:cNvSpPr>
            <p:nvPr/>
          </p:nvSpPr>
          <p:spPr bwMode="auto">
            <a:xfrm>
              <a:off x="2009" y="3321"/>
              <a:ext cx="2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AutoShape 68"/>
            <p:cNvSpPr>
              <a:spLocks noChangeArrowheads="1"/>
            </p:cNvSpPr>
            <p:nvPr/>
          </p:nvSpPr>
          <p:spPr bwMode="auto">
            <a:xfrm>
              <a:off x="2249" y="3297"/>
              <a:ext cx="48" cy="48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Line 69"/>
            <p:cNvSpPr>
              <a:spLocks noChangeShapeType="1"/>
            </p:cNvSpPr>
            <p:nvPr/>
          </p:nvSpPr>
          <p:spPr bwMode="auto">
            <a:xfrm>
              <a:off x="1142" y="3321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AutoShape 70"/>
            <p:cNvSpPr>
              <a:spLocks noChangeArrowheads="1"/>
            </p:cNvSpPr>
            <p:nvPr/>
          </p:nvSpPr>
          <p:spPr bwMode="auto">
            <a:xfrm>
              <a:off x="1094" y="3297"/>
              <a:ext cx="48" cy="48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Text Box 71"/>
            <p:cNvSpPr txBox="1">
              <a:spLocks noChangeArrowheads="1"/>
            </p:cNvSpPr>
            <p:nvPr/>
          </p:nvSpPr>
          <p:spPr bwMode="auto">
            <a:xfrm>
              <a:off x="851" y="317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楷体_GB2312" pitchFamily="49" charset="-122"/>
                </a:rPr>
                <a:t>A</a:t>
              </a:r>
            </a:p>
          </p:txBody>
        </p:sp>
        <p:sp>
          <p:nvSpPr>
            <p:cNvPr id="76" name="Text Box 72"/>
            <p:cNvSpPr txBox="1">
              <a:spLocks noChangeArrowheads="1"/>
            </p:cNvSpPr>
            <p:nvPr/>
          </p:nvSpPr>
          <p:spPr bwMode="auto">
            <a:xfrm>
              <a:off x="2270" y="3176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楷体_GB2312" pitchFamily="49" charset="-122"/>
                </a:rPr>
                <a:t>F</a:t>
              </a:r>
            </a:p>
          </p:txBody>
        </p:sp>
        <p:sp>
          <p:nvSpPr>
            <p:cNvPr id="77" name="Oval 73"/>
            <p:cNvSpPr>
              <a:spLocks noChangeArrowheads="1"/>
            </p:cNvSpPr>
            <p:nvPr/>
          </p:nvSpPr>
          <p:spPr bwMode="auto">
            <a:xfrm>
              <a:off x="1901" y="3273"/>
              <a:ext cx="96" cy="9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9" name="Rectangle 85"/>
          <p:cNvSpPr>
            <a:spLocks noChangeArrowheads="1"/>
          </p:cNvSpPr>
          <p:nvPr/>
        </p:nvSpPr>
        <p:spPr bwMode="auto">
          <a:xfrm>
            <a:off x="4097338" y="2554748"/>
            <a:ext cx="422275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0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80" name="Rectangle 86"/>
          <p:cNvSpPr>
            <a:spLocks noChangeArrowheads="1"/>
          </p:cNvSpPr>
          <p:nvPr/>
        </p:nvSpPr>
        <p:spPr bwMode="auto">
          <a:xfrm>
            <a:off x="4926013" y="2556335"/>
            <a:ext cx="422275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>
                <a:solidFill>
                  <a:srgbClr val="800000"/>
                </a:solidFill>
                <a:ea typeface="华文中宋" pitchFamily="2" charset="-122"/>
                <a:cs typeface="Times New Roman" pitchFamily="18" charset="0"/>
              </a:rPr>
              <a:t>1</a:t>
            </a:r>
          </a:p>
          <a:p>
            <a:pPr algn="l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0" lang="en-US" altLang="zh-CN" sz="2800" b="1" i="0">
                <a:solidFill>
                  <a:srgbClr val="800000"/>
                </a:solidFill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grpSp>
        <p:nvGrpSpPr>
          <p:cNvPr id="4" name="Group 157"/>
          <p:cNvGrpSpPr>
            <a:grpSpLocks/>
          </p:cNvGrpSpPr>
          <p:nvPr/>
        </p:nvGrpSpPr>
        <p:grpSpPr bwMode="auto">
          <a:xfrm>
            <a:off x="6602419" y="1068367"/>
            <a:ext cx="1095375" cy="523874"/>
            <a:chOff x="4062" y="2832"/>
            <a:chExt cx="690" cy="330"/>
          </a:xfrm>
        </p:grpSpPr>
        <p:sp>
          <p:nvSpPr>
            <p:cNvPr id="82" name="Text Box 88"/>
            <p:cNvSpPr txBox="1">
              <a:spLocks noChangeArrowheads="1"/>
            </p:cNvSpPr>
            <p:nvPr/>
          </p:nvSpPr>
          <p:spPr bwMode="auto">
            <a:xfrm>
              <a:off x="4062" y="2832"/>
              <a:ext cx="69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F</a:t>
              </a: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= </a:t>
              </a:r>
              <a:r>
                <a:rPr kumimoji="0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 </a:t>
              </a:r>
            </a:p>
          </p:txBody>
        </p:sp>
        <p:sp>
          <p:nvSpPr>
            <p:cNvPr id="83" name="Line 89"/>
            <p:cNvSpPr>
              <a:spLocks noChangeShapeType="1"/>
            </p:cNvSpPr>
            <p:nvPr/>
          </p:nvSpPr>
          <p:spPr bwMode="auto">
            <a:xfrm>
              <a:off x="4530" y="2889"/>
              <a:ext cx="147" cy="0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84" name="Rectangle 90"/>
          <p:cNvSpPr>
            <a:spLocks noChangeArrowheads="1"/>
          </p:cNvSpPr>
          <p:nvPr/>
        </p:nvSpPr>
        <p:spPr bwMode="auto">
          <a:xfrm>
            <a:off x="6129798" y="3382960"/>
            <a:ext cx="2210862" cy="99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</a:pPr>
            <a:r>
              <a:rPr lang="zh-CN" altLang="en-US" sz="2800" b="1" i="0" dirty="0" smtClean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    非运算</a:t>
            </a:r>
            <a:endParaRPr lang="zh-CN" altLang="en-US" sz="2800" b="1" i="0" dirty="0">
              <a:solidFill>
                <a:srgbClr val="000099"/>
              </a:solidFill>
              <a:ea typeface="华文中宋" pitchFamily="2" charset="-122"/>
              <a:cs typeface="Times New Roman" pitchFamily="18" charset="0"/>
            </a:endParaRPr>
          </a:p>
          <a:p>
            <a:pPr>
              <a:spcBef>
                <a:spcPct val="10000"/>
              </a:spcBef>
            </a:pPr>
            <a:r>
              <a:rPr lang="zh-CN" altLang="en-US" sz="2800" b="1" i="0" dirty="0">
                <a:solidFill>
                  <a:srgbClr val="000099"/>
                </a:solidFill>
                <a:ea typeface="华文中宋" pitchFamily="2" charset="-122"/>
                <a:cs typeface="Times New Roman" pitchFamily="18" charset="0"/>
              </a:rPr>
              <a:t>（逻辑非）  </a:t>
            </a:r>
          </a:p>
        </p:txBody>
      </p:sp>
      <p:sp>
        <p:nvSpPr>
          <p:cNvPr id="85" name="Oval 91"/>
          <p:cNvSpPr>
            <a:spLocks noChangeArrowheads="1"/>
          </p:cNvSpPr>
          <p:nvPr/>
        </p:nvSpPr>
        <p:spPr bwMode="auto">
          <a:xfrm>
            <a:off x="1028700" y="1605870"/>
            <a:ext cx="723900" cy="1143000"/>
          </a:xfrm>
          <a:prstGeom prst="ellipse">
            <a:avLst/>
          </a:prstGeom>
          <a:noFill/>
          <a:ln w="19050">
            <a:solidFill>
              <a:srgbClr val="000099"/>
            </a:solidFill>
            <a:prstDash val="lgDashDot"/>
            <a:round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6" name="Line 132"/>
          <p:cNvSpPr>
            <a:spLocks noChangeShapeType="1"/>
          </p:cNvSpPr>
          <p:nvPr/>
        </p:nvSpPr>
        <p:spPr bwMode="auto">
          <a:xfrm flipH="1" flipV="1">
            <a:off x="1406525" y="2047195"/>
            <a:ext cx="138113" cy="2571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7" name="Line 134"/>
          <p:cNvSpPr>
            <a:spLocks noChangeShapeType="1"/>
          </p:cNvSpPr>
          <p:nvPr/>
        </p:nvSpPr>
        <p:spPr bwMode="auto">
          <a:xfrm>
            <a:off x="1538288" y="2026557"/>
            <a:ext cx="0" cy="28575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8" name="AutoShape 119"/>
          <p:cNvSpPr>
            <a:spLocks noChangeArrowheads="1"/>
          </p:cNvSpPr>
          <p:nvPr/>
        </p:nvSpPr>
        <p:spPr bwMode="auto">
          <a:xfrm>
            <a:off x="2036763" y="1926545"/>
            <a:ext cx="503237" cy="504825"/>
          </a:xfrm>
          <a:prstGeom prst="flowChartSummingJunction">
            <a:avLst/>
          </a:prstGeom>
          <a:solidFill>
            <a:srgbClr val="FF0000"/>
          </a:solidFill>
          <a:ln w="38100">
            <a:solidFill>
              <a:srgbClr val="720D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5" name="Group 183"/>
          <p:cNvGrpSpPr>
            <a:grpSpLocks/>
          </p:cNvGrpSpPr>
          <p:nvPr/>
        </p:nvGrpSpPr>
        <p:grpSpPr bwMode="auto">
          <a:xfrm>
            <a:off x="3927475" y="1506998"/>
            <a:ext cx="1633538" cy="2044700"/>
            <a:chOff x="2447" y="1322"/>
            <a:chExt cx="1029" cy="1288"/>
          </a:xfrm>
        </p:grpSpPr>
        <p:sp>
          <p:nvSpPr>
            <p:cNvPr id="90" name="Rectangle 144"/>
            <p:cNvSpPr>
              <a:spLocks noChangeArrowheads="1"/>
            </p:cNvSpPr>
            <p:nvPr/>
          </p:nvSpPr>
          <p:spPr bwMode="auto">
            <a:xfrm>
              <a:off x="2551" y="1688"/>
              <a:ext cx="84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DC5900"/>
                </a:buClr>
                <a:buSzPct val="75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  <a:r>
                <a:rPr kumimoji="0" lang="zh-CN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     F</a:t>
              </a:r>
              <a:r>
                <a:rPr kumimoji="0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91" name="Line 151"/>
            <p:cNvSpPr>
              <a:spLocks noChangeShapeType="1"/>
            </p:cNvSpPr>
            <p:nvPr/>
          </p:nvSpPr>
          <p:spPr bwMode="auto">
            <a:xfrm>
              <a:off x="2960" y="1688"/>
              <a:ext cx="0" cy="90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Line 145"/>
            <p:cNvSpPr>
              <a:spLocks noChangeShapeType="1"/>
            </p:cNvSpPr>
            <p:nvPr/>
          </p:nvSpPr>
          <p:spPr bwMode="auto">
            <a:xfrm>
              <a:off x="2447" y="1688"/>
              <a:ext cx="102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3" name="Line 146"/>
            <p:cNvSpPr>
              <a:spLocks noChangeShapeType="1"/>
            </p:cNvSpPr>
            <p:nvPr/>
          </p:nvSpPr>
          <p:spPr bwMode="auto">
            <a:xfrm>
              <a:off x="2447" y="1995"/>
              <a:ext cx="102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4" name="Line 147"/>
            <p:cNvSpPr>
              <a:spLocks noChangeShapeType="1"/>
            </p:cNvSpPr>
            <p:nvPr/>
          </p:nvSpPr>
          <p:spPr bwMode="auto">
            <a:xfrm>
              <a:off x="2447" y="2302"/>
              <a:ext cx="102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5" name="Line 148"/>
            <p:cNvSpPr>
              <a:spLocks noChangeShapeType="1"/>
            </p:cNvSpPr>
            <p:nvPr/>
          </p:nvSpPr>
          <p:spPr bwMode="auto">
            <a:xfrm>
              <a:off x="2447" y="2610"/>
              <a:ext cx="102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Text Box 152"/>
            <p:cNvSpPr txBox="1">
              <a:spLocks noChangeArrowheads="1"/>
            </p:cNvSpPr>
            <p:nvPr/>
          </p:nvSpPr>
          <p:spPr bwMode="auto">
            <a:xfrm>
              <a:off x="2574" y="1322"/>
              <a:ext cx="815" cy="330"/>
            </a:xfrm>
            <a:prstGeom prst="rect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真值表</a:t>
              </a:r>
            </a:p>
          </p:txBody>
        </p:sp>
      </p:grpSp>
      <p:grpSp>
        <p:nvGrpSpPr>
          <p:cNvPr id="6" name="Group 179"/>
          <p:cNvGrpSpPr>
            <a:grpSpLocks/>
          </p:cNvGrpSpPr>
          <p:nvPr/>
        </p:nvGrpSpPr>
        <p:grpSpPr bwMode="auto">
          <a:xfrm>
            <a:off x="6635756" y="1670037"/>
            <a:ext cx="1014413" cy="523876"/>
            <a:chOff x="4009" y="2563"/>
            <a:chExt cx="639" cy="330"/>
          </a:xfrm>
        </p:grpSpPr>
        <p:sp>
          <p:nvSpPr>
            <p:cNvPr id="98" name="Text Box 169"/>
            <p:cNvSpPr txBox="1">
              <a:spLocks noChangeArrowheads="1"/>
            </p:cNvSpPr>
            <p:nvPr/>
          </p:nvSpPr>
          <p:spPr bwMode="auto">
            <a:xfrm>
              <a:off x="4009" y="2563"/>
              <a:ext cx="63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0 = 1 </a:t>
              </a:r>
            </a:p>
          </p:txBody>
        </p:sp>
        <p:sp>
          <p:nvSpPr>
            <p:cNvPr id="99" name="Line 170"/>
            <p:cNvSpPr>
              <a:spLocks noChangeShapeType="1"/>
            </p:cNvSpPr>
            <p:nvPr/>
          </p:nvSpPr>
          <p:spPr bwMode="auto">
            <a:xfrm>
              <a:off x="4077" y="2593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" name="Group 180"/>
          <p:cNvGrpSpPr>
            <a:grpSpLocks/>
          </p:cNvGrpSpPr>
          <p:nvPr/>
        </p:nvGrpSpPr>
        <p:grpSpPr bwMode="auto">
          <a:xfrm>
            <a:off x="6635756" y="2212962"/>
            <a:ext cx="1014413" cy="523876"/>
            <a:chOff x="4009" y="2860"/>
            <a:chExt cx="639" cy="330"/>
          </a:xfrm>
        </p:grpSpPr>
        <p:sp>
          <p:nvSpPr>
            <p:cNvPr id="101" name="Text Box 172"/>
            <p:cNvSpPr txBox="1">
              <a:spLocks noChangeArrowheads="1"/>
            </p:cNvSpPr>
            <p:nvPr/>
          </p:nvSpPr>
          <p:spPr bwMode="auto">
            <a:xfrm>
              <a:off x="4009" y="2860"/>
              <a:ext cx="63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1 = 0 </a:t>
              </a:r>
            </a:p>
          </p:txBody>
        </p:sp>
        <p:sp>
          <p:nvSpPr>
            <p:cNvPr id="102" name="Line 173"/>
            <p:cNvSpPr>
              <a:spLocks noChangeShapeType="1"/>
            </p:cNvSpPr>
            <p:nvPr/>
          </p:nvSpPr>
          <p:spPr bwMode="auto">
            <a:xfrm>
              <a:off x="4077" y="2890"/>
              <a:ext cx="13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8" name="Group 182"/>
          <p:cNvGrpSpPr>
            <a:grpSpLocks/>
          </p:cNvGrpSpPr>
          <p:nvPr/>
        </p:nvGrpSpPr>
        <p:grpSpPr bwMode="auto">
          <a:xfrm>
            <a:off x="6635759" y="2808266"/>
            <a:ext cx="1135063" cy="523874"/>
            <a:chOff x="4009" y="3235"/>
            <a:chExt cx="715" cy="330"/>
          </a:xfrm>
        </p:grpSpPr>
        <p:sp>
          <p:nvSpPr>
            <p:cNvPr id="104" name="Text Box 175"/>
            <p:cNvSpPr txBox="1">
              <a:spLocks noChangeArrowheads="1"/>
            </p:cNvSpPr>
            <p:nvPr/>
          </p:nvSpPr>
          <p:spPr bwMode="auto">
            <a:xfrm>
              <a:off x="4009" y="3235"/>
              <a:ext cx="71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 = A </a:t>
              </a:r>
            </a:p>
          </p:txBody>
        </p:sp>
        <p:sp>
          <p:nvSpPr>
            <p:cNvPr id="105" name="Line 176"/>
            <p:cNvSpPr>
              <a:spLocks noChangeShapeType="1"/>
            </p:cNvSpPr>
            <p:nvPr/>
          </p:nvSpPr>
          <p:spPr bwMode="auto">
            <a:xfrm>
              <a:off x="4104" y="3283"/>
              <a:ext cx="1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Line 177"/>
            <p:cNvSpPr>
              <a:spLocks noChangeShapeType="1"/>
            </p:cNvSpPr>
            <p:nvPr/>
          </p:nvSpPr>
          <p:spPr bwMode="auto">
            <a:xfrm>
              <a:off x="4104" y="3244"/>
              <a:ext cx="1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56" name="Text Box 63"/>
          <p:cNvSpPr txBox="1">
            <a:spLocks noChangeArrowheads="1"/>
          </p:cNvSpPr>
          <p:nvPr/>
        </p:nvSpPr>
        <p:spPr bwMode="auto">
          <a:xfrm>
            <a:off x="766763" y="598488"/>
            <a:ext cx="413446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vl="0" fontAlgn="auto">
              <a:spcBef>
                <a:spcPct val="50000"/>
              </a:spcBef>
              <a:spcAft>
                <a:spcPts val="0"/>
              </a:spcAft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（</a:t>
            </a:r>
            <a:r>
              <a:rPr kumimoji="0" lang="en-US" altLang="zh-CN" sz="2800" b="1" i="0" kern="0" dirty="0" smtClean="0">
                <a:solidFill>
                  <a:srgbClr val="003399"/>
                </a:solidFill>
                <a:ea typeface="华文中宋" pitchFamily="2" charset="-122"/>
                <a:cs typeface="Times New Roman" pitchFamily="18" charset="0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rPr>
              <a:t>）非逻辑和非门电路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10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10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utoUpdateAnimBg="0"/>
      <p:bldP spid="80" grpId="0" autoUpdateAnimBg="0"/>
      <p:bldP spid="84" grpId="0" build="p" autoUpdateAnimBg="0" advAuto="2000"/>
      <p:bldP spid="85" grpId="0" animBg="1"/>
      <p:bldP spid="86" grpId="0" animBg="1"/>
      <p:bldP spid="86" grpId="1" animBg="1"/>
      <p:bldP spid="86" grpId="2" animBg="1"/>
      <p:bldP spid="87" grpId="0" animBg="1"/>
      <p:bldP spid="87" grpId="1" animBg="1"/>
      <p:bldP spid="88" grpId="0" animBg="1"/>
      <p:bldP spid="88" grpId="1" animBg="1"/>
      <p:bldP spid="88" grpId="2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2"/>
          <p:cNvSpPr txBox="1">
            <a:spLocks noChangeArrowheads="1"/>
          </p:cNvSpPr>
          <p:nvPr/>
        </p:nvSpPr>
        <p:spPr bwMode="auto">
          <a:xfrm>
            <a:off x="351518" y="391432"/>
            <a:ext cx="3679825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华文中宋" pitchFamily="2" charset="-122"/>
                <a:cs typeface="Times New Roman" pitchFamily="18" charset="0"/>
              </a:rPr>
              <a:t>三极管“非” 门电路</a:t>
            </a:r>
          </a:p>
        </p:txBody>
      </p:sp>
      <p:grpSp>
        <p:nvGrpSpPr>
          <p:cNvPr id="76" name="Group 3"/>
          <p:cNvGrpSpPr>
            <a:grpSpLocks/>
          </p:cNvGrpSpPr>
          <p:nvPr/>
        </p:nvGrpSpPr>
        <p:grpSpPr bwMode="auto">
          <a:xfrm>
            <a:off x="1143000" y="1273620"/>
            <a:ext cx="3084513" cy="3419476"/>
            <a:chOff x="720" y="1008"/>
            <a:chExt cx="1943" cy="2154"/>
          </a:xfrm>
        </p:grpSpPr>
        <p:sp>
          <p:nvSpPr>
            <p:cNvPr id="77" name="Text Box 4"/>
            <p:cNvSpPr txBox="1">
              <a:spLocks noChangeArrowheads="1"/>
            </p:cNvSpPr>
            <p:nvPr/>
          </p:nvSpPr>
          <p:spPr bwMode="auto">
            <a:xfrm>
              <a:off x="2009" y="1008"/>
              <a:ext cx="65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+U</a:t>
              </a:r>
              <a:r>
                <a:rPr kumimoji="0" lang="en-US" altLang="zh-CN" sz="2800" b="1" i="0" u="none" strike="noStrike" kern="0" cap="none" spc="0" normalizeH="0" baseline="-2500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CC</a:t>
              </a:r>
              <a:endParaRPr kumimoji="0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8" name="Text Box 5"/>
            <p:cNvSpPr txBox="1">
              <a:spLocks noChangeArrowheads="1"/>
            </p:cNvSpPr>
            <p:nvPr/>
          </p:nvSpPr>
          <p:spPr bwMode="auto">
            <a:xfrm>
              <a:off x="1392" y="2832"/>
              <a:ext cx="55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-U</a:t>
              </a:r>
              <a:r>
                <a:rPr kumimoji="0" lang="en-US" altLang="zh-CN" sz="2800" b="1" i="0" u="none" strike="noStrike" kern="0" cap="none" spc="0" normalizeH="0" baseline="-2500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BB</a:t>
              </a:r>
              <a:endParaRPr kumimoji="0" lang="en-US" altLang="zh-CN" sz="2800" b="0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Text Box 6"/>
            <p:cNvSpPr txBox="1">
              <a:spLocks noChangeArrowheads="1"/>
            </p:cNvSpPr>
            <p:nvPr/>
          </p:nvSpPr>
          <p:spPr bwMode="auto">
            <a:xfrm>
              <a:off x="720" y="1968"/>
              <a:ext cx="28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  <a:endParaRPr kumimoji="0" lang="en-US" altLang="zh-CN" sz="2800" b="0" i="1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0" name="Text Box 7"/>
            <p:cNvSpPr txBox="1">
              <a:spLocks noChangeArrowheads="1"/>
            </p:cNvSpPr>
            <p:nvPr/>
          </p:nvSpPr>
          <p:spPr bwMode="auto">
            <a:xfrm>
              <a:off x="1152" y="1783"/>
              <a:ext cx="36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18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8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000018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K</a:t>
              </a:r>
            </a:p>
          </p:txBody>
        </p:sp>
        <p:sp>
          <p:nvSpPr>
            <p:cNvPr id="81" name="Rectangle 8"/>
            <p:cNvSpPr>
              <a:spLocks noChangeArrowheads="1"/>
            </p:cNvSpPr>
            <p:nvPr/>
          </p:nvSpPr>
          <p:spPr bwMode="auto">
            <a:xfrm>
              <a:off x="1303" y="2352"/>
              <a:ext cx="35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18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8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000018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grpSp>
          <p:nvGrpSpPr>
            <p:cNvPr id="82" name="Group 9"/>
            <p:cNvGrpSpPr>
              <a:grpSpLocks/>
            </p:cNvGrpSpPr>
            <p:nvPr/>
          </p:nvGrpSpPr>
          <p:grpSpPr bwMode="auto">
            <a:xfrm>
              <a:off x="960" y="1152"/>
              <a:ext cx="1536" cy="1778"/>
              <a:chOff x="1152" y="1006"/>
              <a:chExt cx="1536" cy="1778"/>
            </a:xfrm>
          </p:grpSpPr>
          <p:sp>
            <p:nvSpPr>
              <p:cNvPr id="86" name="Oval 10"/>
              <p:cNvSpPr>
                <a:spLocks noChangeArrowheads="1"/>
              </p:cNvSpPr>
              <p:nvPr/>
            </p:nvSpPr>
            <p:spPr bwMode="auto">
              <a:xfrm rot="5400000">
                <a:off x="2173" y="1008"/>
                <a:ext cx="68" cy="64"/>
              </a:xfrm>
              <a:prstGeom prst="ellips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7" name="Line 11"/>
              <p:cNvSpPr>
                <a:spLocks noChangeShapeType="1"/>
              </p:cNvSpPr>
              <p:nvPr/>
            </p:nvSpPr>
            <p:spPr bwMode="auto">
              <a:xfrm rot="5400000">
                <a:off x="2129" y="1152"/>
                <a:ext cx="155" cy="0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8" name="Rectangle 12"/>
              <p:cNvSpPr>
                <a:spLocks noChangeArrowheads="1"/>
              </p:cNvSpPr>
              <p:nvPr/>
            </p:nvSpPr>
            <p:spPr bwMode="auto">
              <a:xfrm rot="5400000">
                <a:off x="2081" y="1309"/>
                <a:ext cx="252" cy="96"/>
              </a:xfrm>
              <a:prstGeom prst="rect">
                <a:avLst/>
              </a:prstGeom>
              <a:noFill/>
              <a:ln w="38100">
                <a:solidFill>
                  <a:srgbClr val="00001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" name="Line 13"/>
              <p:cNvSpPr>
                <a:spLocks noChangeShapeType="1"/>
              </p:cNvSpPr>
              <p:nvPr/>
            </p:nvSpPr>
            <p:spPr bwMode="auto">
              <a:xfrm rot="5400000">
                <a:off x="2013" y="1677"/>
                <a:ext cx="387" cy="0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0" name="Oval 14"/>
              <p:cNvSpPr>
                <a:spLocks noChangeArrowheads="1"/>
              </p:cNvSpPr>
              <p:nvPr/>
            </p:nvSpPr>
            <p:spPr bwMode="auto">
              <a:xfrm>
                <a:off x="1152" y="1983"/>
                <a:ext cx="68" cy="64"/>
              </a:xfrm>
              <a:prstGeom prst="ellips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1" name="Line 15"/>
              <p:cNvSpPr>
                <a:spLocks noChangeShapeType="1"/>
              </p:cNvSpPr>
              <p:nvPr/>
            </p:nvSpPr>
            <p:spPr bwMode="auto">
              <a:xfrm>
                <a:off x="1220" y="2015"/>
                <a:ext cx="155" cy="0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2" name="Rectangle 16"/>
              <p:cNvSpPr>
                <a:spLocks noChangeArrowheads="1"/>
              </p:cNvSpPr>
              <p:nvPr/>
            </p:nvSpPr>
            <p:spPr bwMode="auto">
              <a:xfrm>
                <a:off x="1377" y="1967"/>
                <a:ext cx="252" cy="96"/>
              </a:xfrm>
              <a:prstGeom prst="rect">
                <a:avLst/>
              </a:prstGeom>
              <a:noFill/>
              <a:ln w="38100">
                <a:solidFill>
                  <a:srgbClr val="00001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3" name="Line 17"/>
              <p:cNvSpPr>
                <a:spLocks noChangeShapeType="1"/>
              </p:cNvSpPr>
              <p:nvPr/>
            </p:nvSpPr>
            <p:spPr bwMode="auto">
              <a:xfrm>
                <a:off x="1629" y="2015"/>
                <a:ext cx="387" cy="0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4" name="Oval 18"/>
              <p:cNvSpPr>
                <a:spLocks noChangeArrowheads="1"/>
              </p:cNvSpPr>
              <p:nvPr/>
            </p:nvSpPr>
            <p:spPr bwMode="auto">
              <a:xfrm rot="-5390621">
                <a:off x="1836" y="2667"/>
                <a:ext cx="69" cy="64"/>
              </a:xfrm>
              <a:prstGeom prst="ellips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5" name="Line 19"/>
              <p:cNvSpPr>
                <a:spLocks noChangeShapeType="1"/>
              </p:cNvSpPr>
              <p:nvPr/>
            </p:nvSpPr>
            <p:spPr bwMode="auto">
              <a:xfrm rot="-5390621">
                <a:off x="1794" y="2588"/>
                <a:ext cx="153" cy="0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6" name="Rectangle 20"/>
              <p:cNvSpPr>
                <a:spLocks noChangeArrowheads="1"/>
              </p:cNvSpPr>
              <p:nvPr/>
            </p:nvSpPr>
            <p:spPr bwMode="auto">
              <a:xfrm rot="-5390621">
                <a:off x="1745" y="2335"/>
                <a:ext cx="252" cy="96"/>
              </a:xfrm>
              <a:prstGeom prst="rect">
                <a:avLst/>
              </a:prstGeom>
              <a:noFill/>
              <a:ln w="38100">
                <a:solidFill>
                  <a:srgbClr val="00001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7" name="Line 21"/>
              <p:cNvSpPr>
                <a:spLocks noChangeShapeType="1"/>
              </p:cNvSpPr>
              <p:nvPr/>
            </p:nvSpPr>
            <p:spPr bwMode="auto">
              <a:xfrm rot="-5390621">
                <a:off x="1750" y="2136"/>
                <a:ext cx="243" cy="0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8" name="Line 22"/>
              <p:cNvSpPr>
                <a:spLocks noChangeShapeType="1"/>
              </p:cNvSpPr>
              <p:nvPr/>
            </p:nvSpPr>
            <p:spPr bwMode="auto">
              <a:xfrm>
                <a:off x="2160" y="2783"/>
                <a:ext cx="96" cy="1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9" name="Line 23"/>
              <p:cNvSpPr>
                <a:spLocks noChangeShapeType="1"/>
              </p:cNvSpPr>
              <p:nvPr/>
            </p:nvSpPr>
            <p:spPr bwMode="auto">
              <a:xfrm>
                <a:off x="2017" y="1871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0" name="Line 24"/>
              <p:cNvSpPr>
                <a:spLocks noChangeShapeType="1"/>
              </p:cNvSpPr>
              <p:nvPr/>
            </p:nvSpPr>
            <p:spPr bwMode="auto">
              <a:xfrm flipV="1">
                <a:off x="2017" y="1871"/>
                <a:ext cx="192" cy="96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1" name="Line 25"/>
              <p:cNvSpPr>
                <a:spLocks noChangeShapeType="1"/>
              </p:cNvSpPr>
              <p:nvPr/>
            </p:nvSpPr>
            <p:spPr bwMode="auto">
              <a:xfrm>
                <a:off x="2209" y="2159"/>
                <a:ext cx="0" cy="624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2" name="Line 26"/>
              <p:cNvSpPr>
                <a:spLocks noChangeShapeType="1"/>
              </p:cNvSpPr>
              <p:nvPr/>
            </p:nvSpPr>
            <p:spPr bwMode="auto">
              <a:xfrm>
                <a:off x="2017" y="2063"/>
                <a:ext cx="192" cy="96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3" name="Oval 27"/>
              <p:cNvSpPr>
                <a:spLocks noChangeArrowheads="1"/>
              </p:cNvSpPr>
              <p:nvPr/>
            </p:nvSpPr>
            <p:spPr bwMode="auto">
              <a:xfrm rot="-10785823">
                <a:off x="2623" y="1679"/>
                <a:ext cx="65" cy="48"/>
              </a:xfrm>
              <a:prstGeom prst="ellips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4" name="Line 28"/>
              <p:cNvSpPr>
                <a:spLocks noChangeShapeType="1"/>
              </p:cNvSpPr>
              <p:nvPr/>
            </p:nvSpPr>
            <p:spPr bwMode="auto">
              <a:xfrm rot="-10785823">
                <a:off x="2209" y="1702"/>
                <a:ext cx="415" cy="0"/>
              </a:xfrm>
              <a:prstGeom prst="line">
                <a:avLst/>
              </a:prstGeom>
              <a:noFill/>
              <a:ln w="38100">
                <a:solidFill>
                  <a:srgbClr val="000018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83" name="Text Box 29"/>
            <p:cNvSpPr txBox="1">
              <a:spLocks noChangeArrowheads="1"/>
            </p:cNvSpPr>
            <p:nvPr/>
          </p:nvSpPr>
          <p:spPr bwMode="auto">
            <a:xfrm>
              <a:off x="2061" y="1344"/>
              <a:ext cx="35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18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8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000018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C</a:t>
              </a:r>
              <a:endPara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18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Text Box 30"/>
            <p:cNvSpPr txBox="1">
              <a:spLocks noChangeArrowheads="1"/>
            </p:cNvSpPr>
            <p:nvPr/>
          </p:nvSpPr>
          <p:spPr bwMode="auto">
            <a:xfrm>
              <a:off x="2400" y="1824"/>
              <a:ext cx="24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Y</a:t>
              </a:r>
              <a:endParaRPr kumimoji="0" lang="en-US" altLang="zh-CN" sz="2800" b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5" name="Text Box 31"/>
            <p:cNvSpPr txBox="1">
              <a:spLocks noChangeArrowheads="1"/>
            </p:cNvSpPr>
            <p:nvPr/>
          </p:nvSpPr>
          <p:spPr bwMode="auto">
            <a:xfrm>
              <a:off x="1968" y="1968"/>
              <a:ext cx="25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T</a:t>
              </a:r>
              <a:endParaRPr kumimoji="0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05" name="Group 32"/>
          <p:cNvGrpSpPr>
            <a:grpSpLocks/>
          </p:cNvGrpSpPr>
          <p:nvPr/>
        </p:nvGrpSpPr>
        <p:grpSpPr bwMode="auto">
          <a:xfrm>
            <a:off x="5965831" y="3083145"/>
            <a:ext cx="1535113" cy="523874"/>
            <a:chOff x="3648" y="2016"/>
            <a:chExt cx="967" cy="330"/>
          </a:xfrm>
        </p:grpSpPr>
        <p:sp>
          <p:nvSpPr>
            <p:cNvPr id="106" name="Text Box 33"/>
            <p:cNvSpPr txBox="1">
              <a:spLocks noChangeArrowheads="1"/>
            </p:cNvSpPr>
            <p:nvPr/>
          </p:nvSpPr>
          <p:spPr bwMode="auto">
            <a:xfrm>
              <a:off x="3648" y="2016"/>
              <a:ext cx="34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  1</a:t>
              </a:r>
            </a:p>
          </p:txBody>
        </p:sp>
        <p:sp>
          <p:nvSpPr>
            <p:cNvPr id="107" name="Text Box 34"/>
            <p:cNvSpPr txBox="1">
              <a:spLocks noChangeArrowheads="1"/>
            </p:cNvSpPr>
            <p:nvPr/>
          </p:nvSpPr>
          <p:spPr bwMode="auto">
            <a:xfrm>
              <a:off x="4272" y="2016"/>
              <a:ext cx="34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  0</a:t>
              </a:r>
            </a:p>
          </p:txBody>
        </p:sp>
      </p:grpSp>
      <p:grpSp>
        <p:nvGrpSpPr>
          <p:cNvPr id="108" name="Group 35"/>
          <p:cNvGrpSpPr>
            <a:grpSpLocks/>
          </p:cNvGrpSpPr>
          <p:nvPr/>
        </p:nvGrpSpPr>
        <p:grpSpPr bwMode="auto">
          <a:xfrm>
            <a:off x="3788230" y="3243934"/>
            <a:ext cx="982663" cy="685800"/>
            <a:chOff x="2496" y="1296"/>
            <a:chExt cx="619" cy="432"/>
          </a:xfrm>
        </p:grpSpPr>
        <p:sp>
          <p:nvSpPr>
            <p:cNvPr id="109" name="AutoShape 36"/>
            <p:cNvSpPr>
              <a:spLocks noChangeArrowheads="1"/>
            </p:cNvSpPr>
            <p:nvPr/>
          </p:nvSpPr>
          <p:spPr bwMode="auto">
            <a:xfrm>
              <a:off x="2496" y="1296"/>
              <a:ext cx="576" cy="432"/>
            </a:xfrm>
            <a:prstGeom prst="wedgeEllipseCallout">
              <a:avLst>
                <a:gd name="adj1" fmla="val -93750"/>
                <a:gd name="adj2" fmla="val -49141"/>
              </a:avLst>
            </a:prstGeom>
            <a:solidFill>
              <a:srgbClr val="FFFF99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 sz="2800" b="1">
                <a:solidFill>
                  <a:srgbClr val="FFFF00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0" name="Rectangle 37"/>
            <p:cNvSpPr>
              <a:spLocks noChangeArrowheads="1"/>
            </p:cNvSpPr>
            <p:nvPr/>
          </p:nvSpPr>
          <p:spPr bwMode="auto">
            <a:xfrm>
              <a:off x="2544" y="1344"/>
              <a:ext cx="57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zh-CN" altLang="en-US" sz="2800" b="1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截止</a:t>
              </a:r>
              <a:endPara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11" name="Group 38"/>
          <p:cNvGrpSpPr>
            <a:grpSpLocks/>
          </p:cNvGrpSpPr>
          <p:nvPr/>
        </p:nvGrpSpPr>
        <p:grpSpPr bwMode="auto">
          <a:xfrm>
            <a:off x="3788231" y="3243935"/>
            <a:ext cx="982663" cy="685800"/>
            <a:chOff x="3888" y="432"/>
            <a:chExt cx="619" cy="432"/>
          </a:xfrm>
        </p:grpSpPr>
        <p:sp>
          <p:nvSpPr>
            <p:cNvPr id="112" name="AutoShape 39"/>
            <p:cNvSpPr>
              <a:spLocks noChangeArrowheads="1"/>
            </p:cNvSpPr>
            <p:nvPr/>
          </p:nvSpPr>
          <p:spPr bwMode="auto">
            <a:xfrm>
              <a:off x="3888" y="432"/>
              <a:ext cx="576" cy="432"/>
            </a:xfrm>
            <a:prstGeom prst="wedgeEllipseCallout">
              <a:avLst>
                <a:gd name="adj1" fmla="val -94941"/>
                <a:gd name="adj2" fmla="val -50728"/>
              </a:avLst>
            </a:prstGeom>
            <a:solidFill>
              <a:srgbClr val="FFCC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3" name="Rectangle 40"/>
            <p:cNvSpPr>
              <a:spLocks noChangeArrowheads="1"/>
            </p:cNvSpPr>
            <p:nvPr/>
          </p:nvSpPr>
          <p:spPr bwMode="auto">
            <a:xfrm>
              <a:off x="3936" y="480"/>
              <a:ext cx="57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饱和</a:t>
              </a:r>
            </a:p>
          </p:txBody>
        </p:sp>
      </p:grpSp>
      <p:sp>
        <p:nvSpPr>
          <p:cNvPr id="117" name="Rectangle 44"/>
          <p:cNvSpPr>
            <a:spLocks noChangeArrowheads="1"/>
          </p:cNvSpPr>
          <p:nvPr/>
        </p:nvSpPr>
        <p:spPr bwMode="auto">
          <a:xfrm>
            <a:off x="609600" y="2950020"/>
            <a:ext cx="684803" cy="523220"/>
          </a:xfrm>
          <a:prstGeom prst="rect">
            <a:avLst/>
          </a:prstGeom>
          <a:noFill/>
          <a:ln w="28575">
            <a:noFill/>
            <a:prstDash val="sysDot"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>
                <a:solidFill>
                  <a:srgbClr val="FF3300"/>
                </a:solidFill>
                <a:ea typeface="华文中宋" pitchFamily="2" charset="-122"/>
                <a:cs typeface="Times New Roman" pitchFamily="18" charset="0"/>
              </a:rPr>
              <a:t>“0”</a:t>
            </a:r>
          </a:p>
        </p:txBody>
      </p:sp>
      <p:grpSp>
        <p:nvGrpSpPr>
          <p:cNvPr id="118" name="Group 45"/>
          <p:cNvGrpSpPr>
            <a:grpSpLocks/>
          </p:cNvGrpSpPr>
          <p:nvPr/>
        </p:nvGrpSpPr>
        <p:grpSpPr bwMode="auto">
          <a:xfrm>
            <a:off x="6096004" y="2656112"/>
            <a:ext cx="1354138" cy="523876"/>
            <a:chOff x="3744" y="1776"/>
            <a:chExt cx="853" cy="330"/>
          </a:xfrm>
        </p:grpSpPr>
        <p:sp>
          <p:nvSpPr>
            <p:cNvPr id="119" name="Text Box 46"/>
            <p:cNvSpPr txBox="1">
              <a:spLocks noChangeArrowheads="1"/>
            </p:cNvSpPr>
            <p:nvPr/>
          </p:nvSpPr>
          <p:spPr bwMode="auto">
            <a:xfrm>
              <a:off x="4368" y="1776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20" name="Text Box 47"/>
            <p:cNvSpPr txBox="1">
              <a:spLocks noChangeArrowheads="1"/>
            </p:cNvSpPr>
            <p:nvPr/>
          </p:nvSpPr>
          <p:spPr bwMode="auto">
            <a:xfrm>
              <a:off x="3744" y="1776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000018"/>
                  </a:solidFill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121" name="Rectangle 48"/>
          <p:cNvSpPr>
            <a:spLocks noChangeArrowheads="1"/>
          </p:cNvSpPr>
          <p:nvPr/>
        </p:nvSpPr>
        <p:spPr bwMode="auto">
          <a:xfrm>
            <a:off x="4267200" y="2569020"/>
            <a:ext cx="684803" cy="523220"/>
          </a:xfrm>
          <a:prstGeom prst="rect">
            <a:avLst/>
          </a:prstGeom>
          <a:noFill/>
          <a:ln w="28575">
            <a:noFill/>
            <a:prstDash val="sysDot"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>
                <a:solidFill>
                  <a:srgbClr val="FF3300"/>
                </a:solidFill>
                <a:ea typeface="华文中宋" pitchFamily="2" charset="-122"/>
                <a:cs typeface="Times New Roman" pitchFamily="18" charset="0"/>
              </a:rPr>
              <a:t>“1”</a:t>
            </a:r>
          </a:p>
        </p:txBody>
      </p:sp>
      <p:sp>
        <p:nvSpPr>
          <p:cNvPr id="122" name="Text Box 49"/>
          <p:cNvSpPr txBox="1">
            <a:spLocks noChangeArrowheads="1"/>
          </p:cNvSpPr>
          <p:nvPr/>
        </p:nvSpPr>
        <p:spPr bwMode="auto">
          <a:xfrm>
            <a:off x="762000" y="1219200"/>
            <a:ext cx="1295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sz="2800" b="1" i="0" dirty="0">
                <a:solidFill>
                  <a:srgbClr val="00660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i="0" dirty="0">
                <a:solidFill>
                  <a:srgbClr val="006600"/>
                </a:solidFill>
                <a:ea typeface="华文中宋" pitchFamily="2" charset="-122"/>
                <a:cs typeface="Times New Roman" pitchFamily="18" charset="0"/>
              </a:rPr>
              <a:t>电路</a:t>
            </a:r>
          </a:p>
        </p:txBody>
      </p:sp>
      <p:grpSp>
        <p:nvGrpSpPr>
          <p:cNvPr id="123" name="Group 50"/>
          <p:cNvGrpSpPr>
            <a:grpSpLocks/>
          </p:cNvGrpSpPr>
          <p:nvPr/>
        </p:nvGrpSpPr>
        <p:grpSpPr bwMode="auto">
          <a:xfrm>
            <a:off x="4191000" y="2645220"/>
            <a:ext cx="914400" cy="523875"/>
            <a:chOff x="2592" y="2688"/>
            <a:chExt cx="576" cy="330"/>
          </a:xfrm>
        </p:grpSpPr>
        <p:graphicFrame>
          <p:nvGraphicFramePr>
            <p:cNvPr id="124" name="Object 51"/>
            <p:cNvGraphicFramePr>
              <a:graphicFrameLocks noChangeAspect="1"/>
            </p:cNvGraphicFramePr>
            <p:nvPr/>
          </p:nvGraphicFramePr>
          <p:xfrm>
            <a:off x="2640" y="2688"/>
            <a:ext cx="384" cy="269"/>
          </p:xfrm>
          <a:graphic>
            <a:graphicData uri="http://schemas.openxmlformats.org/presentationml/2006/ole">
              <p:oleObj spid="_x0000_s41987" name="BMP 图象" r:id="rId3" imgW="380852" imgH="266737" progId="Paint.Picture">
                <p:embed/>
              </p:oleObj>
            </a:graphicData>
          </a:graphic>
        </p:graphicFrame>
        <p:sp>
          <p:nvSpPr>
            <p:cNvPr id="125" name="Text Box 52"/>
            <p:cNvSpPr txBox="1">
              <a:spLocks noChangeArrowheads="1"/>
            </p:cNvSpPr>
            <p:nvPr/>
          </p:nvSpPr>
          <p:spPr bwMode="auto">
            <a:xfrm>
              <a:off x="2592" y="2688"/>
              <a:ext cx="57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“0”</a:t>
              </a:r>
            </a:p>
          </p:txBody>
        </p:sp>
      </p:grpSp>
      <p:grpSp>
        <p:nvGrpSpPr>
          <p:cNvPr id="126" name="Group 53"/>
          <p:cNvGrpSpPr>
            <a:grpSpLocks/>
          </p:cNvGrpSpPr>
          <p:nvPr/>
        </p:nvGrpSpPr>
        <p:grpSpPr bwMode="auto">
          <a:xfrm>
            <a:off x="533400" y="2950020"/>
            <a:ext cx="914400" cy="523875"/>
            <a:chOff x="2592" y="2688"/>
            <a:chExt cx="576" cy="330"/>
          </a:xfrm>
        </p:grpSpPr>
        <p:graphicFrame>
          <p:nvGraphicFramePr>
            <p:cNvPr id="127" name="Object 54"/>
            <p:cNvGraphicFramePr>
              <a:graphicFrameLocks noChangeAspect="1"/>
            </p:cNvGraphicFramePr>
            <p:nvPr/>
          </p:nvGraphicFramePr>
          <p:xfrm>
            <a:off x="2640" y="2688"/>
            <a:ext cx="384" cy="269"/>
          </p:xfrm>
          <a:graphic>
            <a:graphicData uri="http://schemas.openxmlformats.org/presentationml/2006/ole">
              <p:oleObj spid="_x0000_s41988" name="BMP 图象" r:id="rId4" imgW="380852" imgH="266737" progId="Paint.Picture">
                <p:embed/>
              </p:oleObj>
            </a:graphicData>
          </a:graphic>
        </p:graphicFrame>
        <p:sp>
          <p:nvSpPr>
            <p:cNvPr id="128" name="Text Box 55"/>
            <p:cNvSpPr txBox="1">
              <a:spLocks noChangeArrowheads="1"/>
            </p:cNvSpPr>
            <p:nvPr/>
          </p:nvSpPr>
          <p:spPr bwMode="auto">
            <a:xfrm>
              <a:off x="2592" y="2688"/>
              <a:ext cx="57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“1”</a:t>
              </a:r>
            </a:p>
          </p:txBody>
        </p:sp>
      </p:grpSp>
      <p:grpSp>
        <p:nvGrpSpPr>
          <p:cNvPr id="129" name="Group 56"/>
          <p:cNvGrpSpPr>
            <a:grpSpLocks/>
          </p:cNvGrpSpPr>
          <p:nvPr/>
        </p:nvGrpSpPr>
        <p:grpSpPr bwMode="auto">
          <a:xfrm>
            <a:off x="5418142" y="1659160"/>
            <a:ext cx="2709862" cy="1835150"/>
            <a:chOff x="3317" y="1148"/>
            <a:chExt cx="1707" cy="1156"/>
          </a:xfrm>
        </p:grpSpPr>
        <p:grpSp>
          <p:nvGrpSpPr>
            <p:cNvPr id="130" name="Group 57"/>
            <p:cNvGrpSpPr>
              <a:grpSpLocks/>
            </p:cNvGrpSpPr>
            <p:nvPr/>
          </p:nvGrpSpPr>
          <p:grpSpPr bwMode="auto">
            <a:xfrm>
              <a:off x="3504" y="1488"/>
              <a:ext cx="1392" cy="816"/>
              <a:chOff x="3504" y="1488"/>
              <a:chExt cx="1392" cy="816"/>
            </a:xfrm>
          </p:grpSpPr>
          <p:sp>
            <p:nvSpPr>
              <p:cNvPr id="132" name="Text Box 58"/>
              <p:cNvSpPr txBox="1">
                <a:spLocks noChangeArrowheads="1"/>
              </p:cNvSpPr>
              <p:nvPr/>
            </p:nvSpPr>
            <p:spPr bwMode="auto">
              <a:xfrm>
                <a:off x="3744" y="1488"/>
                <a:ext cx="255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1" u="none" strike="noStrike" kern="0" cap="none" spc="0" normalizeH="0" baseline="0" noProof="0" smtClean="0">
                    <a:ln>
                      <a:noFill/>
                    </a:ln>
                    <a:solidFill>
                      <a:srgbClr val="000018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rPr>
                  <a:t>A</a:t>
                </a:r>
              </a:p>
            </p:txBody>
          </p:sp>
          <p:sp>
            <p:nvSpPr>
              <p:cNvPr id="133" name="Text Box 59"/>
              <p:cNvSpPr txBox="1">
                <a:spLocks noChangeArrowheads="1"/>
              </p:cNvSpPr>
              <p:nvPr/>
            </p:nvSpPr>
            <p:spPr bwMode="auto">
              <a:xfrm>
                <a:off x="4368" y="1488"/>
                <a:ext cx="183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1" u="none" strike="noStrike" kern="0" cap="none" spc="0" normalizeH="0" baseline="0" noProof="0" smtClean="0">
                    <a:ln>
                      <a:noFill/>
                    </a:ln>
                    <a:solidFill>
                      <a:srgbClr val="000018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rPr>
                  <a:t>Y</a:t>
                </a:r>
              </a:p>
            </p:txBody>
          </p:sp>
          <p:grpSp>
            <p:nvGrpSpPr>
              <p:cNvPr id="134" name="Group 60"/>
              <p:cNvGrpSpPr>
                <a:grpSpLocks/>
              </p:cNvGrpSpPr>
              <p:nvPr/>
            </p:nvGrpSpPr>
            <p:grpSpPr bwMode="auto">
              <a:xfrm>
                <a:off x="3504" y="1488"/>
                <a:ext cx="1392" cy="816"/>
                <a:chOff x="3792" y="1488"/>
                <a:chExt cx="1392" cy="816"/>
              </a:xfrm>
            </p:grpSpPr>
            <p:sp>
              <p:nvSpPr>
                <p:cNvPr id="135" name="Line 61"/>
                <p:cNvSpPr>
                  <a:spLocks noChangeShapeType="1"/>
                </p:cNvSpPr>
                <p:nvPr/>
              </p:nvSpPr>
              <p:spPr bwMode="auto">
                <a:xfrm>
                  <a:off x="3840" y="1488"/>
                  <a:ext cx="1344" cy="0"/>
                </a:xfrm>
                <a:prstGeom prst="line">
                  <a:avLst/>
                </a:prstGeom>
                <a:noFill/>
                <a:ln w="28575">
                  <a:solidFill>
                    <a:srgbClr val="0033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6" name="Line 62"/>
                <p:cNvSpPr>
                  <a:spLocks noChangeShapeType="1"/>
                </p:cNvSpPr>
                <p:nvPr/>
              </p:nvSpPr>
              <p:spPr bwMode="auto">
                <a:xfrm>
                  <a:off x="4416" y="1488"/>
                  <a:ext cx="0" cy="816"/>
                </a:xfrm>
                <a:prstGeom prst="line">
                  <a:avLst/>
                </a:prstGeom>
                <a:noFill/>
                <a:ln w="28575">
                  <a:solidFill>
                    <a:srgbClr val="000018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7" name="Line 63"/>
                <p:cNvSpPr>
                  <a:spLocks noChangeShapeType="1"/>
                </p:cNvSpPr>
                <p:nvPr/>
              </p:nvSpPr>
              <p:spPr bwMode="auto">
                <a:xfrm>
                  <a:off x="3840" y="1776"/>
                  <a:ext cx="1344" cy="0"/>
                </a:xfrm>
                <a:prstGeom prst="line">
                  <a:avLst/>
                </a:prstGeom>
                <a:noFill/>
                <a:ln w="28575">
                  <a:solidFill>
                    <a:srgbClr val="0033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8" name="Line 64"/>
                <p:cNvSpPr>
                  <a:spLocks noChangeShapeType="1"/>
                </p:cNvSpPr>
                <p:nvPr/>
              </p:nvSpPr>
              <p:spPr bwMode="auto">
                <a:xfrm>
                  <a:off x="3792" y="2304"/>
                  <a:ext cx="1344" cy="0"/>
                </a:xfrm>
                <a:prstGeom prst="line">
                  <a:avLst/>
                </a:prstGeom>
                <a:noFill/>
                <a:ln w="28575">
                  <a:solidFill>
                    <a:srgbClr val="0033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131" name="Rectangle 65"/>
            <p:cNvSpPr>
              <a:spLocks noChangeArrowheads="1"/>
            </p:cNvSpPr>
            <p:nvPr/>
          </p:nvSpPr>
          <p:spPr bwMode="auto">
            <a:xfrm>
              <a:off x="3317" y="1148"/>
              <a:ext cx="1707" cy="3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ea typeface="华文中宋" pitchFamily="2" charset="-122"/>
                  <a:cs typeface="Times New Roman" pitchFamily="18" charset="0"/>
                </a:rPr>
                <a:t>非门逻辑状态表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utoUpdateAnimBg="0"/>
      <p:bldP spid="121" grpId="0" autoUpdateAnimBg="0"/>
      <p:bldP spid="12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2"/>
          <p:cNvSpPr txBox="1">
            <a:spLocks noChangeArrowheads="1"/>
          </p:cNvSpPr>
          <p:nvPr/>
        </p:nvSpPr>
        <p:spPr bwMode="auto">
          <a:xfrm>
            <a:off x="351518" y="391432"/>
            <a:ext cx="3679825" cy="533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华文中宋" pitchFamily="2" charset="-122"/>
                <a:cs typeface="Times New Roman" pitchFamily="18" charset="0"/>
              </a:rPr>
              <a:t>三极管“非” 门电路</a:t>
            </a:r>
          </a:p>
        </p:txBody>
      </p: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1110343" y="2411190"/>
            <a:ext cx="3032126" cy="523876"/>
            <a:chOff x="912" y="3263"/>
            <a:chExt cx="1910" cy="330"/>
          </a:xfrm>
        </p:grpSpPr>
        <p:sp>
          <p:nvSpPr>
            <p:cNvPr id="115" name="Rectangle 42"/>
            <p:cNvSpPr>
              <a:spLocks noChangeArrowheads="1"/>
            </p:cNvSpPr>
            <p:nvPr/>
          </p:nvSpPr>
          <p:spPr bwMode="auto">
            <a:xfrm>
              <a:off x="912" y="3263"/>
              <a:ext cx="191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逻辑表达式：</a:t>
              </a: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Y</a:t>
              </a:r>
              <a:r>
                <a:rPr kumimoji="0" lang="en-US" altLang="zh-CN" sz="2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  <a:endParaRPr kumimoji="0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6" name="Line 43"/>
            <p:cNvSpPr>
              <a:spLocks noChangeShapeType="1"/>
            </p:cNvSpPr>
            <p:nvPr/>
          </p:nvSpPr>
          <p:spPr bwMode="auto">
            <a:xfrm>
              <a:off x="2386" y="3312"/>
              <a:ext cx="144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4" name="Group 66"/>
          <p:cNvGrpSpPr>
            <a:grpSpLocks/>
          </p:cNvGrpSpPr>
          <p:nvPr/>
        </p:nvGrpSpPr>
        <p:grpSpPr bwMode="auto">
          <a:xfrm>
            <a:off x="4980668" y="1344386"/>
            <a:ext cx="2827338" cy="1600200"/>
            <a:chOff x="2966" y="2592"/>
            <a:chExt cx="1781" cy="1008"/>
          </a:xfrm>
        </p:grpSpPr>
        <p:sp>
          <p:nvSpPr>
            <p:cNvPr id="140" name="Text Box 67"/>
            <p:cNvSpPr txBox="1">
              <a:spLocks noChangeArrowheads="1"/>
            </p:cNvSpPr>
            <p:nvPr/>
          </p:nvSpPr>
          <p:spPr bwMode="auto">
            <a:xfrm>
              <a:off x="3072" y="2592"/>
              <a:ext cx="102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逻辑符号</a:t>
              </a: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1" name="Rectangle 68"/>
            <p:cNvSpPr>
              <a:spLocks noChangeArrowheads="1"/>
            </p:cNvSpPr>
            <p:nvPr/>
          </p:nvSpPr>
          <p:spPr bwMode="auto">
            <a:xfrm>
              <a:off x="3643" y="3072"/>
              <a:ext cx="432" cy="528"/>
            </a:xfrm>
            <a:prstGeom prst="rect">
              <a:avLst/>
            </a:prstGeom>
            <a:noFill/>
            <a:ln w="28575">
              <a:solidFill>
                <a:srgbClr val="000018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2" name="Line 69"/>
            <p:cNvSpPr>
              <a:spLocks noChangeShapeType="1"/>
            </p:cNvSpPr>
            <p:nvPr/>
          </p:nvSpPr>
          <p:spPr bwMode="auto">
            <a:xfrm>
              <a:off x="3211" y="3312"/>
              <a:ext cx="432" cy="0"/>
            </a:xfrm>
            <a:prstGeom prst="line">
              <a:avLst/>
            </a:prstGeom>
            <a:noFill/>
            <a:ln w="28575">
              <a:solidFill>
                <a:srgbClr val="00001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3" name="Text Box 70"/>
            <p:cNvSpPr txBox="1">
              <a:spLocks noChangeArrowheads="1"/>
            </p:cNvSpPr>
            <p:nvPr/>
          </p:nvSpPr>
          <p:spPr bwMode="auto">
            <a:xfrm>
              <a:off x="3739" y="3073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1</a:t>
              </a:r>
              <a:endParaRPr kumimoji="0" lang="en-US" altLang="zh-CN" sz="2800" b="0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4" name="Text Box 71"/>
            <p:cNvSpPr txBox="1">
              <a:spLocks noChangeArrowheads="1"/>
            </p:cNvSpPr>
            <p:nvPr/>
          </p:nvSpPr>
          <p:spPr bwMode="auto">
            <a:xfrm>
              <a:off x="2966" y="3149"/>
              <a:ext cx="25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A</a:t>
              </a:r>
              <a:endParaRPr kumimoji="0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5" name="Text Box 72"/>
            <p:cNvSpPr txBox="1">
              <a:spLocks noChangeArrowheads="1"/>
            </p:cNvSpPr>
            <p:nvPr/>
          </p:nvSpPr>
          <p:spPr bwMode="auto">
            <a:xfrm>
              <a:off x="4507" y="3169"/>
              <a:ext cx="24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ea typeface="华文中宋" pitchFamily="2" charset="-122"/>
                  <a:cs typeface="Times New Roman" pitchFamily="18" charset="0"/>
                </a:rPr>
                <a:t>Y</a:t>
              </a:r>
              <a:endParaRPr kumimoji="0" lang="en-US" altLang="zh-CN" sz="2800" b="0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6" name="Line 73"/>
            <p:cNvSpPr>
              <a:spLocks noChangeShapeType="1"/>
            </p:cNvSpPr>
            <p:nvPr/>
          </p:nvSpPr>
          <p:spPr bwMode="auto">
            <a:xfrm>
              <a:off x="4149" y="3313"/>
              <a:ext cx="384" cy="0"/>
            </a:xfrm>
            <a:prstGeom prst="line">
              <a:avLst/>
            </a:prstGeom>
            <a:noFill/>
            <a:ln w="28575">
              <a:solidFill>
                <a:srgbClr val="00001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7" name="Oval 74"/>
            <p:cNvSpPr>
              <a:spLocks noChangeArrowheads="1"/>
            </p:cNvSpPr>
            <p:nvPr/>
          </p:nvSpPr>
          <p:spPr bwMode="auto">
            <a:xfrm>
              <a:off x="4075" y="3274"/>
              <a:ext cx="73" cy="73"/>
            </a:xfrm>
            <a:prstGeom prst="ellipse">
              <a:avLst/>
            </a:prstGeom>
            <a:noFill/>
            <a:ln w="28575">
              <a:solidFill>
                <a:srgbClr val="00001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35386" y="293715"/>
            <a:ext cx="56517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 i="0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2). 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逻辑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代数的基本运算规则</a:t>
            </a:r>
            <a:endParaRPr lang="zh-CN" altLang="en-US" sz="3200" b="1" i="0" dirty="0">
              <a:solidFill>
                <a:srgbClr val="0070C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79463" y="1089025"/>
            <a:ext cx="2642518" cy="3080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10000"/>
              </a:spcBef>
            </a:pPr>
            <a:r>
              <a:rPr lang="en-US" altLang="zh-CN" sz="2800" b="1" i="0" dirty="0">
                <a:solidFill>
                  <a:srgbClr val="000099"/>
                </a:solidFill>
                <a:ea typeface="楷体_GB2312" pitchFamily="49" charset="-122"/>
              </a:rPr>
              <a:t>1)  </a:t>
            </a:r>
            <a:r>
              <a:rPr lang="zh-CN" altLang="en-US" sz="2800" b="1" i="0" dirty="0">
                <a:solidFill>
                  <a:srgbClr val="000099"/>
                </a:solidFill>
                <a:ea typeface="楷体_GB2312" pitchFamily="49" charset="-122"/>
              </a:rPr>
              <a:t>自等律</a:t>
            </a:r>
            <a:r>
              <a:rPr lang="zh-CN" altLang="en-US" sz="2800" b="1" i="0" dirty="0">
                <a:solidFill>
                  <a:srgbClr val="990033"/>
                </a:solidFill>
                <a:ea typeface="楷体_GB2312" pitchFamily="49" charset="-122"/>
              </a:rPr>
              <a:t>   </a:t>
            </a:r>
            <a:endParaRPr lang="en-US" altLang="zh-CN" sz="2800" b="1" i="0" dirty="0">
              <a:solidFill>
                <a:srgbClr val="990033"/>
              </a:solidFill>
              <a:ea typeface="楷体_GB2312" pitchFamily="49" charset="-122"/>
            </a:endParaRPr>
          </a:p>
          <a:p>
            <a:pPr algn="l">
              <a:spcBef>
                <a:spcPct val="10000"/>
              </a:spcBef>
            </a:pPr>
            <a:r>
              <a:rPr lang="en-US" altLang="zh-CN" sz="2800" b="1" i="0" dirty="0">
                <a:solidFill>
                  <a:srgbClr val="990033"/>
                </a:solidFill>
                <a:ea typeface="楷体_GB2312" pitchFamily="49" charset="-122"/>
              </a:rPr>
              <a:t>          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＋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0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</a:t>
            </a:r>
          </a:p>
          <a:p>
            <a:pPr algn="l">
              <a:spcBef>
                <a:spcPct val="10000"/>
              </a:spcBef>
            </a:pP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         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· 1 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</a:p>
          <a:p>
            <a:pPr algn="l">
              <a:spcBef>
                <a:spcPts val="1800"/>
              </a:spcBef>
            </a:pPr>
            <a:r>
              <a:rPr lang="en-US" altLang="zh-CN" sz="2800" b="1" i="0" dirty="0">
                <a:solidFill>
                  <a:srgbClr val="000099"/>
                </a:solidFill>
                <a:ea typeface="楷体_GB2312" pitchFamily="49" charset="-122"/>
              </a:rPr>
              <a:t>2)  0-1</a:t>
            </a:r>
            <a:r>
              <a:rPr lang="zh-CN" altLang="en-US" sz="2800" b="1" i="0" dirty="0">
                <a:solidFill>
                  <a:srgbClr val="000099"/>
                </a:solidFill>
                <a:ea typeface="楷体_GB2312" pitchFamily="49" charset="-122"/>
              </a:rPr>
              <a:t>律</a:t>
            </a:r>
          </a:p>
          <a:p>
            <a:pPr algn="l">
              <a:spcBef>
                <a:spcPct val="10000"/>
              </a:spcBef>
            </a:pP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          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＋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1= 1</a:t>
            </a:r>
          </a:p>
          <a:p>
            <a:pPr algn="l">
              <a:spcBef>
                <a:spcPct val="10000"/>
              </a:spcBef>
            </a:pP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         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· 0= </a:t>
            </a:r>
            <a:r>
              <a:rPr lang="en-US" altLang="zh-CN" sz="2800" b="1" i="0" dirty="0" smtClean="0">
                <a:solidFill>
                  <a:srgbClr val="000000"/>
                </a:solidFill>
                <a:ea typeface="楷体_GB2312" pitchFamily="49" charset="-122"/>
              </a:rPr>
              <a:t>0</a:t>
            </a:r>
            <a:endParaRPr lang="en-US" altLang="zh-CN" sz="2800" b="1" i="0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7112000" y="1751013"/>
            <a:ext cx="5501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b="1" i="0" dirty="0">
                <a:solidFill>
                  <a:srgbClr val="000099"/>
                </a:solidFill>
                <a:ea typeface="楷体_GB2312" pitchFamily="49" charset="-122"/>
              </a:rPr>
              <a:t>= </a:t>
            </a:r>
            <a:r>
              <a:rPr lang="en-US" altLang="zh-CN" b="1" dirty="0">
                <a:solidFill>
                  <a:srgbClr val="000099"/>
                </a:solidFill>
                <a:ea typeface="楷体_GB2312" pitchFamily="49" charset="-122"/>
              </a:rPr>
              <a:t>A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7358063" y="3111500"/>
            <a:ext cx="3127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b="1" i="0">
                <a:solidFill>
                  <a:srgbClr val="000099"/>
                </a:solidFill>
                <a:ea typeface="楷体_GB2312" pitchFamily="49" charset="-122"/>
              </a:rPr>
              <a:t>1</a:t>
            </a:r>
          </a:p>
        </p:txBody>
      </p:sp>
      <p:grpSp>
        <p:nvGrpSpPr>
          <p:cNvPr id="8" name="Group 21"/>
          <p:cNvGrpSpPr>
            <a:grpSpLocks/>
          </p:cNvGrpSpPr>
          <p:nvPr/>
        </p:nvGrpSpPr>
        <p:grpSpPr bwMode="auto">
          <a:xfrm>
            <a:off x="4970465" y="1735142"/>
            <a:ext cx="2249488" cy="858838"/>
            <a:chOff x="3165" y="2249"/>
            <a:chExt cx="1417" cy="541"/>
          </a:xfrm>
        </p:grpSpPr>
        <p:sp>
          <p:nvSpPr>
            <p:cNvPr id="9" name="Rectangle 22"/>
            <p:cNvSpPr>
              <a:spLocks noChangeArrowheads="1"/>
            </p:cNvSpPr>
            <p:nvPr/>
          </p:nvSpPr>
          <p:spPr bwMode="auto">
            <a:xfrm>
              <a:off x="3836" y="2249"/>
              <a:ext cx="420" cy="54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b="1" i="0">
                  <a:solidFill>
                    <a:srgbClr val="A50021"/>
                  </a:solidFill>
                </a:rPr>
                <a:t>≥1</a:t>
              </a:r>
              <a:r>
                <a:rPr lang="en-US" altLang="zh-CN" b="1" i="0">
                  <a:solidFill>
                    <a:srgbClr val="A50021"/>
                  </a:solidFill>
                  <a:ea typeface="楷体_GB2312" pitchFamily="49" charset="-122"/>
                </a:rPr>
                <a:t> </a:t>
              </a:r>
            </a:p>
          </p:txBody>
        </p:sp>
        <p:sp>
          <p:nvSpPr>
            <p:cNvPr id="10" name="Line 23"/>
            <p:cNvSpPr>
              <a:spLocks noChangeShapeType="1"/>
            </p:cNvSpPr>
            <p:nvPr/>
          </p:nvSpPr>
          <p:spPr bwMode="auto">
            <a:xfrm>
              <a:off x="3450" y="2410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 i="0"/>
            </a:p>
          </p:txBody>
        </p:sp>
        <p:sp>
          <p:nvSpPr>
            <p:cNvPr id="11" name="Line 24"/>
            <p:cNvSpPr>
              <a:spLocks noChangeShapeType="1"/>
            </p:cNvSpPr>
            <p:nvPr/>
          </p:nvSpPr>
          <p:spPr bwMode="auto">
            <a:xfrm>
              <a:off x="3450" y="2650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 i="0"/>
            </a:p>
          </p:txBody>
        </p:sp>
        <p:grpSp>
          <p:nvGrpSpPr>
            <p:cNvPr id="12" name="Group 25"/>
            <p:cNvGrpSpPr>
              <a:grpSpLocks/>
            </p:cNvGrpSpPr>
            <p:nvPr/>
          </p:nvGrpSpPr>
          <p:grpSpPr bwMode="auto">
            <a:xfrm>
              <a:off x="4249" y="2500"/>
              <a:ext cx="285" cy="45"/>
              <a:chOff x="4021" y="3300"/>
              <a:chExt cx="285" cy="45"/>
            </a:xfrm>
          </p:grpSpPr>
          <p:sp>
            <p:nvSpPr>
              <p:cNvPr id="17" name="Line 26"/>
              <p:cNvSpPr>
                <a:spLocks noChangeShapeType="1"/>
              </p:cNvSpPr>
              <p:nvPr/>
            </p:nvSpPr>
            <p:spPr bwMode="auto">
              <a:xfrm>
                <a:off x="4021" y="3324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 i="0"/>
              </a:p>
            </p:txBody>
          </p:sp>
          <p:sp>
            <p:nvSpPr>
              <p:cNvPr id="18" name="AutoShape 27"/>
              <p:cNvSpPr>
                <a:spLocks noChangeArrowheads="1"/>
              </p:cNvSpPr>
              <p:nvPr/>
            </p:nvSpPr>
            <p:spPr bwMode="auto">
              <a:xfrm>
                <a:off x="4261" y="3300"/>
                <a:ext cx="45" cy="45"/>
              </a:xfrm>
              <a:prstGeom prst="flowChartConnector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 i="0"/>
              </a:p>
            </p:txBody>
          </p:sp>
        </p:grpSp>
        <p:sp>
          <p:nvSpPr>
            <p:cNvPr id="13" name="AutoShape 28"/>
            <p:cNvSpPr>
              <a:spLocks noChangeArrowheads="1"/>
            </p:cNvSpPr>
            <p:nvPr/>
          </p:nvSpPr>
          <p:spPr bwMode="auto">
            <a:xfrm>
              <a:off x="3405" y="2386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 i="0"/>
            </a:p>
          </p:txBody>
        </p:sp>
        <p:sp>
          <p:nvSpPr>
            <p:cNvPr id="14" name="AutoShape 29"/>
            <p:cNvSpPr>
              <a:spLocks noChangeArrowheads="1"/>
            </p:cNvSpPr>
            <p:nvPr/>
          </p:nvSpPr>
          <p:spPr bwMode="auto">
            <a:xfrm>
              <a:off x="3405" y="2626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 i="0"/>
            </a:p>
          </p:txBody>
        </p:sp>
        <p:sp>
          <p:nvSpPr>
            <p:cNvPr id="15" name="Rectangle 30"/>
            <p:cNvSpPr>
              <a:spLocks noChangeArrowheads="1"/>
            </p:cNvSpPr>
            <p:nvPr/>
          </p:nvSpPr>
          <p:spPr bwMode="auto">
            <a:xfrm>
              <a:off x="3165" y="2276"/>
              <a:ext cx="265" cy="44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dirty="0">
                  <a:solidFill>
                    <a:schemeClr val="tx2"/>
                  </a:solidFill>
                  <a:ea typeface="楷体_GB2312" pitchFamily="49" charset="-122"/>
                </a:rPr>
                <a:t>A</a:t>
              </a:r>
              <a:r>
                <a:rPr lang="en-US" altLang="zh-CN" b="1" i="0" dirty="0">
                  <a:solidFill>
                    <a:schemeClr val="tx2"/>
                  </a:solidFill>
                  <a:ea typeface="楷体_GB2312" pitchFamily="49" charset="-122"/>
                </a:rPr>
                <a:t> </a:t>
              </a:r>
            </a:p>
            <a:p>
              <a:pPr algn="l"/>
              <a:r>
                <a:rPr lang="en-US" altLang="zh-CN" b="1" i="0" dirty="0">
                  <a:solidFill>
                    <a:schemeClr val="tx2"/>
                  </a:solidFill>
                  <a:ea typeface="楷体_GB2312" pitchFamily="49" charset="-122"/>
                </a:rPr>
                <a:t>0</a:t>
              </a:r>
            </a:p>
          </p:txBody>
        </p:sp>
        <p:sp>
          <p:nvSpPr>
            <p:cNvPr id="16" name="Rectangle 31"/>
            <p:cNvSpPr>
              <a:spLocks noChangeArrowheads="1"/>
            </p:cNvSpPr>
            <p:nvPr/>
          </p:nvSpPr>
          <p:spPr bwMode="auto">
            <a:xfrm>
              <a:off x="4339" y="2256"/>
              <a:ext cx="24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tx2"/>
                  </a:solidFill>
                  <a:ea typeface="楷体_GB2312" pitchFamily="49" charset="-122"/>
                </a:rPr>
                <a:t>F</a:t>
              </a:r>
              <a:r>
                <a:rPr lang="en-US" altLang="zh-CN" b="1" i="0" baseline="-25000" dirty="0">
                  <a:solidFill>
                    <a:schemeClr val="tx2"/>
                  </a:solidFill>
                  <a:ea typeface="楷体_GB2312" pitchFamily="49" charset="-122"/>
                </a:rPr>
                <a:t> </a:t>
              </a:r>
            </a:p>
          </p:txBody>
        </p:sp>
      </p:grpSp>
      <p:grpSp>
        <p:nvGrpSpPr>
          <p:cNvPr id="19" name="组合 49"/>
          <p:cNvGrpSpPr>
            <a:grpSpLocks/>
          </p:cNvGrpSpPr>
          <p:nvPr/>
        </p:nvGrpSpPr>
        <p:grpSpPr bwMode="auto">
          <a:xfrm>
            <a:off x="5002213" y="3040068"/>
            <a:ext cx="2443174" cy="858838"/>
            <a:chOff x="5002544" y="3877936"/>
            <a:chExt cx="2443171" cy="858838"/>
          </a:xfrm>
        </p:grpSpPr>
        <p:sp>
          <p:nvSpPr>
            <p:cNvPr id="20" name="Rectangle 32"/>
            <p:cNvSpPr>
              <a:spLocks noChangeArrowheads="1"/>
            </p:cNvSpPr>
            <p:nvPr/>
          </p:nvSpPr>
          <p:spPr bwMode="auto">
            <a:xfrm>
              <a:off x="5002544" y="4012443"/>
              <a:ext cx="417512" cy="70788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b="1" dirty="0">
                  <a:solidFill>
                    <a:schemeClr val="tx2"/>
                  </a:solidFill>
                  <a:ea typeface="楷体_GB2312" pitchFamily="49" charset="-122"/>
                </a:rPr>
                <a:t>A</a:t>
              </a:r>
            </a:p>
            <a:p>
              <a:pPr algn="l"/>
              <a:r>
                <a:rPr lang="en-US" altLang="zh-CN" b="1" i="0" dirty="0">
                  <a:solidFill>
                    <a:schemeClr val="tx2"/>
                  </a:solidFill>
                  <a:ea typeface="楷体_GB2312" pitchFamily="49" charset="-122"/>
                </a:rPr>
                <a:t>1 </a:t>
              </a:r>
            </a:p>
          </p:txBody>
        </p:sp>
        <p:grpSp>
          <p:nvGrpSpPr>
            <p:cNvPr id="21" name="Group 33"/>
            <p:cNvGrpSpPr>
              <a:grpSpLocks/>
            </p:cNvGrpSpPr>
            <p:nvPr/>
          </p:nvGrpSpPr>
          <p:grpSpPr bwMode="auto">
            <a:xfrm>
              <a:off x="5364501" y="3877936"/>
              <a:ext cx="2081214" cy="858838"/>
              <a:chOff x="3405" y="2993"/>
              <a:chExt cx="1311" cy="541"/>
            </a:xfrm>
          </p:grpSpPr>
          <p:sp>
            <p:nvSpPr>
              <p:cNvPr id="22" name="Rectangle 34"/>
              <p:cNvSpPr>
                <a:spLocks noChangeArrowheads="1"/>
              </p:cNvSpPr>
              <p:nvPr/>
            </p:nvSpPr>
            <p:spPr bwMode="auto">
              <a:xfrm>
                <a:off x="3836" y="2993"/>
                <a:ext cx="420" cy="54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r>
                  <a:rPr lang="en-US" altLang="zh-CN" b="1" i="0">
                    <a:solidFill>
                      <a:srgbClr val="A50021"/>
                    </a:solidFill>
                  </a:rPr>
                  <a:t>≥1</a:t>
                </a:r>
                <a:r>
                  <a:rPr lang="en-US" altLang="zh-CN" b="1" i="0">
                    <a:solidFill>
                      <a:srgbClr val="A50021"/>
                    </a:solidFill>
                    <a:ea typeface="楷体_GB2312" pitchFamily="49" charset="-122"/>
                  </a:rPr>
                  <a:t> </a:t>
                </a:r>
              </a:p>
            </p:txBody>
          </p:sp>
          <p:sp>
            <p:nvSpPr>
              <p:cNvPr id="23" name="Line 35"/>
              <p:cNvSpPr>
                <a:spLocks noChangeShapeType="1"/>
              </p:cNvSpPr>
              <p:nvPr/>
            </p:nvSpPr>
            <p:spPr bwMode="auto">
              <a:xfrm>
                <a:off x="3450" y="3154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 i="0"/>
              </a:p>
            </p:txBody>
          </p:sp>
          <p:sp>
            <p:nvSpPr>
              <p:cNvPr id="24" name="Line 36"/>
              <p:cNvSpPr>
                <a:spLocks noChangeShapeType="1"/>
              </p:cNvSpPr>
              <p:nvPr/>
            </p:nvSpPr>
            <p:spPr bwMode="auto">
              <a:xfrm>
                <a:off x="3450" y="3394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 i="0"/>
              </a:p>
            </p:txBody>
          </p:sp>
          <p:sp>
            <p:nvSpPr>
              <p:cNvPr id="25" name="Line 37"/>
              <p:cNvSpPr>
                <a:spLocks noChangeShapeType="1"/>
              </p:cNvSpPr>
              <p:nvPr/>
            </p:nvSpPr>
            <p:spPr bwMode="auto">
              <a:xfrm>
                <a:off x="4249" y="3268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 i="0"/>
              </a:p>
            </p:txBody>
          </p:sp>
          <p:sp>
            <p:nvSpPr>
              <p:cNvPr id="26" name="AutoShape 38"/>
              <p:cNvSpPr>
                <a:spLocks noChangeArrowheads="1"/>
              </p:cNvSpPr>
              <p:nvPr/>
            </p:nvSpPr>
            <p:spPr bwMode="auto">
              <a:xfrm>
                <a:off x="4489" y="3244"/>
                <a:ext cx="45" cy="45"/>
              </a:xfrm>
              <a:prstGeom prst="flowChartConnector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 i="0"/>
              </a:p>
            </p:txBody>
          </p:sp>
          <p:sp>
            <p:nvSpPr>
              <p:cNvPr id="27" name="AutoShape 39"/>
              <p:cNvSpPr>
                <a:spLocks noChangeArrowheads="1"/>
              </p:cNvSpPr>
              <p:nvPr/>
            </p:nvSpPr>
            <p:spPr bwMode="auto">
              <a:xfrm>
                <a:off x="3405" y="3130"/>
                <a:ext cx="45" cy="45"/>
              </a:xfrm>
              <a:prstGeom prst="flowChartConnector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 i="0"/>
              </a:p>
            </p:txBody>
          </p:sp>
          <p:sp>
            <p:nvSpPr>
              <p:cNvPr id="28" name="AutoShape 40"/>
              <p:cNvSpPr>
                <a:spLocks noChangeArrowheads="1"/>
              </p:cNvSpPr>
              <p:nvPr/>
            </p:nvSpPr>
            <p:spPr bwMode="auto">
              <a:xfrm>
                <a:off x="3405" y="3370"/>
                <a:ext cx="45" cy="45"/>
              </a:xfrm>
              <a:prstGeom prst="flowChartConnector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 i="0"/>
              </a:p>
            </p:txBody>
          </p:sp>
          <p:sp>
            <p:nvSpPr>
              <p:cNvPr id="29" name="Rectangle 41"/>
              <p:cNvSpPr>
                <a:spLocks noChangeArrowheads="1"/>
              </p:cNvSpPr>
              <p:nvPr/>
            </p:nvSpPr>
            <p:spPr bwMode="auto">
              <a:xfrm>
                <a:off x="4410" y="3024"/>
                <a:ext cx="306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tx2"/>
                    </a:solidFill>
                    <a:ea typeface="楷体_GB2312" pitchFamily="49" charset="-122"/>
                  </a:rPr>
                  <a:t>F</a:t>
                </a:r>
                <a:r>
                  <a:rPr lang="en-US" altLang="zh-CN" b="1" i="0" dirty="0">
                    <a:solidFill>
                      <a:schemeClr val="tx2"/>
                    </a:solidFill>
                    <a:ea typeface="楷体_GB2312" pitchFamily="49" charset="-122"/>
                  </a:rPr>
                  <a:t>=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autoUpdateAnimBg="0"/>
      <p:bldP spid="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335386" y="293715"/>
            <a:ext cx="56517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 i="0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2). 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逻辑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代数的基本运算规则</a:t>
            </a:r>
            <a:endParaRPr lang="zh-CN" altLang="en-US" sz="3200" b="1" i="0" dirty="0">
              <a:solidFill>
                <a:srgbClr val="0070C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779463" y="1089025"/>
            <a:ext cx="17459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10000"/>
              </a:spcBef>
            </a:pPr>
            <a:r>
              <a:rPr lang="en-US" altLang="zh-CN" sz="2800" b="1" i="0" dirty="0" smtClean="0">
                <a:solidFill>
                  <a:srgbClr val="000099"/>
                </a:solidFill>
                <a:ea typeface="楷体_GB2312" pitchFamily="49" charset="-122"/>
              </a:rPr>
              <a:t>3</a:t>
            </a:r>
            <a:r>
              <a:rPr lang="en-US" altLang="zh-CN" sz="2800" b="1" i="0" dirty="0">
                <a:solidFill>
                  <a:srgbClr val="000099"/>
                </a:solidFill>
                <a:ea typeface="楷体_GB2312" pitchFamily="49" charset="-122"/>
              </a:rPr>
              <a:t>)  </a:t>
            </a:r>
            <a:r>
              <a:rPr lang="zh-CN" altLang="en-US" sz="2800" b="1" i="0" dirty="0">
                <a:solidFill>
                  <a:srgbClr val="000099"/>
                </a:solidFill>
                <a:ea typeface="楷体_GB2312" pitchFamily="49" charset="-122"/>
              </a:rPr>
              <a:t>互补律</a:t>
            </a:r>
          </a:p>
        </p:txBody>
      </p:sp>
      <p:graphicFrame>
        <p:nvGraphicFramePr>
          <p:cNvPr id="27" name="Object 47"/>
          <p:cNvGraphicFramePr>
            <a:graphicFrameLocks noChangeAspect="1"/>
          </p:cNvGraphicFramePr>
          <p:nvPr/>
        </p:nvGraphicFramePr>
        <p:xfrm>
          <a:off x="1795690" y="1773918"/>
          <a:ext cx="1411288" cy="449263"/>
        </p:xfrm>
        <a:graphic>
          <a:graphicData uri="http://schemas.openxmlformats.org/presentationml/2006/ole">
            <p:oleObj spid="_x0000_s6149" name="Equation" r:id="rId5" imgW="596880" imgH="190440" progId="Equation.DSMT4">
              <p:embed/>
            </p:oleObj>
          </a:graphicData>
        </a:graphic>
      </p:graphicFrame>
      <p:graphicFrame>
        <p:nvGraphicFramePr>
          <p:cNvPr id="28" name="Object 3"/>
          <p:cNvGraphicFramePr>
            <a:graphicFrameLocks noChangeAspect="1"/>
          </p:cNvGraphicFramePr>
          <p:nvPr/>
        </p:nvGraphicFramePr>
        <p:xfrm>
          <a:off x="1798865" y="2237468"/>
          <a:ext cx="1320800" cy="479425"/>
        </p:xfrm>
        <a:graphic>
          <a:graphicData uri="http://schemas.openxmlformats.org/presentationml/2006/ole">
            <p:oleObj spid="_x0000_s6150" name="Equation" r:id="rId6" imgW="558720" imgH="203040" progId="Equation.DSMT4">
              <p:embed/>
            </p:oleObj>
          </a:graphicData>
        </a:graphic>
      </p:graphicFrame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769031" y="3041196"/>
            <a:ext cx="2635593" cy="147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10000"/>
              </a:spcBef>
            </a:pPr>
            <a:r>
              <a:rPr lang="en-US" altLang="zh-CN" sz="2800" b="1" i="0" dirty="0">
                <a:solidFill>
                  <a:srgbClr val="000099"/>
                </a:solidFill>
                <a:ea typeface="楷体_GB2312" pitchFamily="49" charset="-122"/>
              </a:rPr>
              <a:t>4)  </a:t>
            </a:r>
            <a:r>
              <a:rPr lang="zh-CN" altLang="en-US" sz="2800" b="1" i="0" dirty="0">
                <a:solidFill>
                  <a:srgbClr val="000099"/>
                </a:solidFill>
                <a:ea typeface="楷体_GB2312" pitchFamily="49" charset="-122"/>
              </a:rPr>
              <a:t>重叠律</a:t>
            </a:r>
          </a:p>
          <a:p>
            <a:pPr algn="l">
              <a:spcBef>
                <a:spcPct val="10000"/>
              </a:spcBef>
            </a:pPr>
            <a:r>
              <a:rPr lang="zh-CN" altLang="en-US" sz="2800" b="1" i="0" dirty="0">
                <a:solidFill>
                  <a:srgbClr val="990033"/>
                </a:solidFill>
                <a:ea typeface="楷体_GB2312" pitchFamily="49" charset="-122"/>
              </a:rPr>
              <a:t>          </a:t>
            </a:r>
            <a:r>
              <a:rPr lang="zh-CN" altLang="en-US" sz="2800" b="1" dirty="0">
                <a:solidFill>
                  <a:srgbClr val="990033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＋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</a:t>
            </a:r>
          </a:p>
          <a:p>
            <a:pPr algn="l">
              <a:spcBef>
                <a:spcPct val="10000"/>
              </a:spcBef>
            </a:pP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        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 A 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·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＝</a:t>
            </a:r>
            <a:r>
              <a:rPr lang="en-US" altLang="zh-CN" sz="2800" b="1" dirty="0" smtClean="0">
                <a:solidFill>
                  <a:srgbClr val="000000"/>
                </a:solidFill>
                <a:ea typeface="楷体_GB2312" pitchFamily="49" charset="-122"/>
              </a:rPr>
              <a:t>A</a:t>
            </a:r>
            <a:endParaRPr lang="en-US" altLang="zh-CN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 autoUpdateAnimBg="0"/>
      <p:bldP spid="29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335386" y="293715"/>
            <a:ext cx="56517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 i="0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2). 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逻辑</a:t>
            </a:r>
            <a:r>
              <a:rPr lang="zh-CN" altLang="en-US" sz="32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代数的基本运算规则</a:t>
            </a:r>
            <a:endParaRPr lang="zh-CN" altLang="en-US" sz="3200" b="1" i="0" dirty="0">
              <a:solidFill>
                <a:srgbClr val="0070C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2" name="Text Box 6"/>
          <p:cNvSpPr txBox="1">
            <a:spLocks noChangeArrowheads="1"/>
          </p:cNvSpPr>
          <p:nvPr/>
        </p:nvSpPr>
        <p:spPr bwMode="auto">
          <a:xfrm>
            <a:off x="485996" y="951147"/>
            <a:ext cx="4562467" cy="3841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i="0" dirty="0" smtClean="0">
                <a:solidFill>
                  <a:srgbClr val="000099"/>
                </a:solidFill>
                <a:ea typeface="楷体_GB2312" pitchFamily="49" charset="-122"/>
              </a:rPr>
              <a:t>5</a:t>
            </a:r>
            <a:r>
              <a:rPr lang="en-US" altLang="zh-CN" sz="2800" b="1" i="0" dirty="0">
                <a:solidFill>
                  <a:srgbClr val="000099"/>
                </a:solidFill>
                <a:ea typeface="楷体_GB2312" pitchFamily="49" charset="-122"/>
              </a:rPr>
              <a:t>)  </a:t>
            </a:r>
            <a:r>
              <a:rPr lang="zh-CN" altLang="en-US" sz="2800" b="1" i="0" dirty="0">
                <a:solidFill>
                  <a:srgbClr val="000099"/>
                </a:solidFill>
                <a:ea typeface="楷体_GB2312" pitchFamily="49" charset="-122"/>
              </a:rPr>
              <a:t>交换律</a:t>
            </a:r>
          </a:p>
          <a:p>
            <a:pPr algn="l">
              <a:spcBef>
                <a:spcPct val="10000"/>
              </a:spcBef>
            </a:pP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         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＋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B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=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B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＋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</a:p>
          <a:p>
            <a:pPr algn="l">
              <a:spcBef>
                <a:spcPct val="10000"/>
              </a:spcBef>
            </a:pP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        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·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B 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= </a:t>
            </a:r>
            <a:r>
              <a:rPr lang="en-US" altLang="zh-CN" sz="2800" b="1" dirty="0" smtClean="0">
                <a:solidFill>
                  <a:srgbClr val="000000"/>
                </a:solidFill>
                <a:ea typeface="楷体_GB2312" pitchFamily="49" charset="-122"/>
              </a:rPr>
              <a:t>B</a:t>
            </a:r>
            <a:r>
              <a:rPr lang="en-US" altLang="zh-CN" sz="2800" b="1" i="0" dirty="0" smtClean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·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</a:p>
          <a:p>
            <a:pPr algn="l">
              <a:spcBef>
                <a:spcPct val="10000"/>
              </a:spcBef>
            </a:pPr>
            <a:r>
              <a:rPr lang="en-US" altLang="zh-CN" sz="2800" b="1" i="0" dirty="0">
                <a:solidFill>
                  <a:srgbClr val="000099"/>
                </a:solidFill>
                <a:ea typeface="楷体_GB2312" pitchFamily="49" charset="-122"/>
              </a:rPr>
              <a:t>6)  </a:t>
            </a:r>
            <a:r>
              <a:rPr lang="zh-CN" altLang="en-US" sz="2800" b="1" i="0" dirty="0">
                <a:solidFill>
                  <a:srgbClr val="000099"/>
                </a:solidFill>
                <a:ea typeface="楷体_GB2312" pitchFamily="49" charset="-122"/>
              </a:rPr>
              <a:t>结合律</a:t>
            </a:r>
          </a:p>
          <a:p>
            <a:pPr algn="l">
              <a:spcBef>
                <a:spcPct val="10000"/>
              </a:spcBef>
            </a:pP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        </a:t>
            </a:r>
            <a:r>
              <a:rPr lang="en-US" altLang="zh-CN" sz="2800" b="1" dirty="0" smtClean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＋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B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＋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C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= (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＋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B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)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＋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C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</a:t>
            </a:r>
          </a:p>
          <a:p>
            <a:pPr algn="l">
              <a:spcBef>
                <a:spcPct val="10000"/>
              </a:spcBef>
            </a:pP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                      </a:t>
            </a:r>
            <a:r>
              <a:rPr lang="en-US" altLang="zh-CN" sz="2800" b="1" i="0" dirty="0" smtClean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=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＋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( B</a:t>
            </a:r>
            <a:r>
              <a:rPr lang="zh-CN" altLang="en-US" sz="2800" b="1" i="0" dirty="0">
                <a:solidFill>
                  <a:srgbClr val="000000"/>
                </a:solidFill>
                <a:ea typeface="楷体_GB2312" pitchFamily="49" charset="-122"/>
              </a:rPr>
              <a:t>＋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C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) </a:t>
            </a:r>
          </a:p>
          <a:p>
            <a:pPr algn="l">
              <a:spcBef>
                <a:spcPct val="10000"/>
              </a:spcBef>
            </a:pP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       </a:t>
            </a:r>
            <a:r>
              <a:rPr lang="en-US" altLang="zh-CN" sz="2800" b="1" dirty="0" smtClean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en-US" altLang="zh-CN" sz="2800" b="1" i="0" dirty="0" smtClean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·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B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·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C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= (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·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B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) ·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 C </a:t>
            </a:r>
          </a:p>
          <a:p>
            <a:pPr algn="l">
              <a:spcBef>
                <a:spcPct val="10000"/>
              </a:spcBef>
            </a:pP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                      </a:t>
            </a:r>
            <a:r>
              <a:rPr lang="en-US" altLang="zh-CN" sz="2800" b="1" i="0" dirty="0" smtClean="0">
                <a:solidFill>
                  <a:srgbClr val="000000"/>
                </a:solidFill>
                <a:ea typeface="楷体_GB2312" pitchFamily="49" charset="-122"/>
              </a:rPr>
              <a:t>= 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(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C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·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en-US" altLang="zh-CN" sz="2800" b="1" i="0" dirty="0">
                <a:solidFill>
                  <a:srgbClr val="000000"/>
                </a:solidFill>
                <a:ea typeface="楷体_GB2312" pitchFamily="49" charset="-122"/>
              </a:rPr>
              <a:t> ) ·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B</a:t>
            </a:r>
          </a:p>
        </p:txBody>
      </p:sp>
      <p:sp>
        <p:nvSpPr>
          <p:cNvPr id="83" name="Rectangle 7"/>
          <p:cNvSpPr>
            <a:spLocks noChangeArrowheads="1"/>
          </p:cNvSpPr>
          <p:nvPr/>
        </p:nvSpPr>
        <p:spPr bwMode="auto">
          <a:xfrm>
            <a:off x="7234238" y="2351100"/>
            <a:ext cx="1050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b="1" i="0" dirty="0">
                <a:solidFill>
                  <a:srgbClr val="000099"/>
                </a:solidFill>
                <a:ea typeface="楷体_GB2312" pitchFamily="49" charset="-122"/>
              </a:rPr>
              <a:t>= </a:t>
            </a:r>
            <a:r>
              <a:rPr lang="en-US" altLang="zh-CN" b="1" dirty="0">
                <a:solidFill>
                  <a:srgbClr val="000099"/>
                </a:solidFill>
                <a:ea typeface="楷体_GB2312" pitchFamily="49" charset="-122"/>
              </a:rPr>
              <a:t>A</a:t>
            </a:r>
            <a:r>
              <a:rPr lang="zh-CN" altLang="en-US" b="1" i="0" dirty="0">
                <a:solidFill>
                  <a:srgbClr val="000099"/>
                </a:solidFill>
                <a:ea typeface="楷体_GB2312" pitchFamily="49" charset="-122"/>
              </a:rPr>
              <a:t>＋</a:t>
            </a:r>
            <a:r>
              <a:rPr lang="en-US" altLang="zh-CN" b="1" dirty="0">
                <a:solidFill>
                  <a:srgbClr val="000099"/>
                </a:solidFill>
                <a:ea typeface="楷体_GB2312" pitchFamily="49" charset="-122"/>
              </a:rPr>
              <a:t>B</a:t>
            </a:r>
            <a:r>
              <a:rPr lang="en-US" altLang="zh-CN" b="1" i="0" dirty="0">
                <a:solidFill>
                  <a:srgbClr val="000099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84" name="Text Box 8"/>
          <p:cNvSpPr txBox="1">
            <a:spLocks noChangeArrowheads="1"/>
          </p:cNvSpPr>
          <p:nvPr/>
        </p:nvSpPr>
        <p:spPr bwMode="auto">
          <a:xfrm>
            <a:off x="7250113" y="3573475"/>
            <a:ext cx="1412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b="1" i="0" dirty="0">
                <a:solidFill>
                  <a:srgbClr val="000099"/>
                </a:solidFill>
                <a:ea typeface="楷体_GB2312" pitchFamily="49" charset="-122"/>
              </a:rPr>
              <a:t>= </a:t>
            </a:r>
            <a:r>
              <a:rPr lang="en-US" altLang="zh-CN" b="1" dirty="0">
                <a:solidFill>
                  <a:srgbClr val="000099"/>
                </a:solidFill>
                <a:ea typeface="楷体_GB2312" pitchFamily="49" charset="-122"/>
              </a:rPr>
              <a:t>A</a:t>
            </a:r>
            <a:r>
              <a:rPr lang="zh-CN" altLang="en-US" b="1" i="0" dirty="0">
                <a:solidFill>
                  <a:srgbClr val="000099"/>
                </a:solidFill>
                <a:ea typeface="楷体_GB2312" pitchFamily="49" charset="-122"/>
              </a:rPr>
              <a:t>＋</a:t>
            </a:r>
            <a:r>
              <a:rPr lang="en-US" altLang="zh-CN" b="1" dirty="0">
                <a:solidFill>
                  <a:srgbClr val="000099"/>
                </a:solidFill>
                <a:ea typeface="楷体_GB2312" pitchFamily="49" charset="-122"/>
              </a:rPr>
              <a:t>B</a:t>
            </a:r>
            <a:r>
              <a:rPr lang="zh-CN" altLang="en-US" b="1" i="0" dirty="0">
                <a:solidFill>
                  <a:srgbClr val="000099"/>
                </a:solidFill>
                <a:ea typeface="楷体_GB2312" pitchFamily="49" charset="-122"/>
              </a:rPr>
              <a:t>＋</a:t>
            </a:r>
            <a:r>
              <a:rPr lang="en-US" altLang="zh-CN" b="1" dirty="0">
                <a:solidFill>
                  <a:srgbClr val="000099"/>
                </a:solidFill>
                <a:ea typeface="楷体_GB2312" pitchFamily="49" charset="-122"/>
              </a:rPr>
              <a:t>C</a:t>
            </a:r>
          </a:p>
        </p:txBody>
      </p:sp>
      <p:grpSp>
        <p:nvGrpSpPr>
          <p:cNvPr id="85" name="Group 9"/>
          <p:cNvGrpSpPr>
            <a:grpSpLocks/>
          </p:cNvGrpSpPr>
          <p:nvPr/>
        </p:nvGrpSpPr>
        <p:grpSpPr bwMode="auto">
          <a:xfrm>
            <a:off x="5111750" y="1023950"/>
            <a:ext cx="2522538" cy="1006475"/>
            <a:chOff x="3177" y="1423"/>
            <a:chExt cx="1589" cy="634"/>
          </a:xfrm>
        </p:grpSpPr>
        <p:sp>
          <p:nvSpPr>
            <p:cNvPr id="86" name="Rectangle 10"/>
            <p:cNvSpPr>
              <a:spLocks noChangeArrowheads="1"/>
            </p:cNvSpPr>
            <p:nvPr/>
          </p:nvSpPr>
          <p:spPr bwMode="auto">
            <a:xfrm>
              <a:off x="3826" y="1490"/>
              <a:ext cx="420" cy="54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</a:rPr>
                <a:t>≥1</a:t>
              </a:r>
            </a:p>
          </p:txBody>
        </p:sp>
        <p:sp>
          <p:nvSpPr>
            <p:cNvPr id="87" name="Line 11"/>
            <p:cNvSpPr>
              <a:spLocks noChangeShapeType="1"/>
            </p:cNvSpPr>
            <p:nvPr/>
          </p:nvSpPr>
          <p:spPr bwMode="auto">
            <a:xfrm>
              <a:off x="4247" y="1765"/>
              <a:ext cx="2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Line 12"/>
            <p:cNvSpPr>
              <a:spLocks noChangeShapeType="1"/>
            </p:cNvSpPr>
            <p:nvPr/>
          </p:nvSpPr>
          <p:spPr bwMode="auto">
            <a:xfrm>
              <a:off x="3440" y="1597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Line 13"/>
            <p:cNvSpPr>
              <a:spLocks noChangeShapeType="1"/>
            </p:cNvSpPr>
            <p:nvPr/>
          </p:nvSpPr>
          <p:spPr bwMode="auto">
            <a:xfrm>
              <a:off x="3440" y="1756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AutoShape 14"/>
            <p:cNvSpPr>
              <a:spLocks noChangeArrowheads="1"/>
            </p:cNvSpPr>
            <p:nvPr/>
          </p:nvSpPr>
          <p:spPr bwMode="auto">
            <a:xfrm>
              <a:off x="4487" y="1741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AutoShape 15"/>
            <p:cNvSpPr>
              <a:spLocks noChangeArrowheads="1"/>
            </p:cNvSpPr>
            <p:nvPr/>
          </p:nvSpPr>
          <p:spPr bwMode="auto">
            <a:xfrm>
              <a:off x="3395" y="1573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AutoShape 16"/>
            <p:cNvSpPr>
              <a:spLocks noChangeArrowheads="1"/>
            </p:cNvSpPr>
            <p:nvPr/>
          </p:nvSpPr>
          <p:spPr bwMode="auto">
            <a:xfrm>
              <a:off x="3395" y="1732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Text Box 17"/>
            <p:cNvSpPr txBox="1">
              <a:spLocks noChangeArrowheads="1"/>
            </p:cNvSpPr>
            <p:nvPr/>
          </p:nvSpPr>
          <p:spPr bwMode="auto">
            <a:xfrm>
              <a:off x="3177" y="1423"/>
              <a:ext cx="240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楷体_GB2312" pitchFamily="49" charset="-122"/>
                </a:rPr>
                <a:t>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楷体_GB2312" pitchFamily="49" charset="-122"/>
                </a:rPr>
                <a:t>B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楷体_GB2312" pitchFamily="49" charset="-122"/>
                </a:rPr>
                <a:t>C</a:t>
              </a:r>
            </a:p>
          </p:txBody>
        </p:sp>
        <p:sp>
          <p:nvSpPr>
            <p:cNvPr id="94" name="Text Box 18"/>
            <p:cNvSpPr txBox="1">
              <a:spLocks noChangeArrowheads="1"/>
            </p:cNvSpPr>
            <p:nvPr/>
          </p:nvSpPr>
          <p:spPr bwMode="auto">
            <a:xfrm>
              <a:off x="4526" y="1627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楷体_GB2312" pitchFamily="49" charset="-122"/>
                </a:rPr>
                <a:t>F</a:t>
              </a:r>
            </a:p>
          </p:txBody>
        </p:sp>
        <p:sp>
          <p:nvSpPr>
            <p:cNvPr id="95" name="Line 19"/>
            <p:cNvSpPr>
              <a:spLocks noChangeShapeType="1"/>
            </p:cNvSpPr>
            <p:nvPr/>
          </p:nvSpPr>
          <p:spPr bwMode="auto">
            <a:xfrm>
              <a:off x="3441" y="1922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AutoShape 20"/>
            <p:cNvSpPr>
              <a:spLocks noChangeArrowheads="1"/>
            </p:cNvSpPr>
            <p:nvPr/>
          </p:nvSpPr>
          <p:spPr bwMode="auto">
            <a:xfrm>
              <a:off x="3396" y="1898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7" name="Group 21"/>
          <p:cNvGrpSpPr>
            <a:grpSpLocks/>
          </p:cNvGrpSpPr>
          <p:nvPr/>
        </p:nvGrpSpPr>
        <p:grpSpPr bwMode="auto">
          <a:xfrm>
            <a:off x="5092700" y="2335225"/>
            <a:ext cx="2341563" cy="858837"/>
            <a:chOff x="3165" y="2249"/>
            <a:chExt cx="1475" cy="541"/>
          </a:xfrm>
        </p:grpSpPr>
        <p:sp>
          <p:nvSpPr>
            <p:cNvPr id="98" name="Rectangle 22"/>
            <p:cNvSpPr>
              <a:spLocks noChangeArrowheads="1"/>
            </p:cNvSpPr>
            <p:nvPr/>
          </p:nvSpPr>
          <p:spPr bwMode="auto">
            <a:xfrm>
              <a:off x="3836" y="2249"/>
              <a:ext cx="420" cy="54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</a:rPr>
                <a:t>≥1</a:t>
              </a:r>
              <a:r>
                <a:rPr kumimoji="0" lang="en-US" altLang="zh-CN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ea typeface="楷体_GB2312" pitchFamily="49" charset="-122"/>
                </a:rPr>
                <a:t> </a:t>
              </a:r>
            </a:p>
          </p:txBody>
        </p:sp>
        <p:sp>
          <p:nvSpPr>
            <p:cNvPr id="99" name="Line 23"/>
            <p:cNvSpPr>
              <a:spLocks noChangeShapeType="1"/>
            </p:cNvSpPr>
            <p:nvPr/>
          </p:nvSpPr>
          <p:spPr bwMode="auto">
            <a:xfrm>
              <a:off x="3450" y="2410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Line 24"/>
            <p:cNvSpPr>
              <a:spLocks noChangeShapeType="1"/>
            </p:cNvSpPr>
            <p:nvPr/>
          </p:nvSpPr>
          <p:spPr bwMode="auto">
            <a:xfrm>
              <a:off x="3450" y="2650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01" name="Group 25"/>
            <p:cNvGrpSpPr>
              <a:grpSpLocks/>
            </p:cNvGrpSpPr>
            <p:nvPr/>
          </p:nvGrpSpPr>
          <p:grpSpPr bwMode="auto">
            <a:xfrm>
              <a:off x="4249" y="2500"/>
              <a:ext cx="285" cy="45"/>
              <a:chOff x="4021" y="3300"/>
              <a:chExt cx="285" cy="45"/>
            </a:xfrm>
          </p:grpSpPr>
          <p:sp>
            <p:nvSpPr>
              <p:cNvPr id="106" name="Line 26"/>
              <p:cNvSpPr>
                <a:spLocks noChangeShapeType="1"/>
              </p:cNvSpPr>
              <p:nvPr/>
            </p:nvSpPr>
            <p:spPr bwMode="auto">
              <a:xfrm>
                <a:off x="4021" y="3324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7" name="AutoShape 27"/>
              <p:cNvSpPr>
                <a:spLocks noChangeArrowheads="1"/>
              </p:cNvSpPr>
              <p:nvPr/>
            </p:nvSpPr>
            <p:spPr bwMode="auto">
              <a:xfrm>
                <a:off x="4261" y="3300"/>
                <a:ext cx="45" cy="45"/>
              </a:xfrm>
              <a:prstGeom prst="flowChartConnector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02" name="AutoShape 28"/>
            <p:cNvSpPr>
              <a:spLocks noChangeArrowheads="1"/>
            </p:cNvSpPr>
            <p:nvPr/>
          </p:nvSpPr>
          <p:spPr bwMode="auto">
            <a:xfrm>
              <a:off x="3405" y="2386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AutoShape 29"/>
            <p:cNvSpPr>
              <a:spLocks noChangeArrowheads="1"/>
            </p:cNvSpPr>
            <p:nvPr/>
          </p:nvSpPr>
          <p:spPr bwMode="auto">
            <a:xfrm>
              <a:off x="3405" y="2626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Rectangle 30"/>
            <p:cNvSpPr>
              <a:spLocks noChangeArrowheads="1"/>
            </p:cNvSpPr>
            <p:nvPr/>
          </p:nvSpPr>
          <p:spPr bwMode="auto">
            <a:xfrm>
              <a:off x="3165" y="2276"/>
              <a:ext cx="263" cy="44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0" cap="none" spc="0" normalizeH="0" baseline="0" noProof="0" smtClean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ea typeface="楷体_GB2312" pitchFamily="49" charset="-122"/>
                </a:rPr>
                <a:t>A </a:t>
              </a: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0" cap="none" spc="0" normalizeH="0" baseline="0" noProof="0" smtClean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ea typeface="楷体_GB2312" pitchFamily="49" charset="-122"/>
                </a:rPr>
                <a:t>B</a:t>
              </a:r>
            </a:p>
          </p:txBody>
        </p:sp>
        <p:sp>
          <p:nvSpPr>
            <p:cNvPr id="105" name="Rectangle 31"/>
            <p:cNvSpPr>
              <a:spLocks noChangeArrowheads="1"/>
            </p:cNvSpPr>
            <p:nvPr/>
          </p:nvSpPr>
          <p:spPr bwMode="auto">
            <a:xfrm>
              <a:off x="4339" y="2256"/>
              <a:ext cx="30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0" cap="none" spc="0" normalizeH="0" baseline="0" noProof="0" smtClean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ea typeface="楷体_GB2312" pitchFamily="49" charset="-122"/>
                </a:rPr>
                <a:t>F</a:t>
              </a:r>
              <a:r>
                <a:rPr kumimoji="0" lang="en-US" altLang="zh-CN" sz="1800" b="1" i="0" u="none" strike="noStrike" kern="0" cap="none" spc="0" normalizeH="0" baseline="-25000" noProof="0" smtClean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ea typeface="楷体_GB2312" pitchFamily="49" charset="-122"/>
                </a:rPr>
                <a:t>1 </a:t>
              </a:r>
            </a:p>
          </p:txBody>
        </p:sp>
      </p:grpSp>
      <p:sp>
        <p:nvSpPr>
          <p:cNvPr id="108" name="Rectangle 32"/>
          <p:cNvSpPr>
            <a:spLocks noChangeArrowheads="1"/>
          </p:cNvSpPr>
          <p:nvPr/>
        </p:nvSpPr>
        <p:spPr bwMode="auto">
          <a:xfrm>
            <a:off x="5111750" y="3940187"/>
            <a:ext cx="41751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ea typeface="楷体_GB2312" pitchFamily="49" charset="-122"/>
              </a:rPr>
              <a:t>C </a:t>
            </a:r>
          </a:p>
        </p:txBody>
      </p:sp>
      <p:grpSp>
        <p:nvGrpSpPr>
          <p:cNvPr id="109" name="Group 33"/>
          <p:cNvGrpSpPr>
            <a:grpSpLocks/>
          </p:cNvGrpSpPr>
          <p:nvPr/>
        </p:nvGrpSpPr>
        <p:grpSpPr bwMode="auto">
          <a:xfrm>
            <a:off x="5473700" y="3516325"/>
            <a:ext cx="1890713" cy="858837"/>
            <a:chOff x="3405" y="2993"/>
            <a:chExt cx="1191" cy="541"/>
          </a:xfrm>
        </p:grpSpPr>
        <p:sp>
          <p:nvSpPr>
            <p:cNvPr id="110" name="Rectangle 34"/>
            <p:cNvSpPr>
              <a:spLocks noChangeArrowheads="1"/>
            </p:cNvSpPr>
            <p:nvPr/>
          </p:nvSpPr>
          <p:spPr bwMode="auto">
            <a:xfrm>
              <a:off x="3836" y="2993"/>
              <a:ext cx="420" cy="54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</a:rPr>
                <a:t>≥1</a:t>
              </a:r>
              <a:r>
                <a:rPr kumimoji="0" lang="en-US" altLang="zh-CN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ea typeface="楷体_GB2312" pitchFamily="49" charset="-122"/>
                </a:rPr>
                <a:t> </a:t>
              </a:r>
            </a:p>
          </p:txBody>
        </p:sp>
        <p:sp>
          <p:nvSpPr>
            <p:cNvPr id="111" name="Line 35"/>
            <p:cNvSpPr>
              <a:spLocks noChangeShapeType="1"/>
            </p:cNvSpPr>
            <p:nvPr/>
          </p:nvSpPr>
          <p:spPr bwMode="auto">
            <a:xfrm>
              <a:off x="3450" y="3154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2" name="Line 36"/>
            <p:cNvSpPr>
              <a:spLocks noChangeShapeType="1"/>
            </p:cNvSpPr>
            <p:nvPr/>
          </p:nvSpPr>
          <p:spPr bwMode="auto">
            <a:xfrm>
              <a:off x="3450" y="3394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3" name="Line 37"/>
            <p:cNvSpPr>
              <a:spLocks noChangeShapeType="1"/>
            </p:cNvSpPr>
            <p:nvPr/>
          </p:nvSpPr>
          <p:spPr bwMode="auto">
            <a:xfrm>
              <a:off x="4249" y="3268"/>
              <a:ext cx="2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4" name="AutoShape 38"/>
            <p:cNvSpPr>
              <a:spLocks noChangeArrowheads="1"/>
            </p:cNvSpPr>
            <p:nvPr/>
          </p:nvSpPr>
          <p:spPr bwMode="auto">
            <a:xfrm>
              <a:off x="4489" y="3244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5" name="AutoShape 39"/>
            <p:cNvSpPr>
              <a:spLocks noChangeArrowheads="1"/>
            </p:cNvSpPr>
            <p:nvPr/>
          </p:nvSpPr>
          <p:spPr bwMode="auto">
            <a:xfrm>
              <a:off x="3405" y="3130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AutoShape 40"/>
            <p:cNvSpPr>
              <a:spLocks noChangeArrowheads="1"/>
            </p:cNvSpPr>
            <p:nvPr/>
          </p:nvSpPr>
          <p:spPr bwMode="auto">
            <a:xfrm>
              <a:off x="3405" y="3370"/>
              <a:ext cx="45" cy="45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7" name="Rectangle 41"/>
            <p:cNvSpPr>
              <a:spLocks noChangeArrowheads="1"/>
            </p:cNvSpPr>
            <p:nvPr/>
          </p:nvSpPr>
          <p:spPr bwMode="auto">
            <a:xfrm>
              <a:off x="4373" y="3033"/>
              <a:ext cx="2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0" cap="none" spc="0" normalizeH="0" baseline="0" noProof="0" smtClean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ea typeface="楷体_GB2312" pitchFamily="49" charset="-122"/>
                </a:rPr>
                <a:t>F</a:t>
              </a:r>
            </a:p>
          </p:txBody>
        </p:sp>
      </p:grpSp>
      <p:sp>
        <p:nvSpPr>
          <p:cNvPr id="118" name="Freeform 42"/>
          <p:cNvSpPr>
            <a:spLocks/>
          </p:cNvSpPr>
          <p:nvPr/>
        </p:nvSpPr>
        <p:spPr bwMode="auto">
          <a:xfrm>
            <a:off x="5487988" y="2755912"/>
            <a:ext cx="1760537" cy="1028700"/>
          </a:xfrm>
          <a:custGeom>
            <a:avLst/>
            <a:gdLst>
              <a:gd name="T0" fmla="*/ 2147483647 w 1109"/>
              <a:gd name="T1" fmla="*/ 0 h 648"/>
              <a:gd name="T2" fmla="*/ 2147483647 w 1109"/>
              <a:gd name="T3" fmla="*/ 2147483647 h 648"/>
              <a:gd name="T4" fmla="*/ 2147483647 w 1109"/>
              <a:gd name="T5" fmla="*/ 2147483647 h 648"/>
              <a:gd name="T6" fmla="*/ 2147483647 w 1109"/>
              <a:gd name="T7" fmla="*/ 2147483647 h 648"/>
              <a:gd name="T8" fmla="*/ 2147483647 w 1109"/>
              <a:gd name="T9" fmla="*/ 2147483647 h 648"/>
              <a:gd name="T10" fmla="*/ 2147483647 w 1109"/>
              <a:gd name="T11" fmla="*/ 2147483647 h 6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09"/>
              <a:gd name="T19" fmla="*/ 0 h 648"/>
              <a:gd name="T20" fmla="*/ 1109 w 1109"/>
              <a:gd name="T21" fmla="*/ 648 h 64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09" h="648">
                <a:moveTo>
                  <a:pt x="1098" y="0"/>
                </a:moveTo>
                <a:cubicBezTo>
                  <a:pt x="1095" y="43"/>
                  <a:pt x="1109" y="200"/>
                  <a:pt x="1080" y="258"/>
                </a:cubicBezTo>
                <a:cubicBezTo>
                  <a:pt x="1051" y="316"/>
                  <a:pt x="1072" y="330"/>
                  <a:pt x="924" y="348"/>
                </a:cubicBezTo>
                <a:cubicBezTo>
                  <a:pt x="776" y="366"/>
                  <a:pt x="341" y="350"/>
                  <a:pt x="192" y="366"/>
                </a:cubicBezTo>
                <a:cubicBezTo>
                  <a:pt x="43" y="382"/>
                  <a:pt x="60" y="397"/>
                  <a:pt x="30" y="444"/>
                </a:cubicBezTo>
                <a:cubicBezTo>
                  <a:pt x="0" y="491"/>
                  <a:pt x="16" y="606"/>
                  <a:pt x="12" y="648"/>
                </a:cubicBezTo>
              </a:path>
            </a:pathLst>
          </a:custGeom>
          <a:noFill/>
          <a:ln w="38100">
            <a:solidFill>
              <a:srgbClr val="00660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9" name="Text Box 8"/>
          <p:cNvSpPr txBox="1">
            <a:spLocks noChangeArrowheads="1"/>
          </p:cNvSpPr>
          <p:nvPr/>
        </p:nvSpPr>
        <p:spPr bwMode="auto">
          <a:xfrm>
            <a:off x="7496175" y="1362087"/>
            <a:ext cx="1412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b="1" i="0" dirty="0">
                <a:solidFill>
                  <a:srgbClr val="000099"/>
                </a:solidFill>
                <a:ea typeface="楷体_GB2312" pitchFamily="49" charset="-122"/>
              </a:rPr>
              <a:t>= </a:t>
            </a:r>
            <a:r>
              <a:rPr lang="en-US" altLang="zh-CN" b="1" dirty="0">
                <a:solidFill>
                  <a:srgbClr val="000099"/>
                </a:solidFill>
                <a:ea typeface="楷体_GB2312" pitchFamily="49" charset="-122"/>
              </a:rPr>
              <a:t>A</a:t>
            </a:r>
            <a:r>
              <a:rPr lang="zh-CN" altLang="en-US" b="1" i="0" dirty="0">
                <a:solidFill>
                  <a:srgbClr val="000099"/>
                </a:solidFill>
                <a:ea typeface="楷体_GB2312" pitchFamily="49" charset="-122"/>
              </a:rPr>
              <a:t>＋</a:t>
            </a:r>
            <a:r>
              <a:rPr lang="en-US" altLang="zh-CN" b="1" dirty="0">
                <a:solidFill>
                  <a:srgbClr val="000099"/>
                </a:solidFill>
                <a:ea typeface="楷体_GB2312" pitchFamily="49" charset="-122"/>
              </a:rPr>
              <a:t>B</a:t>
            </a:r>
            <a:r>
              <a:rPr lang="zh-CN" altLang="en-US" b="1" i="0" dirty="0">
                <a:solidFill>
                  <a:srgbClr val="000099"/>
                </a:solidFill>
                <a:ea typeface="楷体_GB2312" pitchFamily="49" charset="-122"/>
              </a:rPr>
              <a:t>＋</a:t>
            </a:r>
            <a:r>
              <a:rPr lang="en-US" altLang="zh-CN" b="1" dirty="0">
                <a:solidFill>
                  <a:srgbClr val="000099"/>
                </a:solidFill>
                <a:ea typeface="楷体_GB2312" pitchFamily="49" charset="-122"/>
              </a:rPr>
              <a:t>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3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1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uild="p" autoUpdateAnimBg="0"/>
      <p:bldP spid="83" grpId="0" autoUpdateAnimBg="0"/>
      <p:bldP spid="84" grpId="0" autoUpdateAnimBg="0"/>
      <p:bldP spid="108" grpId="0"/>
      <p:bldP spid="118" grpId="0" animBg="1"/>
      <p:bldP spid="119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2"/>
          <p:cNvSpPr>
            <a:spLocks noChangeArrowheads="1"/>
          </p:cNvSpPr>
          <p:nvPr/>
        </p:nvSpPr>
        <p:spPr bwMode="auto">
          <a:xfrm>
            <a:off x="5715000" y="2262188"/>
            <a:ext cx="900113" cy="2160587"/>
          </a:xfrm>
          <a:prstGeom prst="rect">
            <a:avLst/>
          </a:prstGeom>
          <a:solidFill>
            <a:srgbClr val="FFCC00"/>
          </a:solidFill>
          <a:ln w="9525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 sz="2400" b="1" i="0"/>
          </a:p>
        </p:txBody>
      </p:sp>
      <p:sp>
        <p:nvSpPr>
          <p:cNvPr id="72" name="Rectangle 3"/>
          <p:cNvSpPr>
            <a:spLocks noChangeArrowheads="1"/>
          </p:cNvSpPr>
          <p:nvPr/>
        </p:nvSpPr>
        <p:spPr bwMode="auto">
          <a:xfrm>
            <a:off x="4500563" y="2262188"/>
            <a:ext cx="900112" cy="2160587"/>
          </a:xfrm>
          <a:prstGeom prst="rect">
            <a:avLst/>
          </a:prstGeom>
          <a:solidFill>
            <a:srgbClr val="FFCC00"/>
          </a:solidFill>
          <a:ln w="9525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 sz="2400" b="1" i="0"/>
          </a:p>
        </p:txBody>
      </p:sp>
      <p:sp>
        <p:nvSpPr>
          <p:cNvPr id="73" name="Rectangle 4"/>
          <p:cNvSpPr>
            <a:spLocks noChangeArrowheads="1"/>
          </p:cNvSpPr>
          <p:nvPr/>
        </p:nvSpPr>
        <p:spPr bwMode="auto">
          <a:xfrm>
            <a:off x="3316288" y="2301875"/>
            <a:ext cx="898525" cy="2160588"/>
          </a:xfrm>
          <a:prstGeom prst="rect">
            <a:avLst/>
          </a:prstGeom>
          <a:solidFill>
            <a:srgbClr val="FF99CC"/>
          </a:solidFill>
          <a:ln w="9525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zh-CN" altLang="en-US" sz="2400" b="1" i="0"/>
          </a:p>
        </p:txBody>
      </p:sp>
      <p:sp>
        <p:nvSpPr>
          <p:cNvPr id="74" name="Rectangle 5"/>
          <p:cNvSpPr>
            <a:spLocks noChangeArrowheads="1"/>
          </p:cNvSpPr>
          <p:nvPr/>
        </p:nvSpPr>
        <p:spPr bwMode="auto">
          <a:xfrm>
            <a:off x="2147888" y="2268538"/>
            <a:ext cx="852487" cy="2160587"/>
          </a:xfrm>
          <a:prstGeom prst="rect">
            <a:avLst/>
          </a:prstGeom>
          <a:solidFill>
            <a:srgbClr val="FF99CC"/>
          </a:solidFill>
          <a:ln w="9525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zh-CN" altLang="en-US" sz="2400" b="1" i="0"/>
          </a:p>
        </p:txBody>
      </p:sp>
      <p:sp>
        <p:nvSpPr>
          <p:cNvPr id="16391" name="Text Box 6"/>
          <p:cNvSpPr txBox="1">
            <a:spLocks noChangeArrowheads="1"/>
          </p:cNvSpPr>
          <p:nvPr/>
        </p:nvSpPr>
        <p:spPr bwMode="auto">
          <a:xfrm>
            <a:off x="730024" y="415698"/>
            <a:ext cx="73362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例</a:t>
            </a: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：用逻辑状态表证明反演律</a:t>
            </a: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(</a:t>
            </a:r>
            <a:r>
              <a:rPr lang="zh-CN" altLang="en-US" sz="2800" b="1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摩根定律</a:t>
            </a: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)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966788" y="1571625"/>
            <a:ext cx="5943600" cy="2895600"/>
            <a:chOff x="960" y="1680"/>
            <a:chExt cx="3744" cy="1824"/>
          </a:xfrm>
        </p:grpSpPr>
        <p:sp>
          <p:nvSpPr>
            <p:cNvPr id="16445" name="Line 9"/>
            <p:cNvSpPr>
              <a:spLocks noChangeShapeType="1"/>
            </p:cNvSpPr>
            <p:nvPr/>
          </p:nvSpPr>
          <p:spPr bwMode="auto">
            <a:xfrm>
              <a:off x="960" y="2016"/>
              <a:ext cx="37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446" name="Group 10"/>
            <p:cNvGrpSpPr>
              <a:grpSpLocks/>
            </p:cNvGrpSpPr>
            <p:nvPr/>
          </p:nvGrpSpPr>
          <p:grpSpPr bwMode="auto">
            <a:xfrm>
              <a:off x="960" y="1680"/>
              <a:ext cx="3744" cy="1824"/>
              <a:chOff x="960" y="1680"/>
              <a:chExt cx="3744" cy="1968"/>
            </a:xfrm>
          </p:grpSpPr>
          <p:sp>
            <p:nvSpPr>
              <p:cNvPr id="16447" name="Rectangle 11"/>
              <p:cNvSpPr>
                <a:spLocks noChangeArrowheads="1"/>
              </p:cNvSpPr>
              <p:nvPr/>
            </p:nvSpPr>
            <p:spPr bwMode="auto">
              <a:xfrm>
                <a:off x="960" y="1680"/>
                <a:ext cx="3744" cy="196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 b="1" i="0"/>
              </a:p>
            </p:txBody>
          </p:sp>
          <p:sp>
            <p:nvSpPr>
              <p:cNvPr id="16448" name="Line 12"/>
              <p:cNvSpPr>
                <a:spLocks noChangeShapeType="1"/>
              </p:cNvSpPr>
              <p:nvPr/>
            </p:nvSpPr>
            <p:spPr bwMode="auto">
              <a:xfrm>
                <a:off x="1680" y="1680"/>
                <a:ext cx="0" cy="1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49" name="Line 13"/>
              <p:cNvSpPr>
                <a:spLocks noChangeShapeType="1"/>
              </p:cNvSpPr>
              <p:nvPr/>
            </p:nvSpPr>
            <p:spPr bwMode="auto">
              <a:xfrm>
                <a:off x="2304" y="1680"/>
                <a:ext cx="0" cy="1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50" name="Line 14"/>
              <p:cNvSpPr>
                <a:spLocks noChangeShapeType="1"/>
              </p:cNvSpPr>
              <p:nvPr/>
            </p:nvSpPr>
            <p:spPr bwMode="auto">
              <a:xfrm>
                <a:off x="3120" y="1680"/>
                <a:ext cx="0" cy="1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51" name="Line 15"/>
              <p:cNvSpPr>
                <a:spLocks noChangeShapeType="1"/>
              </p:cNvSpPr>
              <p:nvPr/>
            </p:nvSpPr>
            <p:spPr bwMode="auto">
              <a:xfrm>
                <a:off x="3888" y="1680"/>
                <a:ext cx="0" cy="1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1101725" y="1628775"/>
            <a:ext cx="5518150" cy="461963"/>
            <a:chOff x="1009" y="1596"/>
            <a:chExt cx="3476" cy="291"/>
          </a:xfrm>
        </p:grpSpPr>
        <p:sp>
          <p:nvSpPr>
            <p:cNvPr id="16433" name="Text Box 17"/>
            <p:cNvSpPr txBox="1">
              <a:spLocks noChangeArrowheads="1"/>
            </p:cNvSpPr>
            <p:nvPr/>
          </p:nvSpPr>
          <p:spPr bwMode="auto">
            <a:xfrm>
              <a:off x="1009" y="1596"/>
              <a:ext cx="49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dirty="0"/>
                <a:t>A   B</a:t>
              </a:r>
            </a:p>
          </p:txBody>
        </p:sp>
        <p:grpSp>
          <p:nvGrpSpPr>
            <p:cNvPr id="16434" name="Group 18"/>
            <p:cNvGrpSpPr>
              <a:grpSpLocks/>
            </p:cNvGrpSpPr>
            <p:nvPr/>
          </p:nvGrpSpPr>
          <p:grpSpPr bwMode="auto">
            <a:xfrm>
              <a:off x="1745" y="1596"/>
              <a:ext cx="353" cy="291"/>
              <a:chOff x="1781" y="1728"/>
              <a:chExt cx="353" cy="291"/>
            </a:xfrm>
          </p:grpSpPr>
          <p:sp>
            <p:nvSpPr>
              <p:cNvPr id="16443" name="Text Box 19"/>
              <p:cNvSpPr txBox="1">
                <a:spLocks noChangeArrowheads="1"/>
              </p:cNvSpPr>
              <p:nvPr/>
            </p:nvSpPr>
            <p:spPr bwMode="auto">
              <a:xfrm>
                <a:off x="1781" y="1728"/>
                <a:ext cx="35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/>
                  <a:t>AB</a:t>
                </a:r>
              </a:p>
            </p:txBody>
          </p:sp>
          <p:sp>
            <p:nvSpPr>
              <p:cNvPr id="16444" name="Line 20"/>
              <p:cNvSpPr>
                <a:spLocks noChangeShapeType="1"/>
              </p:cNvSpPr>
              <p:nvPr/>
            </p:nvSpPr>
            <p:spPr bwMode="auto">
              <a:xfrm>
                <a:off x="1872" y="177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6435" name="Text Box 21"/>
            <p:cNvSpPr txBox="1">
              <a:spLocks noChangeArrowheads="1"/>
            </p:cNvSpPr>
            <p:nvPr/>
          </p:nvSpPr>
          <p:spPr bwMode="auto">
            <a:xfrm>
              <a:off x="2369" y="1596"/>
              <a:ext cx="57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b="1"/>
                <a:t> </a:t>
              </a:r>
              <a:r>
                <a:rPr lang="en-US" altLang="zh-CN" sz="2400" b="1"/>
                <a:t>A+ B</a:t>
              </a:r>
            </a:p>
          </p:txBody>
        </p:sp>
        <p:sp>
          <p:nvSpPr>
            <p:cNvPr id="16436" name="Line 22"/>
            <p:cNvSpPr>
              <a:spLocks noChangeShapeType="1"/>
            </p:cNvSpPr>
            <p:nvPr/>
          </p:nvSpPr>
          <p:spPr bwMode="auto">
            <a:xfrm>
              <a:off x="2760" y="1644"/>
              <a:ext cx="1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37" name="Line 23"/>
            <p:cNvSpPr>
              <a:spLocks noChangeShapeType="1"/>
            </p:cNvSpPr>
            <p:nvPr/>
          </p:nvSpPr>
          <p:spPr bwMode="auto">
            <a:xfrm>
              <a:off x="2472" y="1644"/>
              <a:ext cx="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38" name="Text Box 24"/>
            <p:cNvSpPr txBox="1">
              <a:spLocks noChangeArrowheads="1"/>
            </p:cNvSpPr>
            <p:nvPr/>
          </p:nvSpPr>
          <p:spPr bwMode="auto">
            <a:xfrm>
              <a:off x="3237" y="1596"/>
              <a:ext cx="39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/>
                <a:t>A</a:t>
              </a:r>
              <a:r>
                <a:rPr lang="en-US" altLang="zh-CN" sz="2400" b="1">
                  <a:sym typeface="Symbol" pitchFamily="18" charset="2"/>
                </a:rPr>
                <a:t> B</a:t>
              </a:r>
              <a:endParaRPr lang="en-US" altLang="zh-CN" sz="2400" b="1"/>
            </a:p>
          </p:txBody>
        </p:sp>
        <p:sp>
          <p:nvSpPr>
            <p:cNvPr id="16439" name="Line 25"/>
            <p:cNvSpPr>
              <a:spLocks noChangeShapeType="1"/>
            </p:cNvSpPr>
            <p:nvPr/>
          </p:nvSpPr>
          <p:spPr bwMode="auto">
            <a:xfrm>
              <a:off x="3303" y="1644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40" name="Line 26"/>
            <p:cNvSpPr>
              <a:spLocks noChangeShapeType="1"/>
            </p:cNvSpPr>
            <p:nvPr/>
          </p:nvSpPr>
          <p:spPr bwMode="auto">
            <a:xfrm>
              <a:off x="3495" y="1644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41" name="Text Box 27"/>
            <p:cNvSpPr txBox="1">
              <a:spLocks noChangeArrowheads="1"/>
            </p:cNvSpPr>
            <p:nvPr/>
          </p:nvSpPr>
          <p:spPr bwMode="auto">
            <a:xfrm>
              <a:off x="3989" y="1596"/>
              <a:ext cx="4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/>
                <a:t>A+B</a:t>
              </a:r>
            </a:p>
          </p:txBody>
        </p:sp>
        <p:sp>
          <p:nvSpPr>
            <p:cNvPr id="16442" name="Line 28"/>
            <p:cNvSpPr>
              <a:spLocks noChangeShapeType="1"/>
            </p:cNvSpPr>
            <p:nvPr/>
          </p:nvSpPr>
          <p:spPr bwMode="auto">
            <a:xfrm>
              <a:off x="4073" y="1645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组合 69"/>
          <p:cNvGrpSpPr>
            <a:grpSpLocks/>
          </p:cNvGrpSpPr>
          <p:nvPr/>
        </p:nvGrpSpPr>
        <p:grpSpPr bwMode="auto">
          <a:xfrm>
            <a:off x="1042988" y="2333625"/>
            <a:ext cx="5310187" cy="2062163"/>
            <a:chOff x="1900238" y="2333625"/>
            <a:chExt cx="5310187" cy="2062163"/>
          </a:xfrm>
        </p:grpSpPr>
        <p:grpSp>
          <p:nvGrpSpPr>
            <p:cNvPr id="16403" name="Group 29"/>
            <p:cNvGrpSpPr>
              <a:grpSpLocks/>
            </p:cNvGrpSpPr>
            <p:nvPr/>
          </p:nvGrpSpPr>
          <p:grpSpPr bwMode="auto">
            <a:xfrm>
              <a:off x="1900238" y="2333625"/>
              <a:ext cx="871537" cy="461963"/>
              <a:chOff x="1008" y="2112"/>
              <a:chExt cx="549" cy="291"/>
            </a:xfrm>
          </p:grpSpPr>
          <p:sp>
            <p:nvSpPr>
              <p:cNvPr id="16431" name="Text Box 30"/>
              <p:cNvSpPr txBox="1">
                <a:spLocks noChangeArrowheads="1"/>
              </p:cNvSpPr>
              <p:nvPr/>
            </p:nvSpPr>
            <p:spPr bwMode="auto">
              <a:xfrm>
                <a:off x="1008" y="2112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b="1" i="0"/>
                  <a:t>0</a:t>
                </a:r>
              </a:p>
            </p:txBody>
          </p:sp>
          <p:sp>
            <p:nvSpPr>
              <p:cNvPr id="16432" name="Text Box 31"/>
              <p:cNvSpPr txBox="1">
                <a:spLocks noChangeArrowheads="1"/>
              </p:cNvSpPr>
              <p:nvPr/>
            </p:nvSpPr>
            <p:spPr bwMode="auto">
              <a:xfrm>
                <a:off x="1344" y="2112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b="1" i="0"/>
                  <a:t>0</a:t>
                </a:r>
              </a:p>
            </p:txBody>
          </p:sp>
        </p:grpSp>
        <p:grpSp>
          <p:nvGrpSpPr>
            <p:cNvPr id="16404" name="组合 68"/>
            <p:cNvGrpSpPr>
              <a:grpSpLocks/>
            </p:cNvGrpSpPr>
            <p:nvPr/>
          </p:nvGrpSpPr>
          <p:grpSpPr bwMode="auto">
            <a:xfrm>
              <a:off x="1900238" y="2333625"/>
              <a:ext cx="5310187" cy="2062163"/>
              <a:chOff x="1900238" y="2333625"/>
              <a:chExt cx="5310187" cy="2062163"/>
            </a:xfrm>
          </p:grpSpPr>
          <p:sp>
            <p:nvSpPr>
              <p:cNvPr id="16405" name="Text Box 32"/>
              <p:cNvSpPr txBox="1">
                <a:spLocks noChangeArrowheads="1"/>
              </p:cNvSpPr>
              <p:nvPr/>
            </p:nvSpPr>
            <p:spPr bwMode="auto">
              <a:xfrm>
                <a:off x="3214688" y="2333625"/>
                <a:ext cx="338137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b="1" i="0"/>
                  <a:t>1</a:t>
                </a:r>
              </a:p>
            </p:txBody>
          </p:sp>
          <p:sp>
            <p:nvSpPr>
              <p:cNvPr id="16406" name="Text Box 33"/>
              <p:cNvSpPr txBox="1">
                <a:spLocks noChangeArrowheads="1"/>
              </p:cNvSpPr>
              <p:nvPr/>
            </p:nvSpPr>
            <p:spPr bwMode="auto">
              <a:xfrm>
                <a:off x="4357688" y="2333625"/>
                <a:ext cx="338137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b="1" i="0"/>
                  <a:t>1</a:t>
                </a:r>
              </a:p>
            </p:txBody>
          </p:sp>
          <p:sp>
            <p:nvSpPr>
              <p:cNvPr id="16407" name="Text Box 34"/>
              <p:cNvSpPr txBox="1">
                <a:spLocks noChangeArrowheads="1"/>
              </p:cNvSpPr>
              <p:nvPr/>
            </p:nvSpPr>
            <p:spPr bwMode="auto">
              <a:xfrm>
                <a:off x="6872288" y="2333625"/>
                <a:ext cx="338137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b="1" i="0"/>
                  <a:t>1</a:t>
                </a:r>
              </a:p>
            </p:txBody>
          </p:sp>
          <p:sp>
            <p:nvSpPr>
              <p:cNvPr id="16408" name="Text Box 35"/>
              <p:cNvSpPr txBox="1">
                <a:spLocks noChangeArrowheads="1"/>
              </p:cNvSpPr>
              <p:nvPr/>
            </p:nvSpPr>
            <p:spPr bwMode="auto">
              <a:xfrm>
                <a:off x="5653088" y="2333625"/>
                <a:ext cx="338137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b="1" i="0"/>
                  <a:t>1</a:t>
                </a:r>
              </a:p>
            </p:txBody>
          </p:sp>
          <p:grpSp>
            <p:nvGrpSpPr>
              <p:cNvPr id="16409" name="Group 36"/>
              <p:cNvGrpSpPr>
                <a:grpSpLocks/>
              </p:cNvGrpSpPr>
              <p:nvPr/>
            </p:nvGrpSpPr>
            <p:grpSpPr bwMode="auto">
              <a:xfrm>
                <a:off x="1900238" y="2867025"/>
                <a:ext cx="5291137" cy="1528763"/>
                <a:chOff x="972" y="2316"/>
                <a:chExt cx="3333" cy="963"/>
              </a:xfrm>
            </p:grpSpPr>
            <p:grpSp>
              <p:nvGrpSpPr>
                <p:cNvPr id="16410" name="Group 37"/>
                <p:cNvGrpSpPr>
                  <a:grpSpLocks/>
                </p:cNvGrpSpPr>
                <p:nvPr/>
              </p:nvGrpSpPr>
              <p:grpSpPr bwMode="auto">
                <a:xfrm>
                  <a:off x="972" y="2316"/>
                  <a:ext cx="549" cy="291"/>
                  <a:chOff x="1008" y="2448"/>
                  <a:chExt cx="549" cy="291"/>
                </a:xfrm>
              </p:grpSpPr>
              <p:sp>
                <p:nvSpPr>
                  <p:cNvPr id="16429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08" y="2448"/>
                    <a:ext cx="213" cy="2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zh-CN" altLang="en-US" sz="2400" b="1" i="0"/>
                      <a:t>0</a:t>
                    </a:r>
                  </a:p>
                </p:txBody>
              </p:sp>
              <p:sp>
                <p:nvSpPr>
                  <p:cNvPr id="16430" name="Text Box 3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44" y="2448"/>
                    <a:ext cx="213" cy="2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zh-CN" altLang="en-US" sz="2400" b="1" i="0"/>
                      <a:t>1</a:t>
                    </a:r>
                  </a:p>
                </p:txBody>
              </p:sp>
            </p:grpSp>
            <p:grpSp>
              <p:nvGrpSpPr>
                <p:cNvPr id="16411" name="Group 40"/>
                <p:cNvGrpSpPr>
                  <a:grpSpLocks/>
                </p:cNvGrpSpPr>
                <p:nvPr/>
              </p:nvGrpSpPr>
              <p:grpSpPr bwMode="auto">
                <a:xfrm>
                  <a:off x="972" y="2652"/>
                  <a:ext cx="549" cy="291"/>
                  <a:chOff x="1008" y="2784"/>
                  <a:chExt cx="549" cy="291"/>
                </a:xfrm>
              </p:grpSpPr>
              <p:sp>
                <p:nvSpPr>
                  <p:cNvPr id="16427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08" y="2784"/>
                    <a:ext cx="213" cy="2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zh-CN" altLang="en-US" sz="2400" b="1" i="0"/>
                      <a:t>1</a:t>
                    </a:r>
                  </a:p>
                </p:txBody>
              </p:sp>
              <p:sp>
                <p:nvSpPr>
                  <p:cNvPr id="16428" name="Text Box 4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44" y="2784"/>
                    <a:ext cx="213" cy="2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zh-CN" altLang="en-US" sz="2400" b="1" i="0"/>
                      <a:t>0</a:t>
                    </a:r>
                  </a:p>
                </p:txBody>
              </p:sp>
            </p:grpSp>
            <p:grpSp>
              <p:nvGrpSpPr>
                <p:cNvPr id="16412" name="Group 43"/>
                <p:cNvGrpSpPr>
                  <a:grpSpLocks/>
                </p:cNvGrpSpPr>
                <p:nvPr/>
              </p:nvGrpSpPr>
              <p:grpSpPr bwMode="auto">
                <a:xfrm>
                  <a:off x="972" y="2988"/>
                  <a:ext cx="549" cy="291"/>
                  <a:chOff x="1008" y="3120"/>
                  <a:chExt cx="549" cy="291"/>
                </a:xfrm>
              </p:grpSpPr>
              <p:sp>
                <p:nvSpPr>
                  <p:cNvPr id="16425" name="Text Box 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08" y="3120"/>
                    <a:ext cx="213" cy="2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zh-CN" altLang="en-US" sz="2400" b="1" i="0"/>
                      <a:t>1</a:t>
                    </a:r>
                  </a:p>
                </p:txBody>
              </p:sp>
              <p:sp>
                <p:nvSpPr>
                  <p:cNvPr id="16426" name="Text Box 4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44" y="3120"/>
                    <a:ext cx="213" cy="2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zh-CN" altLang="en-US" sz="2400" b="1" i="0"/>
                      <a:t>1</a:t>
                    </a:r>
                  </a:p>
                </p:txBody>
              </p:sp>
            </p:grpSp>
            <p:sp>
              <p:nvSpPr>
                <p:cNvPr id="16413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788" y="2316"/>
                  <a:ext cx="21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zh-CN" altLang="en-US" sz="2400" b="1" i="0"/>
                    <a:t>1</a:t>
                  </a:r>
                </a:p>
              </p:txBody>
            </p:sp>
            <p:sp>
              <p:nvSpPr>
                <p:cNvPr id="16414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1788" y="2661"/>
                  <a:ext cx="21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zh-CN" altLang="en-US" sz="2400" b="1" i="0"/>
                    <a:t>1</a:t>
                  </a:r>
                </a:p>
              </p:txBody>
            </p:sp>
            <p:sp>
              <p:nvSpPr>
                <p:cNvPr id="16415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1788" y="2988"/>
                  <a:ext cx="21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zh-CN" altLang="en-US" sz="2400" b="1" i="0"/>
                    <a:t>0</a:t>
                  </a:r>
                </a:p>
              </p:txBody>
            </p:sp>
            <p:sp>
              <p:nvSpPr>
                <p:cNvPr id="16416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508" y="2316"/>
                  <a:ext cx="21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zh-CN" altLang="en-US" sz="2400" b="1" i="0"/>
                    <a:t>1</a:t>
                  </a:r>
                </a:p>
              </p:txBody>
            </p:sp>
            <p:sp>
              <p:nvSpPr>
                <p:cNvPr id="16417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2508" y="2661"/>
                  <a:ext cx="21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zh-CN" altLang="en-US" sz="2400" b="1" i="0"/>
                    <a:t>1</a:t>
                  </a:r>
                </a:p>
              </p:txBody>
            </p:sp>
            <p:sp>
              <p:nvSpPr>
                <p:cNvPr id="16418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2508" y="2988"/>
                  <a:ext cx="21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zh-CN" altLang="en-US" sz="2400" b="1" i="0"/>
                    <a:t>0</a:t>
                  </a:r>
                </a:p>
              </p:txBody>
            </p:sp>
            <p:sp>
              <p:nvSpPr>
                <p:cNvPr id="16419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4092" y="2316"/>
                  <a:ext cx="21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zh-CN" altLang="en-US" sz="2400" b="1" i="0"/>
                    <a:t>0</a:t>
                  </a:r>
                </a:p>
              </p:txBody>
            </p:sp>
            <p:sp>
              <p:nvSpPr>
                <p:cNvPr id="16420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4092" y="2661"/>
                  <a:ext cx="21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zh-CN" altLang="en-US" sz="2400" b="1" i="0"/>
                    <a:t>0</a:t>
                  </a:r>
                </a:p>
              </p:txBody>
            </p:sp>
            <p:sp>
              <p:nvSpPr>
                <p:cNvPr id="16421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4092" y="2988"/>
                  <a:ext cx="21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zh-CN" altLang="en-US" sz="2400" b="1" i="0"/>
                    <a:t>0</a:t>
                  </a:r>
                </a:p>
              </p:txBody>
            </p:sp>
            <p:sp>
              <p:nvSpPr>
                <p:cNvPr id="16422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3324" y="2316"/>
                  <a:ext cx="21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zh-CN" altLang="en-US" sz="2400" b="1" i="0"/>
                    <a:t>0</a:t>
                  </a:r>
                </a:p>
              </p:txBody>
            </p:sp>
            <p:sp>
              <p:nvSpPr>
                <p:cNvPr id="16423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3324" y="2661"/>
                  <a:ext cx="21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zh-CN" altLang="en-US" sz="2400" b="1" i="0"/>
                    <a:t>0</a:t>
                  </a:r>
                </a:p>
              </p:txBody>
            </p:sp>
            <p:sp>
              <p:nvSpPr>
                <p:cNvPr id="16424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3324" y="2988"/>
                  <a:ext cx="21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zh-CN" altLang="en-US" sz="2400" b="1" i="0"/>
                    <a:t>0</a:t>
                  </a:r>
                </a:p>
              </p:txBody>
            </p:sp>
          </p:grpSp>
        </p:grpSp>
      </p:grpSp>
      <p:grpSp>
        <p:nvGrpSpPr>
          <p:cNvPr id="16395" name="Group 63"/>
          <p:cNvGrpSpPr>
            <a:grpSpLocks/>
          </p:cNvGrpSpPr>
          <p:nvPr/>
        </p:nvGrpSpPr>
        <p:grpSpPr bwMode="auto">
          <a:xfrm>
            <a:off x="1741488" y="1116013"/>
            <a:ext cx="3527425" cy="461962"/>
            <a:chOff x="1412" y="1108"/>
            <a:chExt cx="2222" cy="291"/>
          </a:xfrm>
        </p:grpSpPr>
        <p:sp>
          <p:nvSpPr>
            <p:cNvPr id="16396" name="Rectangle 64"/>
            <p:cNvSpPr>
              <a:spLocks noChangeArrowheads="1"/>
            </p:cNvSpPr>
            <p:nvPr/>
          </p:nvSpPr>
          <p:spPr bwMode="auto">
            <a:xfrm>
              <a:off x="1412" y="1108"/>
              <a:ext cx="222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dirty="0"/>
                <a:t>A</a:t>
              </a:r>
              <a:r>
                <a:rPr lang="en-US" altLang="zh-CN" sz="2400" b="1" dirty="0">
                  <a:sym typeface="Symbol" pitchFamily="18" charset="2"/>
                </a:rPr>
                <a:t> B= A+B         </a:t>
              </a:r>
              <a:r>
                <a:rPr lang="en-US" altLang="zh-CN" sz="2400" b="1" dirty="0"/>
                <a:t>A</a:t>
              </a:r>
              <a:r>
                <a:rPr lang="en-US" altLang="zh-CN" sz="2400" b="1" dirty="0">
                  <a:sym typeface="Symbol" pitchFamily="18" charset="2"/>
                </a:rPr>
                <a:t>+ B=A B</a:t>
              </a:r>
            </a:p>
          </p:txBody>
        </p:sp>
        <p:sp>
          <p:nvSpPr>
            <p:cNvPr id="16397" name="Line 65"/>
            <p:cNvSpPr>
              <a:spLocks noChangeShapeType="1"/>
            </p:cNvSpPr>
            <p:nvPr/>
          </p:nvSpPr>
          <p:spPr bwMode="auto">
            <a:xfrm>
              <a:off x="1441" y="1156"/>
              <a:ext cx="3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8" name="Line 66"/>
            <p:cNvSpPr>
              <a:spLocks noChangeShapeType="1"/>
            </p:cNvSpPr>
            <p:nvPr/>
          </p:nvSpPr>
          <p:spPr bwMode="auto">
            <a:xfrm>
              <a:off x="1926" y="1156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9" name="Line 67"/>
            <p:cNvSpPr>
              <a:spLocks noChangeShapeType="1"/>
            </p:cNvSpPr>
            <p:nvPr/>
          </p:nvSpPr>
          <p:spPr bwMode="auto">
            <a:xfrm>
              <a:off x="2160" y="1156"/>
              <a:ext cx="1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0" name="Line 68"/>
            <p:cNvSpPr>
              <a:spLocks noChangeShapeType="1"/>
            </p:cNvSpPr>
            <p:nvPr/>
          </p:nvSpPr>
          <p:spPr bwMode="auto">
            <a:xfrm>
              <a:off x="3240" y="1156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1" name="Line 69"/>
            <p:cNvSpPr>
              <a:spLocks noChangeShapeType="1"/>
            </p:cNvSpPr>
            <p:nvPr/>
          </p:nvSpPr>
          <p:spPr bwMode="auto">
            <a:xfrm>
              <a:off x="3420" y="1156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2" name="Line 70"/>
            <p:cNvSpPr>
              <a:spLocks noChangeShapeType="1"/>
            </p:cNvSpPr>
            <p:nvPr/>
          </p:nvSpPr>
          <p:spPr bwMode="auto">
            <a:xfrm>
              <a:off x="2700" y="1156"/>
              <a:ext cx="4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  <p:bldP spid="73" grpId="0" animBg="1"/>
      <p:bldP spid="7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5559425" y="765398"/>
          <a:ext cx="2870200" cy="566737"/>
        </p:xfrm>
        <a:graphic>
          <a:graphicData uri="http://schemas.openxmlformats.org/presentationml/2006/ole">
            <p:oleObj spid="_x0000_s8194" name="Equation" r:id="rId5" imgW="901440" imgH="177480" progId="Equation.DSMT4">
              <p:embed/>
            </p:oleObj>
          </a:graphicData>
        </a:graphic>
      </p:graphicFrame>
      <p:sp>
        <p:nvSpPr>
          <p:cNvPr id="8201" name="Text Box 6"/>
          <p:cNvSpPr txBox="1">
            <a:spLocks noChangeArrowheads="1"/>
          </p:cNvSpPr>
          <p:nvPr/>
        </p:nvSpPr>
        <p:spPr bwMode="auto">
          <a:xfrm>
            <a:off x="4578350" y="765398"/>
            <a:ext cx="10620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i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试证：</a:t>
            </a:r>
            <a:endParaRPr lang="en-US" altLang="zh-CN" sz="2800" b="1" i="0">
              <a:solidFill>
                <a:srgbClr val="C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2286000" y="1719263"/>
          <a:ext cx="4406900" cy="566737"/>
        </p:xfrm>
        <a:graphic>
          <a:graphicData uri="http://schemas.openxmlformats.org/presentationml/2006/ole">
            <p:oleObj spid="_x0000_s8195" name="Equation" r:id="rId6" imgW="1384200" imgH="177480" progId="Equation.DSMT4">
              <p:embed/>
            </p:oleObj>
          </a:graphicData>
        </a:graphic>
      </p:graphicFrame>
      <p:graphicFrame>
        <p:nvGraphicFramePr>
          <p:cNvPr id="104454" name="Object 6"/>
          <p:cNvGraphicFramePr>
            <a:graphicFrameLocks noChangeAspect="1"/>
          </p:cNvGraphicFramePr>
          <p:nvPr/>
        </p:nvGraphicFramePr>
        <p:xfrm>
          <a:off x="2590800" y="765398"/>
          <a:ext cx="1981200" cy="527050"/>
        </p:xfrm>
        <a:graphic>
          <a:graphicData uri="http://schemas.openxmlformats.org/presentationml/2006/ole">
            <p:oleObj spid="_x0000_s8196" name="Equation" r:id="rId7" imgW="622080" imgH="164880" progId="Equation.DSMT4">
              <p:embed/>
            </p:oleObj>
          </a:graphicData>
        </a:graphic>
      </p:graphicFrame>
      <p:sp>
        <p:nvSpPr>
          <p:cNvPr id="8202" name="Text Box 6"/>
          <p:cNvSpPr txBox="1">
            <a:spLocks noChangeArrowheads="1"/>
          </p:cNvSpPr>
          <p:nvPr/>
        </p:nvSpPr>
        <p:spPr bwMode="auto">
          <a:xfrm>
            <a:off x="642938" y="765398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例</a:t>
            </a: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：</a:t>
            </a:r>
            <a:r>
              <a:rPr lang="zh-CN" altLang="en-US" sz="2800" b="1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已证：</a:t>
            </a:r>
            <a:endParaRPr lang="en-US" altLang="zh-CN" sz="2800" b="1" i="0" dirty="0">
              <a:solidFill>
                <a:srgbClr val="C0000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785813" y="2214563"/>
            <a:ext cx="10620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i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推广：</a:t>
            </a:r>
            <a:endParaRPr lang="en-US" altLang="zh-CN" sz="2800" b="1" i="0">
              <a:solidFill>
                <a:srgbClr val="C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22" name="Object 8"/>
          <p:cNvGraphicFramePr>
            <a:graphicFrameLocks noChangeAspect="1"/>
          </p:cNvGraphicFramePr>
          <p:nvPr/>
        </p:nvGraphicFramePr>
        <p:xfrm>
          <a:off x="2214563" y="2714625"/>
          <a:ext cx="4567237" cy="647700"/>
        </p:xfrm>
        <a:graphic>
          <a:graphicData uri="http://schemas.openxmlformats.org/presentationml/2006/ole">
            <p:oleObj spid="_x0000_s8197" name="Equation" r:id="rId8" imgW="1434960" imgH="203040" progId="Equation.DSMT4">
              <p:embed/>
            </p:oleObj>
          </a:graphicData>
        </a:graphic>
      </p:graphicFrame>
      <p:graphicFrame>
        <p:nvGraphicFramePr>
          <p:cNvPr id="23" name="Object 9"/>
          <p:cNvGraphicFramePr>
            <a:graphicFrameLocks noChangeAspect="1"/>
          </p:cNvGraphicFramePr>
          <p:nvPr/>
        </p:nvGraphicFramePr>
        <p:xfrm>
          <a:off x="2219325" y="3500438"/>
          <a:ext cx="4567238" cy="647700"/>
        </p:xfrm>
        <a:graphic>
          <a:graphicData uri="http://schemas.openxmlformats.org/presentationml/2006/ole">
            <p:oleObj spid="_x0000_s8198" name="Equation" r:id="rId9" imgW="1434960" imgH="203040" progId="Equation.DSMT4">
              <p:embed/>
            </p:oleObj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4184650" y="558343"/>
          <a:ext cx="2587625" cy="525463"/>
        </p:xfrm>
        <a:graphic>
          <a:graphicData uri="http://schemas.openxmlformats.org/presentationml/2006/ole">
            <p:oleObj spid="_x0000_s9218" name="Equation" r:id="rId5" imgW="812520" imgH="164880" progId="Equation.DSMT4">
              <p:embed/>
            </p:oleObj>
          </a:graphicData>
        </a:graphic>
      </p:graphicFrame>
      <p:sp>
        <p:nvSpPr>
          <p:cNvPr id="9225" name="Text Box 6"/>
          <p:cNvSpPr txBox="1">
            <a:spLocks noChangeArrowheads="1"/>
          </p:cNvSpPr>
          <p:nvPr/>
        </p:nvSpPr>
        <p:spPr bwMode="auto">
          <a:xfrm>
            <a:off x="842963" y="583743"/>
            <a:ext cx="3429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例</a:t>
            </a: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：</a:t>
            </a:r>
            <a:r>
              <a:rPr lang="zh-CN" altLang="en-US" sz="2800" b="1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证明吸收律：</a:t>
            </a:r>
            <a:endParaRPr lang="en-US" altLang="zh-CN" sz="2800" b="1" i="0" dirty="0">
              <a:solidFill>
                <a:srgbClr val="C00000"/>
              </a:solidFill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2228850" y="1320800"/>
          <a:ext cx="4003675" cy="608013"/>
        </p:xfrm>
        <a:graphic>
          <a:graphicData uri="http://schemas.openxmlformats.org/presentationml/2006/ole">
            <p:oleObj spid="_x0000_s9219" name="Equation" r:id="rId6" imgW="1257120" imgH="190440" progId="Equation.DSMT4">
              <p:embed/>
            </p:oleObj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3486150" y="1857375"/>
          <a:ext cx="3600450" cy="525463"/>
        </p:xfrm>
        <a:graphic>
          <a:graphicData uri="http://schemas.openxmlformats.org/presentationml/2006/ole">
            <p:oleObj spid="_x0000_s9220" name="Equation" r:id="rId7" imgW="1130040" imgH="164880" progId="Equation.DSMT4">
              <p:embed/>
            </p:oleObj>
          </a:graphicData>
        </a:graphic>
      </p:graphicFrame>
      <p:sp>
        <p:nvSpPr>
          <p:cNvPr id="20" name="Text Box 1053"/>
          <p:cNvSpPr txBox="1">
            <a:spLocks noChangeArrowheads="1"/>
          </p:cNvSpPr>
          <p:nvPr/>
        </p:nvSpPr>
        <p:spPr bwMode="auto">
          <a:xfrm>
            <a:off x="914400" y="3747408"/>
            <a:ext cx="73580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i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“两项相加，一项含着另一项的非，则非因子多余.”</a:t>
            </a:r>
            <a:r>
              <a:rPr lang="zh-CN" altLang="en-US" sz="2400" i="0" dirty="0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3511550" y="3000375"/>
          <a:ext cx="1617663" cy="525463"/>
        </p:xfrm>
        <a:graphic>
          <a:graphicData uri="http://schemas.openxmlformats.org/presentationml/2006/ole">
            <p:oleObj spid="_x0000_s9221" name="Equation" r:id="rId8" imgW="507960" imgH="164880" progId="Equation.DSMT4">
              <p:embed/>
            </p:oleObj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3486150" y="2428875"/>
          <a:ext cx="2508250" cy="525463"/>
        </p:xfrm>
        <a:graphic>
          <a:graphicData uri="http://schemas.openxmlformats.org/presentationml/2006/ole">
            <p:oleObj spid="_x0000_s9222" name="Equation" r:id="rId9" imgW="787320" imgH="164880" progId="Equation.DSMT4">
              <p:embed/>
            </p:oleObj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3214688" y="542925"/>
          <a:ext cx="4041775" cy="528638"/>
        </p:xfrm>
        <a:graphic>
          <a:graphicData uri="http://schemas.openxmlformats.org/presentationml/2006/ole">
            <p:oleObj spid="_x0000_s10242" name="Equation" r:id="rId5" imgW="1358640" imgH="177480" progId="Equation.DSMT4">
              <p:embed/>
            </p:oleObj>
          </a:graphicData>
        </a:graphic>
      </p:graphicFrame>
      <p:sp>
        <p:nvSpPr>
          <p:cNvPr id="10249" name="Text Box 6"/>
          <p:cNvSpPr txBox="1">
            <a:spLocks noChangeArrowheads="1"/>
          </p:cNvSpPr>
          <p:nvPr/>
        </p:nvSpPr>
        <p:spPr bwMode="auto">
          <a:xfrm>
            <a:off x="1220559" y="571500"/>
            <a:ext cx="18573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例</a:t>
            </a: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4</a:t>
            </a:r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：</a:t>
            </a:r>
            <a:r>
              <a:rPr lang="zh-CN" altLang="en-US" sz="2800" b="1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证明：</a:t>
            </a:r>
            <a:endParaRPr lang="en-US" altLang="zh-CN" sz="2800" b="1" i="0" dirty="0">
              <a:solidFill>
                <a:srgbClr val="C00000"/>
              </a:solidFill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1571625" y="1071563"/>
          <a:ext cx="5848350" cy="560387"/>
        </p:xfrm>
        <a:graphic>
          <a:graphicData uri="http://schemas.openxmlformats.org/presentationml/2006/ole">
            <p:oleObj spid="_x0000_s10243" name="Equation" r:id="rId6" imgW="1993680" imgH="190440" progId="Equation.DSMT4">
              <p:embed/>
            </p:oleObj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857250" y="1571625"/>
          <a:ext cx="7400925" cy="557213"/>
        </p:xfrm>
        <a:graphic>
          <a:graphicData uri="http://schemas.openxmlformats.org/presentationml/2006/ole">
            <p:oleObj spid="_x0000_s10244" name="Equation" r:id="rId7" imgW="2539800" imgH="190440" progId="Equation.DSMT4">
              <p:embed/>
            </p:oleObj>
          </a:graphicData>
        </a:graphic>
      </p:graphicFrame>
      <p:graphicFrame>
        <p:nvGraphicFramePr>
          <p:cNvPr id="21" name="Object 6"/>
          <p:cNvGraphicFramePr>
            <a:graphicFrameLocks noChangeAspect="1"/>
          </p:cNvGraphicFramePr>
          <p:nvPr/>
        </p:nvGraphicFramePr>
        <p:xfrm>
          <a:off x="4643438" y="2071688"/>
          <a:ext cx="1757362" cy="523875"/>
        </p:xfrm>
        <a:graphic>
          <a:graphicData uri="http://schemas.openxmlformats.org/presentationml/2006/ole">
            <p:oleObj spid="_x0000_s10245" name="Equation" r:id="rId8" imgW="596880" imgH="177480" progId="Equation.DSMT4">
              <p:embed/>
            </p:oleObj>
          </a:graphicData>
        </a:graphic>
      </p:graphicFrame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571500" y="2643188"/>
            <a:ext cx="8072438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/>
            <a:r>
              <a:rPr lang="zh-CN" altLang="en-US" sz="2400" b="1" i="0" dirty="0">
                <a:solidFill>
                  <a:srgbClr val="FF3300"/>
                </a:solidFill>
                <a:latin typeface="华文中宋" pitchFamily="2" charset="-122"/>
                <a:ea typeface="华文中宋" pitchFamily="2" charset="-122"/>
              </a:rPr>
              <a:t>“与或表达式中，两个乘积项分别包含同一因子的原变量和反变量，而两项的剩余因子包含在第三个乘积项中，则第三项是多余的”。公式可推广：</a:t>
            </a:r>
          </a:p>
        </p:txBody>
      </p:sp>
      <p:graphicFrame>
        <p:nvGraphicFramePr>
          <p:cNvPr id="23" name="Object 7"/>
          <p:cNvGraphicFramePr>
            <a:graphicFrameLocks noChangeAspect="1"/>
          </p:cNvGraphicFramePr>
          <p:nvPr/>
        </p:nvGraphicFramePr>
        <p:xfrm>
          <a:off x="2428875" y="3836988"/>
          <a:ext cx="4421188" cy="520700"/>
        </p:xfrm>
        <a:graphic>
          <a:graphicData uri="http://schemas.openxmlformats.org/presentationml/2006/ole">
            <p:oleObj spid="_x0000_s10246" name="Equation" r:id="rId9" imgW="1511280" imgH="177480" progId="Equation.DSMT4">
              <p:embed/>
            </p:oleObj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4" descr="img200706121339341457副本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64164" y="2407444"/>
            <a:ext cx="3095625" cy="222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6469" name="Rectangle 5"/>
          <p:cNvSpPr>
            <a:spLocks noChangeArrowheads="1"/>
          </p:cNvSpPr>
          <p:nvPr/>
        </p:nvSpPr>
        <p:spPr bwMode="auto">
          <a:xfrm>
            <a:off x="2700339" y="1491854"/>
            <a:ext cx="32400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结    束</a:t>
            </a:r>
            <a:r>
              <a:rPr lang="zh-CN" altLang="en-US" sz="3600" dirty="0" smtClean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824329971"/>
      </p:ext>
    </p:extLst>
  </p:cSld>
  <p:clrMapOvr>
    <a:masterClrMapping/>
  </p:clrMapOvr>
  <p:transition spd="slow">
    <p:diamond/>
    <p:sndAc>
      <p:stSnd>
        <p:snd r:embed="rId2" name="结束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电工学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2225">
          <a:solidFill>
            <a:schemeClr val="tx1"/>
          </a:solidFill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15860</TotalTime>
  <Words>1284</Words>
  <Application>Microsoft Office PowerPoint</Application>
  <PresentationFormat>全屏显示(16:9)</PresentationFormat>
  <Paragraphs>445</Paragraphs>
  <Slides>30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电工学模板</vt:lpstr>
      <vt:lpstr>Visio</vt:lpstr>
      <vt:lpstr>BMP 图象</vt:lpstr>
      <vt:lpstr>Equation</vt:lpstr>
      <vt:lpstr>MathType 6.0 Equation</vt:lpstr>
      <vt:lpstr>12   组合逻辑电路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1222</cp:revision>
  <dcterms:modified xsi:type="dcterms:W3CDTF">2017-10-06T13:22:04Z</dcterms:modified>
</cp:coreProperties>
</file>