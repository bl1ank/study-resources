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414" r:id="rId3"/>
    <p:sldId id="453" r:id="rId4"/>
    <p:sldId id="442" r:id="rId5"/>
    <p:sldId id="454" r:id="rId6"/>
    <p:sldId id="415" r:id="rId7"/>
    <p:sldId id="456" r:id="rId8"/>
    <p:sldId id="443" r:id="rId9"/>
    <p:sldId id="444" r:id="rId10"/>
    <p:sldId id="446" r:id="rId11"/>
    <p:sldId id="445" r:id="rId12"/>
    <p:sldId id="447" r:id="rId13"/>
    <p:sldId id="449" r:id="rId14"/>
    <p:sldId id="457" r:id="rId15"/>
    <p:sldId id="393" r:id="rId1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249" autoAdjust="0"/>
  </p:normalViewPr>
  <p:slideViewPr>
    <p:cSldViewPr snapToGrid="0">
      <p:cViewPr varScale="1">
        <p:scale>
          <a:sx n="88" d="100"/>
          <a:sy n="88" d="100"/>
        </p:scale>
        <p:origin x="-1008" y="-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1AD2-7476-45B4-814A-98B053717553}" type="datetimeFigureOut">
              <a:rPr lang="zh-CN" altLang="en-US" smtClean="0"/>
              <a:pPr/>
              <a:t>2017/9/12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ED196-E9E0-4BA2-97A0-E51B0C3A5A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ED196-E9E0-4BA2-97A0-E51B0C3A5A3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Microsoft_Office_Word_97_-_2003___1.doc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225" y="663575"/>
            <a:ext cx="7042831" cy="936625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13.2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时序逻辑电路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7656" y="1804602"/>
            <a:ext cx="6281058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、时序逻辑电路的分析方法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9729" y="2494938"/>
            <a:ext cx="2516958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、寄存器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57070" y="3169853"/>
            <a:ext cx="2527844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、计数器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44959" y="293745"/>
            <a:ext cx="1453955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概述</a:t>
            </a:r>
          </a:p>
        </p:txBody>
      </p:sp>
      <p:grpSp>
        <p:nvGrpSpPr>
          <p:cNvPr id="56" name="Group 18"/>
          <p:cNvGrpSpPr>
            <a:grpSpLocks/>
          </p:cNvGrpSpPr>
          <p:nvPr/>
        </p:nvGrpSpPr>
        <p:grpSpPr bwMode="auto">
          <a:xfrm>
            <a:off x="652917" y="851580"/>
            <a:ext cx="8001000" cy="1371599"/>
            <a:chOff x="521" y="845"/>
            <a:chExt cx="5040" cy="864"/>
          </a:xfrm>
        </p:grpSpPr>
        <p:sp>
          <p:nvSpPr>
            <p:cNvPr id="57" name="Text Box 5"/>
            <p:cNvSpPr txBox="1">
              <a:spLocks noChangeArrowheads="1"/>
            </p:cNvSpPr>
            <p:nvPr/>
          </p:nvSpPr>
          <p:spPr bwMode="auto">
            <a:xfrm>
              <a:off x="521" y="845"/>
              <a:ext cx="5040" cy="864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40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zh-CN" altLang="en-US" sz="32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时序逻辑电路的特点：</a:t>
              </a:r>
            </a:p>
            <a:p>
              <a:pPr>
                <a:spcBef>
                  <a:spcPts val="1800"/>
                </a:spcBef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时序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逻辑电路是由触发器和组合逻辑电路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组成。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Oval 9"/>
            <p:cNvSpPr>
              <a:spLocks noChangeArrowheads="1"/>
            </p:cNvSpPr>
            <p:nvPr/>
          </p:nvSpPr>
          <p:spPr bwMode="auto">
            <a:xfrm>
              <a:off x="657" y="1447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9" name="Group 19"/>
          <p:cNvGrpSpPr>
            <a:grpSpLocks/>
          </p:cNvGrpSpPr>
          <p:nvPr/>
        </p:nvGrpSpPr>
        <p:grpSpPr bwMode="auto">
          <a:xfrm>
            <a:off x="652917" y="2353809"/>
            <a:ext cx="7990855" cy="955675"/>
            <a:chOff x="521" y="1661"/>
            <a:chExt cx="4726" cy="602"/>
          </a:xfrm>
        </p:grpSpPr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521" y="1661"/>
              <a:ext cx="4726" cy="602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zh-CN" altLang="en-US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时序</a:t>
              </a:r>
              <a:r>
                <a:rPr lang="zh-CN" altLang="en-US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逻辑电路的输出不仅与当前的输入状态有</a:t>
              </a:r>
            </a:p>
            <a:p>
              <a:r>
                <a:rPr lang="zh-CN" altLang="en-US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关</a:t>
              </a:r>
              <a:r>
                <a:rPr lang="zh-CN" altLang="en-US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，而且与电路原来状态</a:t>
              </a:r>
              <a:r>
                <a:rPr lang="en-US" altLang="zh-CN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lang="zh-CN" altLang="en-US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触发器的</a:t>
              </a:r>
              <a:r>
                <a:rPr lang="zh-CN" altLang="en-US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状态</a:t>
              </a:r>
              <a:r>
                <a:rPr lang="en-US" altLang="zh-CN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zh-CN" altLang="en-US" sz="2800" i="0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有关</a:t>
              </a:r>
              <a:r>
                <a:rPr lang="zh-CN" altLang="en-US" sz="28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  <p:sp>
          <p:nvSpPr>
            <p:cNvPr id="61" name="Oval 10"/>
            <p:cNvSpPr>
              <a:spLocks noChangeArrowheads="1"/>
            </p:cNvSpPr>
            <p:nvPr/>
          </p:nvSpPr>
          <p:spPr bwMode="auto">
            <a:xfrm>
              <a:off x="657" y="1797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62" name="Group 20"/>
          <p:cNvGrpSpPr>
            <a:grpSpLocks/>
          </p:cNvGrpSpPr>
          <p:nvPr/>
        </p:nvGrpSpPr>
        <p:grpSpPr bwMode="auto">
          <a:xfrm>
            <a:off x="652917" y="3433308"/>
            <a:ext cx="7921625" cy="955675"/>
            <a:chOff x="521" y="2341"/>
            <a:chExt cx="4990" cy="602"/>
          </a:xfrm>
        </p:grpSpPr>
        <p:sp>
          <p:nvSpPr>
            <p:cNvPr id="63" name="Text Box 8"/>
            <p:cNvSpPr txBox="1">
              <a:spLocks noChangeArrowheads="1"/>
            </p:cNvSpPr>
            <p:nvPr/>
          </p:nvSpPr>
          <p:spPr bwMode="auto">
            <a:xfrm>
              <a:off x="521" y="2341"/>
              <a:ext cx="4990" cy="602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80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    所谓</a:t>
              </a:r>
              <a:r>
                <a:rPr lang="en-US" altLang="zh-CN" sz="2800" i="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“</a:t>
              </a:r>
              <a:r>
                <a:rPr lang="zh-CN" altLang="en-US" sz="280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时序</a:t>
              </a:r>
              <a:r>
                <a:rPr lang="en-US" altLang="zh-CN" sz="280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”</a:t>
              </a:r>
              <a:r>
                <a:rPr lang="zh-CN" altLang="en-US" sz="2800" i="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是</a:t>
              </a:r>
              <a:r>
                <a:rPr lang="zh-CN" altLang="en-US" sz="2800" i="0" dirty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指电路的状态与时间顺序有</a:t>
              </a:r>
              <a:r>
                <a:rPr lang="zh-CN" altLang="en-US" sz="2800" i="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密</a:t>
              </a:r>
              <a:endParaRPr lang="en-US" altLang="zh-CN" sz="2800" i="0" dirty="0" smtClean="0">
                <a:solidFill>
                  <a:srgbClr val="7030A0"/>
                </a:solidFill>
                <a:latin typeface="华文中宋" pitchFamily="2" charset="-122"/>
                <a:ea typeface="华文中宋" pitchFamily="2" charset="-122"/>
              </a:endParaRPr>
            </a:p>
            <a:p>
              <a:r>
                <a:rPr lang="en-US" altLang="zh-CN" sz="280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    </a:t>
              </a:r>
              <a:r>
                <a:rPr lang="zh-CN" altLang="en-US" sz="2800" i="0" dirty="0" smtClean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切</a:t>
              </a:r>
              <a:r>
                <a:rPr lang="zh-CN" altLang="en-US" sz="2800" i="0" dirty="0">
                  <a:solidFill>
                    <a:srgbClr val="7030A0"/>
                  </a:solidFill>
                  <a:latin typeface="华文中宋" pitchFamily="2" charset="-122"/>
                  <a:ea typeface="华文中宋" pitchFamily="2" charset="-122"/>
                </a:rPr>
                <a:t>的关系。</a:t>
              </a:r>
            </a:p>
          </p:txBody>
        </p:sp>
        <p:sp>
          <p:nvSpPr>
            <p:cNvPr id="64" name="Oval 11"/>
            <p:cNvSpPr>
              <a:spLocks noChangeArrowheads="1"/>
            </p:cNvSpPr>
            <p:nvPr/>
          </p:nvSpPr>
          <p:spPr bwMode="auto">
            <a:xfrm>
              <a:off x="657" y="2432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44959" y="293745"/>
            <a:ext cx="1453955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概述</a:t>
            </a:r>
          </a:p>
        </p:txBody>
      </p:sp>
      <p:sp>
        <p:nvSpPr>
          <p:cNvPr id="65" name="Rectangle 13"/>
          <p:cNvSpPr>
            <a:spLocks noChangeArrowheads="1"/>
          </p:cNvSpPr>
          <p:nvPr/>
        </p:nvSpPr>
        <p:spPr bwMode="auto">
          <a:xfrm>
            <a:off x="1295175" y="1447800"/>
            <a:ext cx="6945311" cy="14487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40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时序逻辑电路分为：</a:t>
            </a:r>
          </a:p>
          <a:p>
            <a:pPr>
              <a:spcBef>
                <a:spcPts val="24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同步时序逻辑电路和异步时序逻辑电路。</a:t>
            </a:r>
          </a:p>
        </p:txBody>
      </p:sp>
      <p:pic>
        <p:nvPicPr>
          <p:cNvPr id="101" name="Picture 25" descr="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8607" y="2881992"/>
            <a:ext cx="7318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" name="Picture 26" descr="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2090" y="2860220"/>
            <a:ext cx="7318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" name="Picture 27" descr="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0407" y="2881992"/>
            <a:ext cx="7318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6" descr="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8433" y="2881992"/>
            <a:ext cx="7318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"/>
          <p:cNvGrpSpPr>
            <a:grpSpLocks/>
          </p:cNvGrpSpPr>
          <p:nvPr/>
        </p:nvGrpSpPr>
        <p:grpSpPr bwMode="auto">
          <a:xfrm>
            <a:off x="1115785" y="2105933"/>
            <a:ext cx="3597274" cy="525462"/>
            <a:chOff x="602" y="824"/>
            <a:chExt cx="2266" cy="331"/>
          </a:xfrm>
        </p:grpSpPr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761" y="824"/>
              <a:ext cx="2107" cy="331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分析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电路的组成；</a:t>
              </a:r>
            </a:p>
          </p:txBody>
        </p:sp>
        <p:sp>
          <p:nvSpPr>
            <p:cNvPr id="51" name="Oval 6"/>
            <p:cNvSpPr>
              <a:spLocks noChangeArrowheads="1"/>
            </p:cNvSpPr>
            <p:nvPr/>
          </p:nvSpPr>
          <p:spPr bwMode="auto">
            <a:xfrm>
              <a:off x="602" y="946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2" name="Group 10"/>
          <p:cNvGrpSpPr>
            <a:grpSpLocks/>
          </p:cNvGrpSpPr>
          <p:nvPr/>
        </p:nvGrpSpPr>
        <p:grpSpPr bwMode="auto">
          <a:xfrm>
            <a:off x="1019630" y="2749328"/>
            <a:ext cx="7307263" cy="525463"/>
            <a:chOff x="610" y="2327"/>
            <a:chExt cx="4603" cy="331"/>
          </a:xfrm>
        </p:grpSpPr>
        <p:sp>
          <p:nvSpPr>
            <p:cNvPr id="53" name="Text Box 11"/>
            <p:cNvSpPr txBox="1">
              <a:spLocks noChangeArrowheads="1"/>
            </p:cNvSpPr>
            <p:nvPr/>
          </p:nvSpPr>
          <p:spPr bwMode="auto">
            <a:xfrm>
              <a:off x="610" y="2327"/>
              <a:ext cx="4603" cy="331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写出各个触发器输入端的逻辑函数表达式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；   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657" y="2432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5" name="Group 21"/>
          <p:cNvGrpSpPr>
            <a:grpSpLocks/>
          </p:cNvGrpSpPr>
          <p:nvPr/>
        </p:nvGrpSpPr>
        <p:grpSpPr bwMode="auto">
          <a:xfrm>
            <a:off x="1124908" y="3345324"/>
            <a:ext cx="7628398" cy="1085853"/>
            <a:chOff x="657" y="2318"/>
            <a:chExt cx="4850" cy="684"/>
          </a:xfrm>
        </p:grpSpPr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722" y="2318"/>
              <a:ext cx="4785" cy="684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把各个触发器输入端的逻辑函数表达式代入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触发器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的特性方程，得出各触发器的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状态方程   </a:t>
              </a:r>
              <a:endPara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 bwMode="auto">
            <a:xfrm>
              <a:off x="657" y="2432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7" name="Rectangle 28"/>
          <p:cNvSpPr>
            <a:spLocks noChangeArrowheads="1"/>
          </p:cNvSpPr>
          <p:nvPr/>
        </p:nvSpPr>
        <p:spPr bwMode="auto">
          <a:xfrm>
            <a:off x="882650" y="1257527"/>
            <a:ext cx="5106183" cy="58695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分析时序逻辑电路的步骤：</a:t>
            </a:r>
          </a:p>
        </p:txBody>
      </p:sp>
      <p:sp>
        <p:nvSpPr>
          <p:cNvPr id="68" name="Rectangle 3"/>
          <p:cNvSpPr txBox="1">
            <a:spLocks noChangeArrowheads="1"/>
          </p:cNvSpPr>
          <p:nvPr/>
        </p:nvSpPr>
        <p:spPr>
          <a:xfrm>
            <a:off x="609599" y="454774"/>
            <a:ext cx="6281058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、时序逻辑电路的分析方法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900113" y="1268413"/>
            <a:ext cx="5599112" cy="1371599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lang="en-US" altLang="zh-CN" sz="40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endParaRPr lang="en-US" altLang="zh-CN" sz="32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spcBef>
                <a:spcPts val="18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1052708" y="2198685"/>
            <a:ext cx="7590744" cy="1516061"/>
            <a:chOff x="607" y="2341"/>
            <a:chExt cx="4990" cy="955"/>
          </a:xfrm>
        </p:grpSpPr>
        <p:sp>
          <p:nvSpPr>
            <p:cNvPr id="59" name="Text Box 25"/>
            <p:cNvSpPr txBox="1">
              <a:spLocks noChangeArrowheads="1"/>
            </p:cNvSpPr>
            <p:nvPr/>
          </p:nvSpPr>
          <p:spPr bwMode="auto">
            <a:xfrm>
              <a:off x="607" y="2341"/>
              <a:ext cx="4990" cy="955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/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根据状态方程和输出方程，列出逻辑状态表，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画出波形图，确定该时序电路的状态变化规和</a:t>
              </a:r>
            </a:p>
            <a:p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逻辑功能。   </a:t>
              </a:r>
            </a:p>
          </p:txBody>
        </p:sp>
        <p:sp>
          <p:nvSpPr>
            <p:cNvPr id="66" name="Oval 26"/>
            <p:cNvSpPr>
              <a:spLocks noChangeArrowheads="1"/>
            </p:cNvSpPr>
            <p:nvPr/>
          </p:nvSpPr>
          <p:spPr bwMode="auto">
            <a:xfrm>
              <a:off x="657" y="2432"/>
              <a:ext cx="136" cy="136"/>
            </a:xfrm>
            <a:prstGeom prst="ellipse">
              <a:avLst/>
            </a:prstGeom>
            <a:solidFill>
              <a:srgbClr val="FF9933"/>
            </a:solidFill>
            <a:ln w="34925">
              <a:solidFill>
                <a:srgbClr val="FFFF66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8" name="Rectangle 3"/>
          <p:cNvSpPr txBox="1">
            <a:spLocks noChangeArrowheads="1"/>
          </p:cNvSpPr>
          <p:nvPr/>
        </p:nvSpPr>
        <p:spPr>
          <a:xfrm>
            <a:off x="609599" y="454774"/>
            <a:ext cx="6281058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、时序逻辑电路的分析方法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6" name="Rectangle 28"/>
          <p:cNvSpPr>
            <a:spLocks noChangeArrowheads="1"/>
          </p:cNvSpPr>
          <p:nvPr/>
        </p:nvSpPr>
        <p:spPr bwMode="auto">
          <a:xfrm>
            <a:off x="882650" y="1257527"/>
            <a:ext cx="5106183" cy="58695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分析时序逻辑电路的步骤：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Line 35"/>
          <p:cNvSpPr>
            <a:spLocks noChangeShapeType="1"/>
          </p:cNvSpPr>
          <p:nvPr/>
        </p:nvSpPr>
        <p:spPr bwMode="auto">
          <a:xfrm>
            <a:off x="12083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Text Box 12"/>
          <p:cNvSpPr txBox="1">
            <a:spLocks noChangeArrowheads="1"/>
          </p:cNvSpPr>
          <p:nvPr/>
        </p:nvSpPr>
        <p:spPr bwMode="auto">
          <a:xfrm>
            <a:off x="489858" y="174172"/>
            <a:ext cx="6291943" cy="1171732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分析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图示时序逻辑电路的功能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设初 始状态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011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7511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fol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25799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7" name="Rectangle 15"/>
          <p:cNvSpPr>
            <a:spLocks noChangeArrowheads="1"/>
          </p:cNvSpPr>
          <p:nvPr/>
        </p:nvSpPr>
        <p:spPr bwMode="auto">
          <a:xfrm>
            <a:off x="41039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8" name="Group 180"/>
          <p:cNvGrpSpPr>
            <a:grpSpLocks/>
          </p:cNvGrpSpPr>
          <p:nvPr/>
        </p:nvGrpSpPr>
        <p:grpSpPr bwMode="auto">
          <a:xfrm>
            <a:off x="1135289" y="2693540"/>
            <a:ext cx="144463" cy="227013"/>
            <a:chOff x="770" y="1632"/>
            <a:chExt cx="91" cy="143"/>
          </a:xfrm>
        </p:grpSpPr>
        <p:sp>
          <p:nvSpPr>
            <p:cNvPr id="59" name="AutoShape 16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Oval 21"/>
            <p:cNvSpPr>
              <a:spLocks noChangeArrowheads="1"/>
            </p:cNvSpPr>
            <p:nvPr/>
          </p:nvSpPr>
          <p:spPr bwMode="auto">
            <a:xfrm>
              <a:off x="796" y="1727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1" name="Line 29"/>
          <p:cNvSpPr>
            <a:spLocks noChangeShapeType="1"/>
          </p:cNvSpPr>
          <p:nvPr/>
        </p:nvSpPr>
        <p:spPr bwMode="auto">
          <a:xfrm>
            <a:off x="598714" y="4060371"/>
            <a:ext cx="396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2" name="Line 30"/>
          <p:cNvSpPr>
            <a:spLocks noChangeShapeType="1"/>
          </p:cNvSpPr>
          <p:nvPr/>
        </p:nvSpPr>
        <p:spPr bwMode="auto">
          <a:xfrm>
            <a:off x="632052" y="3831771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3" name="Line 31"/>
          <p:cNvSpPr>
            <a:spLocks noChangeShapeType="1"/>
          </p:cNvSpPr>
          <p:nvPr/>
        </p:nvSpPr>
        <p:spPr bwMode="auto">
          <a:xfrm>
            <a:off x="979714" y="1850571"/>
            <a:ext cx="426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4" name="Line 32"/>
          <p:cNvSpPr>
            <a:spLocks noChangeShapeType="1"/>
          </p:cNvSpPr>
          <p:nvPr/>
        </p:nvSpPr>
        <p:spPr bwMode="auto">
          <a:xfrm>
            <a:off x="9797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5" name="Line 33"/>
          <p:cNvSpPr>
            <a:spLocks noChangeShapeType="1"/>
          </p:cNvSpPr>
          <p:nvPr/>
        </p:nvSpPr>
        <p:spPr bwMode="auto">
          <a:xfrm>
            <a:off x="42563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6" name="Line 34"/>
          <p:cNvSpPr>
            <a:spLocks noChangeShapeType="1"/>
          </p:cNvSpPr>
          <p:nvPr/>
        </p:nvSpPr>
        <p:spPr bwMode="auto">
          <a:xfrm>
            <a:off x="28085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8" name="Line 38"/>
          <p:cNvSpPr>
            <a:spLocks noChangeShapeType="1"/>
          </p:cNvSpPr>
          <p:nvPr/>
        </p:nvSpPr>
        <p:spPr bwMode="auto">
          <a:xfrm>
            <a:off x="45611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9" name="Line 39"/>
          <p:cNvSpPr>
            <a:spLocks noChangeShapeType="1"/>
          </p:cNvSpPr>
          <p:nvPr/>
        </p:nvSpPr>
        <p:spPr bwMode="auto">
          <a:xfrm>
            <a:off x="30371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1605189" y="2841171"/>
            <a:ext cx="0" cy="228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1" name="Line 41"/>
          <p:cNvSpPr>
            <a:spLocks noChangeShapeType="1"/>
          </p:cNvSpPr>
          <p:nvPr/>
        </p:nvSpPr>
        <p:spPr bwMode="auto">
          <a:xfrm>
            <a:off x="4927827" y="2845933"/>
            <a:ext cx="0" cy="180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2" name="Line 42"/>
          <p:cNvSpPr>
            <a:spLocks noChangeShapeType="1"/>
          </p:cNvSpPr>
          <p:nvPr/>
        </p:nvSpPr>
        <p:spPr bwMode="auto">
          <a:xfrm>
            <a:off x="3418114" y="2841171"/>
            <a:ext cx="0" cy="228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3" name="Line 45"/>
          <p:cNvSpPr>
            <a:spLocks noChangeShapeType="1"/>
          </p:cNvSpPr>
          <p:nvPr/>
        </p:nvSpPr>
        <p:spPr bwMode="auto">
          <a:xfrm>
            <a:off x="3418114" y="3450771"/>
            <a:ext cx="0" cy="152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4" name="Line 46"/>
          <p:cNvSpPr>
            <a:spLocks noChangeShapeType="1"/>
          </p:cNvSpPr>
          <p:nvPr/>
        </p:nvSpPr>
        <p:spPr bwMode="auto">
          <a:xfrm flipV="1">
            <a:off x="979714" y="3603171"/>
            <a:ext cx="1219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5" name="Line 47"/>
          <p:cNvSpPr>
            <a:spLocks noChangeShapeType="1"/>
          </p:cNvSpPr>
          <p:nvPr/>
        </p:nvSpPr>
        <p:spPr bwMode="auto">
          <a:xfrm>
            <a:off x="2198914" y="2002971"/>
            <a:ext cx="0" cy="1600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6" name="Line 48"/>
          <p:cNvSpPr>
            <a:spLocks noChangeShapeType="1"/>
          </p:cNvSpPr>
          <p:nvPr/>
        </p:nvSpPr>
        <p:spPr bwMode="auto">
          <a:xfrm>
            <a:off x="2351314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7" name="Line 49"/>
          <p:cNvSpPr>
            <a:spLocks noChangeShapeType="1"/>
          </p:cNvSpPr>
          <p:nvPr/>
        </p:nvSpPr>
        <p:spPr bwMode="auto">
          <a:xfrm>
            <a:off x="3722914" y="2002971"/>
            <a:ext cx="0" cy="1600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8" name="Oval 50"/>
          <p:cNvSpPr>
            <a:spLocks noChangeArrowheads="1"/>
          </p:cNvSpPr>
          <p:nvPr/>
        </p:nvSpPr>
        <p:spPr bwMode="auto">
          <a:xfrm>
            <a:off x="2503714" y="2498271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9" name="Oval 51"/>
          <p:cNvSpPr>
            <a:spLocks noChangeArrowheads="1"/>
          </p:cNvSpPr>
          <p:nvPr/>
        </p:nvSpPr>
        <p:spPr bwMode="auto">
          <a:xfrm>
            <a:off x="1741714" y="2501446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0" name="Oval 52"/>
          <p:cNvSpPr>
            <a:spLocks noChangeArrowheads="1"/>
          </p:cNvSpPr>
          <p:nvPr/>
        </p:nvSpPr>
        <p:spPr bwMode="auto">
          <a:xfrm>
            <a:off x="4024539" y="2488746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1" name="Line 53"/>
          <p:cNvSpPr>
            <a:spLocks noChangeShapeType="1"/>
          </p:cNvSpPr>
          <p:nvPr/>
        </p:nvSpPr>
        <p:spPr bwMode="auto">
          <a:xfrm>
            <a:off x="2351314" y="2536371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2" name="Line 54"/>
          <p:cNvSpPr>
            <a:spLocks noChangeShapeType="1"/>
          </p:cNvSpPr>
          <p:nvPr/>
        </p:nvSpPr>
        <p:spPr bwMode="auto">
          <a:xfrm>
            <a:off x="3910239" y="2536371"/>
            <a:ext cx="1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3" name="Line 55"/>
          <p:cNvSpPr>
            <a:spLocks noChangeShapeType="1"/>
          </p:cNvSpPr>
          <p:nvPr/>
        </p:nvSpPr>
        <p:spPr bwMode="auto">
          <a:xfrm>
            <a:off x="1817914" y="2536371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4" name="Line 56"/>
          <p:cNvSpPr>
            <a:spLocks noChangeShapeType="1"/>
          </p:cNvSpPr>
          <p:nvPr/>
        </p:nvSpPr>
        <p:spPr bwMode="auto">
          <a:xfrm>
            <a:off x="3908652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5" name="Line 57"/>
          <p:cNvSpPr>
            <a:spLocks noChangeShapeType="1"/>
          </p:cNvSpPr>
          <p:nvPr/>
        </p:nvSpPr>
        <p:spPr bwMode="auto">
          <a:xfrm>
            <a:off x="1970314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6" name="Line 58"/>
          <p:cNvSpPr>
            <a:spLocks noChangeShapeType="1"/>
          </p:cNvSpPr>
          <p:nvPr/>
        </p:nvSpPr>
        <p:spPr bwMode="auto">
          <a:xfrm>
            <a:off x="2808514" y="3603171"/>
            <a:ext cx="9144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7" name="Line 59"/>
          <p:cNvSpPr>
            <a:spLocks noChangeShapeType="1"/>
          </p:cNvSpPr>
          <p:nvPr/>
        </p:nvSpPr>
        <p:spPr bwMode="auto">
          <a:xfrm>
            <a:off x="4256314" y="3603171"/>
            <a:ext cx="990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8" name="Line 60"/>
          <p:cNvSpPr>
            <a:spLocks noChangeShapeType="1"/>
          </p:cNvSpPr>
          <p:nvPr/>
        </p:nvSpPr>
        <p:spPr bwMode="auto">
          <a:xfrm>
            <a:off x="5246914" y="1850571"/>
            <a:ext cx="0" cy="1752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9" name="Line 61"/>
          <p:cNvSpPr>
            <a:spLocks noChangeShapeType="1"/>
          </p:cNvSpPr>
          <p:nvPr/>
        </p:nvSpPr>
        <p:spPr bwMode="auto">
          <a:xfrm>
            <a:off x="9797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0" name="Line 62"/>
          <p:cNvSpPr>
            <a:spLocks noChangeShapeType="1"/>
          </p:cNvSpPr>
          <p:nvPr/>
        </p:nvSpPr>
        <p:spPr bwMode="auto">
          <a:xfrm>
            <a:off x="28085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1" name="Line 63"/>
          <p:cNvSpPr>
            <a:spLocks noChangeShapeType="1"/>
          </p:cNvSpPr>
          <p:nvPr/>
        </p:nvSpPr>
        <p:spPr bwMode="auto">
          <a:xfrm>
            <a:off x="43325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2" name="Line 65"/>
          <p:cNvSpPr>
            <a:spLocks noChangeShapeType="1"/>
          </p:cNvSpPr>
          <p:nvPr/>
        </p:nvSpPr>
        <p:spPr bwMode="auto">
          <a:xfrm>
            <a:off x="2198914" y="2002971"/>
            <a:ext cx="609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3" name="Line 66"/>
          <p:cNvSpPr>
            <a:spLocks noChangeShapeType="1"/>
          </p:cNvSpPr>
          <p:nvPr/>
        </p:nvSpPr>
        <p:spPr bwMode="auto">
          <a:xfrm>
            <a:off x="3722914" y="2002971"/>
            <a:ext cx="609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4" name="Text Box 67"/>
          <p:cNvSpPr txBox="1">
            <a:spLocks noChangeArrowheads="1"/>
          </p:cNvSpPr>
          <p:nvPr/>
        </p:nvSpPr>
        <p:spPr bwMode="auto">
          <a:xfrm>
            <a:off x="787627" y="2110921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5" name="Text Box 68"/>
          <p:cNvSpPr txBox="1">
            <a:spLocks noChangeArrowheads="1"/>
          </p:cNvSpPr>
          <p:nvPr/>
        </p:nvSpPr>
        <p:spPr bwMode="auto">
          <a:xfrm>
            <a:off x="903514" y="1407659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6" name="Text Box 69"/>
          <p:cNvSpPr txBox="1">
            <a:spLocks noChangeArrowheads="1"/>
          </p:cNvSpPr>
          <p:nvPr/>
        </p:nvSpPr>
        <p:spPr bwMode="auto">
          <a:xfrm>
            <a:off x="2659289" y="2079171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7" name="Rectangle 70"/>
          <p:cNvSpPr>
            <a:spLocks noChangeArrowheads="1"/>
          </p:cNvSpPr>
          <p:nvPr/>
        </p:nvSpPr>
        <p:spPr bwMode="auto">
          <a:xfrm>
            <a:off x="2830286" y="1429431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98" name="Group 150"/>
          <p:cNvGrpSpPr>
            <a:grpSpLocks/>
          </p:cNvGrpSpPr>
          <p:nvPr/>
        </p:nvGrpSpPr>
        <p:grpSpPr bwMode="auto">
          <a:xfrm>
            <a:off x="3151418" y="2110924"/>
            <a:ext cx="452438" cy="401638"/>
            <a:chOff x="2064" y="1253"/>
            <a:chExt cx="285" cy="253"/>
          </a:xfrm>
        </p:grpSpPr>
        <p:sp>
          <p:nvSpPr>
            <p:cNvPr id="99" name="Rectangle 71"/>
            <p:cNvSpPr>
              <a:spLocks noChangeArrowheads="1"/>
            </p:cNvSpPr>
            <p:nvPr/>
          </p:nvSpPr>
          <p:spPr bwMode="auto">
            <a:xfrm>
              <a:off x="2064" y="125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00" name="Line 72"/>
            <p:cNvSpPr>
              <a:spLocks noChangeShapeType="1"/>
            </p:cNvSpPr>
            <p:nvPr/>
          </p:nvSpPr>
          <p:spPr bwMode="auto">
            <a:xfrm>
              <a:off x="2134" y="1298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01" name="Rectangle 73"/>
          <p:cNvSpPr>
            <a:spLocks noChangeArrowheads="1"/>
          </p:cNvSpPr>
          <p:nvPr/>
        </p:nvSpPr>
        <p:spPr bwMode="auto">
          <a:xfrm>
            <a:off x="4138839" y="2102984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02" name="Rectangle 74"/>
          <p:cNvSpPr>
            <a:spLocks noChangeArrowheads="1"/>
          </p:cNvSpPr>
          <p:nvPr/>
        </p:nvSpPr>
        <p:spPr bwMode="auto">
          <a:xfrm>
            <a:off x="4278085" y="1393371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103" name="Group 149"/>
          <p:cNvGrpSpPr>
            <a:grpSpLocks/>
          </p:cNvGrpSpPr>
          <p:nvPr/>
        </p:nvGrpSpPr>
        <p:grpSpPr bwMode="auto">
          <a:xfrm>
            <a:off x="1279756" y="2110923"/>
            <a:ext cx="452438" cy="401638"/>
            <a:chOff x="2245" y="663"/>
            <a:chExt cx="285" cy="253"/>
          </a:xfrm>
        </p:grpSpPr>
        <p:sp>
          <p:nvSpPr>
            <p:cNvPr id="104" name="Line 77"/>
            <p:cNvSpPr>
              <a:spLocks noChangeShapeType="1"/>
            </p:cNvSpPr>
            <p:nvPr/>
          </p:nvSpPr>
          <p:spPr bwMode="auto">
            <a:xfrm>
              <a:off x="2330" y="709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Rectangle 78"/>
            <p:cNvSpPr>
              <a:spLocks noChangeArrowheads="1"/>
            </p:cNvSpPr>
            <p:nvPr/>
          </p:nvSpPr>
          <p:spPr bwMode="auto">
            <a:xfrm>
              <a:off x="2245" y="66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106" name="Rectangle 79"/>
          <p:cNvSpPr>
            <a:spLocks noChangeArrowheads="1"/>
          </p:cNvSpPr>
          <p:nvPr/>
        </p:nvSpPr>
        <p:spPr bwMode="auto">
          <a:xfrm>
            <a:off x="813027" y="2483984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107" name="Rectangle 80"/>
          <p:cNvSpPr>
            <a:spLocks noChangeArrowheads="1"/>
          </p:cNvSpPr>
          <p:nvPr/>
        </p:nvSpPr>
        <p:spPr bwMode="auto">
          <a:xfrm>
            <a:off x="1332139" y="2483984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108" name="Rectangle 81"/>
          <p:cNvSpPr>
            <a:spLocks noChangeArrowheads="1"/>
          </p:cNvSpPr>
          <p:nvPr/>
        </p:nvSpPr>
        <p:spPr bwMode="auto">
          <a:xfrm>
            <a:off x="2652032" y="2448606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09" name="Rectangle 82"/>
          <p:cNvSpPr>
            <a:spLocks noChangeArrowheads="1"/>
          </p:cNvSpPr>
          <p:nvPr/>
        </p:nvSpPr>
        <p:spPr bwMode="auto">
          <a:xfrm>
            <a:off x="3189514" y="2483984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10" name="Rectangle 83"/>
          <p:cNvSpPr>
            <a:spLocks noChangeArrowheads="1"/>
          </p:cNvSpPr>
          <p:nvPr/>
        </p:nvSpPr>
        <p:spPr bwMode="auto">
          <a:xfrm>
            <a:off x="4113439" y="2483984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11" name="Rectangle 84"/>
          <p:cNvSpPr>
            <a:spLocks noChangeArrowheads="1"/>
          </p:cNvSpPr>
          <p:nvPr/>
        </p:nvSpPr>
        <p:spPr bwMode="auto">
          <a:xfrm>
            <a:off x="4684939" y="2479221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12" name="Rectangle 85"/>
          <p:cNvSpPr>
            <a:spLocks noChangeArrowheads="1"/>
          </p:cNvSpPr>
          <p:nvPr/>
        </p:nvSpPr>
        <p:spPr bwMode="auto">
          <a:xfrm>
            <a:off x="3793671" y="2166710"/>
            <a:ext cx="30999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endParaRPr lang="en-US" altLang="zh-CN" sz="2000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3" name="Rectangle 86"/>
          <p:cNvSpPr>
            <a:spLocks noChangeArrowheads="1"/>
          </p:cNvSpPr>
          <p:nvPr/>
        </p:nvSpPr>
        <p:spPr bwMode="auto">
          <a:xfrm>
            <a:off x="2259012" y="2144485"/>
            <a:ext cx="30999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endParaRPr lang="en-US" altLang="zh-CN" sz="2000" b="1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4" name="Rectangle 87"/>
          <p:cNvSpPr>
            <a:spLocks noChangeArrowheads="1"/>
          </p:cNvSpPr>
          <p:nvPr/>
        </p:nvSpPr>
        <p:spPr bwMode="auto">
          <a:xfrm>
            <a:off x="1720170" y="2188028"/>
            <a:ext cx="338852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endParaRPr lang="en-US" altLang="zh-CN" sz="2000" b="1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5" name="Line 43"/>
          <p:cNvSpPr>
            <a:spLocks noChangeShapeType="1"/>
          </p:cNvSpPr>
          <p:nvPr/>
        </p:nvSpPr>
        <p:spPr bwMode="auto">
          <a:xfrm>
            <a:off x="1589314" y="3446009"/>
            <a:ext cx="0" cy="152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6" name="Text Box 94"/>
          <p:cNvSpPr txBox="1">
            <a:spLocks noChangeArrowheads="1"/>
          </p:cNvSpPr>
          <p:nvPr/>
        </p:nvSpPr>
        <p:spPr bwMode="auto">
          <a:xfrm>
            <a:off x="160564" y="3968296"/>
            <a:ext cx="685800" cy="371513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</a:p>
        </p:txBody>
      </p:sp>
      <p:sp>
        <p:nvSpPr>
          <p:cNvPr id="117" name="Text Box 95"/>
          <p:cNvSpPr txBox="1">
            <a:spLocks noChangeArrowheads="1"/>
          </p:cNvSpPr>
          <p:nvPr/>
        </p:nvSpPr>
        <p:spPr bwMode="auto">
          <a:xfrm>
            <a:off x="203427" y="3255509"/>
            <a:ext cx="838200" cy="371513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预置</a:t>
            </a:r>
          </a:p>
        </p:txBody>
      </p:sp>
      <p:sp>
        <p:nvSpPr>
          <p:cNvPr id="118" name="Line 96"/>
          <p:cNvSpPr>
            <a:spLocks noChangeShapeType="1"/>
          </p:cNvSpPr>
          <p:nvPr/>
        </p:nvSpPr>
        <p:spPr bwMode="auto">
          <a:xfrm>
            <a:off x="522514" y="4284209"/>
            <a:ext cx="152400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9" name="Line 97"/>
          <p:cNvSpPr>
            <a:spLocks noChangeShapeType="1"/>
          </p:cNvSpPr>
          <p:nvPr/>
        </p:nvSpPr>
        <p:spPr bwMode="auto">
          <a:xfrm>
            <a:off x="674914" y="4131809"/>
            <a:ext cx="0" cy="15240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0" name="Line 98"/>
          <p:cNvSpPr>
            <a:spLocks noChangeShapeType="1"/>
          </p:cNvSpPr>
          <p:nvPr/>
        </p:nvSpPr>
        <p:spPr bwMode="auto">
          <a:xfrm>
            <a:off x="674914" y="4131809"/>
            <a:ext cx="180000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1" name="Line 101"/>
          <p:cNvSpPr>
            <a:spLocks noChangeShapeType="1"/>
          </p:cNvSpPr>
          <p:nvPr/>
        </p:nvSpPr>
        <p:spPr bwMode="auto">
          <a:xfrm>
            <a:off x="436789" y="35936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2" name="Line 102"/>
          <p:cNvSpPr>
            <a:spLocks noChangeShapeType="1"/>
          </p:cNvSpPr>
          <p:nvPr/>
        </p:nvSpPr>
        <p:spPr bwMode="auto">
          <a:xfrm>
            <a:off x="589189" y="3593646"/>
            <a:ext cx="0" cy="15240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3" name="Line 103"/>
          <p:cNvSpPr>
            <a:spLocks noChangeShapeType="1"/>
          </p:cNvSpPr>
          <p:nvPr/>
        </p:nvSpPr>
        <p:spPr bwMode="auto">
          <a:xfrm>
            <a:off x="741589" y="3593646"/>
            <a:ext cx="0" cy="15240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4" name="Line 104"/>
          <p:cNvSpPr>
            <a:spLocks noChangeShapeType="1"/>
          </p:cNvSpPr>
          <p:nvPr/>
        </p:nvSpPr>
        <p:spPr bwMode="auto">
          <a:xfrm>
            <a:off x="589189" y="37460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5" name="Line 105"/>
          <p:cNvSpPr>
            <a:spLocks noChangeShapeType="1"/>
          </p:cNvSpPr>
          <p:nvPr/>
        </p:nvSpPr>
        <p:spPr bwMode="auto">
          <a:xfrm>
            <a:off x="741589" y="35936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7" name="Text Box 131"/>
          <p:cNvSpPr txBox="1">
            <a:spLocks noChangeArrowheads="1"/>
          </p:cNvSpPr>
          <p:nvPr/>
        </p:nvSpPr>
        <p:spPr bwMode="auto">
          <a:xfrm>
            <a:off x="5365296" y="1153886"/>
            <a:ext cx="3533775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解：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输入端驱动方程为：</a:t>
            </a:r>
          </a:p>
        </p:txBody>
      </p:sp>
      <p:grpSp>
        <p:nvGrpSpPr>
          <p:cNvPr id="131" name="Group 229"/>
          <p:cNvGrpSpPr>
            <a:grpSpLocks/>
          </p:cNvGrpSpPr>
          <p:nvPr/>
        </p:nvGrpSpPr>
        <p:grpSpPr bwMode="auto">
          <a:xfrm>
            <a:off x="5659664" y="1824037"/>
            <a:ext cx="3200400" cy="1184274"/>
            <a:chOff x="3812" y="1005"/>
            <a:chExt cx="2016" cy="746"/>
          </a:xfrm>
        </p:grpSpPr>
        <p:sp>
          <p:nvSpPr>
            <p:cNvPr id="132" name="Text Box 133"/>
            <p:cNvSpPr txBox="1">
              <a:spLocks noChangeArrowheads="1"/>
            </p:cNvSpPr>
            <p:nvPr/>
          </p:nvSpPr>
          <p:spPr bwMode="auto">
            <a:xfrm>
              <a:off x="3812" y="1005"/>
              <a:ext cx="2016" cy="7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65000"/>
                </a:lnSpc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>
                <a:lnSpc>
                  <a:spcPct val="65000"/>
                </a:lnSpc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400" b="1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>
                <a:lnSpc>
                  <a:spcPct val="65000"/>
                </a:lnSpc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 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4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endParaRPr lang="en-US" altLang="zh-CN" sz="2400" b="1" i="1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3" name="Line 142"/>
            <p:cNvSpPr>
              <a:spLocks noChangeShapeType="1"/>
            </p:cNvSpPr>
            <p:nvPr/>
          </p:nvSpPr>
          <p:spPr bwMode="auto">
            <a:xfrm>
              <a:off x="5184" y="1008"/>
              <a:ext cx="144" cy="0"/>
            </a:xfrm>
            <a:prstGeom prst="line">
              <a:avLst/>
            </a:prstGeom>
            <a:noFill/>
            <a:ln w="22225">
              <a:solidFill>
                <a:srgbClr val="CCECFF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4" name="Line 143"/>
            <p:cNvSpPr>
              <a:spLocks noChangeShapeType="1"/>
            </p:cNvSpPr>
            <p:nvPr/>
          </p:nvSpPr>
          <p:spPr bwMode="auto">
            <a:xfrm>
              <a:off x="5184" y="1248"/>
              <a:ext cx="144" cy="0"/>
            </a:xfrm>
            <a:prstGeom prst="line">
              <a:avLst/>
            </a:prstGeom>
            <a:noFill/>
            <a:ln w="22225">
              <a:solidFill>
                <a:srgbClr val="CCECFF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Line 145"/>
            <p:cNvSpPr>
              <a:spLocks noChangeShapeType="1"/>
            </p:cNvSpPr>
            <p:nvPr/>
          </p:nvSpPr>
          <p:spPr bwMode="auto">
            <a:xfrm>
              <a:off x="5184" y="1536"/>
              <a:ext cx="144" cy="0"/>
            </a:xfrm>
            <a:prstGeom prst="line">
              <a:avLst/>
            </a:prstGeom>
            <a:noFill/>
            <a:ln w="22225">
              <a:solidFill>
                <a:srgbClr val="CCECFF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6" name="Group 197"/>
          <p:cNvGrpSpPr>
            <a:grpSpLocks/>
          </p:cNvGrpSpPr>
          <p:nvPr/>
        </p:nvGrpSpPr>
        <p:grpSpPr bwMode="auto">
          <a:xfrm>
            <a:off x="5420180" y="4018434"/>
            <a:ext cx="3103982" cy="363540"/>
            <a:chOff x="3742" y="2062"/>
            <a:chExt cx="1537" cy="229"/>
          </a:xfrm>
        </p:grpSpPr>
        <p:sp>
          <p:nvSpPr>
            <p:cNvPr id="137" name="Text Box 139"/>
            <p:cNvSpPr txBox="1">
              <a:spLocks noChangeArrowheads="1"/>
            </p:cNvSpPr>
            <p:nvPr/>
          </p:nvSpPr>
          <p:spPr bwMode="auto">
            <a:xfrm>
              <a:off x="3742" y="2069"/>
              <a:ext cx="1537" cy="222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sz="2400" b="1" i="1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400" b="1" i="0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   </a:t>
              </a:r>
              <a:r>
                <a:rPr lang="en-US" altLang="zh-CN" sz="24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 </a:t>
              </a:r>
              <a:r>
                <a:rPr lang="en-US" altLang="zh-CN" sz="2400" b="1" i="1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JQ</a:t>
              </a:r>
              <a:r>
                <a:rPr lang="en-US" altLang="zh-CN" sz="2400" b="1" i="0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 </a:t>
              </a:r>
              <a:r>
                <a:rPr lang="en-US" altLang="zh-CN" sz="24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 </a:t>
              </a:r>
              <a:r>
                <a:rPr lang="en-US" altLang="zh-CN" sz="2400" b="1" i="1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KQ</a:t>
              </a:r>
              <a:r>
                <a:rPr lang="en-US" altLang="zh-CN" sz="2400" b="1" i="0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1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400" b="1" i="0" baseline="3000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38" name="Line 146"/>
            <p:cNvSpPr>
              <a:spLocks noChangeShapeType="1"/>
            </p:cNvSpPr>
            <p:nvPr/>
          </p:nvSpPr>
          <p:spPr bwMode="auto">
            <a:xfrm>
              <a:off x="4570" y="2062"/>
              <a:ext cx="107" cy="0"/>
            </a:xfrm>
            <a:prstGeom prst="line">
              <a:avLst/>
            </a:prstGeom>
            <a:noFill/>
            <a:ln w="22225">
              <a:solidFill>
                <a:srgbClr val="0070C0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40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9" name="Line 147"/>
            <p:cNvSpPr>
              <a:spLocks noChangeShapeType="1"/>
            </p:cNvSpPr>
            <p:nvPr/>
          </p:nvSpPr>
          <p:spPr bwMode="auto">
            <a:xfrm>
              <a:off x="4888" y="2062"/>
              <a:ext cx="107" cy="0"/>
            </a:xfrm>
            <a:prstGeom prst="line">
              <a:avLst/>
            </a:prstGeom>
            <a:noFill/>
            <a:ln w="22225">
              <a:solidFill>
                <a:srgbClr val="0070C0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40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40" name="Rectangle 148"/>
          <p:cNvSpPr>
            <a:spLocks noChangeArrowheads="1"/>
          </p:cNvSpPr>
          <p:nvPr/>
        </p:nvSpPr>
        <p:spPr bwMode="auto">
          <a:xfrm>
            <a:off x="693285" y="204107"/>
            <a:ext cx="693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</a:t>
            </a:r>
          </a:p>
        </p:txBody>
      </p:sp>
      <p:grpSp>
        <p:nvGrpSpPr>
          <p:cNvPr id="141" name="Group 160"/>
          <p:cNvGrpSpPr>
            <a:grpSpLocks/>
          </p:cNvGrpSpPr>
          <p:nvPr/>
        </p:nvGrpSpPr>
        <p:grpSpPr bwMode="auto">
          <a:xfrm>
            <a:off x="4664306" y="2110924"/>
            <a:ext cx="452438" cy="401638"/>
            <a:chOff x="2064" y="1253"/>
            <a:chExt cx="285" cy="253"/>
          </a:xfrm>
        </p:grpSpPr>
        <p:sp>
          <p:nvSpPr>
            <p:cNvPr id="142" name="Rectangle 161"/>
            <p:cNvSpPr>
              <a:spLocks noChangeArrowheads="1"/>
            </p:cNvSpPr>
            <p:nvPr/>
          </p:nvSpPr>
          <p:spPr bwMode="auto">
            <a:xfrm>
              <a:off x="2064" y="125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43" name="Line 162"/>
            <p:cNvSpPr>
              <a:spLocks noChangeShapeType="1"/>
            </p:cNvSpPr>
            <p:nvPr/>
          </p:nvSpPr>
          <p:spPr bwMode="auto">
            <a:xfrm>
              <a:off x="2134" y="1298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44" name="Line 175"/>
          <p:cNvSpPr>
            <a:spLocks noChangeShapeType="1"/>
          </p:cNvSpPr>
          <p:nvPr/>
        </p:nvSpPr>
        <p:spPr bwMode="auto">
          <a:xfrm flipH="1">
            <a:off x="4916714" y="3311071"/>
            <a:ext cx="12700" cy="2921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45" name="Group 176"/>
          <p:cNvGrpSpPr>
            <a:grpSpLocks/>
          </p:cNvGrpSpPr>
          <p:nvPr/>
        </p:nvGrpSpPr>
        <p:grpSpPr bwMode="auto">
          <a:xfrm>
            <a:off x="4772260" y="3022146"/>
            <a:ext cx="331788" cy="438150"/>
            <a:chOff x="3470" y="2296"/>
            <a:chExt cx="209" cy="276"/>
          </a:xfrm>
        </p:grpSpPr>
        <p:sp>
          <p:nvSpPr>
            <p:cNvPr id="146" name="Rectangle 177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Oval 178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Rectangle 179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49" name="Group 181"/>
          <p:cNvGrpSpPr>
            <a:grpSpLocks/>
          </p:cNvGrpSpPr>
          <p:nvPr/>
        </p:nvGrpSpPr>
        <p:grpSpPr bwMode="auto">
          <a:xfrm>
            <a:off x="2972027" y="2685607"/>
            <a:ext cx="144462" cy="231776"/>
            <a:chOff x="770" y="1632"/>
            <a:chExt cx="91" cy="146"/>
          </a:xfrm>
        </p:grpSpPr>
        <p:sp>
          <p:nvSpPr>
            <p:cNvPr id="150" name="AutoShape 182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1" name="Oval 183"/>
            <p:cNvSpPr>
              <a:spLocks noChangeArrowheads="1"/>
            </p:cNvSpPr>
            <p:nvPr/>
          </p:nvSpPr>
          <p:spPr bwMode="auto">
            <a:xfrm>
              <a:off x="790" y="173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2" name="Group 184"/>
          <p:cNvGrpSpPr>
            <a:grpSpLocks/>
          </p:cNvGrpSpPr>
          <p:nvPr/>
        </p:nvGrpSpPr>
        <p:grpSpPr bwMode="auto">
          <a:xfrm>
            <a:off x="4484914" y="2685607"/>
            <a:ext cx="144463" cy="231776"/>
            <a:chOff x="770" y="1632"/>
            <a:chExt cx="91" cy="146"/>
          </a:xfrm>
        </p:grpSpPr>
        <p:sp>
          <p:nvSpPr>
            <p:cNvPr id="153" name="AutoShape 185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Oval 186"/>
            <p:cNvSpPr>
              <a:spLocks noChangeArrowheads="1"/>
            </p:cNvSpPr>
            <p:nvPr/>
          </p:nvSpPr>
          <p:spPr bwMode="auto">
            <a:xfrm>
              <a:off x="790" y="173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5" name="Group 187"/>
          <p:cNvGrpSpPr>
            <a:grpSpLocks/>
          </p:cNvGrpSpPr>
          <p:nvPr/>
        </p:nvGrpSpPr>
        <p:grpSpPr bwMode="auto">
          <a:xfrm>
            <a:off x="3260960" y="3058659"/>
            <a:ext cx="331788" cy="438150"/>
            <a:chOff x="3470" y="2296"/>
            <a:chExt cx="209" cy="276"/>
          </a:xfrm>
        </p:grpSpPr>
        <p:sp>
          <p:nvSpPr>
            <p:cNvPr id="156" name="Rectangle 188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7" name="Oval 189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Rectangle 190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59" name="Group 191"/>
          <p:cNvGrpSpPr>
            <a:grpSpLocks/>
          </p:cNvGrpSpPr>
          <p:nvPr/>
        </p:nvGrpSpPr>
        <p:grpSpPr bwMode="auto">
          <a:xfrm>
            <a:off x="1443272" y="3058659"/>
            <a:ext cx="331788" cy="438150"/>
            <a:chOff x="3470" y="2296"/>
            <a:chExt cx="209" cy="276"/>
          </a:xfrm>
        </p:grpSpPr>
        <p:sp>
          <p:nvSpPr>
            <p:cNvPr id="160" name="Rectangle 192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1" name="Oval 193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Rectangle 194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163" name="Rectangle 196"/>
          <p:cNvSpPr>
            <a:spLocks noChangeArrowheads="1"/>
          </p:cNvSpPr>
          <p:nvPr/>
        </p:nvSpPr>
        <p:spPr bwMode="auto">
          <a:xfrm>
            <a:off x="5641749" y="3238500"/>
            <a:ext cx="3293187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代入</a:t>
            </a: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触发器特性方程</a:t>
            </a:r>
          </a:p>
        </p:txBody>
      </p:sp>
      <p:sp>
        <p:nvSpPr>
          <p:cNvPr id="185" name="Line 231"/>
          <p:cNvSpPr>
            <a:spLocks noChangeShapeType="1"/>
          </p:cNvSpPr>
          <p:nvPr/>
        </p:nvSpPr>
        <p:spPr bwMode="auto">
          <a:xfrm>
            <a:off x="852714" y="4133397"/>
            <a:ext cx="0" cy="144462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6" name="Line 232"/>
          <p:cNvSpPr>
            <a:spLocks noChangeShapeType="1"/>
          </p:cNvSpPr>
          <p:nvPr/>
        </p:nvSpPr>
        <p:spPr bwMode="auto">
          <a:xfrm>
            <a:off x="847952" y="4285797"/>
            <a:ext cx="14446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12"/>
          <p:cNvSpPr txBox="1">
            <a:spLocks noChangeArrowheads="1"/>
          </p:cNvSpPr>
          <p:nvPr/>
        </p:nvSpPr>
        <p:spPr bwMode="auto">
          <a:xfrm>
            <a:off x="489858" y="174172"/>
            <a:ext cx="6291943" cy="1171732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分析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图示时序逻辑电路的功能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设初 始状态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011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</a:p>
        </p:txBody>
      </p:sp>
      <p:sp>
        <p:nvSpPr>
          <p:cNvPr id="128" name="Rectangle 136"/>
          <p:cNvSpPr>
            <a:spLocks noChangeArrowheads="1"/>
          </p:cNvSpPr>
          <p:nvPr/>
        </p:nvSpPr>
        <p:spPr bwMode="auto">
          <a:xfrm>
            <a:off x="6056086" y="881743"/>
            <a:ext cx="2336194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则状态方程为：</a:t>
            </a:r>
            <a:endParaRPr lang="en-US" sz="24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9" name="Rectangle 137"/>
          <p:cNvSpPr>
            <a:spLocks noChangeArrowheads="1"/>
          </p:cNvSpPr>
          <p:nvPr/>
        </p:nvSpPr>
        <p:spPr bwMode="auto">
          <a:xfrm>
            <a:off x="6008461" y="1329646"/>
            <a:ext cx="2232025" cy="144873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+1   </a:t>
            </a:r>
            <a:r>
              <a:rPr lang="en-US" altLang="zh-CN" sz="2400" b="1" i="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</a:p>
          <a:p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+1   </a:t>
            </a:r>
            <a:r>
              <a:rPr lang="en-US" altLang="zh-CN" sz="2400" b="1" i="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</a:p>
          <a:p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+1   </a:t>
            </a:r>
            <a:r>
              <a:rPr lang="en-US" altLang="zh-CN" sz="2400" b="1" i="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baseline="300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endParaRPr lang="en-US" altLang="zh-CN" sz="2400" b="1" i="1" dirty="0">
              <a:solidFill>
                <a:srgbClr val="7030A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endParaRPr lang="en-US" altLang="zh-CN" sz="2400" b="1" i="0" baseline="30000" dirty="0">
              <a:solidFill>
                <a:srgbClr val="7030A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6" name="Line 35"/>
          <p:cNvSpPr>
            <a:spLocks noChangeShapeType="1"/>
          </p:cNvSpPr>
          <p:nvPr/>
        </p:nvSpPr>
        <p:spPr bwMode="auto">
          <a:xfrm>
            <a:off x="12083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0" name="Rectangle 13"/>
          <p:cNvSpPr>
            <a:spLocks noChangeArrowheads="1"/>
          </p:cNvSpPr>
          <p:nvPr/>
        </p:nvSpPr>
        <p:spPr bwMode="auto">
          <a:xfrm>
            <a:off x="7511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fol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1" name="Rectangle 14"/>
          <p:cNvSpPr>
            <a:spLocks noChangeArrowheads="1"/>
          </p:cNvSpPr>
          <p:nvPr/>
        </p:nvSpPr>
        <p:spPr bwMode="auto">
          <a:xfrm>
            <a:off x="25799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6" name="Rectangle 15"/>
          <p:cNvSpPr>
            <a:spLocks noChangeArrowheads="1"/>
          </p:cNvSpPr>
          <p:nvPr/>
        </p:nvSpPr>
        <p:spPr bwMode="auto">
          <a:xfrm>
            <a:off x="4103914" y="2155371"/>
            <a:ext cx="990600" cy="685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hlink"/>
            </a:solidFill>
            <a:miter lim="800000"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pPr algn="ctr"/>
            <a:endParaRPr lang="en-US" altLang="zh-CN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41" name="Group 180"/>
          <p:cNvGrpSpPr>
            <a:grpSpLocks/>
          </p:cNvGrpSpPr>
          <p:nvPr/>
        </p:nvGrpSpPr>
        <p:grpSpPr bwMode="auto">
          <a:xfrm>
            <a:off x="1135289" y="2693540"/>
            <a:ext cx="144463" cy="227013"/>
            <a:chOff x="770" y="1632"/>
            <a:chExt cx="91" cy="143"/>
          </a:xfrm>
        </p:grpSpPr>
        <p:sp>
          <p:nvSpPr>
            <p:cNvPr id="145" name="AutoShape 16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9" name="Oval 21"/>
            <p:cNvSpPr>
              <a:spLocks noChangeArrowheads="1"/>
            </p:cNvSpPr>
            <p:nvPr/>
          </p:nvSpPr>
          <p:spPr bwMode="auto">
            <a:xfrm>
              <a:off x="796" y="1727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52" name="Line 29"/>
          <p:cNvSpPr>
            <a:spLocks noChangeShapeType="1"/>
          </p:cNvSpPr>
          <p:nvPr/>
        </p:nvSpPr>
        <p:spPr bwMode="auto">
          <a:xfrm>
            <a:off x="598714" y="4060371"/>
            <a:ext cx="396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5" name="Line 30"/>
          <p:cNvSpPr>
            <a:spLocks noChangeShapeType="1"/>
          </p:cNvSpPr>
          <p:nvPr/>
        </p:nvSpPr>
        <p:spPr bwMode="auto">
          <a:xfrm>
            <a:off x="632052" y="3831771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9" name="Line 31"/>
          <p:cNvSpPr>
            <a:spLocks noChangeShapeType="1"/>
          </p:cNvSpPr>
          <p:nvPr/>
        </p:nvSpPr>
        <p:spPr bwMode="auto">
          <a:xfrm>
            <a:off x="979714" y="1850571"/>
            <a:ext cx="426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4" name="Line 32"/>
          <p:cNvSpPr>
            <a:spLocks noChangeShapeType="1"/>
          </p:cNvSpPr>
          <p:nvPr/>
        </p:nvSpPr>
        <p:spPr bwMode="auto">
          <a:xfrm>
            <a:off x="9797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5" name="Line 33"/>
          <p:cNvSpPr>
            <a:spLocks noChangeShapeType="1"/>
          </p:cNvSpPr>
          <p:nvPr/>
        </p:nvSpPr>
        <p:spPr bwMode="auto">
          <a:xfrm>
            <a:off x="42563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6" name="Line 34"/>
          <p:cNvSpPr>
            <a:spLocks noChangeShapeType="1"/>
          </p:cNvSpPr>
          <p:nvPr/>
        </p:nvSpPr>
        <p:spPr bwMode="auto">
          <a:xfrm>
            <a:off x="2808514" y="2841171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7" name="Line 38"/>
          <p:cNvSpPr>
            <a:spLocks noChangeShapeType="1"/>
          </p:cNvSpPr>
          <p:nvPr/>
        </p:nvSpPr>
        <p:spPr bwMode="auto">
          <a:xfrm>
            <a:off x="45611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8" name="Line 39"/>
          <p:cNvSpPr>
            <a:spLocks noChangeShapeType="1"/>
          </p:cNvSpPr>
          <p:nvPr/>
        </p:nvSpPr>
        <p:spPr bwMode="auto">
          <a:xfrm>
            <a:off x="3037114" y="2917371"/>
            <a:ext cx="0" cy="11430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9" name="Line 40"/>
          <p:cNvSpPr>
            <a:spLocks noChangeShapeType="1"/>
          </p:cNvSpPr>
          <p:nvPr/>
        </p:nvSpPr>
        <p:spPr bwMode="auto">
          <a:xfrm>
            <a:off x="1605189" y="2841171"/>
            <a:ext cx="0" cy="228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0" name="Line 41"/>
          <p:cNvSpPr>
            <a:spLocks noChangeShapeType="1"/>
          </p:cNvSpPr>
          <p:nvPr/>
        </p:nvSpPr>
        <p:spPr bwMode="auto">
          <a:xfrm>
            <a:off x="4927827" y="2845933"/>
            <a:ext cx="0" cy="180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1" name="Line 42"/>
          <p:cNvSpPr>
            <a:spLocks noChangeShapeType="1"/>
          </p:cNvSpPr>
          <p:nvPr/>
        </p:nvSpPr>
        <p:spPr bwMode="auto">
          <a:xfrm>
            <a:off x="3418114" y="2841171"/>
            <a:ext cx="0" cy="228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2" name="Line 45"/>
          <p:cNvSpPr>
            <a:spLocks noChangeShapeType="1"/>
          </p:cNvSpPr>
          <p:nvPr/>
        </p:nvSpPr>
        <p:spPr bwMode="auto">
          <a:xfrm>
            <a:off x="3418114" y="3450771"/>
            <a:ext cx="0" cy="152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3" name="Line 46"/>
          <p:cNvSpPr>
            <a:spLocks noChangeShapeType="1"/>
          </p:cNvSpPr>
          <p:nvPr/>
        </p:nvSpPr>
        <p:spPr bwMode="auto">
          <a:xfrm flipV="1">
            <a:off x="979714" y="3603171"/>
            <a:ext cx="1219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4" name="Line 47"/>
          <p:cNvSpPr>
            <a:spLocks noChangeShapeType="1"/>
          </p:cNvSpPr>
          <p:nvPr/>
        </p:nvSpPr>
        <p:spPr bwMode="auto">
          <a:xfrm>
            <a:off x="2198914" y="2002971"/>
            <a:ext cx="0" cy="1600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5" name="Line 48"/>
          <p:cNvSpPr>
            <a:spLocks noChangeShapeType="1"/>
          </p:cNvSpPr>
          <p:nvPr/>
        </p:nvSpPr>
        <p:spPr bwMode="auto">
          <a:xfrm>
            <a:off x="2351314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6" name="Line 49"/>
          <p:cNvSpPr>
            <a:spLocks noChangeShapeType="1"/>
          </p:cNvSpPr>
          <p:nvPr/>
        </p:nvSpPr>
        <p:spPr bwMode="auto">
          <a:xfrm>
            <a:off x="3722914" y="2002971"/>
            <a:ext cx="0" cy="1600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7" name="Oval 50"/>
          <p:cNvSpPr>
            <a:spLocks noChangeArrowheads="1"/>
          </p:cNvSpPr>
          <p:nvPr/>
        </p:nvSpPr>
        <p:spPr bwMode="auto">
          <a:xfrm>
            <a:off x="2503714" y="2498271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8" name="Oval 51"/>
          <p:cNvSpPr>
            <a:spLocks noChangeArrowheads="1"/>
          </p:cNvSpPr>
          <p:nvPr/>
        </p:nvSpPr>
        <p:spPr bwMode="auto">
          <a:xfrm>
            <a:off x="1741714" y="2501446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9" name="Oval 52"/>
          <p:cNvSpPr>
            <a:spLocks noChangeArrowheads="1"/>
          </p:cNvSpPr>
          <p:nvPr/>
        </p:nvSpPr>
        <p:spPr bwMode="auto">
          <a:xfrm>
            <a:off x="4024539" y="2488746"/>
            <a:ext cx="76200" cy="76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lIns="90000" tIns="46800" rIns="90000" bIns="46800" anchor="ctr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0" name="Line 53"/>
          <p:cNvSpPr>
            <a:spLocks noChangeShapeType="1"/>
          </p:cNvSpPr>
          <p:nvPr/>
        </p:nvSpPr>
        <p:spPr bwMode="auto">
          <a:xfrm>
            <a:off x="2351314" y="2536371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1" name="Line 54"/>
          <p:cNvSpPr>
            <a:spLocks noChangeShapeType="1"/>
          </p:cNvSpPr>
          <p:nvPr/>
        </p:nvSpPr>
        <p:spPr bwMode="auto">
          <a:xfrm>
            <a:off x="3910239" y="2536371"/>
            <a:ext cx="1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2" name="Line 55"/>
          <p:cNvSpPr>
            <a:spLocks noChangeShapeType="1"/>
          </p:cNvSpPr>
          <p:nvPr/>
        </p:nvSpPr>
        <p:spPr bwMode="auto">
          <a:xfrm>
            <a:off x="1817914" y="2536371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3" name="Line 56"/>
          <p:cNvSpPr>
            <a:spLocks noChangeShapeType="1"/>
          </p:cNvSpPr>
          <p:nvPr/>
        </p:nvSpPr>
        <p:spPr bwMode="auto">
          <a:xfrm>
            <a:off x="3908652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4" name="Line 57"/>
          <p:cNvSpPr>
            <a:spLocks noChangeShapeType="1"/>
          </p:cNvSpPr>
          <p:nvPr/>
        </p:nvSpPr>
        <p:spPr bwMode="auto">
          <a:xfrm>
            <a:off x="1970314" y="2536371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7" name="Line 58"/>
          <p:cNvSpPr>
            <a:spLocks noChangeShapeType="1"/>
          </p:cNvSpPr>
          <p:nvPr/>
        </p:nvSpPr>
        <p:spPr bwMode="auto">
          <a:xfrm>
            <a:off x="2808514" y="3603171"/>
            <a:ext cx="9144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8" name="Line 59"/>
          <p:cNvSpPr>
            <a:spLocks noChangeShapeType="1"/>
          </p:cNvSpPr>
          <p:nvPr/>
        </p:nvSpPr>
        <p:spPr bwMode="auto">
          <a:xfrm>
            <a:off x="4256314" y="3603171"/>
            <a:ext cx="990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9" name="Line 60"/>
          <p:cNvSpPr>
            <a:spLocks noChangeShapeType="1"/>
          </p:cNvSpPr>
          <p:nvPr/>
        </p:nvSpPr>
        <p:spPr bwMode="auto">
          <a:xfrm>
            <a:off x="5246914" y="1850571"/>
            <a:ext cx="0" cy="1752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0" name="Line 61"/>
          <p:cNvSpPr>
            <a:spLocks noChangeShapeType="1"/>
          </p:cNvSpPr>
          <p:nvPr/>
        </p:nvSpPr>
        <p:spPr bwMode="auto">
          <a:xfrm>
            <a:off x="9797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1" name="Line 62"/>
          <p:cNvSpPr>
            <a:spLocks noChangeShapeType="1"/>
          </p:cNvSpPr>
          <p:nvPr/>
        </p:nvSpPr>
        <p:spPr bwMode="auto">
          <a:xfrm>
            <a:off x="28085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2" name="Line 63"/>
          <p:cNvSpPr>
            <a:spLocks noChangeShapeType="1"/>
          </p:cNvSpPr>
          <p:nvPr/>
        </p:nvSpPr>
        <p:spPr bwMode="auto">
          <a:xfrm>
            <a:off x="4332514" y="1621971"/>
            <a:ext cx="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3" name="Line 65"/>
          <p:cNvSpPr>
            <a:spLocks noChangeShapeType="1"/>
          </p:cNvSpPr>
          <p:nvPr/>
        </p:nvSpPr>
        <p:spPr bwMode="auto">
          <a:xfrm>
            <a:off x="2198914" y="2002971"/>
            <a:ext cx="609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4" name="Line 66"/>
          <p:cNvSpPr>
            <a:spLocks noChangeShapeType="1"/>
          </p:cNvSpPr>
          <p:nvPr/>
        </p:nvSpPr>
        <p:spPr bwMode="auto">
          <a:xfrm>
            <a:off x="3722914" y="2002971"/>
            <a:ext cx="6096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5" name="Text Box 67"/>
          <p:cNvSpPr txBox="1">
            <a:spLocks noChangeArrowheads="1"/>
          </p:cNvSpPr>
          <p:nvPr/>
        </p:nvSpPr>
        <p:spPr bwMode="auto">
          <a:xfrm>
            <a:off x="787627" y="2110921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6" name="Text Box 68"/>
          <p:cNvSpPr txBox="1">
            <a:spLocks noChangeArrowheads="1"/>
          </p:cNvSpPr>
          <p:nvPr/>
        </p:nvSpPr>
        <p:spPr bwMode="auto">
          <a:xfrm>
            <a:off x="903514" y="1407659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7" name="Text Box 69"/>
          <p:cNvSpPr txBox="1">
            <a:spLocks noChangeArrowheads="1"/>
          </p:cNvSpPr>
          <p:nvPr/>
        </p:nvSpPr>
        <p:spPr bwMode="auto">
          <a:xfrm>
            <a:off x="2659289" y="2079171"/>
            <a:ext cx="45720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endParaRPr lang="en-US" altLang="zh-CN" sz="20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8" name="Rectangle 70"/>
          <p:cNvSpPr>
            <a:spLocks noChangeArrowheads="1"/>
          </p:cNvSpPr>
          <p:nvPr/>
        </p:nvSpPr>
        <p:spPr bwMode="auto">
          <a:xfrm>
            <a:off x="2830286" y="1429431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199" name="Group 150"/>
          <p:cNvGrpSpPr>
            <a:grpSpLocks/>
          </p:cNvGrpSpPr>
          <p:nvPr/>
        </p:nvGrpSpPr>
        <p:grpSpPr bwMode="auto">
          <a:xfrm>
            <a:off x="3151418" y="2110924"/>
            <a:ext cx="452438" cy="401638"/>
            <a:chOff x="2064" y="1253"/>
            <a:chExt cx="285" cy="253"/>
          </a:xfrm>
        </p:grpSpPr>
        <p:sp>
          <p:nvSpPr>
            <p:cNvPr id="200" name="Rectangle 71"/>
            <p:cNvSpPr>
              <a:spLocks noChangeArrowheads="1"/>
            </p:cNvSpPr>
            <p:nvPr/>
          </p:nvSpPr>
          <p:spPr bwMode="auto">
            <a:xfrm>
              <a:off x="2064" y="125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01" name="Line 72"/>
            <p:cNvSpPr>
              <a:spLocks noChangeShapeType="1"/>
            </p:cNvSpPr>
            <p:nvPr/>
          </p:nvSpPr>
          <p:spPr bwMode="auto">
            <a:xfrm>
              <a:off x="2134" y="1298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02" name="Rectangle 73"/>
          <p:cNvSpPr>
            <a:spLocks noChangeArrowheads="1"/>
          </p:cNvSpPr>
          <p:nvPr/>
        </p:nvSpPr>
        <p:spPr bwMode="auto">
          <a:xfrm>
            <a:off x="4138839" y="2102984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03" name="Rectangle 74"/>
          <p:cNvSpPr>
            <a:spLocks noChangeArrowheads="1"/>
          </p:cNvSpPr>
          <p:nvPr/>
        </p:nvSpPr>
        <p:spPr bwMode="auto">
          <a:xfrm>
            <a:off x="4278085" y="1393371"/>
            <a:ext cx="452666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204" name="Group 149"/>
          <p:cNvGrpSpPr>
            <a:grpSpLocks/>
          </p:cNvGrpSpPr>
          <p:nvPr/>
        </p:nvGrpSpPr>
        <p:grpSpPr bwMode="auto">
          <a:xfrm>
            <a:off x="1279756" y="2110923"/>
            <a:ext cx="452438" cy="401638"/>
            <a:chOff x="2245" y="663"/>
            <a:chExt cx="285" cy="253"/>
          </a:xfrm>
        </p:grpSpPr>
        <p:sp>
          <p:nvSpPr>
            <p:cNvPr id="205" name="Line 77"/>
            <p:cNvSpPr>
              <a:spLocks noChangeShapeType="1"/>
            </p:cNvSpPr>
            <p:nvPr/>
          </p:nvSpPr>
          <p:spPr bwMode="auto">
            <a:xfrm>
              <a:off x="2330" y="709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6" name="Rectangle 78"/>
            <p:cNvSpPr>
              <a:spLocks noChangeArrowheads="1"/>
            </p:cNvSpPr>
            <p:nvPr/>
          </p:nvSpPr>
          <p:spPr bwMode="auto">
            <a:xfrm>
              <a:off x="2245" y="66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207" name="Rectangle 79"/>
          <p:cNvSpPr>
            <a:spLocks noChangeArrowheads="1"/>
          </p:cNvSpPr>
          <p:nvPr/>
        </p:nvSpPr>
        <p:spPr bwMode="auto">
          <a:xfrm>
            <a:off x="813027" y="2483984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208" name="Rectangle 80"/>
          <p:cNvSpPr>
            <a:spLocks noChangeArrowheads="1"/>
          </p:cNvSpPr>
          <p:nvPr/>
        </p:nvSpPr>
        <p:spPr bwMode="auto">
          <a:xfrm>
            <a:off x="1332139" y="2483984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209" name="Rectangle 81"/>
          <p:cNvSpPr>
            <a:spLocks noChangeArrowheads="1"/>
          </p:cNvSpPr>
          <p:nvPr/>
        </p:nvSpPr>
        <p:spPr bwMode="auto">
          <a:xfrm>
            <a:off x="2652032" y="2448606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10" name="Rectangle 82"/>
          <p:cNvSpPr>
            <a:spLocks noChangeArrowheads="1"/>
          </p:cNvSpPr>
          <p:nvPr/>
        </p:nvSpPr>
        <p:spPr bwMode="auto">
          <a:xfrm>
            <a:off x="3189514" y="2483984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11" name="Rectangle 83"/>
          <p:cNvSpPr>
            <a:spLocks noChangeArrowheads="1"/>
          </p:cNvSpPr>
          <p:nvPr/>
        </p:nvSpPr>
        <p:spPr bwMode="auto">
          <a:xfrm>
            <a:off x="4113439" y="2483984"/>
            <a:ext cx="380530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12" name="Rectangle 84"/>
          <p:cNvSpPr>
            <a:spLocks noChangeArrowheads="1"/>
          </p:cNvSpPr>
          <p:nvPr/>
        </p:nvSpPr>
        <p:spPr bwMode="auto">
          <a:xfrm>
            <a:off x="4684939" y="2479221"/>
            <a:ext cx="43823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13" name="Rectangle 85"/>
          <p:cNvSpPr>
            <a:spLocks noChangeArrowheads="1"/>
          </p:cNvSpPr>
          <p:nvPr/>
        </p:nvSpPr>
        <p:spPr bwMode="auto">
          <a:xfrm>
            <a:off x="3793671" y="2166710"/>
            <a:ext cx="30999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endParaRPr lang="en-US" altLang="zh-CN" sz="2000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4" name="Rectangle 86"/>
          <p:cNvSpPr>
            <a:spLocks noChangeArrowheads="1"/>
          </p:cNvSpPr>
          <p:nvPr/>
        </p:nvSpPr>
        <p:spPr bwMode="auto">
          <a:xfrm>
            <a:off x="2259012" y="2144485"/>
            <a:ext cx="309998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endParaRPr lang="en-US" altLang="zh-CN" sz="2000" b="1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5" name="Rectangle 87"/>
          <p:cNvSpPr>
            <a:spLocks noChangeArrowheads="1"/>
          </p:cNvSpPr>
          <p:nvPr/>
        </p:nvSpPr>
        <p:spPr bwMode="auto">
          <a:xfrm>
            <a:off x="1720170" y="2188028"/>
            <a:ext cx="338852" cy="40229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endParaRPr lang="en-US" altLang="zh-CN" sz="2000" b="1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6" name="Line 43"/>
          <p:cNvSpPr>
            <a:spLocks noChangeShapeType="1"/>
          </p:cNvSpPr>
          <p:nvPr/>
        </p:nvSpPr>
        <p:spPr bwMode="auto">
          <a:xfrm>
            <a:off x="1589314" y="3446009"/>
            <a:ext cx="0" cy="152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7" name="Text Box 94"/>
          <p:cNvSpPr txBox="1">
            <a:spLocks noChangeArrowheads="1"/>
          </p:cNvSpPr>
          <p:nvPr/>
        </p:nvSpPr>
        <p:spPr bwMode="auto">
          <a:xfrm>
            <a:off x="160564" y="3968296"/>
            <a:ext cx="685800" cy="371513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</a:p>
        </p:txBody>
      </p:sp>
      <p:sp>
        <p:nvSpPr>
          <p:cNvPr id="218" name="Text Box 95"/>
          <p:cNvSpPr txBox="1">
            <a:spLocks noChangeArrowheads="1"/>
          </p:cNvSpPr>
          <p:nvPr/>
        </p:nvSpPr>
        <p:spPr bwMode="auto">
          <a:xfrm>
            <a:off x="203427" y="3255509"/>
            <a:ext cx="838200" cy="371513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预置</a:t>
            </a:r>
          </a:p>
        </p:txBody>
      </p:sp>
      <p:sp>
        <p:nvSpPr>
          <p:cNvPr id="219" name="Line 96"/>
          <p:cNvSpPr>
            <a:spLocks noChangeShapeType="1"/>
          </p:cNvSpPr>
          <p:nvPr/>
        </p:nvSpPr>
        <p:spPr bwMode="auto">
          <a:xfrm>
            <a:off x="522514" y="4284209"/>
            <a:ext cx="152400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0" name="Line 97"/>
          <p:cNvSpPr>
            <a:spLocks noChangeShapeType="1"/>
          </p:cNvSpPr>
          <p:nvPr/>
        </p:nvSpPr>
        <p:spPr bwMode="auto">
          <a:xfrm>
            <a:off x="674914" y="4131809"/>
            <a:ext cx="0" cy="15240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1" name="Line 98"/>
          <p:cNvSpPr>
            <a:spLocks noChangeShapeType="1"/>
          </p:cNvSpPr>
          <p:nvPr/>
        </p:nvSpPr>
        <p:spPr bwMode="auto">
          <a:xfrm>
            <a:off x="674914" y="4131809"/>
            <a:ext cx="180000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2" name="Line 101"/>
          <p:cNvSpPr>
            <a:spLocks noChangeShapeType="1"/>
          </p:cNvSpPr>
          <p:nvPr/>
        </p:nvSpPr>
        <p:spPr bwMode="auto">
          <a:xfrm>
            <a:off x="436789" y="35936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3" name="Line 102"/>
          <p:cNvSpPr>
            <a:spLocks noChangeShapeType="1"/>
          </p:cNvSpPr>
          <p:nvPr/>
        </p:nvSpPr>
        <p:spPr bwMode="auto">
          <a:xfrm>
            <a:off x="589189" y="3593646"/>
            <a:ext cx="0" cy="15240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4" name="Line 103"/>
          <p:cNvSpPr>
            <a:spLocks noChangeShapeType="1"/>
          </p:cNvSpPr>
          <p:nvPr/>
        </p:nvSpPr>
        <p:spPr bwMode="auto">
          <a:xfrm>
            <a:off x="741589" y="3593646"/>
            <a:ext cx="0" cy="15240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5" name="Line 104"/>
          <p:cNvSpPr>
            <a:spLocks noChangeShapeType="1"/>
          </p:cNvSpPr>
          <p:nvPr/>
        </p:nvSpPr>
        <p:spPr bwMode="auto">
          <a:xfrm>
            <a:off x="589189" y="37460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26" name="Line 105"/>
          <p:cNvSpPr>
            <a:spLocks noChangeShapeType="1"/>
          </p:cNvSpPr>
          <p:nvPr/>
        </p:nvSpPr>
        <p:spPr bwMode="auto">
          <a:xfrm>
            <a:off x="741589" y="3593646"/>
            <a:ext cx="152400" cy="0"/>
          </a:xfrm>
          <a:prstGeom prst="line">
            <a:avLst/>
          </a:prstGeom>
          <a:noFill/>
          <a:ln w="22225">
            <a:solidFill>
              <a:srgbClr val="00206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27" name="Group 160"/>
          <p:cNvGrpSpPr>
            <a:grpSpLocks/>
          </p:cNvGrpSpPr>
          <p:nvPr/>
        </p:nvGrpSpPr>
        <p:grpSpPr bwMode="auto">
          <a:xfrm>
            <a:off x="4664306" y="2110924"/>
            <a:ext cx="452438" cy="401638"/>
            <a:chOff x="2064" y="1253"/>
            <a:chExt cx="285" cy="253"/>
          </a:xfrm>
        </p:grpSpPr>
        <p:sp>
          <p:nvSpPr>
            <p:cNvPr id="228" name="Rectangle 161"/>
            <p:cNvSpPr>
              <a:spLocks noChangeArrowheads="1"/>
            </p:cNvSpPr>
            <p:nvPr/>
          </p:nvSpPr>
          <p:spPr bwMode="auto">
            <a:xfrm>
              <a:off x="2064" y="1253"/>
              <a:ext cx="28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29" name="Line 162"/>
            <p:cNvSpPr>
              <a:spLocks noChangeShapeType="1"/>
            </p:cNvSpPr>
            <p:nvPr/>
          </p:nvSpPr>
          <p:spPr bwMode="auto">
            <a:xfrm>
              <a:off x="2134" y="1298"/>
              <a:ext cx="9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30" name="Line 175"/>
          <p:cNvSpPr>
            <a:spLocks noChangeShapeType="1"/>
          </p:cNvSpPr>
          <p:nvPr/>
        </p:nvSpPr>
        <p:spPr bwMode="auto">
          <a:xfrm flipH="1">
            <a:off x="4916714" y="3311071"/>
            <a:ext cx="12700" cy="2921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31" name="Group 176"/>
          <p:cNvGrpSpPr>
            <a:grpSpLocks/>
          </p:cNvGrpSpPr>
          <p:nvPr/>
        </p:nvGrpSpPr>
        <p:grpSpPr bwMode="auto">
          <a:xfrm>
            <a:off x="4772260" y="3022146"/>
            <a:ext cx="331788" cy="438150"/>
            <a:chOff x="3470" y="2296"/>
            <a:chExt cx="209" cy="276"/>
          </a:xfrm>
        </p:grpSpPr>
        <p:sp>
          <p:nvSpPr>
            <p:cNvPr id="232" name="Rectangle 177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3" name="Oval 178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4" name="Rectangle 179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35" name="Group 181"/>
          <p:cNvGrpSpPr>
            <a:grpSpLocks/>
          </p:cNvGrpSpPr>
          <p:nvPr/>
        </p:nvGrpSpPr>
        <p:grpSpPr bwMode="auto">
          <a:xfrm>
            <a:off x="2972027" y="2685607"/>
            <a:ext cx="144462" cy="231776"/>
            <a:chOff x="770" y="1632"/>
            <a:chExt cx="91" cy="146"/>
          </a:xfrm>
        </p:grpSpPr>
        <p:sp>
          <p:nvSpPr>
            <p:cNvPr id="236" name="AutoShape 182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7" name="Oval 183"/>
            <p:cNvSpPr>
              <a:spLocks noChangeArrowheads="1"/>
            </p:cNvSpPr>
            <p:nvPr/>
          </p:nvSpPr>
          <p:spPr bwMode="auto">
            <a:xfrm>
              <a:off x="790" y="173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38" name="Group 184"/>
          <p:cNvGrpSpPr>
            <a:grpSpLocks/>
          </p:cNvGrpSpPr>
          <p:nvPr/>
        </p:nvGrpSpPr>
        <p:grpSpPr bwMode="auto">
          <a:xfrm>
            <a:off x="4484914" y="2685607"/>
            <a:ext cx="144463" cy="231776"/>
            <a:chOff x="770" y="1632"/>
            <a:chExt cx="91" cy="146"/>
          </a:xfrm>
        </p:grpSpPr>
        <p:sp>
          <p:nvSpPr>
            <p:cNvPr id="239" name="AutoShape 185"/>
            <p:cNvSpPr>
              <a:spLocks noChangeArrowheads="1"/>
            </p:cNvSpPr>
            <p:nvPr/>
          </p:nvSpPr>
          <p:spPr bwMode="auto">
            <a:xfrm>
              <a:off x="770" y="1632"/>
              <a:ext cx="91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0" name="Oval 186"/>
            <p:cNvSpPr>
              <a:spLocks noChangeArrowheads="1"/>
            </p:cNvSpPr>
            <p:nvPr/>
          </p:nvSpPr>
          <p:spPr bwMode="auto">
            <a:xfrm>
              <a:off x="790" y="1730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41" name="Group 187"/>
          <p:cNvGrpSpPr>
            <a:grpSpLocks/>
          </p:cNvGrpSpPr>
          <p:nvPr/>
        </p:nvGrpSpPr>
        <p:grpSpPr bwMode="auto">
          <a:xfrm>
            <a:off x="3260960" y="3058659"/>
            <a:ext cx="331788" cy="438150"/>
            <a:chOff x="3470" y="2296"/>
            <a:chExt cx="209" cy="276"/>
          </a:xfrm>
        </p:grpSpPr>
        <p:sp>
          <p:nvSpPr>
            <p:cNvPr id="242" name="Rectangle 188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3" name="Oval 189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4" name="Rectangle 190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45" name="Group 191"/>
          <p:cNvGrpSpPr>
            <a:grpSpLocks/>
          </p:cNvGrpSpPr>
          <p:nvPr/>
        </p:nvGrpSpPr>
        <p:grpSpPr bwMode="auto">
          <a:xfrm>
            <a:off x="1443272" y="3058659"/>
            <a:ext cx="331788" cy="438150"/>
            <a:chOff x="3470" y="2296"/>
            <a:chExt cx="209" cy="276"/>
          </a:xfrm>
        </p:grpSpPr>
        <p:sp>
          <p:nvSpPr>
            <p:cNvPr id="246" name="Rectangle 192"/>
            <p:cNvSpPr>
              <a:spLocks noChangeArrowheads="1"/>
            </p:cNvSpPr>
            <p:nvPr/>
          </p:nvSpPr>
          <p:spPr bwMode="auto">
            <a:xfrm>
              <a:off x="3470" y="2354"/>
              <a:ext cx="192" cy="192"/>
            </a:xfrm>
            <a:prstGeom prst="rect">
              <a:avLst/>
            </a:prstGeom>
            <a:solidFill>
              <a:srgbClr val="FFE6CD"/>
            </a:solidFill>
            <a:ln w="6350">
              <a:solidFill>
                <a:schemeClr val="hlink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7" name="Oval 193"/>
            <p:cNvSpPr>
              <a:spLocks noChangeArrowheads="1"/>
            </p:cNvSpPr>
            <p:nvPr/>
          </p:nvSpPr>
          <p:spPr bwMode="auto">
            <a:xfrm>
              <a:off x="3548" y="229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 sz="2000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8" name="Rectangle 194"/>
            <p:cNvSpPr>
              <a:spLocks noChangeArrowheads="1"/>
            </p:cNvSpPr>
            <p:nvPr/>
          </p:nvSpPr>
          <p:spPr bwMode="auto">
            <a:xfrm>
              <a:off x="3484" y="2319"/>
              <a:ext cx="195" cy="2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249" name="Line 231"/>
          <p:cNvSpPr>
            <a:spLocks noChangeShapeType="1"/>
          </p:cNvSpPr>
          <p:nvPr/>
        </p:nvSpPr>
        <p:spPr bwMode="auto">
          <a:xfrm>
            <a:off x="852714" y="4133397"/>
            <a:ext cx="0" cy="144462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0" name="Line 232"/>
          <p:cNvSpPr>
            <a:spLocks noChangeShapeType="1"/>
          </p:cNvSpPr>
          <p:nvPr/>
        </p:nvSpPr>
        <p:spPr bwMode="auto">
          <a:xfrm>
            <a:off x="847952" y="4285797"/>
            <a:ext cx="14446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 sz="2000" i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1" name="Rectangle 148"/>
          <p:cNvSpPr>
            <a:spLocks noChangeArrowheads="1"/>
          </p:cNvSpPr>
          <p:nvPr/>
        </p:nvSpPr>
        <p:spPr bwMode="auto">
          <a:xfrm>
            <a:off x="693285" y="204107"/>
            <a:ext cx="693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zh-CN" altLang="en-US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4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</a:t>
            </a:r>
          </a:p>
        </p:txBody>
      </p:sp>
      <p:sp>
        <p:nvSpPr>
          <p:cNvPr id="252" name="Text Box 131"/>
          <p:cNvSpPr txBox="1">
            <a:spLocks noChangeArrowheads="1"/>
          </p:cNvSpPr>
          <p:nvPr/>
        </p:nvSpPr>
        <p:spPr bwMode="auto">
          <a:xfrm>
            <a:off x="5365297" y="881743"/>
            <a:ext cx="796018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解</a:t>
            </a:r>
            <a:r>
              <a:rPr lang="zh-CN" altLang="en-US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endParaRPr lang="zh-CN" altLang="en-US" sz="24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3" name="Text Box 130"/>
          <p:cNvSpPr txBox="1">
            <a:spLocks noChangeArrowheads="1"/>
          </p:cNvSpPr>
          <p:nvPr/>
        </p:nvSpPr>
        <p:spPr bwMode="auto">
          <a:xfrm>
            <a:off x="5630408" y="2584449"/>
            <a:ext cx="2076677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状态转换表</a:t>
            </a:r>
          </a:p>
        </p:txBody>
      </p:sp>
      <p:grpSp>
        <p:nvGrpSpPr>
          <p:cNvPr id="254" name="Group 208"/>
          <p:cNvGrpSpPr>
            <a:grpSpLocks/>
          </p:cNvGrpSpPr>
          <p:nvPr/>
        </p:nvGrpSpPr>
        <p:grpSpPr bwMode="auto">
          <a:xfrm>
            <a:off x="5467349" y="3023736"/>
            <a:ext cx="3676650" cy="1947863"/>
            <a:chOff x="712" y="2552"/>
            <a:chExt cx="2316" cy="1227"/>
          </a:xfrm>
        </p:grpSpPr>
        <p:sp>
          <p:nvSpPr>
            <p:cNvPr id="255" name="AutoShape 209"/>
            <p:cNvSpPr>
              <a:spLocks noChangeArrowheads="1"/>
            </p:cNvSpPr>
            <p:nvPr/>
          </p:nvSpPr>
          <p:spPr bwMode="auto">
            <a:xfrm>
              <a:off x="712" y="2568"/>
              <a:ext cx="2302" cy="1186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0099CC"/>
                </a:gs>
                <a:gs pos="100000">
                  <a:srgbClr val="CCECFF"/>
                </a:gs>
              </a:gsLst>
              <a:path path="rect">
                <a:fillToRect r="100000" b="100000"/>
              </a:path>
            </a:gradFill>
            <a:ln w="9525">
              <a:solidFill>
                <a:srgbClr val="CCE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" name="Line 210"/>
            <p:cNvSpPr>
              <a:spLocks noChangeShapeType="1"/>
            </p:cNvSpPr>
            <p:nvPr/>
          </p:nvSpPr>
          <p:spPr bwMode="auto">
            <a:xfrm>
              <a:off x="716" y="2819"/>
              <a:ext cx="2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7" name="Line 211"/>
            <p:cNvSpPr>
              <a:spLocks noChangeShapeType="1"/>
            </p:cNvSpPr>
            <p:nvPr/>
          </p:nvSpPr>
          <p:spPr bwMode="auto">
            <a:xfrm>
              <a:off x="1623" y="2572"/>
              <a:ext cx="0" cy="11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8" name="Text Box 212"/>
            <p:cNvSpPr txBox="1">
              <a:spLocks noChangeArrowheads="1"/>
            </p:cNvSpPr>
            <p:nvPr/>
          </p:nvSpPr>
          <p:spPr bwMode="auto">
            <a:xfrm>
              <a:off x="713" y="2825"/>
              <a:ext cx="48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endParaRPr lang="en-US" altLang="zh-CN" sz="1800" b="1" i="1" dirty="0">
                <a:solidFill>
                  <a:srgbClr val="9933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9" name="Text Box 213"/>
            <p:cNvSpPr txBox="1">
              <a:spLocks noChangeArrowheads="1"/>
            </p:cNvSpPr>
            <p:nvPr/>
          </p:nvSpPr>
          <p:spPr bwMode="auto">
            <a:xfrm>
              <a:off x="1688" y="2825"/>
              <a:ext cx="48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endParaRPr lang="en-US" altLang="zh-CN" sz="1800" b="1" i="0" dirty="0">
                <a:solidFill>
                  <a:srgbClr val="9933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0" name="Text Box 214"/>
            <p:cNvSpPr txBox="1">
              <a:spLocks noChangeArrowheads="1"/>
            </p:cNvSpPr>
            <p:nvPr/>
          </p:nvSpPr>
          <p:spPr bwMode="auto">
            <a:xfrm>
              <a:off x="2118" y="2825"/>
              <a:ext cx="48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endParaRPr lang="en-US" altLang="zh-CN" sz="1800" b="1" i="0" dirty="0">
                <a:solidFill>
                  <a:srgbClr val="9933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1" name="Text Box 215"/>
            <p:cNvSpPr txBox="1">
              <a:spLocks noChangeArrowheads="1"/>
            </p:cNvSpPr>
            <p:nvPr/>
          </p:nvSpPr>
          <p:spPr bwMode="auto">
            <a:xfrm>
              <a:off x="1001" y="2828"/>
              <a:ext cx="48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endParaRPr lang="en-US" altLang="zh-CN" sz="1800" b="1" i="1" dirty="0">
                <a:solidFill>
                  <a:srgbClr val="9933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2" name="Text Box 216"/>
            <p:cNvSpPr txBox="1">
              <a:spLocks noChangeArrowheads="1"/>
            </p:cNvSpPr>
            <p:nvPr/>
          </p:nvSpPr>
          <p:spPr bwMode="auto">
            <a:xfrm>
              <a:off x="1295" y="2819"/>
              <a:ext cx="48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endParaRPr lang="en-US" altLang="zh-CN" sz="1800" b="1" i="1" dirty="0">
                <a:solidFill>
                  <a:srgbClr val="9933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3" name="Rectangle 217"/>
            <p:cNvSpPr>
              <a:spLocks noChangeArrowheads="1"/>
            </p:cNvSpPr>
            <p:nvPr/>
          </p:nvSpPr>
          <p:spPr bwMode="auto">
            <a:xfrm>
              <a:off x="2584" y="2825"/>
              <a:ext cx="444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800" b="1" i="0" baseline="-25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1" i="1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1800" b="1" i="0" baseline="3000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</a:p>
          </p:txBody>
        </p:sp>
        <p:sp>
          <p:nvSpPr>
            <p:cNvPr id="264" name="Line 218"/>
            <p:cNvSpPr>
              <a:spLocks noChangeShapeType="1"/>
            </p:cNvSpPr>
            <p:nvPr/>
          </p:nvSpPr>
          <p:spPr bwMode="auto">
            <a:xfrm>
              <a:off x="716" y="3059"/>
              <a:ext cx="2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5" name="Line 219"/>
            <p:cNvSpPr>
              <a:spLocks noChangeShapeType="1"/>
            </p:cNvSpPr>
            <p:nvPr/>
          </p:nvSpPr>
          <p:spPr bwMode="auto">
            <a:xfrm>
              <a:off x="716" y="3299"/>
              <a:ext cx="2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6" name="Line 220"/>
            <p:cNvSpPr>
              <a:spLocks noChangeShapeType="1"/>
            </p:cNvSpPr>
            <p:nvPr/>
          </p:nvSpPr>
          <p:spPr bwMode="auto">
            <a:xfrm>
              <a:off x="716" y="3539"/>
              <a:ext cx="2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7" name="Text Box 221"/>
            <p:cNvSpPr txBox="1">
              <a:spLocks noChangeArrowheads="1"/>
            </p:cNvSpPr>
            <p:nvPr/>
          </p:nvSpPr>
          <p:spPr bwMode="auto">
            <a:xfrm>
              <a:off x="742" y="2569"/>
              <a:ext cx="959" cy="292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i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现   态</a:t>
              </a:r>
            </a:p>
          </p:txBody>
        </p:sp>
        <p:sp>
          <p:nvSpPr>
            <p:cNvPr id="268" name="Rectangle 222"/>
            <p:cNvSpPr>
              <a:spLocks noChangeArrowheads="1"/>
            </p:cNvSpPr>
            <p:nvPr/>
          </p:nvSpPr>
          <p:spPr bwMode="auto">
            <a:xfrm>
              <a:off x="1879" y="2552"/>
              <a:ext cx="745" cy="292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i="0" dirty="0">
                  <a:solidFill>
                    <a:srgbClr val="9933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次     态</a:t>
              </a:r>
            </a:p>
          </p:txBody>
        </p:sp>
        <p:sp>
          <p:nvSpPr>
            <p:cNvPr id="269" name="Text Box 223"/>
            <p:cNvSpPr txBox="1">
              <a:spLocks noChangeArrowheads="1"/>
            </p:cNvSpPr>
            <p:nvPr/>
          </p:nvSpPr>
          <p:spPr bwMode="auto">
            <a:xfrm>
              <a:off x="743" y="3058"/>
              <a:ext cx="96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 dirty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0      1      1</a:t>
              </a:r>
            </a:p>
          </p:txBody>
        </p:sp>
        <p:sp>
          <p:nvSpPr>
            <p:cNvPr id="270" name="Text Box 224"/>
            <p:cNvSpPr txBox="1">
              <a:spLocks noChangeArrowheads="1"/>
            </p:cNvSpPr>
            <p:nvPr/>
          </p:nvSpPr>
          <p:spPr bwMode="auto">
            <a:xfrm>
              <a:off x="1782" y="3055"/>
              <a:ext cx="1152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1         1          0</a:t>
              </a:r>
            </a:p>
          </p:txBody>
        </p:sp>
        <p:sp>
          <p:nvSpPr>
            <p:cNvPr id="271" name="Text Box 225"/>
            <p:cNvSpPr txBox="1">
              <a:spLocks noChangeArrowheads="1"/>
            </p:cNvSpPr>
            <p:nvPr/>
          </p:nvSpPr>
          <p:spPr bwMode="auto">
            <a:xfrm>
              <a:off x="743" y="3298"/>
              <a:ext cx="96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1      1      0</a:t>
              </a:r>
            </a:p>
          </p:txBody>
        </p:sp>
        <p:sp>
          <p:nvSpPr>
            <p:cNvPr id="272" name="Text Box 226"/>
            <p:cNvSpPr txBox="1">
              <a:spLocks noChangeArrowheads="1"/>
            </p:cNvSpPr>
            <p:nvPr/>
          </p:nvSpPr>
          <p:spPr bwMode="auto">
            <a:xfrm>
              <a:off x="1782" y="3295"/>
              <a:ext cx="1152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1         0          1</a:t>
              </a:r>
            </a:p>
          </p:txBody>
        </p:sp>
        <p:sp>
          <p:nvSpPr>
            <p:cNvPr id="273" name="Text Box 227"/>
            <p:cNvSpPr txBox="1">
              <a:spLocks noChangeArrowheads="1"/>
            </p:cNvSpPr>
            <p:nvPr/>
          </p:nvSpPr>
          <p:spPr bwMode="auto">
            <a:xfrm>
              <a:off x="1782" y="3545"/>
              <a:ext cx="1152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0         1          1</a:t>
              </a:r>
            </a:p>
          </p:txBody>
        </p:sp>
        <p:sp>
          <p:nvSpPr>
            <p:cNvPr id="274" name="Text Box 228"/>
            <p:cNvSpPr txBox="1">
              <a:spLocks noChangeArrowheads="1"/>
            </p:cNvSpPr>
            <p:nvPr/>
          </p:nvSpPr>
          <p:spPr bwMode="auto">
            <a:xfrm>
              <a:off x="743" y="3538"/>
              <a:ext cx="960" cy="234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>
                  <a:solidFill>
                    <a:srgbClr val="414141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1      0      1</a:t>
              </a:r>
            </a:p>
          </p:txBody>
        </p:sp>
      </p:grpSp>
      <p:sp>
        <p:nvSpPr>
          <p:cNvPr id="275" name="Text Box 140"/>
          <p:cNvSpPr txBox="1">
            <a:spLocks noChangeArrowheads="1"/>
          </p:cNvSpPr>
          <p:nvPr/>
        </p:nvSpPr>
        <p:spPr bwMode="auto">
          <a:xfrm>
            <a:off x="1045031" y="4060371"/>
            <a:ext cx="4669970" cy="943208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CN" altLang="en-US" sz="2400" i="0" dirty="0" smtClean="0">
                <a:latin typeface="华文中宋" pitchFamily="2" charset="-122"/>
                <a:ea typeface="华文中宋" pitchFamily="2" charset="-122"/>
              </a:rPr>
              <a:t>依</a:t>
            </a:r>
            <a:r>
              <a:rPr lang="zh-CN" altLang="en-US" sz="2400" i="0" dirty="0">
                <a:latin typeface="华文中宋" pitchFamily="2" charset="-122"/>
                <a:ea typeface="华文中宋" pitchFamily="2" charset="-122"/>
              </a:rPr>
              <a:t>状态转换表分析</a:t>
            </a:r>
            <a:r>
              <a:rPr lang="zh-CN" altLang="en-US" sz="2400" b="1" i="0" dirty="0" smtClean="0">
                <a:latin typeface="华文中宋" pitchFamily="2" charset="-122"/>
                <a:ea typeface="华文中宋" pitchFamily="2" charset="-122"/>
              </a:rPr>
              <a:t>，</a:t>
            </a:r>
            <a:r>
              <a:rPr lang="zh-CN" altLang="en-US" sz="2400" i="0" dirty="0" smtClean="0">
                <a:latin typeface="华文中宋" pitchFamily="2" charset="-122"/>
                <a:ea typeface="华文中宋" pitchFamily="2" charset="-122"/>
              </a:rPr>
              <a:t>该</a:t>
            </a:r>
            <a:r>
              <a:rPr lang="zh-CN" altLang="en-US" sz="2400" i="0" dirty="0">
                <a:latin typeface="华文中宋" pitchFamily="2" charset="-122"/>
                <a:ea typeface="华文中宋" pitchFamily="2" charset="-122"/>
              </a:rPr>
              <a:t>电路为一</a:t>
            </a:r>
            <a:r>
              <a:rPr lang="zh-CN" altLang="en-US" sz="2400" b="1" i="0" dirty="0">
                <a:latin typeface="华文中宋" pitchFamily="2" charset="-122"/>
                <a:ea typeface="华文中宋" pitchFamily="2" charset="-122"/>
              </a:rPr>
              <a:t>顺序脉冲</a:t>
            </a:r>
            <a:r>
              <a:rPr lang="zh-CN" altLang="en-US" sz="2400" b="1" i="0" dirty="0" smtClean="0">
                <a:latin typeface="华文中宋" pitchFamily="2" charset="-122"/>
                <a:ea typeface="华文中宋" pitchFamily="2" charset="-122"/>
              </a:rPr>
              <a:t>发生</a:t>
            </a:r>
            <a:r>
              <a:rPr lang="zh-CN" altLang="en-US" sz="2400" b="1" i="0" dirty="0">
                <a:latin typeface="华文中宋" pitchFamily="2" charset="-122"/>
                <a:ea typeface="华文中宋" pitchFamily="2" charset="-122"/>
              </a:rPr>
              <a:t>电路。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29" grpId="0"/>
      <p:bldP spid="253" grpId="0"/>
      <p:bldP spid="2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22186" y="339566"/>
            <a:ext cx="2516958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、寄存器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609600" y="1295400"/>
            <a:ext cx="7434943" cy="171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寄存器用来暂时存放参与运算的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数据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和运算结果。一个触发器可寄存一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位二进制数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，存多少位数，就用多少个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175657" y="3353707"/>
            <a:ext cx="62889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寄存器分为</a:t>
            </a:r>
            <a:r>
              <a:rPr lang="zh-CN" altLang="en-US" sz="2800" b="1" i="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数码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zh-CN" altLang="en-US" sz="2800" b="1" i="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移位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3037115" y="3842209"/>
            <a:ext cx="2960688" cy="360363"/>
            <a:chOff x="1920" y="2722"/>
            <a:chExt cx="1865" cy="227"/>
          </a:xfrm>
        </p:grpSpPr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>
              <a:off x="1920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2208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3497" y="2729"/>
              <a:ext cx="28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3243" y="2722"/>
              <a:ext cx="2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</p:grpSp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3037114" y="3842211"/>
            <a:ext cx="3254376" cy="360363"/>
            <a:chOff x="1920" y="2722"/>
            <a:chExt cx="2050" cy="227"/>
          </a:xfrm>
        </p:grpSpPr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920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2208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3237" y="2722"/>
              <a:ext cx="31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3490" y="2722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</p:grpSp>
      <p:grpSp>
        <p:nvGrpSpPr>
          <p:cNvPr id="15" name="Group 23"/>
          <p:cNvGrpSpPr>
            <a:grpSpLocks/>
          </p:cNvGrpSpPr>
          <p:nvPr/>
        </p:nvGrpSpPr>
        <p:grpSpPr bwMode="auto">
          <a:xfrm>
            <a:off x="3037114" y="3842220"/>
            <a:ext cx="3265488" cy="360364"/>
            <a:chOff x="1920" y="2722"/>
            <a:chExt cx="2057" cy="227"/>
          </a:xfrm>
        </p:grpSpPr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1920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2208" y="2736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3237" y="2729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3497" y="2722"/>
              <a:ext cx="48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"/>
                                            </p:cond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1443718" y="250371"/>
            <a:ext cx="625844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由</a:t>
            </a: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触发器构成的四位数码寄存器</a:t>
            </a:r>
          </a:p>
        </p:txBody>
      </p:sp>
      <p:sp>
        <p:nvSpPr>
          <p:cNvPr id="3" name="Text Box 78"/>
          <p:cNvSpPr txBox="1">
            <a:spLocks noChangeArrowheads="1"/>
          </p:cNvSpPr>
          <p:nvPr/>
        </p:nvSpPr>
        <p:spPr bwMode="auto">
          <a:xfrm>
            <a:off x="594179" y="3681866"/>
            <a:ext cx="403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寄存二进制数：</a:t>
            </a: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1011</a:t>
            </a:r>
          </a:p>
        </p:txBody>
      </p:sp>
      <p:sp>
        <p:nvSpPr>
          <p:cNvPr id="13" name="Text Box 88"/>
          <p:cNvSpPr txBox="1">
            <a:spLocks noChangeArrowheads="1"/>
          </p:cNvSpPr>
          <p:nvPr/>
        </p:nvSpPr>
        <p:spPr bwMode="auto">
          <a:xfrm>
            <a:off x="594179" y="4258129"/>
            <a:ext cx="121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清零</a:t>
            </a:r>
          </a:p>
        </p:txBody>
      </p:sp>
      <p:sp>
        <p:nvSpPr>
          <p:cNvPr id="14" name="Rectangle 89"/>
          <p:cNvSpPr>
            <a:spLocks noChangeArrowheads="1"/>
          </p:cNvSpPr>
          <p:nvPr/>
        </p:nvSpPr>
        <p:spPr bwMode="auto">
          <a:xfrm>
            <a:off x="3042104" y="4258129"/>
            <a:ext cx="933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</a:t>
            </a:r>
          </a:p>
        </p:txBody>
      </p:sp>
      <p:grpSp>
        <p:nvGrpSpPr>
          <p:cNvPr id="19" name="Group 94"/>
          <p:cNvGrpSpPr>
            <a:grpSpLocks/>
          </p:cNvGrpSpPr>
          <p:nvPr/>
        </p:nvGrpSpPr>
        <p:grpSpPr bwMode="auto">
          <a:xfrm>
            <a:off x="2170339" y="774930"/>
            <a:ext cx="5076825" cy="538163"/>
            <a:chOff x="780" y="2482"/>
            <a:chExt cx="3198" cy="339"/>
          </a:xfrm>
        </p:grpSpPr>
        <p:sp>
          <p:nvSpPr>
            <p:cNvPr id="20" name="Rectangle 95"/>
            <p:cNvSpPr>
              <a:spLocks noChangeArrowheads="1"/>
            </p:cNvSpPr>
            <p:nvPr/>
          </p:nvSpPr>
          <p:spPr bwMode="auto">
            <a:xfrm>
              <a:off x="780" y="248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1" name="Rectangle 96"/>
            <p:cNvSpPr>
              <a:spLocks noChangeArrowheads="1"/>
            </p:cNvSpPr>
            <p:nvPr/>
          </p:nvSpPr>
          <p:spPr bwMode="auto">
            <a:xfrm>
              <a:off x="1872" y="249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2" name="Rectangle 97"/>
            <p:cNvSpPr>
              <a:spLocks noChangeArrowheads="1"/>
            </p:cNvSpPr>
            <p:nvPr/>
          </p:nvSpPr>
          <p:spPr bwMode="auto">
            <a:xfrm>
              <a:off x="2770" y="249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3" name="Rectangle 98"/>
            <p:cNvSpPr>
              <a:spLocks noChangeArrowheads="1"/>
            </p:cNvSpPr>
            <p:nvPr/>
          </p:nvSpPr>
          <p:spPr bwMode="auto">
            <a:xfrm>
              <a:off x="3749" y="2491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24" name="Rectangle 99"/>
          <p:cNvSpPr>
            <a:spLocks noChangeArrowheads="1"/>
          </p:cNvSpPr>
          <p:nvPr/>
        </p:nvSpPr>
        <p:spPr bwMode="auto">
          <a:xfrm>
            <a:off x="4842329" y="3899354"/>
            <a:ext cx="338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特点：并行入并行出</a:t>
            </a:r>
          </a:p>
        </p:txBody>
      </p:sp>
      <p:grpSp>
        <p:nvGrpSpPr>
          <p:cNvPr id="25" name="Group 100"/>
          <p:cNvGrpSpPr>
            <a:grpSpLocks/>
          </p:cNvGrpSpPr>
          <p:nvPr/>
        </p:nvGrpSpPr>
        <p:grpSpPr bwMode="auto">
          <a:xfrm>
            <a:off x="2260146" y="845155"/>
            <a:ext cx="4941888" cy="478367"/>
            <a:chOff x="1392" y="686"/>
            <a:chExt cx="3113" cy="226"/>
          </a:xfrm>
        </p:grpSpPr>
        <p:sp useBgFill="1">
          <p:nvSpPr>
            <p:cNvPr id="26" name="Rectangle 101"/>
            <p:cNvSpPr>
              <a:spLocks noChangeArrowheads="1"/>
            </p:cNvSpPr>
            <p:nvPr/>
          </p:nvSpPr>
          <p:spPr bwMode="auto">
            <a:xfrm>
              <a:off x="1392" y="720"/>
              <a:ext cx="144" cy="19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 useBgFill="1">
          <p:nvSpPr>
            <p:cNvPr id="27" name="Rectangle 102"/>
            <p:cNvSpPr>
              <a:spLocks noChangeArrowheads="1"/>
            </p:cNvSpPr>
            <p:nvPr/>
          </p:nvSpPr>
          <p:spPr bwMode="auto">
            <a:xfrm>
              <a:off x="2457" y="686"/>
              <a:ext cx="144" cy="19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 useBgFill="1">
          <p:nvSpPr>
            <p:cNvPr id="28" name="Rectangle 103"/>
            <p:cNvSpPr>
              <a:spLocks noChangeArrowheads="1"/>
            </p:cNvSpPr>
            <p:nvPr/>
          </p:nvSpPr>
          <p:spPr bwMode="auto">
            <a:xfrm>
              <a:off x="3369" y="698"/>
              <a:ext cx="144" cy="19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 useBgFill="1">
          <p:nvSpPr>
            <p:cNvPr id="29" name="Rectangle 104"/>
            <p:cNvSpPr>
              <a:spLocks noChangeArrowheads="1"/>
            </p:cNvSpPr>
            <p:nvPr/>
          </p:nvSpPr>
          <p:spPr bwMode="auto">
            <a:xfrm>
              <a:off x="4361" y="703"/>
              <a:ext cx="144" cy="19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96" name="Text Box 238"/>
          <p:cNvSpPr txBox="1">
            <a:spLocks noChangeArrowheads="1"/>
          </p:cNvSpPr>
          <p:nvPr/>
        </p:nvSpPr>
        <p:spPr bwMode="auto">
          <a:xfrm>
            <a:off x="2163310" y="3058431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97" name="Text Box 239"/>
          <p:cNvSpPr txBox="1">
            <a:spLocks noChangeArrowheads="1"/>
          </p:cNvSpPr>
          <p:nvPr/>
        </p:nvSpPr>
        <p:spPr bwMode="auto">
          <a:xfrm>
            <a:off x="613456" y="3091089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8" name="Text Box 240"/>
          <p:cNvSpPr txBox="1">
            <a:spLocks noChangeArrowheads="1"/>
          </p:cNvSpPr>
          <p:nvPr/>
        </p:nvSpPr>
        <p:spPr bwMode="auto">
          <a:xfrm>
            <a:off x="3731986" y="3047546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9" name="Text Box 241"/>
          <p:cNvSpPr txBox="1">
            <a:spLocks noChangeArrowheads="1"/>
          </p:cNvSpPr>
          <p:nvPr/>
        </p:nvSpPr>
        <p:spPr bwMode="auto">
          <a:xfrm>
            <a:off x="5311549" y="3064781"/>
            <a:ext cx="361294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761999" y="998704"/>
            <a:ext cx="6781801" cy="2290465"/>
            <a:chOff x="990600" y="2914590"/>
            <a:chExt cx="6781801" cy="2290465"/>
          </a:xfrm>
        </p:grpSpPr>
        <p:cxnSp>
          <p:nvCxnSpPr>
            <p:cNvPr id="108" name="直接连接符 107"/>
            <p:cNvCxnSpPr/>
            <p:nvPr/>
          </p:nvCxnSpPr>
          <p:spPr>
            <a:xfrm flipV="1">
              <a:off x="1396092" y="4519613"/>
              <a:ext cx="57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V="1">
              <a:off x="1224642" y="4676775"/>
              <a:ext cx="59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组合 86"/>
            <p:cNvGrpSpPr/>
            <p:nvPr/>
          </p:nvGrpSpPr>
          <p:grpSpPr>
            <a:xfrm>
              <a:off x="990600" y="2914590"/>
              <a:ext cx="1477089" cy="2290465"/>
              <a:chOff x="990600" y="2914590"/>
              <a:chExt cx="1477089" cy="2290465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1654628" y="3418113"/>
                <a:ext cx="576000" cy="97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170" name="直接连接符 169"/>
              <p:cNvCxnSpPr>
                <a:stCxn id="169" idx="1"/>
              </p:cNvCxnSpPr>
              <p:nvPr/>
            </p:nvCxnSpPr>
            <p:spPr>
              <a:xfrm rot="10800000" flipV="1">
                <a:off x="1222628" y="3907971"/>
                <a:ext cx="43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 rot="10800000" flipV="1">
                <a:off x="1031743" y="3592285"/>
                <a:ext cx="61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 rot="10800000" flipV="1">
                <a:off x="1402628" y="4234542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rot="16200000" flipH="1">
                <a:off x="1256175" y="4380375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rot="16200000" flipH="1">
                <a:off x="841725" y="4294537"/>
                <a:ext cx="77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ectangle 233"/>
              <p:cNvSpPr>
                <a:spLocks noChangeArrowheads="1"/>
              </p:cNvSpPr>
              <p:nvPr/>
            </p:nvSpPr>
            <p:spPr bwMode="auto">
              <a:xfrm>
                <a:off x="1628322" y="3414713"/>
                <a:ext cx="4074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6" name="Rectangle 233"/>
              <p:cNvSpPr>
                <a:spLocks noChangeArrowheads="1"/>
              </p:cNvSpPr>
              <p:nvPr/>
            </p:nvSpPr>
            <p:spPr bwMode="auto">
              <a:xfrm>
                <a:off x="1818822" y="3800475"/>
                <a:ext cx="4748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7" name="Rectangle 233"/>
              <p:cNvSpPr>
                <a:spLocks noChangeArrowheads="1"/>
              </p:cNvSpPr>
              <p:nvPr/>
            </p:nvSpPr>
            <p:spPr bwMode="auto">
              <a:xfrm>
                <a:off x="1571172" y="3705225"/>
                <a:ext cx="35779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&gt;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78" name="直接连接符 177"/>
              <p:cNvCxnSpPr/>
              <p:nvPr/>
            </p:nvCxnSpPr>
            <p:spPr>
              <a:xfrm rot="16200000" flipH="1">
                <a:off x="353700" y="4263712"/>
                <a:ext cx="135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rot="10800000" flipV="1">
                <a:off x="2231865" y="361065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16200000" flipH="1">
                <a:off x="2180587" y="3385499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椭圆 180"/>
              <p:cNvSpPr/>
              <p:nvPr/>
            </p:nvSpPr>
            <p:spPr>
              <a:xfrm>
                <a:off x="990600" y="4929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82" name="Rectangle 233"/>
              <p:cNvSpPr>
                <a:spLocks noChangeArrowheads="1"/>
              </p:cNvSpPr>
              <p:nvPr/>
            </p:nvSpPr>
            <p:spPr bwMode="auto">
              <a:xfrm>
                <a:off x="1042534" y="4743390"/>
                <a:ext cx="44114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3" name="Rectangle 233"/>
              <p:cNvSpPr>
                <a:spLocks noChangeArrowheads="1"/>
              </p:cNvSpPr>
              <p:nvPr/>
            </p:nvSpPr>
            <p:spPr bwMode="auto">
              <a:xfrm>
                <a:off x="1957613" y="2914590"/>
                <a:ext cx="51007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4" name="椭圆 183"/>
              <p:cNvSpPr/>
              <p:nvPr/>
            </p:nvSpPr>
            <p:spPr>
              <a:xfrm>
                <a:off x="2376488" y="308610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85" name="椭圆 184"/>
              <p:cNvSpPr/>
              <p:nvPr/>
            </p:nvSpPr>
            <p:spPr>
              <a:xfrm>
                <a:off x="1557338" y="4200525"/>
                <a:ext cx="72000" cy="7200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grpSp>
          <p:nvGrpSpPr>
            <p:cNvPr id="111" name="组合 87"/>
            <p:cNvGrpSpPr/>
            <p:nvPr/>
          </p:nvGrpSpPr>
          <p:grpSpPr>
            <a:xfrm>
              <a:off x="2579914" y="2914590"/>
              <a:ext cx="3534338" cy="2290465"/>
              <a:chOff x="990600" y="2914590"/>
              <a:chExt cx="3534338" cy="2290465"/>
            </a:xfrm>
          </p:grpSpPr>
          <p:sp>
            <p:nvSpPr>
              <p:cNvPr id="152" name="矩形 151"/>
              <p:cNvSpPr/>
              <p:nvPr/>
            </p:nvSpPr>
            <p:spPr>
              <a:xfrm>
                <a:off x="1654628" y="3418113"/>
                <a:ext cx="576000" cy="97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153" name="直接连接符 152"/>
              <p:cNvCxnSpPr>
                <a:stCxn id="152" idx="1"/>
              </p:cNvCxnSpPr>
              <p:nvPr/>
            </p:nvCxnSpPr>
            <p:spPr>
              <a:xfrm rot="10800000" flipV="1">
                <a:off x="1222628" y="3907971"/>
                <a:ext cx="43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10800000" flipV="1">
                <a:off x="1031743" y="3592285"/>
                <a:ext cx="61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rot="10800000" flipV="1">
                <a:off x="1402628" y="4234542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rot="16200000" flipH="1">
                <a:off x="1256175" y="4380375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rot="16200000" flipH="1">
                <a:off x="841725" y="4294537"/>
                <a:ext cx="77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Rectangle 233"/>
              <p:cNvSpPr>
                <a:spLocks noChangeArrowheads="1"/>
              </p:cNvSpPr>
              <p:nvPr/>
            </p:nvSpPr>
            <p:spPr bwMode="auto">
              <a:xfrm>
                <a:off x="1628322" y="3414713"/>
                <a:ext cx="4074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9" name="Rectangle 233"/>
              <p:cNvSpPr>
                <a:spLocks noChangeArrowheads="1"/>
              </p:cNvSpPr>
              <p:nvPr/>
            </p:nvSpPr>
            <p:spPr bwMode="auto">
              <a:xfrm>
                <a:off x="1818822" y="3800475"/>
                <a:ext cx="4748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0" name="Rectangle 233"/>
              <p:cNvSpPr>
                <a:spLocks noChangeArrowheads="1"/>
              </p:cNvSpPr>
              <p:nvPr/>
            </p:nvSpPr>
            <p:spPr bwMode="auto">
              <a:xfrm>
                <a:off x="1571172" y="3705225"/>
                <a:ext cx="35779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&gt;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61" name="直接连接符 160"/>
              <p:cNvCxnSpPr/>
              <p:nvPr/>
            </p:nvCxnSpPr>
            <p:spPr>
              <a:xfrm rot="16200000" flipH="1">
                <a:off x="353700" y="4263712"/>
                <a:ext cx="135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rot="10800000" flipV="1">
                <a:off x="2231865" y="361065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rot="16200000" flipH="1">
                <a:off x="2180587" y="3385499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椭圆 163"/>
              <p:cNvSpPr/>
              <p:nvPr/>
            </p:nvSpPr>
            <p:spPr>
              <a:xfrm>
                <a:off x="990600" y="4929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65" name="Rectangle 233"/>
              <p:cNvSpPr>
                <a:spLocks noChangeArrowheads="1"/>
              </p:cNvSpPr>
              <p:nvPr/>
            </p:nvSpPr>
            <p:spPr bwMode="auto">
              <a:xfrm>
                <a:off x="1042534" y="4743390"/>
                <a:ext cx="44114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6" name="Rectangle 233"/>
              <p:cNvSpPr>
                <a:spLocks noChangeArrowheads="1"/>
              </p:cNvSpPr>
              <p:nvPr/>
            </p:nvSpPr>
            <p:spPr bwMode="auto">
              <a:xfrm>
                <a:off x="1924956" y="2914590"/>
                <a:ext cx="51007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7" name="椭圆 166"/>
              <p:cNvSpPr/>
              <p:nvPr/>
            </p:nvSpPr>
            <p:spPr>
              <a:xfrm>
                <a:off x="2376488" y="308610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68" name="椭圆 167"/>
              <p:cNvSpPr/>
              <p:nvPr/>
            </p:nvSpPr>
            <p:spPr>
              <a:xfrm>
                <a:off x="1562100" y="4195763"/>
                <a:ext cx="72000" cy="7200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03" name="椭圆 202"/>
              <p:cNvSpPr/>
              <p:nvPr/>
            </p:nvSpPr>
            <p:spPr>
              <a:xfrm>
                <a:off x="2752725" y="46339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04" name="椭圆 203"/>
              <p:cNvSpPr/>
              <p:nvPr/>
            </p:nvSpPr>
            <p:spPr>
              <a:xfrm>
                <a:off x="1190625" y="46339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07" name="椭圆 206"/>
              <p:cNvSpPr/>
              <p:nvPr/>
            </p:nvSpPr>
            <p:spPr>
              <a:xfrm>
                <a:off x="1366838" y="44767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11" name="椭圆 210"/>
              <p:cNvSpPr/>
              <p:nvPr/>
            </p:nvSpPr>
            <p:spPr>
              <a:xfrm>
                <a:off x="2919412" y="448627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12" name="椭圆 211"/>
              <p:cNvSpPr/>
              <p:nvPr/>
            </p:nvSpPr>
            <p:spPr>
              <a:xfrm>
                <a:off x="4286250" y="463867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452938" y="448151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grpSp>
          <p:nvGrpSpPr>
            <p:cNvPr id="112" name="组合 104"/>
            <p:cNvGrpSpPr/>
            <p:nvPr/>
          </p:nvGrpSpPr>
          <p:grpSpPr>
            <a:xfrm>
              <a:off x="4136572" y="2914590"/>
              <a:ext cx="1457888" cy="2290465"/>
              <a:chOff x="990600" y="2914590"/>
              <a:chExt cx="1457888" cy="2290465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1654628" y="3418113"/>
                <a:ext cx="576000" cy="97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136" name="直接连接符 135"/>
              <p:cNvCxnSpPr>
                <a:stCxn id="135" idx="1"/>
              </p:cNvCxnSpPr>
              <p:nvPr/>
            </p:nvCxnSpPr>
            <p:spPr>
              <a:xfrm rot="10800000" flipV="1">
                <a:off x="1222628" y="3907971"/>
                <a:ext cx="43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 rot="10800000" flipV="1">
                <a:off x="1031743" y="3592285"/>
                <a:ext cx="61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rot="10800000" flipV="1">
                <a:off x="1402628" y="4234542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 rot="16200000" flipH="1">
                <a:off x="1256175" y="4380375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rot="16200000" flipH="1">
                <a:off x="841725" y="4294537"/>
                <a:ext cx="77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233"/>
              <p:cNvSpPr>
                <a:spLocks noChangeArrowheads="1"/>
              </p:cNvSpPr>
              <p:nvPr/>
            </p:nvSpPr>
            <p:spPr bwMode="auto">
              <a:xfrm>
                <a:off x="1628322" y="3414713"/>
                <a:ext cx="4074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2" name="Rectangle 233"/>
              <p:cNvSpPr>
                <a:spLocks noChangeArrowheads="1"/>
              </p:cNvSpPr>
              <p:nvPr/>
            </p:nvSpPr>
            <p:spPr bwMode="auto">
              <a:xfrm>
                <a:off x="1818822" y="3800475"/>
                <a:ext cx="4748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" name="Rectangle 233"/>
              <p:cNvSpPr>
                <a:spLocks noChangeArrowheads="1"/>
              </p:cNvSpPr>
              <p:nvPr/>
            </p:nvSpPr>
            <p:spPr bwMode="auto">
              <a:xfrm>
                <a:off x="1571172" y="3705225"/>
                <a:ext cx="35779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&gt;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44" name="直接连接符 143"/>
              <p:cNvCxnSpPr/>
              <p:nvPr/>
            </p:nvCxnSpPr>
            <p:spPr>
              <a:xfrm rot="16200000" flipH="1">
                <a:off x="353700" y="4263712"/>
                <a:ext cx="135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rot="10800000" flipV="1">
                <a:off x="2231865" y="361065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rot="16200000" flipH="1">
                <a:off x="2180587" y="3385499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椭圆 146"/>
              <p:cNvSpPr/>
              <p:nvPr/>
            </p:nvSpPr>
            <p:spPr>
              <a:xfrm>
                <a:off x="990600" y="4929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48" name="Rectangle 233"/>
              <p:cNvSpPr>
                <a:spLocks noChangeArrowheads="1"/>
              </p:cNvSpPr>
              <p:nvPr/>
            </p:nvSpPr>
            <p:spPr bwMode="auto">
              <a:xfrm>
                <a:off x="1042534" y="4743390"/>
                <a:ext cx="44114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9" name="Rectangle 233"/>
              <p:cNvSpPr>
                <a:spLocks noChangeArrowheads="1"/>
              </p:cNvSpPr>
              <p:nvPr/>
            </p:nvSpPr>
            <p:spPr bwMode="auto">
              <a:xfrm>
                <a:off x="1914071" y="2914590"/>
                <a:ext cx="51007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2376488" y="308610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51" name="椭圆 150"/>
              <p:cNvSpPr/>
              <p:nvPr/>
            </p:nvSpPr>
            <p:spPr>
              <a:xfrm>
                <a:off x="1552576" y="4195762"/>
                <a:ext cx="72000" cy="7200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grpSp>
          <p:nvGrpSpPr>
            <p:cNvPr id="113" name="组合 121"/>
            <p:cNvGrpSpPr/>
            <p:nvPr/>
          </p:nvGrpSpPr>
          <p:grpSpPr>
            <a:xfrm>
              <a:off x="5671457" y="2914590"/>
              <a:ext cx="1457888" cy="2290465"/>
              <a:chOff x="990600" y="2914590"/>
              <a:chExt cx="1457888" cy="2290465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1654628" y="3418113"/>
                <a:ext cx="576000" cy="97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119" name="直接连接符 118"/>
              <p:cNvCxnSpPr>
                <a:stCxn id="118" idx="1"/>
              </p:cNvCxnSpPr>
              <p:nvPr/>
            </p:nvCxnSpPr>
            <p:spPr>
              <a:xfrm rot="10800000" flipV="1">
                <a:off x="1222628" y="3907971"/>
                <a:ext cx="43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 rot="10800000" flipV="1">
                <a:off x="1031743" y="3592285"/>
                <a:ext cx="61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rot="10800000" flipV="1">
                <a:off x="1402628" y="4234542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rot="16200000" flipH="1">
                <a:off x="1256175" y="4380375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rot="16200000" flipH="1">
                <a:off x="841725" y="4294537"/>
                <a:ext cx="77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ectangle 233"/>
              <p:cNvSpPr>
                <a:spLocks noChangeArrowheads="1"/>
              </p:cNvSpPr>
              <p:nvPr/>
            </p:nvSpPr>
            <p:spPr bwMode="auto">
              <a:xfrm>
                <a:off x="1628322" y="3414713"/>
                <a:ext cx="4074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5" name="Rectangle 233"/>
              <p:cNvSpPr>
                <a:spLocks noChangeArrowheads="1"/>
              </p:cNvSpPr>
              <p:nvPr/>
            </p:nvSpPr>
            <p:spPr bwMode="auto">
              <a:xfrm>
                <a:off x="1818822" y="3800475"/>
                <a:ext cx="4748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6" name="Rectangle 233"/>
              <p:cNvSpPr>
                <a:spLocks noChangeArrowheads="1"/>
              </p:cNvSpPr>
              <p:nvPr/>
            </p:nvSpPr>
            <p:spPr bwMode="auto">
              <a:xfrm>
                <a:off x="1571172" y="3705225"/>
                <a:ext cx="35779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&gt;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27" name="直接连接符 126"/>
              <p:cNvCxnSpPr/>
              <p:nvPr/>
            </p:nvCxnSpPr>
            <p:spPr>
              <a:xfrm rot="16200000" flipH="1">
                <a:off x="353700" y="4263712"/>
                <a:ext cx="135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 rot="10800000" flipV="1">
                <a:off x="2231865" y="361065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rot="16200000" flipH="1">
                <a:off x="2180587" y="3385499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椭圆 129"/>
              <p:cNvSpPr/>
              <p:nvPr/>
            </p:nvSpPr>
            <p:spPr>
              <a:xfrm>
                <a:off x="990600" y="4929187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31" name="Rectangle 233"/>
              <p:cNvSpPr>
                <a:spLocks noChangeArrowheads="1"/>
              </p:cNvSpPr>
              <p:nvPr/>
            </p:nvSpPr>
            <p:spPr bwMode="auto">
              <a:xfrm>
                <a:off x="1042534" y="4743390"/>
                <a:ext cx="44114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2" name="Rectangle 233"/>
              <p:cNvSpPr>
                <a:spLocks noChangeArrowheads="1"/>
              </p:cNvSpPr>
              <p:nvPr/>
            </p:nvSpPr>
            <p:spPr bwMode="auto">
              <a:xfrm>
                <a:off x="1914071" y="2914590"/>
                <a:ext cx="51007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3" name="椭圆 132"/>
              <p:cNvSpPr/>
              <p:nvPr/>
            </p:nvSpPr>
            <p:spPr>
              <a:xfrm>
                <a:off x="2376488" y="3086100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34" name="椭圆 133"/>
              <p:cNvSpPr/>
              <p:nvPr/>
            </p:nvSpPr>
            <p:spPr>
              <a:xfrm>
                <a:off x="1562101" y="4191000"/>
                <a:ext cx="72000" cy="7200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14" name="Rectangle 237"/>
            <p:cNvSpPr>
              <a:spLocks noChangeArrowheads="1"/>
            </p:cNvSpPr>
            <p:nvPr/>
          </p:nvSpPr>
          <p:spPr bwMode="auto">
            <a:xfrm>
              <a:off x="7148286" y="4567918"/>
              <a:ext cx="57740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</a:p>
          </p:txBody>
        </p:sp>
        <p:grpSp>
          <p:nvGrpSpPr>
            <p:cNvPr id="115" name="组合 145"/>
            <p:cNvGrpSpPr/>
            <p:nvPr/>
          </p:nvGrpSpPr>
          <p:grpSpPr>
            <a:xfrm>
              <a:off x="7150327" y="4132490"/>
              <a:ext cx="622074" cy="461665"/>
              <a:chOff x="7270070" y="3555547"/>
              <a:chExt cx="622074" cy="461665"/>
            </a:xfrm>
          </p:grpSpPr>
          <p:sp>
            <p:nvSpPr>
              <p:cNvPr id="116" name="Text Box 235"/>
              <p:cNvSpPr txBox="1">
                <a:spLocks noChangeArrowheads="1"/>
              </p:cNvSpPr>
              <p:nvPr/>
            </p:nvSpPr>
            <p:spPr bwMode="auto">
              <a:xfrm>
                <a:off x="7270070" y="3555547"/>
                <a:ext cx="62207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117" name="Line 236"/>
              <p:cNvSpPr>
                <a:spLocks noChangeShapeType="1"/>
              </p:cNvSpPr>
              <p:nvPr/>
            </p:nvSpPr>
            <p:spPr bwMode="auto">
              <a:xfrm>
                <a:off x="7389132" y="3631747"/>
                <a:ext cx="18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6" name="组合 195"/>
          <p:cNvGrpSpPr/>
          <p:nvPr/>
        </p:nvGrpSpPr>
        <p:grpSpPr>
          <a:xfrm>
            <a:off x="7413171" y="2393496"/>
            <a:ext cx="697012" cy="214312"/>
            <a:chOff x="8272463" y="2195513"/>
            <a:chExt cx="697012" cy="214312"/>
          </a:xfrm>
        </p:grpSpPr>
        <p:cxnSp>
          <p:nvCxnSpPr>
            <p:cNvPr id="187" name="直接连接符 186"/>
            <p:cNvCxnSpPr/>
            <p:nvPr/>
          </p:nvCxnSpPr>
          <p:spPr>
            <a:xfrm flipV="1">
              <a:off x="8272463" y="2205037"/>
              <a:ext cx="21600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 rot="5400000">
              <a:off x="8377238" y="2300287"/>
              <a:ext cx="200025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8472488" y="2405063"/>
              <a:ext cx="28098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 rot="5400000" flipH="1" flipV="1">
              <a:off x="8648700" y="2305050"/>
              <a:ext cx="20955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8753475" y="2195513"/>
              <a:ext cx="216000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组合 196"/>
          <p:cNvGrpSpPr/>
          <p:nvPr/>
        </p:nvGrpSpPr>
        <p:grpSpPr>
          <a:xfrm flipV="1">
            <a:off x="7427459" y="2803071"/>
            <a:ext cx="697012" cy="209550"/>
            <a:chOff x="8272463" y="2195513"/>
            <a:chExt cx="697012" cy="214312"/>
          </a:xfrm>
        </p:grpSpPr>
        <p:cxnSp>
          <p:nvCxnSpPr>
            <p:cNvPr id="198" name="直接连接符 197"/>
            <p:cNvCxnSpPr/>
            <p:nvPr/>
          </p:nvCxnSpPr>
          <p:spPr>
            <a:xfrm flipV="1">
              <a:off x="8272463" y="2205037"/>
              <a:ext cx="21600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rot="5400000">
              <a:off x="8377238" y="2300287"/>
              <a:ext cx="200025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>
              <a:off x="8472488" y="2405063"/>
              <a:ext cx="28098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rot="5400000" flipH="1" flipV="1">
              <a:off x="8648700" y="2305050"/>
              <a:ext cx="20955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8753475" y="2195513"/>
              <a:ext cx="216000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"/>
                                            </p:cond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8"/>
                                            </p:cond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2"/>
                                            </p:cond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13" grpId="0" autoUpdateAnimBg="0"/>
      <p:bldP spid="14" grpId="0" autoUpdateAnimBg="0"/>
      <p:bldP spid="24" grpId="0" autoUpdateAnimBg="0"/>
      <p:bldP spid="96" grpId="0"/>
      <p:bldP spid="97" grpId="0"/>
      <p:bldP spid="98" grpId="0"/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4"/>
          <p:cNvSpPr txBox="1">
            <a:spLocks noChangeArrowheads="1"/>
          </p:cNvSpPr>
          <p:nvPr/>
        </p:nvSpPr>
        <p:spPr bwMode="auto">
          <a:xfrm>
            <a:off x="2894467" y="739322"/>
            <a:ext cx="268990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移位寄存器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1526041" y="1735364"/>
            <a:ext cx="62889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移位寄存器具有存放数码和移位的功能</a:t>
            </a:r>
          </a:p>
        </p:txBody>
      </p: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2723469" y="2691267"/>
            <a:ext cx="2698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单向移位寄存器</a:t>
            </a:r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2690812" y="3279096"/>
            <a:ext cx="2698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双向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移位寄存器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组合 437"/>
          <p:cNvGrpSpPr/>
          <p:nvPr/>
        </p:nvGrpSpPr>
        <p:grpSpPr>
          <a:xfrm>
            <a:off x="733423" y="1405392"/>
            <a:ext cx="7208513" cy="2387302"/>
            <a:chOff x="570138" y="3217863"/>
            <a:chExt cx="7208513" cy="2387302"/>
          </a:xfrm>
        </p:grpSpPr>
        <p:grpSp>
          <p:nvGrpSpPr>
            <p:cNvPr id="135" name="组合 134"/>
            <p:cNvGrpSpPr/>
            <p:nvPr/>
          </p:nvGrpSpPr>
          <p:grpSpPr>
            <a:xfrm>
              <a:off x="570138" y="3217863"/>
              <a:ext cx="2061605" cy="1925637"/>
              <a:chOff x="461282" y="1793876"/>
              <a:chExt cx="2061605" cy="1925637"/>
            </a:xfrm>
          </p:grpSpPr>
          <p:sp>
            <p:nvSpPr>
              <p:cNvPr id="314" name="矩形 313"/>
              <p:cNvSpPr/>
              <p:nvPr/>
            </p:nvSpPr>
            <p:spPr>
              <a:xfrm>
                <a:off x="1144361" y="2363561"/>
                <a:ext cx="612000" cy="1008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Rectangle 23"/>
              <p:cNvSpPr>
                <a:spLocks noChangeArrowheads="1"/>
              </p:cNvSpPr>
              <p:nvPr/>
            </p:nvSpPr>
            <p:spPr bwMode="auto">
              <a:xfrm>
                <a:off x="1442357" y="2370138"/>
                <a:ext cx="39786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J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6" name="Rectangle 23"/>
              <p:cNvSpPr>
                <a:spLocks noChangeArrowheads="1"/>
              </p:cNvSpPr>
              <p:nvPr/>
            </p:nvSpPr>
            <p:spPr bwMode="auto">
              <a:xfrm>
                <a:off x="1394732" y="2822576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zh-CN" sz="2400" b="1" i="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7" name="Rectangle 23"/>
              <p:cNvSpPr>
                <a:spLocks noChangeArrowheads="1"/>
              </p:cNvSpPr>
              <p:nvPr/>
            </p:nvSpPr>
            <p:spPr bwMode="auto">
              <a:xfrm>
                <a:off x="1118507" y="2389188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8" name="Rectangle 23"/>
              <p:cNvSpPr>
                <a:spLocks noChangeArrowheads="1"/>
              </p:cNvSpPr>
              <p:nvPr/>
            </p:nvSpPr>
            <p:spPr bwMode="auto">
              <a:xfrm>
                <a:off x="1080407" y="2894013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20" name="直接连接符 319"/>
              <p:cNvCxnSpPr/>
              <p:nvPr/>
            </p:nvCxnSpPr>
            <p:spPr>
              <a:xfrm flipV="1">
                <a:off x="1223962" y="2971800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1" name="椭圆 320"/>
              <p:cNvSpPr/>
              <p:nvPr/>
            </p:nvSpPr>
            <p:spPr>
              <a:xfrm>
                <a:off x="1776413" y="2790825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椭圆 321"/>
              <p:cNvSpPr/>
              <p:nvPr/>
            </p:nvSpPr>
            <p:spPr>
              <a:xfrm>
                <a:off x="1771650" y="3214688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椭圆 322"/>
              <p:cNvSpPr/>
              <p:nvPr/>
            </p:nvSpPr>
            <p:spPr>
              <a:xfrm>
                <a:off x="1047752" y="3014663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6" name="直接连接符 325"/>
              <p:cNvCxnSpPr/>
              <p:nvPr/>
            </p:nvCxnSpPr>
            <p:spPr>
              <a:xfrm flipV="1">
                <a:off x="1852613" y="28241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/>
              <p:cNvCxnSpPr/>
              <p:nvPr/>
            </p:nvCxnSpPr>
            <p:spPr>
              <a:xfrm flipV="1">
                <a:off x="1766887" y="2566988"/>
                <a:ext cx="75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/>
              <p:cNvCxnSpPr/>
              <p:nvPr/>
            </p:nvCxnSpPr>
            <p:spPr>
              <a:xfrm flipV="1">
                <a:off x="1757363" y="3052762"/>
                <a:ext cx="68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/>
              <p:cNvCxnSpPr/>
              <p:nvPr/>
            </p:nvCxnSpPr>
            <p:spPr>
              <a:xfrm flipV="1">
                <a:off x="1852614" y="3248025"/>
                <a:ext cx="14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/>
              <p:cNvCxnSpPr/>
              <p:nvPr/>
            </p:nvCxnSpPr>
            <p:spPr>
              <a:xfrm rot="16200000" flipH="1">
                <a:off x="1693126" y="3269513"/>
                <a:ext cx="90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/>
              <p:cNvCxnSpPr/>
              <p:nvPr/>
            </p:nvCxnSpPr>
            <p:spPr>
              <a:xfrm rot="16200000" flipH="1">
                <a:off x="1851487" y="3385011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/>
              <p:cNvCxnSpPr/>
              <p:nvPr/>
            </p:nvCxnSpPr>
            <p:spPr>
              <a:xfrm flipV="1">
                <a:off x="757236" y="2566988"/>
                <a:ext cx="39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/>
              <p:cNvCxnSpPr/>
              <p:nvPr/>
            </p:nvCxnSpPr>
            <p:spPr>
              <a:xfrm flipV="1">
                <a:off x="747711" y="30527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/>
              <p:cNvCxnSpPr/>
              <p:nvPr/>
            </p:nvCxnSpPr>
            <p:spPr>
              <a:xfrm rot="16200000" flipH="1">
                <a:off x="599925" y="2238223"/>
                <a:ext cx="64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Rectangle 23"/>
              <p:cNvSpPr>
                <a:spLocks noChangeArrowheads="1"/>
              </p:cNvSpPr>
              <p:nvPr/>
            </p:nvSpPr>
            <p:spPr bwMode="auto">
              <a:xfrm>
                <a:off x="461282" y="1793876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8" name="椭圆 337"/>
              <p:cNvSpPr/>
              <p:nvPr/>
            </p:nvSpPr>
            <p:spPr>
              <a:xfrm>
                <a:off x="890588" y="1833562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椭圆 338"/>
              <p:cNvSpPr/>
              <p:nvPr/>
            </p:nvSpPr>
            <p:spPr>
              <a:xfrm>
                <a:off x="881064" y="2524125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Rectangle 23"/>
              <p:cNvSpPr>
                <a:spLocks noChangeArrowheads="1"/>
              </p:cNvSpPr>
              <p:nvPr/>
            </p:nvSpPr>
            <p:spPr bwMode="auto">
              <a:xfrm>
                <a:off x="1185182" y="1855789"/>
                <a:ext cx="55175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7" name="Rectangle 23"/>
              <p:cNvSpPr>
                <a:spLocks noChangeArrowheads="1"/>
              </p:cNvSpPr>
              <p:nvPr/>
            </p:nvSpPr>
            <p:spPr bwMode="auto">
              <a:xfrm>
                <a:off x="1480457" y="2589213"/>
                <a:ext cx="4700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&lt;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281" name="组合 280"/>
            <p:cNvGrpSpPr/>
            <p:nvPr/>
          </p:nvGrpSpPr>
          <p:grpSpPr>
            <a:xfrm>
              <a:off x="1960788" y="3217863"/>
              <a:ext cx="2061605" cy="1961637"/>
              <a:chOff x="461282" y="1793876"/>
              <a:chExt cx="2061605" cy="1961637"/>
            </a:xfrm>
          </p:grpSpPr>
          <p:sp>
            <p:nvSpPr>
              <p:cNvPr id="282" name="矩形 281"/>
              <p:cNvSpPr/>
              <p:nvPr/>
            </p:nvSpPr>
            <p:spPr>
              <a:xfrm>
                <a:off x="1144361" y="2363561"/>
                <a:ext cx="612000" cy="1008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Rectangle 23"/>
              <p:cNvSpPr>
                <a:spLocks noChangeArrowheads="1"/>
              </p:cNvSpPr>
              <p:nvPr/>
            </p:nvSpPr>
            <p:spPr bwMode="auto">
              <a:xfrm>
                <a:off x="1442357" y="2370138"/>
                <a:ext cx="39786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J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4" name="Rectangle 23"/>
              <p:cNvSpPr>
                <a:spLocks noChangeArrowheads="1"/>
              </p:cNvSpPr>
              <p:nvPr/>
            </p:nvSpPr>
            <p:spPr bwMode="auto">
              <a:xfrm>
                <a:off x="1394732" y="2822575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zh-CN" sz="2400" b="1" i="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285" name="Rectangle 23"/>
              <p:cNvSpPr>
                <a:spLocks noChangeArrowheads="1"/>
              </p:cNvSpPr>
              <p:nvPr/>
            </p:nvSpPr>
            <p:spPr bwMode="auto">
              <a:xfrm>
                <a:off x="1118507" y="2389188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6" name="Rectangle 23"/>
              <p:cNvSpPr>
                <a:spLocks noChangeArrowheads="1"/>
              </p:cNvSpPr>
              <p:nvPr/>
            </p:nvSpPr>
            <p:spPr bwMode="auto">
              <a:xfrm>
                <a:off x="1080407" y="2894013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87" name="直接连接符 286"/>
              <p:cNvCxnSpPr/>
              <p:nvPr/>
            </p:nvCxnSpPr>
            <p:spPr>
              <a:xfrm flipV="1">
                <a:off x="1223962" y="2971800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" name="椭圆 287"/>
              <p:cNvSpPr/>
              <p:nvPr/>
            </p:nvSpPr>
            <p:spPr>
              <a:xfrm>
                <a:off x="1776413" y="2790825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" name="椭圆 288"/>
              <p:cNvSpPr/>
              <p:nvPr/>
            </p:nvSpPr>
            <p:spPr>
              <a:xfrm>
                <a:off x="1771650" y="3214688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" name="椭圆 289"/>
              <p:cNvSpPr/>
              <p:nvPr/>
            </p:nvSpPr>
            <p:spPr>
              <a:xfrm>
                <a:off x="1047752" y="3014663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91" name="直接连接符 290"/>
              <p:cNvCxnSpPr/>
              <p:nvPr/>
            </p:nvCxnSpPr>
            <p:spPr>
              <a:xfrm flipV="1">
                <a:off x="1852613" y="28241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flipV="1">
                <a:off x="1766887" y="2566988"/>
                <a:ext cx="75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V="1">
                <a:off x="1757363" y="3052762"/>
                <a:ext cx="68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 flipV="1">
                <a:off x="1852614" y="3248025"/>
                <a:ext cx="14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rot="16200000" flipH="1">
                <a:off x="1693126" y="3269513"/>
                <a:ext cx="90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 rot="16200000" flipH="1">
                <a:off x="1851487" y="3385011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/>
              <p:cNvCxnSpPr/>
              <p:nvPr/>
            </p:nvCxnSpPr>
            <p:spPr>
              <a:xfrm flipV="1">
                <a:off x="757236" y="2566988"/>
                <a:ext cx="39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 flipV="1">
                <a:off x="747711" y="30527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接连接符 298"/>
              <p:cNvCxnSpPr/>
              <p:nvPr/>
            </p:nvCxnSpPr>
            <p:spPr>
              <a:xfrm rot="16200000" flipH="1">
                <a:off x="599925" y="2238223"/>
                <a:ext cx="64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Rectangle 23"/>
              <p:cNvSpPr>
                <a:spLocks noChangeArrowheads="1"/>
              </p:cNvSpPr>
              <p:nvPr/>
            </p:nvSpPr>
            <p:spPr bwMode="auto">
              <a:xfrm>
                <a:off x="461282" y="1793876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1" name="椭圆 300"/>
              <p:cNvSpPr/>
              <p:nvPr/>
            </p:nvSpPr>
            <p:spPr>
              <a:xfrm>
                <a:off x="885826" y="1833562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椭圆 312"/>
              <p:cNvSpPr/>
              <p:nvPr/>
            </p:nvSpPr>
            <p:spPr>
              <a:xfrm>
                <a:off x="881064" y="2524125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Rectangle 23"/>
              <p:cNvSpPr>
                <a:spLocks noChangeArrowheads="1"/>
              </p:cNvSpPr>
              <p:nvPr/>
            </p:nvSpPr>
            <p:spPr bwMode="auto">
              <a:xfrm>
                <a:off x="1185182" y="1855789"/>
                <a:ext cx="55175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6" name="椭圆 385"/>
              <p:cNvSpPr/>
              <p:nvPr/>
            </p:nvSpPr>
            <p:spPr>
              <a:xfrm>
                <a:off x="1957389" y="3476625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" name="椭圆 415"/>
              <p:cNvSpPr/>
              <p:nvPr/>
            </p:nvSpPr>
            <p:spPr>
              <a:xfrm>
                <a:off x="2105027" y="3683513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" name="Rectangle 23"/>
              <p:cNvSpPr>
                <a:spLocks noChangeArrowheads="1"/>
              </p:cNvSpPr>
              <p:nvPr/>
            </p:nvSpPr>
            <p:spPr bwMode="auto">
              <a:xfrm>
                <a:off x="1475695" y="2574926"/>
                <a:ext cx="4700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&lt;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324" name="组合 323"/>
            <p:cNvGrpSpPr/>
            <p:nvPr/>
          </p:nvGrpSpPr>
          <p:grpSpPr>
            <a:xfrm>
              <a:off x="3332388" y="3217863"/>
              <a:ext cx="2061605" cy="1961637"/>
              <a:chOff x="461282" y="1793876"/>
              <a:chExt cx="2061605" cy="1961637"/>
            </a:xfrm>
          </p:grpSpPr>
          <p:sp>
            <p:nvSpPr>
              <p:cNvPr id="325" name="矩形 324"/>
              <p:cNvSpPr/>
              <p:nvPr/>
            </p:nvSpPr>
            <p:spPr>
              <a:xfrm>
                <a:off x="1144361" y="2363561"/>
                <a:ext cx="612000" cy="1008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Rectangle 23"/>
              <p:cNvSpPr>
                <a:spLocks noChangeArrowheads="1"/>
              </p:cNvSpPr>
              <p:nvPr/>
            </p:nvSpPr>
            <p:spPr bwMode="auto">
              <a:xfrm>
                <a:off x="1442357" y="2370138"/>
                <a:ext cx="39786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J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3" name="Rectangle 23"/>
              <p:cNvSpPr>
                <a:spLocks noChangeArrowheads="1"/>
              </p:cNvSpPr>
              <p:nvPr/>
            </p:nvSpPr>
            <p:spPr bwMode="auto">
              <a:xfrm>
                <a:off x="1389970" y="2822575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zh-CN" sz="2400" b="1" i="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42" name="Rectangle 23"/>
              <p:cNvSpPr>
                <a:spLocks noChangeArrowheads="1"/>
              </p:cNvSpPr>
              <p:nvPr/>
            </p:nvSpPr>
            <p:spPr bwMode="auto">
              <a:xfrm>
                <a:off x="1118507" y="2389188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3" name="Rectangle 23"/>
              <p:cNvSpPr>
                <a:spLocks noChangeArrowheads="1"/>
              </p:cNvSpPr>
              <p:nvPr/>
            </p:nvSpPr>
            <p:spPr bwMode="auto">
              <a:xfrm>
                <a:off x="1080407" y="2894013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44" name="直接连接符 343"/>
              <p:cNvCxnSpPr/>
              <p:nvPr/>
            </p:nvCxnSpPr>
            <p:spPr>
              <a:xfrm flipV="1">
                <a:off x="1223962" y="2971800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5" name="椭圆 344"/>
              <p:cNvSpPr/>
              <p:nvPr/>
            </p:nvSpPr>
            <p:spPr>
              <a:xfrm>
                <a:off x="1776413" y="2790825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椭圆 345"/>
              <p:cNvSpPr/>
              <p:nvPr/>
            </p:nvSpPr>
            <p:spPr>
              <a:xfrm>
                <a:off x="1771650" y="3214688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椭圆 346"/>
              <p:cNvSpPr/>
              <p:nvPr/>
            </p:nvSpPr>
            <p:spPr>
              <a:xfrm>
                <a:off x="1047752" y="3014663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8" name="直接连接符 347"/>
              <p:cNvCxnSpPr/>
              <p:nvPr/>
            </p:nvCxnSpPr>
            <p:spPr>
              <a:xfrm flipV="1">
                <a:off x="1852613" y="28241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348"/>
              <p:cNvCxnSpPr/>
              <p:nvPr/>
            </p:nvCxnSpPr>
            <p:spPr>
              <a:xfrm flipV="1">
                <a:off x="1766887" y="2566988"/>
                <a:ext cx="75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/>
              <p:cNvCxnSpPr/>
              <p:nvPr/>
            </p:nvCxnSpPr>
            <p:spPr>
              <a:xfrm flipV="1">
                <a:off x="1757363" y="3052762"/>
                <a:ext cx="68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/>
              <p:cNvCxnSpPr/>
              <p:nvPr/>
            </p:nvCxnSpPr>
            <p:spPr>
              <a:xfrm flipV="1">
                <a:off x="1852614" y="3248025"/>
                <a:ext cx="14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/>
              <p:cNvCxnSpPr/>
              <p:nvPr/>
            </p:nvCxnSpPr>
            <p:spPr>
              <a:xfrm rot="16200000" flipH="1">
                <a:off x="1693126" y="3269513"/>
                <a:ext cx="90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352"/>
              <p:cNvCxnSpPr/>
              <p:nvPr/>
            </p:nvCxnSpPr>
            <p:spPr>
              <a:xfrm rot="16200000" flipH="1">
                <a:off x="1851487" y="3385011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/>
              <p:cNvCxnSpPr/>
              <p:nvPr/>
            </p:nvCxnSpPr>
            <p:spPr>
              <a:xfrm flipV="1">
                <a:off x="757236" y="2566988"/>
                <a:ext cx="39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/>
              <p:cNvCxnSpPr/>
              <p:nvPr/>
            </p:nvCxnSpPr>
            <p:spPr>
              <a:xfrm flipV="1">
                <a:off x="747711" y="30527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/>
              <p:cNvCxnSpPr/>
              <p:nvPr/>
            </p:nvCxnSpPr>
            <p:spPr>
              <a:xfrm rot="16200000" flipH="1">
                <a:off x="599925" y="2238223"/>
                <a:ext cx="64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7" name="Rectangle 23"/>
              <p:cNvSpPr>
                <a:spLocks noChangeArrowheads="1"/>
              </p:cNvSpPr>
              <p:nvPr/>
            </p:nvSpPr>
            <p:spPr bwMode="auto">
              <a:xfrm>
                <a:off x="461282" y="1793876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8" name="椭圆 357"/>
              <p:cNvSpPr/>
              <p:nvPr/>
            </p:nvSpPr>
            <p:spPr>
              <a:xfrm>
                <a:off x="885826" y="1828800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椭圆 358"/>
              <p:cNvSpPr/>
              <p:nvPr/>
            </p:nvSpPr>
            <p:spPr>
              <a:xfrm>
                <a:off x="881064" y="2524125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Rectangle 23"/>
              <p:cNvSpPr>
                <a:spLocks noChangeArrowheads="1"/>
              </p:cNvSpPr>
              <p:nvPr/>
            </p:nvSpPr>
            <p:spPr bwMode="auto">
              <a:xfrm>
                <a:off x="1185182" y="1855789"/>
                <a:ext cx="55175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7" name="椭圆 386"/>
              <p:cNvSpPr/>
              <p:nvPr/>
            </p:nvSpPr>
            <p:spPr>
              <a:xfrm>
                <a:off x="1962151" y="3481387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" name="椭圆 414"/>
              <p:cNvSpPr/>
              <p:nvPr/>
            </p:nvSpPr>
            <p:spPr>
              <a:xfrm>
                <a:off x="2105026" y="3683513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5" name="Rectangle 23"/>
              <p:cNvSpPr>
                <a:spLocks noChangeArrowheads="1"/>
              </p:cNvSpPr>
              <p:nvPr/>
            </p:nvSpPr>
            <p:spPr bwMode="auto">
              <a:xfrm>
                <a:off x="1470932" y="2589213"/>
                <a:ext cx="4700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&lt;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361" name="组合 360"/>
            <p:cNvGrpSpPr/>
            <p:nvPr/>
          </p:nvGrpSpPr>
          <p:grpSpPr>
            <a:xfrm>
              <a:off x="4713513" y="3217863"/>
              <a:ext cx="2673605" cy="1961637"/>
              <a:chOff x="461282" y="1793876"/>
              <a:chExt cx="2673605" cy="1961637"/>
            </a:xfrm>
          </p:grpSpPr>
          <p:sp>
            <p:nvSpPr>
              <p:cNvPr id="362" name="矩形 361"/>
              <p:cNvSpPr/>
              <p:nvPr/>
            </p:nvSpPr>
            <p:spPr>
              <a:xfrm>
                <a:off x="1144361" y="2363561"/>
                <a:ext cx="612000" cy="1008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Rectangle 23"/>
              <p:cNvSpPr>
                <a:spLocks noChangeArrowheads="1"/>
              </p:cNvSpPr>
              <p:nvPr/>
            </p:nvSpPr>
            <p:spPr bwMode="auto">
              <a:xfrm>
                <a:off x="1442357" y="2370138"/>
                <a:ext cx="39786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J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4" name="Rectangle 23"/>
              <p:cNvSpPr>
                <a:spLocks noChangeArrowheads="1"/>
              </p:cNvSpPr>
              <p:nvPr/>
            </p:nvSpPr>
            <p:spPr bwMode="auto">
              <a:xfrm>
                <a:off x="1394733" y="2817813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zh-CN" sz="2400" b="1" i="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65" name="Rectangle 23"/>
              <p:cNvSpPr>
                <a:spLocks noChangeArrowheads="1"/>
              </p:cNvSpPr>
              <p:nvPr/>
            </p:nvSpPr>
            <p:spPr bwMode="auto">
              <a:xfrm>
                <a:off x="1118507" y="2389188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6" name="Rectangle 23"/>
              <p:cNvSpPr>
                <a:spLocks noChangeArrowheads="1"/>
              </p:cNvSpPr>
              <p:nvPr/>
            </p:nvSpPr>
            <p:spPr bwMode="auto">
              <a:xfrm>
                <a:off x="1080407" y="2894013"/>
                <a:ext cx="48442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67" name="直接连接符 366"/>
              <p:cNvCxnSpPr/>
              <p:nvPr/>
            </p:nvCxnSpPr>
            <p:spPr>
              <a:xfrm flipV="1">
                <a:off x="1223962" y="2971800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椭圆 367"/>
              <p:cNvSpPr/>
              <p:nvPr/>
            </p:nvSpPr>
            <p:spPr>
              <a:xfrm>
                <a:off x="1776413" y="2790825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椭圆 368"/>
              <p:cNvSpPr/>
              <p:nvPr/>
            </p:nvSpPr>
            <p:spPr>
              <a:xfrm>
                <a:off x="1771650" y="3214688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" name="椭圆 369"/>
              <p:cNvSpPr/>
              <p:nvPr/>
            </p:nvSpPr>
            <p:spPr>
              <a:xfrm>
                <a:off x="1047752" y="3014663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1" name="直接连接符 370"/>
              <p:cNvCxnSpPr/>
              <p:nvPr/>
            </p:nvCxnSpPr>
            <p:spPr>
              <a:xfrm flipV="1">
                <a:off x="1852613" y="28241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/>
              <p:cNvCxnSpPr/>
              <p:nvPr/>
            </p:nvCxnSpPr>
            <p:spPr>
              <a:xfrm flipV="1">
                <a:off x="1766887" y="2566988"/>
                <a:ext cx="13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/>
              <p:cNvCxnSpPr/>
              <p:nvPr/>
            </p:nvCxnSpPr>
            <p:spPr>
              <a:xfrm flipV="1">
                <a:off x="1757363" y="3052762"/>
                <a:ext cx="50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/>
              <p:cNvCxnSpPr/>
              <p:nvPr/>
            </p:nvCxnSpPr>
            <p:spPr>
              <a:xfrm flipV="1">
                <a:off x="1852614" y="3248025"/>
                <a:ext cx="14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/>
              <p:cNvCxnSpPr/>
              <p:nvPr/>
            </p:nvCxnSpPr>
            <p:spPr>
              <a:xfrm rot="16200000" flipH="1">
                <a:off x="1693126" y="3269513"/>
                <a:ext cx="90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/>
              <p:cNvCxnSpPr/>
              <p:nvPr/>
            </p:nvCxnSpPr>
            <p:spPr>
              <a:xfrm rot="16200000" flipH="1">
                <a:off x="1851487" y="3385011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/>
              <p:cNvCxnSpPr/>
              <p:nvPr/>
            </p:nvCxnSpPr>
            <p:spPr>
              <a:xfrm flipV="1">
                <a:off x="757236" y="2566988"/>
                <a:ext cx="39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/>
              <p:cNvCxnSpPr/>
              <p:nvPr/>
            </p:nvCxnSpPr>
            <p:spPr>
              <a:xfrm flipV="1">
                <a:off x="747711" y="3052763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/>
              <p:cNvCxnSpPr/>
              <p:nvPr/>
            </p:nvCxnSpPr>
            <p:spPr>
              <a:xfrm rot="16200000" flipH="1">
                <a:off x="599925" y="2238223"/>
                <a:ext cx="64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0" name="Rectangle 23"/>
              <p:cNvSpPr>
                <a:spLocks noChangeArrowheads="1"/>
              </p:cNvSpPr>
              <p:nvPr/>
            </p:nvSpPr>
            <p:spPr bwMode="auto">
              <a:xfrm>
                <a:off x="461282" y="1793876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1" name="椭圆 380"/>
              <p:cNvSpPr/>
              <p:nvPr/>
            </p:nvSpPr>
            <p:spPr>
              <a:xfrm>
                <a:off x="885826" y="1833562"/>
                <a:ext cx="71437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" name="椭圆 381"/>
              <p:cNvSpPr/>
              <p:nvPr/>
            </p:nvSpPr>
            <p:spPr>
              <a:xfrm>
                <a:off x="881064" y="2524125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Rectangle 23"/>
              <p:cNvSpPr>
                <a:spLocks noChangeArrowheads="1"/>
              </p:cNvSpPr>
              <p:nvPr/>
            </p:nvSpPr>
            <p:spPr bwMode="auto">
              <a:xfrm>
                <a:off x="1185182" y="1855789"/>
                <a:ext cx="55175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baseline="-25000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8" name="椭圆 387"/>
              <p:cNvSpPr/>
              <p:nvPr/>
            </p:nvSpPr>
            <p:spPr>
              <a:xfrm>
                <a:off x="1952626" y="3490913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" name="椭圆 413"/>
              <p:cNvSpPr/>
              <p:nvPr/>
            </p:nvSpPr>
            <p:spPr>
              <a:xfrm>
                <a:off x="2109788" y="3683513"/>
                <a:ext cx="71437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" name="Rectangle 23"/>
              <p:cNvSpPr>
                <a:spLocks noChangeArrowheads="1"/>
              </p:cNvSpPr>
              <p:nvPr/>
            </p:nvSpPr>
            <p:spPr bwMode="auto">
              <a:xfrm>
                <a:off x="1470932" y="2574925"/>
                <a:ext cx="4700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&lt; </a:t>
                </a:r>
                <a:endParaRPr lang="en-US" altLang="zh-CN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384" name="直接连接符 383"/>
            <p:cNvCxnSpPr/>
            <p:nvPr/>
          </p:nvCxnSpPr>
          <p:spPr>
            <a:xfrm flipV="1">
              <a:off x="2093457" y="4948918"/>
              <a:ext cx="532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/>
          </p:nvCxnSpPr>
          <p:spPr>
            <a:xfrm flipV="1">
              <a:off x="2267628" y="5143500"/>
              <a:ext cx="514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9" name="组合 418"/>
            <p:cNvGrpSpPr/>
            <p:nvPr/>
          </p:nvGrpSpPr>
          <p:grpSpPr>
            <a:xfrm>
              <a:off x="7258957" y="4480832"/>
              <a:ext cx="519694" cy="461665"/>
              <a:chOff x="6825570" y="4528457"/>
              <a:chExt cx="519694" cy="461665"/>
            </a:xfrm>
          </p:grpSpPr>
          <p:sp>
            <p:nvSpPr>
              <p:cNvPr id="417" name="Rectangle 108"/>
              <p:cNvSpPr>
                <a:spLocks noChangeArrowheads="1"/>
              </p:cNvSpPr>
              <p:nvPr/>
            </p:nvSpPr>
            <p:spPr bwMode="auto">
              <a:xfrm>
                <a:off x="6825570" y="4528457"/>
                <a:ext cx="51969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i="0" baseline="-25000" dirty="0">
                    <a:latin typeface="Times New Roman" pitchFamily="18" charset="0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418" name="Line 109"/>
              <p:cNvSpPr>
                <a:spLocks noChangeShapeType="1"/>
              </p:cNvSpPr>
              <p:nvPr/>
            </p:nvSpPr>
            <p:spPr bwMode="auto">
              <a:xfrm>
                <a:off x="6945086" y="4609647"/>
                <a:ext cx="180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" name="Rectangle 108"/>
            <p:cNvSpPr>
              <a:spLocks noChangeArrowheads="1"/>
            </p:cNvSpPr>
            <p:nvPr/>
          </p:nvSpPr>
          <p:spPr bwMode="auto">
            <a:xfrm>
              <a:off x="7150101" y="5143500"/>
              <a:ext cx="57740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CP</a:t>
              </a:r>
              <a:endParaRPr lang="en-US" altLang="zh-CN" sz="2400" i="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27" name="组合 426"/>
            <p:cNvGrpSpPr/>
            <p:nvPr/>
          </p:nvGrpSpPr>
          <p:grpSpPr>
            <a:xfrm>
              <a:off x="6516459" y="4000274"/>
              <a:ext cx="547334" cy="728208"/>
              <a:chOff x="7473722" y="3495449"/>
              <a:chExt cx="547334" cy="728208"/>
            </a:xfrm>
          </p:grpSpPr>
          <p:sp>
            <p:nvSpPr>
              <p:cNvPr id="421" name="矩形 420"/>
              <p:cNvSpPr/>
              <p:nvPr/>
            </p:nvSpPr>
            <p:spPr>
              <a:xfrm>
                <a:off x="7551963" y="3744005"/>
                <a:ext cx="253094" cy="47965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2" name="Rectangle 108"/>
              <p:cNvSpPr>
                <a:spLocks noChangeArrowheads="1"/>
              </p:cNvSpPr>
              <p:nvPr/>
            </p:nvSpPr>
            <p:spPr bwMode="auto">
              <a:xfrm>
                <a:off x="7544027" y="3695700"/>
                <a:ext cx="30008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altLang="zh-CN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3" name="椭圆 422"/>
              <p:cNvSpPr/>
              <p:nvPr/>
            </p:nvSpPr>
            <p:spPr>
              <a:xfrm flipH="1">
                <a:off x="7473722" y="3937906"/>
                <a:ext cx="72000" cy="7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5" name="直接连接符 424"/>
              <p:cNvCxnSpPr>
                <a:stCxn id="421" idx="3"/>
              </p:cNvCxnSpPr>
              <p:nvPr/>
            </p:nvCxnSpPr>
            <p:spPr>
              <a:xfrm>
                <a:off x="7805056" y="3983831"/>
                <a:ext cx="216000" cy="34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接连接符 425"/>
              <p:cNvCxnSpPr/>
              <p:nvPr/>
            </p:nvCxnSpPr>
            <p:spPr>
              <a:xfrm rot="16200000" flipH="1">
                <a:off x="7776370" y="3738449"/>
                <a:ext cx="48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8" name="椭圆 427"/>
            <p:cNvSpPr/>
            <p:nvPr/>
          </p:nvSpPr>
          <p:spPr>
            <a:xfrm>
              <a:off x="7024007" y="3952875"/>
              <a:ext cx="71437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椭圆 428"/>
            <p:cNvSpPr/>
            <p:nvPr/>
          </p:nvSpPr>
          <p:spPr>
            <a:xfrm>
              <a:off x="7390719" y="3948112"/>
              <a:ext cx="71437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Rectangle 108"/>
            <p:cNvSpPr>
              <a:spLocks noChangeArrowheads="1"/>
            </p:cNvSpPr>
            <p:nvPr/>
          </p:nvSpPr>
          <p:spPr bwMode="auto">
            <a:xfrm>
              <a:off x="7159625" y="3529013"/>
              <a:ext cx="4074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D</a:t>
              </a:r>
              <a:endParaRPr lang="en-US" altLang="zh-CN" sz="2400" i="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椭圆 431"/>
            <p:cNvSpPr/>
            <p:nvPr/>
          </p:nvSpPr>
          <p:spPr>
            <a:xfrm>
              <a:off x="7424057" y="4910137"/>
              <a:ext cx="71437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椭圆 432"/>
            <p:cNvSpPr/>
            <p:nvPr/>
          </p:nvSpPr>
          <p:spPr>
            <a:xfrm>
              <a:off x="7409769" y="5107500"/>
              <a:ext cx="71437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9" name="Rectangle 36"/>
          <p:cNvSpPr>
            <a:spLocks noChangeArrowheads="1"/>
          </p:cNvSpPr>
          <p:nvPr/>
        </p:nvSpPr>
        <p:spPr bwMode="auto">
          <a:xfrm>
            <a:off x="981754" y="252867"/>
            <a:ext cx="2698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单向移位寄存器</a:t>
            </a:r>
          </a:p>
        </p:txBody>
      </p:sp>
      <p:sp>
        <p:nvSpPr>
          <p:cNvPr id="544" name="Rectangle 111"/>
          <p:cNvSpPr>
            <a:spLocks noChangeArrowheads="1"/>
          </p:cNvSpPr>
          <p:nvPr/>
        </p:nvSpPr>
        <p:spPr bwMode="auto">
          <a:xfrm>
            <a:off x="424543" y="3762149"/>
            <a:ext cx="34029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寄存二进制数：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1011</a:t>
            </a:r>
          </a:p>
        </p:txBody>
      </p:sp>
      <p:grpSp>
        <p:nvGrpSpPr>
          <p:cNvPr id="549" name="Group 116"/>
          <p:cNvGrpSpPr>
            <a:grpSpLocks/>
          </p:cNvGrpSpPr>
          <p:nvPr/>
        </p:nvGrpSpPr>
        <p:grpSpPr bwMode="auto">
          <a:xfrm>
            <a:off x="1099457" y="843643"/>
            <a:ext cx="4422775" cy="573088"/>
            <a:chOff x="288" y="1056"/>
            <a:chExt cx="2786" cy="361"/>
          </a:xfrm>
        </p:grpSpPr>
        <p:sp>
          <p:nvSpPr>
            <p:cNvPr id="550" name="Text Box 117"/>
            <p:cNvSpPr txBox="1">
              <a:spLocks noChangeArrowheads="1"/>
            </p:cNvSpPr>
            <p:nvPr/>
          </p:nvSpPr>
          <p:spPr bwMode="auto">
            <a:xfrm>
              <a:off x="288" y="1056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51" name="Text Box 118"/>
            <p:cNvSpPr txBox="1">
              <a:spLocks noChangeArrowheads="1"/>
            </p:cNvSpPr>
            <p:nvPr/>
          </p:nvSpPr>
          <p:spPr bwMode="auto">
            <a:xfrm>
              <a:off x="1118" y="1090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52" name="Text Box 119"/>
            <p:cNvSpPr txBox="1">
              <a:spLocks noChangeArrowheads="1"/>
            </p:cNvSpPr>
            <p:nvPr/>
          </p:nvSpPr>
          <p:spPr bwMode="auto">
            <a:xfrm>
              <a:off x="1995" y="1090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53" name="Text Box 120"/>
            <p:cNvSpPr txBox="1">
              <a:spLocks noChangeArrowheads="1"/>
            </p:cNvSpPr>
            <p:nvPr/>
          </p:nvSpPr>
          <p:spPr bwMode="auto">
            <a:xfrm>
              <a:off x="2834" y="1070"/>
              <a:ext cx="2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54" name="Rectangle 121"/>
          <p:cNvSpPr>
            <a:spLocks noChangeArrowheads="1"/>
          </p:cNvSpPr>
          <p:nvPr/>
        </p:nvSpPr>
        <p:spPr bwMode="auto">
          <a:xfrm>
            <a:off x="7729764" y="1681844"/>
            <a:ext cx="788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1011</a:t>
            </a:r>
          </a:p>
        </p:txBody>
      </p:sp>
      <p:sp>
        <p:nvSpPr>
          <p:cNvPr id="555" name="Rectangle 122"/>
          <p:cNvSpPr>
            <a:spLocks noChangeArrowheads="1"/>
          </p:cNvSpPr>
          <p:nvPr/>
        </p:nvSpPr>
        <p:spPr bwMode="auto">
          <a:xfrm>
            <a:off x="5159829" y="3739243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寄存</a:t>
            </a:r>
          </a:p>
        </p:txBody>
      </p:sp>
      <p:sp useBgFill="1">
        <p:nvSpPr>
          <p:cNvPr id="559" name="Rectangle 126"/>
          <p:cNvSpPr>
            <a:spLocks noChangeArrowheads="1"/>
          </p:cNvSpPr>
          <p:nvPr/>
        </p:nvSpPr>
        <p:spPr bwMode="auto">
          <a:xfrm>
            <a:off x="5138057" y="1017815"/>
            <a:ext cx="3048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 b="1" i="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 useBgFill="1">
        <p:nvSpPr>
          <p:cNvPr id="564" name="Rectangle 131"/>
          <p:cNvSpPr>
            <a:spLocks noChangeArrowheads="1"/>
          </p:cNvSpPr>
          <p:nvPr/>
        </p:nvSpPr>
        <p:spPr bwMode="auto">
          <a:xfrm>
            <a:off x="8147277" y="1735589"/>
            <a:ext cx="108857" cy="324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 useBgFill="1">
        <p:nvSpPr>
          <p:cNvPr id="568" name="Rectangle 135"/>
          <p:cNvSpPr>
            <a:spLocks noChangeArrowheads="1"/>
          </p:cNvSpPr>
          <p:nvPr/>
        </p:nvSpPr>
        <p:spPr bwMode="auto">
          <a:xfrm>
            <a:off x="8301039" y="1764166"/>
            <a:ext cx="130628" cy="324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69" name="Rectangle 136"/>
          <p:cNvSpPr>
            <a:spLocks noChangeArrowheads="1"/>
          </p:cNvSpPr>
          <p:nvPr/>
        </p:nvSpPr>
        <p:spPr bwMode="auto">
          <a:xfrm>
            <a:off x="1850572" y="4348843"/>
            <a:ext cx="48526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特点：串行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入，并行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或串行出</a:t>
            </a:r>
          </a:p>
        </p:txBody>
      </p:sp>
      <p:sp>
        <p:nvSpPr>
          <p:cNvPr id="570" name="Text Box 137"/>
          <p:cNvSpPr txBox="1">
            <a:spLocks noChangeArrowheads="1"/>
          </p:cNvSpPr>
          <p:nvPr/>
        </p:nvSpPr>
        <p:spPr bwMode="auto">
          <a:xfrm>
            <a:off x="3940628" y="3750129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清零</a:t>
            </a:r>
          </a:p>
        </p:txBody>
      </p:sp>
      <p:grpSp>
        <p:nvGrpSpPr>
          <p:cNvPr id="589" name="Group 156"/>
          <p:cNvGrpSpPr>
            <a:grpSpLocks/>
          </p:cNvGrpSpPr>
          <p:nvPr/>
        </p:nvGrpSpPr>
        <p:grpSpPr bwMode="auto">
          <a:xfrm>
            <a:off x="3849462" y="976538"/>
            <a:ext cx="1576388" cy="384175"/>
            <a:chOff x="2532" y="1116"/>
            <a:chExt cx="993" cy="242"/>
          </a:xfrm>
        </p:grpSpPr>
        <p:sp useBgFill="1">
          <p:nvSpPr>
            <p:cNvPr id="590" name="Rectangle 157"/>
            <p:cNvSpPr>
              <a:spLocks noChangeArrowheads="1"/>
            </p:cNvSpPr>
            <p:nvPr/>
          </p:nvSpPr>
          <p:spPr bwMode="auto">
            <a:xfrm>
              <a:off x="3333" y="1118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 useBgFill="1">
          <p:nvSpPr>
            <p:cNvPr id="591" name="Rectangle 158"/>
            <p:cNvSpPr>
              <a:spLocks noChangeArrowheads="1"/>
            </p:cNvSpPr>
            <p:nvPr/>
          </p:nvSpPr>
          <p:spPr bwMode="auto">
            <a:xfrm>
              <a:off x="2532" y="1116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601" name="Group 168"/>
          <p:cNvGrpSpPr>
            <a:grpSpLocks/>
          </p:cNvGrpSpPr>
          <p:nvPr/>
        </p:nvGrpSpPr>
        <p:grpSpPr bwMode="auto">
          <a:xfrm>
            <a:off x="2486254" y="968607"/>
            <a:ext cx="2960688" cy="403226"/>
            <a:chOff x="1392" y="1111"/>
            <a:chExt cx="1865" cy="254"/>
          </a:xfrm>
        </p:grpSpPr>
        <p:grpSp>
          <p:nvGrpSpPr>
            <p:cNvPr id="602" name="Group 169"/>
            <p:cNvGrpSpPr>
              <a:grpSpLocks/>
            </p:cNvGrpSpPr>
            <p:nvPr/>
          </p:nvGrpSpPr>
          <p:grpSpPr bwMode="auto">
            <a:xfrm>
              <a:off x="1392" y="1116"/>
              <a:ext cx="1034" cy="249"/>
              <a:chOff x="2532" y="1116"/>
              <a:chExt cx="1034" cy="249"/>
            </a:xfrm>
          </p:grpSpPr>
          <p:sp useBgFill="1">
            <p:nvSpPr>
              <p:cNvPr id="604" name="Rectangle 170"/>
              <p:cNvSpPr>
                <a:spLocks noChangeArrowheads="1"/>
              </p:cNvSpPr>
              <p:nvPr/>
            </p:nvSpPr>
            <p:spPr bwMode="auto">
              <a:xfrm>
                <a:off x="3374" y="1125"/>
                <a:ext cx="192" cy="240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800" b="1" i="0" dirty="0">
                    <a:solidFill>
                      <a:srgbClr val="0070C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 useBgFill="1">
            <p:nvSpPr>
              <p:cNvPr id="605" name="Rectangle 171"/>
              <p:cNvSpPr>
                <a:spLocks noChangeArrowheads="1"/>
              </p:cNvSpPr>
              <p:nvPr/>
            </p:nvSpPr>
            <p:spPr bwMode="auto">
              <a:xfrm>
                <a:off x="2532" y="1116"/>
                <a:ext cx="192" cy="240"/>
              </a:xfrm>
              <a:prstGeom prst="rect">
                <a:avLst/>
              </a:prstGeom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800" b="1" i="0" dirty="0">
                    <a:solidFill>
                      <a:srgbClr val="0070C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 useBgFill="1">
          <p:nvSpPr>
            <p:cNvPr id="603" name="Rectangle 172"/>
            <p:cNvSpPr>
              <a:spLocks noChangeArrowheads="1"/>
            </p:cNvSpPr>
            <p:nvPr/>
          </p:nvSpPr>
          <p:spPr bwMode="auto">
            <a:xfrm>
              <a:off x="3065" y="1111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615" name="Group 182"/>
          <p:cNvGrpSpPr>
            <a:grpSpLocks/>
          </p:cNvGrpSpPr>
          <p:nvPr/>
        </p:nvGrpSpPr>
        <p:grpSpPr bwMode="auto">
          <a:xfrm>
            <a:off x="1132341" y="987424"/>
            <a:ext cx="2981325" cy="393700"/>
            <a:chOff x="288" y="1116"/>
            <a:chExt cx="1878" cy="248"/>
          </a:xfrm>
        </p:grpSpPr>
        <p:sp useBgFill="1">
          <p:nvSpPr>
            <p:cNvPr id="616" name="Rectangle 183"/>
            <p:cNvSpPr>
              <a:spLocks noChangeArrowheads="1"/>
            </p:cNvSpPr>
            <p:nvPr/>
          </p:nvSpPr>
          <p:spPr bwMode="auto">
            <a:xfrm>
              <a:off x="1150" y="1118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 useBgFill="1">
          <p:nvSpPr>
            <p:cNvPr id="617" name="Rectangle 184"/>
            <p:cNvSpPr>
              <a:spLocks noChangeArrowheads="1"/>
            </p:cNvSpPr>
            <p:nvPr/>
          </p:nvSpPr>
          <p:spPr bwMode="auto">
            <a:xfrm>
              <a:off x="288" y="1116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 useBgFill="1">
          <p:nvSpPr>
            <p:cNvPr id="618" name="Rectangle 185"/>
            <p:cNvSpPr>
              <a:spLocks noChangeArrowheads="1"/>
            </p:cNvSpPr>
            <p:nvPr/>
          </p:nvSpPr>
          <p:spPr bwMode="auto">
            <a:xfrm>
              <a:off x="1974" y="1124"/>
              <a:ext cx="192" cy="240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800" b="1" i="0" dirty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 useBgFill="1">
        <p:nvSpPr>
          <p:cNvPr id="632" name="Rectangle 131"/>
          <p:cNvSpPr>
            <a:spLocks noChangeArrowheads="1"/>
          </p:cNvSpPr>
          <p:nvPr/>
        </p:nvSpPr>
        <p:spPr bwMode="auto">
          <a:xfrm>
            <a:off x="7848601" y="1740352"/>
            <a:ext cx="121784" cy="324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 useBgFill="1">
        <p:nvSpPr>
          <p:cNvPr id="633" name="Rectangle 131"/>
          <p:cNvSpPr>
            <a:spLocks noChangeArrowheads="1"/>
          </p:cNvSpPr>
          <p:nvPr/>
        </p:nvSpPr>
        <p:spPr bwMode="auto">
          <a:xfrm>
            <a:off x="7980589" y="1754639"/>
            <a:ext cx="168049" cy="324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44" name="组合 643"/>
          <p:cNvGrpSpPr/>
          <p:nvPr/>
        </p:nvGrpSpPr>
        <p:grpSpPr>
          <a:xfrm>
            <a:off x="7939088" y="2867025"/>
            <a:ext cx="461962" cy="144463"/>
            <a:chOff x="8510588" y="2857500"/>
            <a:chExt cx="461962" cy="144463"/>
          </a:xfrm>
        </p:grpSpPr>
        <p:cxnSp>
          <p:nvCxnSpPr>
            <p:cNvPr id="635" name="直接连接符 634"/>
            <p:cNvCxnSpPr/>
            <p:nvPr/>
          </p:nvCxnSpPr>
          <p:spPr>
            <a:xfrm>
              <a:off x="8510588" y="2857500"/>
              <a:ext cx="138112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直接连接符 636"/>
            <p:cNvCxnSpPr/>
            <p:nvPr/>
          </p:nvCxnSpPr>
          <p:spPr>
            <a:xfrm rot="5400000">
              <a:off x="8582025" y="2928938"/>
              <a:ext cx="133350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直接连接符 638"/>
            <p:cNvCxnSpPr/>
            <p:nvPr/>
          </p:nvCxnSpPr>
          <p:spPr>
            <a:xfrm>
              <a:off x="8648700" y="3000375"/>
              <a:ext cx="161925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直接连接符 640"/>
            <p:cNvCxnSpPr/>
            <p:nvPr/>
          </p:nvCxnSpPr>
          <p:spPr>
            <a:xfrm rot="16200000" flipV="1">
              <a:off x="8736807" y="2931319"/>
              <a:ext cx="138112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直接连接符 642"/>
            <p:cNvCxnSpPr/>
            <p:nvPr/>
          </p:nvCxnSpPr>
          <p:spPr>
            <a:xfrm>
              <a:off x="8805863" y="2862263"/>
              <a:ext cx="166687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8" name="组合 657"/>
          <p:cNvGrpSpPr/>
          <p:nvPr/>
        </p:nvGrpSpPr>
        <p:grpSpPr>
          <a:xfrm>
            <a:off x="7250566" y="3676884"/>
            <a:ext cx="461962" cy="338138"/>
            <a:chOff x="7348538" y="4123199"/>
            <a:chExt cx="461962" cy="338138"/>
          </a:xfrm>
        </p:grpSpPr>
        <p:grpSp>
          <p:nvGrpSpPr>
            <p:cNvPr id="645" name="组合 644"/>
            <p:cNvGrpSpPr/>
            <p:nvPr/>
          </p:nvGrpSpPr>
          <p:grpSpPr>
            <a:xfrm flipV="1">
              <a:off x="7348538" y="4186236"/>
              <a:ext cx="461962" cy="228601"/>
              <a:chOff x="8510588" y="2857500"/>
              <a:chExt cx="461962" cy="144463"/>
            </a:xfrm>
          </p:grpSpPr>
          <p:cxnSp>
            <p:nvCxnSpPr>
              <p:cNvPr id="646" name="直接连接符 645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直接连接符 646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直接连接符 647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直接连接符 648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直接连接符 649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7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59" name="组合 658"/>
          <p:cNvGrpSpPr/>
          <p:nvPr/>
        </p:nvGrpSpPr>
        <p:grpSpPr>
          <a:xfrm>
            <a:off x="7255328" y="3676883"/>
            <a:ext cx="461962" cy="338138"/>
            <a:chOff x="7348538" y="4123199"/>
            <a:chExt cx="461962" cy="338138"/>
          </a:xfrm>
        </p:grpSpPr>
        <p:grpSp>
          <p:nvGrpSpPr>
            <p:cNvPr id="660" name="组合 659"/>
            <p:cNvGrpSpPr/>
            <p:nvPr/>
          </p:nvGrpSpPr>
          <p:grpSpPr>
            <a:xfrm flipV="1">
              <a:off x="7348538" y="4186028"/>
              <a:ext cx="461962" cy="228611"/>
              <a:chOff x="8510588" y="2857500"/>
              <a:chExt cx="461962" cy="144463"/>
            </a:xfrm>
          </p:grpSpPr>
          <p:cxnSp>
            <p:nvCxnSpPr>
              <p:cNvPr id="662" name="直接连接符 661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3" name="直接连接符 662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4" name="直接连接符 663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直接连接符 664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6" name="直接连接符 665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1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67" name="组合 666"/>
          <p:cNvGrpSpPr/>
          <p:nvPr/>
        </p:nvGrpSpPr>
        <p:grpSpPr>
          <a:xfrm>
            <a:off x="7255329" y="3676884"/>
            <a:ext cx="461962" cy="338138"/>
            <a:chOff x="7348538" y="4123199"/>
            <a:chExt cx="461962" cy="338138"/>
          </a:xfrm>
        </p:grpSpPr>
        <p:grpSp>
          <p:nvGrpSpPr>
            <p:cNvPr id="668" name="组合 667"/>
            <p:cNvGrpSpPr/>
            <p:nvPr/>
          </p:nvGrpSpPr>
          <p:grpSpPr>
            <a:xfrm flipV="1">
              <a:off x="7348538" y="4186027"/>
              <a:ext cx="461962" cy="228611"/>
              <a:chOff x="8510588" y="2857500"/>
              <a:chExt cx="461962" cy="144463"/>
            </a:xfrm>
          </p:grpSpPr>
          <p:cxnSp>
            <p:nvCxnSpPr>
              <p:cNvPr id="670" name="直接连接符 669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1" name="直接连接符 670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2" name="直接连接符 671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3" name="直接连接符 672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直接连接符 673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9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75" name="组合 674"/>
          <p:cNvGrpSpPr/>
          <p:nvPr/>
        </p:nvGrpSpPr>
        <p:grpSpPr>
          <a:xfrm>
            <a:off x="7252946" y="3674502"/>
            <a:ext cx="461962" cy="338138"/>
            <a:chOff x="7348538" y="4123199"/>
            <a:chExt cx="461962" cy="338138"/>
          </a:xfrm>
        </p:grpSpPr>
        <p:grpSp>
          <p:nvGrpSpPr>
            <p:cNvPr id="676" name="组合 675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678" name="直接连接符 677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直接连接符 678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直接连接符 679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1" name="直接连接符 680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" name="直接连接符 681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7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83" name="组合 682"/>
          <p:cNvGrpSpPr/>
          <p:nvPr/>
        </p:nvGrpSpPr>
        <p:grpSpPr>
          <a:xfrm>
            <a:off x="7648235" y="3667359"/>
            <a:ext cx="461962" cy="338138"/>
            <a:chOff x="7348538" y="4123199"/>
            <a:chExt cx="461962" cy="338138"/>
          </a:xfrm>
        </p:grpSpPr>
        <p:grpSp>
          <p:nvGrpSpPr>
            <p:cNvPr id="684" name="组合 683"/>
            <p:cNvGrpSpPr/>
            <p:nvPr/>
          </p:nvGrpSpPr>
          <p:grpSpPr>
            <a:xfrm flipV="1">
              <a:off x="7348538" y="4186028"/>
              <a:ext cx="461962" cy="228611"/>
              <a:chOff x="8510588" y="2857500"/>
              <a:chExt cx="461962" cy="144463"/>
            </a:xfrm>
          </p:grpSpPr>
          <p:cxnSp>
            <p:nvCxnSpPr>
              <p:cNvPr id="686" name="直接连接符 685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直接连接符 686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直接连接符 687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直接连接符 688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直接连接符 689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5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91" name="组合 690"/>
          <p:cNvGrpSpPr/>
          <p:nvPr/>
        </p:nvGrpSpPr>
        <p:grpSpPr>
          <a:xfrm>
            <a:off x="7645854" y="3667359"/>
            <a:ext cx="461962" cy="338138"/>
            <a:chOff x="7348538" y="4123199"/>
            <a:chExt cx="461962" cy="338138"/>
          </a:xfrm>
        </p:grpSpPr>
        <p:grpSp>
          <p:nvGrpSpPr>
            <p:cNvPr id="692" name="组合 691"/>
            <p:cNvGrpSpPr/>
            <p:nvPr/>
          </p:nvGrpSpPr>
          <p:grpSpPr>
            <a:xfrm flipV="1">
              <a:off x="7348538" y="4186027"/>
              <a:ext cx="461962" cy="228611"/>
              <a:chOff x="8510588" y="2857500"/>
              <a:chExt cx="461962" cy="144463"/>
            </a:xfrm>
          </p:grpSpPr>
          <p:cxnSp>
            <p:nvCxnSpPr>
              <p:cNvPr id="694" name="直接连接符 693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直接连接符 694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直接连接符 695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直接连接符 696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直接连接符 697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3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99" name="组合 698"/>
          <p:cNvGrpSpPr/>
          <p:nvPr/>
        </p:nvGrpSpPr>
        <p:grpSpPr>
          <a:xfrm>
            <a:off x="7645852" y="3669741"/>
            <a:ext cx="461962" cy="338138"/>
            <a:chOff x="7348538" y="4123199"/>
            <a:chExt cx="461962" cy="338138"/>
          </a:xfrm>
        </p:grpSpPr>
        <p:grpSp>
          <p:nvGrpSpPr>
            <p:cNvPr id="700" name="组合 699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702" name="直接连接符 701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直接连接符 702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直接连接符 703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直接连接符 704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直接连接符 705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1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07" name="组合 706"/>
          <p:cNvGrpSpPr/>
          <p:nvPr/>
        </p:nvGrpSpPr>
        <p:grpSpPr>
          <a:xfrm>
            <a:off x="7648234" y="3669740"/>
            <a:ext cx="461962" cy="338138"/>
            <a:chOff x="7348538" y="4123199"/>
            <a:chExt cx="461962" cy="338138"/>
          </a:xfrm>
        </p:grpSpPr>
        <p:grpSp>
          <p:nvGrpSpPr>
            <p:cNvPr id="708" name="组合 707"/>
            <p:cNvGrpSpPr/>
            <p:nvPr/>
          </p:nvGrpSpPr>
          <p:grpSpPr>
            <a:xfrm flipV="1">
              <a:off x="7348538" y="4186025"/>
              <a:ext cx="461962" cy="228611"/>
              <a:chOff x="8510588" y="2857500"/>
              <a:chExt cx="461962" cy="144463"/>
            </a:xfrm>
          </p:grpSpPr>
          <p:cxnSp>
            <p:nvCxnSpPr>
              <p:cNvPr id="710" name="直接连接符 709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直接连接符 710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直接连接符 711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直接连接符 712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直接连接符 713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9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15" name="组合 714"/>
          <p:cNvGrpSpPr/>
          <p:nvPr/>
        </p:nvGrpSpPr>
        <p:grpSpPr>
          <a:xfrm>
            <a:off x="8029236" y="3657834"/>
            <a:ext cx="461962" cy="338138"/>
            <a:chOff x="7348538" y="4123199"/>
            <a:chExt cx="461962" cy="338138"/>
          </a:xfrm>
        </p:grpSpPr>
        <p:grpSp>
          <p:nvGrpSpPr>
            <p:cNvPr id="716" name="组合 715"/>
            <p:cNvGrpSpPr/>
            <p:nvPr/>
          </p:nvGrpSpPr>
          <p:grpSpPr>
            <a:xfrm flipV="1">
              <a:off x="7348538" y="4186027"/>
              <a:ext cx="461962" cy="228611"/>
              <a:chOff x="8510588" y="2857500"/>
              <a:chExt cx="461962" cy="144463"/>
            </a:xfrm>
          </p:grpSpPr>
          <p:cxnSp>
            <p:nvCxnSpPr>
              <p:cNvPr id="718" name="直接连接符 717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直接连接符 718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直接连接符 719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直接连接符 720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直接连接符 721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7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23" name="组合 722"/>
          <p:cNvGrpSpPr/>
          <p:nvPr/>
        </p:nvGrpSpPr>
        <p:grpSpPr>
          <a:xfrm>
            <a:off x="8031616" y="3657835"/>
            <a:ext cx="461962" cy="338138"/>
            <a:chOff x="7348538" y="4123199"/>
            <a:chExt cx="461962" cy="338138"/>
          </a:xfrm>
        </p:grpSpPr>
        <p:grpSp>
          <p:nvGrpSpPr>
            <p:cNvPr id="724" name="组合 723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726" name="直接连接符 725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直接连接符 726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8" name="直接连接符 727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9" name="直接连接符 728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0" name="直接连接符 729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5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31" name="组合 730"/>
          <p:cNvGrpSpPr/>
          <p:nvPr/>
        </p:nvGrpSpPr>
        <p:grpSpPr>
          <a:xfrm>
            <a:off x="8031617" y="3660216"/>
            <a:ext cx="461962" cy="338138"/>
            <a:chOff x="7348538" y="4123199"/>
            <a:chExt cx="461962" cy="338138"/>
          </a:xfrm>
        </p:grpSpPr>
        <p:grpSp>
          <p:nvGrpSpPr>
            <p:cNvPr id="732" name="组合 731"/>
            <p:cNvGrpSpPr/>
            <p:nvPr/>
          </p:nvGrpSpPr>
          <p:grpSpPr>
            <a:xfrm flipV="1">
              <a:off x="7348538" y="4186025"/>
              <a:ext cx="461962" cy="228611"/>
              <a:chOff x="8510588" y="2857500"/>
              <a:chExt cx="461962" cy="144463"/>
            </a:xfrm>
          </p:grpSpPr>
          <p:cxnSp>
            <p:nvCxnSpPr>
              <p:cNvPr id="734" name="直接连接符 733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5" name="直接连接符 734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6" name="直接连接符 735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7" name="直接连接符 736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8" name="直接连接符 737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3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39" name="组合 738"/>
          <p:cNvGrpSpPr/>
          <p:nvPr/>
        </p:nvGrpSpPr>
        <p:grpSpPr>
          <a:xfrm>
            <a:off x="8031615" y="3657834"/>
            <a:ext cx="461962" cy="338138"/>
            <a:chOff x="7348538" y="4123199"/>
            <a:chExt cx="461962" cy="338138"/>
          </a:xfrm>
        </p:grpSpPr>
        <p:grpSp>
          <p:nvGrpSpPr>
            <p:cNvPr id="740" name="组合 739"/>
            <p:cNvGrpSpPr/>
            <p:nvPr/>
          </p:nvGrpSpPr>
          <p:grpSpPr>
            <a:xfrm flipV="1">
              <a:off x="7348538" y="4186024"/>
              <a:ext cx="461962" cy="228611"/>
              <a:chOff x="8510588" y="2857500"/>
              <a:chExt cx="461962" cy="144463"/>
            </a:xfrm>
          </p:grpSpPr>
          <p:cxnSp>
            <p:nvCxnSpPr>
              <p:cNvPr id="742" name="直接连接符 741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直接连接符 742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直接连接符 743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5" name="直接连接符 744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6" name="直接连接符 745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1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47" name="组合 746"/>
          <p:cNvGrpSpPr/>
          <p:nvPr/>
        </p:nvGrpSpPr>
        <p:grpSpPr>
          <a:xfrm>
            <a:off x="8407853" y="3650689"/>
            <a:ext cx="461962" cy="338138"/>
            <a:chOff x="7348538" y="4123199"/>
            <a:chExt cx="461962" cy="338138"/>
          </a:xfrm>
        </p:grpSpPr>
        <p:grpSp>
          <p:nvGrpSpPr>
            <p:cNvPr id="748" name="组合 747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750" name="直接连接符 749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1" name="直接连接符 750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连接符 751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连接符 753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9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55" name="组合 754"/>
          <p:cNvGrpSpPr/>
          <p:nvPr/>
        </p:nvGrpSpPr>
        <p:grpSpPr>
          <a:xfrm>
            <a:off x="8407853" y="3648310"/>
            <a:ext cx="461962" cy="338138"/>
            <a:chOff x="7348538" y="4123199"/>
            <a:chExt cx="461962" cy="338138"/>
          </a:xfrm>
        </p:grpSpPr>
        <p:grpSp>
          <p:nvGrpSpPr>
            <p:cNvPr id="756" name="组合 755"/>
            <p:cNvGrpSpPr/>
            <p:nvPr/>
          </p:nvGrpSpPr>
          <p:grpSpPr>
            <a:xfrm flipV="1">
              <a:off x="7348538" y="4186025"/>
              <a:ext cx="461962" cy="228611"/>
              <a:chOff x="8510588" y="2857500"/>
              <a:chExt cx="461962" cy="144463"/>
            </a:xfrm>
          </p:grpSpPr>
          <p:cxnSp>
            <p:nvCxnSpPr>
              <p:cNvPr id="758" name="直接连接符 757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9" name="直接连接符 758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0" name="直接连接符 759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1" name="直接连接符 760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2" name="直接连接符 761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7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63" name="组合 762"/>
          <p:cNvGrpSpPr/>
          <p:nvPr/>
        </p:nvGrpSpPr>
        <p:grpSpPr>
          <a:xfrm>
            <a:off x="8400711" y="3648310"/>
            <a:ext cx="461962" cy="338138"/>
            <a:chOff x="7348538" y="4123199"/>
            <a:chExt cx="461962" cy="338138"/>
          </a:xfrm>
        </p:grpSpPr>
        <p:grpSp>
          <p:nvGrpSpPr>
            <p:cNvPr id="764" name="组合 763"/>
            <p:cNvGrpSpPr/>
            <p:nvPr/>
          </p:nvGrpSpPr>
          <p:grpSpPr>
            <a:xfrm flipV="1">
              <a:off x="7348538" y="4186024"/>
              <a:ext cx="461962" cy="228611"/>
              <a:chOff x="8510588" y="2857500"/>
              <a:chExt cx="461962" cy="144463"/>
            </a:xfrm>
          </p:grpSpPr>
          <p:cxnSp>
            <p:nvCxnSpPr>
              <p:cNvPr id="766" name="直接连接符 765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直接连接符 766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直接连接符 767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直接连接符 768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0" name="直接连接符 769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5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71" name="组合 770"/>
          <p:cNvGrpSpPr/>
          <p:nvPr/>
        </p:nvGrpSpPr>
        <p:grpSpPr>
          <a:xfrm>
            <a:off x="8407853" y="3648309"/>
            <a:ext cx="461962" cy="338138"/>
            <a:chOff x="7348538" y="4123199"/>
            <a:chExt cx="461962" cy="338138"/>
          </a:xfrm>
        </p:grpSpPr>
        <p:grpSp>
          <p:nvGrpSpPr>
            <p:cNvPr id="772" name="组合 771"/>
            <p:cNvGrpSpPr/>
            <p:nvPr/>
          </p:nvGrpSpPr>
          <p:grpSpPr>
            <a:xfrm flipV="1">
              <a:off x="7348538" y="4186023"/>
              <a:ext cx="461962" cy="228611"/>
              <a:chOff x="8510588" y="2857500"/>
              <a:chExt cx="461962" cy="144463"/>
            </a:xfrm>
          </p:grpSpPr>
          <p:cxnSp>
            <p:nvCxnSpPr>
              <p:cNvPr id="774" name="直接连接符 773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6" name="直接连接符 775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8" name="直接连接符 777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3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"/>
                                            </p:cond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"/>
                                            </p:cond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6"/>
                                            </p:cond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0"/>
                                            </p:cond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4"/>
                                            </p:cond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2"/>
                                            </p:cond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8"/>
                                            </p:cond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2"/>
                                            </p:cond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6"/>
                                            </p:cond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3"/>
                                            </p:cond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7"/>
                                            </p:cond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1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" grpId="0" autoUpdateAnimBg="0"/>
      <p:bldP spid="544" grpId="0" autoUpdateAnimBg="0"/>
      <p:bldP spid="554" grpId="0" autoUpdateAnimBg="0"/>
      <p:bldP spid="555" grpId="0" autoUpdateAnimBg="0"/>
      <p:bldP spid="559" grpId="0" animBg="1" autoUpdateAnimBg="0"/>
      <p:bldP spid="564" grpId="0" animBg="1"/>
      <p:bldP spid="568" grpId="0" animBg="1"/>
      <p:bldP spid="569" grpId="0" autoUpdateAnimBg="0"/>
      <p:bldP spid="570" grpId="0" autoUpdateAnimBg="0"/>
      <p:bldP spid="632" grpId="0" animBg="1"/>
      <p:bldP spid="6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1283380" y="141514"/>
            <a:ext cx="33212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双向移位寄存器</a:t>
            </a:r>
          </a:p>
        </p:txBody>
      </p:sp>
      <p:grpSp>
        <p:nvGrpSpPr>
          <p:cNvPr id="188" name="Group 445"/>
          <p:cNvGrpSpPr>
            <a:grpSpLocks/>
          </p:cNvGrpSpPr>
          <p:nvPr/>
        </p:nvGrpSpPr>
        <p:grpSpPr bwMode="auto">
          <a:xfrm>
            <a:off x="261257" y="984704"/>
            <a:ext cx="611188" cy="2016125"/>
            <a:chOff x="0" y="572"/>
            <a:chExt cx="385" cy="1270"/>
          </a:xfrm>
        </p:grpSpPr>
        <p:sp>
          <p:nvSpPr>
            <p:cNvPr id="189" name="AutoShape 437"/>
            <p:cNvSpPr>
              <a:spLocks noChangeArrowheads="1"/>
            </p:cNvSpPr>
            <p:nvPr/>
          </p:nvSpPr>
          <p:spPr bwMode="auto">
            <a:xfrm>
              <a:off x="0" y="572"/>
              <a:ext cx="385" cy="1270"/>
            </a:xfrm>
            <a:prstGeom prst="wedgeRoundRectCallout">
              <a:avLst>
                <a:gd name="adj1" fmla="val 40316"/>
                <a:gd name="adj2" fmla="val 88414"/>
                <a:gd name="adj3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3200" b="1" i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190" name="Text Box 438"/>
            <p:cNvSpPr txBox="1">
              <a:spLocks noChangeArrowheads="1"/>
            </p:cNvSpPr>
            <p:nvPr/>
          </p:nvSpPr>
          <p:spPr bwMode="auto">
            <a:xfrm>
              <a:off x="0" y="589"/>
              <a:ext cx="24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400" b="1" i="0" dirty="0">
                  <a:solidFill>
                    <a:srgbClr val="CC6600"/>
                  </a:solidFill>
                  <a:latin typeface="华文中宋" pitchFamily="2" charset="-122"/>
                  <a:ea typeface="华文中宋" pitchFamily="2" charset="-122"/>
                </a:rPr>
                <a:t>位移控制端</a:t>
              </a:r>
            </a:p>
          </p:txBody>
        </p:sp>
      </p:grpSp>
      <p:sp>
        <p:nvSpPr>
          <p:cNvPr id="192" name="Rectangle 444"/>
          <p:cNvSpPr>
            <a:spLocks noChangeArrowheads="1"/>
          </p:cNvSpPr>
          <p:nvPr/>
        </p:nvSpPr>
        <p:spPr bwMode="auto">
          <a:xfrm>
            <a:off x="1365250" y="686253"/>
            <a:ext cx="6234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功能：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数码既可以左移，也可以右移。</a:t>
            </a:r>
          </a:p>
        </p:txBody>
      </p:sp>
      <p:grpSp>
        <p:nvGrpSpPr>
          <p:cNvPr id="194" name="组合 193"/>
          <p:cNvGrpSpPr/>
          <p:nvPr/>
        </p:nvGrpSpPr>
        <p:grpSpPr>
          <a:xfrm>
            <a:off x="733307" y="1154305"/>
            <a:ext cx="7853595" cy="3769395"/>
            <a:chOff x="8929454" y="1087398"/>
            <a:chExt cx="7853595" cy="3769395"/>
          </a:xfrm>
        </p:grpSpPr>
        <p:sp>
          <p:nvSpPr>
            <p:cNvPr id="195" name="Text Box 376"/>
            <p:cNvSpPr txBox="1">
              <a:spLocks noChangeArrowheads="1"/>
            </p:cNvSpPr>
            <p:nvPr/>
          </p:nvSpPr>
          <p:spPr bwMode="auto">
            <a:xfrm>
              <a:off x="9403266" y="4087465"/>
              <a:ext cx="390525" cy="3407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6" name="Text Box 394"/>
            <p:cNvSpPr txBox="1">
              <a:spLocks noChangeArrowheads="1"/>
            </p:cNvSpPr>
            <p:nvPr/>
          </p:nvSpPr>
          <p:spPr bwMode="auto">
            <a:xfrm>
              <a:off x="14328737" y="1098551"/>
              <a:ext cx="540830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altLang="zh-CN" sz="2400" b="1" i="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>
            <a:xfrm rot="10800000">
              <a:off x="9005888" y="3910013"/>
              <a:ext cx="6438112" cy="1626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>
              <a:endCxn id="216" idx="6"/>
            </p:cNvCxnSpPr>
            <p:nvPr/>
          </p:nvCxnSpPr>
          <p:spPr>
            <a:xfrm rot="10800000" flipV="1">
              <a:off x="9789243" y="4247570"/>
              <a:ext cx="6193769" cy="4172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rot="16200000" flipH="1">
              <a:off x="11835516" y="2720387"/>
              <a:ext cx="2736000" cy="945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flipH="1">
              <a:off x="12687897" y="4436597"/>
              <a:ext cx="2232000" cy="1588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flipH="1">
              <a:off x="9895435" y="2646440"/>
              <a:ext cx="5616000" cy="1588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组合 259"/>
            <p:cNvGrpSpPr/>
            <p:nvPr/>
          </p:nvGrpSpPr>
          <p:grpSpPr>
            <a:xfrm>
              <a:off x="13190072" y="1585952"/>
              <a:ext cx="1729913" cy="2664921"/>
              <a:chOff x="8966662" y="1560513"/>
              <a:chExt cx="1729913" cy="2664921"/>
            </a:xfrm>
          </p:grpSpPr>
          <p:sp>
            <p:nvSpPr>
              <p:cNvPr id="331" name="矩形 330"/>
              <p:cNvSpPr/>
              <p:nvPr/>
            </p:nvSpPr>
            <p:spPr>
              <a:xfrm>
                <a:off x="9967911" y="1600199"/>
                <a:ext cx="540000" cy="9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Text Box 394"/>
              <p:cNvSpPr txBox="1">
                <a:spLocks noChangeArrowheads="1"/>
              </p:cNvSpPr>
              <p:nvPr/>
            </p:nvSpPr>
            <p:spPr bwMode="auto">
              <a:xfrm>
                <a:off x="10010775" y="1560513"/>
                <a:ext cx="518388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i="0" baseline="-25000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3" name="Text Box 394"/>
              <p:cNvSpPr txBox="1">
                <a:spLocks noChangeArrowheads="1"/>
              </p:cNvSpPr>
              <p:nvPr/>
            </p:nvSpPr>
            <p:spPr bwMode="auto">
              <a:xfrm>
                <a:off x="9953626" y="2065338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4" name="Text Box 394"/>
              <p:cNvSpPr txBox="1">
                <a:spLocks noChangeArrowheads="1"/>
              </p:cNvSpPr>
              <p:nvPr/>
            </p:nvSpPr>
            <p:spPr bwMode="auto">
              <a:xfrm>
                <a:off x="9844089" y="1803400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&gt;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35" name="直接连接符 334"/>
              <p:cNvCxnSpPr/>
              <p:nvPr/>
            </p:nvCxnSpPr>
            <p:spPr>
              <a:xfrm rot="10800000">
                <a:off x="9525001" y="2043113"/>
                <a:ext cx="442912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/>
              <p:cNvCxnSpPr/>
              <p:nvPr/>
            </p:nvCxnSpPr>
            <p:spPr>
              <a:xfrm rot="10800000">
                <a:off x="9783150" y="23288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 336"/>
              <p:cNvCxnSpPr/>
              <p:nvPr/>
            </p:nvCxnSpPr>
            <p:spPr>
              <a:xfrm rot="16200000" flipH="1">
                <a:off x="9553576" y="2552699"/>
                <a:ext cx="4476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/>
              <p:cNvCxnSpPr/>
              <p:nvPr/>
            </p:nvCxnSpPr>
            <p:spPr>
              <a:xfrm rot="10800000">
                <a:off x="10516575" y="18716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/>
              <p:cNvCxnSpPr/>
              <p:nvPr/>
            </p:nvCxnSpPr>
            <p:spPr>
              <a:xfrm rot="16200000" flipH="1">
                <a:off x="9237001" y="2331376"/>
                <a:ext cx="57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矩形 339"/>
              <p:cNvSpPr/>
              <p:nvPr/>
            </p:nvSpPr>
            <p:spPr>
              <a:xfrm>
                <a:off x="9548813" y="2790826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TextBox 340"/>
              <p:cNvSpPr txBox="1"/>
              <p:nvPr/>
            </p:nvSpPr>
            <p:spPr bwMode="auto">
              <a:xfrm>
                <a:off x="9605963" y="2790825"/>
                <a:ext cx="39052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≥</a:t>
                </a:r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2" name="矩形 341"/>
              <p:cNvSpPr/>
              <p:nvPr/>
            </p:nvSpPr>
            <p:spPr>
              <a:xfrm>
                <a:off x="9882188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矩形 342"/>
              <p:cNvSpPr/>
              <p:nvPr/>
            </p:nvSpPr>
            <p:spPr>
              <a:xfrm>
                <a:off x="9144000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44" name="组合 273"/>
              <p:cNvGrpSpPr/>
              <p:nvPr/>
            </p:nvGrpSpPr>
            <p:grpSpPr>
              <a:xfrm>
                <a:off x="9816176" y="3037045"/>
                <a:ext cx="309563" cy="282419"/>
                <a:chOff x="7794005" y="3037045"/>
                <a:chExt cx="309563" cy="282419"/>
              </a:xfrm>
            </p:grpSpPr>
            <p:cxnSp>
              <p:nvCxnSpPr>
                <p:cNvPr id="356" name="直接连接符 355"/>
                <p:cNvCxnSpPr/>
                <p:nvPr/>
              </p:nvCxnSpPr>
              <p:spPr>
                <a:xfrm rot="16200000" flipH="1">
                  <a:off x="7726617" y="3104435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直接连接符 356"/>
                <p:cNvCxnSpPr/>
                <p:nvPr/>
              </p:nvCxnSpPr>
              <p:spPr>
                <a:xfrm>
                  <a:off x="7794005" y="3176588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接连接符 357"/>
                <p:cNvCxnSpPr/>
                <p:nvPr/>
              </p:nvCxnSpPr>
              <p:spPr>
                <a:xfrm rot="5400000">
                  <a:off x="8032130" y="3248026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组合 274"/>
              <p:cNvGrpSpPr/>
              <p:nvPr/>
            </p:nvGrpSpPr>
            <p:grpSpPr>
              <a:xfrm flipH="1">
                <a:off x="9361850" y="3048196"/>
                <a:ext cx="309563" cy="282419"/>
                <a:chOff x="10570659" y="3048196"/>
                <a:chExt cx="309563" cy="282419"/>
              </a:xfrm>
            </p:grpSpPr>
            <p:cxnSp>
              <p:nvCxnSpPr>
                <p:cNvPr id="353" name="直接连接符 352"/>
                <p:cNvCxnSpPr/>
                <p:nvPr/>
              </p:nvCxnSpPr>
              <p:spPr>
                <a:xfrm rot="16200000" flipH="1">
                  <a:off x="10503271" y="3115586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接连接符 353"/>
                <p:cNvCxnSpPr/>
                <p:nvPr/>
              </p:nvCxnSpPr>
              <p:spPr>
                <a:xfrm>
                  <a:off x="10570659" y="3187739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连接符 354"/>
                <p:cNvCxnSpPr/>
                <p:nvPr/>
              </p:nvCxnSpPr>
              <p:spPr>
                <a:xfrm rot="5400000">
                  <a:off x="10808784" y="3259177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6" name="直接连接符 345"/>
              <p:cNvCxnSpPr/>
              <p:nvPr/>
            </p:nvCxnSpPr>
            <p:spPr>
              <a:xfrm rot="5400000">
                <a:off x="9170196" y="3655220"/>
                <a:ext cx="176211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346"/>
              <p:cNvCxnSpPr/>
              <p:nvPr/>
            </p:nvCxnSpPr>
            <p:spPr>
              <a:xfrm rot="5400000">
                <a:off x="9329138" y="3729640"/>
                <a:ext cx="306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TextBox 347"/>
              <p:cNvSpPr txBox="1"/>
              <p:nvPr/>
            </p:nvSpPr>
            <p:spPr bwMode="auto">
              <a:xfrm>
                <a:off x="9267826" y="3319463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9" name="TextBox 348"/>
              <p:cNvSpPr txBox="1"/>
              <p:nvPr/>
            </p:nvSpPr>
            <p:spPr bwMode="auto">
              <a:xfrm>
                <a:off x="9996488" y="3314700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350" name="直接连接符 349"/>
              <p:cNvCxnSpPr/>
              <p:nvPr/>
            </p:nvCxnSpPr>
            <p:spPr>
              <a:xfrm rot="5400000">
                <a:off x="9672488" y="3900640"/>
                <a:ext cx="64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/>
              <p:cNvCxnSpPr/>
              <p:nvPr/>
            </p:nvCxnSpPr>
            <p:spPr>
              <a:xfrm rot="5400000">
                <a:off x="9952988" y="3815402"/>
                <a:ext cx="46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/>
              <p:cNvCxnSpPr/>
              <p:nvPr/>
            </p:nvCxnSpPr>
            <p:spPr>
              <a:xfrm flipH="1">
                <a:off x="8966662" y="3729038"/>
                <a:ext cx="28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组合 288"/>
            <p:cNvGrpSpPr/>
            <p:nvPr/>
          </p:nvGrpSpPr>
          <p:grpSpPr>
            <a:xfrm>
              <a:off x="14940813" y="1563649"/>
              <a:ext cx="1752216" cy="3101683"/>
              <a:chOff x="8966662" y="1560513"/>
              <a:chExt cx="1752216" cy="3101683"/>
            </a:xfrm>
          </p:grpSpPr>
          <p:sp>
            <p:nvSpPr>
              <p:cNvPr id="303" name="矩形 302"/>
              <p:cNvSpPr/>
              <p:nvPr/>
            </p:nvSpPr>
            <p:spPr>
              <a:xfrm>
                <a:off x="9967911" y="1600199"/>
                <a:ext cx="540000" cy="9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Text Box 394"/>
              <p:cNvSpPr txBox="1">
                <a:spLocks noChangeArrowheads="1"/>
              </p:cNvSpPr>
              <p:nvPr/>
            </p:nvSpPr>
            <p:spPr bwMode="auto">
              <a:xfrm>
                <a:off x="10010775" y="1560513"/>
                <a:ext cx="518388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i="0" baseline="-25000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5" name="Text Box 394"/>
              <p:cNvSpPr txBox="1">
                <a:spLocks noChangeArrowheads="1"/>
              </p:cNvSpPr>
              <p:nvPr/>
            </p:nvSpPr>
            <p:spPr bwMode="auto">
              <a:xfrm>
                <a:off x="9953626" y="2065338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6" name="Text Box 394"/>
              <p:cNvSpPr txBox="1">
                <a:spLocks noChangeArrowheads="1"/>
              </p:cNvSpPr>
              <p:nvPr/>
            </p:nvSpPr>
            <p:spPr bwMode="auto">
              <a:xfrm>
                <a:off x="9844089" y="1803400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&gt;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07" name="直接连接符 306"/>
              <p:cNvCxnSpPr/>
              <p:nvPr/>
            </p:nvCxnSpPr>
            <p:spPr>
              <a:xfrm rot="10800000">
                <a:off x="9525001" y="2043113"/>
                <a:ext cx="442912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/>
              <p:cNvCxnSpPr/>
              <p:nvPr/>
            </p:nvCxnSpPr>
            <p:spPr>
              <a:xfrm rot="10800000">
                <a:off x="9783150" y="23288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/>
              <p:cNvCxnSpPr/>
              <p:nvPr/>
            </p:nvCxnSpPr>
            <p:spPr>
              <a:xfrm rot="16200000" flipH="1">
                <a:off x="9553576" y="2552699"/>
                <a:ext cx="4476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/>
              <p:cNvCxnSpPr/>
              <p:nvPr/>
            </p:nvCxnSpPr>
            <p:spPr>
              <a:xfrm rot="10800000">
                <a:off x="10502878" y="1871663"/>
                <a:ext cx="216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/>
              <p:cNvCxnSpPr/>
              <p:nvPr/>
            </p:nvCxnSpPr>
            <p:spPr>
              <a:xfrm rot="16200000" flipH="1">
                <a:off x="9219001" y="2337188"/>
                <a:ext cx="61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矩形 311"/>
              <p:cNvSpPr/>
              <p:nvPr/>
            </p:nvSpPr>
            <p:spPr>
              <a:xfrm>
                <a:off x="9548813" y="2790826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TextBox 312"/>
              <p:cNvSpPr txBox="1"/>
              <p:nvPr/>
            </p:nvSpPr>
            <p:spPr bwMode="auto">
              <a:xfrm>
                <a:off x="9605963" y="2790825"/>
                <a:ext cx="39052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≥</a:t>
                </a:r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4" name="矩形 313"/>
              <p:cNvSpPr/>
              <p:nvPr/>
            </p:nvSpPr>
            <p:spPr>
              <a:xfrm>
                <a:off x="9882188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矩形 314"/>
              <p:cNvSpPr/>
              <p:nvPr/>
            </p:nvSpPr>
            <p:spPr>
              <a:xfrm>
                <a:off x="9144000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16" name="组合 302"/>
              <p:cNvGrpSpPr/>
              <p:nvPr/>
            </p:nvGrpSpPr>
            <p:grpSpPr>
              <a:xfrm>
                <a:off x="9816176" y="3037045"/>
                <a:ext cx="309563" cy="282419"/>
                <a:chOff x="7794005" y="3037045"/>
                <a:chExt cx="309563" cy="282419"/>
              </a:xfrm>
            </p:grpSpPr>
            <p:cxnSp>
              <p:nvCxnSpPr>
                <p:cNvPr id="328" name="直接连接符 327"/>
                <p:cNvCxnSpPr/>
                <p:nvPr/>
              </p:nvCxnSpPr>
              <p:spPr>
                <a:xfrm rot="16200000" flipH="1">
                  <a:off x="7726617" y="3104435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连接符 328"/>
                <p:cNvCxnSpPr/>
                <p:nvPr/>
              </p:nvCxnSpPr>
              <p:spPr>
                <a:xfrm>
                  <a:off x="7794005" y="3176588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连接符 329"/>
                <p:cNvCxnSpPr/>
                <p:nvPr/>
              </p:nvCxnSpPr>
              <p:spPr>
                <a:xfrm rot="5400000">
                  <a:off x="8032130" y="3248026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组合 303"/>
              <p:cNvGrpSpPr/>
              <p:nvPr/>
            </p:nvGrpSpPr>
            <p:grpSpPr>
              <a:xfrm flipH="1">
                <a:off x="9361850" y="3048196"/>
                <a:ext cx="309563" cy="282419"/>
                <a:chOff x="10570659" y="3048196"/>
                <a:chExt cx="309563" cy="282419"/>
              </a:xfrm>
            </p:grpSpPr>
            <p:cxnSp>
              <p:nvCxnSpPr>
                <p:cNvPr id="325" name="直接连接符 324"/>
                <p:cNvCxnSpPr/>
                <p:nvPr/>
              </p:nvCxnSpPr>
              <p:spPr>
                <a:xfrm rot="16200000" flipH="1">
                  <a:off x="10503271" y="3115586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/>
                <p:cNvCxnSpPr/>
                <p:nvPr/>
              </p:nvCxnSpPr>
              <p:spPr>
                <a:xfrm>
                  <a:off x="10570659" y="3187739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/>
                <p:cNvCxnSpPr/>
                <p:nvPr/>
              </p:nvCxnSpPr>
              <p:spPr>
                <a:xfrm rot="5400000">
                  <a:off x="10808784" y="3259177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8" name="直接连接符 317"/>
              <p:cNvCxnSpPr/>
              <p:nvPr/>
            </p:nvCxnSpPr>
            <p:spPr>
              <a:xfrm rot="5400000">
                <a:off x="9170196" y="3655220"/>
                <a:ext cx="176211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/>
              <p:cNvCxnSpPr/>
              <p:nvPr/>
            </p:nvCxnSpPr>
            <p:spPr>
              <a:xfrm rot="5400000">
                <a:off x="9320138" y="3738640"/>
                <a:ext cx="32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TextBox 319"/>
              <p:cNvSpPr txBox="1"/>
              <p:nvPr/>
            </p:nvSpPr>
            <p:spPr bwMode="auto">
              <a:xfrm>
                <a:off x="9267826" y="3319463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1" name="TextBox 320"/>
              <p:cNvSpPr txBox="1"/>
              <p:nvPr/>
            </p:nvSpPr>
            <p:spPr bwMode="auto">
              <a:xfrm>
                <a:off x="9996488" y="3314700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322" name="直接连接符 321"/>
              <p:cNvCxnSpPr/>
              <p:nvPr/>
            </p:nvCxnSpPr>
            <p:spPr>
              <a:xfrm rot="5400000">
                <a:off x="9663488" y="3909640"/>
                <a:ext cx="666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/>
              <p:cNvCxnSpPr/>
              <p:nvPr/>
            </p:nvCxnSpPr>
            <p:spPr>
              <a:xfrm rot="5400000">
                <a:off x="9646988" y="4121402"/>
                <a:ext cx="10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/>
              <p:cNvCxnSpPr/>
              <p:nvPr/>
            </p:nvCxnSpPr>
            <p:spPr>
              <a:xfrm flipH="1">
                <a:off x="8966662" y="3729038"/>
                <a:ext cx="28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组合 317"/>
            <p:cNvGrpSpPr/>
            <p:nvPr/>
          </p:nvGrpSpPr>
          <p:grpSpPr>
            <a:xfrm>
              <a:off x="11472785" y="1585952"/>
              <a:ext cx="1729913" cy="2849683"/>
              <a:chOff x="8966662" y="1560513"/>
              <a:chExt cx="1729913" cy="2849683"/>
            </a:xfrm>
          </p:grpSpPr>
          <p:sp>
            <p:nvSpPr>
              <p:cNvPr id="275" name="矩形 274"/>
              <p:cNvSpPr/>
              <p:nvPr/>
            </p:nvSpPr>
            <p:spPr>
              <a:xfrm>
                <a:off x="9967911" y="1600199"/>
                <a:ext cx="540000" cy="9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Text Box 394"/>
              <p:cNvSpPr txBox="1">
                <a:spLocks noChangeArrowheads="1"/>
              </p:cNvSpPr>
              <p:nvPr/>
            </p:nvSpPr>
            <p:spPr bwMode="auto">
              <a:xfrm>
                <a:off x="10010775" y="1560513"/>
                <a:ext cx="518388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i="0" baseline="-25000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7" name="Text Box 394"/>
              <p:cNvSpPr txBox="1">
                <a:spLocks noChangeArrowheads="1"/>
              </p:cNvSpPr>
              <p:nvPr/>
            </p:nvSpPr>
            <p:spPr bwMode="auto">
              <a:xfrm>
                <a:off x="9953626" y="2065338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8" name="Text Box 394"/>
              <p:cNvSpPr txBox="1">
                <a:spLocks noChangeArrowheads="1"/>
              </p:cNvSpPr>
              <p:nvPr/>
            </p:nvSpPr>
            <p:spPr bwMode="auto">
              <a:xfrm>
                <a:off x="9844089" y="1803400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&gt;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79" name="直接连接符 278"/>
              <p:cNvCxnSpPr/>
              <p:nvPr/>
            </p:nvCxnSpPr>
            <p:spPr>
              <a:xfrm rot="10800000">
                <a:off x="9525001" y="2043113"/>
                <a:ext cx="442912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 rot="10800000">
                <a:off x="9783150" y="23288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/>
              <p:cNvCxnSpPr/>
              <p:nvPr/>
            </p:nvCxnSpPr>
            <p:spPr>
              <a:xfrm rot="16200000" flipH="1">
                <a:off x="9553576" y="2552699"/>
                <a:ext cx="4476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/>
              <p:cNvCxnSpPr/>
              <p:nvPr/>
            </p:nvCxnSpPr>
            <p:spPr>
              <a:xfrm rot="10800000">
                <a:off x="10516575" y="18716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/>
              <p:cNvCxnSpPr/>
              <p:nvPr/>
            </p:nvCxnSpPr>
            <p:spPr>
              <a:xfrm rot="16200000" flipH="1">
                <a:off x="9237001" y="2331376"/>
                <a:ext cx="57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矩形 283"/>
              <p:cNvSpPr/>
              <p:nvPr/>
            </p:nvSpPr>
            <p:spPr>
              <a:xfrm>
                <a:off x="9548813" y="2790826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TextBox 284"/>
              <p:cNvSpPr txBox="1"/>
              <p:nvPr/>
            </p:nvSpPr>
            <p:spPr bwMode="auto">
              <a:xfrm>
                <a:off x="9605963" y="2790825"/>
                <a:ext cx="39052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≥</a:t>
                </a:r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9882188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9144000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8" name="组合 331"/>
              <p:cNvGrpSpPr/>
              <p:nvPr/>
            </p:nvGrpSpPr>
            <p:grpSpPr>
              <a:xfrm>
                <a:off x="9816176" y="3037045"/>
                <a:ext cx="309563" cy="282419"/>
                <a:chOff x="7794005" y="3037045"/>
                <a:chExt cx="309563" cy="282419"/>
              </a:xfrm>
            </p:grpSpPr>
            <p:cxnSp>
              <p:nvCxnSpPr>
                <p:cNvPr id="300" name="直接连接符 299"/>
                <p:cNvCxnSpPr/>
                <p:nvPr/>
              </p:nvCxnSpPr>
              <p:spPr>
                <a:xfrm rot="16200000" flipH="1">
                  <a:off x="7726617" y="3104435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接连接符 300"/>
                <p:cNvCxnSpPr/>
                <p:nvPr/>
              </p:nvCxnSpPr>
              <p:spPr>
                <a:xfrm>
                  <a:off x="7794005" y="3176588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接连接符 301"/>
                <p:cNvCxnSpPr/>
                <p:nvPr/>
              </p:nvCxnSpPr>
              <p:spPr>
                <a:xfrm rot="5400000">
                  <a:off x="8032130" y="3248026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组合 332"/>
              <p:cNvGrpSpPr/>
              <p:nvPr/>
            </p:nvGrpSpPr>
            <p:grpSpPr>
              <a:xfrm flipH="1">
                <a:off x="9361850" y="3048196"/>
                <a:ext cx="309563" cy="282419"/>
                <a:chOff x="10570659" y="3048196"/>
                <a:chExt cx="309563" cy="282419"/>
              </a:xfrm>
            </p:grpSpPr>
            <p:cxnSp>
              <p:nvCxnSpPr>
                <p:cNvPr id="297" name="直接连接符 296"/>
                <p:cNvCxnSpPr/>
                <p:nvPr/>
              </p:nvCxnSpPr>
              <p:spPr>
                <a:xfrm rot="16200000" flipH="1">
                  <a:off x="10503271" y="3115586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连接符 297"/>
                <p:cNvCxnSpPr/>
                <p:nvPr/>
              </p:nvCxnSpPr>
              <p:spPr>
                <a:xfrm>
                  <a:off x="10570659" y="3187739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接连接符 298"/>
                <p:cNvCxnSpPr/>
                <p:nvPr/>
              </p:nvCxnSpPr>
              <p:spPr>
                <a:xfrm rot="5400000">
                  <a:off x="10808784" y="3259177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0" name="直接连接符 289"/>
              <p:cNvCxnSpPr/>
              <p:nvPr/>
            </p:nvCxnSpPr>
            <p:spPr>
              <a:xfrm rot="5400000">
                <a:off x="9170196" y="3655220"/>
                <a:ext cx="176211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 rot="5400000">
                <a:off x="9329138" y="3729640"/>
                <a:ext cx="306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2" name="TextBox 291"/>
              <p:cNvSpPr txBox="1"/>
              <p:nvPr/>
            </p:nvSpPr>
            <p:spPr bwMode="auto">
              <a:xfrm>
                <a:off x="9267826" y="3319463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93" name="TextBox 292"/>
              <p:cNvSpPr txBox="1"/>
              <p:nvPr/>
            </p:nvSpPr>
            <p:spPr bwMode="auto">
              <a:xfrm>
                <a:off x="9996488" y="3314700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294" name="直接连接符 293"/>
              <p:cNvCxnSpPr/>
              <p:nvPr/>
            </p:nvCxnSpPr>
            <p:spPr>
              <a:xfrm rot="5400000">
                <a:off x="9672488" y="3900640"/>
                <a:ext cx="64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rot="5400000">
                <a:off x="9772988" y="3995402"/>
                <a:ext cx="82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 flipH="1">
                <a:off x="8966662" y="3729038"/>
                <a:ext cx="28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5" name="组合 346"/>
            <p:cNvGrpSpPr/>
            <p:nvPr/>
          </p:nvGrpSpPr>
          <p:grpSpPr>
            <a:xfrm>
              <a:off x="9910533" y="1574801"/>
              <a:ext cx="1552575" cy="3087395"/>
              <a:chOff x="9144000" y="1560513"/>
              <a:chExt cx="1552575" cy="3087395"/>
            </a:xfrm>
          </p:grpSpPr>
          <p:sp>
            <p:nvSpPr>
              <p:cNvPr id="248" name="矩形 247"/>
              <p:cNvSpPr/>
              <p:nvPr/>
            </p:nvSpPr>
            <p:spPr>
              <a:xfrm>
                <a:off x="9967911" y="1600199"/>
                <a:ext cx="540000" cy="9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Text Box 394"/>
              <p:cNvSpPr txBox="1">
                <a:spLocks noChangeArrowheads="1"/>
              </p:cNvSpPr>
              <p:nvPr/>
            </p:nvSpPr>
            <p:spPr bwMode="auto">
              <a:xfrm>
                <a:off x="10010775" y="1560513"/>
                <a:ext cx="518388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i="0" baseline="-25000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0" name="Text Box 394"/>
              <p:cNvSpPr txBox="1">
                <a:spLocks noChangeArrowheads="1"/>
              </p:cNvSpPr>
              <p:nvPr/>
            </p:nvSpPr>
            <p:spPr bwMode="auto">
              <a:xfrm>
                <a:off x="9953626" y="2065338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D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1" name="Text Box 394"/>
              <p:cNvSpPr txBox="1">
                <a:spLocks noChangeArrowheads="1"/>
              </p:cNvSpPr>
              <p:nvPr/>
            </p:nvSpPr>
            <p:spPr bwMode="auto">
              <a:xfrm>
                <a:off x="9844089" y="1803400"/>
                <a:ext cx="404576" cy="463846"/>
              </a:xfrm>
              <a:prstGeom prst="rect">
                <a:avLst/>
              </a:prstGeom>
              <a:no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cs typeface="Times New Roman" pitchFamily="18" charset="0"/>
                  </a:rPr>
                  <a:t>&gt;</a:t>
                </a:r>
                <a:endParaRPr lang="en-US" altLang="zh-CN" sz="2400" b="1" i="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52" name="直接连接符 251"/>
              <p:cNvCxnSpPr/>
              <p:nvPr/>
            </p:nvCxnSpPr>
            <p:spPr>
              <a:xfrm rot="10800000">
                <a:off x="9525001" y="2043113"/>
                <a:ext cx="442912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 rot="10800000">
                <a:off x="9783150" y="23288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rot="16200000" flipH="1">
                <a:off x="9553576" y="2552699"/>
                <a:ext cx="4476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rot="10800000">
                <a:off x="10516575" y="1871663"/>
                <a:ext cx="1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 rot="16200000" flipH="1">
                <a:off x="9237001" y="2331376"/>
                <a:ext cx="57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7" name="矩形 256"/>
              <p:cNvSpPr/>
              <p:nvPr/>
            </p:nvSpPr>
            <p:spPr>
              <a:xfrm>
                <a:off x="9548813" y="2790826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TextBox 257"/>
              <p:cNvSpPr txBox="1"/>
              <p:nvPr/>
            </p:nvSpPr>
            <p:spPr bwMode="auto">
              <a:xfrm>
                <a:off x="9605963" y="2790825"/>
                <a:ext cx="39052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≥</a:t>
                </a:r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9882188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9144000" y="3319464"/>
                <a:ext cx="447676" cy="257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1" name="组合 360"/>
              <p:cNvGrpSpPr/>
              <p:nvPr/>
            </p:nvGrpSpPr>
            <p:grpSpPr>
              <a:xfrm>
                <a:off x="9816176" y="3037045"/>
                <a:ext cx="309563" cy="282419"/>
                <a:chOff x="7794005" y="3037045"/>
                <a:chExt cx="309563" cy="282419"/>
              </a:xfrm>
            </p:grpSpPr>
            <p:cxnSp>
              <p:nvCxnSpPr>
                <p:cNvPr id="272" name="直接连接符 271"/>
                <p:cNvCxnSpPr/>
                <p:nvPr/>
              </p:nvCxnSpPr>
              <p:spPr>
                <a:xfrm rot="16200000" flipH="1">
                  <a:off x="7726617" y="3104435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连接符 272"/>
                <p:cNvCxnSpPr/>
                <p:nvPr/>
              </p:nvCxnSpPr>
              <p:spPr>
                <a:xfrm>
                  <a:off x="7794005" y="3176588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连接符 273"/>
                <p:cNvCxnSpPr/>
                <p:nvPr/>
              </p:nvCxnSpPr>
              <p:spPr>
                <a:xfrm rot="5400000">
                  <a:off x="8032130" y="3248026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组合 361"/>
              <p:cNvGrpSpPr/>
              <p:nvPr/>
            </p:nvGrpSpPr>
            <p:grpSpPr>
              <a:xfrm flipH="1">
                <a:off x="9361850" y="3048196"/>
                <a:ext cx="309563" cy="282419"/>
                <a:chOff x="10570659" y="3048196"/>
                <a:chExt cx="309563" cy="282419"/>
              </a:xfrm>
            </p:grpSpPr>
            <p:cxnSp>
              <p:nvCxnSpPr>
                <p:cNvPr id="269" name="直接连接符 268"/>
                <p:cNvCxnSpPr/>
                <p:nvPr/>
              </p:nvCxnSpPr>
              <p:spPr>
                <a:xfrm rot="16200000" flipH="1">
                  <a:off x="10503271" y="3115586"/>
                  <a:ext cx="13477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直接连接符 269"/>
                <p:cNvCxnSpPr/>
                <p:nvPr/>
              </p:nvCxnSpPr>
              <p:spPr>
                <a:xfrm>
                  <a:off x="10570659" y="3187739"/>
                  <a:ext cx="3048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直接连接符 270"/>
                <p:cNvCxnSpPr/>
                <p:nvPr/>
              </p:nvCxnSpPr>
              <p:spPr>
                <a:xfrm rot="5400000">
                  <a:off x="10808784" y="3259177"/>
                  <a:ext cx="14287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3" name="直接连接符 262"/>
              <p:cNvCxnSpPr/>
              <p:nvPr/>
            </p:nvCxnSpPr>
            <p:spPr>
              <a:xfrm rot="5400000">
                <a:off x="8718301" y="4107114"/>
                <a:ext cx="10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/>
            </p:nvCxnSpPr>
            <p:spPr>
              <a:xfrm rot="5400000">
                <a:off x="9320138" y="3738640"/>
                <a:ext cx="32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TextBox 264"/>
              <p:cNvSpPr txBox="1"/>
              <p:nvPr/>
            </p:nvSpPr>
            <p:spPr bwMode="auto">
              <a:xfrm>
                <a:off x="9267826" y="3319463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6" name="TextBox 265"/>
              <p:cNvSpPr txBox="1"/>
              <p:nvPr/>
            </p:nvSpPr>
            <p:spPr bwMode="auto">
              <a:xfrm>
                <a:off x="9996488" y="3314700"/>
                <a:ext cx="228599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altLang="zh-CN" sz="16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&amp;</a:t>
                </a:r>
                <a:endParaRPr lang="zh-CN" altLang="en-US" sz="16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267" name="直接连接符 266"/>
              <p:cNvCxnSpPr/>
              <p:nvPr/>
            </p:nvCxnSpPr>
            <p:spPr>
              <a:xfrm rot="5400000">
                <a:off x="9663488" y="3909640"/>
                <a:ext cx="666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/>
              <p:cNvCxnSpPr/>
              <p:nvPr/>
            </p:nvCxnSpPr>
            <p:spPr>
              <a:xfrm rot="5400000">
                <a:off x="9934988" y="3833402"/>
                <a:ext cx="50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直接连接符 205"/>
            <p:cNvCxnSpPr/>
            <p:nvPr/>
          </p:nvCxnSpPr>
          <p:spPr>
            <a:xfrm rot="16200000" flipH="1">
              <a:off x="10287078" y="2554699"/>
              <a:ext cx="2376000" cy="945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rot="16200000" flipH="1">
              <a:off x="13383957" y="2898853"/>
              <a:ext cx="3096000" cy="945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16200000" flipH="1">
              <a:off x="15319000" y="2713540"/>
              <a:ext cx="2772000" cy="945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10800000" flipV="1">
              <a:off x="14406564" y="4095750"/>
              <a:ext cx="2291471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10800000" flipV="1">
              <a:off x="10953750" y="4091454"/>
              <a:ext cx="2251290" cy="4296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 Box 394"/>
            <p:cNvSpPr txBox="1">
              <a:spLocks noChangeArrowheads="1"/>
            </p:cNvSpPr>
            <p:nvPr/>
          </p:nvSpPr>
          <p:spPr bwMode="auto">
            <a:xfrm>
              <a:off x="10894161" y="1087398"/>
              <a:ext cx="568082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altLang="zh-CN" sz="2400" b="1" i="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Text Box 394"/>
            <p:cNvSpPr txBox="1">
              <a:spLocks noChangeArrowheads="1"/>
            </p:cNvSpPr>
            <p:nvPr/>
          </p:nvSpPr>
          <p:spPr bwMode="auto">
            <a:xfrm>
              <a:off x="16112932" y="1087399"/>
              <a:ext cx="568082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213" name="Text Box 394"/>
            <p:cNvSpPr txBox="1">
              <a:spLocks noChangeArrowheads="1"/>
            </p:cNvSpPr>
            <p:nvPr/>
          </p:nvSpPr>
          <p:spPr bwMode="auto">
            <a:xfrm>
              <a:off x="12656054" y="1109703"/>
              <a:ext cx="540830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2400" b="1" i="0" baseline="-25000" dirty="0" smtClean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altLang="zh-CN" sz="2400" b="1" i="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矩形 213"/>
            <p:cNvSpPr/>
            <p:nvPr/>
          </p:nvSpPr>
          <p:spPr>
            <a:xfrm rot="5400000">
              <a:off x="9344377" y="4134317"/>
              <a:ext cx="447676" cy="2571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椭圆 214"/>
            <p:cNvSpPr/>
            <p:nvPr/>
          </p:nvSpPr>
          <p:spPr>
            <a:xfrm>
              <a:off x="8929454" y="3885852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16" name="椭圆 215"/>
            <p:cNvSpPr/>
            <p:nvPr/>
          </p:nvSpPr>
          <p:spPr>
            <a:xfrm>
              <a:off x="9717242" y="4215742"/>
              <a:ext cx="72000" cy="72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7" name="直接连接符 216"/>
            <p:cNvCxnSpPr/>
            <p:nvPr/>
          </p:nvCxnSpPr>
          <p:spPr>
            <a:xfrm rot="5400000">
              <a:off x="9062733" y="4076778"/>
              <a:ext cx="324000" cy="1588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flipH="1">
              <a:off x="9223508" y="4245015"/>
              <a:ext cx="216000" cy="1588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 Box 376"/>
            <p:cNvSpPr txBox="1">
              <a:spLocks noChangeArrowheads="1"/>
            </p:cNvSpPr>
            <p:nvPr/>
          </p:nvSpPr>
          <p:spPr bwMode="auto">
            <a:xfrm>
              <a:off x="8948737" y="3430241"/>
              <a:ext cx="390525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M</a:t>
              </a:r>
              <a:endParaRPr lang="en-US" altLang="zh-CN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椭圆 219"/>
            <p:cNvSpPr/>
            <p:nvPr/>
          </p:nvSpPr>
          <p:spPr>
            <a:xfrm>
              <a:off x="12460442" y="4210979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椭圆 220"/>
            <p:cNvSpPr/>
            <p:nvPr/>
          </p:nvSpPr>
          <p:spPr>
            <a:xfrm>
              <a:off x="9202892" y="3877605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椭圆 221"/>
            <p:cNvSpPr/>
            <p:nvPr/>
          </p:nvSpPr>
          <p:spPr>
            <a:xfrm>
              <a:off x="10212542" y="3877605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椭圆 222"/>
            <p:cNvSpPr/>
            <p:nvPr/>
          </p:nvSpPr>
          <p:spPr>
            <a:xfrm>
              <a:off x="10722129" y="4220504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椭圆 223"/>
            <p:cNvSpPr/>
            <p:nvPr/>
          </p:nvSpPr>
          <p:spPr>
            <a:xfrm>
              <a:off x="11950854" y="3872841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椭圆 224"/>
            <p:cNvSpPr/>
            <p:nvPr/>
          </p:nvSpPr>
          <p:spPr>
            <a:xfrm>
              <a:off x="13670117" y="3877604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/>
            <p:cNvSpPr/>
            <p:nvPr/>
          </p:nvSpPr>
          <p:spPr>
            <a:xfrm>
              <a:off x="14179704" y="4201454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/>
            <p:cNvSpPr/>
            <p:nvPr/>
          </p:nvSpPr>
          <p:spPr>
            <a:xfrm>
              <a:off x="14903604" y="3691867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椭圆 227"/>
            <p:cNvSpPr/>
            <p:nvPr/>
          </p:nvSpPr>
          <p:spPr>
            <a:xfrm>
              <a:off x="13717741" y="2606017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椭圆 228"/>
            <p:cNvSpPr/>
            <p:nvPr/>
          </p:nvSpPr>
          <p:spPr>
            <a:xfrm>
              <a:off x="13165291" y="3715680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椭圆 229"/>
            <p:cNvSpPr/>
            <p:nvPr/>
          </p:nvSpPr>
          <p:spPr>
            <a:xfrm>
              <a:off x="10255403" y="2610779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椭圆 230"/>
            <p:cNvSpPr/>
            <p:nvPr/>
          </p:nvSpPr>
          <p:spPr>
            <a:xfrm>
              <a:off x="11993716" y="2606017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椭圆 231"/>
            <p:cNvSpPr/>
            <p:nvPr/>
          </p:nvSpPr>
          <p:spPr>
            <a:xfrm>
              <a:off x="13165292" y="1863067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11436503" y="1853541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14903603" y="1867830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椭圆 234"/>
            <p:cNvSpPr/>
            <p:nvPr/>
          </p:nvSpPr>
          <p:spPr>
            <a:xfrm>
              <a:off x="16670490" y="1844017"/>
              <a:ext cx="72000" cy="7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36" name="椭圆 235"/>
            <p:cNvSpPr/>
            <p:nvPr/>
          </p:nvSpPr>
          <p:spPr>
            <a:xfrm>
              <a:off x="14894080" y="1277279"/>
              <a:ext cx="72000" cy="72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37" name="椭圆 236"/>
            <p:cNvSpPr/>
            <p:nvPr/>
          </p:nvSpPr>
          <p:spPr>
            <a:xfrm>
              <a:off x="13165293" y="1291567"/>
              <a:ext cx="72000" cy="72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38" name="椭圆 237"/>
            <p:cNvSpPr/>
            <p:nvPr/>
          </p:nvSpPr>
          <p:spPr>
            <a:xfrm>
              <a:off x="11441267" y="1291567"/>
              <a:ext cx="72000" cy="72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39" name="椭圆 238"/>
            <p:cNvSpPr/>
            <p:nvPr/>
          </p:nvSpPr>
          <p:spPr>
            <a:xfrm>
              <a:off x="16670493" y="1253467"/>
              <a:ext cx="72000" cy="72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椭圆 239"/>
            <p:cNvSpPr/>
            <p:nvPr/>
          </p:nvSpPr>
          <p:spPr>
            <a:xfrm>
              <a:off x="9818996" y="2615890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Text Box 376"/>
            <p:cNvSpPr txBox="1">
              <a:spLocks noChangeArrowheads="1"/>
            </p:cNvSpPr>
            <p:nvPr/>
          </p:nvSpPr>
          <p:spPr bwMode="auto">
            <a:xfrm>
              <a:off x="9144000" y="2406303"/>
              <a:ext cx="647700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CP</a:t>
              </a:r>
              <a:endParaRPr lang="en-US" altLang="zh-CN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Text Box 376"/>
            <p:cNvSpPr txBox="1">
              <a:spLocks noChangeArrowheads="1"/>
            </p:cNvSpPr>
            <p:nvPr/>
          </p:nvSpPr>
          <p:spPr bwMode="auto">
            <a:xfrm>
              <a:off x="9529762" y="4392947"/>
              <a:ext cx="585788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D</a:t>
              </a:r>
              <a:r>
                <a:rPr lang="en-US" altLang="zh-CN" sz="2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en-US" altLang="zh-CN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43" name="直接连接符 242"/>
            <p:cNvCxnSpPr/>
            <p:nvPr/>
          </p:nvCxnSpPr>
          <p:spPr>
            <a:xfrm rot="5400000" flipH="1" flipV="1">
              <a:off x="9919891" y="4491436"/>
              <a:ext cx="210347" cy="0"/>
            </a:xfrm>
            <a:prstGeom prst="line">
              <a:avLst/>
            </a:prstGeom>
            <a:ln w="28575">
              <a:solidFill>
                <a:srgbClr val="00B0F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5400000" flipH="1" flipV="1">
              <a:off x="16053994" y="4472387"/>
              <a:ext cx="210347" cy="0"/>
            </a:xfrm>
            <a:prstGeom prst="line">
              <a:avLst/>
            </a:prstGeom>
            <a:ln w="28575">
              <a:solidFill>
                <a:srgbClr val="00B0F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 Box 376"/>
            <p:cNvSpPr txBox="1">
              <a:spLocks noChangeArrowheads="1"/>
            </p:cNvSpPr>
            <p:nvPr/>
          </p:nvSpPr>
          <p:spPr bwMode="auto">
            <a:xfrm>
              <a:off x="16197261" y="4241504"/>
              <a:ext cx="585788" cy="46384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 i="1" dirty="0" smtClean="0">
                  <a:latin typeface="Times New Roman" pitchFamily="18" charset="0"/>
                  <a:cs typeface="Times New Roman" pitchFamily="18" charset="0"/>
                </a:rPr>
                <a:t>D</a:t>
              </a:r>
              <a:r>
                <a:rPr lang="en-US" altLang="zh-CN" sz="2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endParaRPr lang="en-US" altLang="zh-CN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椭圆 245"/>
            <p:cNvSpPr/>
            <p:nvPr/>
          </p:nvSpPr>
          <p:spPr>
            <a:xfrm>
              <a:off x="9980922" y="4654240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/>
            <p:cNvSpPr/>
            <p:nvPr/>
          </p:nvSpPr>
          <p:spPr>
            <a:xfrm>
              <a:off x="16119784" y="4673290"/>
              <a:ext cx="72000" cy="7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1" name="AutoShape 443"/>
          <p:cNvSpPr>
            <a:spLocks noChangeArrowheads="1"/>
          </p:cNvSpPr>
          <p:nvPr/>
        </p:nvSpPr>
        <p:spPr bwMode="auto">
          <a:xfrm>
            <a:off x="2375126" y="4064226"/>
            <a:ext cx="2376487" cy="534988"/>
          </a:xfrm>
          <a:prstGeom prst="wedgeRoundRectCallout">
            <a:avLst>
              <a:gd name="adj1" fmla="val -70384"/>
              <a:gd name="adj2" fmla="val 65851"/>
              <a:gd name="adj3" fmla="val 16667"/>
            </a:avLst>
          </a:prstGeom>
          <a:solidFill>
            <a:schemeClr val="accent5">
              <a:alpha val="7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i="0" dirty="0">
                <a:solidFill>
                  <a:srgbClr val="FF7B21"/>
                </a:solidFill>
                <a:latin typeface="华文中宋" pitchFamily="2" charset="-122"/>
                <a:ea typeface="华文中宋" pitchFamily="2" charset="-122"/>
              </a:rPr>
              <a:t>右移串行输入端</a:t>
            </a:r>
            <a:r>
              <a:rPr lang="zh-CN" altLang="en-US" sz="3200" b="1" i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 </a:t>
            </a:r>
          </a:p>
        </p:txBody>
      </p:sp>
      <p:sp>
        <p:nvSpPr>
          <p:cNvPr id="193" name="AutoShape 446"/>
          <p:cNvSpPr>
            <a:spLocks noChangeArrowheads="1"/>
          </p:cNvSpPr>
          <p:nvPr/>
        </p:nvSpPr>
        <p:spPr bwMode="auto">
          <a:xfrm>
            <a:off x="5021262" y="4096883"/>
            <a:ext cx="2376487" cy="534988"/>
          </a:xfrm>
          <a:prstGeom prst="wedgeRoundRectCallout">
            <a:avLst>
              <a:gd name="adj1" fmla="val 69313"/>
              <a:gd name="adj2" fmla="val 66234"/>
              <a:gd name="adj3" fmla="val 16667"/>
            </a:avLst>
          </a:prstGeom>
          <a:solidFill>
            <a:schemeClr val="accent5">
              <a:alpha val="7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i="0" dirty="0">
                <a:solidFill>
                  <a:srgbClr val="FF7B21"/>
                </a:solidFill>
                <a:latin typeface="华文中宋" pitchFamily="2" charset="-122"/>
                <a:ea typeface="华文中宋" pitchFamily="2" charset="-122"/>
              </a:rPr>
              <a:t>左移串行输入端</a:t>
            </a:r>
            <a:r>
              <a:rPr lang="zh-CN" altLang="en-US" sz="3200" b="1" i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92" grpId="0" autoUpdateAnimBg="0"/>
      <p:bldP spid="191" grpId="0" animBg="1"/>
      <p:bldP spid="191" grpId="1" animBg="1"/>
      <p:bldP spid="193" grpId="0" animBg="1"/>
      <p:bldP spid="19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58574" y="274411"/>
            <a:ext cx="48625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集成双向移位寄存器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74LS194</a:t>
            </a:r>
            <a:endParaRPr lang="en-US" altLang="zh-CN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385026" name="Object 2"/>
          <p:cNvGraphicFramePr>
            <a:graphicFrameLocks noChangeAspect="1"/>
          </p:cNvGraphicFramePr>
          <p:nvPr/>
        </p:nvGraphicFramePr>
        <p:xfrm>
          <a:off x="1349375" y="1055688"/>
          <a:ext cx="7500938" cy="3130550"/>
        </p:xfrm>
        <a:graphic>
          <a:graphicData uri="http://schemas.openxmlformats.org/presentationml/2006/ole">
            <p:oleObj spid="_x0000_s169988" name="图片" r:id="rId4" imgW="4200480" imgH="1752480" progId="Word.Picture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026" name="Object 2"/>
          <p:cNvGraphicFramePr>
            <a:graphicFrameLocks noChangeAspect="1"/>
          </p:cNvGraphicFramePr>
          <p:nvPr/>
        </p:nvGraphicFramePr>
        <p:xfrm>
          <a:off x="1350057" y="1055461"/>
          <a:ext cx="7500030" cy="3130593"/>
        </p:xfrm>
        <a:graphic>
          <a:graphicData uri="http://schemas.openxmlformats.org/presentationml/2006/ole">
            <p:oleObj spid="_x0000_s171012" name="图片" r:id="rId4" imgW="4200480" imgH="1752480" progId="Word.Picture.8">
              <p:embed/>
            </p:oleObj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58574" y="274411"/>
            <a:ext cx="48625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集成双向移位寄存器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74LS194</a:t>
            </a:r>
            <a:endParaRPr lang="en-US" altLang="zh-CN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751114" y="1001487"/>
            <a:ext cx="4245429" cy="3243942"/>
          </a:xfrm>
          <a:prstGeom prst="rect">
            <a:avLst/>
          </a:prstGeom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91885" y="1256392"/>
          <a:ext cx="4576762" cy="3135313"/>
        </p:xfrm>
        <a:graphic>
          <a:graphicData uri="http://schemas.openxmlformats.org/presentationml/2006/ole">
            <p:oleObj spid="_x0000_s171011" name="文档" r:id="rId5" imgW="2268720" imgH="1621800" progId="Word.Document.8">
              <p:embed/>
            </p:oleObj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25247" y="2024742"/>
            <a:ext cx="4267200" cy="381000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25247" y="2499405"/>
            <a:ext cx="4267200" cy="381000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25247" y="2980417"/>
            <a:ext cx="4267200" cy="381000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25247" y="3455080"/>
            <a:ext cx="4267200" cy="381000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25247" y="3912280"/>
            <a:ext cx="4267200" cy="381000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4427</TotalTime>
  <Words>672</Words>
  <Application>Microsoft Office PowerPoint</Application>
  <PresentationFormat>全屏显示(16:9)</PresentationFormat>
  <Paragraphs>273</Paragraphs>
  <Slides>15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Office 主题</vt:lpstr>
      <vt:lpstr>图片</vt:lpstr>
      <vt:lpstr>文档</vt:lpstr>
      <vt:lpstr>13.2  时序逻辑电路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352</cp:revision>
  <dcterms:created xsi:type="dcterms:W3CDTF">2017-07-05T02:13:24Z</dcterms:created>
  <dcterms:modified xsi:type="dcterms:W3CDTF">2017-09-12T08:53:25Z</dcterms:modified>
</cp:coreProperties>
</file>