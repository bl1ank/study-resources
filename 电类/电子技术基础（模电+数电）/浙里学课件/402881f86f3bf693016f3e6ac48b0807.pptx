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414" r:id="rId3"/>
    <p:sldId id="454" r:id="rId4"/>
    <p:sldId id="455" r:id="rId5"/>
    <p:sldId id="456" r:id="rId6"/>
    <p:sldId id="458" r:id="rId7"/>
    <p:sldId id="459" r:id="rId8"/>
    <p:sldId id="460" r:id="rId9"/>
    <p:sldId id="464" r:id="rId10"/>
    <p:sldId id="461" r:id="rId11"/>
    <p:sldId id="462" r:id="rId12"/>
    <p:sldId id="463" r:id="rId13"/>
    <p:sldId id="453" r:id="rId14"/>
    <p:sldId id="465" r:id="rId15"/>
    <p:sldId id="393" r:id="rId16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296" autoAdjust="0"/>
    <p:restoredTop sz="94249" autoAdjust="0"/>
  </p:normalViewPr>
  <p:slideViewPr>
    <p:cSldViewPr snapToGrid="0">
      <p:cViewPr varScale="1">
        <p:scale>
          <a:sx n="47" d="100"/>
          <a:sy n="47" d="100"/>
        </p:scale>
        <p:origin x="-90" y="-6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1AD2-7476-45B4-814A-98B053717553}" type="datetimeFigureOut">
              <a:rPr lang="zh-CN" altLang="en-US" smtClean="0"/>
              <a:pPr/>
              <a:t>2017/10/15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ED196-E9E0-4BA2-97A0-E51B0C3A5A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1EADA-3D95-48D2-89A7-07C72EA9446A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C89D3-DE2B-4AA4-9868-4C7F014F7BA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47623-ACCE-456A-8C66-43C9A387D908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4F4AB-130B-495A-9AF9-6A07DC9008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2126F-8713-47A1-A13C-7B2F4F7A15DF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5AF231-9D62-40D2-A1D5-0CF9E7FE9E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B2824-4A57-4DBC-B978-C06B332D1916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09AD2-B321-4804-8A0D-47B8447B85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16BF5-EB64-4B0B-9CAE-AD65C8D7E231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DF820-5E9F-44C2-B5DB-D5F6705076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D9AE7-FE82-44FE-A373-FF6A95FFC760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59BB9-DD9C-4273-9461-0DC941E05E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0197D-47BA-44E5-B844-814C5892609A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19AA4-51DB-47C7-8B7D-995F981660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5B22D-E6AC-4BF4-AD0D-FBB5464C39ED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2168E-CF0A-45EE-9C08-AD977B2F81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91A09-51D1-412B-A45E-EDBA5CF1DEA4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363D9-74C4-4539-B22F-C1B8A9AC22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22FA8-E42C-49BC-8AD4-3B7704EA5E87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9C6C4-6EB4-4256-9C82-5DC44E4105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D6AC6-C2AA-4616-BB04-0E06F71995C8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0F57A-E9CA-492A-952A-099AE0B37D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4D572CB-A546-489E-9812-17AAFBEE1A45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274A94E-6597-4439-BF7C-72D6837151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225" y="663575"/>
            <a:ext cx="7042831" cy="936625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 anchor="t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CN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13.2  </a:t>
            </a:r>
            <a:r>
              <a:rPr lang="zh-CN" altLang="en-US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时序逻辑电路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7656" y="1804602"/>
            <a:ext cx="6281058" cy="53975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、时序逻辑电路的分析方法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989729" y="2494938"/>
            <a:ext cx="2516958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、寄存器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957070" y="3169853"/>
            <a:ext cx="2527844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、计数器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520155" y="274253"/>
            <a:ext cx="2527844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、计数器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807131" y="2909435"/>
            <a:ext cx="34163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计数器分为两大类：</a:t>
            </a: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4047218" y="3484110"/>
            <a:ext cx="24160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●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同步计数器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4047218" y="3988935"/>
            <a:ext cx="24160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●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异步计数器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53143" y="1134610"/>
            <a:ext cx="7315200" cy="1717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计数器是计算机及各种数字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逻辑系统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的基本部件之一，它能累计输入脉冲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数目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或根据控制脉冲节奏进行加减法计数。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  <p:bldP spid="1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6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4029" y="1701119"/>
            <a:ext cx="7458054" cy="2664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547461" y="175759"/>
            <a:ext cx="377416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i="0" dirty="0" smtClean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1).  </a:t>
            </a:r>
            <a:r>
              <a:rPr lang="zh-CN" altLang="en-US" sz="3200" i="0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二进制计数器</a:t>
            </a: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1334408" y="776740"/>
            <a:ext cx="558678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异步二进制加法计数器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（四位）</a:t>
            </a:r>
          </a:p>
        </p:txBody>
      </p:sp>
      <p:grpSp>
        <p:nvGrpSpPr>
          <p:cNvPr id="12" name="Group 17"/>
          <p:cNvGrpSpPr>
            <a:grpSpLocks/>
          </p:cNvGrpSpPr>
          <p:nvPr/>
        </p:nvGrpSpPr>
        <p:grpSpPr bwMode="auto">
          <a:xfrm>
            <a:off x="2351995" y="1312868"/>
            <a:ext cx="4181475" cy="484189"/>
            <a:chOff x="1077" y="995"/>
            <a:chExt cx="2634" cy="305"/>
          </a:xfrm>
        </p:grpSpPr>
        <p:sp>
          <p:nvSpPr>
            <p:cNvPr id="13" name="Rectangle 18"/>
            <p:cNvSpPr>
              <a:spLocks noChangeArrowheads="1"/>
            </p:cNvSpPr>
            <p:nvPr/>
          </p:nvSpPr>
          <p:spPr bwMode="auto">
            <a:xfrm>
              <a:off x="1077" y="995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4" name="Rectangle 19"/>
            <p:cNvSpPr>
              <a:spLocks noChangeArrowheads="1"/>
            </p:cNvSpPr>
            <p:nvPr/>
          </p:nvSpPr>
          <p:spPr bwMode="auto">
            <a:xfrm>
              <a:off x="1920" y="995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5" name="Rectangle 20"/>
            <p:cNvSpPr>
              <a:spLocks noChangeArrowheads="1"/>
            </p:cNvSpPr>
            <p:nvPr/>
          </p:nvSpPr>
          <p:spPr bwMode="auto">
            <a:xfrm>
              <a:off x="3498" y="1009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6" name="Rectangle 21"/>
            <p:cNvSpPr>
              <a:spLocks noChangeArrowheads="1"/>
            </p:cNvSpPr>
            <p:nvPr/>
          </p:nvSpPr>
          <p:spPr bwMode="auto">
            <a:xfrm>
              <a:off x="2702" y="1002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8" name="Group 23"/>
          <p:cNvGrpSpPr>
            <a:grpSpLocks/>
          </p:cNvGrpSpPr>
          <p:nvPr/>
        </p:nvGrpSpPr>
        <p:grpSpPr bwMode="auto">
          <a:xfrm>
            <a:off x="1905908" y="1617663"/>
            <a:ext cx="4638675" cy="495300"/>
            <a:chOff x="796" y="995"/>
            <a:chExt cx="2922" cy="312"/>
          </a:xfrm>
        </p:grpSpPr>
        <p:sp>
          <p:nvSpPr>
            <p:cNvPr id="19" name="Rectangle 24"/>
            <p:cNvSpPr>
              <a:spLocks noChangeArrowheads="1"/>
            </p:cNvSpPr>
            <p:nvPr/>
          </p:nvSpPr>
          <p:spPr bwMode="auto">
            <a:xfrm>
              <a:off x="796" y="995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" name="Rectangle 25"/>
            <p:cNvSpPr>
              <a:spLocks noChangeArrowheads="1"/>
            </p:cNvSpPr>
            <p:nvPr/>
          </p:nvSpPr>
          <p:spPr bwMode="auto">
            <a:xfrm>
              <a:off x="1920" y="995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Rectangle 26"/>
            <p:cNvSpPr>
              <a:spLocks noChangeArrowheads="1"/>
            </p:cNvSpPr>
            <p:nvPr/>
          </p:nvSpPr>
          <p:spPr bwMode="auto">
            <a:xfrm>
              <a:off x="3505" y="1016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2" name="Rectangle 27"/>
            <p:cNvSpPr>
              <a:spLocks noChangeArrowheads="1"/>
            </p:cNvSpPr>
            <p:nvPr/>
          </p:nvSpPr>
          <p:spPr bwMode="auto">
            <a:xfrm>
              <a:off x="3100" y="995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25" name="Rectangle 30"/>
          <p:cNvSpPr>
            <a:spLocks noChangeArrowheads="1"/>
          </p:cNvSpPr>
          <p:nvPr/>
        </p:nvSpPr>
        <p:spPr bwMode="auto">
          <a:xfrm>
            <a:off x="6216651" y="1955119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7" name="Rectangle 32"/>
          <p:cNvSpPr>
            <a:spLocks noChangeArrowheads="1"/>
          </p:cNvSpPr>
          <p:nvPr/>
        </p:nvSpPr>
        <p:spPr bwMode="auto">
          <a:xfrm>
            <a:off x="4921250" y="1944233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29" name="Rectangle 34"/>
          <p:cNvSpPr>
            <a:spLocks noChangeArrowheads="1"/>
          </p:cNvSpPr>
          <p:nvPr/>
        </p:nvSpPr>
        <p:spPr bwMode="auto">
          <a:xfrm>
            <a:off x="6194879" y="2227262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1" name="Rectangle 36"/>
          <p:cNvSpPr>
            <a:spLocks noChangeArrowheads="1"/>
          </p:cNvSpPr>
          <p:nvPr/>
        </p:nvSpPr>
        <p:spPr bwMode="auto">
          <a:xfrm>
            <a:off x="6216651" y="2510291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3" name="Rectangle 38"/>
          <p:cNvSpPr>
            <a:spLocks noChangeArrowheads="1"/>
          </p:cNvSpPr>
          <p:nvPr/>
        </p:nvSpPr>
        <p:spPr bwMode="auto">
          <a:xfrm>
            <a:off x="4932136" y="2510290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5" name="Rectangle 40"/>
          <p:cNvSpPr>
            <a:spLocks noChangeArrowheads="1"/>
          </p:cNvSpPr>
          <p:nvPr/>
        </p:nvSpPr>
        <p:spPr bwMode="auto">
          <a:xfrm>
            <a:off x="3690258" y="2532062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6" name="Rectangle 41"/>
          <p:cNvSpPr>
            <a:spLocks noChangeArrowheads="1"/>
          </p:cNvSpPr>
          <p:nvPr/>
        </p:nvSpPr>
        <p:spPr bwMode="auto">
          <a:xfrm>
            <a:off x="2308680" y="2227262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7" name="Rectangle 42"/>
          <p:cNvSpPr>
            <a:spLocks noChangeArrowheads="1"/>
          </p:cNvSpPr>
          <p:nvPr/>
        </p:nvSpPr>
        <p:spPr bwMode="auto">
          <a:xfrm>
            <a:off x="3690258" y="2227262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grpSp>
        <p:nvGrpSpPr>
          <p:cNvPr id="38" name="Group 43"/>
          <p:cNvGrpSpPr>
            <a:grpSpLocks/>
          </p:cNvGrpSpPr>
          <p:nvPr/>
        </p:nvGrpSpPr>
        <p:grpSpPr bwMode="auto">
          <a:xfrm>
            <a:off x="2340883" y="1617666"/>
            <a:ext cx="5235575" cy="504826"/>
            <a:chOff x="1070" y="995"/>
            <a:chExt cx="3298" cy="318"/>
          </a:xfrm>
        </p:grpSpPr>
        <p:sp>
          <p:nvSpPr>
            <p:cNvPr id="39" name="Rectangle 44"/>
            <p:cNvSpPr>
              <a:spLocks noChangeArrowheads="1"/>
            </p:cNvSpPr>
            <p:nvPr/>
          </p:nvSpPr>
          <p:spPr bwMode="auto">
            <a:xfrm>
              <a:off x="1070" y="1002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0" name="Rectangle 45"/>
            <p:cNvSpPr>
              <a:spLocks noChangeArrowheads="1"/>
            </p:cNvSpPr>
            <p:nvPr/>
          </p:nvSpPr>
          <p:spPr bwMode="auto">
            <a:xfrm>
              <a:off x="1920" y="995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4252" y="995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Rectangle 47"/>
            <p:cNvSpPr>
              <a:spLocks noChangeArrowheads="1"/>
            </p:cNvSpPr>
            <p:nvPr/>
          </p:nvSpPr>
          <p:spPr bwMode="auto">
            <a:xfrm>
              <a:off x="2689" y="1022"/>
              <a:ext cx="21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43" name="Rectangle 48"/>
          <p:cNvSpPr>
            <a:spLocks noChangeArrowheads="1"/>
          </p:cNvSpPr>
          <p:nvPr/>
        </p:nvSpPr>
        <p:spPr bwMode="auto">
          <a:xfrm>
            <a:off x="2297793" y="2542948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44" name="Rectangle 49"/>
          <p:cNvSpPr>
            <a:spLocks noChangeArrowheads="1"/>
          </p:cNvSpPr>
          <p:nvPr/>
        </p:nvSpPr>
        <p:spPr bwMode="auto">
          <a:xfrm>
            <a:off x="4932137" y="2238148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45" name="Rectangle 50"/>
          <p:cNvSpPr>
            <a:spLocks noChangeArrowheads="1"/>
          </p:cNvSpPr>
          <p:nvPr/>
        </p:nvSpPr>
        <p:spPr bwMode="auto">
          <a:xfrm>
            <a:off x="2319565" y="1922462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46" name="Rectangle 51"/>
          <p:cNvSpPr>
            <a:spLocks noChangeArrowheads="1"/>
          </p:cNvSpPr>
          <p:nvPr/>
        </p:nvSpPr>
        <p:spPr bwMode="auto">
          <a:xfrm>
            <a:off x="3690258" y="1922462"/>
            <a:ext cx="3385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48" name="矩形 47"/>
          <p:cNvSpPr/>
          <p:nvPr/>
        </p:nvSpPr>
        <p:spPr>
          <a:xfrm>
            <a:off x="7434943" y="3897086"/>
            <a:ext cx="500743" cy="239485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7402286" y="3211285"/>
            <a:ext cx="566057" cy="228601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/>
        </p:nvGrpSpPr>
        <p:grpSpPr>
          <a:xfrm>
            <a:off x="7427461" y="3933826"/>
            <a:ext cx="461962" cy="142875"/>
            <a:chOff x="8510588" y="2857500"/>
            <a:chExt cx="461962" cy="142875"/>
          </a:xfrm>
        </p:grpSpPr>
        <p:cxnSp>
          <p:nvCxnSpPr>
            <p:cNvPr id="51" name="直接连接符 50"/>
            <p:cNvCxnSpPr/>
            <p:nvPr/>
          </p:nvCxnSpPr>
          <p:spPr>
            <a:xfrm>
              <a:off x="8510588" y="2857500"/>
              <a:ext cx="138112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rot="5400000">
              <a:off x="8582819" y="2929732"/>
              <a:ext cx="133350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8648700" y="3000375"/>
              <a:ext cx="1619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rot="16200000" flipV="1">
              <a:off x="8736807" y="2931319"/>
              <a:ext cx="138112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8805863" y="2862263"/>
              <a:ext cx="166687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79"/>
          <p:cNvGrpSpPr/>
          <p:nvPr/>
        </p:nvGrpSpPr>
        <p:grpSpPr>
          <a:xfrm>
            <a:off x="7372688" y="3107084"/>
            <a:ext cx="461962" cy="338138"/>
            <a:chOff x="7348538" y="4132724"/>
            <a:chExt cx="461962" cy="338138"/>
          </a:xfrm>
        </p:grpSpPr>
        <p:grpSp>
          <p:nvGrpSpPr>
            <p:cNvPr id="81" name="组合 675"/>
            <p:cNvGrpSpPr/>
            <p:nvPr/>
          </p:nvGrpSpPr>
          <p:grpSpPr>
            <a:xfrm flipV="1">
              <a:off x="7348538" y="4186024"/>
              <a:ext cx="461962" cy="226098"/>
              <a:chOff x="8510588" y="2859088"/>
              <a:chExt cx="461962" cy="142875"/>
            </a:xfrm>
          </p:grpSpPr>
          <p:cxnSp>
            <p:nvCxnSpPr>
              <p:cNvPr id="83" name="直接连接符 82"/>
              <p:cNvCxnSpPr/>
              <p:nvPr/>
            </p:nvCxnSpPr>
            <p:spPr>
              <a:xfrm>
                <a:off x="8510588" y="2859088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>
                <a:off x="8648700" y="3001963"/>
                <a:ext cx="161925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8805863" y="2863851"/>
                <a:ext cx="166687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" name="Rectangle 146"/>
            <p:cNvSpPr>
              <a:spLocks noChangeArrowheads="1"/>
            </p:cNvSpPr>
            <p:nvPr/>
          </p:nvSpPr>
          <p:spPr bwMode="auto">
            <a:xfrm>
              <a:off x="7424057" y="4132724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7723074" y="3091434"/>
            <a:ext cx="461962" cy="338138"/>
            <a:chOff x="7348538" y="4127960"/>
            <a:chExt cx="461962" cy="338138"/>
          </a:xfrm>
        </p:grpSpPr>
        <p:grpSp>
          <p:nvGrpSpPr>
            <p:cNvPr id="113" name="组合 707"/>
            <p:cNvGrpSpPr/>
            <p:nvPr/>
          </p:nvGrpSpPr>
          <p:grpSpPr>
            <a:xfrm flipV="1">
              <a:off x="7348538" y="4186023"/>
              <a:ext cx="461962" cy="226098"/>
              <a:chOff x="8510588" y="2859088"/>
              <a:chExt cx="461962" cy="142875"/>
            </a:xfrm>
          </p:grpSpPr>
          <p:cxnSp>
            <p:nvCxnSpPr>
              <p:cNvPr id="115" name="直接连接符 114"/>
              <p:cNvCxnSpPr/>
              <p:nvPr/>
            </p:nvCxnSpPr>
            <p:spPr>
              <a:xfrm>
                <a:off x="8510588" y="2859088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/>
              <p:cNvCxnSpPr/>
              <p:nvPr/>
            </p:nvCxnSpPr>
            <p:spPr>
              <a:xfrm>
                <a:off x="8648700" y="3001963"/>
                <a:ext cx="161925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/>
              <p:nvPr/>
            </p:nvCxnSpPr>
            <p:spPr>
              <a:xfrm>
                <a:off x="8805863" y="2863851"/>
                <a:ext cx="166687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4" name="Rectangle 146"/>
            <p:cNvSpPr>
              <a:spLocks noChangeArrowheads="1"/>
            </p:cNvSpPr>
            <p:nvPr/>
          </p:nvSpPr>
          <p:spPr bwMode="auto">
            <a:xfrm>
              <a:off x="7419294" y="4127960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8071756" y="3084275"/>
            <a:ext cx="461962" cy="338138"/>
            <a:chOff x="7348538" y="4127944"/>
            <a:chExt cx="461962" cy="338138"/>
          </a:xfrm>
        </p:grpSpPr>
        <p:grpSp>
          <p:nvGrpSpPr>
            <p:cNvPr id="145" name="组合 739"/>
            <p:cNvGrpSpPr/>
            <p:nvPr/>
          </p:nvGrpSpPr>
          <p:grpSpPr>
            <a:xfrm flipV="1">
              <a:off x="7348538" y="4186022"/>
              <a:ext cx="461962" cy="226098"/>
              <a:chOff x="8510588" y="2859088"/>
              <a:chExt cx="461962" cy="142875"/>
            </a:xfrm>
          </p:grpSpPr>
          <p:cxnSp>
            <p:nvCxnSpPr>
              <p:cNvPr id="147" name="直接连接符 146"/>
              <p:cNvCxnSpPr/>
              <p:nvPr/>
            </p:nvCxnSpPr>
            <p:spPr>
              <a:xfrm>
                <a:off x="8510588" y="2859088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>
                <a:off x="8648700" y="3001963"/>
                <a:ext cx="161925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>
                <a:off x="8805863" y="2863851"/>
                <a:ext cx="166687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6" name="Rectangle 146"/>
            <p:cNvSpPr>
              <a:spLocks noChangeArrowheads="1"/>
            </p:cNvSpPr>
            <p:nvPr/>
          </p:nvSpPr>
          <p:spPr bwMode="auto">
            <a:xfrm>
              <a:off x="7428819" y="4127944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76" name="组合 175"/>
          <p:cNvGrpSpPr/>
          <p:nvPr/>
        </p:nvGrpSpPr>
        <p:grpSpPr>
          <a:xfrm>
            <a:off x="8398668" y="3084293"/>
            <a:ext cx="461962" cy="338138"/>
            <a:chOff x="7348538" y="4132724"/>
            <a:chExt cx="461962" cy="338138"/>
          </a:xfrm>
        </p:grpSpPr>
        <p:grpSp>
          <p:nvGrpSpPr>
            <p:cNvPr id="177" name="组合 771"/>
            <p:cNvGrpSpPr/>
            <p:nvPr/>
          </p:nvGrpSpPr>
          <p:grpSpPr>
            <a:xfrm flipV="1">
              <a:off x="7348538" y="4186021"/>
              <a:ext cx="461962" cy="226098"/>
              <a:chOff x="8510588" y="2859088"/>
              <a:chExt cx="461962" cy="142875"/>
            </a:xfrm>
          </p:grpSpPr>
          <p:cxnSp>
            <p:nvCxnSpPr>
              <p:cNvPr id="179" name="直接连接符 178"/>
              <p:cNvCxnSpPr/>
              <p:nvPr/>
            </p:nvCxnSpPr>
            <p:spPr>
              <a:xfrm>
                <a:off x="8510588" y="2859088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>
                <a:off x="8648700" y="3001963"/>
                <a:ext cx="161925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>
                <a:off x="8805863" y="2863851"/>
                <a:ext cx="166687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8" name="Rectangle 146"/>
            <p:cNvSpPr>
              <a:spLocks noChangeArrowheads="1"/>
            </p:cNvSpPr>
            <p:nvPr/>
          </p:nvSpPr>
          <p:spPr bwMode="auto">
            <a:xfrm>
              <a:off x="7409769" y="4132724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4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93" name="组合 675"/>
          <p:cNvGrpSpPr/>
          <p:nvPr/>
        </p:nvGrpSpPr>
        <p:grpSpPr>
          <a:xfrm flipV="1">
            <a:off x="4716576" y="3570525"/>
            <a:ext cx="356168" cy="163823"/>
            <a:chOff x="8510588" y="2859088"/>
            <a:chExt cx="461962" cy="142878"/>
          </a:xfrm>
        </p:grpSpPr>
        <p:cxnSp>
          <p:nvCxnSpPr>
            <p:cNvPr id="195" name="直接连接符 194"/>
            <p:cNvCxnSpPr/>
            <p:nvPr/>
          </p:nvCxnSpPr>
          <p:spPr>
            <a:xfrm>
              <a:off x="8510588" y="2859088"/>
              <a:ext cx="138112" cy="0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/>
            <p:cNvCxnSpPr/>
            <p:nvPr/>
          </p:nvCxnSpPr>
          <p:spPr>
            <a:xfrm rot="5400000">
              <a:off x="8582025" y="2928938"/>
              <a:ext cx="133350" cy="1588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>
              <a:off x="8648700" y="3001966"/>
              <a:ext cx="161926" cy="0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/>
            <p:cNvCxnSpPr/>
            <p:nvPr/>
          </p:nvCxnSpPr>
          <p:spPr>
            <a:xfrm rot="16200000" flipV="1">
              <a:off x="8736807" y="2931319"/>
              <a:ext cx="138112" cy="0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/>
            <p:cNvCxnSpPr/>
            <p:nvPr/>
          </p:nvCxnSpPr>
          <p:spPr>
            <a:xfrm>
              <a:off x="8805863" y="2863851"/>
              <a:ext cx="166687" cy="0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0" name="组合 675"/>
          <p:cNvGrpSpPr/>
          <p:nvPr/>
        </p:nvGrpSpPr>
        <p:grpSpPr>
          <a:xfrm flipV="1">
            <a:off x="6055519" y="3450776"/>
            <a:ext cx="356168" cy="163820"/>
            <a:chOff x="8510588" y="2859088"/>
            <a:chExt cx="461962" cy="142875"/>
          </a:xfrm>
        </p:grpSpPr>
        <p:cxnSp>
          <p:nvCxnSpPr>
            <p:cNvPr id="201" name="直接连接符 200"/>
            <p:cNvCxnSpPr/>
            <p:nvPr/>
          </p:nvCxnSpPr>
          <p:spPr>
            <a:xfrm>
              <a:off x="8510588" y="2859088"/>
              <a:ext cx="138112" cy="0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 rot="5400000">
              <a:off x="8582025" y="2928938"/>
              <a:ext cx="133350" cy="1588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/>
          </p:nvCxnSpPr>
          <p:spPr>
            <a:xfrm>
              <a:off x="8648700" y="3001963"/>
              <a:ext cx="161926" cy="0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 rot="16200000" flipV="1">
              <a:off x="8736807" y="2931319"/>
              <a:ext cx="138112" cy="0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/>
            <p:cNvCxnSpPr/>
            <p:nvPr/>
          </p:nvCxnSpPr>
          <p:spPr>
            <a:xfrm>
              <a:off x="8805863" y="2863851"/>
              <a:ext cx="166687" cy="0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6" name="组合 675"/>
          <p:cNvGrpSpPr/>
          <p:nvPr/>
        </p:nvGrpSpPr>
        <p:grpSpPr>
          <a:xfrm flipV="1">
            <a:off x="6351475" y="3446019"/>
            <a:ext cx="356168" cy="163823"/>
            <a:chOff x="8510588" y="2859088"/>
            <a:chExt cx="461962" cy="142878"/>
          </a:xfrm>
        </p:grpSpPr>
        <p:cxnSp>
          <p:nvCxnSpPr>
            <p:cNvPr id="207" name="直接连接符 206"/>
            <p:cNvCxnSpPr/>
            <p:nvPr/>
          </p:nvCxnSpPr>
          <p:spPr>
            <a:xfrm>
              <a:off x="8510588" y="2859088"/>
              <a:ext cx="138112" cy="0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rot="5400000">
              <a:off x="8582025" y="2928938"/>
              <a:ext cx="133350" cy="1588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>
              <a:off x="8648700" y="3001966"/>
              <a:ext cx="161926" cy="0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 rot="16200000" flipV="1">
              <a:off x="8736807" y="2931319"/>
              <a:ext cx="138112" cy="0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8805863" y="2863854"/>
              <a:ext cx="166687" cy="0"/>
            </a:xfrm>
            <a:prstGeom prst="line">
              <a:avLst/>
            </a:prstGeom>
            <a:ln w="28575">
              <a:solidFill>
                <a:srgbClr val="0070C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autoUpdateAnimBg="0"/>
      <p:bldP spid="25" grpId="0"/>
      <p:bldP spid="27" grpId="0" autoUpdateAnimBg="0"/>
      <p:bldP spid="29" grpId="0" autoUpdateAnimBg="0"/>
      <p:bldP spid="31" grpId="0" autoUpdateAnimBg="0"/>
      <p:bldP spid="33" grpId="0" autoUpdateAnimBg="0"/>
      <p:bldP spid="35" grpId="0" autoUpdateAnimBg="0"/>
      <p:bldP spid="36" grpId="0"/>
      <p:bldP spid="37" grpId="0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637041" y="195942"/>
            <a:ext cx="346761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计数工作波形图：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312964" y="3856038"/>
            <a:ext cx="8395608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特点</a:t>
            </a:r>
            <a:r>
              <a:rPr lang="zh-CN" altLang="en-US" sz="28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：</a:t>
            </a:r>
            <a:endParaRPr lang="en-US" altLang="zh-CN" sz="2800" b="1" i="0" dirty="0" smtClean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结构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简单，但各触发信号逐级传递，计数速度慢。</a:t>
            </a:r>
          </a:p>
        </p:txBody>
      </p: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664028" y="922338"/>
            <a:ext cx="8153400" cy="369887"/>
            <a:chOff x="432" y="1017"/>
            <a:chExt cx="5136" cy="233"/>
          </a:xfrm>
        </p:grpSpPr>
        <p:sp>
          <p:nvSpPr>
            <p:cNvPr id="5" name="Freeform 10"/>
            <p:cNvSpPr>
              <a:spLocks/>
            </p:cNvSpPr>
            <p:nvPr/>
          </p:nvSpPr>
          <p:spPr bwMode="auto">
            <a:xfrm>
              <a:off x="432" y="1032"/>
              <a:ext cx="5040" cy="168"/>
            </a:xfrm>
            <a:custGeom>
              <a:avLst/>
              <a:gdLst>
                <a:gd name="T0" fmla="*/ 168 w 5040"/>
                <a:gd name="T1" fmla="*/ 144 h 168"/>
                <a:gd name="T2" fmla="*/ 318 w 5040"/>
                <a:gd name="T3" fmla="*/ 6 h 168"/>
                <a:gd name="T4" fmla="*/ 474 w 5040"/>
                <a:gd name="T5" fmla="*/ 150 h 168"/>
                <a:gd name="T6" fmla="*/ 624 w 5040"/>
                <a:gd name="T7" fmla="*/ 6 h 168"/>
                <a:gd name="T8" fmla="*/ 786 w 5040"/>
                <a:gd name="T9" fmla="*/ 150 h 168"/>
                <a:gd name="T10" fmla="*/ 936 w 5040"/>
                <a:gd name="T11" fmla="*/ 6 h 168"/>
                <a:gd name="T12" fmla="*/ 1066 w 5040"/>
                <a:gd name="T13" fmla="*/ 151 h 168"/>
                <a:gd name="T14" fmla="*/ 1200 w 5040"/>
                <a:gd name="T15" fmla="*/ 12 h 168"/>
                <a:gd name="T16" fmla="*/ 1326 w 5040"/>
                <a:gd name="T17" fmla="*/ 150 h 168"/>
                <a:gd name="T18" fmla="*/ 1458 w 5040"/>
                <a:gd name="T19" fmla="*/ 12 h 168"/>
                <a:gd name="T20" fmla="*/ 1596 w 5040"/>
                <a:gd name="T21" fmla="*/ 150 h 168"/>
                <a:gd name="T22" fmla="*/ 1728 w 5040"/>
                <a:gd name="T23" fmla="*/ 18 h 168"/>
                <a:gd name="T24" fmla="*/ 1872 w 5040"/>
                <a:gd name="T25" fmla="*/ 156 h 168"/>
                <a:gd name="T26" fmla="*/ 2022 w 5040"/>
                <a:gd name="T27" fmla="*/ 18 h 168"/>
                <a:gd name="T28" fmla="*/ 2172 w 5040"/>
                <a:gd name="T29" fmla="*/ 150 h 168"/>
                <a:gd name="T30" fmla="*/ 2316 w 5040"/>
                <a:gd name="T31" fmla="*/ 12 h 168"/>
                <a:gd name="T32" fmla="*/ 2472 w 5040"/>
                <a:gd name="T33" fmla="*/ 150 h 168"/>
                <a:gd name="T34" fmla="*/ 2622 w 5040"/>
                <a:gd name="T35" fmla="*/ 12 h 168"/>
                <a:gd name="T36" fmla="*/ 2772 w 5040"/>
                <a:gd name="T37" fmla="*/ 144 h 168"/>
                <a:gd name="T38" fmla="*/ 2928 w 5040"/>
                <a:gd name="T39" fmla="*/ 18 h 168"/>
                <a:gd name="T40" fmla="*/ 3084 w 5040"/>
                <a:gd name="T41" fmla="*/ 156 h 168"/>
                <a:gd name="T42" fmla="*/ 3246 w 5040"/>
                <a:gd name="T43" fmla="*/ 18 h 168"/>
                <a:gd name="T44" fmla="*/ 3408 w 5040"/>
                <a:gd name="T45" fmla="*/ 150 h 168"/>
                <a:gd name="T46" fmla="*/ 3582 w 5040"/>
                <a:gd name="T47" fmla="*/ 18 h 168"/>
                <a:gd name="T48" fmla="*/ 3750 w 5040"/>
                <a:gd name="T49" fmla="*/ 156 h 168"/>
                <a:gd name="T50" fmla="*/ 3924 w 5040"/>
                <a:gd name="T51" fmla="*/ 24 h 168"/>
                <a:gd name="T52" fmla="*/ 4080 w 5040"/>
                <a:gd name="T53" fmla="*/ 168 h 168"/>
                <a:gd name="T54" fmla="*/ 4248 w 5040"/>
                <a:gd name="T55" fmla="*/ 30 h 168"/>
                <a:gd name="T56" fmla="*/ 4398 w 5040"/>
                <a:gd name="T57" fmla="*/ 162 h 168"/>
                <a:gd name="T58" fmla="*/ 4560 w 5040"/>
                <a:gd name="T59" fmla="*/ 24 h 168"/>
                <a:gd name="T60" fmla="*/ 4710 w 5040"/>
                <a:gd name="T61" fmla="*/ 156 h 168"/>
                <a:gd name="T62" fmla="*/ 4866 w 5040"/>
                <a:gd name="T63" fmla="*/ 24 h 168"/>
                <a:gd name="T64" fmla="*/ 5040 w 5040"/>
                <a:gd name="T65" fmla="*/ 157 h 16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040"/>
                <a:gd name="T100" fmla="*/ 0 h 168"/>
                <a:gd name="T101" fmla="*/ 5040 w 5040"/>
                <a:gd name="T102" fmla="*/ 168 h 16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040" h="168">
                  <a:moveTo>
                    <a:pt x="0" y="144"/>
                  </a:moveTo>
                  <a:lnTo>
                    <a:pt x="168" y="144"/>
                  </a:lnTo>
                  <a:lnTo>
                    <a:pt x="168" y="6"/>
                  </a:lnTo>
                  <a:lnTo>
                    <a:pt x="318" y="6"/>
                  </a:lnTo>
                  <a:lnTo>
                    <a:pt x="318" y="150"/>
                  </a:lnTo>
                  <a:lnTo>
                    <a:pt x="474" y="150"/>
                  </a:lnTo>
                  <a:lnTo>
                    <a:pt x="474" y="6"/>
                  </a:lnTo>
                  <a:lnTo>
                    <a:pt x="624" y="6"/>
                  </a:lnTo>
                  <a:lnTo>
                    <a:pt x="624" y="150"/>
                  </a:lnTo>
                  <a:lnTo>
                    <a:pt x="786" y="150"/>
                  </a:lnTo>
                  <a:lnTo>
                    <a:pt x="786" y="0"/>
                  </a:lnTo>
                  <a:lnTo>
                    <a:pt x="936" y="6"/>
                  </a:lnTo>
                  <a:lnTo>
                    <a:pt x="936" y="150"/>
                  </a:lnTo>
                  <a:lnTo>
                    <a:pt x="1066" y="151"/>
                  </a:lnTo>
                  <a:lnTo>
                    <a:pt x="1066" y="6"/>
                  </a:lnTo>
                  <a:lnTo>
                    <a:pt x="1200" y="12"/>
                  </a:lnTo>
                  <a:lnTo>
                    <a:pt x="1200" y="150"/>
                  </a:lnTo>
                  <a:lnTo>
                    <a:pt x="1326" y="150"/>
                  </a:lnTo>
                  <a:lnTo>
                    <a:pt x="1326" y="12"/>
                  </a:lnTo>
                  <a:lnTo>
                    <a:pt x="1458" y="12"/>
                  </a:lnTo>
                  <a:lnTo>
                    <a:pt x="1458" y="150"/>
                  </a:lnTo>
                  <a:lnTo>
                    <a:pt x="1596" y="150"/>
                  </a:lnTo>
                  <a:lnTo>
                    <a:pt x="1596" y="18"/>
                  </a:lnTo>
                  <a:lnTo>
                    <a:pt x="1728" y="18"/>
                  </a:lnTo>
                  <a:lnTo>
                    <a:pt x="1728" y="156"/>
                  </a:lnTo>
                  <a:lnTo>
                    <a:pt x="1872" y="156"/>
                  </a:lnTo>
                  <a:lnTo>
                    <a:pt x="1872" y="18"/>
                  </a:lnTo>
                  <a:lnTo>
                    <a:pt x="2022" y="18"/>
                  </a:lnTo>
                  <a:lnTo>
                    <a:pt x="2022" y="150"/>
                  </a:lnTo>
                  <a:lnTo>
                    <a:pt x="2172" y="150"/>
                  </a:lnTo>
                  <a:lnTo>
                    <a:pt x="2172" y="12"/>
                  </a:lnTo>
                  <a:lnTo>
                    <a:pt x="2316" y="12"/>
                  </a:lnTo>
                  <a:lnTo>
                    <a:pt x="2316" y="150"/>
                  </a:lnTo>
                  <a:lnTo>
                    <a:pt x="2472" y="150"/>
                  </a:lnTo>
                  <a:lnTo>
                    <a:pt x="2472" y="12"/>
                  </a:lnTo>
                  <a:lnTo>
                    <a:pt x="2622" y="12"/>
                  </a:lnTo>
                  <a:lnTo>
                    <a:pt x="2622" y="150"/>
                  </a:lnTo>
                  <a:lnTo>
                    <a:pt x="2772" y="144"/>
                  </a:lnTo>
                  <a:lnTo>
                    <a:pt x="2772" y="18"/>
                  </a:lnTo>
                  <a:lnTo>
                    <a:pt x="2928" y="18"/>
                  </a:lnTo>
                  <a:lnTo>
                    <a:pt x="2928" y="156"/>
                  </a:lnTo>
                  <a:lnTo>
                    <a:pt x="3084" y="156"/>
                  </a:lnTo>
                  <a:lnTo>
                    <a:pt x="3084" y="18"/>
                  </a:lnTo>
                  <a:lnTo>
                    <a:pt x="3246" y="18"/>
                  </a:lnTo>
                  <a:lnTo>
                    <a:pt x="3246" y="156"/>
                  </a:lnTo>
                  <a:lnTo>
                    <a:pt x="3408" y="150"/>
                  </a:lnTo>
                  <a:lnTo>
                    <a:pt x="3408" y="18"/>
                  </a:lnTo>
                  <a:lnTo>
                    <a:pt x="3582" y="18"/>
                  </a:lnTo>
                  <a:lnTo>
                    <a:pt x="3582" y="156"/>
                  </a:lnTo>
                  <a:lnTo>
                    <a:pt x="3750" y="156"/>
                  </a:lnTo>
                  <a:lnTo>
                    <a:pt x="3750" y="24"/>
                  </a:lnTo>
                  <a:lnTo>
                    <a:pt x="3924" y="24"/>
                  </a:lnTo>
                  <a:lnTo>
                    <a:pt x="3924" y="162"/>
                  </a:lnTo>
                  <a:lnTo>
                    <a:pt x="4080" y="168"/>
                  </a:lnTo>
                  <a:lnTo>
                    <a:pt x="4080" y="30"/>
                  </a:lnTo>
                  <a:lnTo>
                    <a:pt x="4248" y="30"/>
                  </a:lnTo>
                  <a:lnTo>
                    <a:pt x="4248" y="162"/>
                  </a:lnTo>
                  <a:lnTo>
                    <a:pt x="4398" y="162"/>
                  </a:lnTo>
                  <a:lnTo>
                    <a:pt x="4398" y="24"/>
                  </a:lnTo>
                  <a:lnTo>
                    <a:pt x="4560" y="24"/>
                  </a:lnTo>
                  <a:lnTo>
                    <a:pt x="4560" y="162"/>
                  </a:lnTo>
                  <a:lnTo>
                    <a:pt x="4710" y="156"/>
                  </a:lnTo>
                  <a:lnTo>
                    <a:pt x="4710" y="24"/>
                  </a:lnTo>
                  <a:lnTo>
                    <a:pt x="4866" y="24"/>
                  </a:lnTo>
                  <a:lnTo>
                    <a:pt x="4866" y="162"/>
                  </a:lnTo>
                  <a:lnTo>
                    <a:pt x="5040" y="157"/>
                  </a:lnTo>
                </a:path>
              </a:pathLst>
            </a:custGeom>
            <a:noFill/>
            <a:ln w="38100" cap="flat" cmpd="sng">
              <a:solidFill>
                <a:srgbClr val="66CC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" name="Text Box 11"/>
            <p:cNvSpPr txBox="1">
              <a:spLocks noChangeArrowheads="1"/>
            </p:cNvSpPr>
            <p:nvPr/>
          </p:nvSpPr>
          <p:spPr bwMode="auto">
            <a:xfrm>
              <a:off x="576" y="1017"/>
              <a:ext cx="499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1      2       3      4     5     6       7      8      9     10     11     12      13     14     15    16</a:t>
              </a:r>
            </a:p>
          </p:txBody>
        </p:sp>
      </p:grpSp>
      <p:sp>
        <p:nvSpPr>
          <p:cNvPr id="7" name="Freeform 12"/>
          <p:cNvSpPr>
            <a:spLocks/>
          </p:cNvSpPr>
          <p:nvPr/>
        </p:nvSpPr>
        <p:spPr bwMode="auto">
          <a:xfrm>
            <a:off x="689428" y="1568450"/>
            <a:ext cx="7988300" cy="292100"/>
          </a:xfrm>
          <a:custGeom>
            <a:avLst/>
            <a:gdLst>
              <a:gd name="T0" fmla="*/ 0 w 5032"/>
              <a:gd name="T1" fmla="*/ 463708795 h 184"/>
              <a:gd name="T2" fmla="*/ 745966159 w 5032"/>
              <a:gd name="T3" fmla="*/ 463708795 h 184"/>
              <a:gd name="T4" fmla="*/ 745966159 w 5032"/>
              <a:gd name="T5" fmla="*/ 60483755 h 184"/>
              <a:gd name="T6" fmla="*/ 1532254802 w 5032"/>
              <a:gd name="T7" fmla="*/ 60483755 h 184"/>
              <a:gd name="T8" fmla="*/ 1532254802 w 5032"/>
              <a:gd name="T9" fmla="*/ 443547551 h 184"/>
              <a:gd name="T10" fmla="*/ 2147483647 w 5032"/>
              <a:gd name="T11" fmla="*/ 443547551 h 184"/>
              <a:gd name="T12" fmla="*/ 2147483647 w 5032"/>
              <a:gd name="T13" fmla="*/ 60483755 h 184"/>
              <a:gd name="T14" fmla="*/ 2147483647 w 5032"/>
              <a:gd name="T15" fmla="*/ 60483755 h 184"/>
              <a:gd name="T16" fmla="*/ 2147483647 w 5032"/>
              <a:gd name="T17" fmla="*/ 443547551 h 184"/>
              <a:gd name="T18" fmla="*/ 2147483647 w 5032"/>
              <a:gd name="T19" fmla="*/ 443547551 h 184"/>
              <a:gd name="T20" fmla="*/ 2147483647 w 5032"/>
              <a:gd name="T21" fmla="*/ 60483755 h 184"/>
              <a:gd name="T22" fmla="*/ 2147483647 w 5032"/>
              <a:gd name="T23" fmla="*/ 60483755 h 184"/>
              <a:gd name="T24" fmla="*/ 2147483647 w 5032"/>
              <a:gd name="T25" fmla="*/ 423386308 h 184"/>
              <a:gd name="T26" fmla="*/ 2147483647 w 5032"/>
              <a:gd name="T27" fmla="*/ 423386308 h 184"/>
              <a:gd name="T28" fmla="*/ 2147483647 w 5032"/>
              <a:gd name="T29" fmla="*/ 60483755 h 184"/>
              <a:gd name="T30" fmla="*/ 2147483647 w 5032"/>
              <a:gd name="T31" fmla="*/ 60483755 h 184"/>
              <a:gd name="T32" fmla="*/ 2147483647 w 5032"/>
              <a:gd name="T33" fmla="*/ 403224965 h 184"/>
              <a:gd name="T34" fmla="*/ 2147483647 w 5032"/>
              <a:gd name="T35" fmla="*/ 403224965 h 184"/>
              <a:gd name="T36" fmla="*/ 2147483647 w 5032"/>
              <a:gd name="T37" fmla="*/ 20161250 h 184"/>
              <a:gd name="T38" fmla="*/ 2147483647 w 5032"/>
              <a:gd name="T39" fmla="*/ 0 h 184"/>
              <a:gd name="T40" fmla="*/ 2147483647 w 5032"/>
              <a:gd name="T41" fmla="*/ 403224965 h 184"/>
              <a:gd name="T42" fmla="*/ 2147483647 w 5032"/>
              <a:gd name="T43" fmla="*/ 403224965 h 184"/>
              <a:gd name="T44" fmla="*/ 2147483647 w 5032"/>
              <a:gd name="T45" fmla="*/ 40322499 h 184"/>
              <a:gd name="T46" fmla="*/ 2147483647 w 5032"/>
              <a:gd name="T47" fmla="*/ 60483755 h 184"/>
              <a:gd name="T48" fmla="*/ 2147483647 w 5032"/>
              <a:gd name="T49" fmla="*/ 443547551 h 184"/>
              <a:gd name="T50" fmla="*/ 2147483647 w 5032"/>
              <a:gd name="T51" fmla="*/ 443547551 h 184"/>
              <a:gd name="T52" fmla="*/ 2147483647 w 5032"/>
              <a:gd name="T53" fmla="*/ 40322499 h 184"/>
              <a:gd name="T54" fmla="*/ 2147483647 w 5032"/>
              <a:gd name="T55" fmla="*/ 40322499 h 184"/>
              <a:gd name="T56" fmla="*/ 2147483647 w 5032"/>
              <a:gd name="T57" fmla="*/ 443547551 h 184"/>
              <a:gd name="T58" fmla="*/ 2147483647 w 5032"/>
              <a:gd name="T59" fmla="*/ 443547551 h 184"/>
              <a:gd name="T60" fmla="*/ 2147483647 w 5032"/>
              <a:gd name="T61" fmla="*/ 60483755 h 184"/>
              <a:gd name="T62" fmla="*/ 2147483647 w 5032"/>
              <a:gd name="T63" fmla="*/ 60483755 h 184"/>
              <a:gd name="T64" fmla="*/ 2147483647 w 5032"/>
              <a:gd name="T65" fmla="*/ 463708795 h 184"/>
              <a:gd name="T66" fmla="*/ 2147483647 w 5032"/>
              <a:gd name="T67" fmla="*/ 463708795 h 18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5032"/>
              <a:gd name="T103" fmla="*/ 0 h 184"/>
              <a:gd name="T104" fmla="*/ 5032 w 5032"/>
              <a:gd name="T105" fmla="*/ 184 h 18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5032" h="184">
                <a:moveTo>
                  <a:pt x="0" y="184"/>
                </a:moveTo>
                <a:lnTo>
                  <a:pt x="296" y="184"/>
                </a:lnTo>
                <a:lnTo>
                  <a:pt x="296" y="24"/>
                </a:lnTo>
                <a:lnTo>
                  <a:pt x="608" y="24"/>
                </a:lnTo>
                <a:lnTo>
                  <a:pt x="608" y="176"/>
                </a:lnTo>
                <a:lnTo>
                  <a:pt x="920" y="176"/>
                </a:lnTo>
                <a:lnTo>
                  <a:pt x="920" y="24"/>
                </a:lnTo>
                <a:lnTo>
                  <a:pt x="1192" y="24"/>
                </a:lnTo>
                <a:lnTo>
                  <a:pt x="1192" y="176"/>
                </a:lnTo>
                <a:lnTo>
                  <a:pt x="1448" y="176"/>
                </a:lnTo>
                <a:lnTo>
                  <a:pt x="1448" y="24"/>
                </a:lnTo>
                <a:lnTo>
                  <a:pt x="1720" y="24"/>
                </a:lnTo>
                <a:lnTo>
                  <a:pt x="1720" y="168"/>
                </a:lnTo>
                <a:lnTo>
                  <a:pt x="2016" y="168"/>
                </a:lnTo>
                <a:lnTo>
                  <a:pt x="2016" y="24"/>
                </a:lnTo>
                <a:lnTo>
                  <a:pt x="2304" y="24"/>
                </a:lnTo>
                <a:lnTo>
                  <a:pt x="2304" y="160"/>
                </a:lnTo>
                <a:lnTo>
                  <a:pt x="2616" y="160"/>
                </a:lnTo>
                <a:lnTo>
                  <a:pt x="2616" y="8"/>
                </a:lnTo>
                <a:lnTo>
                  <a:pt x="2912" y="0"/>
                </a:lnTo>
                <a:lnTo>
                  <a:pt x="2912" y="160"/>
                </a:lnTo>
                <a:lnTo>
                  <a:pt x="3248" y="160"/>
                </a:lnTo>
                <a:lnTo>
                  <a:pt x="3248" y="16"/>
                </a:lnTo>
                <a:lnTo>
                  <a:pt x="3560" y="24"/>
                </a:lnTo>
                <a:lnTo>
                  <a:pt x="3560" y="176"/>
                </a:lnTo>
                <a:lnTo>
                  <a:pt x="3912" y="176"/>
                </a:lnTo>
                <a:lnTo>
                  <a:pt x="3912" y="16"/>
                </a:lnTo>
                <a:lnTo>
                  <a:pt x="4224" y="16"/>
                </a:lnTo>
                <a:lnTo>
                  <a:pt x="4224" y="176"/>
                </a:lnTo>
                <a:lnTo>
                  <a:pt x="4552" y="176"/>
                </a:lnTo>
                <a:lnTo>
                  <a:pt x="4552" y="24"/>
                </a:lnTo>
                <a:lnTo>
                  <a:pt x="4856" y="24"/>
                </a:lnTo>
                <a:lnTo>
                  <a:pt x="4856" y="184"/>
                </a:lnTo>
                <a:lnTo>
                  <a:pt x="5032" y="184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359228" y="1376135"/>
            <a:ext cx="60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359228" y="1969860"/>
            <a:ext cx="60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359228" y="2503260"/>
            <a:ext cx="60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359228" y="3128735"/>
            <a:ext cx="60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</a:t>
            </a:r>
          </a:p>
        </p:txBody>
      </p:sp>
      <p:sp>
        <p:nvSpPr>
          <p:cNvPr id="12" name="Freeform 17"/>
          <p:cNvSpPr>
            <a:spLocks/>
          </p:cNvSpPr>
          <p:nvPr/>
        </p:nvSpPr>
        <p:spPr bwMode="auto">
          <a:xfrm>
            <a:off x="656091" y="2114550"/>
            <a:ext cx="7992609" cy="317500"/>
          </a:xfrm>
          <a:custGeom>
            <a:avLst/>
            <a:gdLst>
              <a:gd name="T0" fmla="*/ 0 w 5037"/>
              <a:gd name="T1" fmla="*/ 456149134 h 200"/>
              <a:gd name="T2" fmla="*/ 1585177171 w 5037"/>
              <a:gd name="T3" fmla="*/ 463708807 h 200"/>
              <a:gd name="T4" fmla="*/ 1585177171 w 5037"/>
              <a:gd name="T5" fmla="*/ 60483756 h 200"/>
              <a:gd name="T6" fmla="*/ 2147483647 w 5037"/>
              <a:gd name="T7" fmla="*/ 60483756 h 200"/>
              <a:gd name="T8" fmla="*/ 2147483647 w 5037"/>
              <a:gd name="T9" fmla="*/ 443547563 h 200"/>
              <a:gd name="T10" fmla="*/ 2147483647 w 5037"/>
              <a:gd name="T11" fmla="*/ 443547563 h 200"/>
              <a:gd name="T12" fmla="*/ 2147483647 w 5037"/>
              <a:gd name="T13" fmla="*/ 20161250 h 200"/>
              <a:gd name="T14" fmla="*/ 2147483647 w 5037"/>
              <a:gd name="T15" fmla="*/ 20161250 h 200"/>
              <a:gd name="T16" fmla="*/ 2147483647 w 5037"/>
              <a:gd name="T17" fmla="*/ 463708807 h 200"/>
              <a:gd name="T18" fmla="*/ 2147483647 w 5037"/>
              <a:gd name="T19" fmla="*/ 463708807 h 200"/>
              <a:gd name="T20" fmla="*/ 2147483647 w 5037"/>
              <a:gd name="T21" fmla="*/ 0 h 200"/>
              <a:gd name="T22" fmla="*/ 2147483647 w 5037"/>
              <a:gd name="T23" fmla="*/ 0 h 200"/>
              <a:gd name="T24" fmla="*/ 2147483647 w 5037"/>
              <a:gd name="T25" fmla="*/ 463708807 h 200"/>
              <a:gd name="T26" fmla="*/ 2147483647 w 5037"/>
              <a:gd name="T27" fmla="*/ 463708807 h 200"/>
              <a:gd name="T28" fmla="*/ 2147483647 w 5037"/>
              <a:gd name="T29" fmla="*/ 40322500 h 200"/>
              <a:gd name="T30" fmla="*/ 2147483647 w 5037"/>
              <a:gd name="T31" fmla="*/ 60483756 h 200"/>
              <a:gd name="T32" fmla="*/ 2147483647 w 5037"/>
              <a:gd name="T33" fmla="*/ 483870051 h 200"/>
              <a:gd name="T34" fmla="*/ 2147483647 w 5037"/>
              <a:gd name="T35" fmla="*/ 504031295 h 200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5037"/>
              <a:gd name="T55" fmla="*/ 0 h 200"/>
              <a:gd name="T56" fmla="*/ 5037 w 5037"/>
              <a:gd name="T57" fmla="*/ 200 h 200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5037" h="200">
                <a:moveTo>
                  <a:pt x="0" y="181"/>
                </a:moveTo>
                <a:lnTo>
                  <a:pt x="629" y="184"/>
                </a:lnTo>
                <a:lnTo>
                  <a:pt x="629" y="24"/>
                </a:lnTo>
                <a:lnTo>
                  <a:pt x="1213" y="24"/>
                </a:lnTo>
                <a:lnTo>
                  <a:pt x="1213" y="176"/>
                </a:lnTo>
                <a:lnTo>
                  <a:pt x="1741" y="176"/>
                </a:lnTo>
                <a:lnTo>
                  <a:pt x="1741" y="8"/>
                </a:lnTo>
                <a:lnTo>
                  <a:pt x="2333" y="8"/>
                </a:lnTo>
                <a:lnTo>
                  <a:pt x="2333" y="184"/>
                </a:lnTo>
                <a:lnTo>
                  <a:pt x="2949" y="184"/>
                </a:lnTo>
                <a:lnTo>
                  <a:pt x="2949" y="0"/>
                </a:lnTo>
                <a:lnTo>
                  <a:pt x="3589" y="0"/>
                </a:lnTo>
                <a:lnTo>
                  <a:pt x="3589" y="184"/>
                </a:lnTo>
                <a:lnTo>
                  <a:pt x="4253" y="184"/>
                </a:lnTo>
                <a:lnTo>
                  <a:pt x="4253" y="16"/>
                </a:lnTo>
                <a:lnTo>
                  <a:pt x="4877" y="24"/>
                </a:lnTo>
                <a:lnTo>
                  <a:pt x="4877" y="192"/>
                </a:lnTo>
                <a:lnTo>
                  <a:pt x="5037" y="20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3" name="Freeform 18"/>
          <p:cNvSpPr>
            <a:spLocks/>
          </p:cNvSpPr>
          <p:nvPr/>
        </p:nvSpPr>
        <p:spPr bwMode="auto">
          <a:xfrm>
            <a:off x="638628" y="2724150"/>
            <a:ext cx="8019597" cy="241300"/>
          </a:xfrm>
          <a:custGeom>
            <a:avLst/>
            <a:gdLst>
              <a:gd name="T0" fmla="*/ 0 w 5064"/>
              <a:gd name="T1" fmla="*/ 383063695 h 152"/>
              <a:gd name="T2" fmla="*/ 2147483647 w 5064"/>
              <a:gd name="T3" fmla="*/ 383063695 h 152"/>
              <a:gd name="T4" fmla="*/ 2147483647 w 5064"/>
              <a:gd name="T5" fmla="*/ 0 h 152"/>
              <a:gd name="T6" fmla="*/ 2147483647 w 5064"/>
              <a:gd name="T7" fmla="*/ 0 h 152"/>
              <a:gd name="T8" fmla="*/ 2147483647 w 5064"/>
              <a:gd name="T9" fmla="*/ 342741212 h 152"/>
              <a:gd name="T10" fmla="*/ 2147483647 w 5064"/>
              <a:gd name="T11" fmla="*/ 342741212 h 152"/>
              <a:gd name="T12" fmla="*/ 2147483647 w 5064"/>
              <a:gd name="T13" fmla="*/ 0 h 152"/>
              <a:gd name="T14" fmla="*/ 2147483647 w 5064"/>
              <a:gd name="T15" fmla="*/ 0 h 152"/>
              <a:gd name="T16" fmla="*/ 2147483647 w 5064"/>
              <a:gd name="T17" fmla="*/ 322579970 h 152"/>
              <a:gd name="T18" fmla="*/ 2147483647 w 5064"/>
              <a:gd name="T19" fmla="*/ 302418728 h 15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5064"/>
              <a:gd name="T31" fmla="*/ 0 h 152"/>
              <a:gd name="T32" fmla="*/ 5064 w 5064"/>
              <a:gd name="T33" fmla="*/ 152 h 15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5064" h="152">
                <a:moveTo>
                  <a:pt x="0" y="152"/>
                </a:moveTo>
                <a:lnTo>
                  <a:pt x="1224" y="152"/>
                </a:lnTo>
                <a:lnTo>
                  <a:pt x="1224" y="0"/>
                </a:lnTo>
                <a:lnTo>
                  <a:pt x="2352" y="0"/>
                </a:lnTo>
                <a:lnTo>
                  <a:pt x="2352" y="136"/>
                </a:lnTo>
                <a:lnTo>
                  <a:pt x="3600" y="136"/>
                </a:lnTo>
                <a:lnTo>
                  <a:pt x="3600" y="0"/>
                </a:lnTo>
                <a:lnTo>
                  <a:pt x="4888" y="0"/>
                </a:lnTo>
                <a:lnTo>
                  <a:pt x="4888" y="128"/>
                </a:lnTo>
                <a:lnTo>
                  <a:pt x="5064" y="12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4" name="Freeform 19"/>
          <p:cNvSpPr>
            <a:spLocks/>
          </p:cNvSpPr>
          <p:nvPr/>
        </p:nvSpPr>
        <p:spPr bwMode="auto">
          <a:xfrm>
            <a:off x="651328" y="3321050"/>
            <a:ext cx="7978322" cy="266700"/>
          </a:xfrm>
          <a:custGeom>
            <a:avLst/>
            <a:gdLst>
              <a:gd name="T0" fmla="*/ 0 w 5040"/>
              <a:gd name="T1" fmla="*/ 403224953 h 168"/>
              <a:gd name="T2" fmla="*/ 2147483647 w 5040"/>
              <a:gd name="T3" fmla="*/ 423386295 h 168"/>
              <a:gd name="T4" fmla="*/ 2147483647 w 5040"/>
              <a:gd name="T5" fmla="*/ 0 h 168"/>
              <a:gd name="T6" fmla="*/ 2147483647 w 5040"/>
              <a:gd name="T7" fmla="*/ 0 h 168"/>
              <a:gd name="T8" fmla="*/ 2147483647 w 5040"/>
              <a:gd name="T9" fmla="*/ 362902467 h 168"/>
              <a:gd name="T10" fmla="*/ 2147483647 w 5040"/>
              <a:gd name="T11" fmla="*/ 342741225 h 1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040"/>
              <a:gd name="T19" fmla="*/ 0 h 168"/>
              <a:gd name="T20" fmla="*/ 5040 w 5040"/>
              <a:gd name="T21" fmla="*/ 168 h 16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040" h="168">
                <a:moveTo>
                  <a:pt x="0" y="160"/>
                </a:moveTo>
                <a:lnTo>
                  <a:pt x="2344" y="168"/>
                </a:lnTo>
                <a:lnTo>
                  <a:pt x="2344" y="0"/>
                </a:lnTo>
                <a:lnTo>
                  <a:pt x="4888" y="0"/>
                </a:lnTo>
                <a:lnTo>
                  <a:pt x="4888" y="144"/>
                </a:lnTo>
                <a:lnTo>
                  <a:pt x="5040" y="13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5" name="Group 21"/>
          <p:cNvGrpSpPr>
            <a:grpSpLocks/>
          </p:cNvGrpSpPr>
          <p:nvPr/>
        </p:nvGrpSpPr>
        <p:grpSpPr bwMode="auto">
          <a:xfrm>
            <a:off x="1159328" y="1123950"/>
            <a:ext cx="7227888" cy="2566307"/>
            <a:chOff x="744" y="1144"/>
            <a:chExt cx="4553" cy="1928"/>
          </a:xfrm>
        </p:grpSpPr>
        <p:sp>
          <p:nvSpPr>
            <p:cNvPr id="16" name="Freeform 22"/>
            <p:cNvSpPr>
              <a:spLocks/>
            </p:cNvSpPr>
            <p:nvPr/>
          </p:nvSpPr>
          <p:spPr bwMode="auto">
            <a:xfrm>
              <a:off x="744" y="1176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" name="Freeform 23"/>
            <p:cNvSpPr>
              <a:spLocks/>
            </p:cNvSpPr>
            <p:nvPr/>
          </p:nvSpPr>
          <p:spPr bwMode="auto">
            <a:xfrm>
              <a:off x="1056" y="1192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" name="Freeform 24"/>
            <p:cNvSpPr>
              <a:spLocks/>
            </p:cNvSpPr>
            <p:nvPr/>
          </p:nvSpPr>
          <p:spPr bwMode="auto">
            <a:xfrm>
              <a:off x="1352" y="1160"/>
              <a:ext cx="1" cy="1896"/>
            </a:xfrm>
            <a:custGeom>
              <a:avLst/>
              <a:gdLst>
                <a:gd name="T0" fmla="*/ 0 w 1"/>
                <a:gd name="T1" fmla="*/ 0 h 1896"/>
                <a:gd name="T2" fmla="*/ 0 w 1"/>
                <a:gd name="T3" fmla="*/ 1896 h 1896"/>
                <a:gd name="T4" fmla="*/ 0 60000 65536"/>
                <a:gd name="T5" fmla="*/ 0 60000 65536"/>
                <a:gd name="T6" fmla="*/ 0 w 1"/>
                <a:gd name="T7" fmla="*/ 0 h 1896"/>
                <a:gd name="T8" fmla="*/ 1 w 1"/>
                <a:gd name="T9" fmla="*/ 1896 h 189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96">
                  <a:moveTo>
                    <a:pt x="0" y="0"/>
                  </a:moveTo>
                  <a:lnTo>
                    <a:pt x="0" y="1896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" name="Freeform 25"/>
            <p:cNvSpPr>
              <a:spLocks/>
            </p:cNvSpPr>
            <p:nvPr/>
          </p:nvSpPr>
          <p:spPr bwMode="auto">
            <a:xfrm>
              <a:off x="1632" y="1168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auto">
            <a:xfrm>
              <a:off x="1888" y="1168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Freeform 27"/>
            <p:cNvSpPr>
              <a:spLocks/>
            </p:cNvSpPr>
            <p:nvPr/>
          </p:nvSpPr>
          <p:spPr bwMode="auto">
            <a:xfrm>
              <a:off x="2168" y="1168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2" name="Freeform 28"/>
            <p:cNvSpPr>
              <a:spLocks/>
            </p:cNvSpPr>
            <p:nvPr/>
          </p:nvSpPr>
          <p:spPr bwMode="auto">
            <a:xfrm>
              <a:off x="2456" y="1168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" name="Freeform 29"/>
            <p:cNvSpPr>
              <a:spLocks/>
            </p:cNvSpPr>
            <p:nvPr/>
          </p:nvSpPr>
          <p:spPr bwMode="auto">
            <a:xfrm>
              <a:off x="2752" y="1168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" name="Freeform 30"/>
            <p:cNvSpPr>
              <a:spLocks/>
            </p:cNvSpPr>
            <p:nvPr/>
          </p:nvSpPr>
          <p:spPr bwMode="auto">
            <a:xfrm>
              <a:off x="3064" y="1144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" name="Freeform 31"/>
            <p:cNvSpPr>
              <a:spLocks/>
            </p:cNvSpPr>
            <p:nvPr/>
          </p:nvSpPr>
          <p:spPr bwMode="auto">
            <a:xfrm>
              <a:off x="3360" y="1152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" name="Freeform 32"/>
            <p:cNvSpPr>
              <a:spLocks/>
            </p:cNvSpPr>
            <p:nvPr/>
          </p:nvSpPr>
          <p:spPr bwMode="auto">
            <a:xfrm>
              <a:off x="3680" y="1152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7" name="Freeform 33"/>
            <p:cNvSpPr>
              <a:spLocks/>
            </p:cNvSpPr>
            <p:nvPr/>
          </p:nvSpPr>
          <p:spPr bwMode="auto">
            <a:xfrm>
              <a:off x="4016" y="1152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8" name="Freeform 34"/>
            <p:cNvSpPr>
              <a:spLocks/>
            </p:cNvSpPr>
            <p:nvPr/>
          </p:nvSpPr>
          <p:spPr bwMode="auto">
            <a:xfrm>
              <a:off x="4344" y="1152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9" name="Freeform 35"/>
            <p:cNvSpPr>
              <a:spLocks/>
            </p:cNvSpPr>
            <p:nvPr/>
          </p:nvSpPr>
          <p:spPr bwMode="auto">
            <a:xfrm>
              <a:off x="4680" y="1152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0" name="Freeform 36"/>
            <p:cNvSpPr>
              <a:spLocks/>
            </p:cNvSpPr>
            <p:nvPr/>
          </p:nvSpPr>
          <p:spPr bwMode="auto">
            <a:xfrm>
              <a:off x="4992" y="1152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" name="Freeform 37"/>
            <p:cNvSpPr>
              <a:spLocks/>
            </p:cNvSpPr>
            <p:nvPr/>
          </p:nvSpPr>
          <p:spPr bwMode="auto">
            <a:xfrm>
              <a:off x="5296" y="1144"/>
              <a:ext cx="1" cy="1880"/>
            </a:xfrm>
            <a:custGeom>
              <a:avLst/>
              <a:gdLst>
                <a:gd name="T0" fmla="*/ 0 w 1"/>
                <a:gd name="T1" fmla="*/ 0 h 1880"/>
                <a:gd name="T2" fmla="*/ 0 w 1"/>
                <a:gd name="T3" fmla="*/ 1880 h 1880"/>
                <a:gd name="T4" fmla="*/ 0 60000 65536"/>
                <a:gd name="T5" fmla="*/ 0 60000 65536"/>
                <a:gd name="T6" fmla="*/ 0 w 1"/>
                <a:gd name="T7" fmla="*/ 0 h 1880"/>
                <a:gd name="T8" fmla="*/ 1 w 1"/>
                <a:gd name="T9" fmla="*/ 1880 h 18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880">
                  <a:moveTo>
                    <a:pt x="0" y="0"/>
                  </a:moveTo>
                  <a:lnTo>
                    <a:pt x="0" y="1880"/>
                  </a:lnTo>
                </a:path>
              </a:pathLst>
            </a:custGeom>
            <a:noFill/>
            <a:ln w="15875" cap="flat" cmpd="sng">
              <a:solidFill>
                <a:srgbClr val="7030A0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32" name="Rectangle 47"/>
          <p:cNvSpPr>
            <a:spLocks noChangeArrowheads="1"/>
          </p:cNvSpPr>
          <p:nvPr/>
        </p:nvSpPr>
        <p:spPr bwMode="auto">
          <a:xfrm>
            <a:off x="783544" y="1983695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3" name="Rectangle 48"/>
          <p:cNvSpPr>
            <a:spLocks noChangeArrowheads="1"/>
          </p:cNvSpPr>
          <p:nvPr/>
        </p:nvSpPr>
        <p:spPr bwMode="auto">
          <a:xfrm>
            <a:off x="783544" y="1478870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4" name="Rectangle 50"/>
          <p:cNvSpPr>
            <a:spLocks noChangeArrowheads="1"/>
          </p:cNvSpPr>
          <p:nvPr/>
        </p:nvSpPr>
        <p:spPr bwMode="auto">
          <a:xfrm>
            <a:off x="783544" y="2631395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5" name="Rectangle 51"/>
          <p:cNvSpPr>
            <a:spLocks noChangeArrowheads="1"/>
          </p:cNvSpPr>
          <p:nvPr/>
        </p:nvSpPr>
        <p:spPr bwMode="auto">
          <a:xfrm>
            <a:off x="783544" y="3207657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6" name="Rectangle 52"/>
          <p:cNvSpPr>
            <a:spLocks noChangeArrowheads="1"/>
          </p:cNvSpPr>
          <p:nvPr/>
        </p:nvSpPr>
        <p:spPr bwMode="auto">
          <a:xfrm>
            <a:off x="1215344" y="1524907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7" name="Rectangle 53"/>
          <p:cNvSpPr>
            <a:spLocks noChangeArrowheads="1"/>
          </p:cNvSpPr>
          <p:nvPr/>
        </p:nvSpPr>
        <p:spPr bwMode="auto">
          <a:xfrm>
            <a:off x="1226229" y="1962830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8" name="Rectangle 54"/>
          <p:cNvSpPr>
            <a:spLocks noChangeArrowheads="1"/>
          </p:cNvSpPr>
          <p:nvPr/>
        </p:nvSpPr>
        <p:spPr bwMode="auto">
          <a:xfrm>
            <a:off x="1215344" y="2532970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9" name="Rectangle 55"/>
          <p:cNvSpPr>
            <a:spLocks noChangeArrowheads="1"/>
          </p:cNvSpPr>
          <p:nvPr/>
        </p:nvSpPr>
        <p:spPr bwMode="auto">
          <a:xfrm>
            <a:off x="1215344" y="3180670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40" name="Rectangle 56"/>
          <p:cNvSpPr>
            <a:spLocks noChangeArrowheads="1"/>
          </p:cNvSpPr>
          <p:nvPr/>
        </p:nvSpPr>
        <p:spPr bwMode="auto">
          <a:xfrm>
            <a:off x="1720169" y="3180670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41" name="Rectangle 57"/>
          <p:cNvSpPr>
            <a:spLocks noChangeArrowheads="1"/>
          </p:cNvSpPr>
          <p:nvPr/>
        </p:nvSpPr>
        <p:spPr bwMode="auto">
          <a:xfrm>
            <a:off x="1720169" y="2532970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42" name="Rectangle 58"/>
          <p:cNvSpPr>
            <a:spLocks noChangeArrowheads="1"/>
          </p:cNvSpPr>
          <p:nvPr/>
        </p:nvSpPr>
        <p:spPr bwMode="auto">
          <a:xfrm>
            <a:off x="1720169" y="1453470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43" name="Rectangle 60"/>
          <p:cNvSpPr>
            <a:spLocks noChangeArrowheads="1"/>
          </p:cNvSpPr>
          <p:nvPr/>
        </p:nvSpPr>
        <p:spPr bwMode="auto">
          <a:xfrm>
            <a:off x="1720169" y="2060802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44" name="Rectangle 62"/>
          <p:cNvSpPr>
            <a:spLocks noChangeArrowheads="1"/>
          </p:cNvSpPr>
          <p:nvPr/>
        </p:nvSpPr>
        <p:spPr bwMode="auto">
          <a:xfrm>
            <a:off x="2224994" y="1524907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45" name="Rectangle 64"/>
          <p:cNvSpPr>
            <a:spLocks noChangeArrowheads="1"/>
          </p:cNvSpPr>
          <p:nvPr/>
        </p:nvSpPr>
        <p:spPr bwMode="auto">
          <a:xfrm>
            <a:off x="2224994" y="2060802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46" name="Rectangle 66"/>
          <p:cNvSpPr>
            <a:spLocks noChangeArrowheads="1"/>
          </p:cNvSpPr>
          <p:nvPr/>
        </p:nvSpPr>
        <p:spPr bwMode="auto">
          <a:xfrm>
            <a:off x="2224994" y="2532970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47" name="Rectangle 68"/>
          <p:cNvSpPr>
            <a:spLocks noChangeArrowheads="1"/>
          </p:cNvSpPr>
          <p:nvPr/>
        </p:nvSpPr>
        <p:spPr bwMode="auto">
          <a:xfrm>
            <a:off x="2224994" y="3180670"/>
            <a:ext cx="335646" cy="463846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500"/>
                            </p:stCondLst>
                            <p:childTnLst>
                              <p:par>
                                <p:cTn id="8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0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500"/>
                            </p:stCondLst>
                            <p:childTnLst>
                              <p:par>
                                <p:cTn id="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0"/>
                            </p:stCondLst>
                            <p:childTnLst>
                              <p:par>
                                <p:cTn id="9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500"/>
                            </p:stCondLst>
                            <p:childTnLst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7" grpId="0" animBg="1"/>
      <p:bldP spid="8" grpId="0" autoUpdateAnimBg="0"/>
      <p:bldP spid="9" grpId="0" autoUpdateAnimBg="0"/>
      <p:bldP spid="10" grpId="0" autoUpdateAnimBg="0"/>
      <p:bldP spid="11" grpId="0" autoUpdateAnimBg="0"/>
      <p:bldP spid="12" grpId="0" animBg="1"/>
      <p:bldP spid="13" grpId="0" animBg="1"/>
      <p:bldP spid="14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1114" y="806595"/>
            <a:ext cx="7849897" cy="2947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747713" y="141514"/>
            <a:ext cx="5080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b="1" i="0" dirty="0">
                <a:latin typeface="华文中宋" pitchFamily="2" charset="-122"/>
                <a:ea typeface="华文中宋" pitchFamily="2" charset="-122"/>
              </a:rPr>
              <a:t>同步四位二进制加法计数器</a:t>
            </a: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3211286" y="3836508"/>
            <a:ext cx="42127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1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2982685" y="4378300"/>
            <a:ext cx="55517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</a:t>
            </a:r>
            <a:r>
              <a: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b="1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</a:p>
        </p:txBody>
      </p:sp>
      <p:sp>
        <p:nvSpPr>
          <p:cNvPr id="45" name="Rectangle 45"/>
          <p:cNvSpPr>
            <a:spLocks noChangeArrowheads="1"/>
          </p:cNvSpPr>
          <p:nvPr/>
        </p:nvSpPr>
        <p:spPr bwMode="auto">
          <a:xfrm>
            <a:off x="468992" y="3324880"/>
            <a:ext cx="19800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工作过程：</a:t>
            </a:r>
          </a:p>
        </p:txBody>
      </p:sp>
      <p:sp>
        <p:nvSpPr>
          <p:cNvPr id="46" name="Rectangle 46"/>
          <p:cNvSpPr>
            <a:spLocks noChangeArrowheads="1"/>
          </p:cNvSpPr>
          <p:nvPr/>
        </p:nvSpPr>
        <p:spPr bwMode="auto">
          <a:xfrm>
            <a:off x="587828" y="3956251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清零</a:t>
            </a:r>
          </a:p>
        </p:txBody>
      </p:sp>
      <p:sp>
        <p:nvSpPr>
          <p:cNvPr id="49" name="Rectangle 49"/>
          <p:cNvSpPr>
            <a:spLocks noChangeArrowheads="1"/>
          </p:cNvSpPr>
          <p:nvPr/>
        </p:nvSpPr>
        <p:spPr bwMode="auto">
          <a:xfrm>
            <a:off x="1785256" y="3945366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计数</a:t>
            </a:r>
          </a:p>
        </p:txBody>
      </p:sp>
      <p:grpSp>
        <p:nvGrpSpPr>
          <p:cNvPr id="50" name="Group 50"/>
          <p:cNvGrpSpPr>
            <a:grpSpLocks/>
          </p:cNvGrpSpPr>
          <p:nvPr/>
        </p:nvGrpSpPr>
        <p:grpSpPr bwMode="auto">
          <a:xfrm>
            <a:off x="2038804" y="877774"/>
            <a:ext cx="4851400" cy="528638"/>
            <a:chOff x="866" y="726"/>
            <a:chExt cx="3056" cy="333"/>
          </a:xfrm>
        </p:grpSpPr>
        <p:sp>
          <p:nvSpPr>
            <p:cNvPr id="51" name="Text Box 51"/>
            <p:cNvSpPr txBox="1">
              <a:spLocks noChangeArrowheads="1"/>
            </p:cNvSpPr>
            <p:nvPr/>
          </p:nvSpPr>
          <p:spPr bwMode="auto">
            <a:xfrm>
              <a:off x="3586" y="768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2" name="Text Box 52"/>
            <p:cNvSpPr txBox="1">
              <a:spLocks noChangeArrowheads="1"/>
            </p:cNvSpPr>
            <p:nvPr/>
          </p:nvSpPr>
          <p:spPr bwMode="auto">
            <a:xfrm>
              <a:off x="2667" y="758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3" name="Text Box 53"/>
            <p:cNvSpPr txBox="1">
              <a:spLocks noChangeArrowheads="1"/>
            </p:cNvSpPr>
            <p:nvPr/>
          </p:nvSpPr>
          <p:spPr bwMode="auto">
            <a:xfrm>
              <a:off x="1830" y="726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" name="Text Box 54"/>
            <p:cNvSpPr txBox="1">
              <a:spLocks noChangeArrowheads="1"/>
            </p:cNvSpPr>
            <p:nvPr/>
          </p:nvSpPr>
          <p:spPr bwMode="auto">
            <a:xfrm>
              <a:off x="866" y="737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55" name="Group 55"/>
          <p:cNvGrpSpPr>
            <a:grpSpLocks/>
          </p:cNvGrpSpPr>
          <p:nvPr/>
        </p:nvGrpSpPr>
        <p:grpSpPr bwMode="auto">
          <a:xfrm>
            <a:off x="2895373" y="1793081"/>
            <a:ext cx="3243263" cy="1516063"/>
            <a:chOff x="1817" y="1522"/>
            <a:chExt cx="2043" cy="955"/>
          </a:xfrm>
        </p:grpSpPr>
        <p:grpSp>
          <p:nvGrpSpPr>
            <p:cNvPr id="56" name="Group 56"/>
            <p:cNvGrpSpPr>
              <a:grpSpLocks/>
            </p:cNvGrpSpPr>
            <p:nvPr/>
          </p:nvGrpSpPr>
          <p:grpSpPr bwMode="auto">
            <a:xfrm>
              <a:off x="3616" y="1537"/>
              <a:ext cx="244" cy="928"/>
              <a:chOff x="4800" y="1515"/>
              <a:chExt cx="244" cy="928"/>
            </a:xfrm>
          </p:grpSpPr>
          <p:sp>
            <p:nvSpPr>
              <p:cNvPr id="63" name="Text Box 57"/>
              <p:cNvSpPr txBox="1">
                <a:spLocks noChangeArrowheads="1"/>
              </p:cNvSpPr>
              <p:nvPr/>
            </p:nvSpPr>
            <p:spPr bwMode="auto">
              <a:xfrm>
                <a:off x="4827" y="1515"/>
                <a:ext cx="21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64" name="Text Box 58"/>
              <p:cNvSpPr txBox="1">
                <a:spLocks noChangeArrowheads="1"/>
              </p:cNvSpPr>
              <p:nvPr/>
            </p:nvSpPr>
            <p:spPr bwMode="auto">
              <a:xfrm>
                <a:off x="4800" y="2191"/>
                <a:ext cx="190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57" name="Group 59"/>
            <p:cNvGrpSpPr>
              <a:grpSpLocks/>
            </p:cNvGrpSpPr>
            <p:nvPr/>
          </p:nvGrpSpPr>
          <p:grpSpPr bwMode="auto">
            <a:xfrm>
              <a:off x="2722" y="1536"/>
              <a:ext cx="185" cy="941"/>
              <a:chOff x="5074" y="1536"/>
              <a:chExt cx="185" cy="941"/>
            </a:xfrm>
          </p:grpSpPr>
          <p:sp>
            <p:nvSpPr>
              <p:cNvPr id="61" name="Text Box 60"/>
              <p:cNvSpPr txBox="1">
                <a:spLocks noChangeArrowheads="1"/>
              </p:cNvSpPr>
              <p:nvPr/>
            </p:nvSpPr>
            <p:spPr bwMode="auto">
              <a:xfrm>
                <a:off x="5074" y="1536"/>
                <a:ext cx="1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0" dirty="0">
                    <a:solidFill>
                      <a:srgbClr val="0070C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62" name="Text Box 61"/>
              <p:cNvSpPr txBox="1">
                <a:spLocks noChangeArrowheads="1"/>
              </p:cNvSpPr>
              <p:nvPr/>
            </p:nvSpPr>
            <p:spPr bwMode="auto">
              <a:xfrm>
                <a:off x="5074" y="2225"/>
                <a:ext cx="179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0" dirty="0">
                    <a:solidFill>
                      <a:srgbClr val="0070C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58" name="Group 62"/>
            <p:cNvGrpSpPr>
              <a:grpSpLocks/>
            </p:cNvGrpSpPr>
            <p:nvPr/>
          </p:nvGrpSpPr>
          <p:grpSpPr bwMode="auto">
            <a:xfrm>
              <a:off x="1817" y="1522"/>
              <a:ext cx="206" cy="955"/>
              <a:chOff x="5348" y="1543"/>
              <a:chExt cx="206" cy="955"/>
            </a:xfrm>
          </p:grpSpPr>
          <p:sp>
            <p:nvSpPr>
              <p:cNvPr id="59" name="Text Box 63"/>
              <p:cNvSpPr txBox="1">
                <a:spLocks noChangeArrowheads="1"/>
              </p:cNvSpPr>
              <p:nvPr/>
            </p:nvSpPr>
            <p:spPr bwMode="auto">
              <a:xfrm>
                <a:off x="5349" y="1543"/>
                <a:ext cx="20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0" dirty="0">
                    <a:solidFill>
                      <a:srgbClr val="0070C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60" name="Text Box 64"/>
              <p:cNvSpPr txBox="1">
                <a:spLocks noChangeArrowheads="1"/>
              </p:cNvSpPr>
              <p:nvPr/>
            </p:nvSpPr>
            <p:spPr bwMode="auto">
              <a:xfrm>
                <a:off x="5348" y="2246"/>
                <a:ext cx="1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0" dirty="0">
                    <a:solidFill>
                      <a:srgbClr val="0070C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</p:grpSp>
      <p:grpSp>
        <p:nvGrpSpPr>
          <p:cNvPr id="68" name="Group 68"/>
          <p:cNvGrpSpPr>
            <a:grpSpLocks/>
          </p:cNvGrpSpPr>
          <p:nvPr/>
        </p:nvGrpSpPr>
        <p:grpSpPr bwMode="auto">
          <a:xfrm>
            <a:off x="5838153" y="1877447"/>
            <a:ext cx="182563" cy="1344613"/>
            <a:chOff x="2057" y="1673"/>
            <a:chExt cx="115" cy="847"/>
          </a:xfrm>
        </p:grpSpPr>
        <p:sp>
          <p:nvSpPr>
            <p:cNvPr id="69" name="Rectangle 69"/>
            <p:cNvSpPr>
              <a:spLocks noChangeArrowheads="1"/>
            </p:cNvSpPr>
            <p:nvPr/>
          </p:nvSpPr>
          <p:spPr bwMode="auto">
            <a:xfrm>
              <a:off x="2071" y="1673"/>
              <a:ext cx="101" cy="16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70" name="Rectangle 70"/>
            <p:cNvSpPr>
              <a:spLocks noChangeArrowheads="1"/>
            </p:cNvSpPr>
            <p:nvPr/>
          </p:nvSpPr>
          <p:spPr bwMode="auto">
            <a:xfrm>
              <a:off x="2057" y="2366"/>
              <a:ext cx="114" cy="15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74" name="Group 76"/>
          <p:cNvGrpSpPr>
            <a:grpSpLocks/>
          </p:cNvGrpSpPr>
          <p:nvPr/>
        </p:nvGrpSpPr>
        <p:grpSpPr bwMode="auto">
          <a:xfrm>
            <a:off x="2046740" y="620598"/>
            <a:ext cx="4854575" cy="498475"/>
            <a:chOff x="871" y="564"/>
            <a:chExt cx="3058" cy="314"/>
          </a:xfrm>
        </p:grpSpPr>
        <p:sp>
          <p:nvSpPr>
            <p:cNvPr id="75" name="Text Box 77"/>
            <p:cNvSpPr txBox="1">
              <a:spLocks noChangeArrowheads="1"/>
            </p:cNvSpPr>
            <p:nvPr/>
          </p:nvSpPr>
          <p:spPr bwMode="auto">
            <a:xfrm>
              <a:off x="3593" y="587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76" name="Text Box 78"/>
            <p:cNvSpPr txBox="1">
              <a:spLocks noChangeArrowheads="1"/>
            </p:cNvSpPr>
            <p:nvPr/>
          </p:nvSpPr>
          <p:spPr bwMode="auto">
            <a:xfrm>
              <a:off x="2667" y="584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77" name="Text Box 79"/>
            <p:cNvSpPr txBox="1">
              <a:spLocks noChangeArrowheads="1"/>
            </p:cNvSpPr>
            <p:nvPr/>
          </p:nvSpPr>
          <p:spPr bwMode="auto">
            <a:xfrm>
              <a:off x="1835" y="566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78" name="Text Box 80"/>
            <p:cNvSpPr txBox="1">
              <a:spLocks noChangeArrowheads="1"/>
            </p:cNvSpPr>
            <p:nvPr/>
          </p:nvSpPr>
          <p:spPr bwMode="auto">
            <a:xfrm>
              <a:off x="871" y="564"/>
              <a:ext cx="19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79" name="Group 81"/>
          <p:cNvGrpSpPr>
            <a:grpSpLocks/>
          </p:cNvGrpSpPr>
          <p:nvPr/>
        </p:nvGrpSpPr>
        <p:grpSpPr bwMode="auto">
          <a:xfrm>
            <a:off x="2057853" y="1166699"/>
            <a:ext cx="4625975" cy="461963"/>
            <a:chOff x="878" y="908"/>
            <a:chExt cx="2914" cy="291"/>
          </a:xfrm>
        </p:grpSpPr>
        <p:grpSp>
          <p:nvGrpSpPr>
            <p:cNvPr id="80" name="Group 82"/>
            <p:cNvGrpSpPr>
              <a:grpSpLocks/>
            </p:cNvGrpSpPr>
            <p:nvPr/>
          </p:nvGrpSpPr>
          <p:grpSpPr bwMode="auto">
            <a:xfrm>
              <a:off x="2667" y="987"/>
              <a:ext cx="1125" cy="197"/>
              <a:chOff x="2667" y="795"/>
              <a:chExt cx="1125" cy="197"/>
            </a:xfrm>
          </p:grpSpPr>
          <p:sp>
            <p:nvSpPr>
              <p:cNvPr id="83" name="Rectangle 83"/>
              <p:cNvSpPr>
                <a:spLocks noChangeArrowheads="1"/>
              </p:cNvSpPr>
              <p:nvPr/>
            </p:nvSpPr>
            <p:spPr bwMode="auto">
              <a:xfrm>
                <a:off x="2667" y="795"/>
                <a:ext cx="144" cy="19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2400" b="1" i="0" dirty="0"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84" name="Rectangle 84"/>
              <p:cNvSpPr>
                <a:spLocks noChangeArrowheads="1"/>
              </p:cNvSpPr>
              <p:nvPr/>
            </p:nvSpPr>
            <p:spPr bwMode="auto">
              <a:xfrm>
                <a:off x="3578" y="800"/>
                <a:ext cx="214" cy="19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2400" b="1" i="0" dirty="0"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81" name="Rectangle 85"/>
            <p:cNvSpPr>
              <a:spLocks noChangeArrowheads="1"/>
            </p:cNvSpPr>
            <p:nvPr/>
          </p:nvSpPr>
          <p:spPr bwMode="auto">
            <a:xfrm>
              <a:off x="878" y="908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82" name="Rectangle 86"/>
            <p:cNvSpPr>
              <a:spLocks noChangeArrowheads="1"/>
            </p:cNvSpPr>
            <p:nvPr/>
          </p:nvSpPr>
          <p:spPr bwMode="auto">
            <a:xfrm>
              <a:off x="1824" y="908"/>
              <a:ext cx="21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8018012" y="3593647"/>
            <a:ext cx="448583" cy="144917"/>
            <a:chOff x="8231671" y="2195513"/>
            <a:chExt cx="768501" cy="214312"/>
          </a:xfrm>
        </p:grpSpPr>
        <p:cxnSp>
          <p:nvCxnSpPr>
            <p:cNvPr id="125" name="直接连接符 124"/>
            <p:cNvCxnSpPr/>
            <p:nvPr/>
          </p:nvCxnSpPr>
          <p:spPr>
            <a:xfrm flipV="1">
              <a:off x="8231671" y="2212081"/>
              <a:ext cx="246697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rot="5400000">
              <a:off x="8377238" y="2300287"/>
              <a:ext cx="200025" cy="1588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8472488" y="2405063"/>
              <a:ext cx="280987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rot="5400000" flipH="1" flipV="1">
              <a:off x="8648700" y="2305050"/>
              <a:ext cx="209550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8753475" y="2195513"/>
              <a:ext cx="246697" cy="1588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组合 129"/>
          <p:cNvGrpSpPr/>
          <p:nvPr/>
        </p:nvGrpSpPr>
        <p:grpSpPr>
          <a:xfrm>
            <a:off x="7912554" y="2852972"/>
            <a:ext cx="461962" cy="338138"/>
            <a:chOff x="7348538" y="4123199"/>
            <a:chExt cx="461962" cy="338138"/>
          </a:xfrm>
        </p:grpSpPr>
        <p:grpSp>
          <p:nvGrpSpPr>
            <p:cNvPr id="131" name="组合 644"/>
            <p:cNvGrpSpPr/>
            <p:nvPr/>
          </p:nvGrpSpPr>
          <p:grpSpPr>
            <a:xfrm flipV="1">
              <a:off x="7348538" y="4186027"/>
              <a:ext cx="461962" cy="228611"/>
              <a:chOff x="8510588" y="2857500"/>
              <a:chExt cx="461962" cy="144463"/>
            </a:xfrm>
          </p:grpSpPr>
          <p:cxnSp>
            <p:nvCxnSpPr>
              <p:cNvPr id="133" name="直接连接符 132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2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7917316" y="2852971"/>
            <a:ext cx="461962" cy="338138"/>
            <a:chOff x="7348538" y="4123199"/>
            <a:chExt cx="461962" cy="338138"/>
          </a:xfrm>
        </p:grpSpPr>
        <p:grpSp>
          <p:nvGrpSpPr>
            <p:cNvPr id="139" name="组合 659"/>
            <p:cNvGrpSpPr/>
            <p:nvPr/>
          </p:nvGrpSpPr>
          <p:grpSpPr>
            <a:xfrm flipV="1">
              <a:off x="7348538" y="4186026"/>
              <a:ext cx="461962" cy="228611"/>
              <a:chOff x="8510588" y="2857500"/>
              <a:chExt cx="461962" cy="144463"/>
            </a:xfrm>
          </p:grpSpPr>
          <p:cxnSp>
            <p:nvCxnSpPr>
              <p:cNvPr id="141" name="直接连接符 140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0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>
            <a:off x="7917317" y="2852972"/>
            <a:ext cx="461962" cy="338138"/>
            <a:chOff x="7348538" y="4123199"/>
            <a:chExt cx="461962" cy="338138"/>
          </a:xfrm>
        </p:grpSpPr>
        <p:grpSp>
          <p:nvGrpSpPr>
            <p:cNvPr id="147" name="组合 667"/>
            <p:cNvGrpSpPr/>
            <p:nvPr/>
          </p:nvGrpSpPr>
          <p:grpSpPr>
            <a:xfrm flipV="1">
              <a:off x="7348538" y="4186025"/>
              <a:ext cx="461962" cy="228611"/>
              <a:chOff x="8510588" y="2857500"/>
              <a:chExt cx="461962" cy="144463"/>
            </a:xfrm>
          </p:grpSpPr>
          <p:cxnSp>
            <p:nvCxnSpPr>
              <p:cNvPr id="149" name="直接连接符 148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接连接符 152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8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7914934" y="2850590"/>
            <a:ext cx="461962" cy="338138"/>
            <a:chOff x="7348538" y="4123199"/>
            <a:chExt cx="461962" cy="338138"/>
          </a:xfrm>
        </p:grpSpPr>
        <p:grpSp>
          <p:nvGrpSpPr>
            <p:cNvPr id="155" name="组合 675"/>
            <p:cNvGrpSpPr/>
            <p:nvPr/>
          </p:nvGrpSpPr>
          <p:grpSpPr>
            <a:xfrm flipV="1">
              <a:off x="7348538" y="4186024"/>
              <a:ext cx="461962" cy="228611"/>
              <a:chOff x="8510588" y="2857500"/>
              <a:chExt cx="461962" cy="144463"/>
            </a:xfrm>
          </p:grpSpPr>
          <p:cxnSp>
            <p:nvCxnSpPr>
              <p:cNvPr id="157" name="直接连接符 156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6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16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>
          <a:xfrm>
            <a:off x="8310223" y="2843447"/>
            <a:ext cx="461962" cy="338138"/>
            <a:chOff x="7348538" y="4123199"/>
            <a:chExt cx="461962" cy="338138"/>
          </a:xfrm>
        </p:grpSpPr>
        <p:grpSp>
          <p:nvGrpSpPr>
            <p:cNvPr id="163" name="组合 683"/>
            <p:cNvGrpSpPr/>
            <p:nvPr/>
          </p:nvGrpSpPr>
          <p:grpSpPr>
            <a:xfrm flipV="1">
              <a:off x="7348538" y="4186026"/>
              <a:ext cx="461962" cy="228611"/>
              <a:chOff x="8510588" y="2857500"/>
              <a:chExt cx="461962" cy="144463"/>
            </a:xfrm>
          </p:grpSpPr>
          <p:cxnSp>
            <p:nvCxnSpPr>
              <p:cNvPr id="165" name="直接连接符 164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接连接符 167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连接符 168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4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70" name="组合 169"/>
          <p:cNvGrpSpPr/>
          <p:nvPr/>
        </p:nvGrpSpPr>
        <p:grpSpPr>
          <a:xfrm>
            <a:off x="8307842" y="2843447"/>
            <a:ext cx="461962" cy="338138"/>
            <a:chOff x="7348538" y="4123199"/>
            <a:chExt cx="461962" cy="338138"/>
          </a:xfrm>
        </p:grpSpPr>
        <p:grpSp>
          <p:nvGrpSpPr>
            <p:cNvPr id="171" name="组合 691"/>
            <p:cNvGrpSpPr/>
            <p:nvPr/>
          </p:nvGrpSpPr>
          <p:grpSpPr>
            <a:xfrm flipV="1">
              <a:off x="7348538" y="4186025"/>
              <a:ext cx="461962" cy="228611"/>
              <a:chOff x="8510588" y="2857500"/>
              <a:chExt cx="461962" cy="144463"/>
            </a:xfrm>
          </p:grpSpPr>
          <p:cxnSp>
            <p:nvCxnSpPr>
              <p:cNvPr id="173" name="直接连接符 172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接连接符 173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接连接符 174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2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78" name="组合 177"/>
          <p:cNvGrpSpPr/>
          <p:nvPr/>
        </p:nvGrpSpPr>
        <p:grpSpPr>
          <a:xfrm>
            <a:off x="8307840" y="2845829"/>
            <a:ext cx="461962" cy="338138"/>
            <a:chOff x="7348538" y="4123199"/>
            <a:chExt cx="461962" cy="338138"/>
          </a:xfrm>
        </p:grpSpPr>
        <p:grpSp>
          <p:nvGrpSpPr>
            <p:cNvPr id="179" name="组合 699"/>
            <p:cNvGrpSpPr/>
            <p:nvPr/>
          </p:nvGrpSpPr>
          <p:grpSpPr>
            <a:xfrm flipV="1">
              <a:off x="7348538" y="4186024"/>
              <a:ext cx="461962" cy="228611"/>
              <a:chOff x="8510588" y="2857500"/>
              <a:chExt cx="461962" cy="144463"/>
            </a:xfrm>
          </p:grpSpPr>
          <p:cxnSp>
            <p:nvCxnSpPr>
              <p:cNvPr id="181" name="直接连接符 180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0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86" name="组合 185"/>
          <p:cNvGrpSpPr/>
          <p:nvPr/>
        </p:nvGrpSpPr>
        <p:grpSpPr>
          <a:xfrm>
            <a:off x="8310222" y="2845828"/>
            <a:ext cx="461962" cy="338138"/>
            <a:chOff x="7348538" y="4123199"/>
            <a:chExt cx="461962" cy="338138"/>
          </a:xfrm>
        </p:grpSpPr>
        <p:grpSp>
          <p:nvGrpSpPr>
            <p:cNvPr id="187" name="组合 707"/>
            <p:cNvGrpSpPr/>
            <p:nvPr/>
          </p:nvGrpSpPr>
          <p:grpSpPr>
            <a:xfrm flipV="1">
              <a:off x="7348538" y="4186023"/>
              <a:ext cx="461962" cy="228611"/>
              <a:chOff x="8510588" y="2857500"/>
              <a:chExt cx="461962" cy="144463"/>
            </a:xfrm>
          </p:grpSpPr>
          <p:cxnSp>
            <p:nvCxnSpPr>
              <p:cNvPr id="189" name="直接连接符 188"/>
              <p:cNvCxnSpPr/>
              <p:nvPr/>
            </p:nvCxnSpPr>
            <p:spPr>
              <a:xfrm>
                <a:off x="8510588" y="2857500"/>
                <a:ext cx="138112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直接连接符 192"/>
              <p:cNvCxnSpPr/>
              <p:nvPr/>
            </p:nvCxnSpPr>
            <p:spPr>
              <a:xfrm>
                <a:off x="8805863" y="2862263"/>
                <a:ext cx="166687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8" name="Rectangle 146"/>
            <p:cNvSpPr>
              <a:spLocks noChangeArrowheads="1"/>
            </p:cNvSpPr>
            <p:nvPr/>
          </p:nvSpPr>
          <p:spPr bwMode="auto">
            <a:xfrm>
              <a:off x="7424057" y="4123199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16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cxnSp>
        <p:nvCxnSpPr>
          <p:cNvPr id="109" name="直接连接符 108"/>
          <p:cNvCxnSpPr/>
          <p:nvPr/>
        </p:nvCxnSpPr>
        <p:spPr>
          <a:xfrm flipV="1">
            <a:off x="7196138" y="2281238"/>
            <a:ext cx="144000" cy="0"/>
          </a:xfrm>
          <a:prstGeom prst="line">
            <a:avLst/>
          </a:prstGeom>
          <a:ln w="1905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V="1">
            <a:off x="7200900" y="2814638"/>
            <a:ext cx="144000" cy="0"/>
          </a:xfrm>
          <a:prstGeom prst="line">
            <a:avLst/>
          </a:prstGeom>
          <a:ln w="1905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5"/>
                                            </p:cond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1"/>
                                            </p:cond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5"/>
                                            </p:cond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9"/>
                                            </p:cond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8"/>
                                            </p:cond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2"/>
                                            </p:cond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6"/>
                                            </p:cond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3" grpId="0" autoUpdateAnimBg="0"/>
      <p:bldP spid="45" grpId="0" autoUpdateAnimBg="0"/>
      <p:bldP spid="46" grpId="0" autoUpdateAnimBg="0"/>
      <p:bldP spid="4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1709284" y="130629"/>
            <a:ext cx="57610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 b="1" i="0" dirty="0">
                <a:latin typeface="华文中宋" pitchFamily="2" charset="-122"/>
                <a:ea typeface="华文中宋" pitchFamily="2" charset="-122"/>
              </a:rPr>
              <a:t>输入输出逻辑状态对应关系表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26357" y="680810"/>
            <a:ext cx="8543937" cy="4202113"/>
            <a:chOff x="488" y="768"/>
            <a:chExt cx="5137" cy="2647"/>
          </a:xfrm>
        </p:grpSpPr>
        <p:sp>
          <p:nvSpPr>
            <p:cNvPr id="4" name="AutoShape 9"/>
            <p:cNvSpPr>
              <a:spLocks noChangeArrowheads="1"/>
            </p:cNvSpPr>
            <p:nvPr/>
          </p:nvSpPr>
          <p:spPr bwMode="auto">
            <a:xfrm>
              <a:off x="488" y="768"/>
              <a:ext cx="5058" cy="2640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99CCFF"/>
                </a:gs>
                <a:gs pos="100000">
                  <a:srgbClr val="6699FF"/>
                </a:gs>
              </a:gsLst>
              <a:lin ang="5400000" scaled="1"/>
            </a:gradFill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Rectangle 10"/>
            <p:cNvSpPr>
              <a:spLocks noChangeArrowheads="1"/>
            </p:cNvSpPr>
            <p:nvPr/>
          </p:nvSpPr>
          <p:spPr bwMode="auto">
            <a:xfrm>
              <a:off x="528" y="864"/>
              <a:ext cx="5097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Q</a:t>
              </a:r>
              <a:r>
                <a:rPr lang="en-US" altLang="zh-CN" b="1" i="0" baseline="-25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3</a:t>
              </a:r>
              <a:r>
                <a:rPr lang="en-US" altLang="zh-CN" sz="12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  </a:t>
              </a:r>
              <a:r>
                <a:rPr lang="en-US" altLang="zh-CN" sz="2400" b="1" i="1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Q</a:t>
              </a:r>
              <a:r>
                <a:rPr lang="en-US" altLang="zh-CN" b="1" i="0" baseline="-25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2 </a:t>
              </a:r>
              <a:r>
                <a:rPr lang="en-US" altLang="zh-CN" sz="24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</a:t>
              </a:r>
              <a:r>
                <a:rPr lang="en-US" altLang="zh-CN" sz="2400" b="1" i="1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Q</a:t>
              </a:r>
              <a:r>
                <a:rPr lang="en-US" altLang="zh-CN" b="1" i="0" baseline="-25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1</a:t>
              </a:r>
              <a:r>
                <a:rPr lang="en-US" altLang="zh-CN" sz="24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 </a:t>
              </a:r>
              <a:r>
                <a:rPr lang="en-US" altLang="zh-CN" sz="2400" b="1" i="1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Q</a:t>
              </a:r>
              <a:r>
                <a:rPr lang="en-US" altLang="zh-CN" b="1" i="0" baseline="-25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0</a:t>
              </a:r>
              <a:r>
                <a:rPr lang="en-US" altLang="zh-CN" sz="24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    </a:t>
              </a:r>
              <a:r>
                <a:rPr lang="en-US" altLang="zh-CN" sz="2400" b="1" i="0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        </a:t>
              </a:r>
              <a:r>
                <a:rPr lang="en-US" altLang="zh-CN" sz="2000" b="1" i="1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J</a:t>
              </a:r>
              <a:r>
                <a:rPr lang="en-US" altLang="zh-CN" sz="2000" b="1" i="0" baseline="-25000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0</a:t>
              </a:r>
              <a:r>
                <a:rPr lang="en-US" altLang="zh-CN" sz="2000" b="1" i="0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</a:t>
              </a:r>
              <a:r>
                <a:rPr lang="en-US" altLang="zh-CN" sz="20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=</a:t>
              </a:r>
              <a:r>
                <a:rPr lang="en-US" altLang="zh-CN" sz="2000" b="1" i="1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K</a:t>
              </a:r>
              <a:r>
                <a:rPr lang="en-US" altLang="zh-CN" sz="2000" b="1" i="0" baseline="-25000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0</a:t>
              </a:r>
              <a:r>
                <a:rPr lang="en-US" altLang="zh-CN" sz="2000" b="1" i="0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=</a:t>
              </a:r>
              <a:r>
                <a:rPr lang="en-US" altLang="zh-CN" sz="2000" b="1" i="0" dirty="0" smtClean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 </a:t>
              </a:r>
              <a:r>
                <a:rPr lang="en-US" altLang="zh-CN" sz="2000" b="1" i="1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J</a:t>
              </a:r>
              <a:r>
                <a:rPr lang="en-US" altLang="zh-CN" sz="2000" b="1" i="0" baseline="-25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1</a:t>
              </a:r>
              <a:r>
                <a:rPr lang="en-US" altLang="zh-CN" sz="20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=</a:t>
              </a:r>
              <a:r>
                <a:rPr lang="en-US" altLang="zh-CN" sz="2000" b="1" i="1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K</a:t>
              </a:r>
              <a:r>
                <a:rPr lang="en-US" altLang="zh-CN" sz="2000" b="1" i="0" baseline="-25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1</a:t>
              </a:r>
              <a:r>
                <a:rPr lang="en-US" altLang="zh-CN" sz="20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=</a:t>
              </a:r>
              <a:r>
                <a:rPr lang="en-US" altLang="zh-CN" sz="2000" b="1" i="1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Q</a:t>
              </a:r>
              <a:r>
                <a:rPr lang="en-US" altLang="zh-CN" sz="2000" b="1" i="0" baseline="-25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0</a:t>
              </a:r>
              <a:r>
                <a:rPr lang="en-US" altLang="zh-CN" sz="20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  </a:t>
              </a:r>
              <a:r>
                <a:rPr lang="en-US" altLang="zh-CN" sz="2000" b="1" i="0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</a:t>
              </a:r>
              <a:r>
                <a:rPr lang="en-US" altLang="zh-CN" sz="2000" b="1" i="1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J</a:t>
              </a:r>
              <a:r>
                <a:rPr lang="en-US" altLang="zh-CN" sz="2000" b="1" i="0" baseline="-25000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2</a:t>
              </a:r>
              <a:r>
                <a:rPr lang="en-US" altLang="zh-CN" sz="2000" b="1" i="0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</a:t>
              </a:r>
              <a:r>
                <a:rPr lang="en-US" altLang="zh-CN" sz="20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=</a:t>
              </a:r>
              <a:r>
                <a:rPr lang="en-US" altLang="zh-CN" sz="2000" b="1" i="1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K</a:t>
              </a:r>
              <a:r>
                <a:rPr lang="en-US" altLang="zh-CN" sz="2000" b="1" i="0" baseline="-2500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2</a:t>
              </a:r>
              <a:r>
                <a:rPr lang="en-US" altLang="zh-CN" sz="20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=</a:t>
              </a:r>
              <a:r>
                <a:rPr lang="en-US" altLang="zh-CN" sz="2000" b="1" i="1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Q</a:t>
              </a:r>
              <a:r>
                <a:rPr lang="en-US" altLang="zh-CN" sz="2000" b="1" i="0" baseline="-25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0 </a:t>
              </a:r>
              <a:r>
                <a:rPr lang="en-US" altLang="zh-CN" sz="2000" b="1" i="1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Q</a:t>
              </a:r>
              <a:r>
                <a:rPr lang="en-US" altLang="zh-CN" sz="2000" b="1" i="0" baseline="-25000" dirty="0">
                  <a:latin typeface="Times New Roman" pitchFamily="18" charset="0"/>
                  <a:ea typeface="楷体_GB2312" pitchFamily="49" charset="-122"/>
                  <a:cs typeface="Times New Roman" pitchFamily="18" charset="0"/>
                </a:rPr>
                <a:t>1</a:t>
              </a:r>
              <a:r>
                <a:rPr lang="en-US" altLang="zh-CN" sz="20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 </a:t>
              </a:r>
              <a:r>
                <a:rPr lang="en-US" altLang="zh-CN" sz="2000" b="1" i="1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J</a:t>
              </a:r>
              <a:r>
                <a:rPr lang="en-US" altLang="zh-CN" sz="2000" b="1" i="0" baseline="-25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3 </a:t>
              </a:r>
              <a:r>
                <a:rPr lang="en-US" altLang="zh-CN" sz="20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=</a:t>
              </a:r>
              <a:r>
                <a:rPr lang="en-US" altLang="zh-CN" sz="2000" b="1" i="1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K</a:t>
              </a:r>
              <a:r>
                <a:rPr lang="en-US" altLang="zh-CN" sz="2000" b="1" i="0" baseline="-25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3</a:t>
              </a:r>
              <a:r>
                <a:rPr lang="en-US" altLang="zh-CN" sz="20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=</a:t>
              </a:r>
              <a:r>
                <a:rPr lang="en-US" altLang="zh-CN" sz="2000" b="1" i="1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Q</a:t>
              </a:r>
              <a:r>
                <a:rPr lang="en-US" altLang="zh-CN" sz="2000" b="1" i="0" baseline="-2500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0</a:t>
              </a:r>
              <a:r>
                <a:rPr lang="en-US" altLang="zh-CN" sz="2000" b="1" i="0" dirty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 </a:t>
              </a:r>
              <a:r>
                <a:rPr lang="en-US" altLang="zh-CN" sz="2000" b="1" i="1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Q</a:t>
              </a:r>
              <a:r>
                <a:rPr lang="en-US" altLang="zh-CN" sz="2000" b="1" i="0" baseline="-25000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1</a:t>
              </a:r>
              <a:r>
                <a:rPr lang="en-US" altLang="zh-CN" sz="2000" b="1" i="1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Q</a:t>
              </a:r>
              <a:r>
                <a:rPr lang="en-US" altLang="zh-CN" sz="2000" b="1" i="0" baseline="-25000" dirty="0" smtClean="0">
                  <a:latin typeface="Times New Roman" pitchFamily="18" charset="0"/>
                  <a:ea typeface="幼圆" pitchFamily="49" charset="-122"/>
                  <a:cs typeface="Times New Roman" pitchFamily="18" charset="0"/>
                </a:rPr>
                <a:t>2</a:t>
              </a:r>
              <a:endParaRPr lang="en-US" altLang="zh-CN" sz="2000" b="1" i="0" baseline="-25000" dirty="0">
                <a:latin typeface="Times New Roman" pitchFamily="18" charset="0"/>
                <a:ea typeface="幼圆" pitchFamily="49" charset="-122"/>
                <a:cs typeface="Times New Roman" pitchFamily="18" charset="0"/>
              </a:endParaRPr>
            </a:p>
            <a:p>
              <a:endParaRPr lang="en-US" altLang="zh-CN" sz="1000" b="1" i="0" dirty="0">
                <a:latin typeface="Times New Roman" pitchFamily="18" charset="0"/>
                <a:ea typeface="幼圆" pitchFamily="49" charset="-122"/>
                <a:cs typeface="Times New Roman" pitchFamily="18" charset="0"/>
              </a:endParaRPr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527" y="1152"/>
              <a:ext cx="4753" cy="0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12"/>
            <p:cNvSpPr>
              <a:spLocks noChangeShapeType="1"/>
            </p:cNvSpPr>
            <p:nvPr/>
          </p:nvSpPr>
          <p:spPr bwMode="auto">
            <a:xfrm>
              <a:off x="1669" y="775"/>
              <a:ext cx="0" cy="2640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489857" y="129041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0    0   0</a:t>
            </a:r>
            <a:endParaRPr lang="en-US" altLang="zh-CN" sz="2400" b="1" i="0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3233056" y="1290410"/>
            <a:ext cx="47135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  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0" name="Line 15"/>
          <p:cNvSpPr>
            <a:spLocks noChangeShapeType="1"/>
          </p:cNvSpPr>
          <p:nvPr/>
        </p:nvSpPr>
        <p:spPr bwMode="auto">
          <a:xfrm>
            <a:off x="2394857" y="144281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 flipH="1">
            <a:off x="2394857" y="1519010"/>
            <a:ext cx="990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489857" y="159521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>
            <a:off x="2394857" y="144281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>
            <a:off x="2394857" y="174761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3233057" y="1595210"/>
            <a:ext cx="484414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  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0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endParaRPr lang="en-US" altLang="zh-CN" sz="2400" b="1" i="0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16" name="Line 21"/>
          <p:cNvSpPr>
            <a:spLocks noChangeShapeType="1"/>
          </p:cNvSpPr>
          <p:nvPr/>
        </p:nvSpPr>
        <p:spPr bwMode="auto">
          <a:xfrm flipH="1">
            <a:off x="2394857" y="1841273"/>
            <a:ext cx="990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 Box 22"/>
          <p:cNvSpPr txBox="1">
            <a:spLocks noChangeArrowheads="1"/>
          </p:cNvSpPr>
          <p:nvPr/>
        </p:nvSpPr>
        <p:spPr bwMode="auto">
          <a:xfrm>
            <a:off x="489857" y="190001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0  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>
            <a:off x="2394857" y="2120673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Box 24"/>
          <p:cNvSpPr txBox="1">
            <a:spLocks noChangeArrowheads="1"/>
          </p:cNvSpPr>
          <p:nvPr/>
        </p:nvSpPr>
        <p:spPr bwMode="auto">
          <a:xfrm>
            <a:off x="3233057" y="1968273"/>
            <a:ext cx="470262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1      0  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0" name="Line 25"/>
          <p:cNvSpPr>
            <a:spLocks noChangeShapeType="1"/>
          </p:cNvSpPr>
          <p:nvPr/>
        </p:nvSpPr>
        <p:spPr bwMode="auto">
          <a:xfrm flipH="1">
            <a:off x="2377395" y="2247673"/>
            <a:ext cx="990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Box 26"/>
          <p:cNvSpPr txBox="1">
            <a:spLocks noChangeArrowheads="1"/>
          </p:cNvSpPr>
          <p:nvPr/>
        </p:nvSpPr>
        <p:spPr bwMode="auto">
          <a:xfrm>
            <a:off x="489857" y="228101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0  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22" name="Line 27"/>
          <p:cNvSpPr>
            <a:spLocks noChangeShapeType="1"/>
          </p:cNvSpPr>
          <p:nvPr/>
        </p:nvSpPr>
        <p:spPr bwMode="auto">
          <a:xfrm>
            <a:off x="2394857" y="250961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Box 28"/>
          <p:cNvSpPr txBox="1">
            <a:spLocks noChangeArrowheads="1"/>
          </p:cNvSpPr>
          <p:nvPr/>
        </p:nvSpPr>
        <p:spPr bwMode="auto">
          <a:xfrm>
            <a:off x="3233056" y="2357210"/>
            <a:ext cx="46808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  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endParaRPr lang="en-US" altLang="zh-CN" sz="2400" b="1" i="0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24" name="Line 29"/>
          <p:cNvSpPr>
            <a:spLocks noChangeShapeType="1"/>
          </p:cNvSpPr>
          <p:nvPr/>
        </p:nvSpPr>
        <p:spPr bwMode="auto">
          <a:xfrm flipH="1">
            <a:off x="2377395" y="2585810"/>
            <a:ext cx="990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ext Box 30"/>
          <p:cNvSpPr txBox="1">
            <a:spLocks noChangeArrowheads="1"/>
          </p:cNvSpPr>
          <p:nvPr/>
        </p:nvSpPr>
        <p:spPr bwMode="auto">
          <a:xfrm>
            <a:off x="489857" y="258581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 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0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6" name="Line 31"/>
          <p:cNvSpPr>
            <a:spLocks noChangeShapeType="1"/>
          </p:cNvSpPr>
          <p:nvPr/>
        </p:nvSpPr>
        <p:spPr bwMode="auto">
          <a:xfrm>
            <a:off x="2394857" y="281441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Box 32"/>
          <p:cNvSpPr txBox="1">
            <a:spLocks noChangeArrowheads="1"/>
          </p:cNvSpPr>
          <p:nvPr/>
        </p:nvSpPr>
        <p:spPr bwMode="auto">
          <a:xfrm>
            <a:off x="3233056" y="2679473"/>
            <a:ext cx="476794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   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endParaRPr lang="en-US" altLang="zh-CN" sz="2400" b="1" i="0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28" name="Line 33"/>
          <p:cNvSpPr>
            <a:spLocks noChangeShapeType="1"/>
          </p:cNvSpPr>
          <p:nvPr/>
        </p:nvSpPr>
        <p:spPr bwMode="auto">
          <a:xfrm flipH="1">
            <a:off x="2394857" y="2925535"/>
            <a:ext cx="990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489857" y="296681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0" name="Line 35"/>
          <p:cNvSpPr>
            <a:spLocks noChangeShapeType="1"/>
          </p:cNvSpPr>
          <p:nvPr/>
        </p:nvSpPr>
        <p:spPr bwMode="auto">
          <a:xfrm>
            <a:off x="2394857" y="3195410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Text Box 36"/>
          <p:cNvSpPr txBox="1">
            <a:spLocks noChangeArrowheads="1"/>
          </p:cNvSpPr>
          <p:nvPr/>
        </p:nvSpPr>
        <p:spPr bwMode="auto">
          <a:xfrm>
            <a:off x="3233057" y="3043010"/>
            <a:ext cx="459377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   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0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2" name="Line 37"/>
          <p:cNvSpPr>
            <a:spLocks noChangeShapeType="1"/>
          </p:cNvSpPr>
          <p:nvPr/>
        </p:nvSpPr>
        <p:spPr bwMode="auto">
          <a:xfrm flipH="1">
            <a:off x="2394857" y="3314473"/>
            <a:ext cx="990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3" name="Text Box 38"/>
          <p:cNvSpPr txBox="1">
            <a:spLocks noChangeArrowheads="1"/>
          </p:cNvSpPr>
          <p:nvPr/>
        </p:nvSpPr>
        <p:spPr bwMode="auto">
          <a:xfrm>
            <a:off x="489857" y="334781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>
            <a:off x="2394857" y="3619273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 Box 40"/>
          <p:cNvSpPr txBox="1">
            <a:spLocks noChangeArrowheads="1"/>
          </p:cNvSpPr>
          <p:nvPr/>
        </p:nvSpPr>
        <p:spPr bwMode="auto">
          <a:xfrm>
            <a:off x="3233057" y="3431948"/>
            <a:ext cx="480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   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6" name="Line 41"/>
          <p:cNvSpPr>
            <a:spLocks noChangeShapeType="1"/>
          </p:cNvSpPr>
          <p:nvPr/>
        </p:nvSpPr>
        <p:spPr bwMode="auto">
          <a:xfrm flipH="1">
            <a:off x="2378982" y="3736748"/>
            <a:ext cx="990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Text Box 42"/>
          <p:cNvSpPr txBox="1">
            <a:spLocks noChangeArrowheads="1"/>
          </p:cNvSpPr>
          <p:nvPr/>
        </p:nvSpPr>
        <p:spPr bwMode="auto">
          <a:xfrm>
            <a:off x="472395" y="3685948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8" name="Line 43"/>
          <p:cNvSpPr>
            <a:spLocks noChangeShapeType="1"/>
          </p:cNvSpPr>
          <p:nvPr/>
        </p:nvSpPr>
        <p:spPr bwMode="auto">
          <a:xfrm>
            <a:off x="2394857" y="3992335"/>
            <a:ext cx="990600" cy="7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9" name="Text Box 44"/>
          <p:cNvSpPr txBox="1">
            <a:spLocks noChangeArrowheads="1"/>
          </p:cNvSpPr>
          <p:nvPr/>
        </p:nvSpPr>
        <p:spPr bwMode="auto">
          <a:xfrm>
            <a:off x="3233057" y="3805010"/>
            <a:ext cx="482237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1    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    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endParaRPr lang="en-US" altLang="zh-CN" sz="2400" b="1" i="0" dirty="0">
              <a:latin typeface="Times New Roman" pitchFamily="18" charset="0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40" name="Line 45"/>
          <p:cNvSpPr>
            <a:spLocks noChangeShapeType="1"/>
          </p:cNvSpPr>
          <p:nvPr/>
        </p:nvSpPr>
        <p:spPr bwMode="auto">
          <a:xfrm flipH="1">
            <a:off x="2361520" y="4125685"/>
            <a:ext cx="9906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Text Box 46"/>
          <p:cNvSpPr txBox="1">
            <a:spLocks noChangeArrowheads="1"/>
          </p:cNvSpPr>
          <p:nvPr/>
        </p:nvSpPr>
        <p:spPr bwMode="auto">
          <a:xfrm>
            <a:off x="489857" y="410981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 </a:t>
            </a:r>
            <a:r>
              <a:rPr lang="en-US" altLang="zh-CN" sz="2400" b="1" i="0" dirty="0" smtClean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   0   </a:t>
            </a:r>
            <a:r>
              <a:rPr lang="en-US" altLang="zh-CN" sz="2400" b="1" i="0" dirty="0">
                <a:latin typeface="Times New Roman" pitchFamily="18" charset="0"/>
                <a:ea typeface="黑体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42" name="Rectangle 47"/>
          <p:cNvSpPr>
            <a:spLocks noChangeArrowheads="1"/>
          </p:cNvSpPr>
          <p:nvPr/>
        </p:nvSpPr>
        <p:spPr bwMode="auto">
          <a:xfrm>
            <a:off x="3842658" y="4403724"/>
            <a:ext cx="426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 b="1" i="0" dirty="0">
                <a:latin typeface="华文中宋" pitchFamily="2" charset="-122"/>
                <a:ea typeface="华文中宋" pitchFamily="2" charset="-122"/>
              </a:rPr>
              <a:t>特点：</a:t>
            </a:r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各触发器同步动作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8" grpId="0" autoUpdateAnimBg="0"/>
      <p:bldP spid="9" grpId="0" autoUpdateAnimBg="0"/>
      <p:bldP spid="10" grpId="0" animBg="1"/>
      <p:bldP spid="11" grpId="0" animBg="1"/>
      <p:bldP spid="12" grpId="0" autoUpdateAnimBg="0"/>
      <p:bldP spid="13" grpId="0" animBg="1"/>
      <p:bldP spid="14" grpId="0" animBg="1"/>
      <p:bldP spid="15" grpId="0" autoUpdateAnimBg="0"/>
      <p:bldP spid="16" grpId="0" animBg="1"/>
      <p:bldP spid="17" grpId="0" autoUpdateAnimBg="0"/>
      <p:bldP spid="18" grpId="0" animBg="1"/>
      <p:bldP spid="19" grpId="0" autoUpdateAnimBg="0"/>
      <p:bldP spid="20" grpId="0" animBg="1"/>
      <p:bldP spid="21" grpId="0" autoUpdateAnimBg="0"/>
      <p:bldP spid="22" grpId="0" animBg="1"/>
      <p:bldP spid="23" grpId="0" autoUpdateAnimBg="0"/>
      <p:bldP spid="24" grpId="0" animBg="1"/>
      <p:bldP spid="25" grpId="0" autoUpdateAnimBg="0"/>
      <p:bldP spid="26" grpId="0" animBg="1"/>
      <p:bldP spid="27" grpId="0" autoUpdateAnimBg="0"/>
      <p:bldP spid="28" grpId="0" animBg="1"/>
      <p:bldP spid="29" grpId="0" autoUpdateAnimBg="0"/>
      <p:bldP spid="30" grpId="0" animBg="1"/>
      <p:bldP spid="31" grpId="0" autoUpdateAnimBg="0"/>
      <p:bldP spid="32" grpId="0" animBg="1"/>
      <p:bldP spid="33" grpId="0" autoUpdateAnimBg="0"/>
      <p:bldP spid="34" grpId="0" animBg="1"/>
      <p:bldP spid="35" grpId="0" autoUpdateAnimBg="0"/>
      <p:bldP spid="36" grpId="0" animBg="1"/>
      <p:bldP spid="37" grpId="0" autoUpdateAnimBg="0"/>
      <p:bldP spid="38" grpId="0" animBg="1"/>
      <p:bldP spid="39" grpId="0" autoUpdateAnimBg="0"/>
      <p:bldP spid="40" grpId="0" animBg="1"/>
      <p:bldP spid="41" grpId="0" autoUpdateAnimBg="0"/>
      <p:bldP spid="4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424543" y="1110343"/>
          <a:ext cx="8490857" cy="3326485"/>
        </p:xfrm>
        <a:graphic>
          <a:graphicData uri="http://schemas.openxmlformats.org/presentationml/2006/ole">
            <p:oleObj spid="_x0000_s3074" name="图片" r:id="rId3" imgW="4400640" imgH="1724040" progId="Word.Picture.8">
              <p:embed/>
            </p:oleObj>
          </a:graphicData>
        </a:graphic>
      </p:graphicFrame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522514" y="391885"/>
            <a:ext cx="8120743" cy="5847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4</a:t>
            </a: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位集成二进制同步加法计数器</a:t>
            </a:r>
            <a:r>
              <a:rPr lang="en-US" altLang="zh-CN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74LS161/163</a:t>
            </a:r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752475" y="4604657"/>
            <a:ext cx="411163" cy="1588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Line 9"/>
          <p:cNvSpPr>
            <a:spLocks noChangeShapeType="1"/>
          </p:cNvSpPr>
          <p:nvPr/>
        </p:nvSpPr>
        <p:spPr bwMode="auto">
          <a:xfrm>
            <a:off x="4389438" y="4628470"/>
            <a:ext cx="381000" cy="158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5403850" y="4628470"/>
            <a:ext cx="381000" cy="158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6050" name="Object 2"/>
          <p:cNvGraphicFramePr>
            <a:graphicFrameLocks noChangeAspect="1"/>
          </p:cNvGraphicFramePr>
          <p:nvPr/>
        </p:nvGraphicFramePr>
        <p:xfrm>
          <a:off x="423863" y="1109663"/>
          <a:ext cx="8491537" cy="3327400"/>
        </p:xfrm>
        <a:graphic>
          <a:graphicData uri="http://schemas.openxmlformats.org/presentationml/2006/ole">
            <p:oleObj spid="_x0000_s4098" name="图片" r:id="rId3" imgW="4400640" imgH="1724040" progId="Word.Picture.8">
              <p:embed/>
            </p:oleObj>
          </a:graphicData>
        </a:graphic>
      </p:graphicFrame>
      <p:sp useBgFill="1">
        <p:nvSpPr>
          <p:cNvPr id="17" name="矩形 16"/>
          <p:cNvSpPr/>
          <p:nvPr/>
        </p:nvSpPr>
        <p:spPr>
          <a:xfrm>
            <a:off x="413657" y="1077687"/>
            <a:ext cx="4376057" cy="3396342"/>
          </a:xfrm>
          <a:prstGeom prst="rect">
            <a:avLst/>
          </a:prstGeom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250373" y="1093561"/>
            <a:ext cx="3327400" cy="523220"/>
            <a:chOff x="250373" y="1093561"/>
            <a:chExt cx="3327400" cy="523220"/>
          </a:xfrm>
        </p:grpSpPr>
        <p:sp>
          <p:nvSpPr>
            <p:cNvPr id="2" name="Text Box 5"/>
            <p:cNvSpPr txBox="1">
              <a:spLocks noChangeArrowheads="1"/>
            </p:cNvSpPr>
            <p:nvPr/>
          </p:nvSpPr>
          <p:spPr bwMode="auto">
            <a:xfrm>
              <a:off x="250373" y="1093561"/>
              <a:ext cx="33274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① </a:t>
              </a:r>
              <a:r>
                <a:rPr lang="en-US" altLang="zh-CN" sz="2800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CR</a:t>
              </a:r>
              <a:r>
                <a:rPr lang="en-US" altLang="zh-CN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=0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时异步清零。</a:t>
              </a:r>
            </a:p>
          </p:txBody>
        </p:sp>
        <p:sp>
          <p:nvSpPr>
            <p:cNvPr id="3" name="Line 6"/>
            <p:cNvSpPr>
              <a:spLocks noChangeShapeType="1"/>
            </p:cNvSpPr>
            <p:nvPr/>
          </p:nvSpPr>
          <p:spPr bwMode="auto">
            <a:xfrm>
              <a:off x="849767" y="1187450"/>
              <a:ext cx="3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224518" y="1668009"/>
            <a:ext cx="4608513" cy="523220"/>
            <a:chOff x="224518" y="1668009"/>
            <a:chExt cx="4608513" cy="523220"/>
          </a:xfrm>
        </p:grpSpPr>
        <p:sp>
          <p:nvSpPr>
            <p:cNvPr id="4" name="Text Box 8"/>
            <p:cNvSpPr txBox="1">
              <a:spLocks noChangeArrowheads="1"/>
            </p:cNvSpPr>
            <p:nvPr/>
          </p:nvSpPr>
          <p:spPr bwMode="auto">
            <a:xfrm>
              <a:off x="224518" y="1668009"/>
              <a:ext cx="460851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② </a:t>
              </a:r>
              <a:r>
                <a:rPr lang="en-US" altLang="zh-CN" sz="2800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CR</a:t>
              </a:r>
              <a:r>
                <a:rPr lang="en-US" altLang="zh-CN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=1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、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LD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=0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时同步置数。</a:t>
              </a:r>
            </a:p>
          </p:txBody>
        </p:sp>
        <p:sp>
          <p:nvSpPr>
            <p:cNvPr id="5" name="Line 9"/>
            <p:cNvSpPr>
              <a:spLocks noChangeShapeType="1"/>
            </p:cNvSpPr>
            <p:nvPr/>
          </p:nvSpPr>
          <p:spPr bwMode="auto">
            <a:xfrm>
              <a:off x="805317" y="1758950"/>
              <a:ext cx="3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5458279" y="2782888"/>
            <a:ext cx="381000" cy="158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7" name="Group 11"/>
          <p:cNvGrpSpPr>
            <a:grpSpLocks/>
          </p:cNvGrpSpPr>
          <p:nvPr/>
        </p:nvGrpSpPr>
        <p:grpSpPr bwMode="auto">
          <a:xfrm>
            <a:off x="221796" y="2268541"/>
            <a:ext cx="4778375" cy="1773239"/>
            <a:chOff x="240" y="3264"/>
            <a:chExt cx="3010" cy="1117"/>
          </a:xfrm>
        </p:grpSpPr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240" y="3264"/>
              <a:ext cx="3010" cy="1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③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CR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LD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=1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且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CP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CP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P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=1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  <a:r>
                <a:rPr lang="zh-CN" altLang="en-US" sz="2800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，按照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4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位自然二进制码进行同步二进制计数。</a:t>
              </a:r>
            </a:p>
          </p:txBody>
        </p:sp>
        <p:sp>
          <p:nvSpPr>
            <p:cNvPr id="9" name="Freeform 13"/>
            <p:cNvSpPr>
              <a:spLocks/>
            </p:cNvSpPr>
            <p:nvPr/>
          </p:nvSpPr>
          <p:spPr bwMode="auto">
            <a:xfrm>
              <a:off x="558" y="3321"/>
              <a:ext cx="227" cy="0"/>
            </a:xfrm>
            <a:custGeom>
              <a:avLst/>
              <a:gdLst>
                <a:gd name="T0" fmla="*/ 0 w 211"/>
                <a:gd name="T1" fmla="*/ 0 h 1"/>
                <a:gd name="T2" fmla="*/ 211 w 211"/>
                <a:gd name="T3" fmla="*/ 0 h 1"/>
                <a:gd name="T4" fmla="*/ 0 60000 65536"/>
                <a:gd name="T5" fmla="*/ 0 60000 65536"/>
                <a:gd name="T6" fmla="*/ 0 w 211"/>
                <a:gd name="T7" fmla="*/ 0 h 1"/>
                <a:gd name="T8" fmla="*/ 211 w 211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1" h="1">
                  <a:moveTo>
                    <a:pt x="0" y="0"/>
                  </a:moveTo>
                  <a:cubicBezTo>
                    <a:pt x="70" y="0"/>
                    <a:pt x="141" y="0"/>
                    <a:pt x="211" y="0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" name="Freeform 14"/>
            <p:cNvSpPr>
              <a:spLocks/>
            </p:cNvSpPr>
            <p:nvPr/>
          </p:nvSpPr>
          <p:spPr bwMode="auto">
            <a:xfrm>
              <a:off x="955" y="3322"/>
              <a:ext cx="227" cy="0"/>
            </a:xfrm>
            <a:custGeom>
              <a:avLst/>
              <a:gdLst>
                <a:gd name="T0" fmla="*/ 0 w 211"/>
                <a:gd name="T1" fmla="*/ 0 h 1"/>
                <a:gd name="T2" fmla="*/ 211 w 211"/>
                <a:gd name="T3" fmla="*/ 0 h 1"/>
                <a:gd name="T4" fmla="*/ 0 60000 65536"/>
                <a:gd name="T5" fmla="*/ 0 60000 65536"/>
                <a:gd name="T6" fmla="*/ 0 w 211"/>
                <a:gd name="T7" fmla="*/ 0 h 1"/>
                <a:gd name="T8" fmla="*/ 211 w 211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1" h="1">
                  <a:moveTo>
                    <a:pt x="0" y="0"/>
                  </a:moveTo>
                  <a:cubicBezTo>
                    <a:pt x="70" y="0"/>
                    <a:pt x="141" y="0"/>
                    <a:pt x="211" y="0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6050" name="Object 2"/>
          <p:cNvGraphicFramePr>
            <a:graphicFrameLocks noChangeAspect="1"/>
          </p:cNvGraphicFramePr>
          <p:nvPr/>
        </p:nvGraphicFramePr>
        <p:xfrm>
          <a:off x="423863" y="1109663"/>
          <a:ext cx="8491537" cy="3327400"/>
        </p:xfrm>
        <a:graphic>
          <a:graphicData uri="http://schemas.openxmlformats.org/presentationml/2006/ole">
            <p:oleObj spid="_x0000_s5122" name="图片" r:id="rId4" imgW="4400640" imgH="1724040" progId="Word.Picture.8">
              <p:embed/>
            </p:oleObj>
          </a:graphicData>
        </a:graphic>
      </p:graphicFrame>
      <p:sp useBgFill="1">
        <p:nvSpPr>
          <p:cNvPr id="17" name="矩形 16"/>
          <p:cNvSpPr/>
          <p:nvPr/>
        </p:nvSpPr>
        <p:spPr>
          <a:xfrm>
            <a:off x="413657" y="1077687"/>
            <a:ext cx="4376057" cy="3396342"/>
          </a:xfrm>
          <a:prstGeom prst="rect">
            <a:avLst/>
          </a:prstGeom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5458279" y="2782888"/>
            <a:ext cx="381000" cy="158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80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1" name="Group 15"/>
          <p:cNvGrpSpPr>
            <a:grpSpLocks/>
          </p:cNvGrpSpPr>
          <p:nvPr/>
        </p:nvGrpSpPr>
        <p:grpSpPr bwMode="auto">
          <a:xfrm>
            <a:off x="261258" y="1343935"/>
            <a:ext cx="4538663" cy="954088"/>
            <a:chOff x="240" y="3840"/>
            <a:chExt cx="2859" cy="601"/>
          </a:xfrm>
        </p:grpSpPr>
        <p:sp>
          <p:nvSpPr>
            <p:cNvPr id="12" name="Text Box 16"/>
            <p:cNvSpPr txBox="1">
              <a:spLocks noChangeArrowheads="1"/>
            </p:cNvSpPr>
            <p:nvPr/>
          </p:nvSpPr>
          <p:spPr bwMode="auto">
            <a:xfrm>
              <a:off x="240" y="3840"/>
              <a:ext cx="2859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④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CR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LD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=1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且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CP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·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CP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P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=0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时，计数器状态保持不变。</a:t>
              </a:r>
            </a:p>
          </p:txBody>
        </p:sp>
        <p:sp>
          <p:nvSpPr>
            <p:cNvPr id="13" name="Line 17"/>
            <p:cNvSpPr>
              <a:spLocks noChangeShapeType="1"/>
            </p:cNvSpPr>
            <p:nvPr/>
          </p:nvSpPr>
          <p:spPr bwMode="auto">
            <a:xfrm>
              <a:off x="555" y="3888"/>
              <a:ext cx="22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" name="Line 18"/>
            <p:cNvSpPr>
              <a:spLocks noChangeShapeType="1"/>
            </p:cNvSpPr>
            <p:nvPr/>
          </p:nvSpPr>
          <p:spPr bwMode="auto">
            <a:xfrm>
              <a:off x="997" y="3895"/>
              <a:ext cx="227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26572" y="2944132"/>
            <a:ext cx="4376057" cy="1717778"/>
          </a:xfrm>
          <a:prstGeom prst="rect">
            <a:avLst/>
          </a:prstGeom>
          <a:noFill/>
          <a:ln w="38100">
            <a:solidFill>
              <a:srgbClr val="CC33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defRPr/>
            </a:pPr>
            <a:r>
              <a:rPr lang="en-US" altLang="zh-CN" sz="28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74LS163</a:t>
            </a:r>
            <a:r>
              <a:rPr lang="zh-CN" altLang="en-US" sz="28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的引脚排列和</a:t>
            </a:r>
            <a:r>
              <a:rPr lang="en-US" altLang="zh-CN" sz="28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74LS161</a:t>
            </a:r>
            <a:r>
              <a:rPr lang="zh-CN" altLang="en-US" sz="28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相同，不同之处是</a:t>
            </a:r>
            <a:r>
              <a:rPr lang="en-US" altLang="zh-CN" sz="28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74LS163</a:t>
            </a:r>
            <a:r>
              <a:rPr lang="zh-CN" altLang="en-US" sz="28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采用同步清零方式。</a:t>
            </a:r>
            <a:endParaRPr lang="zh-CN" altLang="en-US" sz="2800" i="0" dirty="0">
              <a:solidFill>
                <a:srgbClr val="C0000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RBRAKE.WAV" builtIn="1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Box 101"/>
          <p:cNvSpPr txBox="1">
            <a:spLocks noChangeArrowheads="1"/>
          </p:cNvSpPr>
          <p:nvPr/>
        </p:nvSpPr>
        <p:spPr bwMode="auto">
          <a:xfrm>
            <a:off x="949778" y="314099"/>
            <a:ext cx="6169479" cy="586957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74LS163</a:t>
            </a:r>
            <a:r>
              <a:rPr lang="zh-CN" altLang="en-US" sz="3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组成的十二进制记数器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6949" y="939120"/>
            <a:ext cx="5311330" cy="3839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547461" y="175759"/>
            <a:ext cx="377416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i="0" dirty="0" smtClean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2).  </a:t>
            </a:r>
            <a:r>
              <a:rPr lang="zh-CN" altLang="en-US" sz="3200" i="0" dirty="0" smtClean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十进制</a:t>
            </a:r>
            <a:r>
              <a:rPr lang="zh-CN" altLang="en-US" sz="3200" i="0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计数器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263648" y="1854654"/>
            <a:ext cx="499837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i="0" dirty="0">
                <a:latin typeface="华文中宋" pitchFamily="2" charset="-122"/>
                <a:ea typeface="华文中宋" pitchFamily="2" charset="-122"/>
              </a:rPr>
              <a:t>状态</a:t>
            </a:r>
            <a:r>
              <a:rPr lang="zh-CN" altLang="en-US" sz="2800" b="1" i="0" dirty="0" smtClean="0">
                <a:latin typeface="华文中宋" pitchFamily="2" charset="-122"/>
                <a:ea typeface="华文中宋" pitchFamily="2" charset="-122"/>
              </a:rPr>
              <a:t>表</a:t>
            </a:r>
            <a:endParaRPr lang="zh-CN" altLang="en-US" sz="3200" b="1" i="0" dirty="0"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2296885" y="784451"/>
            <a:ext cx="5257801" cy="4119563"/>
            <a:chOff x="576" y="1056"/>
            <a:chExt cx="3312" cy="2595"/>
          </a:xfrm>
        </p:grpSpPr>
        <p:grpSp>
          <p:nvGrpSpPr>
            <p:cNvPr id="5" name="Group 7"/>
            <p:cNvGrpSpPr>
              <a:grpSpLocks/>
            </p:cNvGrpSpPr>
            <p:nvPr/>
          </p:nvGrpSpPr>
          <p:grpSpPr bwMode="auto">
            <a:xfrm>
              <a:off x="576" y="1056"/>
              <a:ext cx="3312" cy="2595"/>
              <a:chOff x="576" y="1056"/>
              <a:chExt cx="3312" cy="2595"/>
            </a:xfrm>
          </p:grpSpPr>
          <p:grpSp>
            <p:nvGrpSpPr>
              <p:cNvPr id="10" name="Group 8"/>
              <p:cNvGrpSpPr>
                <a:grpSpLocks/>
              </p:cNvGrpSpPr>
              <p:nvPr/>
            </p:nvGrpSpPr>
            <p:grpSpPr bwMode="auto">
              <a:xfrm>
                <a:off x="576" y="1056"/>
                <a:ext cx="3305" cy="2592"/>
                <a:chOff x="576" y="1056"/>
                <a:chExt cx="3305" cy="2592"/>
              </a:xfrm>
            </p:grpSpPr>
            <p:sp>
              <p:nvSpPr>
                <p:cNvPr id="19" name="AutoShape 9"/>
                <p:cNvSpPr>
                  <a:spLocks noChangeArrowheads="1"/>
                </p:cNvSpPr>
                <p:nvPr/>
              </p:nvSpPr>
              <p:spPr bwMode="auto">
                <a:xfrm>
                  <a:off x="576" y="1056"/>
                  <a:ext cx="3305" cy="2592"/>
                </a:xfrm>
                <a:prstGeom prst="foldedCorner">
                  <a:avLst>
                    <a:gd name="adj" fmla="val 12500"/>
                  </a:avLst>
                </a:prstGeom>
                <a:gradFill rotWithShape="0">
                  <a:gsLst>
                    <a:gs pos="0">
                      <a:schemeClr val="folHlink"/>
                    </a:gs>
                    <a:gs pos="100000">
                      <a:srgbClr val="FFFFCC"/>
                    </a:gs>
                  </a:gsLst>
                  <a:lin ang="270000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0" name="Line 10"/>
                <p:cNvSpPr>
                  <a:spLocks noChangeShapeType="1"/>
                </p:cNvSpPr>
                <p:nvPr/>
              </p:nvSpPr>
              <p:spPr bwMode="auto">
                <a:xfrm>
                  <a:off x="576" y="1392"/>
                  <a:ext cx="324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21" name="Line 11"/>
                <p:cNvSpPr>
                  <a:spLocks noChangeShapeType="1"/>
                </p:cNvSpPr>
                <p:nvPr/>
              </p:nvSpPr>
              <p:spPr bwMode="auto">
                <a:xfrm>
                  <a:off x="1872" y="1056"/>
                  <a:ext cx="0" cy="25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 sz="28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11" name="Rectangle 12"/>
              <p:cNvSpPr>
                <a:spLocks noChangeArrowheads="1"/>
              </p:cNvSpPr>
              <p:nvPr/>
            </p:nvSpPr>
            <p:spPr bwMode="auto">
              <a:xfrm>
                <a:off x="688" y="1092"/>
                <a:ext cx="3138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十进制数      </a:t>
                </a:r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800" b="1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3</a:t>
                </a:r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</a:t>
                </a:r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800" b="1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 </a:t>
                </a:r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</a:t>
                </a:r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800" b="1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</a:t>
                </a:r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Q</a:t>
                </a:r>
                <a:r>
                  <a:rPr lang="en-US" altLang="zh-CN" sz="2800" b="1" i="0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12" name="Rectangle 13"/>
              <p:cNvSpPr>
                <a:spLocks noChangeArrowheads="1"/>
              </p:cNvSpPr>
              <p:nvPr/>
            </p:nvSpPr>
            <p:spPr bwMode="auto">
              <a:xfrm>
                <a:off x="1012" y="1392"/>
                <a:ext cx="2821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      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13" name="Rectangle 14"/>
              <p:cNvSpPr>
                <a:spLocks noChangeArrowheads="1"/>
              </p:cNvSpPr>
              <p:nvPr/>
            </p:nvSpPr>
            <p:spPr bwMode="auto">
              <a:xfrm>
                <a:off x="1012" y="1776"/>
                <a:ext cx="2869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       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800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 0</a:t>
                </a:r>
                <a:endPara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" name="Rectangle 15"/>
              <p:cNvSpPr>
                <a:spLocks noChangeArrowheads="1"/>
              </p:cNvSpPr>
              <p:nvPr/>
            </p:nvSpPr>
            <p:spPr bwMode="auto">
              <a:xfrm>
                <a:off x="1012" y="2160"/>
                <a:ext cx="2876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4             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800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15" name="Rectangle 16"/>
              <p:cNvSpPr>
                <a:spLocks noChangeArrowheads="1"/>
              </p:cNvSpPr>
              <p:nvPr/>
            </p:nvSpPr>
            <p:spPr bwMode="auto">
              <a:xfrm>
                <a:off x="1012" y="2544"/>
                <a:ext cx="2814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6          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0      </a:t>
                </a:r>
                <a:r>
                  <a:rPr lang="en-US" altLang="zh-CN" sz="2800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1       1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 0</a:t>
                </a:r>
                <a:endPara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" name="Rectangle 17"/>
              <p:cNvSpPr>
                <a:spLocks noChangeArrowheads="1"/>
              </p:cNvSpPr>
              <p:nvPr/>
            </p:nvSpPr>
            <p:spPr bwMode="auto">
              <a:xfrm>
                <a:off x="1012" y="2736"/>
                <a:ext cx="2807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7          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0      </a:t>
                </a:r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 </a:t>
                </a:r>
                <a:r>
                  <a:rPr lang="en-US" altLang="zh-CN" sz="2800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 </a:t>
                </a:r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 </a:t>
                </a:r>
                <a:r>
                  <a:rPr lang="en-US" altLang="zh-CN" sz="2800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7" name="Rectangle 18"/>
              <p:cNvSpPr>
                <a:spLocks noChangeArrowheads="1"/>
              </p:cNvSpPr>
              <p:nvPr/>
            </p:nvSpPr>
            <p:spPr bwMode="auto">
              <a:xfrm>
                <a:off x="1012" y="3120"/>
                <a:ext cx="2876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9       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sz="2800" b="1" i="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0      </a:t>
                </a:r>
                <a:r>
                  <a:rPr lang="en-US" altLang="zh-CN" sz="2800" b="1" i="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8" name="Rectangle 19"/>
              <p:cNvSpPr>
                <a:spLocks noChangeArrowheads="1"/>
              </p:cNvSpPr>
              <p:nvPr/>
            </p:nvSpPr>
            <p:spPr bwMode="auto">
              <a:xfrm>
                <a:off x="1012" y="3324"/>
                <a:ext cx="2869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   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  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 </a:t>
                </a:r>
                <a:r>
                  <a:rPr lang="en-US" altLang="zh-CN" sz="2800" b="1" i="0" dirty="0" smtClean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    </a:t>
                </a:r>
                <a:r>
                  <a:rPr lang="en-US" altLang="zh-CN" sz="2800" b="1" i="0" dirty="0">
                    <a:solidFill>
                      <a:srgbClr val="800000"/>
                    </a:solidFill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6" name="Rectangle 20"/>
            <p:cNvSpPr>
              <a:spLocks noChangeArrowheads="1"/>
            </p:cNvSpPr>
            <p:nvPr/>
          </p:nvSpPr>
          <p:spPr bwMode="auto">
            <a:xfrm>
              <a:off x="1012" y="1584"/>
              <a:ext cx="282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   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 </a:t>
              </a:r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</a:t>
              </a:r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 </a:t>
              </a:r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7" name="Rectangle 21"/>
            <p:cNvSpPr>
              <a:spLocks noChangeArrowheads="1"/>
            </p:cNvSpPr>
            <p:nvPr/>
          </p:nvSpPr>
          <p:spPr bwMode="auto">
            <a:xfrm>
              <a:off x="1012" y="1968"/>
              <a:ext cx="282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         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</a:t>
              </a:r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</a:t>
              </a:r>
              <a:r>
                <a:rPr lang="en-US" altLang="zh-CN" sz="28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 1 </a:t>
              </a:r>
              <a:endParaRPr lang="en-US" altLang="zh-CN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" name="Rectangle 22"/>
            <p:cNvSpPr>
              <a:spLocks noChangeArrowheads="1"/>
            </p:cNvSpPr>
            <p:nvPr/>
          </p:nvSpPr>
          <p:spPr bwMode="auto">
            <a:xfrm>
              <a:off x="1012" y="2352"/>
              <a:ext cx="281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5        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 </a:t>
              </a:r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</a:t>
              </a: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  </a:t>
              </a:r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9" name="Rectangle 23"/>
            <p:cNvSpPr>
              <a:spLocks noChangeArrowheads="1"/>
            </p:cNvSpPr>
            <p:nvPr/>
          </p:nvSpPr>
          <p:spPr bwMode="auto">
            <a:xfrm>
              <a:off x="1012" y="2928"/>
              <a:ext cx="281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8        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 </a:t>
              </a:r>
              <a:r>
                <a:rPr lang="en-US" altLang="zh-CN" sz="28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 </a:t>
              </a:r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  </a:t>
              </a:r>
              <a:r>
                <a:rPr lang="en-US" altLang="zh-CN" sz="2800" b="1" i="0" dirty="0" smtClean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 </a:t>
              </a:r>
              <a:r>
                <a:rPr lang="en-US" altLang="zh-CN" sz="2800" b="1" i="0" dirty="0">
                  <a:solidFill>
                    <a:srgbClr val="800000"/>
                  </a:solidFill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9375" y="1004434"/>
            <a:ext cx="7778046" cy="3045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2027918" y="1160802"/>
            <a:ext cx="4851400" cy="528638"/>
            <a:chOff x="866" y="726"/>
            <a:chExt cx="3056" cy="333"/>
          </a:xfrm>
        </p:grpSpPr>
        <p:sp>
          <p:nvSpPr>
            <p:cNvPr id="4" name="Text Box 51"/>
            <p:cNvSpPr txBox="1">
              <a:spLocks noChangeArrowheads="1"/>
            </p:cNvSpPr>
            <p:nvPr/>
          </p:nvSpPr>
          <p:spPr bwMode="auto">
            <a:xfrm>
              <a:off x="3586" y="768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" name="Text Box 52"/>
            <p:cNvSpPr txBox="1">
              <a:spLocks noChangeArrowheads="1"/>
            </p:cNvSpPr>
            <p:nvPr/>
          </p:nvSpPr>
          <p:spPr bwMode="auto">
            <a:xfrm>
              <a:off x="2667" y="751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6" name="Text Box 53"/>
            <p:cNvSpPr txBox="1">
              <a:spLocks noChangeArrowheads="1"/>
            </p:cNvSpPr>
            <p:nvPr/>
          </p:nvSpPr>
          <p:spPr bwMode="auto">
            <a:xfrm>
              <a:off x="1830" y="726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7" name="Text Box 54"/>
            <p:cNvSpPr txBox="1">
              <a:spLocks noChangeArrowheads="1"/>
            </p:cNvSpPr>
            <p:nvPr/>
          </p:nvSpPr>
          <p:spPr bwMode="auto">
            <a:xfrm>
              <a:off x="866" y="737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8" name="Group 55"/>
          <p:cNvGrpSpPr>
            <a:grpSpLocks/>
          </p:cNvGrpSpPr>
          <p:nvPr/>
        </p:nvGrpSpPr>
        <p:grpSpPr bwMode="auto">
          <a:xfrm>
            <a:off x="2884487" y="2076109"/>
            <a:ext cx="3243263" cy="1516063"/>
            <a:chOff x="1817" y="1522"/>
            <a:chExt cx="2043" cy="955"/>
          </a:xfrm>
        </p:grpSpPr>
        <p:grpSp>
          <p:nvGrpSpPr>
            <p:cNvPr id="9" name="Group 56"/>
            <p:cNvGrpSpPr>
              <a:grpSpLocks/>
            </p:cNvGrpSpPr>
            <p:nvPr/>
          </p:nvGrpSpPr>
          <p:grpSpPr bwMode="auto">
            <a:xfrm>
              <a:off x="3616" y="1537"/>
              <a:ext cx="244" cy="928"/>
              <a:chOff x="4800" y="1515"/>
              <a:chExt cx="244" cy="928"/>
            </a:xfrm>
          </p:grpSpPr>
          <p:sp>
            <p:nvSpPr>
              <p:cNvPr id="16" name="Text Box 57"/>
              <p:cNvSpPr txBox="1">
                <a:spLocks noChangeArrowheads="1"/>
              </p:cNvSpPr>
              <p:nvPr/>
            </p:nvSpPr>
            <p:spPr bwMode="auto">
              <a:xfrm>
                <a:off x="4827" y="1515"/>
                <a:ext cx="21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17" name="Text Box 58"/>
              <p:cNvSpPr txBox="1">
                <a:spLocks noChangeArrowheads="1"/>
              </p:cNvSpPr>
              <p:nvPr/>
            </p:nvSpPr>
            <p:spPr bwMode="auto">
              <a:xfrm>
                <a:off x="4800" y="2191"/>
                <a:ext cx="190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0" dirty="0">
                    <a:solidFill>
                      <a:srgbClr val="0070C0"/>
                    </a:solidFill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10" name="Group 59"/>
            <p:cNvGrpSpPr>
              <a:grpSpLocks/>
            </p:cNvGrpSpPr>
            <p:nvPr/>
          </p:nvGrpSpPr>
          <p:grpSpPr bwMode="auto">
            <a:xfrm>
              <a:off x="2722" y="1536"/>
              <a:ext cx="185" cy="941"/>
              <a:chOff x="5074" y="1536"/>
              <a:chExt cx="185" cy="941"/>
            </a:xfrm>
          </p:grpSpPr>
          <p:sp>
            <p:nvSpPr>
              <p:cNvPr id="14" name="Text Box 60"/>
              <p:cNvSpPr txBox="1">
                <a:spLocks noChangeArrowheads="1"/>
              </p:cNvSpPr>
              <p:nvPr/>
            </p:nvSpPr>
            <p:spPr bwMode="auto">
              <a:xfrm>
                <a:off x="5074" y="1536"/>
                <a:ext cx="18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0" dirty="0">
                    <a:solidFill>
                      <a:srgbClr val="0070C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15" name="Text Box 61"/>
              <p:cNvSpPr txBox="1">
                <a:spLocks noChangeArrowheads="1"/>
              </p:cNvSpPr>
              <p:nvPr/>
            </p:nvSpPr>
            <p:spPr bwMode="auto">
              <a:xfrm>
                <a:off x="5074" y="2225"/>
                <a:ext cx="179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0" dirty="0">
                    <a:solidFill>
                      <a:srgbClr val="0070C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grpSp>
          <p:nvGrpSpPr>
            <p:cNvPr id="11" name="Group 62"/>
            <p:cNvGrpSpPr>
              <a:grpSpLocks/>
            </p:cNvGrpSpPr>
            <p:nvPr/>
          </p:nvGrpSpPr>
          <p:grpSpPr bwMode="auto">
            <a:xfrm>
              <a:off x="1817" y="1522"/>
              <a:ext cx="206" cy="955"/>
              <a:chOff x="5348" y="1543"/>
              <a:chExt cx="206" cy="955"/>
            </a:xfrm>
          </p:grpSpPr>
          <p:sp>
            <p:nvSpPr>
              <p:cNvPr id="12" name="Text Box 63"/>
              <p:cNvSpPr txBox="1">
                <a:spLocks noChangeArrowheads="1"/>
              </p:cNvSpPr>
              <p:nvPr/>
            </p:nvSpPr>
            <p:spPr bwMode="auto">
              <a:xfrm>
                <a:off x="5349" y="1543"/>
                <a:ext cx="205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0" dirty="0">
                    <a:solidFill>
                      <a:srgbClr val="0070C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13" name="Text Box 64"/>
              <p:cNvSpPr txBox="1">
                <a:spLocks noChangeArrowheads="1"/>
              </p:cNvSpPr>
              <p:nvPr/>
            </p:nvSpPr>
            <p:spPr bwMode="auto">
              <a:xfrm>
                <a:off x="5348" y="2246"/>
                <a:ext cx="17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i="0" dirty="0">
                    <a:solidFill>
                      <a:srgbClr val="0070C0"/>
                    </a:solidFill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</p:grpSp>
      <p:grpSp>
        <p:nvGrpSpPr>
          <p:cNvPr id="18" name="Group 68"/>
          <p:cNvGrpSpPr>
            <a:grpSpLocks/>
          </p:cNvGrpSpPr>
          <p:nvPr/>
        </p:nvGrpSpPr>
        <p:grpSpPr bwMode="auto">
          <a:xfrm>
            <a:off x="5827267" y="2160475"/>
            <a:ext cx="182563" cy="1344613"/>
            <a:chOff x="2057" y="1673"/>
            <a:chExt cx="115" cy="847"/>
          </a:xfrm>
        </p:grpSpPr>
        <p:sp>
          <p:nvSpPr>
            <p:cNvPr id="19" name="Rectangle 69"/>
            <p:cNvSpPr>
              <a:spLocks noChangeArrowheads="1"/>
            </p:cNvSpPr>
            <p:nvPr/>
          </p:nvSpPr>
          <p:spPr bwMode="auto">
            <a:xfrm>
              <a:off x="2071" y="1673"/>
              <a:ext cx="101" cy="16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0" name="Rectangle 70"/>
            <p:cNvSpPr>
              <a:spLocks noChangeArrowheads="1"/>
            </p:cNvSpPr>
            <p:nvPr/>
          </p:nvSpPr>
          <p:spPr bwMode="auto">
            <a:xfrm>
              <a:off x="2057" y="2366"/>
              <a:ext cx="114" cy="15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2000" b="1" i="0" dirty="0">
                  <a:solidFill>
                    <a:srgbClr val="C00000"/>
                  </a:solidFill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21" name="Group 76"/>
          <p:cNvGrpSpPr>
            <a:grpSpLocks/>
          </p:cNvGrpSpPr>
          <p:nvPr/>
        </p:nvGrpSpPr>
        <p:grpSpPr bwMode="auto">
          <a:xfrm>
            <a:off x="2035854" y="903626"/>
            <a:ext cx="4854575" cy="498475"/>
            <a:chOff x="871" y="564"/>
            <a:chExt cx="3058" cy="314"/>
          </a:xfrm>
        </p:grpSpPr>
        <p:sp>
          <p:nvSpPr>
            <p:cNvPr id="22" name="Text Box 77"/>
            <p:cNvSpPr txBox="1">
              <a:spLocks noChangeArrowheads="1"/>
            </p:cNvSpPr>
            <p:nvPr/>
          </p:nvSpPr>
          <p:spPr bwMode="auto">
            <a:xfrm>
              <a:off x="3593" y="587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3" name="Text Box 78"/>
            <p:cNvSpPr txBox="1">
              <a:spLocks noChangeArrowheads="1"/>
            </p:cNvSpPr>
            <p:nvPr/>
          </p:nvSpPr>
          <p:spPr bwMode="auto">
            <a:xfrm>
              <a:off x="2667" y="584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4" name="Text Box 79"/>
            <p:cNvSpPr txBox="1">
              <a:spLocks noChangeArrowheads="1"/>
            </p:cNvSpPr>
            <p:nvPr/>
          </p:nvSpPr>
          <p:spPr bwMode="auto">
            <a:xfrm>
              <a:off x="1835" y="566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5" name="Text Box 80"/>
            <p:cNvSpPr txBox="1">
              <a:spLocks noChangeArrowheads="1"/>
            </p:cNvSpPr>
            <p:nvPr/>
          </p:nvSpPr>
          <p:spPr bwMode="auto">
            <a:xfrm>
              <a:off x="871" y="564"/>
              <a:ext cx="19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26" name="Group 81"/>
          <p:cNvGrpSpPr>
            <a:grpSpLocks/>
          </p:cNvGrpSpPr>
          <p:nvPr/>
        </p:nvGrpSpPr>
        <p:grpSpPr bwMode="auto">
          <a:xfrm>
            <a:off x="2112055" y="1502114"/>
            <a:ext cx="4560888" cy="414338"/>
            <a:chOff x="919" y="941"/>
            <a:chExt cx="2873" cy="261"/>
          </a:xfrm>
        </p:grpSpPr>
        <p:grpSp>
          <p:nvGrpSpPr>
            <p:cNvPr id="27" name="Group 82"/>
            <p:cNvGrpSpPr>
              <a:grpSpLocks/>
            </p:cNvGrpSpPr>
            <p:nvPr/>
          </p:nvGrpSpPr>
          <p:grpSpPr bwMode="auto">
            <a:xfrm>
              <a:off x="2716" y="966"/>
              <a:ext cx="1076" cy="218"/>
              <a:chOff x="2716" y="774"/>
              <a:chExt cx="1076" cy="218"/>
            </a:xfrm>
          </p:grpSpPr>
          <p:sp>
            <p:nvSpPr>
              <p:cNvPr id="30" name="Rectangle 83"/>
              <p:cNvSpPr>
                <a:spLocks noChangeArrowheads="1"/>
              </p:cNvSpPr>
              <p:nvPr/>
            </p:nvSpPr>
            <p:spPr bwMode="auto">
              <a:xfrm>
                <a:off x="2716" y="774"/>
                <a:ext cx="117" cy="19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anchor="ctr"/>
              <a:lstStyle/>
              <a:p>
                <a:r>
                  <a:rPr lang="en-US" altLang="zh-CN" sz="2400" b="1" i="0" dirty="0"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31" name="Rectangle 84"/>
              <p:cNvSpPr>
                <a:spLocks noChangeArrowheads="1"/>
              </p:cNvSpPr>
              <p:nvPr/>
            </p:nvSpPr>
            <p:spPr bwMode="auto">
              <a:xfrm>
                <a:off x="3578" y="800"/>
                <a:ext cx="214" cy="19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altLang="zh-CN" sz="2400" b="1" i="0" dirty="0">
                    <a:latin typeface="Times New Roman" pitchFamily="18" charset="0"/>
                    <a:ea typeface="黑体" pitchFamily="2" charset="-122"/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28" name="Rectangle 85"/>
            <p:cNvSpPr>
              <a:spLocks noChangeArrowheads="1"/>
            </p:cNvSpPr>
            <p:nvPr/>
          </p:nvSpPr>
          <p:spPr bwMode="auto">
            <a:xfrm>
              <a:off x="919" y="969"/>
              <a:ext cx="89" cy="23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29" name="Rectangle 86"/>
            <p:cNvSpPr>
              <a:spLocks noChangeArrowheads="1"/>
            </p:cNvSpPr>
            <p:nvPr/>
          </p:nvSpPr>
          <p:spPr bwMode="auto">
            <a:xfrm>
              <a:off x="1879" y="941"/>
              <a:ext cx="103" cy="23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400" b="1" i="0" dirty="0">
                  <a:latin typeface="Times New Roman" pitchFamily="18" charset="0"/>
                  <a:ea typeface="黑体" pitchFamily="2" charset="-122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102" name="Rectangle 16"/>
          <p:cNvSpPr>
            <a:spLocks noChangeArrowheads="1"/>
          </p:cNvSpPr>
          <p:nvPr/>
        </p:nvSpPr>
        <p:spPr bwMode="auto">
          <a:xfrm>
            <a:off x="2338161" y="249464"/>
            <a:ext cx="42640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b="1" i="0" dirty="0">
                <a:latin typeface="华文中宋" pitchFamily="2" charset="-122"/>
                <a:ea typeface="华文中宋" pitchFamily="2" charset="-122"/>
              </a:rPr>
              <a:t>同步十进制加法计数器</a:t>
            </a:r>
          </a:p>
        </p:txBody>
      </p:sp>
      <p:sp>
        <p:nvSpPr>
          <p:cNvPr id="103" name="Text Box 117"/>
          <p:cNvSpPr txBox="1">
            <a:spLocks noChangeArrowheads="1"/>
          </p:cNvSpPr>
          <p:nvPr/>
        </p:nvSpPr>
        <p:spPr bwMode="auto">
          <a:xfrm>
            <a:off x="500742" y="1130526"/>
            <a:ext cx="797311" cy="463846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4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进位</a:t>
            </a:r>
          </a:p>
        </p:txBody>
      </p:sp>
      <p:sp>
        <p:nvSpPr>
          <p:cNvPr id="109" name="Text Box 24"/>
          <p:cNvSpPr txBox="1">
            <a:spLocks noChangeArrowheads="1"/>
          </p:cNvSpPr>
          <p:nvPr/>
        </p:nvSpPr>
        <p:spPr bwMode="auto">
          <a:xfrm>
            <a:off x="550636" y="4474028"/>
            <a:ext cx="29545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2800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2800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</a:p>
        </p:txBody>
      </p:sp>
      <p:sp>
        <p:nvSpPr>
          <p:cNvPr id="110" name="Rectangle 25"/>
          <p:cNvSpPr>
            <a:spLocks noChangeArrowheads="1"/>
          </p:cNvSpPr>
          <p:nvPr/>
        </p:nvSpPr>
        <p:spPr bwMode="auto">
          <a:xfrm>
            <a:off x="6876144" y="957942"/>
            <a:ext cx="19800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工作过程：</a:t>
            </a:r>
          </a:p>
        </p:txBody>
      </p:sp>
      <p:sp>
        <p:nvSpPr>
          <p:cNvPr id="111" name="Rectangle 26"/>
          <p:cNvSpPr>
            <a:spLocks noChangeArrowheads="1"/>
          </p:cNvSpPr>
          <p:nvPr/>
        </p:nvSpPr>
        <p:spPr bwMode="auto">
          <a:xfrm>
            <a:off x="7692572" y="1981200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计数</a:t>
            </a:r>
          </a:p>
        </p:txBody>
      </p:sp>
      <p:sp>
        <p:nvSpPr>
          <p:cNvPr id="112" name="Rectangle 27"/>
          <p:cNvSpPr>
            <a:spLocks noChangeArrowheads="1"/>
          </p:cNvSpPr>
          <p:nvPr/>
        </p:nvSpPr>
        <p:spPr bwMode="auto">
          <a:xfrm>
            <a:off x="7659915" y="1502228"/>
            <a:ext cx="9028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清零</a:t>
            </a:r>
          </a:p>
        </p:txBody>
      </p:sp>
      <p:grpSp>
        <p:nvGrpSpPr>
          <p:cNvPr id="113" name="Group 28"/>
          <p:cNvGrpSpPr>
            <a:grpSpLocks/>
          </p:cNvGrpSpPr>
          <p:nvPr/>
        </p:nvGrpSpPr>
        <p:grpSpPr bwMode="auto">
          <a:xfrm>
            <a:off x="550636" y="4016824"/>
            <a:ext cx="5099050" cy="523875"/>
            <a:chOff x="336" y="2880"/>
            <a:chExt cx="3212" cy="330"/>
          </a:xfrm>
        </p:grpSpPr>
        <p:sp>
          <p:nvSpPr>
            <p:cNvPr id="114" name="Text Box 29"/>
            <p:cNvSpPr txBox="1">
              <a:spLocks noChangeArrowheads="1"/>
            </p:cNvSpPr>
            <p:nvPr/>
          </p:nvSpPr>
          <p:spPr bwMode="auto">
            <a:xfrm>
              <a:off x="336" y="2880"/>
              <a:ext cx="321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K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1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，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lang="zh-CN" altLang="en-US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，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K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sz="2800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</a:t>
              </a:r>
              <a:r>
                <a:rPr lang="en-US" altLang="zh-CN" sz="2800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2800" i="0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15" name="Line 30"/>
            <p:cNvSpPr>
              <a:spLocks noChangeShapeType="1"/>
            </p:cNvSpPr>
            <p:nvPr/>
          </p:nvSpPr>
          <p:spPr bwMode="auto">
            <a:xfrm>
              <a:off x="2002" y="2921"/>
              <a:ext cx="15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16" name="Rectangle 76"/>
          <p:cNvSpPr>
            <a:spLocks noChangeArrowheads="1"/>
          </p:cNvSpPr>
          <p:nvPr/>
        </p:nvSpPr>
        <p:spPr bwMode="auto">
          <a:xfrm>
            <a:off x="3060698" y="4484914"/>
            <a:ext cx="4036787" cy="525401"/>
          </a:xfrm>
          <a:prstGeom prst="rect">
            <a:avLst/>
          </a:prstGeom>
          <a:noFill/>
          <a:ln w="38100">
            <a:noFill/>
            <a:miter lim="800000"/>
            <a:headEnd/>
            <a:tailEnd type="none" w="med" len="lg"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2800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zh-CN" altLang="en-US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2800" i="0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</a:t>
            </a:r>
            <a:r>
              <a:rPr lang="en-US" altLang="zh-CN" sz="2800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</a:t>
            </a:r>
            <a:r>
              <a:rPr lang="en-US" altLang="zh-CN" sz="2800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800" i="0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117" name="矩形 116"/>
          <p:cNvSpPr/>
          <p:nvPr/>
        </p:nvSpPr>
        <p:spPr>
          <a:xfrm>
            <a:off x="8020051" y="3838575"/>
            <a:ext cx="471487" cy="21600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8011888" y="3862388"/>
            <a:ext cx="448583" cy="144917"/>
            <a:chOff x="8231671" y="2195513"/>
            <a:chExt cx="768501" cy="214312"/>
          </a:xfrm>
        </p:grpSpPr>
        <p:cxnSp>
          <p:nvCxnSpPr>
            <p:cNvPr id="33" name="直接连接符 32"/>
            <p:cNvCxnSpPr/>
            <p:nvPr/>
          </p:nvCxnSpPr>
          <p:spPr>
            <a:xfrm flipV="1">
              <a:off x="8231671" y="2212081"/>
              <a:ext cx="246697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rot="5400000">
              <a:off x="8377238" y="2300287"/>
              <a:ext cx="200025" cy="1588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8472488" y="2405063"/>
              <a:ext cx="280987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/>
          </p:nvCxnSpPr>
          <p:spPr>
            <a:xfrm rot="5400000" flipH="1" flipV="1">
              <a:off x="8648700" y="2305050"/>
              <a:ext cx="209550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8753475" y="2195513"/>
              <a:ext cx="246697" cy="1588"/>
            </a:xfrm>
            <a:prstGeom prst="line">
              <a:avLst/>
            </a:prstGeom>
            <a:ln w="28575">
              <a:solidFill>
                <a:srgbClr val="C00000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组合 125"/>
          <p:cNvGrpSpPr/>
          <p:nvPr/>
        </p:nvGrpSpPr>
        <p:grpSpPr>
          <a:xfrm>
            <a:off x="7923098" y="3205061"/>
            <a:ext cx="461962" cy="338138"/>
            <a:chOff x="7348538" y="5856754"/>
            <a:chExt cx="461962" cy="338138"/>
          </a:xfrm>
        </p:grpSpPr>
        <p:grpSp>
          <p:nvGrpSpPr>
            <p:cNvPr id="127" name="组合 675"/>
            <p:cNvGrpSpPr/>
            <p:nvPr/>
          </p:nvGrpSpPr>
          <p:grpSpPr>
            <a:xfrm flipV="1">
              <a:off x="7348538" y="5934630"/>
              <a:ext cx="461962" cy="142875"/>
              <a:chOff x="8510588" y="2859088"/>
              <a:chExt cx="461962" cy="142875"/>
            </a:xfrm>
          </p:grpSpPr>
          <p:cxnSp>
            <p:nvCxnSpPr>
              <p:cNvPr id="129" name="直接连接符 128"/>
              <p:cNvCxnSpPr/>
              <p:nvPr/>
            </p:nvCxnSpPr>
            <p:spPr>
              <a:xfrm>
                <a:off x="8510588" y="2859088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连接符 131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/>
              <p:cNvCxnSpPr/>
              <p:nvPr/>
            </p:nvCxnSpPr>
            <p:spPr>
              <a:xfrm>
                <a:off x="8805863" y="2863851"/>
                <a:ext cx="166687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Rectangle 146"/>
            <p:cNvSpPr>
              <a:spLocks noChangeArrowheads="1"/>
            </p:cNvSpPr>
            <p:nvPr/>
          </p:nvSpPr>
          <p:spPr bwMode="auto">
            <a:xfrm>
              <a:off x="7419294" y="5856754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7918336" y="3205060"/>
            <a:ext cx="461962" cy="338138"/>
            <a:chOff x="7348538" y="5856754"/>
            <a:chExt cx="461962" cy="338138"/>
          </a:xfrm>
        </p:grpSpPr>
        <p:grpSp>
          <p:nvGrpSpPr>
            <p:cNvPr id="135" name="组合 675"/>
            <p:cNvGrpSpPr/>
            <p:nvPr/>
          </p:nvGrpSpPr>
          <p:grpSpPr>
            <a:xfrm flipV="1">
              <a:off x="7348538" y="5934630"/>
              <a:ext cx="461962" cy="142875"/>
              <a:chOff x="8510588" y="2859088"/>
              <a:chExt cx="461962" cy="142875"/>
            </a:xfrm>
          </p:grpSpPr>
          <p:cxnSp>
            <p:nvCxnSpPr>
              <p:cNvPr id="137" name="直接连接符 136"/>
              <p:cNvCxnSpPr/>
              <p:nvPr/>
            </p:nvCxnSpPr>
            <p:spPr>
              <a:xfrm>
                <a:off x="8510588" y="2859088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连接符 138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>
                <a:off x="8805863" y="2863851"/>
                <a:ext cx="166687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6" name="Rectangle 146"/>
            <p:cNvSpPr>
              <a:spLocks noChangeArrowheads="1"/>
            </p:cNvSpPr>
            <p:nvPr/>
          </p:nvSpPr>
          <p:spPr bwMode="auto">
            <a:xfrm>
              <a:off x="7419294" y="5856754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7918336" y="3205062"/>
            <a:ext cx="461962" cy="338138"/>
            <a:chOff x="7348538" y="5856754"/>
            <a:chExt cx="461962" cy="338138"/>
          </a:xfrm>
        </p:grpSpPr>
        <p:grpSp>
          <p:nvGrpSpPr>
            <p:cNvPr id="143" name="组合 675"/>
            <p:cNvGrpSpPr/>
            <p:nvPr/>
          </p:nvGrpSpPr>
          <p:grpSpPr>
            <a:xfrm flipV="1">
              <a:off x="7348538" y="5934630"/>
              <a:ext cx="461962" cy="142875"/>
              <a:chOff x="8510588" y="2859088"/>
              <a:chExt cx="461962" cy="142875"/>
            </a:xfrm>
          </p:grpSpPr>
          <p:cxnSp>
            <p:nvCxnSpPr>
              <p:cNvPr id="145" name="直接连接符 144"/>
              <p:cNvCxnSpPr/>
              <p:nvPr/>
            </p:nvCxnSpPr>
            <p:spPr>
              <a:xfrm>
                <a:off x="8510588" y="2859088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>
                <a:off x="8805863" y="2863851"/>
                <a:ext cx="166687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4" name="Rectangle 146"/>
            <p:cNvSpPr>
              <a:spLocks noChangeArrowheads="1"/>
            </p:cNvSpPr>
            <p:nvPr/>
          </p:nvSpPr>
          <p:spPr bwMode="auto">
            <a:xfrm>
              <a:off x="7419294" y="5856754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7923098" y="3205060"/>
            <a:ext cx="461962" cy="338138"/>
            <a:chOff x="7348538" y="5856754"/>
            <a:chExt cx="461962" cy="338138"/>
          </a:xfrm>
        </p:grpSpPr>
        <p:grpSp>
          <p:nvGrpSpPr>
            <p:cNvPr id="151" name="组合 675"/>
            <p:cNvGrpSpPr/>
            <p:nvPr/>
          </p:nvGrpSpPr>
          <p:grpSpPr>
            <a:xfrm flipV="1">
              <a:off x="7348538" y="5934630"/>
              <a:ext cx="461962" cy="142875"/>
              <a:chOff x="8510588" y="2859088"/>
              <a:chExt cx="461962" cy="142875"/>
            </a:xfrm>
          </p:grpSpPr>
          <p:cxnSp>
            <p:nvCxnSpPr>
              <p:cNvPr id="153" name="直接连接符 152"/>
              <p:cNvCxnSpPr/>
              <p:nvPr/>
            </p:nvCxnSpPr>
            <p:spPr>
              <a:xfrm>
                <a:off x="8510588" y="2859088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/>
              <p:nvPr/>
            </p:nvCxnSpPr>
            <p:spPr>
              <a:xfrm>
                <a:off x="8805863" y="2863851"/>
                <a:ext cx="166687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2" name="Rectangle 146"/>
            <p:cNvSpPr>
              <a:spLocks noChangeArrowheads="1"/>
            </p:cNvSpPr>
            <p:nvPr/>
          </p:nvSpPr>
          <p:spPr bwMode="auto">
            <a:xfrm>
              <a:off x="7419294" y="5856754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8285045" y="3200299"/>
            <a:ext cx="461962" cy="338138"/>
            <a:chOff x="7348538" y="5856754"/>
            <a:chExt cx="461962" cy="338138"/>
          </a:xfrm>
        </p:grpSpPr>
        <p:grpSp>
          <p:nvGrpSpPr>
            <p:cNvPr id="159" name="组合 675"/>
            <p:cNvGrpSpPr/>
            <p:nvPr/>
          </p:nvGrpSpPr>
          <p:grpSpPr>
            <a:xfrm flipV="1">
              <a:off x="7348538" y="5934630"/>
              <a:ext cx="461962" cy="142875"/>
              <a:chOff x="8510588" y="2859088"/>
              <a:chExt cx="461962" cy="142875"/>
            </a:xfrm>
          </p:grpSpPr>
          <p:cxnSp>
            <p:nvCxnSpPr>
              <p:cNvPr id="161" name="直接连接符 160"/>
              <p:cNvCxnSpPr/>
              <p:nvPr/>
            </p:nvCxnSpPr>
            <p:spPr>
              <a:xfrm>
                <a:off x="8510588" y="2859088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/>
              <p:cNvCxnSpPr/>
              <p:nvPr/>
            </p:nvCxnSpPr>
            <p:spPr>
              <a:xfrm>
                <a:off x="8805863" y="2863851"/>
                <a:ext cx="166687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0" name="Rectangle 146"/>
            <p:cNvSpPr>
              <a:spLocks noChangeArrowheads="1"/>
            </p:cNvSpPr>
            <p:nvPr/>
          </p:nvSpPr>
          <p:spPr bwMode="auto">
            <a:xfrm>
              <a:off x="7419294" y="5856754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8286743" y="3200297"/>
            <a:ext cx="461962" cy="338138"/>
            <a:chOff x="7348538" y="5856754"/>
            <a:chExt cx="461962" cy="338138"/>
          </a:xfrm>
        </p:grpSpPr>
        <p:grpSp>
          <p:nvGrpSpPr>
            <p:cNvPr id="167" name="组合 675"/>
            <p:cNvGrpSpPr/>
            <p:nvPr/>
          </p:nvGrpSpPr>
          <p:grpSpPr>
            <a:xfrm flipV="1">
              <a:off x="7348538" y="5934630"/>
              <a:ext cx="461962" cy="142875"/>
              <a:chOff x="8510588" y="2859088"/>
              <a:chExt cx="461962" cy="142875"/>
            </a:xfrm>
          </p:grpSpPr>
          <p:cxnSp>
            <p:nvCxnSpPr>
              <p:cNvPr id="169" name="直接连接符 168"/>
              <p:cNvCxnSpPr/>
              <p:nvPr/>
            </p:nvCxnSpPr>
            <p:spPr>
              <a:xfrm>
                <a:off x="8510588" y="2859088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接连接符 169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连接符 170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接连接符 171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连接符 172"/>
              <p:cNvCxnSpPr/>
              <p:nvPr/>
            </p:nvCxnSpPr>
            <p:spPr>
              <a:xfrm>
                <a:off x="8805863" y="2863851"/>
                <a:ext cx="166687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8" name="Rectangle 146"/>
            <p:cNvSpPr>
              <a:spLocks noChangeArrowheads="1"/>
            </p:cNvSpPr>
            <p:nvPr/>
          </p:nvSpPr>
          <p:spPr bwMode="auto">
            <a:xfrm>
              <a:off x="7419294" y="5856754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74" name="组合 173"/>
          <p:cNvGrpSpPr/>
          <p:nvPr/>
        </p:nvGrpSpPr>
        <p:grpSpPr>
          <a:xfrm>
            <a:off x="8289803" y="3200300"/>
            <a:ext cx="461962" cy="338138"/>
            <a:chOff x="7348538" y="5856754"/>
            <a:chExt cx="461962" cy="338138"/>
          </a:xfrm>
        </p:grpSpPr>
        <p:grpSp>
          <p:nvGrpSpPr>
            <p:cNvPr id="175" name="组合 675"/>
            <p:cNvGrpSpPr/>
            <p:nvPr/>
          </p:nvGrpSpPr>
          <p:grpSpPr>
            <a:xfrm flipV="1">
              <a:off x="7348538" y="5934630"/>
              <a:ext cx="461962" cy="142875"/>
              <a:chOff x="8510588" y="2859088"/>
              <a:chExt cx="461962" cy="142875"/>
            </a:xfrm>
          </p:grpSpPr>
          <p:cxnSp>
            <p:nvCxnSpPr>
              <p:cNvPr id="177" name="直接连接符 176"/>
              <p:cNvCxnSpPr/>
              <p:nvPr/>
            </p:nvCxnSpPr>
            <p:spPr>
              <a:xfrm>
                <a:off x="8510588" y="2859088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接连接符 180"/>
              <p:cNvCxnSpPr/>
              <p:nvPr/>
            </p:nvCxnSpPr>
            <p:spPr>
              <a:xfrm>
                <a:off x="8805863" y="2863851"/>
                <a:ext cx="166687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6" name="Rectangle 146"/>
            <p:cNvSpPr>
              <a:spLocks noChangeArrowheads="1"/>
            </p:cNvSpPr>
            <p:nvPr/>
          </p:nvSpPr>
          <p:spPr bwMode="auto">
            <a:xfrm>
              <a:off x="7419294" y="5856754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82" name="组合 181"/>
          <p:cNvGrpSpPr/>
          <p:nvPr/>
        </p:nvGrpSpPr>
        <p:grpSpPr>
          <a:xfrm>
            <a:off x="8289805" y="3200297"/>
            <a:ext cx="461962" cy="338138"/>
            <a:chOff x="7348538" y="5856754"/>
            <a:chExt cx="461962" cy="338138"/>
          </a:xfrm>
        </p:grpSpPr>
        <p:grpSp>
          <p:nvGrpSpPr>
            <p:cNvPr id="183" name="组合 675"/>
            <p:cNvGrpSpPr/>
            <p:nvPr/>
          </p:nvGrpSpPr>
          <p:grpSpPr>
            <a:xfrm flipV="1">
              <a:off x="7348538" y="5934630"/>
              <a:ext cx="461962" cy="142875"/>
              <a:chOff x="8510588" y="2859088"/>
              <a:chExt cx="461962" cy="142875"/>
            </a:xfrm>
          </p:grpSpPr>
          <p:cxnSp>
            <p:nvCxnSpPr>
              <p:cNvPr id="185" name="直接连接符 184"/>
              <p:cNvCxnSpPr/>
              <p:nvPr/>
            </p:nvCxnSpPr>
            <p:spPr>
              <a:xfrm>
                <a:off x="8510588" y="2859088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/>
              <p:cNvCxnSpPr/>
              <p:nvPr/>
            </p:nvCxnSpPr>
            <p:spPr>
              <a:xfrm rot="5400000">
                <a:off x="8582025" y="2928938"/>
                <a:ext cx="133350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/>
              <p:cNvCxnSpPr/>
              <p:nvPr/>
            </p:nvCxnSpPr>
            <p:spPr>
              <a:xfrm>
                <a:off x="8648700" y="3000375"/>
                <a:ext cx="161925" cy="1588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 187"/>
              <p:cNvCxnSpPr/>
              <p:nvPr/>
            </p:nvCxnSpPr>
            <p:spPr>
              <a:xfrm rot="16200000" flipV="1">
                <a:off x="8736807" y="2931319"/>
                <a:ext cx="138112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 188"/>
              <p:cNvCxnSpPr/>
              <p:nvPr/>
            </p:nvCxnSpPr>
            <p:spPr>
              <a:xfrm>
                <a:off x="8805863" y="2863851"/>
                <a:ext cx="166687" cy="0"/>
              </a:xfrm>
              <a:prstGeom prst="line">
                <a:avLst/>
              </a:prstGeom>
              <a:ln w="28575">
                <a:solidFill>
                  <a:srgbClr val="0070C0"/>
                </a:solidFill>
                <a:tailEnd type="non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4" name="Rectangle 146"/>
            <p:cNvSpPr>
              <a:spLocks noChangeArrowheads="1"/>
            </p:cNvSpPr>
            <p:nvPr/>
          </p:nvSpPr>
          <p:spPr bwMode="auto">
            <a:xfrm>
              <a:off x="7419294" y="5856754"/>
              <a:ext cx="287338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1600" b="1" i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16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190" name="Text Box 117"/>
          <p:cNvSpPr txBox="1">
            <a:spLocks noChangeArrowheads="1"/>
          </p:cNvSpPr>
          <p:nvPr/>
        </p:nvSpPr>
        <p:spPr bwMode="auto">
          <a:xfrm>
            <a:off x="6117770" y="989012"/>
            <a:ext cx="325410" cy="369332"/>
          </a:xfrm>
          <a:prstGeom prst="rect">
            <a:avLst/>
          </a:prstGeom>
          <a:solidFill>
            <a:schemeClr val="bg1"/>
          </a:solidFill>
          <a:ln w="22225">
            <a:noFill/>
            <a:miter lim="800000"/>
            <a:headEnd/>
            <a:tailEnd type="none" w="med" len="lg"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400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i="0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endParaRPr lang="zh-CN" altLang="en-US" sz="2400" i="0" baseline="-25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1" name="Text Box 117"/>
          <p:cNvSpPr txBox="1">
            <a:spLocks noChangeArrowheads="1"/>
          </p:cNvSpPr>
          <p:nvPr/>
        </p:nvSpPr>
        <p:spPr bwMode="auto">
          <a:xfrm>
            <a:off x="1817913" y="1010784"/>
            <a:ext cx="325410" cy="369332"/>
          </a:xfrm>
          <a:prstGeom prst="rect">
            <a:avLst/>
          </a:prstGeom>
          <a:solidFill>
            <a:schemeClr val="bg1"/>
          </a:solidFill>
          <a:ln w="22225">
            <a:noFill/>
            <a:miter lim="800000"/>
            <a:headEnd/>
            <a:tailEnd type="none" w="med" len="lg"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400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i="0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</a:t>
            </a:r>
            <a:endParaRPr lang="zh-CN" altLang="en-US" sz="2400" i="0" baseline="-25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2" name="Text Box 117"/>
          <p:cNvSpPr txBox="1">
            <a:spLocks noChangeArrowheads="1"/>
          </p:cNvSpPr>
          <p:nvPr/>
        </p:nvSpPr>
        <p:spPr bwMode="auto">
          <a:xfrm>
            <a:off x="3309256" y="1021669"/>
            <a:ext cx="325410" cy="369332"/>
          </a:xfrm>
          <a:prstGeom prst="rect">
            <a:avLst/>
          </a:prstGeom>
          <a:solidFill>
            <a:schemeClr val="bg1"/>
          </a:solidFill>
          <a:ln w="22225">
            <a:noFill/>
            <a:miter lim="800000"/>
            <a:headEnd/>
            <a:tailEnd type="none" w="med" len="lg"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400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i="0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endParaRPr lang="zh-CN" altLang="en-US" sz="2400" i="0" baseline="-25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3" name="Text Box 117"/>
          <p:cNvSpPr txBox="1">
            <a:spLocks noChangeArrowheads="1"/>
          </p:cNvSpPr>
          <p:nvPr/>
        </p:nvSpPr>
        <p:spPr bwMode="auto">
          <a:xfrm>
            <a:off x="4669970" y="999897"/>
            <a:ext cx="325410" cy="369332"/>
          </a:xfrm>
          <a:prstGeom prst="rect">
            <a:avLst/>
          </a:prstGeom>
          <a:solidFill>
            <a:schemeClr val="bg1"/>
          </a:solidFill>
          <a:ln w="22225">
            <a:noFill/>
            <a:miter lim="800000"/>
            <a:headEnd/>
            <a:tailEnd type="none" w="med" len="lg"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400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2400" i="0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endParaRPr lang="zh-CN" altLang="en-US" sz="2400" i="0" baseline="-250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cxnSp>
        <p:nvCxnSpPr>
          <p:cNvPr id="194" name="直接连接符 193"/>
          <p:cNvCxnSpPr/>
          <p:nvPr/>
        </p:nvCxnSpPr>
        <p:spPr>
          <a:xfrm flipV="1">
            <a:off x="7196138" y="2562225"/>
            <a:ext cx="144000" cy="0"/>
          </a:xfrm>
          <a:prstGeom prst="line">
            <a:avLst/>
          </a:prstGeom>
          <a:ln w="1905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/>
          <p:cNvCxnSpPr/>
          <p:nvPr/>
        </p:nvCxnSpPr>
        <p:spPr>
          <a:xfrm flipV="1">
            <a:off x="7210425" y="3114675"/>
            <a:ext cx="144000" cy="0"/>
          </a:xfrm>
          <a:prstGeom prst="line">
            <a:avLst/>
          </a:prstGeom>
          <a:ln w="1905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8"/>
                                            </p:cond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2"/>
                                            </p:cond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4"/>
                                            </p:cond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8"/>
                                            </p:cond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2"/>
                                            </p:cond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1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1"/>
                                            </p:cond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5"/>
                                            </p:cond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utoUpdateAnimBg="0"/>
      <p:bldP spid="110" grpId="0" autoUpdateAnimBg="0"/>
      <p:bldP spid="111" grpId="0" autoUpdateAnimBg="0"/>
      <p:bldP spid="112" grpId="0" autoUpdateAnimBg="0"/>
      <p:bldP spid="1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113189" y="0"/>
            <a:ext cx="44935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输入输出逻辑关系对应表：</a:t>
            </a: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547914" y="565604"/>
            <a:ext cx="8356600" cy="4441826"/>
          </a:xfrm>
          <a:prstGeom prst="foldedCorner">
            <a:avLst>
              <a:gd name="adj" fmla="val 12500"/>
            </a:avLst>
          </a:prstGeom>
          <a:gradFill rotWithShape="0">
            <a:gsLst>
              <a:gs pos="0">
                <a:schemeClr val="folHlink"/>
              </a:gs>
              <a:gs pos="100000">
                <a:srgbClr val="FFFFCC"/>
              </a:gs>
            </a:gsLst>
            <a:lin ang="270000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1760764" y="564075"/>
            <a:ext cx="0" cy="442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" name="Line 7"/>
          <p:cNvSpPr>
            <a:spLocks noChangeShapeType="1"/>
          </p:cNvSpPr>
          <p:nvPr/>
        </p:nvSpPr>
        <p:spPr bwMode="auto">
          <a:xfrm>
            <a:off x="3665764" y="568778"/>
            <a:ext cx="0" cy="442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5418364" y="559254"/>
            <a:ext cx="0" cy="442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6505802" y="573541"/>
            <a:ext cx="0" cy="442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7401152" y="564075"/>
            <a:ext cx="0" cy="442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605064" y="987878"/>
            <a:ext cx="792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十进制数</a:t>
            </a:r>
            <a:r>
              <a:rPr lang="zh-CN" altLang="en-US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zh-CN" altLang="en-US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12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1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1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12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     </a:t>
            </a:r>
            <a:r>
              <a:rPr lang="en-US" altLang="zh-CN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10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</a:t>
            </a:r>
            <a:r>
              <a:rPr lang="en-US" altLang="zh-CN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1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en-US" altLang="zh-CN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10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</a:t>
            </a:r>
            <a:r>
              <a:rPr lang="en-US" altLang="zh-CN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12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</a:t>
            </a:r>
            <a:r>
              <a:rPr lang="en-US" altLang="zh-CN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12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  </a:t>
            </a:r>
            <a:r>
              <a:rPr lang="en-US" altLang="zh-CN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1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en-US" altLang="zh-CN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12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 </a:t>
            </a:r>
            <a:r>
              <a:rPr lang="en-US" altLang="zh-CN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12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</a:t>
            </a: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>
            <a:off x="541564" y="1403803"/>
            <a:ext cx="7697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1" name="Group 13"/>
          <p:cNvGrpSpPr>
            <a:grpSpLocks/>
          </p:cNvGrpSpPr>
          <p:nvPr/>
        </p:nvGrpSpPr>
        <p:grpSpPr bwMode="auto">
          <a:xfrm>
            <a:off x="7444014" y="486229"/>
            <a:ext cx="1173163" cy="638814"/>
            <a:chOff x="4456" y="719"/>
            <a:chExt cx="739" cy="343"/>
          </a:xfrm>
        </p:grpSpPr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4456" y="719"/>
              <a:ext cx="739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</a:t>
              </a:r>
              <a:r>
                <a:rPr lang="en-US" altLang="zh-CN" sz="1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</a:t>
              </a:r>
              <a:r>
                <a:rPr lang="en-US" altLang="zh-CN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4464" y="864"/>
              <a:ext cx="489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K</a:t>
              </a:r>
              <a:r>
                <a:rPr lang="en-US" altLang="zh-CN" sz="1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</a:t>
              </a:r>
              <a:r>
                <a:rPr lang="en-US" altLang="zh-CN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4427764" y="718003"/>
            <a:ext cx="1047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J</a:t>
            </a:r>
            <a:r>
              <a:rPr lang="en-US" altLang="zh-CN" sz="10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10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=1</a:t>
            </a:r>
            <a:endParaRPr lang="en-US" altLang="zh-CN" sz="10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5" name="Group 17"/>
          <p:cNvGrpSpPr>
            <a:grpSpLocks/>
          </p:cNvGrpSpPr>
          <p:nvPr/>
        </p:nvGrpSpPr>
        <p:grpSpPr bwMode="auto">
          <a:xfrm>
            <a:off x="5504089" y="559253"/>
            <a:ext cx="1219200" cy="368926"/>
            <a:chOff x="3552" y="720"/>
            <a:chExt cx="672" cy="198"/>
          </a:xfrm>
        </p:grpSpPr>
        <p:sp>
          <p:nvSpPr>
            <p:cNvPr id="16" name="Text Box 18"/>
            <p:cNvSpPr txBox="1">
              <a:spLocks noChangeArrowheads="1"/>
            </p:cNvSpPr>
            <p:nvPr/>
          </p:nvSpPr>
          <p:spPr bwMode="auto">
            <a:xfrm>
              <a:off x="3552" y="720"/>
              <a:ext cx="672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</a:t>
              </a:r>
              <a:r>
                <a:rPr lang="en-US" altLang="zh-CN" sz="1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r>
                <a:rPr lang="en-US" altLang="zh-CN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3</a:t>
              </a:r>
              <a:r>
                <a:rPr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  <p:sp>
          <p:nvSpPr>
            <p:cNvPr id="17" name="Line 19"/>
            <p:cNvSpPr>
              <a:spLocks noChangeShapeType="1"/>
            </p:cNvSpPr>
            <p:nvPr/>
          </p:nvSpPr>
          <p:spPr bwMode="auto">
            <a:xfrm>
              <a:off x="3792" y="76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8" name="Group 20"/>
          <p:cNvGrpSpPr>
            <a:grpSpLocks/>
          </p:cNvGrpSpPr>
          <p:nvPr/>
        </p:nvGrpSpPr>
        <p:grpSpPr bwMode="auto">
          <a:xfrm>
            <a:off x="6477227" y="559252"/>
            <a:ext cx="1084262" cy="607067"/>
            <a:chOff x="4042" y="758"/>
            <a:chExt cx="683" cy="326"/>
          </a:xfrm>
        </p:grpSpPr>
        <p:sp>
          <p:nvSpPr>
            <p:cNvPr id="19" name="Text Box 21"/>
            <p:cNvSpPr txBox="1">
              <a:spLocks noChangeArrowheads="1"/>
            </p:cNvSpPr>
            <p:nvPr/>
          </p:nvSpPr>
          <p:spPr bwMode="auto">
            <a:xfrm>
              <a:off x="4042" y="758"/>
              <a:ext cx="597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J</a:t>
              </a:r>
              <a:r>
                <a:rPr lang="en-US" altLang="zh-CN" sz="1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r>
                <a:rPr lang="en-US" altLang="zh-CN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K</a:t>
              </a:r>
              <a:r>
                <a:rPr lang="en-US" altLang="zh-CN" sz="1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0" name="Text Box 22"/>
            <p:cNvSpPr txBox="1">
              <a:spLocks noChangeArrowheads="1"/>
            </p:cNvSpPr>
            <p:nvPr/>
          </p:nvSpPr>
          <p:spPr bwMode="auto">
            <a:xfrm>
              <a:off x="4128" y="886"/>
              <a:ext cx="597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</a:t>
              </a:r>
              <a:r>
                <a:rPr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  <a:r>
                <a:rPr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Q</a:t>
              </a:r>
              <a:r>
                <a:rPr lang="en-US" altLang="zh-CN" sz="1000" b="1" i="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</p:grpSp>
      <p:sp>
        <p:nvSpPr>
          <p:cNvPr id="21" name="Text Box 23"/>
          <p:cNvSpPr txBox="1">
            <a:spLocks noChangeArrowheads="1"/>
          </p:cNvSpPr>
          <p:nvPr/>
        </p:nvSpPr>
        <p:spPr bwMode="auto">
          <a:xfrm>
            <a:off x="5635852" y="803728"/>
            <a:ext cx="94773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K</a:t>
            </a:r>
            <a:r>
              <a:rPr lang="en-US" altLang="zh-CN" sz="10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</a:t>
            </a:r>
            <a:r>
              <a:rPr lang="en-US" altLang="zh-CN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10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2" name="Text Box 24"/>
          <p:cNvSpPr txBox="1">
            <a:spLocks noChangeArrowheads="1"/>
          </p:cNvSpPr>
          <p:nvPr/>
        </p:nvSpPr>
        <p:spPr bwMode="auto">
          <a:xfrm>
            <a:off x="979714" y="1356178"/>
            <a:ext cx="2590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0          0   0   0    0</a:t>
            </a:r>
          </a:p>
        </p:txBody>
      </p:sp>
      <p:sp>
        <p:nvSpPr>
          <p:cNvPr id="23" name="Freeform 25"/>
          <p:cNvSpPr>
            <a:spLocks/>
          </p:cNvSpPr>
          <p:nvPr/>
        </p:nvSpPr>
        <p:spPr bwMode="auto">
          <a:xfrm>
            <a:off x="3621314" y="1567316"/>
            <a:ext cx="952500" cy="50800"/>
          </a:xfrm>
          <a:custGeom>
            <a:avLst/>
            <a:gdLst>
              <a:gd name="T0" fmla="*/ 0 w 600"/>
              <a:gd name="T1" fmla="*/ 0 h 32"/>
              <a:gd name="T2" fmla="*/ 1512093532 w 600"/>
              <a:gd name="T3" fmla="*/ 80644986 h 32"/>
              <a:gd name="T4" fmla="*/ 0 60000 65536"/>
              <a:gd name="T5" fmla="*/ 0 60000 65536"/>
              <a:gd name="T6" fmla="*/ 0 w 600"/>
              <a:gd name="T7" fmla="*/ 0 h 32"/>
              <a:gd name="T8" fmla="*/ 600 w 600"/>
              <a:gd name="T9" fmla="*/ 32 h 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0" h="32">
                <a:moveTo>
                  <a:pt x="0" y="0"/>
                </a:moveTo>
                <a:cubicBezTo>
                  <a:pt x="100" y="5"/>
                  <a:pt x="475" y="25"/>
                  <a:pt x="600" y="3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4" name="Text Box 26"/>
          <p:cNvSpPr txBox="1">
            <a:spLocks noChangeArrowheads="1"/>
          </p:cNvSpPr>
          <p:nvPr/>
        </p:nvSpPr>
        <p:spPr bwMode="auto">
          <a:xfrm>
            <a:off x="4637314" y="1326016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5" name="Freeform 27"/>
          <p:cNvSpPr>
            <a:spLocks/>
          </p:cNvSpPr>
          <p:nvPr/>
        </p:nvSpPr>
        <p:spPr bwMode="auto">
          <a:xfrm>
            <a:off x="3532414" y="1630816"/>
            <a:ext cx="1062038" cy="203200"/>
          </a:xfrm>
          <a:custGeom>
            <a:avLst/>
            <a:gdLst>
              <a:gd name="T0" fmla="*/ 1685986297 w 669"/>
              <a:gd name="T1" fmla="*/ 0 h 128"/>
              <a:gd name="T2" fmla="*/ 0 w 669"/>
              <a:gd name="T3" fmla="*/ 322579945 h 128"/>
              <a:gd name="T4" fmla="*/ 0 60000 65536"/>
              <a:gd name="T5" fmla="*/ 0 60000 65536"/>
              <a:gd name="T6" fmla="*/ 0 w 669"/>
              <a:gd name="T7" fmla="*/ 0 h 128"/>
              <a:gd name="T8" fmla="*/ 669 w 669"/>
              <a:gd name="T9" fmla="*/ 128 h 1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9" h="128">
                <a:moveTo>
                  <a:pt x="669" y="0"/>
                </a:moveTo>
                <a:cubicBezTo>
                  <a:pt x="558" y="21"/>
                  <a:pt x="139" y="101"/>
                  <a:pt x="0" y="128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6" name="Text Box 28"/>
          <p:cNvSpPr txBox="1">
            <a:spLocks noChangeArrowheads="1"/>
          </p:cNvSpPr>
          <p:nvPr/>
        </p:nvSpPr>
        <p:spPr bwMode="auto">
          <a:xfrm>
            <a:off x="979714" y="1630816"/>
            <a:ext cx="2590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1          0   0   0    </a:t>
            </a:r>
            <a:r>
              <a:rPr lang="en-US" altLang="zh-CN" sz="2400" b="1" i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27" name="Freeform 29"/>
          <p:cNvSpPr>
            <a:spLocks/>
          </p:cNvSpPr>
          <p:nvPr/>
        </p:nvSpPr>
        <p:spPr bwMode="auto">
          <a:xfrm>
            <a:off x="3557814" y="1872116"/>
            <a:ext cx="1028700" cy="25400"/>
          </a:xfrm>
          <a:custGeom>
            <a:avLst/>
            <a:gdLst>
              <a:gd name="T0" fmla="*/ 0 w 648"/>
              <a:gd name="T1" fmla="*/ 0 h 16"/>
              <a:gd name="T2" fmla="*/ 1633061032 w 648"/>
              <a:gd name="T3" fmla="*/ 40322493 h 16"/>
              <a:gd name="T4" fmla="*/ 0 60000 65536"/>
              <a:gd name="T5" fmla="*/ 0 60000 65536"/>
              <a:gd name="T6" fmla="*/ 0 w 648"/>
              <a:gd name="T7" fmla="*/ 0 h 16"/>
              <a:gd name="T8" fmla="*/ 648 w 648"/>
              <a:gd name="T9" fmla="*/ 16 h 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48" h="16">
                <a:moveTo>
                  <a:pt x="0" y="0"/>
                </a:moveTo>
                <a:cubicBezTo>
                  <a:pt x="108" y="3"/>
                  <a:pt x="513" y="13"/>
                  <a:pt x="648" y="16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4637314" y="1630816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1</a:t>
            </a:r>
          </a:p>
        </p:txBody>
      </p:sp>
      <p:sp>
        <p:nvSpPr>
          <p:cNvPr id="29" name="Freeform 31"/>
          <p:cNvSpPr>
            <a:spLocks/>
          </p:cNvSpPr>
          <p:nvPr/>
        </p:nvSpPr>
        <p:spPr bwMode="auto">
          <a:xfrm>
            <a:off x="3583214" y="1948316"/>
            <a:ext cx="965200" cy="139700"/>
          </a:xfrm>
          <a:custGeom>
            <a:avLst/>
            <a:gdLst>
              <a:gd name="T0" fmla="*/ 1532254782 w 608"/>
              <a:gd name="T1" fmla="*/ 0 h 88"/>
              <a:gd name="T2" fmla="*/ 0 w 608"/>
              <a:gd name="T3" fmla="*/ 221773772 h 88"/>
              <a:gd name="T4" fmla="*/ 0 60000 65536"/>
              <a:gd name="T5" fmla="*/ 0 60000 65536"/>
              <a:gd name="T6" fmla="*/ 0 w 608"/>
              <a:gd name="T7" fmla="*/ 0 h 88"/>
              <a:gd name="T8" fmla="*/ 608 w 608"/>
              <a:gd name="T9" fmla="*/ 88 h 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8" h="88">
                <a:moveTo>
                  <a:pt x="608" y="0"/>
                </a:moveTo>
                <a:cubicBezTo>
                  <a:pt x="505" y="13"/>
                  <a:pt x="127" y="70"/>
                  <a:pt x="0" y="88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0" name="Text Box 32"/>
          <p:cNvSpPr txBox="1">
            <a:spLocks noChangeArrowheads="1"/>
          </p:cNvSpPr>
          <p:nvPr/>
        </p:nvSpPr>
        <p:spPr bwMode="auto">
          <a:xfrm>
            <a:off x="979714" y="1859416"/>
            <a:ext cx="2743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2          0   0   </a:t>
            </a:r>
            <a:r>
              <a:rPr lang="en-US" altLang="zh-CN" sz="2400" b="1" i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0</a:t>
            </a:r>
          </a:p>
        </p:txBody>
      </p:sp>
      <p:sp>
        <p:nvSpPr>
          <p:cNvPr id="31" name="Freeform 33"/>
          <p:cNvSpPr>
            <a:spLocks/>
          </p:cNvSpPr>
          <p:nvPr/>
        </p:nvSpPr>
        <p:spPr bwMode="auto">
          <a:xfrm>
            <a:off x="3621314" y="2138816"/>
            <a:ext cx="990600" cy="25400"/>
          </a:xfrm>
          <a:custGeom>
            <a:avLst/>
            <a:gdLst>
              <a:gd name="T0" fmla="*/ 0 w 624"/>
              <a:gd name="T1" fmla="*/ 0 h 16"/>
              <a:gd name="T2" fmla="*/ 1572577282 w 624"/>
              <a:gd name="T3" fmla="*/ 40322493 h 16"/>
              <a:gd name="T4" fmla="*/ 0 60000 65536"/>
              <a:gd name="T5" fmla="*/ 0 60000 65536"/>
              <a:gd name="T6" fmla="*/ 0 w 624"/>
              <a:gd name="T7" fmla="*/ 0 h 16"/>
              <a:gd name="T8" fmla="*/ 624 w 624"/>
              <a:gd name="T9" fmla="*/ 16 h 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24" h="16">
                <a:moveTo>
                  <a:pt x="0" y="0"/>
                </a:moveTo>
                <a:cubicBezTo>
                  <a:pt x="103" y="3"/>
                  <a:pt x="494" y="13"/>
                  <a:pt x="624" y="16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2" name="Text Box 34"/>
          <p:cNvSpPr txBox="1">
            <a:spLocks noChangeArrowheads="1"/>
          </p:cNvSpPr>
          <p:nvPr/>
        </p:nvSpPr>
        <p:spPr bwMode="auto">
          <a:xfrm>
            <a:off x="4637314" y="1935616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33" name="Freeform 35"/>
          <p:cNvSpPr>
            <a:spLocks/>
          </p:cNvSpPr>
          <p:nvPr/>
        </p:nvSpPr>
        <p:spPr bwMode="auto">
          <a:xfrm>
            <a:off x="3570514" y="2202316"/>
            <a:ext cx="990600" cy="177800"/>
          </a:xfrm>
          <a:custGeom>
            <a:avLst/>
            <a:gdLst>
              <a:gd name="T0" fmla="*/ 1572577282 w 624"/>
              <a:gd name="T1" fmla="*/ 0 h 112"/>
              <a:gd name="T2" fmla="*/ 0 w 624"/>
              <a:gd name="T3" fmla="*/ 282257522 h 112"/>
              <a:gd name="T4" fmla="*/ 0 60000 65536"/>
              <a:gd name="T5" fmla="*/ 0 60000 65536"/>
              <a:gd name="T6" fmla="*/ 0 w 624"/>
              <a:gd name="T7" fmla="*/ 0 h 112"/>
              <a:gd name="T8" fmla="*/ 624 w 624"/>
              <a:gd name="T9" fmla="*/ 112 h 11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24" h="112">
                <a:moveTo>
                  <a:pt x="624" y="0"/>
                </a:moveTo>
                <a:cubicBezTo>
                  <a:pt x="520" y="19"/>
                  <a:pt x="130" y="89"/>
                  <a:pt x="0" y="11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979714" y="2164216"/>
            <a:ext cx="2590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3          0   0   </a:t>
            </a:r>
            <a:r>
              <a:rPr lang="en-US" altLang="zh-CN" sz="2400" b="1" i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en-US" altLang="zh-CN" sz="2400" b="1" i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5" name="Freeform 37"/>
          <p:cNvSpPr>
            <a:spLocks/>
          </p:cNvSpPr>
          <p:nvPr/>
        </p:nvSpPr>
        <p:spPr bwMode="auto">
          <a:xfrm>
            <a:off x="3621314" y="2405516"/>
            <a:ext cx="965200" cy="139700"/>
          </a:xfrm>
          <a:custGeom>
            <a:avLst/>
            <a:gdLst>
              <a:gd name="T0" fmla="*/ 0 w 608"/>
              <a:gd name="T1" fmla="*/ 0 h 88"/>
              <a:gd name="T2" fmla="*/ 1532254782 w 608"/>
              <a:gd name="T3" fmla="*/ 221773772 h 88"/>
              <a:gd name="T4" fmla="*/ 0 60000 65536"/>
              <a:gd name="T5" fmla="*/ 0 60000 65536"/>
              <a:gd name="T6" fmla="*/ 0 w 608"/>
              <a:gd name="T7" fmla="*/ 0 h 88"/>
              <a:gd name="T8" fmla="*/ 608 w 608"/>
              <a:gd name="T9" fmla="*/ 88 h 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8" h="88">
                <a:moveTo>
                  <a:pt x="0" y="0"/>
                </a:moveTo>
                <a:cubicBezTo>
                  <a:pt x="100" y="15"/>
                  <a:pt x="481" y="70"/>
                  <a:pt x="608" y="88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6" name="Text Box 38"/>
          <p:cNvSpPr txBox="1">
            <a:spLocks noChangeArrowheads="1"/>
          </p:cNvSpPr>
          <p:nvPr/>
        </p:nvSpPr>
        <p:spPr bwMode="auto">
          <a:xfrm>
            <a:off x="4637314" y="2316616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1  1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7" name="Freeform 39"/>
          <p:cNvSpPr>
            <a:spLocks/>
          </p:cNvSpPr>
          <p:nvPr/>
        </p:nvSpPr>
        <p:spPr bwMode="auto">
          <a:xfrm>
            <a:off x="3545114" y="2596016"/>
            <a:ext cx="1028700" cy="127000"/>
          </a:xfrm>
          <a:custGeom>
            <a:avLst/>
            <a:gdLst>
              <a:gd name="T0" fmla="*/ 1633061032 w 648"/>
              <a:gd name="T1" fmla="*/ 0 h 80"/>
              <a:gd name="T2" fmla="*/ 0 w 648"/>
              <a:gd name="T3" fmla="*/ 201612473 h 80"/>
              <a:gd name="T4" fmla="*/ 0 60000 65536"/>
              <a:gd name="T5" fmla="*/ 0 60000 65536"/>
              <a:gd name="T6" fmla="*/ 0 w 648"/>
              <a:gd name="T7" fmla="*/ 0 h 80"/>
              <a:gd name="T8" fmla="*/ 648 w 648"/>
              <a:gd name="T9" fmla="*/ 80 h 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48" h="80">
                <a:moveTo>
                  <a:pt x="648" y="0"/>
                </a:moveTo>
                <a:cubicBezTo>
                  <a:pt x="540" y="12"/>
                  <a:pt x="135" y="63"/>
                  <a:pt x="0" y="8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8" name="Text Box 40"/>
          <p:cNvSpPr txBox="1">
            <a:spLocks noChangeArrowheads="1"/>
          </p:cNvSpPr>
          <p:nvPr/>
        </p:nvSpPr>
        <p:spPr bwMode="auto">
          <a:xfrm>
            <a:off x="979714" y="2469016"/>
            <a:ext cx="2590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4          0   </a:t>
            </a:r>
            <a:r>
              <a:rPr lang="en-US" altLang="zh-CN" sz="2400" b="1" i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0    0</a:t>
            </a:r>
          </a:p>
        </p:txBody>
      </p:sp>
      <p:sp>
        <p:nvSpPr>
          <p:cNvPr id="39" name="Freeform 41"/>
          <p:cNvSpPr>
            <a:spLocks/>
          </p:cNvSpPr>
          <p:nvPr/>
        </p:nvSpPr>
        <p:spPr bwMode="auto">
          <a:xfrm>
            <a:off x="3634014" y="2748416"/>
            <a:ext cx="944563" cy="92075"/>
          </a:xfrm>
          <a:custGeom>
            <a:avLst/>
            <a:gdLst>
              <a:gd name="T0" fmla="*/ 0 w 595"/>
              <a:gd name="T1" fmla="*/ 0 h 58"/>
              <a:gd name="T2" fmla="*/ 1499494338 w 595"/>
              <a:gd name="T3" fmla="*/ 146169074 h 58"/>
              <a:gd name="T4" fmla="*/ 0 60000 65536"/>
              <a:gd name="T5" fmla="*/ 0 60000 65536"/>
              <a:gd name="T6" fmla="*/ 0 w 595"/>
              <a:gd name="T7" fmla="*/ 0 h 58"/>
              <a:gd name="T8" fmla="*/ 595 w 595"/>
              <a:gd name="T9" fmla="*/ 58 h 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95" h="58">
                <a:moveTo>
                  <a:pt x="0" y="0"/>
                </a:moveTo>
                <a:cubicBezTo>
                  <a:pt x="99" y="8"/>
                  <a:pt x="471" y="46"/>
                  <a:pt x="595" y="58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0" name="Text Box 42"/>
          <p:cNvSpPr txBox="1">
            <a:spLocks noChangeArrowheads="1"/>
          </p:cNvSpPr>
          <p:nvPr/>
        </p:nvSpPr>
        <p:spPr bwMode="auto">
          <a:xfrm>
            <a:off x="4637314" y="2621416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1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0  0</a:t>
            </a:r>
          </a:p>
        </p:txBody>
      </p:sp>
      <p:sp>
        <p:nvSpPr>
          <p:cNvPr id="41" name="Freeform 43"/>
          <p:cNvSpPr>
            <a:spLocks/>
          </p:cNvSpPr>
          <p:nvPr/>
        </p:nvSpPr>
        <p:spPr bwMode="auto">
          <a:xfrm>
            <a:off x="3583214" y="2862716"/>
            <a:ext cx="977900" cy="127000"/>
          </a:xfrm>
          <a:custGeom>
            <a:avLst/>
            <a:gdLst>
              <a:gd name="T0" fmla="*/ 1552416032 w 616"/>
              <a:gd name="T1" fmla="*/ 0 h 80"/>
              <a:gd name="T2" fmla="*/ 0 w 616"/>
              <a:gd name="T3" fmla="*/ 201612473 h 80"/>
              <a:gd name="T4" fmla="*/ 0 60000 65536"/>
              <a:gd name="T5" fmla="*/ 0 60000 65536"/>
              <a:gd name="T6" fmla="*/ 0 w 616"/>
              <a:gd name="T7" fmla="*/ 0 h 80"/>
              <a:gd name="T8" fmla="*/ 616 w 616"/>
              <a:gd name="T9" fmla="*/ 80 h 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6" h="80">
                <a:moveTo>
                  <a:pt x="616" y="0"/>
                </a:moveTo>
                <a:cubicBezTo>
                  <a:pt x="513" y="13"/>
                  <a:pt x="128" y="63"/>
                  <a:pt x="0" y="8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2" name="Text Box 44"/>
          <p:cNvSpPr txBox="1">
            <a:spLocks noChangeArrowheads="1"/>
          </p:cNvSpPr>
          <p:nvPr/>
        </p:nvSpPr>
        <p:spPr bwMode="auto">
          <a:xfrm>
            <a:off x="979714" y="2773816"/>
            <a:ext cx="2743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5          0   </a:t>
            </a:r>
            <a:r>
              <a:rPr lang="en-US" altLang="zh-CN" sz="2400" b="1" i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0    </a:t>
            </a:r>
            <a:r>
              <a:rPr lang="en-US" altLang="zh-CN" sz="2400" b="1" i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43" name="Freeform 45"/>
          <p:cNvSpPr>
            <a:spLocks/>
          </p:cNvSpPr>
          <p:nvPr/>
        </p:nvSpPr>
        <p:spPr bwMode="auto">
          <a:xfrm>
            <a:off x="3634014" y="3053216"/>
            <a:ext cx="977900" cy="88900"/>
          </a:xfrm>
          <a:custGeom>
            <a:avLst/>
            <a:gdLst>
              <a:gd name="T0" fmla="*/ 0 w 616"/>
              <a:gd name="T1" fmla="*/ 0 h 56"/>
              <a:gd name="T2" fmla="*/ 1552416032 w 616"/>
              <a:gd name="T3" fmla="*/ 141128761 h 56"/>
              <a:gd name="T4" fmla="*/ 0 60000 65536"/>
              <a:gd name="T5" fmla="*/ 0 60000 65536"/>
              <a:gd name="T6" fmla="*/ 0 w 616"/>
              <a:gd name="T7" fmla="*/ 0 h 56"/>
              <a:gd name="T8" fmla="*/ 616 w 616"/>
              <a:gd name="T9" fmla="*/ 56 h 5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6" h="56">
                <a:moveTo>
                  <a:pt x="0" y="0"/>
                </a:moveTo>
                <a:cubicBezTo>
                  <a:pt x="103" y="9"/>
                  <a:pt x="488" y="44"/>
                  <a:pt x="616" y="56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4" name="Text Box 46"/>
          <p:cNvSpPr txBox="1">
            <a:spLocks noChangeArrowheads="1"/>
          </p:cNvSpPr>
          <p:nvPr/>
        </p:nvSpPr>
        <p:spPr bwMode="auto">
          <a:xfrm>
            <a:off x="4637314" y="2926216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1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45" name="Freeform 47"/>
          <p:cNvSpPr>
            <a:spLocks/>
          </p:cNvSpPr>
          <p:nvPr/>
        </p:nvSpPr>
        <p:spPr bwMode="auto">
          <a:xfrm>
            <a:off x="3545114" y="3180216"/>
            <a:ext cx="1016000" cy="127000"/>
          </a:xfrm>
          <a:custGeom>
            <a:avLst/>
            <a:gdLst>
              <a:gd name="T0" fmla="*/ 1612899782 w 640"/>
              <a:gd name="T1" fmla="*/ 0 h 80"/>
              <a:gd name="T2" fmla="*/ 0 w 640"/>
              <a:gd name="T3" fmla="*/ 201612473 h 80"/>
              <a:gd name="T4" fmla="*/ 0 60000 65536"/>
              <a:gd name="T5" fmla="*/ 0 60000 65536"/>
              <a:gd name="T6" fmla="*/ 0 w 640"/>
              <a:gd name="T7" fmla="*/ 0 h 80"/>
              <a:gd name="T8" fmla="*/ 640 w 640"/>
              <a:gd name="T9" fmla="*/ 80 h 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40" h="80">
                <a:moveTo>
                  <a:pt x="640" y="0"/>
                </a:moveTo>
                <a:cubicBezTo>
                  <a:pt x="533" y="13"/>
                  <a:pt x="133" y="63"/>
                  <a:pt x="0" y="8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6" name="Text Box 48"/>
          <p:cNvSpPr txBox="1">
            <a:spLocks noChangeArrowheads="1"/>
          </p:cNvSpPr>
          <p:nvPr/>
        </p:nvSpPr>
        <p:spPr bwMode="auto">
          <a:xfrm>
            <a:off x="979714" y="3078616"/>
            <a:ext cx="2743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6          0   </a:t>
            </a:r>
            <a:r>
              <a:rPr lang="en-US" altLang="zh-CN" sz="2400" b="1" i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</a:t>
            </a:r>
            <a:r>
              <a:rPr lang="en-US" altLang="zh-CN" sz="2400" b="1" i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0</a:t>
            </a:r>
          </a:p>
        </p:txBody>
      </p:sp>
      <p:sp>
        <p:nvSpPr>
          <p:cNvPr id="47" name="Freeform 49"/>
          <p:cNvSpPr>
            <a:spLocks/>
          </p:cNvSpPr>
          <p:nvPr/>
        </p:nvSpPr>
        <p:spPr bwMode="auto">
          <a:xfrm>
            <a:off x="3634014" y="3358016"/>
            <a:ext cx="977900" cy="101600"/>
          </a:xfrm>
          <a:custGeom>
            <a:avLst/>
            <a:gdLst>
              <a:gd name="T0" fmla="*/ 0 w 616"/>
              <a:gd name="T1" fmla="*/ 0 h 64"/>
              <a:gd name="T2" fmla="*/ 1552416032 w 616"/>
              <a:gd name="T3" fmla="*/ 161289973 h 64"/>
              <a:gd name="T4" fmla="*/ 0 60000 65536"/>
              <a:gd name="T5" fmla="*/ 0 60000 65536"/>
              <a:gd name="T6" fmla="*/ 0 w 616"/>
              <a:gd name="T7" fmla="*/ 0 h 64"/>
              <a:gd name="T8" fmla="*/ 616 w 616"/>
              <a:gd name="T9" fmla="*/ 64 h 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6" h="64">
                <a:moveTo>
                  <a:pt x="0" y="0"/>
                </a:moveTo>
                <a:cubicBezTo>
                  <a:pt x="103" y="11"/>
                  <a:pt x="488" y="51"/>
                  <a:pt x="616" y="6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8" name="Text Box 50"/>
          <p:cNvSpPr txBox="1">
            <a:spLocks noChangeArrowheads="1"/>
          </p:cNvSpPr>
          <p:nvPr/>
        </p:nvSpPr>
        <p:spPr bwMode="auto">
          <a:xfrm>
            <a:off x="4637314" y="3231016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1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endParaRPr lang="en-US" altLang="zh-CN" sz="24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9" name="Freeform 51"/>
          <p:cNvSpPr>
            <a:spLocks/>
          </p:cNvSpPr>
          <p:nvPr/>
        </p:nvSpPr>
        <p:spPr bwMode="auto">
          <a:xfrm>
            <a:off x="3557814" y="3497716"/>
            <a:ext cx="965200" cy="114300"/>
          </a:xfrm>
          <a:custGeom>
            <a:avLst/>
            <a:gdLst>
              <a:gd name="T0" fmla="*/ 1532254782 w 608"/>
              <a:gd name="T1" fmla="*/ 0 h 72"/>
              <a:gd name="T2" fmla="*/ 0 w 608"/>
              <a:gd name="T3" fmla="*/ 181451223 h 72"/>
              <a:gd name="T4" fmla="*/ 0 60000 65536"/>
              <a:gd name="T5" fmla="*/ 0 60000 65536"/>
              <a:gd name="T6" fmla="*/ 0 w 608"/>
              <a:gd name="T7" fmla="*/ 0 h 72"/>
              <a:gd name="T8" fmla="*/ 608 w 608"/>
              <a:gd name="T9" fmla="*/ 72 h 7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8" h="72">
                <a:moveTo>
                  <a:pt x="608" y="0"/>
                </a:moveTo>
                <a:cubicBezTo>
                  <a:pt x="507" y="12"/>
                  <a:pt x="127" y="57"/>
                  <a:pt x="0" y="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0" name="Text Box 52"/>
          <p:cNvSpPr txBox="1">
            <a:spLocks noChangeArrowheads="1"/>
          </p:cNvSpPr>
          <p:nvPr/>
        </p:nvSpPr>
        <p:spPr bwMode="auto">
          <a:xfrm>
            <a:off x="979714" y="3383416"/>
            <a:ext cx="2743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7          0   </a:t>
            </a:r>
            <a:r>
              <a:rPr lang="en-US" altLang="zh-CN" sz="2400" b="1" i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</a:t>
            </a:r>
            <a:r>
              <a:rPr lang="en-US" altLang="zh-CN" sz="2400" b="1" i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en-US" altLang="zh-CN" sz="2400" b="1" i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51" name="Freeform 53"/>
          <p:cNvSpPr>
            <a:spLocks/>
          </p:cNvSpPr>
          <p:nvPr/>
        </p:nvSpPr>
        <p:spPr bwMode="auto">
          <a:xfrm>
            <a:off x="3608614" y="3662816"/>
            <a:ext cx="1003300" cy="101600"/>
          </a:xfrm>
          <a:custGeom>
            <a:avLst/>
            <a:gdLst>
              <a:gd name="T0" fmla="*/ 0 w 632"/>
              <a:gd name="T1" fmla="*/ 0 h 64"/>
              <a:gd name="T2" fmla="*/ 1592738532 w 632"/>
              <a:gd name="T3" fmla="*/ 161289973 h 64"/>
              <a:gd name="T4" fmla="*/ 0 60000 65536"/>
              <a:gd name="T5" fmla="*/ 0 60000 65536"/>
              <a:gd name="T6" fmla="*/ 0 w 632"/>
              <a:gd name="T7" fmla="*/ 0 h 64"/>
              <a:gd name="T8" fmla="*/ 632 w 632"/>
              <a:gd name="T9" fmla="*/ 64 h 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32" h="64">
                <a:moveTo>
                  <a:pt x="0" y="0"/>
                </a:moveTo>
                <a:cubicBezTo>
                  <a:pt x="105" y="11"/>
                  <a:pt x="500" y="51"/>
                  <a:pt x="632" y="6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2" name="Text Box 54"/>
          <p:cNvSpPr txBox="1">
            <a:spLocks noChangeArrowheads="1"/>
          </p:cNvSpPr>
          <p:nvPr/>
        </p:nvSpPr>
        <p:spPr bwMode="auto">
          <a:xfrm>
            <a:off x="4637314" y="3535816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1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 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53" name="Freeform 55"/>
          <p:cNvSpPr>
            <a:spLocks/>
          </p:cNvSpPr>
          <p:nvPr/>
        </p:nvSpPr>
        <p:spPr bwMode="auto">
          <a:xfrm>
            <a:off x="3557814" y="3802516"/>
            <a:ext cx="990600" cy="127000"/>
          </a:xfrm>
          <a:custGeom>
            <a:avLst/>
            <a:gdLst>
              <a:gd name="T0" fmla="*/ 1572577282 w 624"/>
              <a:gd name="T1" fmla="*/ 0 h 80"/>
              <a:gd name="T2" fmla="*/ 0 w 624"/>
              <a:gd name="T3" fmla="*/ 201612473 h 80"/>
              <a:gd name="T4" fmla="*/ 0 60000 65536"/>
              <a:gd name="T5" fmla="*/ 0 60000 65536"/>
              <a:gd name="T6" fmla="*/ 0 w 624"/>
              <a:gd name="T7" fmla="*/ 0 h 80"/>
              <a:gd name="T8" fmla="*/ 624 w 624"/>
              <a:gd name="T9" fmla="*/ 80 h 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24" h="80">
                <a:moveTo>
                  <a:pt x="624" y="0"/>
                </a:moveTo>
                <a:cubicBezTo>
                  <a:pt x="520" y="13"/>
                  <a:pt x="130" y="63"/>
                  <a:pt x="0" y="8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4" name="Text Box 56"/>
          <p:cNvSpPr txBox="1">
            <a:spLocks noChangeArrowheads="1"/>
          </p:cNvSpPr>
          <p:nvPr/>
        </p:nvSpPr>
        <p:spPr bwMode="auto">
          <a:xfrm>
            <a:off x="979714" y="3688216"/>
            <a:ext cx="2743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8          </a:t>
            </a:r>
            <a:r>
              <a:rPr lang="en-US" altLang="zh-CN" sz="2400" b="1" i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0   0    0</a:t>
            </a:r>
          </a:p>
        </p:txBody>
      </p:sp>
      <p:sp>
        <p:nvSpPr>
          <p:cNvPr id="55" name="Freeform 57"/>
          <p:cNvSpPr>
            <a:spLocks/>
          </p:cNvSpPr>
          <p:nvPr/>
        </p:nvSpPr>
        <p:spPr bwMode="auto">
          <a:xfrm>
            <a:off x="3659414" y="3980316"/>
            <a:ext cx="952500" cy="76200"/>
          </a:xfrm>
          <a:custGeom>
            <a:avLst/>
            <a:gdLst>
              <a:gd name="T0" fmla="*/ 0 w 600"/>
              <a:gd name="T1" fmla="*/ 0 h 48"/>
              <a:gd name="T2" fmla="*/ 1512093532 w 600"/>
              <a:gd name="T3" fmla="*/ 120967511 h 48"/>
              <a:gd name="T4" fmla="*/ 0 60000 65536"/>
              <a:gd name="T5" fmla="*/ 0 60000 65536"/>
              <a:gd name="T6" fmla="*/ 0 w 600"/>
              <a:gd name="T7" fmla="*/ 0 h 48"/>
              <a:gd name="T8" fmla="*/ 600 w 600"/>
              <a:gd name="T9" fmla="*/ 48 h 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0" h="48">
                <a:moveTo>
                  <a:pt x="0" y="0"/>
                </a:moveTo>
                <a:cubicBezTo>
                  <a:pt x="101" y="7"/>
                  <a:pt x="475" y="38"/>
                  <a:pt x="600" y="48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6" name="Text Box 58"/>
          <p:cNvSpPr txBox="1">
            <a:spLocks noChangeArrowheads="1"/>
          </p:cNvSpPr>
          <p:nvPr/>
        </p:nvSpPr>
        <p:spPr bwMode="auto">
          <a:xfrm>
            <a:off x="4637314" y="3840616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1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0  0</a:t>
            </a:r>
          </a:p>
        </p:txBody>
      </p:sp>
      <p:sp>
        <p:nvSpPr>
          <p:cNvPr id="57" name="Freeform 59"/>
          <p:cNvSpPr>
            <a:spLocks/>
          </p:cNvSpPr>
          <p:nvPr/>
        </p:nvSpPr>
        <p:spPr bwMode="auto">
          <a:xfrm>
            <a:off x="3583214" y="4081916"/>
            <a:ext cx="1003300" cy="139700"/>
          </a:xfrm>
          <a:custGeom>
            <a:avLst/>
            <a:gdLst>
              <a:gd name="T0" fmla="*/ 1592738532 w 632"/>
              <a:gd name="T1" fmla="*/ 0 h 88"/>
              <a:gd name="T2" fmla="*/ 0 w 632"/>
              <a:gd name="T3" fmla="*/ 221773772 h 88"/>
              <a:gd name="T4" fmla="*/ 0 60000 65536"/>
              <a:gd name="T5" fmla="*/ 0 60000 65536"/>
              <a:gd name="T6" fmla="*/ 0 w 632"/>
              <a:gd name="T7" fmla="*/ 0 h 88"/>
              <a:gd name="T8" fmla="*/ 632 w 632"/>
              <a:gd name="T9" fmla="*/ 88 h 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32" h="88">
                <a:moveTo>
                  <a:pt x="632" y="0"/>
                </a:moveTo>
                <a:cubicBezTo>
                  <a:pt x="527" y="15"/>
                  <a:pt x="132" y="70"/>
                  <a:pt x="0" y="88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8" name="Text Box 60"/>
          <p:cNvSpPr txBox="1">
            <a:spLocks noChangeArrowheads="1"/>
          </p:cNvSpPr>
          <p:nvPr/>
        </p:nvSpPr>
        <p:spPr bwMode="auto">
          <a:xfrm>
            <a:off x="979714" y="3993016"/>
            <a:ext cx="2743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9          </a:t>
            </a:r>
            <a:r>
              <a:rPr lang="en-US" altLang="zh-CN" sz="2400" b="1" i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0   0    </a:t>
            </a:r>
            <a:r>
              <a:rPr lang="en-US" altLang="zh-CN" sz="2400" b="1" i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59" name="Freeform 61"/>
          <p:cNvSpPr>
            <a:spLocks/>
          </p:cNvSpPr>
          <p:nvPr/>
        </p:nvSpPr>
        <p:spPr bwMode="auto">
          <a:xfrm>
            <a:off x="3659414" y="4272416"/>
            <a:ext cx="977900" cy="165100"/>
          </a:xfrm>
          <a:custGeom>
            <a:avLst/>
            <a:gdLst>
              <a:gd name="T0" fmla="*/ 0 w 616"/>
              <a:gd name="T1" fmla="*/ 0 h 104"/>
              <a:gd name="T2" fmla="*/ 1552416032 w 616"/>
              <a:gd name="T3" fmla="*/ 262096272 h 104"/>
              <a:gd name="T4" fmla="*/ 0 60000 65536"/>
              <a:gd name="T5" fmla="*/ 0 60000 65536"/>
              <a:gd name="T6" fmla="*/ 0 w 616"/>
              <a:gd name="T7" fmla="*/ 0 h 104"/>
              <a:gd name="T8" fmla="*/ 616 w 616"/>
              <a:gd name="T9" fmla="*/ 104 h 10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6" h="104">
                <a:moveTo>
                  <a:pt x="0" y="0"/>
                </a:moveTo>
                <a:cubicBezTo>
                  <a:pt x="103" y="16"/>
                  <a:pt x="488" y="82"/>
                  <a:pt x="616" y="10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0" name="Text Box 62"/>
          <p:cNvSpPr txBox="1">
            <a:spLocks noChangeArrowheads="1"/>
          </p:cNvSpPr>
          <p:nvPr/>
        </p:nvSpPr>
        <p:spPr bwMode="auto">
          <a:xfrm>
            <a:off x="4637314" y="4221616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1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</a:t>
            </a: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61" name="Freeform 63"/>
          <p:cNvSpPr>
            <a:spLocks/>
          </p:cNvSpPr>
          <p:nvPr/>
        </p:nvSpPr>
        <p:spPr bwMode="auto">
          <a:xfrm>
            <a:off x="3583214" y="4475616"/>
            <a:ext cx="1028700" cy="114300"/>
          </a:xfrm>
          <a:custGeom>
            <a:avLst/>
            <a:gdLst>
              <a:gd name="T0" fmla="*/ 1633061032 w 648"/>
              <a:gd name="T1" fmla="*/ 0 h 72"/>
              <a:gd name="T2" fmla="*/ 0 w 648"/>
              <a:gd name="T3" fmla="*/ 181451223 h 72"/>
              <a:gd name="T4" fmla="*/ 0 60000 65536"/>
              <a:gd name="T5" fmla="*/ 0 60000 65536"/>
              <a:gd name="T6" fmla="*/ 0 w 648"/>
              <a:gd name="T7" fmla="*/ 0 h 72"/>
              <a:gd name="T8" fmla="*/ 648 w 648"/>
              <a:gd name="T9" fmla="*/ 72 h 7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48" h="72">
                <a:moveTo>
                  <a:pt x="648" y="0"/>
                </a:moveTo>
                <a:cubicBezTo>
                  <a:pt x="540" y="12"/>
                  <a:pt x="135" y="57"/>
                  <a:pt x="0" y="7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2" name="Text Box 64"/>
          <p:cNvSpPr txBox="1">
            <a:spLocks noChangeArrowheads="1"/>
          </p:cNvSpPr>
          <p:nvPr/>
        </p:nvSpPr>
        <p:spPr bwMode="auto">
          <a:xfrm>
            <a:off x="979714" y="4374016"/>
            <a:ext cx="2743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0          0   0   0    0</a:t>
            </a:r>
          </a:p>
        </p:txBody>
      </p:sp>
      <p:sp>
        <p:nvSpPr>
          <p:cNvPr id="63" name="Freeform 65"/>
          <p:cNvSpPr>
            <a:spLocks/>
          </p:cNvSpPr>
          <p:nvPr/>
        </p:nvSpPr>
        <p:spPr bwMode="auto">
          <a:xfrm>
            <a:off x="3659414" y="4640716"/>
            <a:ext cx="1016000" cy="165100"/>
          </a:xfrm>
          <a:custGeom>
            <a:avLst/>
            <a:gdLst>
              <a:gd name="T0" fmla="*/ 0 w 640"/>
              <a:gd name="T1" fmla="*/ 0 h 104"/>
              <a:gd name="T2" fmla="*/ 1612899782 w 640"/>
              <a:gd name="T3" fmla="*/ 262096272 h 104"/>
              <a:gd name="T4" fmla="*/ 0 60000 65536"/>
              <a:gd name="T5" fmla="*/ 0 60000 65536"/>
              <a:gd name="T6" fmla="*/ 0 w 640"/>
              <a:gd name="T7" fmla="*/ 0 h 104"/>
              <a:gd name="T8" fmla="*/ 640 w 640"/>
              <a:gd name="T9" fmla="*/ 104 h 10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40" h="104">
                <a:moveTo>
                  <a:pt x="0" y="0"/>
                </a:moveTo>
                <a:cubicBezTo>
                  <a:pt x="107" y="17"/>
                  <a:pt x="507" y="82"/>
                  <a:pt x="640" y="104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64" name="Text Box 66"/>
          <p:cNvSpPr txBox="1">
            <a:spLocks noChangeArrowheads="1"/>
          </p:cNvSpPr>
          <p:nvPr/>
        </p:nvSpPr>
        <p:spPr bwMode="auto">
          <a:xfrm>
            <a:off x="4637314" y="4602616"/>
            <a:ext cx="3886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0" dirty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1 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en-US" altLang="zh-CN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 smtClean="0">
                <a:solidFill>
                  <a:srgbClr val="993366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r>
              <a:rPr lang="en-US" altLang="zh-CN" sz="2400" b="1" i="0" dirty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i="0" dirty="0" smtClean="0">
                <a:solidFill>
                  <a:srgbClr val="990033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</a:t>
            </a:r>
            <a:r>
              <a:rPr lang="en-US" altLang="zh-CN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0  0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000"/>
                            </p:stCondLst>
                            <p:childTnLst>
                              <p:par>
                                <p:cTn id="1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000"/>
                            </p:stCondLst>
                            <p:childTnLst>
                              <p:par>
                                <p:cTn id="1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500"/>
                            </p:stCondLst>
                            <p:childTnLst>
                              <p:par>
                                <p:cTn id="1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4000"/>
                            </p:stCondLst>
                            <p:childTnLst>
                              <p:par>
                                <p:cTn id="1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500"/>
                            </p:stCondLst>
                            <p:childTnLst>
                              <p:par>
                                <p:cTn id="1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0"/>
                            </p:stCondLst>
                            <p:childTnLst>
                              <p:par>
                                <p:cTn id="1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500"/>
                            </p:stCondLst>
                            <p:childTnLst>
                              <p:par>
                                <p:cTn id="16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6000"/>
                            </p:stCondLst>
                            <p:childTnLst>
                              <p:par>
                                <p:cTn id="1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6500"/>
                            </p:stCondLst>
                            <p:childTnLst>
                              <p:par>
                                <p:cTn id="1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7000"/>
                            </p:stCondLst>
                            <p:childTnLst>
                              <p:par>
                                <p:cTn id="1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nimBg="1"/>
      <p:bldP spid="9" grpId="0" autoUpdateAnimBg="0"/>
      <p:bldP spid="22" grpId="0" autoUpdateAnimBg="0"/>
      <p:bldP spid="23" grpId="0" animBg="1"/>
      <p:bldP spid="24" grpId="0" autoUpdateAnimBg="0"/>
      <p:bldP spid="25" grpId="0" animBg="1"/>
      <p:bldP spid="26" grpId="0" autoUpdateAnimBg="0"/>
      <p:bldP spid="27" grpId="0" animBg="1"/>
      <p:bldP spid="28" grpId="0" autoUpdateAnimBg="0"/>
      <p:bldP spid="29" grpId="0" animBg="1"/>
      <p:bldP spid="30" grpId="0" autoUpdateAnimBg="0"/>
      <p:bldP spid="31" grpId="0" animBg="1"/>
      <p:bldP spid="32" grpId="0" autoUpdateAnimBg="0"/>
      <p:bldP spid="33" grpId="0" animBg="1"/>
      <p:bldP spid="34" grpId="0" autoUpdateAnimBg="0"/>
      <p:bldP spid="35" grpId="0" animBg="1"/>
      <p:bldP spid="36" grpId="0" autoUpdateAnimBg="0"/>
      <p:bldP spid="37" grpId="0" animBg="1"/>
      <p:bldP spid="38" grpId="0" autoUpdateAnimBg="0"/>
      <p:bldP spid="39" grpId="0" animBg="1"/>
      <p:bldP spid="40" grpId="0" autoUpdateAnimBg="0"/>
      <p:bldP spid="41" grpId="0" animBg="1"/>
      <p:bldP spid="42" grpId="0" autoUpdateAnimBg="0"/>
      <p:bldP spid="43" grpId="0" animBg="1"/>
      <p:bldP spid="44" grpId="0" autoUpdateAnimBg="0"/>
      <p:bldP spid="45" grpId="0" animBg="1"/>
      <p:bldP spid="46" grpId="0" autoUpdateAnimBg="0"/>
      <p:bldP spid="47" grpId="0" animBg="1"/>
      <p:bldP spid="48" grpId="0" autoUpdateAnimBg="0"/>
      <p:bldP spid="49" grpId="0" animBg="1"/>
      <p:bldP spid="50" grpId="0" autoUpdateAnimBg="0"/>
      <p:bldP spid="51" grpId="0" animBg="1"/>
      <p:bldP spid="52" grpId="0" autoUpdateAnimBg="0"/>
      <p:bldP spid="53" grpId="0" animBg="1"/>
      <p:bldP spid="54" grpId="0" autoUpdateAnimBg="0"/>
      <p:bldP spid="55" grpId="0" animBg="1"/>
      <p:bldP spid="56" grpId="0" autoUpdateAnimBg="0"/>
      <p:bldP spid="57" grpId="0" animBg="1"/>
      <p:bldP spid="58" grpId="0" autoUpdateAnimBg="0"/>
      <p:bldP spid="59" grpId="0" animBg="1"/>
      <p:bldP spid="60" grpId="0" autoUpdateAnimBg="0"/>
      <p:bldP spid="61" grpId="0" animBg="1"/>
      <p:bldP spid="62" grpId="0" autoUpdateAnimBg="0"/>
      <p:bldP spid="63" grpId="0" animBg="1"/>
      <p:bldP spid="64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566057" y="276679"/>
            <a:ext cx="73517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完成十进制计数，各触发器动作同步进行</a:t>
            </a: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500743" y="1226458"/>
            <a:ext cx="14157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i="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工作</a:t>
            </a:r>
            <a:r>
              <a:rPr lang="zh-CN" altLang="en-US" sz="2400" b="1" i="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波形</a:t>
            </a:r>
            <a:endParaRPr lang="zh-CN" altLang="en-US" sz="2400" b="1" i="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4" name="Group 6"/>
          <p:cNvGrpSpPr>
            <a:grpSpLocks/>
          </p:cNvGrpSpPr>
          <p:nvPr/>
        </p:nvGrpSpPr>
        <p:grpSpPr bwMode="auto">
          <a:xfrm>
            <a:off x="2090057" y="1553030"/>
            <a:ext cx="6553200" cy="368633"/>
            <a:chOff x="1344" y="2640"/>
            <a:chExt cx="4170" cy="192"/>
          </a:xfrm>
        </p:grpSpPr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1344" y="2640"/>
              <a:ext cx="4170" cy="162"/>
            </a:xfrm>
            <a:custGeom>
              <a:avLst/>
              <a:gdLst>
                <a:gd name="T0" fmla="*/ 0 w 3852"/>
                <a:gd name="T1" fmla="*/ 134 h 168"/>
                <a:gd name="T2" fmla="*/ 169 w 3852"/>
                <a:gd name="T3" fmla="*/ 134 h 168"/>
                <a:gd name="T4" fmla="*/ 169 w 3852"/>
                <a:gd name="T5" fmla="*/ 0 h 168"/>
                <a:gd name="T6" fmla="*/ 358 w 3852"/>
                <a:gd name="T7" fmla="*/ 0 h 168"/>
                <a:gd name="T8" fmla="*/ 358 w 3852"/>
                <a:gd name="T9" fmla="*/ 140 h 168"/>
                <a:gd name="T10" fmla="*/ 555 w 3852"/>
                <a:gd name="T11" fmla="*/ 140 h 168"/>
                <a:gd name="T12" fmla="*/ 555 w 3852"/>
                <a:gd name="T13" fmla="*/ 6 h 168"/>
                <a:gd name="T14" fmla="*/ 746 w 3852"/>
                <a:gd name="T15" fmla="*/ 6 h 168"/>
                <a:gd name="T16" fmla="*/ 746 w 3852"/>
                <a:gd name="T17" fmla="*/ 134 h 168"/>
                <a:gd name="T18" fmla="*/ 942 w 3852"/>
                <a:gd name="T19" fmla="*/ 134 h 168"/>
                <a:gd name="T20" fmla="*/ 942 w 3852"/>
                <a:gd name="T21" fmla="*/ 12 h 168"/>
                <a:gd name="T22" fmla="*/ 1139 w 3852"/>
                <a:gd name="T23" fmla="*/ 12 h 168"/>
                <a:gd name="T24" fmla="*/ 1139 w 3852"/>
                <a:gd name="T25" fmla="*/ 140 h 168"/>
                <a:gd name="T26" fmla="*/ 1364 w 3852"/>
                <a:gd name="T27" fmla="*/ 140 h 168"/>
                <a:gd name="T28" fmla="*/ 1364 w 3852"/>
                <a:gd name="T29" fmla="*/ 12 h 168"/>
                <a:gd name="T30" fmla="*/ 1589 w 3852"/>
                <a:gd name="T31" fmla="*/ 12 h 168"/>
                <a:gd name="T32" fmla="*/ 1589 w 3852"/>
                <a:gd name="T33" fmla="*/ 145 h 168"/>
                <a:gd name="T34" fmla="*/ 1800 w 3852"/>
                <a:gd name="T35" fmla="*/ 145 h 168"/>
                <a:gd name="T36" fmla="*/ 1800 w 3852"/>
                <a:gd name="T37" fmla="*/ 16 h 168"/>
                <a:gd name="T38" fmla="*/ 2011 w 3852"/>
                <a:gd name="T39" fmla="*/ 16 h 168"/>
                <a:gd name="T40" fmla="*/ 2011 w 3852"/>
                <a:gd name="T41" fmla="*/ 145 h 168"/>
                <a:gd name="T42" fmla="*/ 2229 w 3852"/>
                <a:gd name="T43" fmla="*/ 145 h 168"/>
                <a:gd name="T44" fmla="*/ 2229 w 3852"/>
                <a:gd name="T45" fmla="*/ 16 h 168"/>
                <a:gd name="T46" fmla="*/ 2447 w 3852"/>
                <a:gd name="T47" fmla="*/ 16 h 168"/>
                <a:gd name="T48" fmla="*/ 2447 w 3852"/>
                <a:gd name="T49" fmla="*/ 150 h 168"/>
                <a:gd name="T50" fmla="*/ 2679 w 3852"/>
                <a:gd name="T51" fmla="*/ 150 h 168"/>
                <a:gd name="T52" fmla="*/ 2679 w 3852"/>
                <a:gd name="T53" fmla="*/ 28 h 168"/>
                <a:gd name="T54" fmla="*/ 2911 w 3852"/>
                <a:gd name="T55" fmla="*/ 28 h 168"/>
                <a:gd name="T56" fmla="*/ 2911 w 3852"/>
                <a:gd name="T57" fmla="*/ 156 h 168"/>
                <a:gd name="T58" fmla="*/ 3143 w 3852"/>
                <a:gd name="T59" fmla="*/ 156 h 168"/>
                <a:gd name="T60" fmla="*/ 3143 w 3852"/>
                <a:gd name="T61" fmla="*/ 22 h 168"/>
                <a:gd name="T62" fmla="*/ 3368 w 3852"/>
                <a:gd name="T63" fmla="*/ 22 h 168"/>
                <a:gd name="T64" fmla="*/ 3368 w 3852"/>
                <a:gd name="T65" fmla="*/ 150 h 168"/>
                <a:gd name="T66" fmla="*/ 3607 w 3852"/>
                <a:gd name="T67" fmla="*/ 150 h 168"/>
                <a:gd name="T68" fmla="*/ 3607 w 3852"/>
                <a:gd name="T69" fmla="*/ 22 h 168"/>
                <a:gd name="T70" fmla="*/ 3839 w 3852"/>
                <a:gd name="T71" fmla="*/ 22 h 168"/>
                <a:gd name="T72" fmla="*/ 3839 w 3852"/>
                <a:gd name="T73" fmla="*/ 140 h 168"/>
                <a:gd name="T74" fmla="*/ 4071 w 3852"/>
                <a:gd name="T75" fmla="*/ 134 h 168"/>
                <a:gd name="T76" fmla="*/ 4071 w 3852"/>
                <a:gd name="T77" fmla="*/ 12 h 168"/>
                <a:gd name="T78" fmla="*/ 4289 w 3852"/>
                <a:gd name="T79" fmla="*/ 12 h 168"/>
                <a:gd name="T80" fmla="*/ 4289 w 3852"/>
                <a:gd name="T81" fmla="*/ 140 h 168"/>
                <a:gd name="T82" fmla="*/ 4514 w 3852"/>
                <a:gd name="T83" fmla="*/ 140 h 16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852"/>
                <a:gd name="T127" fmla="*/ 0 h 168"/>
                <a:gd name="T128" fmla="*/ 3852 w 3852"/>
                <a:gd name="T129" fmla="*/ 168 h 16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852" h="168">
                  <a:moveTo>
                    <a:pt x="0" y="144"/>
                  </a:moveTo>
                  <a:lnTo>
                    <a:pt x="144" y="144"/>
                  </a:lnTo>
                  <a:lnTo>
                    <a:pt x="144" y="0"/>
                  </a:lnTo>
                  <a:lnTo>
                    <a:pt x="306" y="0"/>
                  </a:lnTo>
                  <a:lnTo>
                    <a:pt x="306" y="150"/>
                  </a:lnTo>
                  <a:lnTo>
                    <a:pt x="474" y="150"/>
                  </a:lnTo>
                  <a:lnTo>
                    <a:pt x="474" y="6"/>
                  </a:lnTo>
                  <a:lnTo>
                    <a:pt x="636" y="6"/>
                  </a:lnTo>
                  <a:lnTo>
                    <a:pt x="636" y="144"/>
                  </a:lnTo>
                  <a:lnTo>
                    <a:pt x="804" y="144"/>
                  </a:lnTo>
                  <a:lnTo>
                    <a:pt x="804" y="12"/>
                  </a:lnTo>
                  <a:lnTo>
                    <a:pt x="972" y="12"/>
                  </a:lnTo>
                  <a:lnTo>
                    <a:pt x="972" y="150"/>
                  </a:lnTo>
                  <a:lnTo>
                    <a:pt x="1164" y="150"/>
                  </a:lnTo>
                  <a:lnTo>
                    <a:pt x="1164" y="12"/>
                  </a:lnTo>
                  <a:lnTo>
                    <a:pt x="1356" y="12"/>
                  </a:lnTo>
                  <a:lnTo>
                    <a:pt x="1356" y="156"/>
                  </a:lnTo>
                  <a:lnTo>
                    <a:pt x="1536" y="156"/>
                  </a:lnTo>
                  <a:lnTo>
                    <a:pt x="1536" y="18"/>
                  </a:lnTo>
                  <a:lnTo>
                    <a:pt x="1716" y="18"/>
                  </a:lnTo>
                  <a:lnTo>
                    <a:pt x="1716" y="156"/>
                  </a:lnTo>
                  <a:lnTo>
                    <a:pt x="1902" y="156"/>
                  </a:lnTo>
                  <a:lnTo>
                    <a:pt x="1902" y="18"/>
                  </a:lnTo>
                  <a:lnTo>
                    <a:pt x="2088" y="18"/>
                  </a:lnTo>
                  <a:lnTo>
                    <a:pt x="2088" y="162"/>
                  </a:lnTo>
                  <a:lnTo>
                    <a:pt x="2286" y="162"/>
                  </a:lnTo>
                  <a:lnTo>
                    <a:pt x="2286" y="30"/>
                  </a:lnTo>
                  <a:lnTo>
                    <a:pt x="2484" y="30"/>
                  </a:lnTo>
                  <a:lnTo>
                    <a:pt x="2484" y="168"/>
                  </a:lnTo>
                  <a:lnTo>
                    <a:pt x="2682" y="168"/>
                  </a:lnTo>
                  <a:lnTo>
                    <a:pt x="2682" y="24"/>
                  </a:lnTo>
                  <a:lnTo>
                    <a:pt x="2874" y="24"/>
                  </a:lnTo>
                  <a:lnTo>
                    <a:pt x="2874" y="162"/>
                  </a:lnTo>
                  <a:lnTo>
                    <a:pt x="3078" y="162"/>
                  </a:lnTo>
                  <a:lnTo>
                    <a:pt x="3078" y="24"/>
                  </a:lnTo>
                  <a:lnTo>
                    <a:pt x="3276" y="24"/>
                  </a:lnTo>
                  <a:lnTo>
                    <a:pt x="3276" y="150"/>
                  </a:lnTo>
                  <a:lnTo>
                    <a:pt x="3474" y="144"/>
                  </a:lnTo>
                  <a:lnTo>
                    <a:pt x="3474" y="12"/>
                  </a:lnTo>
                  <a:lnTo>
                    <a:pt x="3660" y="12"/>
                  </a:lnTo>
                  <a:lnTo>
                    <a:pt x="3660" y="150"/>
                  </a:lnTo>
                  <a:lnTo>
                    <a:pt x="3852" y="150"/>
                  </a:lnTo>
                </a:path>
              </a:pathLst>
            </a:custGeom>
            <a:noFill/>
            <a:ln w="38100" cap="flat" cmpd="sng">
              <a:solidFill>
                <a:srgbClr val="66CC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" name="Text Box 8"/>
            <p:cNvSpPr txBox="1">
              <a:spLocks noChangeArrowheads="1"/>
            </p:cNvSpPr>
            <p:nvPr/>
          </p:nvSpPr>
          <p:spPr bwMode="auto">
            <a:xfrm>
              <a:off x="1488" y="2640"/>
              <a:ext cx="398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1        2        3         4         5         6          7          8          9        10</a:t>
              </a:r>
            </a:p>
          </p:txBody>
        </p:sp>
      </p:grpSp>
      <p:sp>
        <p:nvSpPr>
          <p:cNvPr id="27" name="Freeform 9"/>
          <p:cNvSpPr>
            <a:spLocks/>
          </p:cNvSpPr>
          <p:nvPr/>
        </p:nvSpPr>
        <p:spPr bwMode="auto">
          <a:xfrm>
            <a:off x="2090057" y="2086429"/>
            <a:ext cx="6509657" cy="355600"/>
          </a:xfrm>
          <a:custGeom>
            <a:avLst/>
            <a:gdLst>
              <a:gd name="T0" fmla="*/ 0 w 4140"/>
              <a:gd name="T1" fmla="*/ 586565949 h 192"/>
              <a:gd name="T2" fmla="*/ 856853118 w 4140"/>
              <a:gd name="T3" fmla="*/ 586565949 h 192"/>
              <a:gd name="T4" fmla="*/ 856853118 w 4140"/>
              <a:gd name="T5" fmla="*/ 0 h 192"/>
              <a:gd name="T6" fmla="*/ 1743948096 w 4140"/>
              <a:gd name="T7" fmla="*/ 0 h 192"/>
              <a:gd name="T8" fmla="*/ 1743948096 w 4140"/>
              <a:gd name="T9" fmla="*/ 511100986 h 192"/>
              <a:gd name="T10" fmla="*/ 2147483647 w 4140"/>
              <a:gd name="T11" fmla="*/ 511100986 h 192"/>
              <a:gd name="T12" fmla="*/ 2147483647 w 4140"/>
              <a:gd name="T13" fmla="*/ 0 h 192"/>
              <a:gd name="T14" fmla="*/ 2147483647 w 4140"/>
              <a:gd name="T15" fmla="*/ 0 h 192"/>
              <a:gd name="T16" fmla="*/ 2147483647 w 4140"/>
              <a:gd name="T17" fmla="*/ 562555549 h 192"/>
              <a:gd name="T18" fmla="*/ 2147483647 w 4140"/>
              <a:gd name="T19" fmla="*/ 562555549 h 192"/>
              <a:gd name="T20" fmla="*/ 2147483647 w 4140"/>
              <a:gd name="T21" fmla="*/ 72034935 h 192"/>
              <a:gd name="T22" fmla="*/ 2147483647 w 4140"/>
              <a:gd name="T23" fmla="*/ 72034935 h 192"/>
              <a:gd name="T24" fmla="*/ 2147483647 w 4140"/>
              <a:gd name="T25" fmla="*/ 610578202 h 192"/>
              <a:gd name="T26" fmla="*/ 2147483647 w 4140"/>
              <a:gd name="T27" fmla="*/ 610578202 h 192"/>
              <a:gd name="T28" fmla="*/ 2147483647 w 4140"/>
              <a:gd name="T29" fmla="*/ 123487675 h 192"/>
              <a:gd name="T30" fmla="*/ 2147483647 w 4140"/>
              <a:gd name="T31" fmla="*/ 102905450 h 192"/>
              <a:gd name="T32" fmla="*/ 2147483647 w 4140"/>
              <a:gd name="T33" fmla="*/ 658600855 h 192"/>
              <a:gd name="T34" fmla="*/ 2147483647 w 4140"/>
              <a:gd name="T35" fmla="*/ 658600855 h 192"/>
              <a:gd name="T36" fmla="*/ 2147483647 w 4140"/>
              <a:gd name="T37" fmla="*/ 123487675 h 192"/>
              <a:gd name="T38" fmla="*/ 2147483647 w 4140"/>
              <a:gd name="T39" fmla="*/ 96045336 h 192"/>
              <a:gd name="T40" fmla="*/ 2147483647 w 4140"/>
              <a:gd name="T41" fmla="*/ 658600855 h 192"/>
              <a:gd name="T42" fmla="*/ 2147483647 w 4140"/>
              <a:gd name="T43" fmla="*/ 658600855 h 192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w 4140"/>
              <a:gd name="T67" fmla="*/ 0 h 192"/>
              <a:gd name="T68" fmla="*/ 4140 w 4140"/>
              <a:gd name="T69" fmla="*/ 192 h 192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T66" t="T67" r="T68" b="T69"/>
            <a:pathLst>
              <a:path w="4140" h="192">
                <a:moveTo>
                  <a:pt x="0" y="171"/>
                </a:moveTo>
                <a:lnTo>
                  <a:pt x="340" y="171"/>
                </a:lnTo>
                <a:lnTo>
                  <a:pt x="340" y="0"/>
                </a:lnTo>
                <a:lnTo>
                  <a:pt x="692" y="0"/>
                </a:lnTo>
                <a:lnTo>
                  <a:pt x="692" y="149"/>
                </a:lnTo>
                <a:lnTo>
                  <a:pt x="1050" y="149"/>
                </a:lnTo>
                <a:lnTo>
                  <a:pt x="1050" y="0"/>
                </a:lnTo>
                <a:lnTo>
                  <a:pt x="1462" y="0"/>
                </a:lnTo>
                <a:lnTo>
                  <a:pt x="1462" y="164"/>
                </a:lnTo>
                <a:lnTo>
                  <a:pt x="1861" y="164"/>
                </a:lnTo>
                <a:lnTo>
                  <a:pt x="1861" y="21"/>
                </a:lnTo>
                <a:lnTo>
                  <a:pt x="2249" y="21"/>
                </a:lnTo>
                <a:lnTo>
                  <a:pt x="2249" y="178"/>
                </a:lnTo>
                <a:lnTo>
                  <a:pt x="2673" y="178"/>
                </a:lnTo>
                <a:lnTo>
                  <a:pt x="2673" y="36"/>
                </a:lnTo>
                <a:lnTo>
                  <a:pt x="3096" y="30"/>
                </a:lnTo>
                <a:lnTo>
                  <a:pt x="3096" y="192"/>
                </a:lnTo>
                <a:lnTo>
                  <a:pt x="3537" y="192"/>
                </a:lnTo>
                <a:lnTo>
                  <a:pt x="3537" y="36"/>
                </a:lnTo>
                <a:lnTo>
                  <a:pt x="3967" y="28"/>
                </a:lnTo>
                <a:lnTo>
                  <a:pt x="3967" y="192"/>
                </a:lnTo>
                <a:lnTo>
                  <a:pt x="4140" y="192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1709057" y="2146754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12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1709057" y="2603954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12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</a:p>
        </p:txBody>
      </p:sp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1709057" y="3061154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12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</a:p>
        </p:txBody>
      </p:sp>
      <p:sp>
        <p:nvSpPr>
          <p:cNvPr id="31" name="Freeform 13"/>
          <p:cNvSpPr>
            <a:spLocks/>
          </p:cNvSpPr>
          <p:nvPr/>
        </p:nvSpPr>
        <p:spPr bwMode="auto">
          <a:xfrm>
            <a:off x="2097995" y="2656113"/>
            <a:ext cx="6545262" cy="288000"/>
          </a:xfrm>
          <a:custGeom>
            <a:avLst/>
            <a:gdLst>
              <a:gd name="T0" fmla="*/ 0 w 4135"/>
              <a:gd name="T1" fmla="*/ 394476095 h 126"/>
              <a:gd name="T2" fmla="*/ 1726306084 w 4135"/>
              <a:gd name="T3" fmla="*/ 391046030 h 126"/>
              <a:gd name="T4" fmla="*/ 1726306084 w 4135"/>
              <a:gd name="T5" fmla="*/ 0 h 126"/>
              <a:gd name="T6" fmla="*/ 2147483647 w 4135"/>
              <a:gd name="T7" fmla="*/ 0 h 126"/>
              <a:gd name="T8" fmla="*/ 2147483647 w 4135"/>
              <a:gd name="T9" fmla="*/ 391046030 h 126"/>
              <a:gd name="T10" fmla="*/ 2147483647 w 4135"/>
              <a:gd name="T11" fmla="*/ 391046030 h 126"/>
              <a:gd name="T12" fmla="*/ 2147483647 w 4135"/>
              <a:gd name="T13" fmla="*/ 20582248 h 126"/>
              <a:gd name="T14" fmla="*/ 2147483647 w 4135"/>
              <a:gd name="T15" fmla="*/ 20582248 h 126"/>
              <a:gd name="T16" fmla="*/ 2147483647 w 4135"/>
              <a:gd name="T17" fmla="*/ 432208660 h 126"/>
              <a:gd name="T18" fmla="*/ 2147483647 w 4135"/>
              <a:gd name="T19" fmla="*/ 432208660 h 12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135"/>
              <a:gd name="T31" fmla="*/ 0 h 126"/>
              <a:gd name="T32" fmla="*/ 4135 w 4135"/>
              <a:gd name="T33" fmla="*/ 126 h 12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135" h="126">
                <a:moveTo>
                  <a:pt x="0" y="115"/>
                </a:moveTo>
                <a:lnTo>
                  <a:pt x="685" y="114"/>
                </a:lnTo>
                <a:lnTo>
                  <a:pt x="685" y="0"/>
                </a:lnTo>
                <a:lnTo>
                  <a:pt x="1453" y="0"/>
                </a:lnTo>
                <a:lnTo>
                  <a:pt x="1453" y="114"/>
                </a:lnTo>
                <a:lnTo>
                  <a:pt x="2251" y="114"/>
                </a:lnTo>
                <a:lnTo>
                  <a:pt x="2251" y="6"/>
                </a:lnTo>
                <a:lnTo>
                  <a:pt x="3079" y="6"/>
                </a:lnTo>
                <a:lnTo>
                  <a:pt x="3079" y="126"/>
                </a:lnTo>
                <a:lnTo>
                  <a:pt x="4135" y="12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2" name="Freeform 14"/>
          <p:cNvSpPr>
            <a:spLocks/>
          </p:cNvSpPr>
          <p:nvPr/>
        </p:nvSpPr>
        <p:spPr bwMode="auto">
          <a:xfrm>
            <a:off x="2109107" y="3138941"/>
            <a:ext cx="6592888" cy="288000"/>
          </a:xfrm>
          <a:custGeom>
            <a:avLst/>
            <a:gdLst>
              <a:gd name="T0" fmla="*/ 0 w 4153"/>
              <a:gd name="T1" fmla="*/ 357238160 h 105"/>
              <a:gd name="T2" fmla="*/ 2147483647 w 4153"/>
              <a:gd name="T3" fmla="*/ 347030568 h 105"/>
              <a:gd name="T4" fmla="*/ 2147483647 w 4153"/>
              <a:gd name="T5" fmla="*/ 0 h 105"/>
              <a:gd name="T6" fmla="*/ 2147483647 w 4153"/>
              <a:gd name="T7" fmla="*/ 0 h 105"/>
              <a:gd name="T8" fmla="*/ 2147483647 w 4153"/>
              <a:gd name="T9" fmla="*/ 347030568 h 105"/>
              <a:gd name="T10" fmla="*/ 2147483647 w 4153"/>
              <a:gd name="T11" fmla="*/ 357238160 h 10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53"/>
              <a:gd name="T19" fmla="*/ 0 h 105"/>
              <a:gd name="T20" fmla="*/ 4153 w 4153"/>
              <a:gd name="T21" fmla="*/ 105 h 10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153" h="105">
                <a:moveTo>
                  <a:pt x="0" y="105"/>
                </a:moveTo>
                <a:lnTo>
                  <a:pt x="1440" y="102"/>
                </a:lnTo>
                <a:lnTo>
                  <a:pt x="1440" y="0"/>
                </a:lnTo>
                <a:lnTo>
                  <a:pt x="3072" y="0"/>
                </a:lnTo>
                <a:lnTo>
                  <a:pt x="3072" y="102"/>
                </a:lnTo>
                <a:lnTo>
                  <a:pt x="4153" y="105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3" name="Text Box 15"/>
          <p:cNvSpPr txBox="1">
            <a:spLocks noChangeArrowheads="1"/>
          </p:cNvSpPr>
          <p:nvPr/>
        </p:nvSpPr>
        <p:spPr bwMode="auto">
          <a:xfrm>
            <a:off x="1709057" y="3518354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Q</a:t>
            </a:r>
            <a:r>
              <a:rPr lang="en-US" altLang="zh-CN" sz="1200" i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</a:t>
            </a:r>
          </a:p>
        </p:txBody>
      </p:sp>
      <p:sp>
        <p:nvSpPr>
          <p:cNvPr id="34" name="Freeform 16"/>
          <p:cNvSpPr>
            <a:spLocks/>
          </p:cNvSpPr>
          <p:nvPr/>
        </p:nvSpPr>
        <p:spPr bwMode="auto">
          <a:xfrm>
            <a:off x="2097996" y="3559629"/>
            <a:ext cx="6567034" cy="288000"/>
          </a:xfrm>
          <a:custGeom>
            <a:avLst/>
            <a:gdLst>
              <a:gd name="T0" fmla="*/ 0 w 4153"/>
              <a:gd name="T1" fmla="*/ 452788874 h 138"/>
              <a:gd name="T2" fmla="*/ 2147483647 w 4153"/>
              <a:gd name="T3" fmla="*/ 473371107 h 138"/>
              <a:gd name="T4" fmla="*/ 2147483647 w 4153"/>
              <a:gd name="T5" fmla="*/ 13720258 h 138"/>
              <a:gd name="T6" fmla="*/ 2147483647 w 4153"/>
              <a:gd name="T7" fmla="*/ 0 h 138"/>
              <a:gd name="T8" fmla="*/ 2147483647 w 4153"/>
              <a:gd name="T9" fmla="*/ 391045879 h 138"/>
              <a:gd name="T10" fmla="*/ 2147483647 w 4153"/>
              <a:gd name="T11" fmla="*/ 411626260 h 13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53"/>
              <a:gd name="T19" fmla="*/ 0 h 138"/>
              <a:gd name="T20" fmla="*/ 4153 w 4153"/>
              <a:gd name="T21" fmla="*/ 138 h 13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153" h="138">
                <a:moveTo>
                  <a:pt x="0" y="132"/>
                </a:moveTo>
                <a:lnTo>
                  <a:pt x="3091" y="138"/>
                </a:lnTo>
                <a:lnTo>
                  <a:pt x="3094" y="4"/>
                </a:lnTo>
                <a:lnTo>
                  <a:pt x="3931" y="0"/>
                </a:lnTo>
                <a:lnTo>
                  <a:pt x="3931" y="114"/>
                </a:lnTo>
                <a:lnTo>
                  <a:pt x="4153" y="12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35" name="Group 17"/>
          <p:cNvGrpSpPr>
            <a:grpSpLocks/>
          </p:cNvGrpSpPr>
          <p:nvPr/>
        </p:nvGrpSpPr>
        <p:grpSpPr bwMode="auto">
          <a:xfrm>
            <a:off x="2623457" y="1801489"/>
            <a:ext cx="5705475" cy="2116483"/>
            <a:chOff x="1680" y="2818"/>
            <a:chExt cx="3594" cy="749"/>
          </a:xfrm>
        </p:grpSpPr>
        <p:sp>
          <p:nvSpPr>
            <p:cNvPr id="36" name="Line 18"/>
            <p:cNvSpPr>
              <a:spLocks noChangeShapeType="1"/>
            </p:cNvSpPr>
            <p:nvPr/>
          </p:nvSpPr>
          <p:spPr bwMode="auto">
            <a:xfrm>
              <a:off x="1680" y="2824"/>
              <a:ext cx="0" cy="73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Line 19"/>
            <p:cNvSpPr>
              <a:spLocks noChangeShapeType="1"/>
            </p:cNvSpPr>
            <p:nvPr/>
          </p:nvSpPr>
          <p:spPr bwMode="auto">
            <a:xfrm>
              <a:off x="2021" y="2826"/>
              <a:ext cx="0" cy="73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Line 20"/>
            <p:cNvSpPr>
              <a:spLocks noChangeShapeType="1"/>
            </p:cNvSpPr>
            <p:nvPr/>
          </p:nvSpPr>
          <p:spPr bwMode="auto">
            <a:xfrm>
              <a:off x="2384" y="2823"/>
              <a:ext cx="0" cy="73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Line 21"/>
            <p:cNvSpPr>
              <a:spLocks noChangeShapeType="1"/>
            </p:cNvSpPr>
            <p:nvPr/>
          </p:nvSpPr>
          <p:spPr bwMode="auto">
            <a:xfrm>
              <a:off x="2789" y="2828"/>
              <a:ext cx="0" cy="73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Line 22"/>
            <p:cNvSpPr>
              <a:spLocks noChangeShapeType="1"/>
            </p:cNvSpPr>
            <p:nvPr/>
          </p:nvSpPr>
          <p:spPr bwMode="auto">
            <a:xfrm>
              <a:off x="3173" y="2828"/>
              <a:ext cx="0" cy="73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Line 23"/>
            <p:cNvSpPr>
              <a:spLocks noChangeShapeType="1"/>
            </p:cNvSpPr>
            <p:nvPr/>
          </p:nvSpPr>
          <p:spPr bwMode="auto">
            <a:xfrm>
              <a:off x="3589" y="2828"/>
              <a:ext cx="0" cy="73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Line 24"/>
            <p:cNvSpPr>
              <a:spLocks noChangeShapeType="1"/>
            </p:cNvSpPr>
            <p:nvPr/>
          </p:nvSpPr>
          <p:spPr bwMode="auto">
            <a:xfrm>
              <a:off x="4005" y="2818"/>
              <a:ext cx="0" cy="73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3" name="Line 25"/>
            <p:cNvSpPr>
              <a:spLocks noChangeShapeType="1"/>
            </p:cNvSpPr>
            <p:nvPr/>
          </p:nvSpPr>
          <p:spPr bwMode="auto">
            <a:xfrm>
              <a:off x="4421" y="2828"/>
              <a:ext cx="0" cy="73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Line 26"/>
            <p:cNvSpPr>
              <a:spLocks noChangeShapeType="1"/>
            </p:cNvSpPr>
            <p:nvPr/>
          </p:nvSpPr>
          <p:spPr bwMode="auto">
            <a:xfrm>
              <a:off x="4858" y="2828"/>
              <a:ext cx="0" cy="73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Line 27"/>
            <p:cNvSpPr>
              <a:spLocks noChangeShapeType="1"/>
            </p:cNvSpPr>
            <p:nvPr/>
          </p:nvSpPr>
          <p:spPr bwMode="auto">
            <a:xfrm>
              <a:off x="5274" y="2828"/>
              <a:ext cx="0" cy="739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utoUpdateAnimBg="0"/>
      <p:bldP spid="23" grpId="0" autoUpdateAnimBg="0"/>
      <p:bldP spid="27" grpId="0" animBg="1"/>
      <p:bldP spid="28" grpId="0" autoUpdateAnimBg="0"/>
      <p:bldP spid="29" grpId="0" autoUpdateAnimBg="0"/>
      <p:bldP spid="30" grpId="0" autoUpdateAnimBg="0"/>
      <p:bldP spid="31" grpId="0" animBg="1"/>
      <p:bldP spid="32" grpId="0" animBg="1"/>
      <p:bldP spid="33" grpId="0" autoUpdateAnimBg="0"/>
      <p:bldP spid="3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 descr="img200706121339341457副本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4163" y="2408238"/>
            <a:ext cx="3095625" cy="222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6469" name="Rectangle 5"/>
          <p:cNvSpPr>
            <a:spLocks noChangeArrowheads="1"/>
          </p:cNvSpPr>
          <p:nvPr/>
        </p:nvSpPr>
        <p:spPr bwMode="auto">
          <a:xfrm>
            <a:off x="2700338" y="1492250"/>
            <a:ext cx="32400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结    束</a:t>
            </a:r>
            <a:r>
              <a:rPr lang="zh-CN" altLang="en-US" sz="3600" dirty="0" smtClean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diamond/>
    <p:sndAc>
      <p:stSnd>
        <p:snd r:embed="rId2" name="结束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28575">
          <a:noFill/>
          <a:miter lim="800000"/>
          <a:headEnd/>
          <a:tailEnd type="none" w="sm" len="lg"/>
        </a:ln>
      </a:spPr>
      <a:bodyPr anchor="ctr">
        <a:spAutoFit/>
      </a:bodyPr>
      <a:lstStyle>
        <a:defPPr algn="l">
          <a:defRPr sz="2800" b="1" dirty="0">
            <a:latin typeface="Times New Roman" pitchFamily="18" charset="0"/>
            <a:ea typeface="华文中宋" pitchFamily="2" charset="-122"/>
            <a:cs typeface="Times New Roman" pitchFamily="18" charset="0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4690</TotalTime>
  <Words>762</Words>
  <Application>Microsoft Office PowerPoint</Application>
  <PresentationFormat>全屏显示(16:9)</PresentationFormat>
  <Paragraphs>213</Paragraphs>
  <Slides>15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Office 主题</vt:lpstr>
      <vt:lpstr>图片</vt:lpstr>
      <vt:lpstr>13.2  时序逻辑电路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 电动机</dc:title>
  <dc:creator>wgz</dc:creator>
  <cp:lastModifiedBy>Administrator</cp:lastModifiedBy>
  <cp:revision>385</cp:revision>
  <dcterms:created xsi:type="dcterms:W3CDTF">2017-07-05T02:13:24Z</dcterms:created>
  <dcterms:modified xsi:type="dcterms:W3CDTF">2017-10-15T02:00:30Z</dcterms:modified>
</cp:coreProperties>
</file>