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396" r:id="rId3"/>
    <p:sldId id="414" r:id="rId4"/>
    <p:sldId id="415" r:id="rId5"/>
    <p:sldId id="417" r:id="rId6"/>
    <p:sldId id="418" r:id="rId7"/>
    <p:sldId id="416" r:id="rId8"/>
    <p:sldId id="397" r:id="rId9"/>
    <p:sldId id="419" r:id="rId10"/>
    <p:sldId id="398" r:id="rId11"/>
    <p:sldId id="260" r:id="rId12"/>
    <p:sldId id="428" r:id="rId13"/>
    <p:sldId id="429" r:id="rId14"/>
    <p:sldId id="261" r:id="rId15"/>
    <p:sldId id="420" r:id="rId16"/>
    <p:sldId id="421" r:id="rId17"/>
    <p:sldId id="430" r:id="rId18"/>
    <p:sldId id="431" r:id="rId19"/>
    <p:sldId id="422" r:id="rId20"/>
    <p:sldId id="432" r:id="rId21"/>
    <p:sldId id="423" r:id="rId22"/>
    <p:sldId id="424" r:id="rId23"/>
    <p:sldId id="425" r:id="rId24"/>
    <p:sldId id="426" r:id="rId25"/>
    <p:sldId id="427" r:id="rId26"/>
    <p:sldId id="437" r:id="rId27"/>
    <p:sldId id="438" r:id="rId28"/>
    <p:sldId id="433" r:id="rId29"/>
    <p:sldId id="434" r:id="rId30"/>
    <p:sldId id="393" r:id="rId31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2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1EADA-3D95-48D2-89A7-07C72EA9446A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C89D3-DE2B-4AA4-9868-4C7F014F7BA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47623-ACCE-456A-8C66-43C9A387D908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4F4AB-130B-495A-9AF9-6A07DC9008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2126F-8713-47A1-A13C-7B2F4F7A15DF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5AF231-9D62-40D2-A1D5-0CF9E7FE9E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B2824-4A57-4DBC-B978-C06B332D1916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09AD2-B321-4804-8A0D-47B8447B85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16BF5-EB64-4B0B-9CAE-AD65C8D7E231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DF820-5E9F-44C2-B5DB-D5F6705076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D9AE7-FE82-44FE-A373-FF6A95FFC760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59BB9-DD9C-4273-9461-0DC941E05E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0197D-47BA-44E5-B844-814C5892609A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19AA4-51DB-47C7-8B7D-995F981660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5B22D-E6AC-4BF4-AD0D-FBB5464C39ED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2168E-CF0A-45EE-9C08-AD977B2F81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91A09-51D1-412B-A45E-EDBA5CF1DEA4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363D9-74C4-4539-B22F-C1B8A9AC22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22FA8-E42C-49BC-8AD4-3B7704EA5E87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9C6C4-6EB4-4256-9C82-5DC44E4105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D6AC6-C2AA-4616-BB04-0E06F71995C8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0F57A-E9CA-492A-952A-099AE0B37D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4D572CB-A546-489E-9812-17AAFBEE1A45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274A94E-6597-4439-BF7C-72D6837151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39913" y="511175"/>
            <a:ext cx="5661025" cy="1709738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 anchor="t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CN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9.1 </a:t>
            </a:r>
            <a:r>
              <a:rPr lang="zh-CN" altLang="en-US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基本交流放大电路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4736" y="2512174"/>
            <a:ext cx="3701121" cy="53975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、电路组成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89186" y="3344024"/>
            <a:ext cx="3570407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、工作原理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609600" y="320675"/>
            <a:ext cx="3603171" cy="53975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、电路组成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708150" y="1712913"/>
            <a:ext cx="5857421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华文中宋" pitchFamily="2" charset="-122"/>
                <a:ea typeface="华文中宋" pitchFamily="2" charset="-122"/>
              </a:rPr>
              <a:t>1.</a:t>
            </a:r>
            <a:r>
              <a:rPr lang="zh-CN" altLang="en-US" sz="2800" b="1" dirty="0">
                <a:latin typeface="华文中宋" pitchFamily="2" charset="-122"/>
                <a:ea typeface="华文中宋" pitchFamily="2" charset="-122"/>
              </a:rPr>
              <a:t>合理的直流偏置电路</a:t>
            </a:r>
            <a:r>
              <a:rPr lang="zh-CN" altLang="en-US" sz="2800" b="1" dirty="0" smtClean="0">
                <a:latin typeface="华文中宋" pitchFamily="2" charset="-122"/>
                <a:ea typeface="华文中宋" pitchFamily="2" charset="-122"/>
              </a:rPr>
              <a:t>：</a:t>
            </a:r>
            <a:endParaRPr lang="en-US" altLang="zh-CN" sz="2800" b="1" dirty="0" smtClean="0">
              <a:latin typeface="华文中宋" pitchFamily="2" charset="-122"/>
              <a:ea typeface="华文中宋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          </a:t>
            </a:r>
            <a:r>
              <a:rPr lang="zh-CN" altLang="en-US" sz="2800" b="1" u="sng" dirty="0" smtClean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发射结</a:t>
            </a:r>
            <a:r>
              <a:rPr lang="zh-CN" altLang="en-US" sz="2800" b="1" u="sng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正偏</a:t>
            </a:r>
            <a:r>
              <a:rPr lang="en-US" altLang="zh-CN" sz="2800" b="1" u="sng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sz="2800" b="1" u="sng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集电结反偏。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1745502" y="3072232"/>
            <a:ext cx="59007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2.</a:t>
            </a:r>
            <a:r>
              <a:rPr lang="zh-CN" altLang="en-US" sz="2800" b="1" dirty="0"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能使交流信号有效的输入、输出。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33400" y="1727200"/>
            <a:ext cx="1204913" cy="946150"/>
            <a:chOff x="336" y="1209"/>
            <a:chExt cx="759" cy="596"/>
          </a:xfrm>
        </p:grpSpPr>
        <p:sp>
          <p:nvSpPr>
            <p:cNvPr id="5130" name="Rectangle 13"/>
            <p:cNvSpPr>
              <a:spLocks noChangeArrowheads="1"/>
            </p:cNvSpPr>
            <p:nvPr/>
          </p:nvSpPr>
          <p:spPr bwMode="auto">
            <a:xfrm>
              <a:off x="336" y="1209"/>
              <a:ext cx="759" cy="5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800" b="1" dirty="0">
                  <a:latin typeface="华文中宋" pitchFamily="2" charset="-122"/>
                  <a:ea typeface="华文中宋" pitchFamily="2" charset="-122"/>
                  <a:cs typeface="Times New Roman" pitchFamily="18" charset="0"/>
                </a:rPr>
                <a:t>组成   原则</a:t>
              </a:r>
            </a:p>
          </p:txBody>
        </p:sp>
        <p:sp>
          <p:nvSpPr>
            <p:cNvPr id="5131" name="Rectangle 14"/>
            <p:cNvSpPr>
              <a:spLocks noChangeArrowheads="1"/>
            </p:cNvSpPr>
            <p:nvPr/>
          </p:nvSpPr>
          <p:spPr bwMode="auto">
            <a:xfrm>
              <a:off x="336" y="1209"/>
              <a:ext cx="574" cy="59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华文中宋" pitchFamily="2" charset="-122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3"/>
          <p:cNvSpPr txBox="1">
            <a:spLocks noChangeArrowheads="1"/>
          </p:cNvSpPr>
          <p:nvPr/>
        </p:nvSpPr>
        <p:spPr bwMode="auto">
          <a:xfrm>
            <a:off x="609601" y="320675"/>
            <a:ext cx="3581400" cy="53975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、电路组成</a:t>
            </a:r>
          </a:p>
        </p:txBody>
      </p:sp>
      <p:sp>
        <p:nvSpPr>
          <p:cNvPr id="62" name="AutoShape 8"/>
          <p:cNvSpPr>
            <a:spLocks noChangeArrowheads="1"/>
          </p:cNvSpPr>
          <p:nvPr/>
        </p:nvSpPr>
        <p:spPr bwMode="auto">
          <a:xfrm>
            <a:off x="7866063" y="1103313"/>
            <a:ext cx="930275" cy="914400"/>
          </a:xfrm>
          <a:prstGeom prst="wedgeRoundRectCallout">
            <a:avLst>
              <a:gd name="adj1" fmla="val -137665"/>
              <a:gd name="adj2" fmla="val -11260"/>
              <a:gd name="adj3" fmla="val 16667"/>
            </a:avLst>
          </a:prstGeom>
          <a:gradFill rotWithShape="0">
            <a:gsLst>
              <a:gs pos="0">
                <a:srgbClr val="B7BB95"/>
              </a:gs>
              <a:gs pos="100000">
                <a:srgbClr val="676A54"/>
              </a:gs>
            </a:gsLst>
            <a:path path="rect">
              <a:fillToRect r="100000" b="10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直流电源</a:t>
            </a:r>
          </a:p>
        </p:txBody>
      </p:sp>
      <p:sp>
        <p:nvSpPr>
          <p:cNvPr id="63" name="AutoShape 17"/>
          <p:cNvSpPr>
            <a:spLocks noChangeArrowheads="1"/>
          </p:cNvSpPr>
          <p:nvPr/>
        </p:nvSpPr>
        <p:spPr bwMode="auto">
          <a:xfrm>
            <a:off x="1100138" y="1528763"/>
            <a:ext cx="1181100" cy="914400"/>
          </a:xfrm>
          <a:prstGeom prst="wedgeRoundRectCallout">
            <a:avLst>
              <a:gd name="adj1" fmla="val 149194"/>
              <a:gd name="adj2" fmla="val -15796"/>
              <a:gd name="adj3" fmla="val 16667"/>
            </a:avLst>
          </a:prstGeom>
          <a:gradFill rotWithShape="0">
            <a:gsLst>
              <a:gs pos="0">
                <a:srgbClr val="B997B8"/>
              </a:gs>
              <a:gs pos="100000">
                <a:srgbClr val="685568"/>
              </a:gs>
            </a:gsLst>
            <a:path path="rect">
              <a:fillToRect r="100000" b="10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基极          电阻</a:t>
            </a:r>
          </a:p>
          <a:p>
            <a:endParaRPr lang="en-US" altLang="zh-CN" sz="28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4" name="AutoShape 18"/>
          <p:cNvSpPr>
            <a:spLocks noChangeArrowheads="1"/>
          </p:cNvSpPr>
          <p:nvPr/>
        </p:nvSpPr>
        <p:spPr bwMode="auto">
          <a:xfrm>
            <a:off x="538163" y="2779713"/>
            <a:ext cx="1200150" cy="914400"/>
          </a:xfrm>
          <a:prstGeom prst="wedgeRoundRectCallout">
            <a:avLst>
              <a:gd name="adj1" fmla="val 155819"/>
              <a:gd name="adj2" fmla="val -68926"/>
              <a:gd name="adj3" fmla="val 16667"/>
            </a:avLst>
          </a:prstGeom>
          <a:gradFill rotWithShape="0">
            <a:gsLst>
              <a:gs pos="0">
                <a:srgbClr val="B997B8"/>
              </a:gs>
              <a:gs pos="100000">
                <a:srgbClr val="685568"/>
              </a:gs>
            </a:gsLst>
            <a:path path="rect">
              <a:fillToRect t="100000" r="10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输入    电容</a:t>
            </a:r>
          </a:p>
          <a:p>
            <a:endParaRPr lang="en-US" altLang="zh-CN" sz="28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6150" name="Group 19"/>
          <p:cNvGrpSpPr>
            <a:grpSpLocks/>
          </p:cNvGrpSpPr>
          <p:nvPr/>
        </p:nvGrpSpPr>
        <p:grpSpPr bwMode="auto">
          <a:xfrm>
            <a:off x="2281238" y="1049338"/>
            <a:ext cx="4768320" cy="2643187"/>
            <a:chOff x="965" y="932"/>
            <a:chExt cx="2712" cy="1964"/>
          </a:xfrm>
        </p:grpSpPr>
        <p:grpSp>
          <p:nvGrpSpPr>
            <p:cNvPr id="6154" name="Group 20"/>
            <p:cNvGrpSpPr>
              <a:grpSpLocks/>
            </p:cNvGrpSpPr>
            <p:nvPr/>
          </p:nvGrpSpPr>
          <p:grpSpPr bwMode="auto">
            <a:xfrm>
              <a:off x="1703" y="1119"/>
              <a:ext cx="785" cy="1665"/>
              <a:chOff x="1703" y="1119"/>
              <a:chExt cx="785" cy="1665"/>
            </a:xfrm>
          </p:grpSpPr>
          <p:sp>
            <p:nvSpPr>
              <p:cNvPr id="6197" name="Line 21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98" name="Line 22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99" name="Line 23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200" name="Line 24"/>
              <p:cNvSpPr>
                <a:spLocks noChangeShapeType="1"/>
              </p:cNvSpPr>
              <p:nvPr/>
            </p:nvSpPr>
            <p:spPr bwMode="auto">
              <a:xfrm>
                <a:off x="2282" y="2029"/>
                <a:ext cx="194" cy="147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201" name="Line 25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202" name="Line 26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155" name="Line 27"/>
            <p:cNvSpPr>
              <a:spLocks noChangeShapeType="1"/>
            </p:cNvSpPr>
            <p:nvPr/>
          </p:nvSpPr>
          <p:spPr bwMode="auto">
            <a:xfrm>
              <a:off x="1703" y="1120"/>
              <a:ext cx="1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56" name="Line 28"/>
            <p:cNvSpPr>
              <a:spLocks noChangeShapeType="1"/>
            </p:cNvSpPr>
            <p:nvPr/>
          </p:nvSpPr>
          <p:spPr bwMode="auto">
            <a:xfrm>
              <a:off x="1703" y="1119"/>
              <a:ext cx="0" cy="84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57" name="Oval 29"/>
            <p:cNvSpPr>
              <a:spLocks noChangeArrowheads="1"/>
            </p:cNvSpPr>
            <p:nvPr/>
          </p:nvSpPr>
          <p:spPr bwMode="auto">
            <a:xfrm>
              <a:off x="3133" y="109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58" name="Rectangle 30"/>
            <p:cNvSpPr>
              <a:spLocks noChangeArrowheads="1"/>
            </p:cNvSpPr>
            <p:nvPr/>
          </p:nvSpPr>
          <p:spPr bwMode="auto">
            <a:xfrm>
              <a:off x="1651" y="1408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59" name="Rectangle 31"/>
            <p:cNvSpPr>
              <a:spLocks noChangeArrowheads="1"/>
            </p:cNvSpPr>
            <p:nvPr/>
          </p:nvSpPr>
          <p:spPr bwMode="auto">
            <a:xfrm>
              <a:off x="2436" y="1276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60" name="Rectangle 32"/>
            <p:cNvSpPr>
              <a:spLocks noChangeArrowheads="1"/>
            </p:cNvSpPr>
            <p:nvPr/>
          </p:nvSpPr>
          <p:spPr bwMode="auto">
            <a:xfrm>
              <a:off x="1318" y="1196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6161" name="Rectangle 33"/>
            <p:cNvSpPr>
              <a:spLocks noChangeArrowheads="1"/>
            </p:cNvSpPr>
            <p:nvPr/>
          </p:nvSpPr>
          <p:spPr bwMode="auto">
            <a:xfrm>
              <a:off x="2148" y="1217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74" name="Rectangle 34"/>
            <p:cNvSpPr>
              <a:spLocks noChangeArrowheads="1"/>
            </p:cNvSpPr>
            <p:nvPr/>
          </p:nvSpPr>
          <p:spPr bwMode="auto">
            <a:xfrm>
              <a:off x="2459" y="1946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75" name="Rectangle 35"/>
            <p:cNvSpPr>
              <a:spLocks noChangeArrowheads="1"/>
            </p:cNvSpPr>
            <p:nvPr/>
          </p:nvSpPr>
          <p:spPr bwMode="auto">
            <a:xfrm>
              <a:off x="2009" y="2145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76" name="Rectangle 36"/>
            <p:cNvSpPr>
              <a:spLocks noChangeArrowheads="1"/>
            </p:cNvSpPr>
            <p:nvPr/>
          </p:nvSpPr>
          <p:spPr bwMode="auto">
            <a:xfrm>
              <a:off x="1980" y="1968"/>
              <a:ext cx="179" cy="27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77" name="Rectangle 37"/>
            <p:cNvSpPr>
              <a:spLocks noChangeArrowheads="1"/>
            </p:cNvSpPr>
            <p:nvPr/>
          </p:nvSpPr>
          <p:spPr bwMode="auto">
            <a:xfrm>
              <a:off x="2241" y="2534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78" name="Rectangle 38"/>
            <p:cNvSpPr>
              <a:spLocks noChangeArrowheads="1"/>
            </p:cNvSpPr>
            <p:nvPr/>
          </p:nvSpPr>
          <p:spPr bwMode="auto">
            <a:xfrm>
              <a:off x="2532" y="2534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79" name="Rectangle 39"/>
            <p:cNvSpPr>
              <a:spLocks noChangeArrowheads="1"/>
            </p:cNvSpPr>
            <p:nvPr/>
          </p:nvSpPr>
          <p:spPr bwMode="auto">
            <a:xfrm>
              <a:off x="2528" y="1722"/>
              <a:ext cx="180" cy="274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80" name="Rectangle 40"/>
            <p:cNvSpPr>
              <a:spLocks noChangeArrowheads="1"/>
            </p:cNvSpPr>
            <p:nvPr/>
          </p:nvSpPr>
          <p:spPr bwMode="auto">
            <a:xfrm>
              <a:off x="3192" y="932"/>
              <a:ext cx="485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6169" name="Line 41"/>
            <p:cNvSpPr>
              <a:spLocks noChangeShapeType="1"/>
            </p:cNvSpPr>
            <p:nvPr/>
          </p:nvSpPr>
          <p:spPr bwMode="auto">
            <a:xfrm>
              <a:off x="1115" y="2731"/>
              <a:ext cx="20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170" name="Group 42"/>
            <p:cNvGrpSpPr>
              <a:grpSpLocks/>
            </p:cNvGrpSpPr>
            <p:nvPr/>
          </p:nvGrpSpPr>
          <p:grpSpPr bwMode="auto">
            <a:xfrm>
              <a:off x="1355" y="1848"/>
              <a:ext cx="112" cy="224"/>
              <a:chOff x="5056" y="3342"/>
              <a:chExt cx="112" cy="224"/>
            </a:xfrm>
          </p:grpSpPr>
          <p:sp>
            <p:nvSpPr>
              <p:cNvPr id="6195" name="Line 43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96" name="Line 44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171" name="Line 45"/>
            <p:cNvSpPr>
              <a:spLocks noChangeShapeType="1"/>
            </p:cNvSpPr>
            <p:nvPr/>
          </p:nvSpPr>
          <p:spPr bwMode="auto">
            <a:xfrm>
              <a:off x="1467" y="1961"/>
              <a:ext cx="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72" name="Line 46"/>
            <p:cNvSpPr>
              <a:spLocks noChangeShapeType="1"/>
            </p:cNvSpPr>
            <p:nvPr/>
          </p:nvSpPr>
          <p:spPr bwMode="auto">
            <a:xfrm>
              <a:off x="1115" y="1961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73" name="Line 47"/>
            <p:cNvSpPr>
              <a:spLocks noChangeShapeType="1"/>
            </p:cNvSpPr>
            <p:nvPr/>
          </p:nvSpPr>
          <p:spPr bwMode="auto">
            <a:xfrm>
              <a:off x="2476" y="1685"/>
              <a:ext cx="2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174" name="Group 48"/>
            <p:cNvGrpSpPr>
              <a:grpSpLocks/>
            </p:cNvGrpSpPr>
            <p:nvPr/>
          </p:nvGrpSpPr>
          <p:grpSpPr bwMode="auto">
            <a:xfrm>
              <a:off x="2723" y="1580"/>
              <a:ext cx="112" cy="224"/>
              <a:chOff x="5056" y="3342"/>
              <a:chExt cx="112" cy="224"/>
            </a:xfrm>
          </p:grpSpPr>
          <p:sp>
            <p:nvSpPr>
              <p:cNvPr id="6193" name="Line 49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94" name="Line 50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175" name="Line 51"/>
            <p:cNvSpPr>
              <a:spLocks noChangeShapeType="1"/>
            </p:cNvSpPr>
            <p:nvPr/>
          </p:nvSpPr>
          <p:spPr bwMode="auto">
            <a:xfrm>
              <a:off x="2835" y="1676"/>
              <a:ext cx="2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76" name="Oval 52"/>
            <p:cNvSpPr>
              <a:spLocks noChangeArrowheads="1"/>
            </p:cNvSpPr>
            <p:nvPr/>
          </p:nvSpPr>
          <p:spPr bwMode="auto">
            <a:xfrm>
              <a:off x="3156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77" name="Oval 53"/>
            <p:cNvSpPr>
              <a:spLocks noChangeArrowheads="1"/>
            </p:cNvSpPr>
            <p:nvPr/>
          </p:nvSpPr>
          <p:spPr bwMode="auto">
            <a:xfrm>
              <a:off x="3108" y="1652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78" name="Oval 54"/>
            <p:cNvSpPr>
              <a:spLocks noChangeArrowheads="1"/>
            </p:cNvSpPr>
            <p:nvPr/>
          </p:nvSpPr>
          <p:spPr bwMode="auto">
            <a:xfrm>
              <a:off x="1091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79" name="Oval 55"/>
            <p:cNvSpPr>
              <a:spLocks noChangeArrowheads="1"/>
            </p:cNvSpPr>
            <p:nvPr/>
          </p:nvSpPr>
          <p:spPr bwMode="auto">
            <a:xfrm>
              <a:off x="1067" y="194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80" name="Oval 56"/>
            <p:cNvSpPr>
              <a:spLocks noChangeArrowheads="1"/>
            </p:cNvSpPr>
            <p:nvPr/>
          </p:nvSpPr>
          <p:spPr bwMode="auto">
            <a:xfrm>
              <a:off x="2452" y="2707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81" name="Line 57"/>
            <p:cNvSpPr>
              <a:spLocks noChangeShapeType="1"/>
            </p:cNvSpPr>
            <p:nvPr/>
          </p:nvSpPr>
          <p:spPr bwMode="auto">
            <a:xfrm>
              <a:off x="2476" y="2731"/>
              <a:ext cx="0" cy="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82" name="Line 58"/>
            <p:cNvSpPr>
              <a:spLocks noChangeShapeType="1"/>
            </p:cNvSpPr>
            <p:nvPr/>
          </p:nvSpPr>
          <p:spPr bwMode="auto">
            <a:xfrm>
              <a:off x="2403" y="2896"/>
              <a:ext cx="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83" name="Rectangle 59"/>
            <p:cNvSpPr>
              <a:spLocks noChangeArrowheads="1"/>
            </p:cNvSpPr>
            <p:nvPr/>
          </p:nvSpPr>
          <p:spPr bwMode="auto">
            <a:xfrm>
              <a:off x="1448" y="1757"/>
              <a:ext cx="179" cy="27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6184" name="Rectangle 60"/>
            <p:cNvSpPr>
              <a:spLocks noChangeArrowheads="1"/>
            </p:cNvSpPr>
            <p:nvPr/>
          </p:nvSpPr>
          <p:spPr bwMode="auto">
            <a:xfrm>
              <a:off x="2564" y="1470"/>
              <a:ext cx="180" cy="27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6185" name="Text Box 61"/>
            <p:cNvSpPr txBox="1">
              <a:spLocks noChangeArrowheads="1"/>
            </p:cNvSpPr>
            <p:nvPr/>
          </p:nvSpPr>
          <p:spPr bwMode="auto">
            <a:xfrm>
              <a:off x="1178" y="153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6186" name="Text Box 62"/>
            <p:cNvSpPr txBox="1">
              <a:spLocks noChangeArrowheads="1"/>
            </p:cNvSpPr>
            <p:nvPr/>
          </p:nvSpPr>
          <p:spPr bwMode="auto">
            <a:xfrm>
              <a:off x="2658" y="127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6187" name="Rectangle 63"/>
            <p:cNvSpPr>
              <a:spLocks noChangeArrowheads="1"/>
            </p:cNvSpPr>
            <p:nvPr/>
          </p:nvSpPr>
          <p:spPr bwMode="auto">
            <a:xfrm>
              <a:off x="1021" y="1959"/>
              <a:ext cx="179" cy="27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00" name="Rectangle 64"/>
            <p:cNvSpPr>
              <a:spLocks noChangeArrowheads="1"/>
            </p:cNvSpPr>
            <p:nvPr/>
          </p:nvSpPr>
          <p:spPr bwMode="auto">
            <a:xfrm>
              <a:off x="1024" y="2451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6189" name="Rectangle 65"/>
            <p:cNvSpPr>
              <a:spLocks noChangeArrowheads="1"/>
            </p:cNvSpPr>
            <p:nvPr/>
          </p:nvSpPr>
          <p:spPr bwMode="auto">
            <a:xfrm>
              <a:off x="965" y="2071"/>
              <a:ext cx="225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i</a:t>
              </a:r>
            </a:p>
          </p:txBody>
        </p:sp>
        <p:sp>
          <p:nvSpPr>
            <p:cNvPr id="6190" name="Rectangle 66"/>
            <p:cNvSpPr>
              <a:spLocks noChangeArrowheads="1"/>
            </p:cNvSpPr>
            <p:nvPr/>
          </p:nvSpPr>
          <p:spPr bwMode="auto">
            <a:xfrm>
              <a:off x="3034" y="1722"/>
              <a:ext cx="179" cy="27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03" name="Rectangle 67"/>
            <p:cNvSpPr>
              <a:spLocks noChangeArrowheads="1"/>
            </p:cNvSpPr>
            <p:nvPr/>
          </p:nvSpPr>
          <p:spPr bwMode="auto">
            <a:xfrm>
              <a:off x="2989" y="2496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6192" name="Rectangle 68"/>
            <p:cNvSpPr>
              <a:spLocks noChangeArrowheads="1"/>
            </p:cNvSpPr>
            <p:nvPr/>
          </p:nvSpPr>
          <p:spPr bwMode="auto">
            <a:xfrm>
              <a:off x="3023" y="1908"/>
              <a:ext cx="251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115" name="AutoShape 69"/>
          <p:cNvSpPr>
            <a:spLocks noChangeArrowheads="1"/>
          </p:cNvSpPr>
          <p:nvPr/>
        </p:nvSpPr>
        <p:spPr bwMode="auto">
          <a:xfrm>
            <a:off x="6751638" y="2098675"/>
            <a:ext cx="1325562" cy="852488"/>
          </a:xfrm>
          <a:prstGeom prst="wedgeRoundRectCallout">
            <a:avLst>
              <a:gd name="adj1" fmla="val -177782"/>
              <a:gd name="adj2" fmla="val -95065"/>
              <a:gd name="adj3" fmla="val 16667"/>
            </a:avLst>
          </a:prstGeom>
          <a:gradFill rotWithShape="0">
            <a:gsLst>
              <a:gs pos="0">
                <a:srgbClr val="B7BB95"/>
              </a:gs>
              <a:gs pos="100000">
                <a:srgbClr val="676A54"/>
              </a:gs>
            </a:gsLst>
            <a:path path="rect">
              <a:fillToRect l="100000" b="10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集电极电阻</a:t>
            </a:r>
          </a:p>
        </p:txBody>
      </p:sp>
      <p:sp>
        <p:nvSpPr>
          <p:cNvPr id="116" name="AutoShape 70"/>
          <p:cNvSpPr>
            <a:spLocks noChangeArrowheads="1"/>
          </p:cNvSpPr>
          <p:nvPr/>
        </p:nvSpPr>
        <p:spPr bwMode="auto">
          <a:xfrm>
            <a:off x="2255838" y="3541713"/>
            <a:ext cx="1814512" cy="914400"/>
          </a:xfrm>
          <a:prstGeom prst="wedgeRoundRectCallout">
            <a:avLst>
              <a:gd name="adj1" fmla="val 77296"/>
              <a:gd name="adj2" fmla="val -142884"/>
              <a:gd name="adj3" fmla="val 16667"/>
            </a:avLst>
          </a:prstGeom>
          <a:gradFill rotWithShape="0">
            <a:gsLst>
              <a:gs pos="0">
                <a:srgbClr val="B997B8"/>
              </a:gs>
              <a:gs pos="100000">
                <a:srgbClr val="685568"/>
              </a:gs>
            </a:gsLst>
            <a:path path="rect">
              <a:fillToRect t="100000" r="10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三极管：电流放大</a:t>
            </a:r>
          </a:p>
          <a:p>
            <a:endParaRPr lang="en-US" altLang="zh-CN" sz="28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7" name="AutoShape 71"/>
          <p:cNvSpPr>
            <a:spLocks noChangeArrowheads="1"/>
          </p:cNvSpPr>
          <p:nvPr/>
        </p:nvSpPr>
        <p:spPr bwMode="auto">
          <a:xfrm>
            <a:off x="6324599" y="3509963"/>
            <a:ext cx="898525" cy="842962"/>
          </a:xfrm>
          <a:prstGeom prst="wedgeRoundRectCallout">
            <a:avLst>
              <a:gd name="adj1" fmla="val -136064"/>
              <a:gd name="adj2" fmla="val -195413"/>
              <a:gd name="adj3" fmla="val 16667"/>
            </a:avLst>
          </a:prstGeom>
          <a:gradFill rotWithShape="0">
            <a:gsLst>
              <a:gs pos="0">
                <a:srgbClr val="B7BB95"/>
              </a:gs>
              <a:gs pos="100000">
                <a:srgbClr val="676A54"/>
              </a:gs>
            </a:gsLst>
            <a:path path="rect">
              <a:fillToRect l="100000" b="10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输出电容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 autoUpdateAnimBg="0"/>
      <p:bldP spid="64" grpId="0" animBg="1" autoUpdateAnimBg="0"/>
      <p:bldP spid="115" grpId="0" animBg="1" autoUpdateAnimBg="0"/>
      <p:bldP spid="116" grpId="0" animBg="1" autoUpdateAnimBg="0"/>
      <p:bldP spid="117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5"/>
          <p:cNvGrpSpPr>
            <a:grpSpLocks/>
          </p:cNvGrpSpPr>
          <p:nvPr/>
        </p:nvGrpSpPr>
        <p:grpSpPr bwMode="auto">
          <a:xfrm>
            <a:off x="401638" y="1360488"/>
            <a:ext cx="3068637" cy="579437"/>
            <a:chOff x="3562" y="374"/>
            <a:chExt cx="1933" cy="365"/>
          </a:xfrm>
        </p:grpSpPr>
        <p:sp>
          <p:nvSpPr>
            <p:cNvPr id="7225" name="Text Box 6"/>
            <p:cNvSpPr txBox="1">
              <a:spLocks noChangeArrowheads="1"/>
            </p:cNvSpPr>
            <p:nvPr/>
          </p:nvSpPr>
          <p:spPr bwMode="auto">
            <a:xfrm>
              <a:off x="3580" y="374"/>
              <a:ext cx="1915" cy="3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3200" b="1" dirty="0">
                  <a:latin typeface="华文中宋" pitchFamily="2" charset="-122"/>
                  <a:ea typeface="华文中宋" pitchFamily="2" charset="-122"/>
                </a:rPr>
                <a:t>耦合电容的作用</a:t>
              </a:r>
              <a:endParaRPr lang="zh-CN" altLang="en-US" sz="3200" b="1" dirty="0">
                <a:latin typeface="华文中宋" pitchFamily="2" charset="-122"/>
                <a:ea typeface="华文中宋" pitchFamily="2" charset="-122"/>
                <a:cs typeface="方正琥珀繁体"/>
              </a:endParaRPr>
            </a:p>
          </p:txBody>
        </p:sp>
        <p:sp>
          <p:nvSpPr>
            <p:cNvPr id="7226" name="Line 7"/>
            <p:cNvSpPr>
              <a:spLocks noChangeShapeType="1"/>
            </p:cNvSpPr>
            <p:nvPr/>
          </p:nvSpPr>
          <p:spPr bwMode="auto">
            <a:xfrm>
              <a:off x="3562" y="739"/>
              <a:ext cx="1933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3200"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6" name="AutoShape 16"/>
          <p:cNvSpPr>
            <a:spLocks noChangeArrowheads="1"/>
          </p:cNvSpPr>
          <p:nvPr/>
        </p:nvSpPr>
        <p:spPr bwMode="auto">
          <a:xfrm>
            <a:off x="7927975" y="2193925"/>
            <a:ext cx="661988" cy="1090613"/>
          </a:xfrm>
          <a:prstGeom prst="wedgeRoundRectCallout">
            <a:avLst>
              <a:gd name="adj1" fmla="val -183815"/>
              <a:gd name="adj2" fmla="val 23218"/>
              <a:gd name="adj3" fmla="val 16667"/>
            </a:avLst>
          </a:prstGeom>
          <a:gradFill rotWithShape="0">
            <a:gsLst>
              <a:gs pos="0">
                <a:srgbClr val="B7BB95"/>
              </a:gs>
              <a:gs pos="100000">
                <a:srgbClr val="676A54"/>
              </a:gs>
            </a:gsLst>
            <a:path path="rect">
              <a:fillToRect r="100000" b="10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负载</a:t>
            </a:r>
          </a:p>
        </p:txBody>
      </p:sp>
      <p:sp>
        <p:nvSpPr>
          <p:cNvPr id="7" name="AutoShape 17"/>
          <p:cNvSpPr>
            <a:spLocks noChangeArrowheads="1"/>
          </p:cNvSpPr>
          <p:nvPr/>
        </p:nvSpPr>
        <p:spPr bwMode="auto">
          <a:xfrm>
            <a:off x="1611313" y="2511425"/>
            <a:ext cx="785812" cy="1490663"/>
          </a:xfrm>
          <a:prstGeom prst="wedgeRoundRectCallout">
            <a:avLst>
              <a:gd name="adj1" fmla="val 157676"/>
              <a:gd name="adj2" fmla="val -10171"/>
              <a:gd name="adj3" fmla="val 16667"/>
            </a:avLst>
          </a:prstGeom>
          <a:gradFill rotWithShape="0">
            <a:gsLst>
              <a:gs pos="0">
                <a:srgbClr val="B997B8"/>
              </a:gs>
              <a:gs pos="100000">
                <a:srgbClr val="685568"/>
              </a:gs>
            </a:gsLst>
            <a:path path="rect">
              <a:fillToRect r="100000" b="10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信号源</a:t>
            </a:r>
          </a:p>
          <a:p>
            <a:endParaRPr lang="en-US" altLang="zh-CN" sz="28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9" name="Rectangle 3"/>
          <p:cNvSpPr txBox="1">
            <a:spLocks noChangeArrowheads="1"/>
          </p:cNvSpPr>
          <p:nvPr/>
        </p:nvSpPr>
        <p:spPr bwMode="auto">
          <a:xfrm>
            <a:off x="609601" y="320675"/>
            <a:ext cx="3287486" cy="53975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、电路组成</a:t>
            </a:r>
          </a:p>
        </p:txBody>
      </p:sp>
      <p:grpSp>
        <p:nvGrpSpPr>
          <p:cNvPr id="60" name="Group 19"/>
          <p:cNvGrpSpPr>
            <a:grpSpLocks/>
          </p:cNvGrpSpPr>
          <p:nvPr/>
        </p:nvGrpSpPr>
        <p:grpSpPr bwMode="auto">
          <a:xfrm>
            <a:off x="3010581" y="1365023"/>
            <a:ext cx="4822825" cy="2643187"/>
            <a:chOff x="965" y="932"/>
            <a:chExt cx="2743" cy="1964"/>
          </a:xfrm>
        </p:grpSpPr>
        <p:grpSp>
          <p:nvGrpSpPr>
            <p:cNvPr id="61" name="Group 20"/>
            <p:cNvGrpSpPr>
              <a:grpSpLocks/>
            </p:cNvGrpSpPr>
            <p:nvPr/>
          </p:nvGrpSpPr>
          <p:grpSpPr bwMode="auto">
            <a:xfrm>
              <a:off x="1703" y="1119"/>
              <a:ext cx="785" cy="1665"/>
              <a:chOff x="1703" y="1119"/>
              <a:chExt cx="785" cy="1665"/>
            </a:xfrm>
          </p:grpSpPr>
          <p:sp>
            <p:nvSpPr>
              <p:cNvPr id="104" name="Line 21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Line 22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Line 23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Line 24"/>
              <p:cNvSpPr>
                <a:spLocks noChangeShapeType="1"/>
              </p:cNvSpPr>
              <p:nvPr/>
            </p:nvSpPr>
            <p:spPr bwMode="auto">
              <a:xfrm>
                <a:off x="2282" y="2029"/>
                <a:ext cx="194" cy="147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Line 25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Line 26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2" name="Line 27"/>
            <p:cNvSpPr>
              <a:spLocks noChangeShapeType="1"/>
            </p:cNvSpPr>
            <p:nvPr/>
          </p:nvSpPr>
          <p:spPr bwMode="auto">
            <a:xfrm>
              <a:off x="1703" y="1120"/>
              <a:ext cx="1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Line 28"/>
            <p:cNvSpPr>
              <a:spLocks noChangeShapeType="1"/>
            </p:cNvSpPr>
            <p:nvPr/>
          </p:nvSpPr>
          <p:spPr bwMode="auto">
            <a:xfrm>
              <a:off x="1703" y="1119"/>
              <a:ext cx="0" cy="84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Oval 29"/>
            <p:cNvSpPr>
              <a:spLocks noChangeArrowheads="1"/>
            </p:cNvSpPr>
            <p:nvPr/>
          </p:nvSpPr>
          <p:spPr bwMode="auto">
            <a:xfrm>
              <a:off x="3133" y="109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Rectangle 30"/>
            <p:cNvSpPr>
              <a:spLocks noChangeArrowheads="1"/>
            </p:cNvSpPr>
            <p:nvPr/>
          </p:nvSpPr>
          <p:spPr bwMode="auto">
            <a:xfrm>
              <a:off x="1651" y="1408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Rectangle 31"/>
            <p:cNvSpPr>
              <a:spLocks noChangeArrowheads="1"/>
            </p:cNvSpPr>
            <p:nvPr/>
          </p:nvSpPr>
          <p:spPr bwMode="auto">
            <a:xfrm>
              <a:off x="2436" y="1276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Rectangle 32"/>
            <p:cNvSpPr>
              <a:spLocks noChangeArrowheads="1"/>
            </p:cNvSpPr>
            <p:nvPr/>
          </p:nvSpPr>
          <p:spPr bwMode="auto">
            <a:xfrm>
              <a:off x="1318" y="1196"/>
              <a:ext cx="316" cy="38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68" name="Rectangle 33"/>
            <p:cNvSpPr>
              <a:spLocks noChangeArrowheads="1"/>
            </p:cNvSpPr>
            <p:nvPr/>
          </p:nvSpPr>
          <p:spPr bwMode="auto">
            <a:xfrm>
              <a:off x="2148" y="1217"/>
              <a:ext cx="307" cy="389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69" name="Rectangle 34"/>
            <p:cNvSpPr>
              <a:spLocks noChangeArrowheads="1"/>
            </p:cNvSpPr>
            <p:nvPr/>
          </p:nvSpPr>
          <p:spPr bwMode="auto">
            <a:xfrm>
              <a:off x="2459" y="1946"/>
              <a:ext cx="411" cy="386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70" name="Rectangle 35"/>
            <p:cNvSpPr>
              <a:spLocks noChangeArrowheads="1"/>
            </p:cNvSpPr>
            <p:nvPr/>
          </p:nvSpPr>
          <p:spPr bwMode="auto">
            <a:xfrm>
              <a:off x="1953" y="2096"/>
              <a:ext cx="405" cy="386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71" name="Rectangle 36"/>
            <p:cNvSpPr>
              <a:spLocks noChangeArrowheads="1"/>
            </p:cNvSpPr>
            <p:nvPr/>
          </p:nvSpPr>
          <p:spPr bwMode="auto">
            <a:xfrm>
              <a:off x="1980" y="1968"/>
              <a:ext cx="179" cy="27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72" name="Rectangle 37"/>
            <p:cNvSpPr>
              <a:spLocks noChangeArrowheads="1"/>
            </p:cNvSpPr>
            <p:nvPr/>
          </p:nvSpPr>
          <p:spPr bwMode="auto">
            <a:xfrm>
              <a:off x="2241" y="2534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73" name="Rectangle 38"/>
            <p:cNvSpPr>
              <a:spLocks noChangeArrowheads="1"/>
            </p:cNvSpPr>
            <p:nvPr/>
          </p:nvSpPr>
          <p:spPr bwMode="auto">
            <a:xfrm>
              <a:off x="2532" y="2534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74" name="Rectangle 39"/>
            <p:cNvSpPr>
              <a:spLocks noChangeArrowheads="1"/>
            </p:cNvSpPr>
            <p:nvPr/>
          </p:nvSpPr>
          <p:spPr bwMode="auto">
            <a:xfrm>
              <a:off x="2528" y="1722"/>
              <a:ext cx="180" cy="274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75" name="Rectangle 40"/>
            <p:cNvSpPr>
              <a:spLocks noChangeArrowheads="1"/>
            </p:cNvSpPr>
            <p:nvPr/>
          </p:nvSpPr>
          <p:spPr bwMode="auto">
            <a:xfrm>
              <a:off x="3192" y="932"/>
              <a:ext cx="516" cy="386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28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76" name="Line 41"/>
            <p:cNvSpPr>
              <a:spLocks noChangeShapeType="1"/>
            </p:cNvSpPr>
            <p:nvPr/>
          </p:nvSpPr>
          <p:spPr bwMode="auto">
            <a:xfrm>
              <a:off x="1115" y="2731"/>
              <a:ext cx="20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77" name="Group 42"/>
            <p:cNvGrpSpPr>
              <a:grpSpLocks/>
            </p:cNvGrpSpPr>
            <p:nvPr/>
          </p:nvGrpSpPr>
          <p:grpSpPr bwMode="auto">
            <a:xfrm>
              <a:off x="1355" y="1848"/>
              <a:ext cx="112" cy="224"/>
              <a:chOff x="5056" y="3342"/>
              <a:chExt cx="112" cy="224"/>
            </a:xfrm>
          </p:grpSpPr>
          <p:sp>
            <p:nvSpPr>
              <p:cNvPr id="102" name="Line 43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Line 44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8" name="Line 45"/>
            <p:cNvSpPr>
              <a:spLocks noChangeShapeType="1"/>
            </p:cNvSpPr>
            <p:nvPr/>
          </p:nvSpPr>
          <p:spPr bwMode="auto">
            <a:xfrm>
              <a:off x="1467" y="1961"/>
              <a:ext cx="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Line 46"/>
            <p:cNvSpPr>
              <a:spLocks noChangeShapeType="1"/>
            </p:cNvSpPr>
            <p:nvPr/>
          </p:nvSpPr>
          <p:spPr bwMode="auto">
            <a:xfrm>
              <a:off x="1115" y="1961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Line 47"/>
            <p:cNvSpPr>
              <a:spLocks noChangeShapeType="1"/>
            </p:cNvSpPr>
            <p:nvPr/>
          </p:nvSpPr>
          <p:spPr bwMode="auto">
            <a:xfrm>
              <a:off x="2476" y="1685"/>
              <a:ext cx="2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1" name="Group 48"/>
            <p:cNvGrpSpPr>
              <a:grpSpLocks/>
            </p:cNvGrpSpPr>
            <p:nvPr/>
          </p:nvGrpSpPr>
          <p:grpSpPr bwMode="auto">
            <a:xfrm>
              <a:off x="2723" y="1580"/>
              <a:ext cx="112" cy="224"/>
              <a:chOff x="5056" y="3342"/>
              <a:chExt cx="112" cy="224"/>
            </a:xfrm>
          </p:grpSpPr>
          <p:sp>
            <p:nvSpPr>
              <p:cNvPr id="100" name="Line 49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Line 50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82" name="Line 51"/>
            <p:cNvSpPr>
              <a:spLocks noChangeShapeType="1"/>
            </p:cNvSpPr>
            <p:nvPr/>
          </p:nvSpPr>
          <p:spPr bwMode="auto">
            <a:xfrm>
              <a:off x="2835" y="1676"/>
              <a:ext cx="2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Oval 52"/>
            <p:cNvSpPr>
              <a:spLocks noChangeArrowheads="1"/>
            </p:cNvSpPr>
            <p:nvPr/>
          </p:nvSpPr>
          <p:spPr bwMode="auto">
            <a:xfrm>
              <a:off x="3156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Oval 53"/>
            <p:cNvSpPr>
              <a:spLocks noChangeArrowheads="1"/>
            </p:cNvSpPr>
            <p:nvPr/>
          </p:nvSpPr>
          <p:spPr bwMode="auto">
            <a:xfrm>
              <a:off x="3108" y="1652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Oval 54"/>
            <p:cNvSpPr>
              <a:spLocks noChangeArrowheads="1"/>
            </p:cNvSpPr>
            <p:nvPr/>
          </p:nvSpPr>
          <p:spPr bwMode="auto">
            <a:xfrm>
              <a:off x="1091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Oval 55"/>
            <p:cNvSpPr>
              <a:spLocks noChangeArrowheads="1"/>
            </p:cNvSpPr>
            <p:nvPr/>
          </p:nvSpPr>
          <p:spPr bwMode="auto">
            <a:xfrm>
              <a:off x="1067" y="194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Oval 56"/>
            <p:cNvSpPr>
              <a:spLocks noChangeArrowheads="1"/>
            </p:cNvSpPr>
            <p:nvPr/>
          </p:nvSpPr>
          <p:spPr bwMode="auto">
            <a:xfrm>
              <a:off x="2452" y="2707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Line 57"/>
            <p:cNvSpPr>
              <a:spLocks noChangeShapeType="1"/>
            </p:cNvSpPr>
            <p:nvPr/>
          </p:nvSpPr>
          <p:spPr bwMode="auto">
            <a:xfrm>
              <a:off x="2476" y="2731"/>
              <a:ext cx="0" cy="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Line 58"/>
            <p:cNvSpPr>
              <a:spLocks noChangeShapeType="1"/>
            </p:cNvSpPr>
            <p:nvPr/>
          </p:nvSpPr>
          <p:spPr bwMode="auto">
            <a:xfrm>
              <a:off x="2403" y="2896"/>
              <a:ext cx="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Rectangle 59"/>
            <p:cNvSpPr>
              <a:spLocks noChangeArrowheads="1"/>
            </p:cNvSpPr>
            <p:nvPr/>
          </p:nvSpPr>
          <p:spPr bwMode="auto">
            <a:xfrm>
              <a:off x="1448" y="1757"/>
              <a:ext cx="179" cy="27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1" name="Rectangle 60"/>
            <p:cNvSpPr>
              <a:spLocks noChangeArrowheads="1"/>
            </p:cNvSpPr>
            <p:nvPr/>
          </p:nvSpPr>
          <p:spPr bwMode="auto">
            <a:xfrm>
              <a:off x="2564" y="1470"/>
              <a:ext cx="180" cy="27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2" name="Text Box 61"/>
            <p:cNvSpPr txBox="1">
              <a:spLocks noChangeArrowheads="1"/>
            </p:cNvSpPr>
            <p:nvPr/>
          </p:nvSpPr>
          <p:spPr bwMode="auto">
            <a:xfrm>
              <a:off x="1178" y="1536"/>
              <a:ext cx="354" cy="386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93" name="Text Box 62"/>
            <p:cNvSpPr txBox="1">
              <a:spLocks noChangeArrowheads="1"/>
            </p:cNvSpPr>
            <p:nvPr/>
          </p:nvSpPr>
          <p:spPr bwMode="auto">
            <a:xfrm>
              <a:off x="2658" y="1276"/>
              <a:ext cx="354" cy="386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94" name="Rectangle 63"/>
            <p:cNvSpPr>
              <a:spLocks noChangeArrowheads="1"/>
            </p:cNvSpPr>
            <p:nvPr/>
          </p:nvSpPr>
          <p:spPr bwMode="auto">
            <a:xfrm>
              <a:off x="1021" y="1959"/>
              <a:ext cx="179" cy="27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5" name="Rectangle 64"/>
            <p:cNvSpPr>
              <a:spLocks noChangeArrowheads="1"/>
            </p:cNvSpPr>
            <p:nvPr/>
          </p:nvSpPr>
          <p:spPr bwMode="auto">
            <a:xfrm>
              <a:off x="1284" y="2394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96" name="Rectangle 65"/>
            <p:cNvSpPr>
              <a:spLocks noChangeArrowheads="1"/>
            </p:cNvSpPr>
            <p:nvPr/>
          </p:nvSpPr>
          <p:spPr bwMode="auto">
            <a:xfrm>
              <a:off x="965" y="2071"/>
              <a:ext cx="285" cy="48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6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3600" b="1" baseline="-25000">
                  <a:latin typeface="Times New Roman" pitchFamily="18" charset="0"/>
                  <a:cs typeface="Times New Roman" pitchFamily="18" charset="0"/>
                </a:rPr>
                <a:t>i</a:t>
              </a:r>
            </a:p>
          </p:txBody>
        </p:sp>
        <p:sp>
          <p:nvSpPr>
            <p:cNvPr id="97" name="Rectangle 66"/>
            <p:cNvSpPr>
              <a:spLocks noChangeArrowheads="1"/>
            </p:cNvSpPr>
            <p:nvPr/>
          </p:nvSpPr>
          <p:spPr bwMode="auto">
            <a:xfrm>
              <a:off x="3034" y="1722"/>
              <a:ext cx="179" cy="27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8" name="Rectangle 67"/>
            <p:cNvSpPr>
              <a:spLocks noChangeArrowheads="1"/>
            </p:cNvSpPr>
            <p:nvPr/>
          </p:nvSpPr>
          <p:spPr bwMode="auto">
            <a:xfrm>
              <a:off x="2989" y="2496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99" name="Rectangle 68"/>
            <p:cNvSpPr>
              <a:spLocks noChangeArrowheads="1"/>
            </p:cNvSpPr>
            <p:nvPr/>
          </p:nvSpPr>
          <p:spPr bwMode="auto">
            <a:xfrm>
              <a:off x="3023" y="1908"/>
              <a:ext cx="295" cy="48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6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10" name="Group 8"/>
          <p:cNvGrpSpPr>
            <a:grpSpLocks/>
          </p:cNvGrpSpPr>
          <p:nvPr/>
        </p:nvGrpSpPr>
        <p:grpSpPr bwMode="auto">
          <a:xfrm>
            <a:off x="498475" y="4127047"/>
            <a:ext cx="8166101" cy="584200"/>
            <a:chOff x="339" y="2448"/>
            <a:chExt cx="5144" cy="368"/>
          </a:xfrm>
        </p:grpSpPr>
        <p:sp>
          <p:nvSpPr>
            <p:cNvPr id="111" name="Oval 9"/>
            <p:cNvSpPr>
              <a:spLocks noChangeArrowheads="1"/>
            </p:cNvSpPr>
            <p:nvPr/>
          </p:nvSpPr>
          <p:spPr bwMode="auto">
            <a:xfrm>
              <a:off x="339" y="2538"/>
              <a:ext cx="159" cy="15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2" name="Rectangle 10"/>
            <p:cNvSpPr>
              <a:spLocks noChangeArrowheads="1"/>
            </p:cNvSpPr>
            <p:nvPr/>
          </p:nvSpPr>
          <p:spPr bwMode="auto">
            <a:xfrm>
              <a:off x="491" y="2448"/>
              <a:ext cx="4992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sz="32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sz="32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用来隔断放大电路与信号源之间的直流通路</a:t>
              </a:r>
              <a:r>
                <a:rPr lang="zh-CN" altLang="en-US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。</a:t>
              </a:r>
              <a:r>
                <a:rPr lang="zh-CN" altLang="en-US" sz="32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01638" y="1360488"/>
            <a:ext cx="3068637" cy="579437"/>
            <a:chOff x="3562" y="374"/>
            <a:chExt cx="1933" cy="365"/>
          </a:xfrm>
        </p:grpSpPr>
        <p:sp>
          <p:nvSpPr>
            <p:cNvPr id="7225" name="Text Box 6"/>
            <p:cNvSpPr txBox="1">
              <a:spLocks noChangeArrowheads="1"/>
            </p:cNvSpPr>
            <p:nvPr/>
          </p:nvSpPr>
          <p:spPr bwMode="auto">
            <a:xfrm>
              <a:off x="3580" y="374"/>
              <a:ext cx="1915" cy="3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3200" b="1" dirty="0">
                  <a:latin typeface="华文中宋" pitchFamily="2" charset="-122"/>
                  <a:ea typeface="华文中宋" pitchFamily="2" charset="-122"/>
                </a:rPr>
                <a:t>耦合电容的作用</a:t>
              </a:r>
              <a:endParaRPr lang="zh-CN" altLang="en-US" sz="3200" b="1" dirty="0">
                <a:latin typeface="华文中宋" pitchFamily="2" charset="-122"/>
                <a:ea typeface="华文中宋" pitchFamily="2" charset="-122"/>
                <a:cs typeface="方正琥珀繁体"/>
              </a:endParaRPr>
            </a:p>
          </p:txBody>
        </p:sp>
        <p:sp>
          <p:nvSpPr>
            <p:cNvPr id="7226" name="Line 7"/>
            <p:cNvSpPr>
              <a:spLocks noChangeShapeType="1"/>
            </p:cNvSpPr>
            <p:nvPr/>
          </p:nvSpPr>
          <p:spPr bwMode="auto">
            <a:xfrm>
              <a:off x="3562" y="739"/>
              <a:ext cx="1933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3200"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6" name="AutoShape 16"/>
          <p:cNvSpPr>
            <a:spLocks noChangeArrowheads="1"/>
          </p:cNvSpPr>
          <p:nvPr/>
        </p:nvSpPr>
        <p:spPr bwMode="auto">
          <a:xfrm>
            <a:off x="7927975" y="2193925"/>
            <a:ext cx="661988" cy="1090613"/>
          </a:xfrm>
          <a:prstGeom prst="wedgeRoundRectCallout">
            <a:avLst>
              <a:gd name="adj1" fmla="val -183815"/>
              <a:gd name="adj2" fmla="val 23218"/>
              <a:gd name="adj3" fmla="val 16667"/>
            </a:avLst>
          </a:prstGeom>
          <a:gradFill rotWithShape="0">
            <a:gsLst>
              <a:gs pos="0">
                <a:srgbClr val="B7BB95"/>
              </a:gs>
              <a:gs pos="100000">
                <a:srgbClr val="676A54"/>
              </a:gs>
            </a:gsLst>
            <a:path path="rect">
              <a:fillToRect r="100000" b="10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负载</a:t>
            </a:r>
          </a:p>
        </p:txBody>
      </p:sp>
      <p:sp>
        <p:nvSpPr>
          <p:cNvPr id="7" name="AutoShape 17"/>
          <p:cNvSpPr>
            <a:spLocks noChangeArrowheads="1"/>
          </p:cNvSpPr>
          <p:nvPr/>
        </p:nvSpPr>
        <p:spPr bwMode="auto">
          <a:xfrm>
            <a:off x="1611313" y="2511425"/>
            <a:ext cx="785812" cy="1490663"/>
          </a:xfrm>
          <a:prstGeom prst="wedgeRoundRectCallout">
            <a:avLst>
              <a:gd name="adj1" fmla="val 157676"/>
              <a:gd name="adj2" fmla="val -10171"/>
              <a:gd name="adj3" fmla="val 16667"/>
            </a:avLst>
          </a:prstGeom>
          <a:gradFill rotWithShape="0">
            <a:gsLst>
              <a:gs pos="0">
                <a:srgbClr val="B997B8"/>
              </a:gs>
              <a:gs pos="100000">
                <a:srgbClr val="685568"/>
              </a:gs>
            </a:gsLst>
            <a:path path="rect">
              <a:fillToRect r="100000" b="10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信号源</a:t>
            </a:r>
          </a:p>
          <a:p>
            <a:endParaRPr lang="en-US" altLang="zh-CN" sz="28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9" name="Rectangle 3"/>
          <p:cNvSpPr txBox="1">
            <a:spLocks noChangeArrowheads="1"/>
          </p:cNvSpPr>
          <p:nvPr/>
        </p:nvSpPr>
        <p:spPr bwMode="auto">
          <a:xfrm>
            <a:off x="609601" y="320675"/>
            <a:ext cx="3287486" cy="53975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、电路组成</a:t>
            </a:r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3010581" y="1365023"/>
            <a:ext cx="4768320" cy="2643187"/>
            <a:chOff x="965" y="932"/>
            <a:chExt cx="2712" cy="1964"/>
          </a:xfrm>
        </p:grpSpPr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1703" y="1119"/>
              <a:ext cx="785" cy="1665"/>
              <a:chOff x="1703" y="1119"/>
              <a:chExt cx="785" cy="1665"/>
            </a:xfrm>
          </p:grpSpPr>
          <p:sp>
            <p:nvSpPr>
              <p:cNvPr id="104" name="Line 21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Line 22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Line 23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Line 24"/>
              <p:cNvSpPr>
                <a:spLocks noChangeShapeType="1"/>
              </p:cNvSpPr>
              <p:nvPr/>
            </p:nvSpPr>
            <p:spPr bwMode="auto">
              <a:xfrm>
                <a:off x="2282" y="2029"/>
                <a:ext cx="194" cy="147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Line 25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Line 26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2" name="Line 27"/>
            <p:cNvSpPr>
              <a:spLocks noChangeShapeType="1"/>
            </p:cNvSpPr>
            <p:nvPr/>
          </p:nvSpPr>
          <p:spPr bwMode="auto">
            <a:xfrm>
              <a:off x="1703" y="1120"/>
              <a:ext cx="1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Line 28"/>
            <p:cNvSpPr>
              <a:spLocks noChangeShapeType="1"/>
            </p:cNvSpPr>
            <p:nvPr/>
          </p:nvSpPr>
          <p:spPr bwMode="auto">
            <a:xfrm>
              <a:off x="1703" y="1119"/>
              <a:ext cx="0" cy="84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Oval 29"/>
            <p:cNvSpPr>
              <a:spLocks noChangeArrowheads="1"/>
            </p:cNvSpPr>
            <p:nvPr/>
          </p:nvSpPr>
          <p:spPr bwMode="auto">
            <a:xfrm>
              <a:off x="3133" y="109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Rectangle 30"/>
            <p:cNvSpPr>
              <a:spLocks noChangeArrowheads="1"/>
            </p:cNvSpPr>
            <p:nvPr/>
          </p:nvSpPr>
          <p:spPr bwMode="auto">
            <a:xfrm>
              <a:off x="1651" y="1408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Rectangle 31"/>
            <p:cNvSpPr>
              <a:spLocks noChangeArrowheads="1"/>
            </p:cNvSpPr>
            <p:nvPr/>
          </p:nvSpPr>
          <p:spPr bwMode="auto">
            <a:xfrm>
              <a:off x="2436" y="1276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Rectangle 32"/>
            <p:cNvSpPr>
              <a:spLocks noChangeArrowheads="1"/>
            </p:cNvSpPr>
            <p:nvPr/>
          </p:nvSpPr>
          <p:spPr bwMode="auto">
            <a:xfrm>
              <a:off x="1318" y="1196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68" name="Rectangle 33"/>
            <p:cNvSpPr>
              <a:spLocks noChangeArrowheads="1"/>
            </p:cNvSpPr>
            <p:nvPr/>
          </p:nvSpPr>
          <p:spPr bwMode="auto">
            <a:xfrm>
              <a:off x="2148" y="1217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69" name="Rectangle 34"/>
            <p:cNvSpPr>
              <a:spLocks noChangeArrowheads="1"/>
            </p:cNvSpPr>
            <p:nvPr/>
          </p:nvSpPr>
          <p:spPr bwMode="auto">
            <a:xfrm>
              <a:off x="2496" y="2051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70" name="Rectangle 35"/>
            <p:cNvSpPr>
              <a:spLocks noChangeArrowheads="1"/>
            </p:cNvSpPr>
            <p:nvPr/>
          </p:nvSpPr>
          <p:spPr bwMode="auto">
            <a:xfrm>
              <a:off x="2027" y="2177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71" name="Rectangle 36"/>
            <p:cNvSpPr>
              <a:spLocks noChangeArrowheads="1"/>
            </p:cNvSpPr>
            <p:nvPr/>
          </p:nvSpPr>
          <p:spPr bwMode="auto">
            <a:xfrm>
              <a:off x="1980" y="1968"/>
              <a:ext cx="179" cy="27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72" name="Rectangle 37"/>
            <p:cNvSpPr>
              <a:spLocks noChangeArrowheads="1"/>
            </p:cNvSpPr>
            <p:nvPr/>
          </p:nvSpPr>
          <p:spPr bwMode="auto">
            <a:xfrm>
              <a:off x="2241" y="2534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73" name="Rectangle 38"/>
            <p:cNvSpPr>
              <a:spLocks noChangeArrowheads="1"/>
            </p:cNvSpPr>
            <p:nvPr/>
          </p:nvSpPr>
          <p:spPr bwMode="auto">
            <a:xfrm>
              <a:off x="2532" y="2534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74" name="Rectangle 39"/>
            <p:cNvSpPr>
              <a:spLocks noChangeArrowheads="1"/>
            </p:cNvSpPr>
            <p:nvPr/>
          </p:nvSpPr>
          <p:spPr bwMode="auto">
            <a:xfrm>
              <a:off x="2528" y="1722"/>
              <a:ext cx="180" cy="274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75" name="Rectangle 40"/>
            <p:cNvSpPr>
              <a:spLocks noChangeArrowheads="1"/>
            </p:cNvSpPr>
            <p:nvPr/>
          </p:nvSpPr>
          <p:spPr bwMode="auto">
            <a:xfrm>
              <a:off x="3192" y="932"/>
              <a:ext cx="485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76" name="Line 41"/>
            <p:cNvSpPr>
              <a:spLocks noChangeShapeType="1"/>
            </p:cNvSpPr>
            <p:nvPr/>
          </p:nvSpPr>
          <p:spPr bwMode="auto">
            <a:xfrm>
              <a:off x="1115" y="2731"/>
              <a:ext cx="20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5" name="Group 42"/>
            <p:cNvGrpSpPr>
              <a:grpSpLocks/>
            </p:cNvGrpSpPr>
            <p:nvPr/>
          </p:nvGrpSpPr>
          <p:grpSpPr bwMode="auto">
            <a:xfrm>
              <a:off x="1355" y="1848"/>
              <a:ext cx="112" cy="224"/>
              <a:chOff x="5056" y="3342"/>
              <a:chExt cx="112" cy="224"/>
            </a:xfrm>
          </p:grpSpPr>
          <p:sp>
            <p:nvSpPr>
              <p:cNvPr id="102" name="Line 43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Line 44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8" name="Line 45"/>
            <p:cNvSpPr>
              <a:spLocks noChangeShapeType="1"/>
            </p:cNvSpPr>
            <p:nvPr/>
          </p:nvSpPr>
          <p:spPr bwMode="auto">
            <a:xfrm>
              <a:off x="1467" y="1961"/>
              <a:ext cx="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Line 46"/>
            <p:cNvSpPr>
              <a:spLocks noChangeShapeType="1"/>
            </p:cNvSpPr>
            <p:nvPr/>
          </p:nvSpPr>
          <p:spPr bwMode="auto">
            <a:xfrm>
              <a:off x="1115" y="1961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Line 47"/>
            <p:cNvSpPr>
              <a:spLocks noChangeShapeType="1"/>
            </p:cNvSpPr>
            <p:nvPr/>
          </p:nvSpPr>
          <p:spPr bwMode="auto">
            <a:xfrm>
              <a:off x="2476" y="1685"/>
              <a:ext cx="2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" name="Group 48"/>
            <p:cNvGrpSpPr>
              <a:grpSpLocks/>
            </p:cNvGrpSpPr>
            <p:nvPr/>
          </p:nvGrpSpPr>
          <p:grpSpPr bwMode="auto">
            <a:xfrm>
              <a:off x="2723" y="1580"/>
              <a:ext cx="112" cy="224"/>
              <a:chOff x="5056" y="3342"/>
              <a:chExt cx="112" cy="224"/>
            </a:xfrm>
          </p:grpSpPr>
          <p:sp>
            <p:nvSpPr>
              <p:cNvPr id="100" name="Line 49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Line 50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82" name="Line 51"/>
            <p:cNvSpPr>
              <a:spLocks noChangeShapeType="1"/>
            </p:cNvSpPr>
            <p:nvPr/>
          </p:nvSpPr>
          <p:spPr bwMode="auto">
            <a:xfrm>
              <a:off x="2835" y="1676"/>
              <a:ext cx="2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Oval 52"/>
            <p:cNvSpPr>
              <a:spLocks noChangeArrowheads="1"/>
            </p:cNvSpPr>
            <p:nvPr/>
          </p:nvSpPr>
          <p:spPr bwMode="auto">
            <a:xfrm>
              <a:off x="3156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Oval 53"/>
            <p:cNvSpPr>
              <a:spLocks noChangeArrowheads="1"/>
            </p:cNvSpPr>
            <p:nvPr/>
          </p:nvSpPr>
          <p:spPr bwMode="auto">
            <a:xfrm>
              <a:off x="3108" y="1652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Oval 54"/>
            <p:cNvSpPr>
              <a:spLocks noChangeArrowheads="1"/>
            </p:cNvSpPr>
            <p:nvPr/>
          </p:nvSpPr>
          <p:spPr bwMode="auto">
            <a:xfrm>
              <a:off x="1091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Oval 55"/>
            <p:cNvSpPr>
              <a:spLocks noChangeArrowheads="1"/>
            </p:cNvSpPr>
            <p:nvPr/>
          </p:nvSpPr>
          <p:spPr bwMode="auto">
            <a:xfrm>
              <a:off x="1067" y="194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Oval 56"/>
            <p:cNvSpPr>
              <a:spLocks noChangeArrowheads="1"/>
            </p:cNvSpPr>
            <p:nvPr/>
          </p:nvSpPr>
          <p:spPr bwMode="auto">
            <a:xfrm>
              <a:off x="2452" y="2707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Line 57"/>
            <p:cNvSpPr>
              <a:spLocks noChangeShapeType="1"/>
            </p:cNvSpPr>
            <p:nvPr/>
          </p:nvSpPr>
          <p:spPr bwMode="auto">
            <a:xfrm>
              <a:off x="2476" y="2731"/>
              <a:ext cx="0" cy="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Line 58"/>
            <p:cNvSpPr>
              <a:spLocks noChangeShapeType="1"/>
            </p:cNvSpPr>
            <p:nvPr/>
          </p:nvSpPr>
          <p:spPr bwMode="auto">
            <a:xfrm>
              <a:off x="2403" y="2896"/>
              <a:ext cx="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Rectangle 59"/>
            <p:cNvSpPr>
              <a:spLocks noChangeArrowheads="1"/>
            </p:cNvSpPr>
            <p:nvPr/>
          </p:nvSpPr>
          <p:spPr bwMode="auto">
            <a:xfrm>
              <a:off x="1448" y="1757"/>
              <a:ext cx="179" cy="27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1" name="Rectangle 60"/>
            <p:cNvSpPr>
              <a:spLocks noChangeArrowheads="1"/>
            </p:cNvSpPr>
            <p:nvPr/>
          </p:nvSpPr>
          <p:spPr bwMode="auto">
            <a:xfrm>
              <a:off x="2564" y="1470"/>
              <a:ext cx="180" cy="27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2" name="Text Box 61"/>
            <p:cNvSpPr txBox="1">
              <a:spLocks noChangeArrowheads="1"/>
            </p:cNvSpPr>
            <p:nvPr/>
          </p:nvSpPr>
          <p:spPr bwMode="auto">
            <a:xfrm>
              <a:off x="1178" y="153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93" name="Text Box 62"/>
            <p:cNvSpPr txBox="1">
              <a:spLocks noChangeArrowheads="1"/>
            </p:cNvSpPr>
            <p:nvPr/>
          </p:nvSpPr>
          <p:spPr bwMode="auto">
            <a:xfrm>
              <a:off x="2658" y="127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94" name="Rectangle 63"/>
            <p:cNvSpPr>
              <a:spLocks noChangeArrowheads="1"/>
            </p:cNvSpPr>
            <p:nvPr/>
          </p:nvSpPr>
          <p:spPr bwMode="auto">
            <a:xfrm>
              <a:off x="1021" y="1959"/>
              <a:ext cx="179" cy="27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5" name="Rectangle 64"/>
            <p:cNvSpPr>
              <a:spLocks noChangeArrowheads="1"/>
            </p:cNvSpPr>
            <p:nvPr/>
          </p:nvSpPr>
          <p:spPr bwMode="auto">
            <a:xfrm>
              <a:off x="1024" y="2467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96" name="Rectangle 65"/>
            <p:cNvSpPr>
              <a:spLocks noChangeArrowheads="1"/>
            </p:cNvSpPr>
            <p:nvPr/>
          </p:nvSpPr>
          <p:spPr bwMode="auto">
            <a:xfrm>
              <a:off x="965" y="2071"/>
              <a:ext cx="225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endParaRPr lang="en-US" altLang="zh-CN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Rectangle 66"/>
            <p:cNvSpPr>
              <a:spLocks noChangeArrowheads="1"/>
            </p:cNvSpPr>
            <p:nvPr/>
          </p:nvSpPr>
          <p:spPr bwMode="auto">
            <a:xfrm>
              <a:off x="3034" y="1722"/>
              <a:ext cx="179" cy="27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8" name="Rectangle 67"/>
            <p:cNvSpPr>
              <a:spLocks noChangeArrowheads="1"/>
            </p:cNvSpPr>
            <p:nvPr/>
          </p:nvSpPr>
          <p:spPr bwMode="auto">
            <a:xfrm>
              <a:off x="2989" y="2496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99" name="Rectangle 68"/>
            <p:cNvSpPr>
              <a:spLocks noChangeArrowheads="1"/>
            </p:cNvSpPr>
            <p:nvPr/>
          </p:nvSpPr>
          <p:spPr bwMode="auto">
            <a:xfrm>
              <a:off x="3023" y="1908"/>
              <a:ext cx="251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61" name="Group 13"/>
          <p:cNvGrpSpPr>
            <a:grpSpLocks/>
          </p:cNvGrpSpPr>
          <p:nvPr/>
        </p:nvGrpSpPr>
        <p:grpSpPr bwMode="auto">
          <a:xfrm>
            <a:off x="668111" y="4211634"/>
            <a:ext cx="7832725" cy="523874"/>
            <a:chOff x="355" y="1978"/>
            <a:chExt cx="4934" cy="330"/>
          </a:xfrm>
        </p:grpSpPr>
        <p:sp>
          <p:nvSpPr>
            <p:cNvPr id="77" name="Oval 14"/>
            <p:cNvSpPr>
              <a:spLocks noChangeArrowheads="1"/>
            </p:cNvSpPr>
            <p:nvPr/>
          </p:nvSpPr>
          <p:spPr bwMode="auto">
            <a:xfrm>
              <a:off x="355" y="2103"/>
              <a:ext cx="159" cy="159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Rectangle 15"/>
            <p:cNvSpPr>
              <a:spLocks noChangeArrowheads="1"/>
            </p:cNvSpPr>
            <p:nvPr/>
          </p:nvSpPr>
          <p:spPr bwMode="auto">
            <a:xfrm>
              <a:off x="501" y="1978"/>
              <a:ext cx="47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C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用来隔断放大电路与负载之间的直流通路。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01638" y="1360488"/>
            <a:ext cx="3068637" cy="579437"/>
            <a:chOff x="3562" y="374"/>
            <a:chExt cx="1933" cy="365"/>
          </a:xfrm>
        </p:grpSpPr>
        <p:sp>
          <p:nvSpPr>
            <p:cNvPr id="7225" name="Text Box 6"/>
            <p:cNvSpPr txBox="1">
              <a:spLocks noChangeArrowheads="1"/>
            </p:cNvSpPr>
            <p:nvPr/>
          </p:nvSpPr>
          <p:spPr bwMode="auto">
            <a:xfrm>
              <a:off x="3580" y="374"/>
              <a:ext cx="1915" cy="3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3200" b="1" dirty="0">
                  <a:latin typeface="华文中宋" pitchFamily="2" charset="-122"/>
                  <a:ea typeface="华文中宋" pitchFamily="2" charset="-122"/>
                </a:rPr>
                <a:t>耦合电容的作用</a:t>
              </a:r>
              <a:endParaRPr lang="zh-CN" altLang="en-US" sz="3200" b="1" dirty="0">
                <a:latin typeface="华文中宋" pitchFamily="2" charset="-122"/>
                <a:ea typeface="华文中宋" pitchFamily="2" charset="-122"/>
                <a:cs typeface="方正琥珀繁体"/>
              </a:endParaRPr>
            </a:p>
          </p:txBody>
        </p:sp>
        <p:sp>
          <p:nvSpPr>
            <p:cNvPr id="7226" name="Line 7"/>
            <p:cNvSpPr>
              <a:spLocks noChangeShapeType="1"/>
            </p:cNvSpPr>
            <p:nvPr/>
          </p:nvSpPr>
          <p:spPr bwMode="auto">
            <a:xfrm>
              <a:off x="3562" y="739"/>
              <a:ext cx="1933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3200"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59" name="Rectangle 3"/>
          <p:cNvSpPr txBox="1">
            <a:spLocks noChangeArrowheads="1"/>
          </p:cNvSpPr>
          <p:nvPr/>
        </p:nvSpPr>
        <p:spPr bwMode="auto">
          <a:xfrm>
            <a:off x="609601" y="320675"/>
            <a:ext cx="3287486" cy="53975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、电路组成</a:t>
            </a:r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3837223" y="515937"/>
            <a:ext cx="4747221" cy="2643187"/>
            <a:chOff x="977" y="932"/>
            <a:chExt cx="2700" cy="1964"/>
          </a:xfrm>
        </p:grpSpPr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1703" y="1119"/>
              <a:ext cx="785" cy="1665"/>
              <a:chOff x="1703" y="1119"/>
              <a:chExt cx="785" cy="1665"/>
            </a:xfrm>
          </p:grpSpPr>
          <p:sp>
            <p:nvSpPr>
              <p:cNvPr id="104" name="Line 21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Line 22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Line 23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Line 24"/>
              <p:cNvSpPr>
                <a:spLocks noChangeShapeType="1"/>
              </p:cNvSpPr>
              <p:nvPr/>
            </p:nvSpPr>
            <p:spPr bwMode="auto">
              <a:xfrm>
                <a:off x="2282" y="2029"/>
                <a:ext cx="194" cy="147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Line 25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Line 26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2" name="Line 27"/>
            <p:cNvSpPr>
              <a:spLocks noChangeShapeType="1"/>
            </p:cNvSpPr>
            <p:nvPr/>
          </p:nvSpPr>
          <p:spPr bwMode="auto">
            <a:xfrm>
              <a:off x="1703" y="1120"/>
              <a:ext cx="1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Line 28"/>
            <p:cNvSpPr>
              <a:spLocks noChangeShapeType="1"/>
            </p:cNvSpPr>
            <p:nvPr/>
          </p:nvSpPr>
          <p:spPr bwMode="auto">
            <a:xfrm>
              <a:off x="1703" y="1119"/>
              <a:ext cx="0" cy="84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Oval 29"/>
            <p:cNvSpPr>
              <a:spLocks noChangeArrowheads="1"/>
            </p:cNvSpPr>
            <p:nvPr/>
          </p:nvSpPr>
          <p:spPr bwMode="auto">
            <a:xfrm>
              <a:off x="3133" y="109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Rectangle 30"/>
            <p:cNvSpPr>
              <a:spLocks noChangeArrowheads="1"/>
            </p:cNvSpPr>
            <p:nvPr/>
          </p:nvSpPr>
          <p:spPr bwMode="auto">
            <a:xfrm>
              <a:off x="1651" y="1408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Rectangle 31"/>
            <p:cNvSpPr>
              <a:spLocks noChangeArrowheads="1"/>
            </p:cNvSpPr>
            <p:nvPr/>
          </p:nvSpPr>
          <p:spPr bwMode="auto">
            <a:xfrm>
              <a:off x="2436" y="1276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Rectangle 32"/>
            <p:cNvSpPr>
              <a:spLocks noChangeArrowheads="1"/>
            </p:cNvSpPr>
            <p:nvPr/>
          </p:nvSpPr>
          <p:spPr bwMode="auto">
            <a:xfrm>
              <a:off x="1318" y="1196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68" name="Rectangle 33"/>
            <p:cNvSpPr>
              <a:spLocks noChangeArrowheads="1"/>
            </p:cNvSpPr>
            <p:nvPr/>
          </p:nvSpPr>
          <p:spPr bwMode="auto">
            <a:xfrm>
              <a:off x="2148" y="1217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69" name="Rectangle 34"/>
            <p:cNvSpPr>
              <a:spLocks noChangeArrowheads="1"/>
            </p:cNvSpPr>
            <p:nvPr/>
          </p:nvSpPr>
          <p:spPr bwMode="auto">
            <a:xfrm>
              <a:off x="2459" y="1946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70" name="Rectangle 35"/>
            <p:cNvSpPr>
              <a:spLocks noChangeArrowheads="1"/>
            </p:cNvSpPr>
            <p:nvPr/>
          </p:nvSpPr>
          <p:spPr bwMode="auto">
            <a:xfrm>
              <a:off x="1953" y="2096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71" name="Rectangle 36"/>
            <p:cNvSpPr>
              <a:spLocks noChangeArrowheads="1"/>
            </p:cNvSpPr>
            <p:nvPr/>
          </p:nvSpPr>
          <p:spPr bwMode="auto">
            <a:xfrm>
              <a:off x="1980" y="1968"/>
              <a:ext cx="179" cy="27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72" name="Rectangle 37"/>
            <p:cNvSpPr>
              <a:spLocks noChangeArrowheads="1"/>
            </p:cNvSpPr>
            <p:nvPr/>
          </p:nvSpPr>
          <p:spPr bwMode="auto">
            <a:xfrm>
              <a:off x="2241" y="2534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73" name="Rectangle 38"/>
            <p:cNvSpPr>
              <a:spLocks noChangeArrowheads="1"/>
            </p:cNvSpPr>
            <p:nvPr/>
          </p:nvSpPr>
          <p:spPr bwMode="auto">
            <a:xfrm>
              <a:off x="2532" y="2534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74" name="Rectangle 39"/>
            <p:cNvSpPr>
              <a:spLocks noChangeArrowheads="1"/>
            </p:cNvSpPr>
            <p:nvPr/>
          </p:nvSpPr>
          <p:spPr bwMode="auto">
            <a:xfrm>
              <a:off x="2528" y="1722"/>
              <a:ext cx="180" cy="274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75" name="Rectangle 40"/>
            <p:cNvSpPr>
              <a:spLocks noChangeArrowheads="1"/>
            </p:cNvSpPr>
            <p:nvPr/>
          </p:nvSpPr>
          <p:spPr bwMode="auto">
            <a:xfrm>
              <a:off x="3192" y="932"/>
              <a:ext cx="485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76" name="Line 41"/>
            <p:cNvSpPr>
              <a:spLocks noChangeShapeType="1"/>
            </p:cNvSpPr>
            <p:nvPr/>
          </p:nvSpPr>
          <p:spPr bwMode="auto">
            <a:xfrm>
              <a:off x="1115" y="2731"/>
              <a:ext cx="20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5" name="Group 42"/>
            <p:cNvGrpSpPr>
              <a:grpSpLocks/>
            </p:cNvGrpSpPr>
            <p:nvPr/>
          </p:nvGrpSpPr>
          <p:grpSpPr bwMode="auto">
            <a:xfrm>
              <a:off x="1355" y="1848"/>
              <a:ext cx="112" cy="224"/>
              <a:chOff x="5056" y="3342"/>
              <a:chExt cx="112" cy="224"/>
            </a:xfrm>
          </p:grpSpPr>
          <p:sp>
            <p:nvSpPr>
              <p:cNvPr id="102" name="Line 43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Line 44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8" name="Line 45"/>
            <p:cNvSpPr>
              <a:spLocks noChangeShapeType="1"/>
            </p:cNvSpPr>
            <p:nvPr/>
          </p:nvSpPr>
          <p:spPr bwMode="auto">
            <a:xfrm>
              <a:off x="1467" y="1961"/>
              <a:ext cx="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Line 46"/>
            <p:cNvSpPr>
              <a:spLocks noChangeShapeType="1"/>
            </p:cNvSpPr>
            <p:nvPr/>
          </p:nvSpPr>
          <p:spPr bwMode="auto">
            <a:xfrm>
              <a:off x="1115" y="1961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Line 47"/>
            <p:cNvSpPr>
              <a:spLocks noChangeShapeType="1"/>
            </p:cNvSpPr>
            <p:nvPr/>
          </p:nvSpPr>
          <p:spPr bwMode="auto">
            <a:xfrm>
              <a:off x="2476" y="1685"/>
              <a:ext cx="2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" name="Group 48"/>
            <p:cNvGrpSpPr>
              <a:grpSpLocks/>
            </p:cNvGrpSpPr>
            <p:nvPr/>
          </p:nvGrpSpPr>
          <p:grpSpPr bwMode="auto">
            <a:xfrm>
              <a:off x="2723" y="1580"/>
              <a:ext cx="112" cy="224"/>
              <a:chOff x="5056" y="3342"/>
              <a:chExt cx="112" cy="224"/>
            </a:xfrm>
          </p:grpSpPr>
          <p:sp>
            <p:nvSpPr>
              <p:cNvPr id="100" name="Line 49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Line 50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82" name="Line 51"/>
            <p:cNvSpPr>
              <a:spLocks noChangeShapeType="1"/>
            </p:cNvSpPr>
            <p:nvPr/>
          </p:nvSpPr>
          <p:spPr bwMode="auto">
            <a:xfrm>
              <a:off x="2835" y="1676"/>
              <a:ext cx="2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Oval 52"/>
            <p:cNvSpPr>
              <a:spLocks noChangeArrowheads="1"/>
            </p:cNvSpPr>
            <p:nvPr/>
          </p:nvSpPr>
          <p:spPr bwMode="auto">
            <a:xfrm>
              <a:off x="3156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Oval 53"/>
            <p:cNvSpPr>
              <a:spLocks noChangeArrowheads="1"/>
            </p:cNvSpPr>
            <p:nvPr/>
          </p:nvSpPr>
          <p:spPr bwMode="auto">
            <a:xfrm>
              <a:off x="3108" y="1652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Oval 54"/>
            <p:cNvSpPr>
              <a:spLocks noChangeArrowheads="1"/>
            </p:cNvSpPr>
            <p:nvPr/>
          </p:nvSpPr>
          <p:spPr bwMode="auto">
            <a:xfrm>
              <a:off x="1091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Oval 55"/>
            <p:cNvSpPr>
              <a:spLocks noChangeArrowheads="1"/>
            </p:cNvSpPr>
            <p:nvPr/>
          </p:nvSpPr>
          <p:spPr bwMode="auto">
            <a:xfrm>
              <a:off x="1067" y="194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Oval 56"/>
            <p:cNvSpPr>
              <a:spLocks noChangeArrowheads="1"/>
            </p:cNvSpPr>
            <p:nvPr/>
          </p:nvSpPr>
          <p:spPr bwMode="auto">
            <a:xfrm>
              <a:off x="2452" y="2707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Line 57"/>
            <p:cNvSpPr>
              <a:spLocks noChangeShapeType="1"/>
            </p:cNvSpPr>
            <p:nvPr/>
          </p:nvSpPr>
          <p:spPr bwMode="auto">
            <a:xfrm>
              <a:off x="2476" y="2731"/>
              <a:ext cx="0" cy="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Line 58"/>
            <p:cNvSpPr>
              <a:spLocks noChangeShapeType="1"/>
            </p:cNvSpPr>
            <p:nvPr/>
          </p:nvSpPr>
          <p:spPr bwMode="auto">
            <a:xfrm>
              <a:off x="2403" y="2896"/>
              <a:ext cx="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Rectangle 59"/>
            <p:cNvSpPr>
              <a:spLocks noChangeArrowheads="1"/>
            </p:cNvSpPr>
            <p:nvPr/>
          </p:nvSpPr>
          <p:spPr bwMode="auto">
            <a:xfrm>
              <a:off x="1448" y="1757"/>
              <a:ext cx="179" cy="27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1" name="Rectangle 60"/>
            <p:cNvSpPr>
              <a:spLocks noChangeArrowheads="1"/>
            </p:cNvSpPr>
            <p:nvPr/>
          </p:nvSpPr>
          <p:spPr bwMode="auto">
            <a:xfrm>
              <a:off x="2564" y="1470"/>
              <a:ext cx="180" cy="27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2" name="Text Box 61"/>
            <p:cNvSpPr txBox="1">
              <a:spLocks noChangeArrowheads="1"/>
            </p:cNvSpPr>
            <p:nvPr/>
          </p:nvSpPr>
          <p:spPr bwMode="auto">
            <a:xfrm>
              <a:off x="1178" y="153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93" name="Text Box 62"/>
            <p:cNvSpPr txBox="1">
              <a:spLocks noChangeArrowheads="1"/>
            </p:cNvSpPr>
            <p:nvPr/>
          </p:nvSpPr>
          <p:spPr bwMode="auto">
            <a:xfrm>
              <a:off x="2658" y="127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94" name="Rectangle 63"/>
            <p:cNvSpPr>
              <a:spLocks noChangeArrowheads="1"/>
            </p:cNvSpPr>
            <p:nvPr/>
          </p:nvSpPr>
          <p:spPr bwMode="auto">
            <a:xfrm>
              <a:off x="1021" y="1959"/>
              <a:ext cx="179" cy="27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5" name="Rectangle 64"/>
            <p:cNvSpPr>
              <a:spLocks noChangeArrowheads="1"/>
            </p:cNvSpPr>
            <p:nvPr/>
          </p:nvSpPr>
          <p:spPr bwMode="auto">
            <a:xfrm>
              <a:off x="1005" y="2475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96" name="Rectangle 65"/>
            <p:cNvSpPr>
              <a:spLocks noChangeArrowheads="1"/>
            </p:cNvSpPr>
            <p:nvPr/>
          </p:nvSpPr>
          <p:spPr bwMode="auto">
            <a:xfrm>
              <a:off x="977" y="2184"/>
              <a:ext cx="225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i</a:t>
              </a:r>
            </a:p>
          </p:txBody>
        </p:sp>
        <p:sp>
          <p:nvSpPr>
            <p:cNvPr id="97" name="Rectangle 66"/>
            <p:cNvSpPr>
              <a:spLocks noChangeArrowheads="1"/>
            </p:cNvSpPr>
            <p:nvPr/>
          </p:nvSpPr>
          <p:spPr bwMode="auto">
            <a:xfrm>
              <a:off x="3034" y="1722"/>
              <a:ext cx="179" cy="27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8" name="Rectangle 67"/>
            <p:cNvSpPr>
              <a:spLocks noChangeArrowheads="1"/>
            </p:cNvSpPr>
            <p:nvPr/>
          </p:nvSpPr>
          <p:spPr bwMode="auto">
            <a:xfrm>
              <a:off x="2989" y="2496"/>
              <a:ext cx="207" cy="22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99" name="Rectangle 68"/>
            <p:cNvSpPr>
              <a:spLocks noChangeArrowheads="1"/>
            </p:cNvSpPr>
            <p:nvPr/>
          </p:nvSpPr>
          <p:spPr bwMode="auto">
            <a:xfrm>
              <a:off x="3023" y="1908"/>
              <a:ext cx="251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61" name="Group 2"/>
          <p:cNvGrpSpPr>
            <a:grpSpLocks/>
          </p:cNvGrpSpPr>
          <p:nvPr/>
        </p:nvGrpSpPr>
        <p:grpSpPr bwMode="auto">
          <a:xfrm>
            <a:off x="297089" y="3169105"/>
            <a:ext cx="8683670" cy="1816101"/>
            <a:chOff x="219" y="3120"/>
            <a:chExt cx="5280" cy="1144"/>
          </a:xfrm>
        </p:grpSpPr>
        <p:sp>
          <p:nvSpPr>
            <p:cNvPr id="110" name="Text Box 3"/>
            <p:cNvSpPr txBox="1">
              <a:spLocks noChangeArrowheads="1"/>
            </p:cNvSpPr>
            <p:nvPr/>
          </p:nvSpPr>
          <p:spPr bwMode="auto">
            <a:xfrm>
              <a:off x="219" y="3120"/>
              <a:ext cx="5280" cy="114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sm" len="lg"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  C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zh-CN" altLang="en-US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、</a:t>
              </a:r>
              <a:r>
                <a:rPr lang="zh-CN" altLang="en-US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 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同时又起到耦合交流的作用，其电容值应</a:t>
              </a:r>
            </a:p>
            <a:p>
              <a:pPr algn="l"/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足够大，以保证在一定的频率范围内，耦合电容上的</a:t>
              </a:r>
            </a:p>
            <a:p>
              <a:pPr algn="l"/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交流压降达到可以忽略不计，即对交流信号可视为短路。</a:t>
              </a:r>
            </a:p>
          </p:txBody>
        </p:sp>
        <p:sp>
          <p:nvSpPr>
            <p:cNvPr id="111" name="Oval 4"/>
            <p:cNvSpPr>
              <a:spLocks noChangeArrowheads="1"/>
            </p:cNvSpPr>
            <p:nvPr/>
          </p:nvSpPr>
          <p:spPr bwMode="auto">
            <a:xfrm>
              <a:off x="339" y="3202"/>
              <a:ext cx="153" cy="159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09600" y="320675"/>
            <a:ext cx="6640513" cy="53975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、放大电路工作原理</a:t>
            </a:r>
          </a:p>
        </p:txBody>
      </p:sp>
      <p:sp>
        <p:nvSpPr>
          <p:cNvPr id="4" name="Text Box 69"/>
          <p:cNvSpPr txBox="1">
            <a:spLocks noChangeArrowheads="1"/>
          </p:cNvSpPr>
          <p:nvPr/>
        </p:nvSpPr>
        <p:spPr bwMode="auto">
          <a:xfrm>
            <a:off x="705985" y="935946"/>
            <a:ext cx="2655887" cy="579437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b="1" dirty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静态分析</a:t>
            </a:r>
          </a:p>
        </p:txBody>
      </p: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724994" y="1876651"/>
            <a:ext cx="4724364" cy="2643187"/>
            <a:chOff x="990" y="932"/>
            <a:chExt cx="2687" cy="1964"/>
          </a:xfrm>
        </p:grpSpPr>
        <p:grpSp>
          <p:nvGrpSpPr>
            <p:cNvPr id="7" name="Group 20"/>
            <p:cNvGrpSpPr>
              <a:grpSpLocks/>
            </p:cNvGrpSpPr>
            <p:nvPr/>
          </p:nvGrpSpPr>
          <p:grpSpPr bwMode="auto">
            <a:xfrm>
              <a:off x="1703" y="1119"/>
              <a:ext cx="785" cy="1665"/>
              <a:chOff x="1703" y="1119"/>
              <a:chExt cx="785" cy="1665"/>
            </a:xfrm>
          </p:grpSpPr>
          <p:sp>
            <p:nvSpPr>
              <p:cNvPr id="50" name="Line 21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Line 22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Line 23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Line 24"/>
              <p:cNvSpPr>
                <a:spLocks noChangeShapeType="1"/>
              </p:cNvSpPr>
              <p:nvPr/>
            </p:nvSpPr>
            <p:spPr bwMode="auto">
              <a:xfrm>
                <a:off x="2282" y="2029"/>
                <a:ext cx="194" cy="147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Line 25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Line 26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8" name="Line 27"/>
            <p:cNvSpPr>
              <a:spLocks noChangeShapeType="1"/>
            </p:cNvSpPr>
            <p:nvPr/>
          </p:nvSpPr>
          <p:spPr bwMode="auto">
            <a:xfrm>
              <a:off x="1703" y="1120"/>
              <a:ext cx="1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Line 28"/>
            <p:cNvSpPr>
              <a:spLocks noChangeShapeType="1"/>
            </p:cNvSpPr>
            <p:nvPr/>
          </p:nvSpPr>
          <p:spPr bwMode="auto">
            <a:xfrm>
              <a:off x="1703" y="1119"/>
              <a:ext cx="0" cy="84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Oval 29"/>
            <p:cNvSpPr>
              <a:spLocks noChangeArrowheads="1"/>
            </p:cNvSpPr>
            <p:nvPr/>
          </p:nvSpPr>
          <p:spPr bwMode="auto">
            <a:xfrm>
              <a:off x="3133" y="109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Rectangle 30"/>
            <p:cNvSpPr>
              <a:spLocks noChangeArrowheads="1"/>
            </p:cNvSpPr>
            <p:nvPr/>
          </p:nvSpPr>
          <p:spPr bwMode="auto">
            <a:xfrm>
              <a:off x="1651" y="1408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Rectangle 31"/>
            <p:cNvSpPr>
              <a:spLocks noChangeArrowheads="1"/>
            </p:cNvSpPr>
            <p:nvPr/>
          </p:nvSpPr>
          <p:spPr bwMode="auto">
            <a:xfrm>
              <a:off x="2436" y="1276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Rectangle 32"/>
            <p:cNvSpPr>
              <a:spLocks noChangeArrowheads="1"/>
            </p:cNvSpPr>
            <p:nvPr/>
          </p:nvSpPr>
          <p:spPr bwMode="auto">
            <a:xfrm>
              <a:off x="1318" y="1196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4" name="Rectangle 33"/>
            <p:cNvSpPr>
              <a:spLocks noChangeArrowheads="1"/>
            </p:cNvSpPr>
            <p:nvPr/>
          </p:nvSpPr>
          <p:spPr bwMode="auto">
            <a:xfrm>
              <a:off x="2148" y="1217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5" name="Rectangle 34"/>
            <p:cNvSpPr>
              <a:spLocks noChangeArrowheads="1"/>
            </p:cNvSpPr>
            <p:nvPr/>
          </p:nvSpPr>
          <p:spPr bwMode="auto">
            <a:xfrm>
              <a:off x="2459" y="1946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16" name="Rectangle 35"/>
            <p:cNvSpPr>
              <a:spLocks noChangeArrowheads="1"/>
            </p:cNvSpPr>
            <p:nvPr/>
          </p:nvSpPr>
          <p:spPr bwMode="auto">
            <a:xfrm>
              <a:off x="2021" y="2209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17" name="Rectangle 36"/>
            <p:cNvSpPr>
              <a:spLocks noChangeArrowheads="1"/>
            </p:cNvSpPr>
            <p:nvPr/>
          </p:nvSpPr>
          <p:spPr bwMode="auto">
            <a:xfrm>
              <a:off x="1980" y="1968"/>
              <a:ext cx="20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8" name="Rectangle 37"/>
            <p:cNvSpPr>
              <a:spLocks noChangeArrowheads="1"/>
            </p:cNvSpPr>
            <p:nvPr/>
          </p:nvSpPr>
          <p:spPr bwMode="auto">
            <a:xfrm>
              <a:off x="2253" y="2380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Rectangle 38"/>
            <p:cNvSpPr>
              <a:spLocks noChangeArrowheads="1"/>
            </p:cNvSpPr>
            <p:nvPr/>
          </p:nvSpPr>
          <p:spPr bwMode="auto">
            <a:xfrm>
              <a:off x="2532" y="2380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Rectangle 39"/>
            <p:cNvSpPr>
              <a:spLocks noChangeArrowheads="1"/>
            </p:cNvSpPr>
            <p:nvPr/>
          </p:nvSpPr>
          <p:spPr bwMode="auto">
            <a:xfrm>
              <a:off x="2528" y="1722"/>
              <a:ext cx="20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1" name="Rectangle 40"/>
            <p:cNvSpPr>
              <a:spLocks noChangeArrowheads="1"/>
            </p:cNvSpPr>
            <p:nvPr/>
          </p:nvSpPr>
          <p:spPr bwMode="auto">
            <a:xfrm>
              <a:off x="3192" y="932"/>
              <a:ext cx="485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22" name="Line 41"/>
            <p:cNvSpPr>
              <a:spLocks noChangeShapeType="1"/>
            </p:cNvSpPr>
            <p:nvPr/>
          </p:nvSpPr>
          <p:spPr bwMode="auto">
            <a:xfrm>
              <a:off x="1115" y="2731"/>
              <a:ext cx="20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3" name="Group 42"/>
            <p:cNvGrpSpPr>
              <a:grpSpLocks/>
            </p:cNvGrpSpPr>
            <p:nvPr/>
          </p:nvGrpSpPr>
          <p:grpSpPr bwMode="auto">
            <a:xfrm>
              <a:off x="1355" y="1848"/>
              <a:ext cx="112" cy="224"/>
              <a:chOff x="5056" y="3342"/>
              <a:chExt cx="112" cy="224"/>
            </a:xfrm>
          </p:grpSpPr>
          <p:sp>
            <p:nvSpPr>
              <p:cNvPr id="48" name="Line 43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Line 44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4" name="Line 45"/>
            <p:cNvSpPr>
              <a:spLocks noChangeShapeType="1"/>
            </p:cNvSpPr>
            <p:nvPr/>
          </p:nvSpPr>
          <p:spPr bwMode="auto">
            <a:xfrm>
              <a:off x="1467" y="1961"/>
              <a:ext cx="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Line 46"/>
            <p:cNvSpPr>
              <a:spLocks noChangeShapeType="1"/>
            </p:cNvSpPr>
            <p:nvPr/>
          </p:nvSpPr>
          <p:spPr bwMode="auto">
            <a:xfrm>
              <a:off x="1115" y="1961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Line 47"/>
            <p:cNvSpPr>
              <a:spLocks noChangeShapeType="1"/>
            </p:cNvSpPr>
            <p:nvPr/>
          </p:nvSpPr>
          <p:spPr bwMode="auto">
            <a:xfrm>
              <a:off x="2476" y="1685"/>
              <a:ext cx="2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7" name="Group 48"/>
            <p:cNvGrpSpPr>
              <a:grpSpLocks/>
            </p:cNvGrpSpPr>
            <p:nvPr/>
          </p:nvGrpSpPr>
          <p:grpSpPr bwMode="auto">
            <a:xfrm>
              <a:off x="2723" y="1580"/>
              <a:ext cx="112" cy="224"/>
              <a:chOff x="5056" y="3342"/>
              <a:chExt cx="112" cy="224"/>
            </a:xfrm>
          </p:grpSpPr>
          <p:sp>
            <p:nvSpPr>
              <p:cNvPr id="46" name="Line 49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Line 50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8" name="Line 51"/>
            <p:cNvSpPr>
              <a:spLocks noChangeShapeType="1"/>
            </p:cNvSpPr>
            <p:nvPr/>
          </p:nvSpPr>
          <p:spPr bwMode="auto">
            <a:xfrm>
              <a:off x="2835" y="1676"/>
              <a:ext cx="2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Oval 52"/>
            <p:cNvSpPr>
              <a:spLocks noChangeArrowheads="1"/>
            </p:cNvSpPr>
            <p:nvPr/>
          </p:nvSpPr>
          <p:spPr bwMode="auto">
            <a:xfrm>
              <a:off x="3156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Oval 53"/>
            <p:cNvSpPr>
              <a:spLocks noChangeArrowheads="1"/>
            </p:cNvSpPr>
            <p:nvPr/>
          </p:nvSpPr>
          <p:spPr bwMode="auto">
            <a:xfrm>
              <a:off x="3108" y="1652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Oval 54"/>
            <p:cNvSpPr>
              <a:spLocks noChangeArrowheads="1"/>
            </p:cNvSpPr>
            <p:nvPr/>
          </p:nvSpPr>
          <p:spPr bwMode="auto">
            <a:xfrm>
              <a:off x="1091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Oval 55"/>
            <p:cNvSpPr>
              <a:spLocks noChangeArrowheads="1"/>
            </p:cNvSpPr>
            <p:nvPr/>
          </p:nvSpPr>
          <p:spPr bwMode="auto">
            <a:xfrm>
              <a:off x="1067" y="194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Oval 56"/>
            <p:cNvSpPr>
              <a:spLocks noChangeArrowheads="1"/>
            </p:cNvSpPr>
            <p:nvPr/>
          </p:nvSpPr>
          <p:spPr bwMode="auto">
            <a:xfrm>
              <a:off x="2452" y="2707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Line 57"/>
            <p:cNvSpPr>
              <a:spLocks noChangeShapeType="1"/>
            </p:cNvSpPr>
            <p:nvPr/>
          </p:nvSpPr>
          <p:spPr bwMode="auto">
            <a:xfrm>
              <a:off x="2476" y="2731"/>
              <a:ext cx="0" cy="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Line 58"/>
            <p:cNvSpPr>
              <a:spLocks noChangeShapeType="1"/>
            </p:cNvSpPr>
            <p:nvPr/>
          </p:nvSpPr>
          <p:spPr bwMode="auto">
            <a:xfrm>
              <a:off x="2403" y="2896"/>
              <a:ext cx="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Rectangle 59"/>
            <p:cNvSpPr>
              <a:spLocks noChangeArrowheads="1"/>
            </p:cNvSpPr>
            <p:nvPr/>
          </p:nvSpPr>
          <p:spPr bwMode="auto">
            <a:xfrm>
              <a:off x="1454" y="1676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37" name="Rectangle 60"/>
            <p:cNvSpPr>
              <a:spLocks noChangeArrowheads="1"/>
            </p:cNvSpPr>
            <p:nvPr/>
          </p:nvSpPr>
          <p:spPr bwMode="auto">
            <a:xfrm>
              <a:off x="2552" y="1413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38" name="Text Box 61"/>
            <p:cNvSpPr txBox="1">
              <a:spLocks noChangeArrowheads="1"/>
            </p:cNvSpPr>
            <p:nvPr/>
          </p:nvSpPr>
          <p:spPr bwMode="auto">
            <a:xfrm>
              <a:off x="1178" y="153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9" name="Text Box 62"/>
            <p:cNvSpPr txBox="1">
              <a:spLocks noChangeArrowheads="1"/>
            </p:cNvSpPr>
            <p:nvPr/>
          </p:nvSpPr>
          <p:spPr bwMode="auto">
            <a:xfrm>
              <a:off x="2658" y="127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40" name="Rectangle 63"/>
            <p:cNvSpPr>
              <a:spLocks noChangeArrowheads="1"/>
            </p:cNvSpPr>
            <p:nvPr/>
          </p:nvSpPr>
          <p:spPr bwMode="auto">
            <a:xfrm>
              <a:off x="1021" y="1959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41" name="Rectangle 64"/>
            <p:cNvSpPr>
              <a:spLocks noChangeArrowheads="1"/>
            </p:cNvSpPr>
            <p:nvPr/>
          </p:nvSpPr>
          <p:spPr bwMode="auto">
            <a:xfrm>
              <a:off x="1024" y="2418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Rectangle 65"/>
            <p:cNvSpPr>
              <a:spLocks noChangeArrowheads="1"/>
            </p:cNvSpPr>
            <p:nvPr/>
          </p:nvSpPr>
          <p:spPr bwMode="auto">
            <a:xfrm>
              <a:off x="990" y="2184"/>
              <a:ext cx="225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endParaRPr lang="en-US" altLang="zh-CN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Rectangle 66"/>
            <p:cNvSpPr>
              <a:spLocks noChangeArrowheads="1"/>
            </p:cNvSpPr>
            <p:nvPr/>
          </p:nvSpPr>
          <p:spPr bwMode="auto">
            <a:xfrm>
              <a:off x="3034" y="1722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44" name="Rectangle 67"/>
            <p:cNvSpPr>
              <a:spLocks noChangeArrowheads="1"/>
            </p:cNvSpPr>
            <p:nvPr/>
          </p:nvSpPr>
          <p:spPr bwMode="auto">
            <a:xfrm>
              <a:off x="3076" y="2391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Rectangle 68"/>
            <p:cNvSpPr>
              <a:spLocks noChangeArrowheads="1"/>
            </p:cNvSpPr>
            <p:nvPr/>
          </p:nvSpPr>
          <p:spPr bwMode="auto">
            <a:xfrm>
              <a:off x="3023" y="1908"/>
              <a:ext cx="251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56" name="Group 4"/>
          <p:cNvGrpSpPr>
            <a:grpSpLocks/>
          </p:cNvGrpSpPr>
          <p:nvPr/>
        </p:nvGrpSpPr>
        <p:grpSpPr bwMode="auto">
          <a:xfrm>
            <a:off x="5421311" y="533401"/>
            <a:ext cx="3722689" cy="4192362"/>
            <a:chOff x="253" y="721"/>
            <a:chExt cx="2345" cy="2432"/>
          </a:xfrm>
        </p:grpSpPr>
        <p:sp>
          <p:nvSpPr>
            <p:cNvPr id="57" name="AutoShape 5"/>
            <p:cNvSpPr>
              <a:spLocks noChangeArrowheads="1"/>
            </p:cNvSpPr>
            <p:nvPr/>
          </p:nvSpPr>
          <p:spPr bwMode="auto">
            <a:xfrm rot="16192423" flipH="1">
              <a:off x="210" y="764"/>
              <a:ext cx="2432" cy="2345"/>
            </a:xfrm>
            <a:prstGeom prst="horizontalScroll">
              <a:avLst>
                <a:gd name="adj" fmla="val 12500"/>
              </a:avLst>
            </a:prstGeom>
            <a:gradFill rotWithShape="0">
              <a:gsLst>
                <a:gs pos="0">
                  <a:srgbClr val="0000CC"/>
                </a:gs>
                <a:gs pos="50000">
                  <a:srgbClr val="0099FF"/>
                </a:gs>
                <a:gs pos="100000">
                  <a:srgbClr val="0000CC"/>
                </a:gs>
              </a:gsLst>
              <a:lin ang="2700000" scaled="1"/>
            </a:gradFill>
            <a:ln w="19050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Text Box 6"/>
            <p:cNvSpPr txBox="1">
              <a:spLocks noChangeArrowheads="1"/>
            </p:cNvSpPr>
            <p:nvPr/>
          </p:nvSpPr>
          <p:spPr bwMode="auto">
            <a:xfrm>
              <a:off x="525" y="1067"/>
              <a:ext cx="1778" cy="18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当放大器没有输入信号</a:t>
              </a:r>
              <a:r>
                <a:rPr lang="zh-CN" altLang="en-US" sz="2800" b="1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（</a:t>
              </a:r>
              <a:r>
                <a:rPr lang="en-US" altLang="zh-CN" sz="2800" b="1" i="1" dirty="0" err="1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dirty="0" smtClean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0</a:t>
              </a:r>
              <a:r>
                <a:rPr lang="en-US" altLang="zh-CN" sz="2800" b="1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)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时，电路中各处的电压电流都是直流恒定值，称为直流工作状态，简称静态。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9"/>
          <p:cNvGrpSpPr>
            <a:grpSpLocks/>
          </p:cNvGrpSpPr>
          <p:nvPr/>
        </p:nvGrpSpPr>
        <p:grpSpPr bwMode="auto">
          <a:xfrm>
            <a:off x="3816124" y="515937"/>
            <a:ext cx="4768320" cy="2643187"/>
            <a:chOff x="965" y="932"/>
            <a:chExt cx="2712" cy="1964"/>
          </a:xfrm>
        </p:grpSpPr>
        <p:grpSp>
          <p:nvGrpSpPr>
            <p:cNvPr id="10" name="Group 20"/>
            <p:cNvGrpSpPr>
              <a:grpSpLocks/>
            </p:cNvGrpSpPr>
            <p:nvPr/>
          </p:nvGrpSpPr>
          <p:grpSpPr bwMode="auto">
            <a:xfrm>
              <a:off x="1703" y="1119"/>
              <a:ext cx="785" cy="1665"/>
              <a:chOff x="1703" y="1119"/>
              <a:chExt cx="785" cy="1665"/>
            </a:xfrm>
          </p:grpSpPr>
          <p:sp>
            <p:nvSpPr>
              <p:cNvPr id="59" name="Line 21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Line 22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Line 23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Line 24"/>
              <p:cNvSpPr>
                <a:spLocks noChangeShapeType="1"/>
              </p:cNvSpPr>
              <p:nvPr/>
            </p:nvSpPr>
            <p:spPr bwMode="auto">
              <a:xfrm>
                <a:off x="2282" y="2029"/>
                <a:ext cx="194" cy="147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Line 25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Line 26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1" name="Line 27"/>
            <p:cNvSpPr>
              <a:spLocks noChangeShapeType="1"/>
            </p:cNvSpPr>
            <p:nvPr/>
          </p:nvSpPr>
          <p:spPr bwMode="auto">
            <a:xfrm>
              <a:off x="1703" y="1120"/>
              <a:ext cx="1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Line 28"/>
            <p:cNvSpPr>
              <a:spLocks noChangeShapeType="1"/>
            </p:cNvSpPr>
            <p:nvPr/>
          </p:nvSpPr>
          <p:spPr bwMode="auto">
            <a:xfrm>
              <a:off x="1703" y="1119"/>
              <a:ext cx="0" cy="84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Oval 29"/>
            <p:cNvSpPr>
              <a:spLocks noChangeArrowheads="1"/>
            </p:cNvSpPr>
            <p:nvPr/>
          </p:nvSpPr>
          <p:spPr bwMode="auto">
            <a:xfrm>
              <a:off x="3133" y="109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Rectangle 30"/>
            <p:cNvSpPr>
              <a:spLocks noChangeArrowheads="1"/>
            </p:cNvSpPr>
            <p:nvPr/>
          </p:nvSpPr>
          <p:spPr bwMode="auto">
            <a:xfrm>
              <a:off x="1651" y="1408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Rectangle 31"/>
            <p:cNvSpPr>
              <a:spLocks noChangeArrowheads="1"/>
            </p:cNvSpPr>
            <p:nvPr/>
          </p:nvSpPr>
          <p:spPr bwMode="auto">
            <a:xfrm>
              <a:off x="2436" y="1276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Rectangle 32"/>
            <p:cNvSpPr>
              <a:spLocks noChangeArrowheads="1"/>
            </p:cNvSpPr>
            <p:nvPr/>
          </p:nvSpPr>
          <p:spPr bwMode="auto">
            <a:xfrm>
              <a:off x="1318" y="1196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9" name="Rectangle 33"/>
            <p:cNvSpPr>
              <a:spLocks noChangeArrowheads="1"/>
            </p:cNvSpPr>
            <p:nvPr/>
          </p:nvSpPr>
          <p:spPr bwMode="auto">
            <a:xfrm>
              <a:off x="2148" y="1217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20" name="Rectangle 34"/>
            <p:cNvSpPr>
              <a:spLocks noChangeArrowheads="1"/>
            </p:cNvSpPr>
            <p:nvPr/>
          </p:nvSpPr>
          <p:spPr bwMode="auto">
            <a:xfrm>
              <a:off x="2459" y="1946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21" name="Rectangle 35"/>
            <p:cNvSpPr>
              <a:spLocks noChangeArrowheads="1"/>
            </p:cNvSpPr>
            <p:nvPr/>
          </p:nvSpPr>
          <p:spPr bwMode="auto">
            <a:xfrm>
              <a:off x="2021" y="2169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22" name="Rectangle 36"/>
            <p:cNvSpPr>
              <a:spLocks noChangeArrowheads="1"/>
            </p:cNvSpPr>
            <p:nvPr/>
          </p:nvSpPr>
          <p:spPr bwMode="auto">
            <a:xfrm>
              <a:off x="1980" y="1968"/>
              <a:ext cx="20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3" name="Rectangle 37"/>
            <p:cNvSpPr>
              <a:spLocks noChangeArrowheads="1"/>
            </p:cNvSpPr>
            <p:nvPr/>
          </p:nvSpPr>
          <p:spPr bwMode="auto">
            <a:xfrm>
              <a:off x="2241" y="2405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Rectangle 38"/>
            <p:cNvSpPr>
              <a:spLocks noChangeArrowheads="1"/>
            </p:cNvSpPr>
            <p:nvPr/>
          </p:nvSpPr>
          <p:spPr bwMode="auto">
            <a:xfrm>
              <a:off x="2551" y="2388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Rectangle 39"/>
            <p:cNvSpPr>
              <a:spLocks noChangeArrowheads="1"/>
            </p:cNvSpPr>
            <p:nvPr/>
          </p:nvSpPr>
          <p:spPr bwMode="auto">
            <a:xfrm>
              <a:off x="2528" y="1722"/>
              <a:ext cx="20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6" name="Rectangle 40"/>
            <p:cNvSpPr>
              <a:spLocks noChangeArrowheads="1"/>
            </p:cNvSpPr>
            <p:nvPr/>
          </p:nvSpPr>
          <p:spPr bwMode="auto">
            <a:xfrm>
              <a:off x="3192" y="932"/>
              <a:ext cx="485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29" name="Line 41"/>
            <p:cNvSpPr>
              <a:spLocks noChangeShapeType="1"/>
            </p:cNvSpPr>
            <p:nvPr/>
          </p:nvSpPr>
          <p:spPr bwMode="auto">
            <a:xfrm>
              <a:off x="1115" y="2731"/>
              <a:ext cx="20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0" name="Group 42"/>
            <p:cNvGrpSpPr>
              <a:grpSpLocks/>
            </p:cNvGrpSpPr>
            <p:nvPr/>
          </p:nvGrpSpPr>
          <p:grpSpPr bwMode="auto">
            <a:xfrm>
              <a:off x="1355" y="1848"/>
              <a:ext cx="112" cy="224"/>
              <a:chOff x="5056" y="3342"/>
              <a:chExt cx="112" cy="224"/>
            </a:xfrm>
          </p:grpSpPr>
          <p:sp>
            <p:nvSpPr>
              <p:cNvPr id="57" name="Line 43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Line 44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32" name="Line 45"/>
            <p:cNvSpPr>
              <a:spLocks noChangeShapeType="1"/>
            </p:cNvSpPr>
            <p:nvPr/>
          </p:nvSpPr>
          <p:spPr bwMode="auto">
            <a:xfrm>
              <a:off x="1467" y="1961"/>
              <a:ext cx="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Line 46"/>
            <p:cNvSpPr>
              <a:spLocks noChangeShapeType="1"/>
            </p:cNvSpPr>
            <p:nvPr/>
          </p:nvSpPr>
          <p:spPr bwMode="auto">
            <a:xfrm>
              <a:off x="1115" y="1961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Line 47"/>
            <p:cNvSpPr>
              <a:spLocks noChangeShapeType="1"/>
            </p:cNvSpPr>
            <p:nvPr/>
          </p:nvSpPr>
          <p:spPr bwMode="auto">
            <a:xfrm>
              <a:off x="2476" y="1685"/>
              <a:ext cx="2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6" name="Group 48"/>
            <p:cNvGrpSpPr>
              <a:grpSpLocks/>
            </p:cNvGrpSpPr>
            <p:nvPr/>
          </p:nvGrpSpPr>
          <p:grpSpPr bwMode="auto">
            <a:xfrm>
              <a:off x="2723" y="1580"/>
              <a:ext cx="112" cy="224"/>
              <a:chOff x="5056" y="3342"/>
              <a:chExt cx="112" cy="224"/>
            </a:xfrm>
          </p:grpSpPr>
          <p:sp>
            <p:nvSpPr>
              <p:cNvPr id="55" name="Line 49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Line 50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37" name="Line 51"/>
            <p:cNvSpPr>
              <a:spLocks noChangeShapeType="1"/>
            </p:cNvSpPr>
            <p:nvPr/>
          </p:nvSpPr>
          <p:spPr bwMode="auto">
            <a:xfrm>
              <a:off x="2835" y="1676"/>
              <a:ext cx="2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Oval 52"/>
            <p:cNvSpPr>
              <a:spLocks noChangeArrowheads="1"/>
            </p:cNvSpPr>
            <p:nvPr/>
          </p:nvSpPr>
          <p:spPr bwMode="auto">
            <a:xfrm>
              <a:off x="3156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Oval 53"/>
            <p:cNvSpPr>
              <a:spLocks noChangeArrowheads="1"/>
            </p:cNvSpPr>
            <p:nvPr/>
          </p:nvSpPr>
          <p:spPr bwMode="auto">
            <a:xfrm>
              <a:off x="3108" y="1652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Oval 54"/>
            <p:cNvSpPr>
              <a:spLocks noChangeArrowheads="1"/>
            </p:cNvSpPr>
            <p:nvPr/>
          </p:nvSpPr>
          <p:spPr bwMode="auto">
            <a:xfrm>
              <a:off x="1091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Oval 55"/>
            <p:cNvSpPr>
              <a:spLocks noChangeArrowheads="1"/>
            </p:cNvSpPr>
            <p:nvPr/>
          </p:nvSpPr>
          <p:spPr bwMode="auto">
            <a:xfrm>
              <a:off x="1067" y="194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Oval 56"/>
            <p:cNvSpPr>
              <a:spLocks noChangeArrowheads="1"/>
            </p:cNvSpPr>
            <p:nvPr/>
          </p:nvSpPr>
          <p:spPr bwMode="auto">
            <a:xfrm>
              <a:off x="2452" y="2707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Line 57"/>
            <p:cNvSpPr>
              <a:spLocks noChangeShapeType="1"/>
            </p:cNvSpPr>
            <p:nvPr/>
          </p:nvSpPr>
          <p:spPr bwMode="auto">
            <a:xfrm>
              <a:off x="2476" y="2731"/>
              <a:ext cx="0" cy="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Line 58"/>
            <p:cNvSpPr>
              <a:spLocks noChangeShapeType="1"/>
            </p:cNvSpPr>
            <p:nvPr/>
          </p:nvSpPr>
          <p:spPr bwMode="auto">
            <a:xfrm>
              <a:off x="2403" y="2896"/>
              <a:ext cx="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Rectangle 59"/>
            <p:cNvSpPr>
              <a:spLocks noChangeArrowheads="1"/>
            </p:cNvSpPr>
            <p:nvPr/>
          </p:nvSpPr>
          <p:spPr bwMode="auto">
            <a:xfrm>
              <a:off x="1454" y="1668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46" name="Rectangle 60"/>
            <p:cNvSpPr>
              <a:spLocks noChangeArrowheads="1"/>
            </p:cNvSpPr>
            <p:nvPr/>
          </p:nvSpPr>
          <p:spPr bwMode="auto">
            <a:xfrm>
              <a:off x="2558" y="1389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47" name="Text Box 61"/>
            <p:cNvSpPr txBox="1">
              <a:spLocks noChangeArrowheads="1"/>
            </p:cNvSpPr>
            <p:nvPr/>
          </p:nvSpPr>
          <p:spPr bwMode="auto">
            <a:xfrm>
              <a:off x="1178" y="153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8" name="Text Box 62"/>
            <p:cNvSpPr txBox="1">
              <a:spLocks noChangeArrowheads="1"/>
            </p:cNvSpPr>
            <p:nvPr/>
          </p:nvSpPr>
          <p:spPr bwMode="auto">
            <a:xfrm>
              <a:off x="2658" y="127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49" name="Rectangle 63"/>
            <p:cNvSpPr>
              <a:spLocks noChangeArrowheads="1"/>
            </p:cNvSpPr>
            <p:nvPr/>
          </p:nvSpPr>
          <p:spPr bwMode="auto">
            <a:xfrm>
              <a:off x="1021" y="1959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50" name="Rectangle 64"/>
            <p:cNvSpPr>
              <a:spLocks noChangeArrowheads="1"/>
            </p:cNvSpPr>
            <p:nvPr/>
          </p:nvSpPr>
          <p:spPr bwMode="auto">
            <a:xfrm>
              <a:off x="1036" y="2410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Rectangle 65"/>
            <p:cNvSpPr>
              <a:spLocks noChangeArrowheads="1"/>
            </p:cNvSpPr>
            <p:nvPr/>
          </p:nvSpPr>
          <p:spPr bwMode="auto">
            <a:xfrm>
              <a:off x="965" y="2071"/>
              <a:ext cx="225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i</a:t>
              </a:r>
            </a:p>
          </p:txBody>
        </p:sp>
        <p:sp>
          <p:nvSpPr>
            <p:cNvPr id="52" name="Rectangle 66"/>
            <p:cNvSpPr>
              <a:spLocks noChangeArrowheads="1"/>
            </p:cNvSpPr>
            <p:nvPr/>
          </p:nvSpPr>
          <p:spPr bwMode="auto">
            <a:xfrm>
              <a:off x="3034" y="1722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53" name="Rectangle 67"/>
            <p:cNvSpPr>
              <a:spLocks noChangeArrowheads="1"/>
            </p:cNvSpPr>
            <p:nvPr/>
          </p:nvSpPr>
          <p:spPr bwMode="auto">
            <a:xfrm>
              <a:off x="3026" y="2431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Rectangle 68"/>
            <p:cNvSpPr>
              <a:spLocks noChangeArrowheads="1"/>
            </p:cNvSpPr>
            <p:nvPr/>
          </p:nvSpPr>
          <p:spPr bwMode="auto">
            <a:xfrm>
              <a:off x="3023" y="1908"/>
              <a:ext cx="251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66" name="Text Box 3"/>
          <p:cNvSpPr txBox="1">
            <a:spLocks noChangeArrowheads="1"/>
          </p:cNvSpPr>
          <p:nvPr/>
        </p:nvSpPr>
        <p:spPr bwMode="auto">
          <a:xfrm>
            <a:off x="1328285" y="3407682"/>
            <a:ext cx="710814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zh-CN" altLang="en-US" sz="2800" b="1" i="1" u="sng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静态分析内容</a:t>
            </a:r>
            <a:r>
              <a:rPr lang="zh-CN" altLang="en-US" sz="2800" b="1" i="1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：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在直流电源作用下，确定三极管基极电流、集电极电流和集电极与基极之间的电压值（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  </a:t>
            </a:r>
            <a:r>
              <a:rPr lang="zh-CN" altLang="en-US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   </a:t>
            </a:r>
            <a:r>
              <a:rPr lang="zh-CN" altLang="en-US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）。</a:t>
            </a:r>
          </a:p>
        </p:txBody>
      </p:sp>
      <p:sp>
        <p:nvSpPr>
          <p:cNvPr id="71" name="Text Box 69"/>
          <p:cNvSpPr txBox="1">
            <a:spLocks noChangeArrowheads="1"/>
          </p:cNvSpPr>
          <p:nvPr/>
        </p:nvSpPr>
        <p:spPr bwMode="auto">
          <a:xfrm>
            <a:off x="705985" y="935946"/>
            <a:ext cx="2655887" cy="579437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b="1" dirty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静态分析</a:t>
            </a: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3837223" y="515937"/>
            <a:ext cx="4747221" cy="2643187"/>
            <a:chOff x="977" y="932"/>
            <a:chExt cx="2700" cy="1964"/>
          </a:xfrm>
        </p:grpSpPr>
        <p:grpSp>
          <p:nvGrpSpPr>
            <p:cNvPr id="3" name="Group 20"/>
            <p:cNvGrpSpPr>
              <a:grpSpLocks/>
            </p:cNvGrpSpPr>
            <p:nvPr/>
          </p:nvGrpSpPr>
          <p:grpSpPr bwMode="auto">
            <a:xfrm>
              <a:off x="1703" y="1119"/>
              <a:ext cx="785" cy="1665"/>
              <a:chOff x="1703" y="1119"/>
              <a:chExt cx="785" cy="1665"/>
            </a:xfrm>
          </p:grpSpPr>
          <p:sp>
            <p:nvSpPr>
              <p:cNvPr id="59" name="Line 21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Line 22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Line 23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Line 24"/>
              <p:cNvSpPr>
                <a:spLocks noChangeShapeType="1"/>
              </p:cNvSpPr>
              <p:nvPr/>
            </p:nvSpPr>
            <p:spPr bwMode="auto">
              <a:xfrm>
                <a:off x="2282" y="2029"/>
                <a:ext cx="194" cy="147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Line 25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Line 26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1" name="Line 27"/>
            <p:cNvSpPr>
              <a:spLocks noChangeShapeType="1"/>
            </p:cNvSpPr>
            <p:nvPr/>
          </p:nvSpPr>
          <p:spPr bwMode="auto">
            <a:xfrm>
              <a:off x="1703" y="1120"/>
              <a:ext cx="1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Line 28"/>
            <p:cNvSpPr>
              <a:spLocks noChangeShapeType="1"/>
            </p:cNvSpPr>
            <p:nvPr/>
          </p:nvSpPr>
          <p:spPr bwMode="auto">
            <a:xfrm>
              <a:off x="1703" y="1119"/>
              <a:ext cx="0" cy="84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Oval 29"/>
            <p:cNvSpPr>
              <a:spLocks noChangeArrowheads="1"/>
            </p:cNvSpPr>
            <p:nvPr/>
          </p:nvSpPr>
          <p:spPr bwMode="auto">
            <a:xfrm>
              <a:off x="3133" y="109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Rectangle 30"/>
            <p:cNvSpPr>
              <a:spLocks noChangeArrowheads="1"/>
            </p:cNvSpPr>
            <p:nvPr/>
          </p:nvSpPr>
          <p:spPr bwMode="auto">
            <a:xfrm>
              <a:off x="1651" y="1408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Rectangle 31"/>
            <p:cNvSpPr>
              <a:spLocks noChangeArrowheads="1"/>
            </p:cNvSpPr>
            <p:nvPr/>
          </p:nvSpPr>
          <p:spPr bwMode="auto">
            <a:xfrm>
              <a:off x="2436" y="1276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Rectangle 32"/>
            <p:cNvSpPr>
              <a:spLocks noChangeArrowheads="1"/>
            </p:cNvSpPr>
            <p:nvPr/>
          </p:nvSpPr>
          <p:spPr bwMode="auto">
            <a:xfrm>
              <a:off x="1318" y="1196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9" name="Rectangle 33"/>
            <p:cNvSpPr>
              <a:spLocks noChangeArrowheads="1"/>
            </p:cNvSpPr>
            <p:nvPr/>
          </p:nvSpPr>
          <p:spPr bwMode="auto">
            <a:xfrm>
              <a:off x="2148" y="1217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20" name="Rectangle 34"/>
            <p:cNvSpPr>
              <a:spLocks noChangeArrowheads="1"/>
            </p:cNvSpPr>
            <p:nvPr/>
          </p:nvSpPr>
          <p:spPr bwMode="auto">
            <a:xfrm>
              <a:off x="2459" y="1946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21" name="Rectangle 35"/>
            <p:cNvSpPr>
              <a:spLocks noChangeArrowheads="1"/>
            </p:cNvSpPr>
            <p:nvPr/>
          </p:nvSpPr>
          <p:spPr bwMode="auto">
            <a:xfrm>
              <a:off x="2033" y="2104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22" name="Rectangle 36"/>
            <p:cNvSpPr>
              <a:spLocks noChangeArrowheads="1"/>
            </p:cNvSpPr>
            <p:nvPr/>
          </p:nvSpPr>
          <p:spPr bwMode="auto">
            <a:xfrm>
              <a:off x="1980" y="1968"/>
              <a:ext cx="20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3" name="Rectangle 37"/>
            <p:cNvSpPr>
              <a:spLocks noChangeArrowheads="1"/>
            </p:cNvSpPr>
            <p:nvPr/>
          </p:nvSpPr>
          <p:spPr bwMode="auto">
            <a:xfrm>
              <a:off x="2284" y="2348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Rectangle 38"/>
            <p:cNvSpPr>
              <a:spLocks noChangeArrowheads="1"/>
            </p:cNvSpPr>
            <p:nvPr/>
          </p:nvSpPr>
          <p:spPr bwMode="auto">
            <a:xfrm>
              <a:off x="2569" y="2356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Rectangle 39"/>
            <p:cNvSpPr>
              <a:spLocks noChangeArrowheads="1"/>
            </p:cNvSpPr>
            <p:nvPr/>
          </p:nvSpPr>
          <p:spPr bwMode="auto">
            <a:xfrm>
              <a:off x="2528" y="1722"/>
              <a:ext cx="20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6" name="Rectangle 40"/>
            <p:cNvSpPr>
              <a:spLocks noChangeArrowheads="1"/>
            </p:cNvSpPr>
            <p:nvPr/>
          </p:nvSpPr>
          <p:spPr bwMode="auto">
            <a:xfrm>
              <a:off x="3192" y="932"/>
              <a:ext cx="485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29" name="Line 41"/>
            <p:cNvSpPr>
              <a:spLocks noChangeShapeType="1"/>
            </p:cNvSpPr>
            <p:nvPr/>
          </p:nvSpPr>
          <p:spPr bwMode="auto">
            <a:xfrm>
              <a:off x="1115" y="2731"/>
              <a:ext cx="20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" name="Group 42"/>
            <p:cNvGrpSpPr>
              <a:grpSpLocks/>
            </p:cNvGrpSpPr>
            <p:nvPr/>
          </p:nvGrpSpPr>
          <p:grpSpPr bwMode="auto">
            <a:xfrm>
              <a:off x="1355" y="1848"/>
              <a:ext cx="112" cy="224"/>
              <a:chOff x="5056" y="3342"/>
              <a:chExt cx="112" cy="224"/>
            </a:xfrm>
          </p:grpSpPr>
          <p:sp>
            <p:nvSpPr>
              <p:cNvPr id="57" name="Line 43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Line 44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32" name="Line 45"/>
            <p:cNvSpPr>
              <a:spLocks noChangeShapeType="1"/>
            </p:cNvSpPr>
            <p:nvPr/>
          </p:nvSpPr>
          <p:spPr bwMode="auto">
            <a:xfrm>
              <a:off x="1467" y="1961"/>
              <a:ext cx="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Line 46"/>
            <p:cNvSpPr>
              <a:spLocks noChangeShapeType="1"/>
            </p:cNvSpPr>
            <p:nvPr/>
          </p:nvSpPr>
          <p:spPr bwMode="auto">
            <a:xfrm>
              <a:off x="1115" y="1961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Line 47"/>
            <p:cNvSpPr>
              <a:spLocks noChangeShapeType="1"/>
            </p:cNvSpPr>
            <p:nvPr/>
          </p:nvSpPr>
          <p:spPr bwMode="auto">
            <a:xfrm>
              <a:off x="2476" y="1685"/>
              <a:ext cx="2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5" name="Group 48"/>
            <p:cNvGrpSpPr>
              <a:grpSpLocks/>
            </p:cNvGrpSpPr>
            <p:nvPr/>
          </p:nvGrpSpPr>
          <p:grpSpPr bwMode="auto">
            <a:xfrm>
              <a:off x="2723" y="1580"/>
              <a:ext cx="112" cy="224"/>
              <a:chOff x="5056" y="3342"/>
              <a:chExt cx="112" cy="224"/>
            </a:xfrm>
          </p:grpSpPr>
          <p:sp>
            <p:nvSpPr>
              <p:cNvPr id="55" name="Line 49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Line 50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37" name="Line 51"/>
            <p:cNvSpPr>
              <a:spLocks noChangeShapeType="1"/>
            </p:cNvSpPr>
            <p:nvPr/>
          </p:nvSpPr>
          <p:spPr bwMode="auto">
            <a:xfrm>
              <a:off x="2835" y="1676"/>
              <a:ext cx="2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Oval 52"/>
            <p:cNvSpPr>
              <a:spLocks noChangeArrowheads="1"/>
            </p:cNvSpPr>
            <p:nvPr/>
          </p:nvSpPr>
          <p:spPr bwMode="auto">
            <a:xfrm>
              <a:off x="3156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Oval 53"/>
            <p:cNvSpPr>
              <a:spLocks noChangeArrowheads="1"/>
            </p:cNvSpPr>
            <p:nvPr/>
          </p:nvSpPr>
          <p:spPr bwMode="auto">
            <a:xfrm>
              <a:off x="3108" y="1652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Oval 54"/>
            <p:cNvSpPr>
              <a:spLocks noChangeArrowheads="1"/>
            </p:cNvSpPr>
            <p:nvPr/>
          </p:nvSpPr>
          <p:spPr bwMode="auto">
            <a:xfrm>
              <a:off x="1091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Oval 55"/>
            <p:cNvSpPr>
              <a:spLocks noChangeArrowheads="1"/>
            </p:cNvSpPr>
            <p:nvPr/>
          </p:nvSpPr>
          <p:spPr bwMode="auto">
            <a:xfrm>
              <a:off x="1067" y="194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Oval 56"/>
            <p:cNvSpPr>
              <a:spLocks noChangeArrowheads="1"/>
            </p:cNvSpPr>
            <p:nvPr/>
          </p:nvSpPr>
          <p:spPr bwMode="auto">
            <a:xfrm>
              <a:off x="2452" y="2707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Line 57"/>
            <p:cNvSpPr>
              <a:spLocks noChangeShapeType="1"/>
            </p:cNvSpPr>
            <p:nvPr/>
          </p:nvSpPr>
          <p:spPr bwMode="auto">
            <a:xfrm>
              <a:off x="2476" y="2731"/>
              <a:ext cx="0" cy="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Line 58"/>
            <p:cNvSpPr>
              <a:spLocks noChangeShapeType="1"/>
            </p:cNvSpPr>
            <p:nvPr/>
          </p:nvSpPr>
          <p:spPr bwMode="auto">
            <a:xfrm>
              <a:off x="2403" y="2896"/>
              <a:ext cx="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Rectangle 59"/>
            <p:cNvSpPr>
              <a:spLocks noChangeArrowheads="1"/>
            </p:cNvSpPr>
            <p:nvPr/>
          </p:nvSpPr>
          <p:spPr bwMode="auto">
            <a:xfrm>
              <a:off x="1448" y="1652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46" name="Rectangle 60"/>
            <p:cNvSpPr>
              <a:spLocks noChangeArrowheads="1"/>
            </p:cNvSpPr>
            <p:nvPr/>
          </p:nvSpPr>
          <p:spPr bwMode="auto">
            <a:xfrm>
              <a:off x="2552" y="1421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47" name="Text Box 61"/>
            <p:cNvSpPr txBox="1">
              <a:spLocks noChangeArrowheads="1"/>
            </p:cNvSpPr>
            <p:nvPr/>
          </p:nvSpPr>
          <p:spPr bwMode="auto">
            <a:xfrm>
              <a:off x="1178" y="153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8" name="Text Box 62"/>
            <p:cNvSpPr txBox="1">
              <a:spLocks noChangeArrowheads="1"/>
            </p:cNvSpPr>
            <p:nvPr/>
          </p:nvSpPr>
          <p:spPr bwMode="auto">
            <a:xfrm>
              <a:off x="2658" y="127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49" name="Rectangle 63"/>
            <p:cNvSpPr>
              <a:spLocks noChangeArrowheads="1"/>
            </p:cNvSpPr>
            <p:nvPr/>
          </p:nvSpPr>
          <p:spPr bwMode="auto">
            <a:xfrm>
              <a:off x="1021" y="1959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50" name="Rectangle 64"/>
            <p:cNvSpPr>
              <a:spLocks noChangeArrowheads="1"/>
            </p:cNvSpPr>
            <p:nvPr/>
          </p:nvSpPr>
          <p:spPr bwMode="auto">
            <a:xfrm>
              <a:off x="1055" y="2394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Rectangle 65"/>
            <p:cNvSpPr>
              <a:spLocks noChangeArrowheads="1"/>
            </p:cNvSpPr>
            <p:nvPr/>
          </p:nvSpPr>
          <p:spPr bwMode="auto">
            <a:xfrm>
              <a:off x="977" y="2160"/>
              <a:ext cx="225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endParaRPr lang="en-US" altLang="zh-CN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Rectangle 66"/>
            <p:cNvSpPr>
              <a:spLocks noChangeArrowheads="1"/>
            </p:cNvSpPr>
            <p:nvPr/>
          </p:nvSpPr>
          <p:spPr bwMode="auto">
            <a:xfrm>
              <a:off x="3034" y="1722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53" name="Rectangle 67"/>
            <p:cNvSpPr>
              <a:spLocks noChangeArrowheads="1"/>
            </p:cNvSpPr>
            <p:nvPr/>
          </p:nvSpPr>
          <p:spPr bwMode="auto">
            <a:xfrm>
              <a:off x="3051" y="2456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Rectangle 68"/>
            <p:cNvSpPr>
              <a:spLocks noChangeArrowheads="1"/>
            </p:cNvSpPr>
            <p:nvPr/>
          </p:nvSpPr>
          <p:spPr bwMode="auto">
            <a:xfrm>
              <a:off x="3023" y="1908"/>
              <a:ext cx="251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67" name="Rectangle 8"/>
          <p:cNvSpPr>
            <a:spLocks noChangeArrowheads="1"/>
          </p:cNvSpPr>
          <p:nvPr/>
        </p:nvSpPr>
        <p:spPr bwMode="auto">
          <a:xfrm>
            <a:off x="1853293" y="3672342"/>
            <a:ext cx="25177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i="1" u="sng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静态分析方法：</a:t>
            </a:r>
          </a:p>
        </p:txBody>
      </p:sp>
      <p:grpSp>
        <p:nvGrpSpPr>
          <p:cNvPr id="6" name="Group 9"/>
          <p:cNvGrpSpPr>
            <a:grpSpLocks/>
          </p:cNvGrpSpPr>
          <p:nvPr/>
        </p:nvGrpSpPr>
        <p:grpSpPr bwMode="auto">
          <a:xfrm>
            <a:off x="4439329" y="3342368"/>
            <a:ext cx="1774825" cy="1384300"/>
            <a:chOff x="3765" y="3040"/>
            <a:chExt cx="1118" cy="872"/>
          </a:xfrm>
        </p:grpSpPr>
        <p:sp>
          <p:nvSpPr>
            <p:cNvPr id="69" name="AutoShape 10"/>
            <p:cNvSpPr>
              <a:spLocks/>
            </p:cNvSpPr>
            <p:nvPr/>
          </p:nvSpPr>
          <p:spPr bwMode="auto">
            <a:xfrm>
              <a:off x="3765" y="3146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Text Box 11"/>
            <p:cNvSpPr txBox="1">
              <a:spLocks noChangeArrowheads="1"/>
            </p:cNvSpPr>
            <p:nvPr/>
          </p:nvSpPr>
          <p:spPr bwMode="auto">
            <a:xfrm>
              <a:off x="3854" y="3040"/>
              <a:ext cx="1029" cy="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估算法</a:t>
              </a:r>
            </a:p>
            <a:p>
              <a:endPara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图解法</a:t>
              </a:r>
            </a:p>
          </p:txBody>
        </p:sp>
      </p:grpSp>
      <p:sp>
        <p:nvSpPr>
          <p:cNvPr id="68" name="Text Box 69"/>
          <p:cNvSpPr txBox="1">
            <a:spLocks noChangeArrowheads="1"/>
          </p:cNvSpPr>
          <p:nvPr/>
        </p:nvSpPr>
        <p:spPr bwMode="auto">
          <a:xfrm>
            <a:off x="705985" y="935946"/>
            <a:ext cx="2655887" cy="579437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b="1" dirty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静态分析</a:t>
            </a: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roup 19"/>
          <p:cNvGrpSpPr>
            <a:grpSpLocks/>
          </p:cNvGrpSpPr>
          <p:nvPr/>
        </p:nvGrpSpPr>
        <p:grpSpPr bwMode="auto">
          <a:xfrm>
            <a:off x="554718" y="973138"/>
            <a:ext cx="4768320" cy="2643187"/>
            <a:chOff x="965" y="932"/>
            <a:chExt cx="2712" cy="1964"/>
          </a:xfrm>
        </p:grpSpPr>
        <p:grpSp>
          <p:nvGrpSpPr>
            <p:cNvPr id="270" name="Group 20"/>
            <p:cNvGrpSpPr>
              <a:grpSpLocks/>
            </p:cNvGrpSpPr>
            <p:nvPr/>
          </p:nvGrpSpPr>
          <p:grpSpPr bwMode="auto">
            <a:xfrm>
              <a:off x="1703" y="1119"/>
              <a:ext cx="785" cy="1665"/>
              <a:chOff x="1703" y="1119"/>
              <a:chExt cx="785" cy="1665"/>
            </a:xfrm>
          </p:grpSpPr>
          <p:sp>
            <p:nvSpPr>
              <p:cNvPr id="313" name="Line 21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4" name="Line 22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5" name="Line 23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6" name="Line 24"/>
              <p:cNvSpPr>
                <a:spLocks noChangeShapeType="1"/>
              </p:cNvSpPr>
              <p:nvPr/>
            </p:nvSpPr>
            <p:spPr bwMode="auto">
              <a:xfrm>
                <a:off x="2282" y="2029"/>
                <a:ext cx="194" cy="147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7" name="Line 25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8" name="Line 26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71" name="Line 27"/>
            <p:cNvSpPr>
              <a:spLocks noChangeShapeType="1"/>
            </p:cNvSpPr>
            <p:nvPr/>
          </p:nvSpPr>
          <p:spPr bwMode="auto">
            <a:xfrm>
              <a:off x="1703" y="1120"/>
              <a:ext cx="1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2" name="Line 28"/>
            <p:cNvSpPr>
              <a:spLocks noChangeShapeType="1"/>
            </p:cNvSpPr>
            <p:nvPr/>
          </p:nvSpPr>
          <p:spPr bwMode="auto">
            <a:xfrm>
              <a:off x="1703" y="1119"/>
              <a:ext cx="0" cy="84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3" name="Oval 29"/>
            <p:cNvSpPr>
              <a:spLocks noChangeArrowheads="1"/>
            </p:cNvSpPr>
            <p:nvPr/>
          </p:nvSpPr>
          <p:spPr bwMode="auto">
            <a:xfrm>
              <a:off x="3133" y="109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4" name="Rectangle 30"/>
            <p:cNvSpPr>
              <a:spLocks noChangeArrowheads="1"/>
            </p:cNvSpPr>
            <p:nvPr/>
          </p:nvSpPr>
          <p:spPr bwMode="auto">
            <a:xfrm>
              <a:off x="1651" y="1408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5" name="Rectangle 31"/>
            <p:cNvSpPr>
              <a:spLocks noChangeArrowheads="1"/>
            </p:cNvSpPr>
            <p:nvPr/>
          </p:nvSpPr>
          <p:spPr bwMode="auto">
            <a:xfrm>
              <a:off x="2436" y="1276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6" name="Rectangle 32"/>
            <p:cNvSpPr>
              <a:spLocks noChangeArrowheads="1"/>
            </p:cNvSpPr>
            <p:nvPr/>
          </p:nvSpPr>
          <p:spPr bwMode="auto">
            <a:xfrm>
              <a:off x="1318" y="1196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277" name="Rectangle 33"/>
            <p:cNvSpPr>
              <a:spLocks noChangeArrowheads="1"/>
            </p:cNvSpPr>
            <p:nvPr/>
          </p:nvSpPr>
          <p:spPr bwMode="auto">
            <a:xfrm>
              <a:off x="2148" y="1217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278" name="Rectangle 34"/>
            <p:cNvSpPr>
              <a:spLocks noChangeArrowheads="1"/>
            </p:cNvSpPr>
            <p:nvPr/>
          </p:nvSpPr>
          <p:spPr bwMode="auto">
            <a:xfrm>
              <a:off x="2459" y="1946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279" name="Rectangle 35"/>
            <p:cNvSpPr>
              <a:spLocks noChangeArrowheads="1"/>
            </p:cNvSpPr>
            <p:nvPr/>
          </p:nvSpPr>
          <p:spPr bwMode="auto">
            <a:xfrm>
              <a:off x="1953" y="2096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280" name="Rectangle 36"/>
            <p:cNvSpPr>
              <a:spLocks noChangeArrowheads="1"/>
            </p:cNvSpPr>
            <p:nvPr/>
          </p:nvSpPr>
          <p:spPr bwMode="auto">
            <a:xfrm>
              <a:off x="1980" y="1968"/>
              <a:ext cx="20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81" name="Rectangle 37"/>
            <p:cNvSpPr>
              <a:spLocks noChangeArrowheads="1"/>
            </p:cNvSpPr>
            <p:nvPr/>
          </p:nvSpPr>
          <p:spPr bwMode="auto">
            <a:xfrm>
              <a:off x="2260" y="2316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2" name="Rectangle 38"/>
            <p:cNvSpPr>
              <a:spLocks noChangeArrowheads="1"/>
            </p:cNvSpPr>
            <p:nvPr/>
          </p:nvSpPr>
          <p:spPr bwMode="auto">
            <a:xfrm>
              <a:off x="2575" y="2413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3" name="Rectangle 39"/>
            <p:cNvSpPr>
              <a:spLocks noChangeArrowheads="1"/>
            </p:cNvSpPr>
            <p:nvPr/>
          </p:nvSpPr>
          <p:spPr bwMode="auto">
            <a:xfrm>
              <a:off x="2528" y="1722"/>
              <a:ext cx="20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84" name="Rectangle 40"/>
            <p:cNvSpPr>
              <a:spLocks noChangeArrowheads="1"/>
            </p:cNvSpPr>
            <p:nvPr/>
          </p:nvSpPr>
          <p:spPr bwMode="auto">
            <a:xfrm>
              <a:off x="3192" y="932"/>
              <a:ext cx="485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285" name="Line 41"/>
            <p:cNvSpPr>
              <a:spLocks noChangeShapeType="1"/>
            </p:cNvSpPr>
            <p:nvPr/>
          </p:nvSpPr>
          <p:spPr bwMode="auto">
            <a:xfrm>
              <a:off x="1115" y="2731"/>
              <a:ext cx="20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86" name="Group 42"/>
            <p:cNvGrpSpPr>
              <a:grpSpLocks/>
            </p:cNvGrpSpPr>
            <p:nvPr/>
          </p:nvGrpSpPr>
          <p:grpSpPr bwMode="auto">
            <a:xfrm>
              <a:off x="1355" y="1848"/>
              <a:ext cx="112" cy="224"/>
              <a:chOff x="5056" y="3342"/>
              <a:chExt cx="112" cy="224"/>
            </a:xfrm>
          </p:grpSpPr>
          <p:sp>
            <p:nvSpPr>
              <p:cNvPr id="311" name="Line 43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2" name="Line 44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87" name="Line 45"/>
            <p:cNvSpPr>
              <a:spLocks noChangeShapeType="1"/>
            </p:cNvSpPr>
            <p:nvPr/>
          </p:nvSpPr>
          <p:spPr bwMode="auto">
            <a:xfrm>
              <a:off x="1467" y="1961"/>
              <a:ext cx="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8" name="Line 46"/>
            <p:cNvSpPr>
              <a:spLocks noChangeShapeType="1"/>
            </p:cNvSpPr>
            <p:nvPr/>
          </p:nvSpPr>
          <p:spPr bwMode="auto">
            <a:xfrm>
              <a:off x="1115" y="1961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9" name="Line 47"/>
            <p:cNvSpPr>
              <a:spLocks noChangeShapeType="1"/>
            </p:cNvSpPr>
            <p:nvPr/>
          </p:nvSpPr>
          <p:spPr bwMode="auto">
            <a:xfrm>
              <a:off x="2476" y="1685"/>
              <a:ext cx="2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90" name="Group 48"/>
            <p:cNvGrpSpPr>
              <a:grpSpLocks/>
            </p:cNvGrpSpPr>
            <p:nvPr/>
          </p:nvGrpSpPr>
          <p:grpSpPr bwMode="auto">
            <a:xfrm>
              <a:off x="2723" y="1580"/>
              <a:ext cx="112" cy="224"/>
              <a:chOff x="5056" y="3342"/>
              <a:chExt cx="112" cy="224"/>
            </a:xfrm>
          </p:grpSpPr>
          <p:sp>
            <p:nvSpPr>
              <p:cNvPr id="309" name="Line 49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0" name="Line 50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91" name="Line 51"/>
            <p:cNvSpPr>
              <a:spLocks noChangeShapeType="1"/>
            </p:cNvSpPr>
            <p:nvPr/>
          </p:nvSpPr>
          <p:spPr bwMode="auto">
            <a:xfrm>
              <a:off x="2835" y="1676"/>
              <a:ext cx="2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2" name="Oval 52"/>
            <p:cNvSpPr>
              <a:spLocks noChangeArrowheads="1"/>
            </p:cNvSpPr>
            <p:nvPr/>
          </p:nvSpPr>
          <p:spPr bwMode="auto">
            <a:xfrm>
              <a:off x="3156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3" name="Oval 53"/>
            <p:cNvSpPr>
              <a:spLocks noChangeArrowheads="1"/>
            </p:cNvSpPr>
            <p:nvPr/>
          </p:nvSpPr>
          <p:spPr bwMode="auto">
            <a:xfrm>
              <a:off x="3108" y="1652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4" name="Oval 54"/>
            <p:cNvSpPr>
              <a:spLocks noChangeArrowheads="1"/>
            </p:cNvSpPr>
            <p:nvPr/>
          </p:nvSpPr>
          <p:spPr bwMode="auto">
            <a:xfrm>
              <a:off x="1091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5" name="Oval 55"/>
            <p:cNvSpPr>
              <a:spLocks noChangeArrowheads="1"/>
            </p:cNvSpPr>
            <p:nvPr/>
          </p:nvSpPr>
          <p:spPr bwMode="auto">
            <a:xfrm>
              <a:off x="1067" y="194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6" name="Oval 56"/>
            <p:cNvSpPr>
              <a:spLocks noChangeArrowheads="1"/>
            </p:cNvSpPr>
            <p:nvPr/>
          </p:nvSpPr>
          <p:spPr bwMode="auto">
            <a:xfrm>
              <a:off x="2452" y="2707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7" name="Line 57"/>
            <p:cNvSpPr>
              <a:spLocks noChangeShapeType="1"/>
            </p:cNvSpPr>
            <p:nvPr/>
          </p:nvSpPr>
          <p:spPr bwMode="auto">
            <a:xfrm>
              <a:off x="2476" y="2731"/>
              <a:ext cx="0" cy="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8" name="Line 58"/>
            <p:cNvSpPr>
              <a:spLocks noChangeShapeType="1"/>
            </p:cNvSpPr>
            <p:nvPr/>
          </p:nvSpPr>
          <p:spPr bwMode="auto">
            <a:xfrm>
              <a:off x="2403" y="2896"/>
              <a:ext cx="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9" name="Rectangle 59"/>
            <p:cNvSpPr>
              <a:spLocks noChangeArrowheads="1"/>
            </p:cNvSpPr>
            <p:nvPr/>
          </p:nvSpPr>
          <p:spPr bwMode="auto">
            <a:xfrm>
              <a:off x="1473" y="1684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300" name="Rectangle 60"/>
            <p:cNvSpPr>
              <a:spLocks noChangeArrowheads="1"/>
            </p:cNvSpPr>
            <p:nvPr/>
          </p:nvSpPr>
          <p:spPr bwMode="auto">
            <a:xfrm>
              <a:off x="2564" y="1405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301" name="Text Box 61"/>
            <p:cNvSpPr txBox="1">
              <a:spLocks noChangeArrowheads="1"/>
            </p:cNvSpPr>
            <p:nvPr/>
          </p:nvSpPr>
          <p:spPr bwMode="auto">
            <a:xfrm>
              <a:off x="1178" y="153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02" name="Text Box 62"/>
            <p:cNvSpPr txBox="1">
              <a:spLocks noChangeArrowheads="1"/>
            </p:cNvSpPr>
            <p:nvPr/>
          </p:nvSpPr>
          <p:spPr bwMode="auto">
            <a:xfrm>
              <a:off x="2658" y="127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303" name="Rectangle 63"/>
            <p:cNvSpPr>
              <a:spLocks noChangeArrowheads="1"/>
            </p:cNvSpPr>
            <p:nvPr/>
          </p:nvSpPr>
          <p:spPr bwMode="auto">
            <a:xfrm>
              <a:off x="1021" y="1959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304" name="Rectangle 64"/>
            <p:cNvSpPr>
              <a:spLocks noChangeArrowheads="1"/>
            </p:cNvSpPr>
            <p:nvPr/>
          </p:nvSpPr>
          <p:spPr bwMode="auto">
            <a:xfrm>
              <a:off x="1043" y="2394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5" name="Rectangle 65"/>
            <p:cNvSpPr>
              <a:spLocks noChangeArrowheads="1"/>
            </p:cNvSpPr>
            <p:nvPr/>
          </p:nvSpPr>
          <p:spPr bwMode="auto">
            <a:xfrm>
              <a:off x="965" y="2071"/>
              <a:ext cx="225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i</a:t>
              </a:r>
            </a:p>
          </p:txBody>
        </p:sp>
        <p:sp>
          <p:nvSpPr>
            <p:cNvPr id="306" name="Rectangle 66"/>
            <p:cNvSpPr>
              <a:spLocks noChangeArrowheads="1"/>
            </p:cNvSpPr>
            <p:nvPr/>
          </p:nvSpPr>
          <p:spPr bwMode="auto">
            <a:xfrm>
              <a:off x="3034" y="1722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307" name="Rectangle 67"/>
            <p:cNvSpPr>
              <a:spLocks noChangeArrowheads="1"/>
            </p:cNvSpPr>
            <p:nvPr/>
          </p:nvSpPr>
          <p:spPr bwMode="auto">
            <a:xfrm>
              <a:off x="3026" y="2415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8" name="Rectangle 68"/>
            <p:cNvSpPr>
              <a:spLocks noChangeArrowheads="1"/>
            </p:cNvSpPr>
            <p:nvPr/>
          </p:nvSpPr>
          <p:spPr bwMode="auto">
            <a:xfrm>
              <a:off x="3023" y="1908"/>
              <a:ext cx="251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319" name="Text Box 7"/>
          <p:cNvSpPr txBox="1">
            <a:spLocks noChangeArrowheads="1"/>
          </p:cNvSpPr>
          <p:nvPr/>
        </p:nvSpPr>
        <p:spPr bwMode="auto">
          <a:xfrm>
            <a:off x="626836" y="292554"/>
            <a:ext cx="182614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直流通路</a:t>
            </a:r>
          </a:p>
        </p:txBody>
      </p:sp>
      <p:sp>
        <p:nvSpPr>
          <p:cNvPr id="324" name="Text Box 2"/>
          <p:cNvSpPr txBox="1">
            <a:spLocks noChangeArrowheads="1"/>
          </p:cNvSpPr>
          <p:nvPr/>
        </p:nvSpPr>
        <p:spPr bwMode="auto">
          <a:xfrm>
            <a:off x="4332517" y="4129995"/>
            <a:ext cx="18832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直流通路</a:t>
            </a:r>
          </a:p>
        </p:txBody>
      </p:sp>
      <p:sp>
        <p:nvSpPr>
          <p:cNvPr id="325" name="Line 3"/>
          <p:cNvSpPr>
            <a:spLocks noChangeShapeType="1"/>
          </p:cNvSpPr>
          <p:nvPr/>
        </p:nvSpPr>
        <p:spPr bwMode="auto">
          <a:xfrm>
            <a:off x="5551715" y="1585232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26" name="Line 4"/>
          <p:cNvSpPr>
            <a:spLocks noChangeShapeType="1"/>
          </p:cNvSpPr>
          <p:nvPr/>
        </p:nvSpPr>
        <p:spPr bwMode="auto">
          <a:xfrm flipH="1">
            <a:off x="6705600" y="1589314"/>
            <a:ext cx="0" cy="535442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27" name="Text Box 5"/>
          <p:cNvSpPr txBox="1">
            <a:spLocks noChangeArrowheads="1"/>
          </p:cNvSpPr>
          <p:nvPr/>
        </p:nvSpPr>
        <p:spPr bwMode="auto">
          <a:xfrm>
            <a:off x="5932715" y="866775"/>
            <a:ext cx="18941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电容开路</a:t>
            </a:r>
          </a:p>
        </p:txBody>
      </p:sp>
      <p:grpSp>
        <p:nvGrpSpPr>
          <p:cNvPr id="328" name="Group 18"/>
          <p:cNvGrpSpPr>
            <a:grpSpLocks/>
          </p:cNvGrpSpPr>
          <p:nvPr/>
        </p:nvGrpSpPr>
        <p:grpSpPr bwMode="auto">
          <a:xfrm>
            <a:off x="5297489" y="2164443"/>
            <a:ext cx="3284309" cy="2689225"/>
            <a:chOff x="1355" y="1096"/>
            <a:chExt cx="2065" cy="1688"/>
          </a:xfrm>
        </p:grpSpPr>
        <p:grpSp>
          <p:nvGrpSpPr>
            <p:cNvPr id="329" name="Group 19"/>
            <p:cNvGrpSpPr>
              <a:grpSpLocks/>
            </p:cNvGrpSpPr>
            <p:nvPr/>
          </p:nvGrpSpPr>
          <p:grpSpPr bwMode="auto">
            <a:xfrm>
              <a:off x="1703" y="1119"/>
              <a:ext cx="803" cy="1665"/>
              <a:chOff x="1703" y="1119"/>
              <a:chExt cx="803" cy="1665"/>
            </a:xfrm>
          </p:grpSpPr>
          <p:sp>
            <p:nvSpPr>
              <p:cNvPr id="349" name="Line 20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50" name="Line 21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51" name="Line 22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52" name="Line 23"/>
              <p:cNvSpPr>
                <a:spLocks noChangeShapeType="1"/>
              </p:cNvSpPr>
              <p:nvPr/>
            </p:nvSpPr>
            <p:spPr bwMode="auto">
              <a:xfrm>
                <a:off x="2282" y="2029"/>
                <a:ext cx="224" cy="159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53" name="Line 24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54" name="Line 25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330" name="Line 26"/>
            <p:cNvSpPr>
              <a:spLocks noChangeShapeType="1"/>
            </p:cNvSpPr>
            <p:nvPr/>
          </p:nvSpPr>
          <p:spPr bwMode="auto">
            <a:xfrm>
              <a:off x="1703" y="1120"/>
              <a:ext cx="1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1" name="Line 27"/>
            <p:cNvSpPr>
              <a:spLocks noChangeShapeType="1"/>
            </p:cNvSpPr>
            <p:nvPr/>
          </p:nvSpPr>
          <p:spPr bwMode="auto">
            <a:xfrm>
              <a:off x="1703" y="1119"/>
              <a:ext cx="0" cy="84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2" name="Line 28"/>
            <p:cNvSpPr>
              <a:spLocks noChangeShapeType="1"/>
            </p:cNvSpPr>
            <p:nvPr/>
          </p:nvSpPr>
          <p:spPr bwMode="auto">
            <a:xfrm>
              <a:off x="2330" y="2784"/>
              <a:ext cx="274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3" name="Oval 29"/>
            <p:cNvSpPr>
              <a:spLocks noChangeArrowheads="1"/>
            </p:cNvSpPr>
            <p:nvPr/>
          </p:nvSpPr>
          <p:spPr bwMode="auto">
            <a:xfrm>
              <a:off x="3133" y="1096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4" name="Rectangle 30"/>
            <p:cNvSpPr>
              <a:spLocks noChangeArrowheads="1"/>
            </p:cNvSpPr>
            <p:nvPr/>
          </p:nvSpPr>
          <p:spPr bwMode="auto">
            <a:xfrm>
              <a:off x="1651" y="1408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5" name="Rectangle 31"/>
            <p:cNvSpPr>
              <a:spLocks noChangeArrowheads="1"/>
            </p:cNvSpPr>
            <p:nvPr/>
          </p:nvSpPr>
          <p:spPr bwMode="auto">
            <a:xfrm>
              <a:off x="2436" y="1276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6" name="Line 32"/>
            <p:cNvSpPr>
              <a:spLocks noChangeShapeType="1"/>
            </p:cNvSpPr>
            <p:nvPr/>
          </p:nvSpPr>
          <p:spPr bwMode="auto">
            <a:xfrm>
              <a:off x="2604" y="1296"/>
              <a:ext cx="0" cy="38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7" name="Line 33"/>
            <p:cNvSpPr>
              <a:spLocks noChangeShapeType="1"/>
            </p:cNvSpPr>
            <p:nvPr/>
          </p:nvSpPr>
          <p:spPr bwMode="auto">
            <a:xfrm>
              <a:off x="1814" y="1886"/>
              <a:ext cx="317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8" name="Rectangle 34"/>
            <p:cNvSpPr>
              <a:spLocks noChangeArrowheads="1"/>
            </p:cNvSpPr>
            <p:nvPr/>
          </p:nvSpPr>
          <p:spPr bwMode="auto">
            <a:xfrm>
              <a:off x="1355" y="1358"/>
              <a:ext cx="320" cy="2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339" name="Rectangle 35"/>
            <p:cNvSpPr>
              <a:spLocks noChangeArrowheads="1"/>
            </p:cNvSpPr>
            <p:nvPr/>
          </p:nvSpPr>
          <p:spPr bwMode="auto">
            <a:xfrm>
              <a:off x="2085" y="1244"/>
              <a:ext cx="320" cy="2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340" name="Rectangle 36"/>
            <p:cNvSpPr>
              <a:spLocks noChangeArrowheads="1"/>
            </p:cNvSpPr>
            <p:nvPr/>
          </p:nvSpPr>
          <p:spPr bwMode="auto">
            <a:xfrm>
              <a:off x="2614" y="1276"/>
              <a:ext cx="266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341" name="Rectangle 37"/>
            <p:cNvSpPr>
              <a:spLocks noChangeArrowheads="1"/>
            </p:cNvSpPr>
            <p:nvPr/>
          </p:nvSpPr>
          <p:spPr bwMode="auto">
            <a:xfrm>
              <a:off x="1794" y="1542"/>
              <a:ext cx="266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342" name="Rectangle 38"/>
            <p:cNvSpPr>
              <a:spLocks noChangeArrowheads="1"/>
            </p:cNvSpPr>
            <p:nvPr/>
          </p:nvSpPr>
          <p:spPr bwMode="auto">
            <a:xfrm>
              <a:off x="2437" y="1946"/>
              <a:ext cx="420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343" name="Rectangle 39"/>
            <p:cNvSpPr>
              <a:spLocks noChangeArrowheads="1"/>
            </p:cNvSpPr>
            <p:nvPr/>
          </p:nvSpPr>
          <p:spPr bwMode="auto">
            <a:xfrm>
              <a:off x="1932" y="2096"/>
              <a:ext cx="420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344" name="Rectangle 40"/>
            <p:cNvSpPr>
              <a:spLocks noChangeArrowheads="1"/>
            </p:cNvSpPr>
            <p:nvPr/>
          </p:nvSpPr>
          <p:spPr bwMode="auto">
            <a:xfrm>
              <a:off x="1959" y="1922"/>
              <a:ext cx="232" cy="29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345" name="Rectangle 41"/>
            <p:cNvSpPr>
              <a:spLocks noChangeArrowheads="1"/>
            </p:cNvSpPr>
            <p:nvPr/>
          </p:nvSpPr>
          <p:spPr bwMode="auto">
            <a:xfrm>
              <a:off x="2236" y="2288"/>
              <a:ext cx="181" cy="29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6" name="Rectangle 42"/>
            <p:cNvSpPr>
              <a:spLocks noChangeArrowheads="1"/>
            </p:cNvSpPr>
            <p:nvPr/>
          </p:nvSpPr>
          <p:spPr bwMode="auto">
            <a:xfrm>
              <a:off x="2568" y="2466"/>
              <a:ext cx="265" cy="29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7" name="Rectangle 43"/>
            <p:cNvSpPr>
              <a:spLocks noChangeArrowheads="1"/>
            </p:cNvSpPr>
            <p:nvPr/>
          </p:nvSpPr>
          <p:spPr bwMode="auto">
            <a:xfrm>
              <a:off x="2506" y="1643"/>
              <a:ext cx="232" cy="29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348" name="Rectangle 44"/>
            <p:cNvSpPr>
              <a:spLocks noChangeArrowheads="1"/>
            </p:cNvSpPr>
            <p:nvPr/>
          </p:nvSpPr>
          <p:spPr bwMode="auto">
            <a:xfrm>
              <a:off x="2884" y="1120"/>
              <a:ext cx="536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</p:grpSp>
      <p:sp>
        <p:nvSpPr>
          <p:cNvPr id="363" name="Line 10"/>
          <p:cNvSpPr>
            <a:spLocks noChangeShapeType="1"/>
          </p:cNvSpPr>
          <p:nvPr/>
        </p:nvSpPr>
        <p:spPr bwMode="auto">
          <a:xfrm flipH="1">
            <a:off x="3050042" y="1053646"/>
            <a:ext cx="12954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4" name="Line 11"/>
          <p:cNvSpPr>
            <a:spLocks noChangeShapeType="1"/>
          </p:cNvSpPr>
          <p:nvPr/>
        </p:nvSpPr>
        <p:spPr bwMode="auto">
          <a:xfrm flipH="1">
            <a:off x="1995942" y="1053646"/>
            <a:ext cx="70167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5" name="Line 12"/>
          <p:cNvSpPr>
            <a:spLocks noChangeShapeType="1"/>
          </p:cNvSpPr>
          <p:nvPr/>
        </p:nvSpPr>
        <p:spPr bwMode="auto">
          <a:xfrm>
            <a:off x="3397250" y="1431471"/>
            <a:ext cx="0" cy="46672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6" name="Line 13"/>
          <p:cNvSpPr>
            <a:spLocks noChangeShapeType="1"/>
          </p:cNvSpPr>
          <p:nvPr/>
        </p:nvSpPr>
        <p:spPr bwMode="auto">
          <a:xfrm flipH="1">
            <a:off x="3360241" y="2087109"/>
            <a:ext cx="0" cy="656091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7" name="Line 14"/>
          <p:cNvSpPr>
            <a:spLocks noChangeShapeType="1"/>
          </p:cNvSpPr>
          <p:nvPr/>
        </p:nvSpPr>
        <p:spPr bwMode="auto">
          <a:xfrm>
            <a:off x="2796042" y="2599871"/>
            <a:ext cx="407987" cy="265113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" name="Line 15"/>
          <p:cNvSpPr>
            <a:spLocks noChangeShapeType="1"/>
          </p:cNvSpPr>
          <p:nvPr/>
        </p:nvSpPr>
        <p:spPr bwMode="auto">
          <a:xfrm>
            <a:off x="2222954" y="2241096"/>
            <a:ext cx="44767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" name="Line 16"/>
          <p:cNvSpPr>
            <a:spLocks noChangeShapeType="1"/>
          </p:cNvSpPr>
          <p:nvPr/>
        </p:nvSpPr>
        <p:spPr bwMode="auto">
          <a:xfrm>
            <a:off x="2021342" y="1431471"/>
            <a:ext cx="0" cy="7874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0" name="Line 17"/>
          <p:cNvSpPr>
            <a:spLocks noChangeShapeType="1"/>
          </p:cNvSpPr>
          <p:nvPr/>
        </p:nvSpPr>
        <p:spPr bwMode="auto">
          <a:xfrm>
            <a:off x="3354253" y="2928257"/>
            <a:ext cx="0" cy="385989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" grpId="0" animBg="1"/>
      <p:bldP spid="326" grpId="0" animBg="1"/>
      <p:bldP spid="327" grpId="0" autoUpdateAnimBg="0"/>
      <p:bldP spid="363" grpId="0" animBg="1"/>
      <p:bldP spid="364" grpId="0" animBg="1"/>
      <p:bldP spid="365" grpId="0" animBg="1"/>
      <p:bldP spid="366" grpId="0" animBg="1"/>
      <p:bldP spid="367" grpId="0" animBg="1"/>
      <p:bldP spid="368" grpId="0" animBg="1"/>
      <p:bldP spid="369" grpId="0" animBg="1"/>
      <p:bldP spid="37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457200" y="299811"/>
            <a:ext cx="4953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endParaRPr lang="zh-CN" altLang="zh-CN" sz="2800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690563" y="256949"/>
            <a:ext cx="264687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静态估算法：</a:t>
            </a: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5878739" y="4134758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直流通路</a:t>
            </a:r>
          </a:p>
        </p:txBody>
      </p:sp>
      <p:grpSp>
        <p:nvGrpSpPr>
          <p:cNvPr id="21" name="Group 6"/>
          <p:cNvGrpSpPr>
            <a:grpSpLocks/>
          </p:cNvGrpSpPr>
          <p:nvPr/>
        </p:nvGrpSpPr>
        <p:grpSpPr bwMode="auto">
          <a:xfrm>
            <a:off x="4349749" y="320449"/>
            <a:ext cx="3822700" cy="584200"/>
            <a:chOff x="2975" y="376"/>
            <a:chExt cx="2408" cy="368"/>
          </a:xfrm>
        </p:grpSpPr>
        <p:sp>
          <p:nvSpPr>
            <p:cNvPr id="22" name="Text Box 7"/>
            <p:cNvSpPr txBox="1">
              <a:spLocks noChangeArrowheads="1"/>
            </p:cNvSpPr>
            <p:nvPr/>
          </p:nvSpPr>
          <p:spPr bwMode="auto">
            <a:xfrm>
              <a:off x="2975" y="386"/>
              <a:ext cx="79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（求解</a:t>
              </a:r>
            </a:p>
          </p:txBody>
        </p:sp>
        <p:grpSp>
          <p:nvGrpSpPr>
            <p:cNvPr id="23" name="Group 8"/>
            <p:cNvGrpSpPr>
              <a:grpSpLocks/>
            </p:cNvGrpSpPr>
            <p:nvPr/>
          </p:nvGrpSpPr>
          <p:grpSpPr bwMode="auto">
            <a:xfrm>
              <a:off x="3757" y="376"/>
              <a:ext cx="1303" cy="357"/>
              <a:chOff x="2901" y="299"/>
              <a:chExt cx="1303" cy="357"/>
            </a:xfrm>
          </p:grpSpPr>
          <p:sp>
            <p:nvSpPr>
              <p:cNvPr id="25" name="Rectangle 9"/>
              <p:cNvSpPr>
                <a:spLocks noChangeArrowheads="1"/>
              </p:cNvSpPr>
              <p:nvPr/>
            </p:nvSpPr>
            <p:spPr bwMode="auto">
              <a:xfrm>
                <a:off x="2901" y="314"/>
                <a:ext cx="293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8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26" name="Rectangle 10"/>
              <p:cNvSpPr>
                <a:spLocks noChangeArrowheads="1"/>
              </p:cNvSpPr>
              <p:nvPr/>
            </p:nvSpPr>
            <p:spPr bwMode="auto">
              <a:xfrm>
                <a:off x="3037" y="314"/>
                <a:ext cx="57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zh-CN" altLang="en-US" sz="28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、</a:t>
                </a:r>
                <a:r>
                  <a:rPr lang="en-US" altLang="zh-CN" sz="28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8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27" name="Rectangle 11"/>
              <p:cNvSpPr>
                <a:spLocks noChangeArrowheads="1"/>
              </p:cNvSpPr>
              <p:nvPr/>
            </p:nvSpPr>
            <p:spPr bwMode="auto">
              <a:xfrm>
                <a:off x="3562" y="326"/>
                <a:ext cx="642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</a:t>
                </a:r>
                <a:r>
                  <a:rPr lang="en-US" altLang="zh-CN" sz="28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8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CE</a:t>
                </a:r>
                <a:endPara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8" name="Text Box 12"/>
              <p:cNvSpPr txBox="1">
                <a:spLocks noChangeArrowheads="1"/>
              </p:cNvSpPr>
              <p:nvPr/>
            </p:nvSpPr>
            <p:spPr bwMode="auto">
              <a:xfrm>
                <a:off x="3491" y="299"/>
                <a:ext cx="62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、</a:t>
                </a:r>
                <a:endPara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4" name="Text Box 13"/>
            <p:cNvSpPr txBox="1">
              <a:spLocks noChangeArrowheads="1"/>
            </p:cNvSpPr>
            <p:nvPr/>
          </p:nvSpPr>
          <p:spPr bwMode="auto">
            <a:xfrm>
              <a:off x="5040" y="414"/>
              <a:ext cx="34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）</a:t>
              </a:r>
            </a:p>
          </p:txBody>
        </p:sp>
      </p:grpSp>
      <p:sp>
        <p:nvSpPr>
          <p:cNvPr id="29" name="AutoShape 15"/>
          <p:cNvSpPr>
            <a:spLocks noChangeArrowheads="1"/>
          </p:cNvSpPr>
          <p:nvPr/>
        </p:nvSpPr>
        <p:spPr bwMode="auto">
          <a:xfrm rot="10800000">
            <a:off x="4374016" y="1750333"/>
            <a:ext cx="914400" cy="381000"/>
          </a:xfrm>
          <a:prstGeom prst="notchedRightArrow">
            <a:avLst>
              <a:gd name="adj1" fmla="val 50000"/>
              <a:gd name="adj2" fmla="val 60000"/>
            </a:avLst>
          </a:prstGeom>
          <a:solidFill>
            <a:srgbClr val="00B0F0"/>
          </a:solidFill>
          <a:ln w="9525">
            <a:solidFill>
              <a:srgbClr val="FFFF99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zh-CN" altLang="zh-CN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0" name="Text Box 16"/>
          <p:cNvSpPr txBox="1">
            <a:spLocks noChangeArrowheads="1"/>
          </p:cNvSpPr>
          <p:nvPr/>
        </p:nvSpPr>
        <p:spPr bwMode="auto">
          <a:xfrm>
            <a:off x="1177925" y="1220335"/>
            <a:ext cx="3200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CC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 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+ 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</a:p>
        </p:txBody>
      </p:sp>
      <p:sp>
        <p:nvSpPr>
          <p:cNvPr id="31" name="Text Box 17"/>
          <p:cNvSpPr txBox="1">
            <a:spLocks noChangeArrowheads="1"/>
          </p:cNvSpPr>
          <p:nvPr/>
        </p:nvSpPr>
        <p:spPr bwMode="auto">
          <a:xfrm>
            <a:off x="1238250" y="1925185"/>
            <a:ext cx="34083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CC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+ 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</a:p>
        </p:txBody>
      </p:sp>
      <p:sp>
        <p:nvSpPr>
          <p:cNvPr id="33" name="AutoShape 19"/>
          <p:cNvSpPr>
            <a:spLocks noChangeArrowheads="1"/>
          </p:cNvSpPr>
          <p:nvPr/>
        </p:nvSpPr>
        <p:spPr bwMode="auto">
          <a:xfrm rot="5385566">
            <a:off x="1909289" y="2568371"/>
            <a:ext cx="654547" cy="38100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34" name="Group 20"/>
          <p:cNvGrpSpPr>
            <a:grpSpLocks/>
          </p:cNvGrpSpPr>
          <p:nvPr/>
        </p:nvGrpSpPr>
        <p:grpSpPr bwMode="auto">
          <a:xfrm>
            <a:off x="784225" y="3050722"/>
            <a:ext cx="3200400" cy="962025"/>
            <a:chOff x="3360" y="2457"/>
            <a:chExt cx="2016" cy="606"/>
          </a:xfrm>
        </p:grpSpPr>
        <p:sp>
          <p:nvSpPr>
            <p:cNvPr id="35" name="Text Box 21"/>
            <p:cNvSpPr txBox="1">
              <a:spLocks noChangeArrowheads="1"/>
            </p:cNvSpPr>
            <p:nvPr/>
          </p:nvSpPr>
          <p:spPr bwMode="auto">
            <a:xfrm>
              <a:off x="3360" y="2592"/>
              <a:ext cx="20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  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————</a:t>
              </a:r>
            </a:p>
          </p:txBody>
        </p:sp>
        <p:sp>
          <p:nvSpPr>
            <p:cNvPr id="36" name="Text Box 22"/>
            <p:cNvSpPr txBox="1">
              <a:spLocks noChangeArrowheads="1"/>
            </p:cNvSpPr>
            <p:nvPr/>
          </p:nvSpPr>
          <p:spPr bwMode="auto">
            <a:xfrm>
              <a:off x="4224" y="2736"/>
              <a:ext cx="43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37" name="Text Box 23"/>
            <p:cNvSpPr txBox="1">
              <a:spLocks noChangeArrowheads="1"/>
            </p:cNvSpPr>
            <p:nvPr/>
          </p:nvSpPr>
          <p:spPr bwMode="auto">
            <a:xfrm>
              <a:off x="3936" y="2457"/>
              <a:ext cx="108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</p:grpSp>
      <p:sp>
        <p:nvSpPr>
          <p:cNvPr id="38" name="Text Box 24"/>
          <p:cNvSpPr txBox="1">
            <a:spLocks noChangeArrowheads="1"/>
          </p:cNvSpPr>
          <p:nvPr/>
        </p:nvSpPr>
        <p:spPr bwMode="auto">
          <a:xfrm>
            <a:off x="804863" y="3860347"/>
            <a:ext cx="17319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 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</a:t>
            </a:r>
            <a:r>
              <a:rPr lang="en-US" altLang="zh-CN" sz="28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βI</a:t>
            </a:r>
            <a:r>
              <a:rPr lang="en-US" altLang="zh-CN" sz="28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endParaRPr lang="en-US" altLang="zh-CN" sz="2800" b="1" baseline="-25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784225" y="4317547"/>
            <a:ext cx="3200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CC 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－ 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</a:p>
        </p:txBody>
      </p:sp>
      <p:grpSp>
        <p:nvGrpSpPr>
          <p:cNvPr id="40" name="Group 26"/>
          <p:cNvGrpSpPr>
            <a:grpSpLocks/>
          </p:cNvGrpSpPr>
          <p:nvPr/>
        </p:nvGrpSpPr>
        <p:grpSpPr bwMode="auto">
          <a:xfrm>
            <a:off x="3238500" y="3069774"/>
            <a:ext cx="1093788" cy="947738"/>
            <a:chOff x="5002" y="2412"/>
            <a:chExt cx="689" cy="597"/>
          </a:xfrm>
        </p:grpSpPr>
        <p:sp>
          <p:nvSpPr>
            <p:cNvPr id="41" name="Text Box 27"/>
            <p:cNvSpPr txBox="1">
              <a:spLocks noChangeArrowheads="1"/>
            </p:cNvSpPr>
            <p:nvPr/>
          </p:nvSpPr>
          <p:spPr bwMode="auto">
            <a:xfrm>
              <a:off x="5002" y="2566"/>
              <a:ext cx="239" cy="32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</a:t>
              </a:r>
              <a:endParaRPr lang="en-US" altLang="zh-CN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42" name="Group 28"/>
            <p:cNvGrpSpPr>
              <a:grpSpLocks/>
            </p:cNvGrpSpPr>
            <p:nvPr/>
          </p:nvGrpSpPr>
          <p:grpSpPr bwMode="auto">
            <a:xfrm>
              <a:off x="5209" y="2412"/>
              <a:ext cx="482" cy="597"/>
              <a:chOff x="5226" y="2412"/>
              <a:chExt cx="482" cy="597"/>
            </a:xfrm>
          </p:grpSpPr>
          <p:sp>
            <p:nvSpPr>
              <p:cNvPr id="43" name="Rectangle 29"/>
              <p:cNvSpPr>
                <a:spLocks noChangeArrowheads="1"/>
              </p:cNvSpPr>
              <p:nvPr/>
            </p:nvSpPr>
            <p:spPr bwMode="auto">
              <a:xfrm>
                <a:off x="5226" y="2412"/>
                <a:ext cx="482" cy="33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8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44" name="Line 30"/>
              <p:cNvSpPr>
                <a:spLocks noChangeShapeType="1"/>
              </p:cNvSpPr>
              <p:nvPr/>
            </p:nvSpPr>
            <p:spPr bwMode="auto">
              <a:xfrm>
                <a:off x="5242" y="2733"/>
                <a:ext cx="42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5" name="Rectangle 31"/>
              <p:cNvSpPr>
                <a:spLocks noChangeArrowheads="1"/>
              </p:cNvSpPr>
              <p:nvPr/>
            </p:nvSpPr>
            <p:spPr bwMode="auto">
              <a:xfrm>
                <a:off x="5296" y="2679"/>
                <a:ext cx="356" cy="33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</p:grpSp>
      </p:grpSp>
      <p:grpSp>
        <p:nvGrpSpPr>
          <p:cNvPr id="128" name="Group 18"/>
          <p:cNvGrpSpPr>
            <a:grpSpLocks/>
          </p:cNvGrpSpPr>
          <p:nvPr/>
        </p:nvGrpSpPr>
        <p:grpSpPr bwMode="auto">
          <a:xfrm>
            <a:off x="5264832" y="1217386"/>
            <a:ext cx="3284309" cy="2698784"/>
            <a:chOff x="1355" y="1096"/>
            <a:chExt cx="2065" cy="1694"/>
          </a:xfrm>
        </p:grpSpPr>
        <p:grpSp>
          <p:nvGrpSpPr>
            <p:cNvPr id="129" name="Group 19"/>
            <p:cNvGrpSpPr>
              <a:grpSpLocks/>
            </p:cNvGrpSpPr>
            <p:nvPr/>
          </p:nvGrpSpPr>
          <p:grpSpPr bwMode="auto">
            <a:xfrm>
              <a:off x="1703" y="1119"/>
              <a:ext cx="803" cy="1665"/>
              <a:chOff x="1703" y="1119"/>
              <a:chExt cx="803" cy="1665"/>
            </a:xfrm>
          </p:grpSpPr>
          <p:sp>
            <p:nvSpPr>
              <p:cNvPr id="149" name="Line 20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0" name="Line 21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1" name="Line 22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2" name="Line 23"/>
              <p:cNvSpPr>
                <a:spLocks noChangeShapeType="1"/>
              </p:cNvSpPr>
              <p:nvPr/>
            </p:nvSpPr>
            <p:spPr bwMode="auto">
              <a:xfrm>
                <a:off x="2282" y="2029"/>
                <a:ext cx="224" cy="159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3" name="Line 24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4" name="Line 25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30" name="Line 26"/>
            <p:cNvSpPr>
              <a:spLocks noChangeShapeType="1"/>
            </p:cNvSpPr>
            <p:nvPr/>
          </p:nvSpPr>
          <p:spPr bwMode="auto">
            <a:xfrm>
              <a:off x="1703" y="1120"/>
              <a:ext cx="1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1" name="Line 27"/>
            <p:cNvSpPr>
              <a:spLocks noChangeShapeType="1"/>
            </p:cNvSpPr>
            <p:nvPr/>
          </p:nvSpPr>
          <p:spPr bwMode="auto">
            <a:xfrm>
              <a:off x="1703" y="1119"/>
              <a:ext cx="0" cy="84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2" name="Line 28"/>
            <p:cNvSpPr>
              <a:spLocks noChangeShapeType="1"/>
            </p:cNvSpPr>
            <p:nvPr/>
          </p:nvSpPr>
          <p:spPr bwMode="auto">
            <a:xfrm>
              <a:off x="2330" y="2784"/>
              <a:ext cx="274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3" name="Oval 29"/>
            <p:cNvSpPr>
              <a:spLocks noChangeArrowheads="1"/>
            </p:cNvSpPr>
            <p:nvPr/>
          </p:nvSpPr>
          <p:spPr bwMode="auto">
            <a:xfrm>
              <a:off x="3133" y="1096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4" name="Rectangle 30"/>
            <p:cNvSpPr>
              <a:spLocks noChangeArrowheads="1"/>
            </p:cNvSpPr>
            <p:nvPr/>
          </p:nvSpPr>
          <p:spPr bwMode="auto">
            <a:xfrm>
              <a:off x="1651" y="1408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5" name="Rectangle 31"/>
            <p:cNvSpPr>
              <a:spLocks noChangeArrowheads="1"/>
            </p:cNvSpPr>
            <p:nvPr/>
          </p:nvSpPr>
          <p:spPr bwMode="auto">
            <a:xfrm>
              <a:off x="2436" y="1276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6" name="Line 32"/>
            <p:cNvSpPr>
              <a:spLocks noChangeShapeType="1"/>
            </p:cNvSpPr>
            <p:nvPr/>
          </p:nvSpPr>
          <p:spPr bwMode="auto">
            <a:xfrm>
              <a:off x="2604" y="1296"/>
              <a:ext cx="0" cy="38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7" name="Line 33"/>
            <p:cNvSpPr>
              <a:spLocks noChangeShapeType="1"/>
            </p:cNvSpPr>
            <p:nvPr/>
          </p:nvSpPr>
          <p:spPr bwMode="auto">
            <a:xfrm>
              <a:off x="1814" y="1886"/>
              <a:ext cx="317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8" name="Rectangle 34"/>
            <p:cNvSpPr>
              <a:spLocks noChangeArrowheads="1"/>
            </p:cNvSpPr>
            <p:nvPr/>
          </p:nvSpPr>
          <p:spPr bwMode="auto">
            <a:xfrm>
              <a:off x="1355" y="1358"/>
              <a:ext cx="320" cy="2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39" name="Rectangle 35"/>
            <p:cNvSpPr>
              <a:spLocks noChangeArrowheads="1"/>
            </p:cNvSpPr>
            <p:nvPr/>
          </p:nvSpPr>
          <p:spPr bwMode="auto">
            <a:xfrm>
              <a:off x="2085" y="1244"/>
              <a:ext cx="320" cy="2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40" name="Rectangle 36"/>
            <p:cNvSpPr>
              <a:spLocks noChangeArrowheads="1"/>
            </p:cNvSpPr>
            <p:nvPr/>
          </p:nvSpPr>
          <p:spPr bwMode="auto">
            <a:xfrm>
              <a:off x="2614" y="1276"/>
              <a:ext cx="266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41" name="Rectangle 37"/>
            <p:cNvSpPr>
              <a:spLocks noChangeArrowheads="1"/>
            </p:cNvSpPr>
            <p:nvPr/>
          </p:nvSpPr>
          <p:spPr bwMode="auto">
            <a:xfrm>
              <a:off x="1794" y="1542"/>
              <a:ext cx="266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42" name="Rectangle 38"/>
            <p:cNvSpPr>
              <a:spLocks noChangeArrowheads="1"/>
            </p:cNvSpPr>
            <p:nvPr/>
          </p:nvSpPr>
          <p:spPr bwMode="auto">
            <a:xfrm>
              <a:off x="2437" y="1946"/>
              <a:ext cx="420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1932" y="2096"/>
              <a:ext cx="420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144" name="Rectangle 40"/>
            <p:cNvSpPr>
              <a:spLocks noChangeArrowheads="1"/>
            </p:cNvSpPr>
            <p:nvPr/>
          </p:nvSpPr>
          <p:spPr bwMode="auto">
            <a:xfrm>
              <a:off x="1959" y="1922"/>
              <a:ext cx="232" cy="29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45" name="Rectangle 41"/>
            <p:cNvSpPr>
              <a:spLocks noChangeArrowheads="1"/>
            </p:cNvSpPr>
            <p:nvPr/>
          </p:nvSpPr>
          <p:spPr bwMode="auto">
            <a:xfrm>
              <a:off x="2215" y="2500"/>
              <a:ext cx="310" cy="29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46" name="Rectangle 42"/>
            <p:cNvSpPr>
              <a:spLocks noChangeArrowheads="1"/>
            </p:cNvSpPr>
            <p:nvPr/>
          </p:nvSpPr>
          <p:spPr bwMode="auto">
            <a:xfrm>
              <a:off x="2506" y="2500"/>
              <a:ext cx="265" cy="29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47" name="Rectangle 43"/>
            <p:cNvSpPr>
              <a:spLocks noChangeArrowheads="1"/>
            </p:cNvSpPr>
            <p:nvPr/>
          </p:nvSpPr>
          <p:spPr bwMode="auto">
            <a:xfrm>
              <a:off x="2506" y="1643"/>
              <a:ext cx="232" cy="29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48" name="Rectangle 44"/>
            <p:cNvSpPr>
              <a:spLocks noChangeArrowheads="1"/>
            </p:cNvSpPr>
            <p:nvPr/>
          </p:nvSpPr>
          <p:spPr bwMode="auto">
            <a:xfrm>
              <a:off x="2884" y="1120"/>
              <a:ext cx="536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</p:grpSp>
      <p:grpSp>
        <p:nvGrpSpPr>
          <p:cNvPr id="155" name="Group 19"/>
          <p:cNvGrpSpPr>
            <a:grpSpLocks/>
          </p:cNvGrpSpPr>
          <p:nvPr/>
        </p:nvGrpSpPr>
        <p:grpSpPr bwMode="auto">
          <a:xfrm>
            <a:off x="554718" y="820738"/>
            <a:ext cx="4768320" cy="2643187"/>
            <a:chOff x="965" y="932"/>
            <a:chExt cx="2712" cy="1964"/>
          </a:xfrm>
        </p:grpSpPr>
        <p:grpSp>
          <p:nvGrpSpPr>
            <p:cNvPr id="156" name="Group 20"/>
            <p:cNvGrpSpPr>
              <a:grpSpLocks/>
            </p:cNvGrpSpPr>
            <p:nvPr/>
          </p:nvGrpSpPr>
          <p:grpSpPr bwMode="auto">
            <a:xfrm>
              <a:off x="1703" y="1119"/>
              <a:ext cx="785" cy="1665"/>
              <a:chOff x="1703" y="1119"/>
              <a:chExt cx="785" cy="1665"/>
            </a:xfrm>
          </p:grpSpPr>
          <p:sp>
            <p:nvSpPr>
              <p:cNvPr id="199" name="Line 21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0" name="Line 22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1" name="Line 23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2" name="Line 24"/>
              <p:cNvSpPr>
                <a:spLocks noChangeShapeType="1"/>
              </p:cNvSpPr>
              <p:nvPr/>
            </p:nvSpPr>
            <p:spPr bwMode="auto">
              <a:xfrm>
                <a:off x="2282" y="2029"/>
                <a:ext cx="194" cy="147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3" name="Line 25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4" name="Line 26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57" name="Line 27"/>
            <p:cNvSpPr>
              <a:spLocks noChangeShapeType="1"/>
            </p:cNvSpPr>
            <p:nvPr/>
          </p:nvSpPr>
          <p:spPr bwMode="auto">
            <a:xfrm>
              <a:off x="1703" y="1120"/>
              <a:ext cx="1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Line 28"/>
            <p:cNvSpPr>
              <a:spLocks noChangeShapeType="1"/>
            </p:cNvSpPr>
            <p:nvPr/>
          </p:nvSpPr>
          <p:spPr bwMode="auto">
            <a:xfrm>
              <a:off x="1703" y="1119"/>
              <a:ext cx="0" cy="84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Oval 29"/>
            <p:cNvSpPr>
              <a:spLocks noChangeArrowheads="1"/>
            </p:cNvSpPr>
            <p:nvPr/>
          </p:nvSpPr>
          <p:spPr bwMode="auto">
            <a:xfrm>
              <a:off x="3133" y="109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Rectangle 30"/>
            <p:cNvSpPr>
              <a:spLocks noChangeArrowheads="1"/>
            </p:cNvSpPr>
            <p:nvPr/>
          </p:nvSpPr>
          <p:spPr bwMode="auto">
            <a:xfrm>
              <a:off x="1651" y="1408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Rectangle 31"/>
            <p:cNvSpPr>
              <a:spLocks noChangeArrowheads="1"/>
            </p:cNvSpPr>
            <p:nvPr/>
          </p:nvSpPr>
          <p:spPr bwMode="auto">
            <a:xfrm>
              <a:off x="2436" y="1276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2" name="Rectangle 32"/>
            <p:cNvSpPr>
              <a:spLocks noChangeArrowheads="1"/>
            </p:cNvSpPr>
            <p:nvPr/>
          </p:nvSpPr>
          <p:spPr bwMode="auto">
            <a:xfrm>
              <a:off x="1318" y="1196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63" name="Rectangle 33"/>
            <p:cNvSpPr>
              <a:spLocks noChangeArrowheads="1"/>
            </p:cNvSpPr>
            <p:nvPr/>
          </p:nvSpPr>
          <p:spPr bwMode="auto">
            <a:xfrm>
              <a:off x="2148" y="1217"/>
              <a:ext cx="289" cy="34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64" name="Rectangle 34"/>
            <p:cNvSpPr>
              <a:spLocks noChangeArrowheads="1"/>
            </p:cNvSpPr>
            <p:nvPr/>
          </p:nvSpPr>
          <p:spPr bwMode="auto">
            <a:xfrm>
              <a:off x="2459" y="1946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165" name="Rectangle 35"/>
            <p:cNvSpPr>
              <a:spLocks noChangeArrowheads="1"/>
            </p:cNvSpPr>
            <p:nvPr/>
          </p:nvSpPr>
          <p:spPr bwMode="auto">
            <a:xfrm>
              <a:off x="1953" y="2096"/>
              <a:ext cx="380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166" name="Rectangle 36"/>
            <p:cNvSpPr>
              <a:spLocks noChangeArrowheads="1"/>
            </p:cNvSpPr>
            <p:nvPr/>
          </p:nvSpPr>
          <p:spPr bwMode="auto">
            <a:xfrm>
              <a:off x="1980" y="1968"/>
              <a:ext cx="20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67" name="Rectangle 37"/>
            <p:cNvSpPr>
              <a:spLocks noChangeArrowheads="1"/>
            </p:cNvSpPr>
            <p:nvPr/>
          </p:nvSpPr>
          <p:spPr bwMode="auto">
            <a:xfrm>
              <a:off x="2253" y="2413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8" name="Rectangle 38"/>
            <p:cNvSpPr>
              <a:spLocks noChangeArrowheads="1"/>
            </p:cNvSpPr>
            <p:nvPr/>
          </p:nvSpPr>
          <p:spPr bwMode="auto">
            <a:xfrm>
              <a:off x="2544" y="2413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9" name="Rectangle 39"/>
            <p:cNvSpPr>
              <a:spLocks noChangeArrowheads="1"/>
            </p:cNvSpPr>
            <p:nvPr/>
          </p:nvSpPr>
          <p:spPr bwMode="auto">
            <a:xfrm>
              <a:off x="2528" y="1722"/>
              <a:ext cx="20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70" name="Rectangle 40"/>
            <p:cNvSpPr>
              <a:spLocks noChangeArrowheads="1"/>
            </p:cNvSpPr>
            <p:nvPr/>
          </p:nvSpPr>
          <p:spPr bwMode="auto">
            <a:xfrm>
              <a:off x="3192" y="932"/>
              <a:ext cx="485" cy="34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171" name="Line 41"/>
            <p:cNvSpPr>
              <a:spLocks noChangeShapeType="1"/>
            </p:cNvSpPr>
            <p:nvPr/>
          </p:nvSpPr>
          <p:spPr bwMode="auto">
            <a:xfrm>
              <a:off x="1115" y="2731"/>
              <a:ext cx="20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72" name="Group 42"/>
            <p:cNvGrpSpPr>
              <a:grpSpLocks/>
            </p:cNvGrpSpPr>
            <p:nvPr/>
          </p:nvGrpSpPr>
          <p:grpSpPr bwMode="auto">
            <a:xfrm>
              <a:off x="1355" y="1848"/>
              <a:ext cx="112" cy="224"/>
              <a:chOff x="5056" y="3342"/>
              <a:chExt cx="112" cy="224"/>
            </a:xfrm>
          </p:grpSpPr>
          <p:sp>
            <p:nvSpPr>
              <p:cNvPr id="197" name="Line 43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8" name="Line 44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73" name="Line 45"/>
            <p:cNvSpPr>
              <a:spLocks noChangeShapeType="1"/>
            </p:cNvSpPr>
            <p:nvPr/>
          </p:nvSpPr>
          <p:spPr bwMode="auto">
            <a:xfrm>
              <a:off x="1467" y="1961"/>
              <a:ext cx="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Line 46"/>
            <p:cNvSpPr>
              <a:spLocks noChangeShapeType="1"/>
            </p:cNvSpPr>
            <p:nvPr/>
          </p:nvSpPr>
          <p:spPr bwMode="auto">
            <a:xfrm>
              <a:off x="1115" y="1961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5" name="Line 47"/>
            <p:cNvSpPr>
              <a:spLocks noChangeShapeType="1"/>
            </p:cNvSpPr>
            <p:nvPr/>
          </p:nvSpPr>
          <p:spPr bwMode="auto">
            <a:xfrm>
              <a:off x="2476" y="1685"/>
              <a:ext cx="2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76" name="Group 48"/>
            <p:cNvGrpSpPr>
              <a:grpSpLocks/>
            </p:cNvGrpSpPr>
            <p:nvPr/>
          </p:nvGrpSpPr>
          <p:grpSpPr bwMode="auto">
            <a:xfrm>
              <a:off x="2723" y="1580"/>
              <a:ext cx="112" cy="224"/>
              <a:chOff x="5056" y="3342"/>
              <a:chExt cx="112" cy="224"/>
            </a:xfrm>
          </p:grpSpPr>
          <p:sp>
            <p:nvSpPr>
              <p:cNvPr id="195" name="Line 49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6" name="Line 50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77" name="Line 51"/>
            <p:cNvSpPr>
              <a:spLocks noChangeShapeType="1"/>
            </p:cNvSpPr>
            <p:nvPr/>
          </p:nvSpPr>
          <p:spPr bwMode="auto">
            <a:xfrm>
              <a:off x="2835" y="1676"/>
              <a:ext cx="2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8" name="Oval 52"/>
            <p:cNvSpPr>
              <a:spLocks noChangeArrowheads="1"/>
            </p:cNvSpPr>
            <p:nvPr/>
          </p:nvSpPr>
          <p:spPr bwMode="auto">
            <a:xfrm>
              <a:off x="3156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9" name="Oval 53"/>
            <p:cNvSpPr>
              <a:spLocks noChangeArrowheads="1"/>
            </p:cNvSpPr>
            <p:nvPr/>
          </p:nvSpPr>
          <p:spPr bwMode="auto">
            <a:xfrm>
              <a:off x="3108" y="1652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0" name="Oval 54"/>
            <p:cNvSpPr>
              <a:spLocks noChangeArrowheads="1"/>
            </p:cNvSpPr>
            <p:nvPr/>
          </p:nvSpPr>
          <p:spPr bwMode="auto">
            <a:xfrm>
              <a:off x="1091" y="2707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1" name="Oval 55"/>
            <p:cNvSpPr>
              <a:spLocks noChangeArrowheads="1"/>
            </p:cNvSpPr>
            <p:nvPr/>
          </p:nvSpPr>
          <p:spPr bwMode="auto">
            <a:xfrm>
              <a:off x="1067" y="1946"/>
              <a:ext cx="41" cy="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2" name="Oval 56"/>
            <p:cNvSpPr>
              <a:spLocks noChangeArrowheads="1"/>
            </p:cNvSpPr>
            <p:nvPr/>
          </p:nvSpPr>
          <p:spPr bwMode="auto">
            <a:xfrm>
              <a:off x="2452" y="2707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3" name="Line 57"/>
            <p:cNvSpPr>
              <a:spLocks noChangeShapeType="1"/>
            </p:cNvSpPr>
            <p:nvPr/>
          </p:nvSpPr>
          <p:spPr bwMode="auto">
            <a:xfrm>
              <a:off x="2476" y="2731"/>
              <a:ext cx="0" cy="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4" name="Line 58"/>
            <p:cNvSpPr>
              <a:spLocks noChangeShapeType="1"/>
            </p:cNvSpPr>
            <p:nvPr/>
          </p:nvSpPr>
          <p:spPr bwMode="auto">
            <a:xfrm>
              <a:off x="2403" y="2896"/>
              <a:ext cx="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5" name="Rectangle 59"/>
            <p:cNvSpPr>
              <a:spLocks noChangeArrowheads="1"/>
            </p:cNvSpPr>
            <p:nvPr/>
          </p:nvSpPr>
          <p:spPr bwMode="auto">
            <a:xfrm>
              <a:off x="1479" y="1676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86" name="Rectangle 60"/>
            <p:cNvSpPr>
              <a:spLocks noChangeArrowheads="1"/>
            </p:cNvSpPr>
            <p:nvPr/>
          </p:nvSpPr>
          <p:spPr bwMode="auto">
            <a:xfrm>
              <a:off x="2533" y="1421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87" name="Text Box 61"/>
            <p:cNvSpPr txBox="1">
              <a:spLocks noChangeArrowheads="1"/>
            </p:cNvSpPr>
            <p:nvPr/>
          </p:nvSpPr>
          <p:spPr bwMode="auto">
            <a:xfrm>
              <a:off x="1178" y="153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88" name="Text Box 62"/>
            <p:cNvSpPr txBox="1">
              <a:spLocks noChangeArrowheads="1"/>
            </p:cNvSpPr>
            <p:nvPr/>
          </p:nvSpPr>
          <p:spPr bwMode="auto">
            <a:xfrm>
              <a:off x="2658" y="1276"/>
              <a:ext cx="354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89" name="Rectangle 63"/>
            <p:cNvSpPr>
              <a:spLocks noChangeArrowheads="1"/>
            </p:cNvSpPr>
            <p:nvPr/>
          </p:nvSpPr>
          <p:spPr bwMode="auto">
            <a:xfrm>
              <a:off x="1021" y="1959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90" name="Rectangle 64"/>
            <p:cNvSpPr>
              <a:spLocks noChangeArrowheads="1"/>
            </p:cNvSpPr>
            <p:nvPr/>
          </p:nvSpPr>
          <p:spPr bwMode="auto">
            <a:xfrm>
              <a:off x="1018" y="2378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1" name="Rectangle 65"/>
            <p:cNvSpPr>
              <a:spLocks noChangeArrowheads="1"/>
            </p:cNvSpPr>
            <p:nvPr/>
          </p:nvSpPr>
          <p:spPr bwMode="auto">
            <a:xfrm>
              <a:off x="965" y="2071"/>
              <a:ext cx="225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i</a:t>
              </a:r>
            </a:p>
          </p:txBody>
        </p:sp>
        <p:sp>
          <p:nvSpPr>
            <p:cNvPr id="192" name="Rectangle 66"/>
            <p:cNvSpPr>
              <a:spLocks noChangeArrowheads="1"/>
            </p:cNvSpPr>
            <p:nvPr/>
          </p:nvSpPr>
          <p:spPr bwMode="auto">
            <a:xfrm>
              <a:off x="3034" y="1722"/>
              <a:ext cx="203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93" name="Rectangle 67"/>
            <p:cNvSpPr>
              <a:spLocks noChangeArrowheads="1"/>
            </p:cNvSpPr>
            <p:nvPr/>
          </p:nvSpPr>
          <p:spPr bwMode="auto">
            <a:xfrm>
              <a:off x="3026" y="2375"/>
              <a:ext cx="163" cy="34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" name="Rectangle 68"/>
            <p:cNvSpPr>
              <a:spLocks noChangeArrowheads="1"/>
            </p:cNvSpPr>
            <p:nvPr/>
          </p:nvSpPr>
          <p:spPr bwMode="auto">
            <a:xfrm>
              <a:off x="3023" y="1908"/>
              <a:ext cx="251" cy="34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205" name="AutoShape 10"/>
          <p:cNvSpPr>
            <a:spLocks/>
          </p:cNvSpPr>
          <p:nvPr/>
        </p:nvSpPr>
        <p:spPr bwMode="auto">
          <a:xfrm>
            <a:off x="955676" y="1387929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4" presetClass="entr" presetSubtype="1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29" grpId="0" animBg="1" autoUpdateAnimBg="0"/>
      <p:bldP spid="30" grpId="0" autoUpdateAnimBg="0"/>
      <p:bldP spid="31" grpId="0" autoUpdateAnimBg="0"/>
      <p:bldP spid="33" grpId="0" animBg="1"/>
      <p:bldP spid="38" grpId="0" autoUpdateAnimBg="0"/>
      <p:bldP spid="39" grpId="0" autoUpdateAnimBg="0"/>
      <p:bldP spid="20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501650" y="192541"/>
            <a:ext cx="24225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静态图解法</a:t>
            </a:r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3740604" y="359230"/>
            <a:ext cx="3629025" cy="554038"/>
            <a:chOff x="2780" y="427"/>
            <a:chExt cx="2286" cy="349"/>
          </a:xfrm>
        </p:grpSpPr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2780" y="427"/>
              <a:ext cx="228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输入回路静态图解：</a:t>
              </a: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2835" y="776"/>
              <a:ext cx="19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3598636" y="4016148"/>
            <a:ext cx="901700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输入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4727349" y="4092347"/>
            <a:ext cx="1379537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放大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6484938" y="3937907"/>
            <a:ext cx="901700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输出</a:t>
            </a:r>
          </a:p>
        </p:txBody>
      </p:sp>
      <p:sp>
        <p:nvSpPr>
          <p:cNvPr id="37" name="Line 40"/>
          <p:cNvSpPr>
            <a:spLocks noChangeShapeType="1"/>
          </p:cNvSpPr>
          <p:nvPr/>
        </p:nvSpPr>
        <p:spPr bwMode="auto">
          <a:xfrm flipH="1">
            <a:off x="4512129" y="2319337"/>
            <a:ext cx="3175" cy="1760538"/>
          </a:xfrm>
          <a:prstGeom prst="line">
            <a:avLst/>
          </a:prstGeom>
          <a:noFill/>
          <a:ln w="25400">
            <a:solidFill>
              <a:srgbClr val="00B0F0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8" name="Line 41"/>
          <p:cNvSpPr>
            <a:spLocks noChangeShapeType="1"/>
          </p:cNvSpPr>
          <p:nvPr/>
        </p:nvSpPr>
        <p:spPr bwMode="auto">
          <a:xfrm>
            <a:off x="6091692" y="1187450"/>
            <a:ext cx="0" cy="2890837"/>
          </a:xfrm>
          <a:prstGeom prst="line">
            <a:avLst/>
          </a:prstGeom>
          <a:noFill/>
          <a:ln w="25400">
            <a:solidFill>
              <a:srgbClr val="00B0F0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9" name="AutoShape 42"/>
          <p:cNvSpPr>
            <a:spLocks noChangeArrowheads="1"/>
          </p:cNvSpPr>
          <p:nvPr/>
        </p:nvSpPr>
        <p:spPr bwMode="auto">
          <a:xfrm>
            <a:off x="3039382" y="2115683"/>
            <a:ext cx="976313" cy="368300"/>
          </a:xfrm>
          <a:prstGeom prst="notchedRightArrow">
            <a:avLst>
              <a:gd name="adj1" fmla="val 50000"/>
              <a:gd name="adj2" fmla="val 66272"/>
            </a:avLst>
          </a:prstGeom>
          <a:solidFill>
            <a:srgbClr val="FFFF0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67" name="Group 70"/>
          <p:cNvGrpSpPr>
            <a:grpSpLocks/>
          </p:cNvGrpSpPr>
          <p:nvPr/>
        </p:nvGrpSpPr>
        <p:grpSpPr bwMode="auto">
          <a:xfrm>
            <a:off x="3431042" y="1303337"/>
            <a:ext cx="3711576" cy="2781300"/>
            <a:chOff x="1523" y="1100"/>
            <a:chExt cx="2338" cy="1752"/>
          </a:xfrm>
        </p:grpSpPr>
        <p:grpSp>
          <p:nvGrpSpPr>
            <p:cNvPr id="68" name="Group 71"/>
            <p:cNvGrpSpPr>
              <a:grpSpLocks/>
            </p:cNvGrpSpPr>
            <p:nvPr/>
          </p:nvGrpSpPr>
          <p:grpSpPr bwMode="auto">
            <a:xfrm>
              <a:off x="1523" y="1100"/>
              <a:ext cx="2338" cy="1684"/>
              <a:chOff x="1523" y="1100"/>
              <a:chExt cx="2338" cy="1684"/>
            </a:xfrm>
          </p:grpSpPr>
          <p:sp>
            <p:nvSpPr>
              <p:cNvPr id="71" name="Text Box 72"/>
              <p:cNvSpPr txBox="1">
                <a:spLocks noChangeArrowheads="1"/>
              </p:cNvSpPr>
              <p:nvPr/>
            </p:nvSpPr>
            <p:spPr bwMode="auto">
              <a:xfrm>
                <a:off x="1523" y="2407"/>
                <a:ext cx="428" cy="29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CC</a:t>
                </a:r>
              </a:p>
            </p:txBody>
          </p:sp>
          <p:grpSp>
            <p:nvGrpSpPr>
              <p:cNvPr id="72" name="Group 73"/>
              <p:cNvGrpSpPr>
                <a:grpSpLocks/>
              </p:cNvGrpSpPr>
              <p:nvPr/>
            </p:nvGrpSpPr>
            <p:grpSpPr bwMode="auto">
              <a:xfrm>
                <a:off x="1616" y="1100"/>
                <a:ext cx="2245" cy="1684"/>
                <a:chOff x="1616" y="1100"/>
                <a:chExt cx="2245" cy="1684"/>
              </a:xfrm>
            </p:grpSpPr>
            <p:sp>
              <p:nvSpPr>
                <p:cNvPr id="73" name="Rectangle 74"/>
                <p:cNvSpPr>
                  <a:spLocks noChangeArrowheads="1"/>
                </p:cNvSpPr>
                <p:nvPr/>
              </p:nvSpPr>
              <p:spPr bwMode="auto">
                <a:xfrm>
                  <a:off x="3433" y="2329"/>
                  <a:ext cx="428" cy="2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CC</a:t>
                  </a:r>
                </a:p>
              </p:txBody>
            </p:sp>
            <p:sp>
              <p:nvSpPr>
                <p:cNvPr id="74" name="Rectangle 75"/>
                <p:cNvSpPr>
                  <a:spLocks noChangeArrowheads="1"/>
                </p:cNvSpPr>
                <p:nvPr/>
              </p:nvSpPr>
              <p:spPr bwMode="auto">
                <a:xfrm>
                  <a:off x="2742" y="1906"/>
                  <a:ext cx="421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CE</a:t>
                  </a:r>
                </a:p>
              </p:txBody>
            </p:sp>
            <p:sp>
              <p:nvSpPr>
                <p:cNvPr id="75" name="Rectangle 76"/>
                <p:cNvSpPr>
                  <a:spLocks noChangeArrowheads="1"/>
                </p:cNvSpPr>
                <p:nvPr/>
              </p:nvSpPr>
              <p:spPr bwMode="auto">
                <a:xfrm>
                  <a:off x="2850" y="1286"/>
                  <a:ext cx="267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24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C</a:t>
                  </a:r>
                </a:p>
              </p:txBody>
            </p:sp>
            <p:sp>
              <p:nvSpPr>
                <p:cNvPr id="76" name="Rectangle 77"/>
                <p:cNvSpPr>
                  <a:spLocks noChangeArrowheads="1"/>
                </p:cNvSpPr>
                <p:nvPr/>
              </p:nvSpPr>
              <p:spPr bwMode="auto">
                <a:xfrm>
                  <a:off x="2837" y="1586"/>
                  <a:ext cx="225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+</a:t>
                  </a:r>
                </a:p>
              </p:txBody>
            </p:sp>
            <p:sp>
              <p:nvSpPr>
                <p:cNvPr id="77" name="Rectangle 78"/>
                <p:cNvSpPr>
                  <a:spLocks noChangeArrowheads="1"/>
                </p:cNvSpPr>
                <p:nvPr/>
              </p:nvSpPr>
              <p:spPr bwMode="auto">
                <a:xfrm>
                  <a:off x="2795" y="2252"/>
                  <a:ext cx="310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－</a:t>
                  </a:r>
                </a:p>
              </p:txBody>
            </p:sp>
            <p:grpSp>
              <p:nvGrpSpPr>
                <p:cNvPr id="78" name="Group 79"/>
                <p:cNvGrpSpPr>
                  <a:grpSpLocks/>
                </p:cNvGrpSpPr>
                <p:nvPr/>
              </p:nvGrpSpPr>
              <p:grpSpPr bwMode="auto">
                <a:xfrm>
                  <a:off x="1910" y="1614"/>
                  <a:ext cx="511" cy="346"/>
                  <a:chOff x="343" y="1488"/>
                  <a:chExt cx="511" cy="346"/>
                </a:xfrm>
              </p:grpSpPr>
              <p:sp>
                <p:nvSpPr>
                  <p:cNvPr id="116" name="Text Box 8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3" y="1488"/>
                    <a:ext cx="511" cy="21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zh-CN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7" name="Line 81"/>
                  <p:cNvSpPr>
                    <a:spLocks noChangeShapeType="1"/>
                  </p:cNvSpPr>
                  <p:nvPr/>
                </p:nvSpPr>
                <p:spPr bwMode="auto">
                  <a:xfrm>
                    <a:off x="489" y="1834"/>
                    <a:ext cx="365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C00000"/>
                    </a:solidFill>
                    <a:round/>
                    <a:headEnd/>
                    <a:tailEnd type="triangle" w="med" len="lg"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79" name="Rectangle 82"/>
                <p:cNvSpPr>
                  <a:spLocks noChangeArrowheads="1"/>
                </p:cNvSpPr>
                <p:nvPr/>
              </p:nvSpPr>
              <p:spPr bwMode="auto">
                <a:xfrm>
                  <a:off x="2206" y="1612"/>
                  <a:ext cx="267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B</a:t>
                  </a:r>
                </a:p>
              </p:txBody>
            </p:sp>
            <p:grpSp>
              <p:nvGrpSpPr>
                <p:cNvPr id="80" name="Group 83"/>
                <p:cNvGrpSpPr>
                  <a:grpSpLocks/>
                </p:cNvGrpSpPr>
                <p:nvPr/>
              </p:nvGrpSpPr>
              <p:grpSpPr bwMode="auto">
                <a:xfrm rot="5400000">
                  <a:off x="2746" y="1185"/>
                  <a:ext cx="514" cy="343"/>
                  <a:chOff x="340" y="1489"/>
                  <a:chExt cx="514" cy="343"/>
                </a:xfrm>
              </p:grpSpPr>
              <p:sp>
                <p:nvSpPr>
                  <p:cNvPr id="114" name="Text Box 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0" y="1489"/>
                    <a:ext cx="271" cy="21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10800000" vert="eaVert">
                    <a:spAutoFit/>
                  </a:bodyPr>
                  <a:lstStyle/>
                  <a:p>
                    <a:endParaRPr lang="zh-CN" altLang="zh-CN" sz="2400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5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489" y="1832"/>
                    <a:ext cx="365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C00000"/>
                    </a:solidFill>
                    <a:round/>
                    <a:headEnd/>
                    <a:tailEnd type="triangle" w="med" len="lg"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81" name="Rectangle 86"/>
                <p:cNvSpPr>
                  <a:spLocks noChangeArrowheads="1"/>
                </p:cNvSpPr>
                <p:nvPr/>
              </p:nvSpPr>
              <p:spPr bwMode="auto">
                <a:xfrm>
                  <a:off x="2287" y="2228"/>
                  <a:ext cx="421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24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BE</a:t>
                  </a:r>
                </a:p>
              </p:txBody>
            </p:sp>
            <p:sp>
              <p:nvSpPr>
                <p:cNvPr id="82" name="Rectangle 87"/>
                <p:cNvSpPr>
                  <a:spLocks noChangeArrowheads="1"/>
                </p:cNvSpPr>
                <p:nvPr/>
              </p:nvSpPr>
              <p:spPr bwMode="auto">
                <a:xfrm>
                  <a:off x="2287" y="2007"/>
                  <a:ext cx="225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+</a:t>
                  </a:r>
                </a:p>
              </p:txBody>
            </p:sp>
            <p:sp>
              <p:nvSpPr>
                <p:cNvPr id="83" name="Line 88"/>
                <p:cNvSpPr>
                  <a:spLocks noChangeShapeType="1"/>
                </p:cNvSpPr>
                <p:nvPr/>
              </p:nvSpPr>
              <p:spPr bwMode="auto">
                <a:xfrm>
                  <a:off x="1950" y="2007"/>
                  <a:ext cx="0" cy="44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4" name="Line 89"/>
                <p:cNvSpPr>
                  <a:spLocks noChangeShapeType="1"/>
                </p:cNvSpPr>
                <p:nvPr/>
              </p:nvSpPr>
              <p:spPr bwMode="auto">
                <a:xfrm>
                  <a:off x="1950" y="2448"/>
                  <a:ext cx="0" cy="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grpSp>
              <p:nvGrpSpPr>
                <p:cNvPr id="85" name="Group 90"/>
                <p:cNvGrpSpPr>
                  <a:grpSpLocks/>
                </p:cNvGrpSpPr>
                <p:nvPr/>
              </p:nvGrpSpPr>
              <p:grpSpPr bwMode="auto">
                <a:xfrm>
                  <a:off x="1876" y="2448"/>
                  <a:ext cx="160" cy="43"/>
                  <a:chOff x="3532" y="3763"/>
                  <a:chExt cx="173" cy="43"/>
                </a:xfrm>
              </p:grpSpPr>
              <p:sp>
                <p:nvSpPr>
                  <p:cNvPr id="112" name="Line 91"/>
                  <p:cNvSpPr>
                    <a:spLocks noChangeShapeType="1"/>
                  </p:cNvSpPr>
                  <p:nvPr/>
                </p:nvSpPr>
                <p:spPr bwMode="auto">
                  <a:xfrm>
                    <a:off x="3532" y="3763"/>
                    <a:ext cx="173" cy="0"/>
                  </a:xfrm>
                  <a:prstGeom prst="line">
                    <a:avLst/>
                  </a:prstGeom>
                  <a:noFill/>
                  <a:ln w="349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3" name="Line 92"/>
                  <p:cNvSpPr>
                    <a:spLocks noChangeShapeType="1"/>
                  </p:cNvSpPr>
                  <p:nvPr/>
                </p:nvSpPr>
                <p:spPr bwMode="auto">
                  <a:xfrm>
                    <a:off x="3571" y="3806"/>
                    <a:ext cx="92" cy="0"/>
                  </a:xfrm>
                  <a:prstGeom prst="line">
                    <a:avLst/>
                  </a:prstGeom>
                  <a:noFill/>
                  <a:ln w="349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86" name="Line 93"/>
                <p:cNvSpPr>
                  <a:spLocks noChangeShapeType="1"/>
                </p:cNvSpPr>
                <p:nvPr/>
              </p:nvSpPr>
              <p:spPr bwMode="auto">
                <a:xfrm>
                  <a:off x="1950" y="2484"/>
                  <a:ext cx="0" cy="27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7" name="Line 94"/>
                <p:cNvSpPr>
                  <a:spLocks noChangeShapeType="1"/>
                </p:cNvSpPr>
                <p:nvPr/>
              </p:nvSpPr>
              <p:spPr bwMode="auto">
                <a:xfrm>
                  <a:off x="1950" y="2746"/>
                  <a:ext cx="755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8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1616" y="2038"/>
                  <a:ext cx="320" cy="2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B</a:t>
                  </a:r>
                </a:p>
              </p:txBody>
            </p:sp>
            <p:sp>
              <p:nvSpPr>
                <p:cNvPr id="89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2050" y="1698"/>
                  <a:ext cx="116" cy="213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0" name="Line 97"/>
                <p:cNvSpPr>
                  <a:spLocks noChangeShapeType="1"/>
                </p:cNvSpPr>
                <p:nvPr/>
              </p:nvSpPr>
              <p:spPr bwMode="auto">
                <a:xfrm>
                  <a:off x="3502" y="1125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1" name="Line 98"/>
                <p:cNvSpPr>
                  <a:spLocks noChangeShapeType="1"/>
                </p:cNvSpPr>
                <p:nvPr/>
              </p:nvSpPr>
              <p:spPr bwMode="auto">
                <a:xfrm>
                  <a:off x="3451" y="1120"/>
                  <a:ext cx="0" cy="122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grpSp>
              <p:nvGrpSpPr>
                <p:cNvPr id="92" name="Group 99"/>
                <p:cNvGrpSpPr>
                  <a:grpSpLocks/>
                </p:cNvGrpSpPr>
                <p:nvPr/>
              </p:nvGrpSpPr>
              <p:grpSpPr bwMode="auto">
                <a:xfrm>
                  <a:off x="3368" y="2340"/>
                  <a:ext cx="165" cy="43"/>
                  <a:chOff x="3522" y="4950"/>
                  <a:chExt cx="173" cy="43"/>
                </a:xfrm>
              </p:grpSpPr>
              <p:sp>
                <p:nvSpPr>
                  <p:cNvPr id="110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3522" y="4950"/>
                    <a:ext cx="173" cy="0"/>
                  </a:xfrm>
                  <a:prstGeom prst="line">
                    <a:avLst/>
                  </a:prstGeom>
                  <a:noFill/>
                  <a:ln w="349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1" name="Line 101"/>
                  <p:cNvSpPr>
                    <a:spLocks noChangeShapeType="1"/>
                  </p:cNvSpPr>
                  <p:nvPr/>
                </p:nvSpPr>
                <p:spPr bwMode="auto">
                  <a:xfrm>
                    <a:off x="3556" y="4993"/>
                    <a:ext cx="92" cy="0"/>
                  </a:xfrm>
                  <a:prstGeom prst="line">
                    <a:avLst/>
                  </a:prstGeom>
                  <a:noFill/>
                  <a:ln w="349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93" name="Line 102"/>
                <p:cNvSpPr>
                  <a:spLocks noChangeShapeType="1"/>
                </p:cNvSpPr>
                <p:nvPr/>
              </p:nvSpPr>
              <p:spPr bwMode="auto">
                <a:xfrm>
                  <a:off x="3449" y="2379"/>
                  <a:ext cx="0" cy="378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4" name="Line 103"/>
                <p:cNvSpPr>
                  <a:spLocks noChangeShapeType="1"/>
                </p:cNvSpPr>
                <p:nvPr/>
              </p:nvSpPr>
              <p:spPr bwMode="auto">
                <a:xfrm>
                  <a:off x="2705" y="2754"/>
                  <a:ext cx="746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5" name="Rectangle 104"/>
                <p:cNvSpPr>
                  <a:spLocks noChangeArrowheads="1"/>
                </p:cNvSpPr>
                <p:nvPr/>
              </p:nvSpPr>
              <p:spPr bwMode="auto">
                <a:xfrm>
                  <a:off x="3457" y="1440"/>
                  <a:ext cx="320" cy="2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C</a:t>
                  </a:r>
                </a:p>
              </p:txBody>
            </p:sp>
            <p:sp>
              <p:nvSpPr>
                <p:cNvPr id="96" name="Rectangle 105"/>
                <p:cNvSpPr>
                  <a:spLocks noChangeArrowheads="1"/>
                </p:cNvSpPr>
                <p:nvPr/>
              </p:nvSpPr>
              <p:spPr bwMode="auto">
                <a:xfrm>
                  <a:off x="3396" y="1636"/>
                  <a:ext cx="109" cy="273"/>
                </a:xfrm>
                <a:prstGeom prst="rect">
                  <a:avLst/>
                </a:prstGeom>
                <a:gradFill rotWithShape="1">
                  <a:gsLst>
                    <a:gs pos="0">
                      <a:srgbClr val="746644"/>
                    </a:gs>
                    <a:gs pos="50000">
                      <a:srgbClr val="FADD94"/>
                    </a:gs>
                    <a:gs pos="100000">
                      <a:srgbClr val="746644"/>
                    </a:gs>
                  </a:gsLst>
                  <a:lin ang="0" scaled="1"/>
                </a:gradFill>
                <a:ln w="44450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7" name="Rectangle 106"/>
                <p:cNvSpPr>
                  <a:spLocks noChangeArrowheads="1"/>
                </p:cNvSpPr>
                <p:nvPr/>
              </p:nvSpPr>
              <p:spPr bwMode="auto">
                <a:xfrm>
                  <a:off x="1908" y="2097"/>
                  <a:ext cx="95" cy="273"/>
                </a:xfrm>
                <a:prstGeom prst="rect">
                  <a:avLst/>
                </a:prstGeom>
                <a:gradFill rotWithShape="1">
                  <a:gsLst>
                    <a:gs pos="0">
                      <a:srgbClr val="746644"/>
                    </a:gs>
                    <a:gs pos="50000">
                      <a:srgbClr val="FADD94"/>
                    </a:gs>
                    <a:gs pos="100000">
                      <a:srgbClr val="746644"/>
                    </a:gs>
                  </a:gsLst>
                  <a:lin ang="0" scaled="1"/>
                </a:gradFill>
                <a:ln w="44450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8" name="Line 107"/>
                <p:cNvSpPr>
                  <a:spLocks noChangeShapeType="1"/>
                </p:cNvSpPr>
                <p:nvPr/>
              </p:nvSpPr>
              <p:spPr bwMode="auto">
                <a:xfrm>
                  <a:off x="1944" y="2010"/>
                  <a:ext cx="268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9" name="Line 108"/>
                <p:cNvSpPr>
                  <a:spLocks noChangeShapeType="1"/>
                </p:cNvSpPr>
                <p:nvPr/>
              </p:nvSpPr>
              <p:spPr bwMode="auto">
                <a:xfrm>
                  <a:off x="2716" y="2194"/>
                  <a:ext cx="0" cy="56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0" name="Line 109"/>
                <p:cNvSpPr>
                  <a:spLocks noChangeShapeType="1"/>
                </p:cNvSpPr>
                <p:nvPr/>
              </p:nvSpPr>
              <p:spPr bwMode="auto">
                <a:xfrm>
                  <a:off x="2742" y="1125"/>
                  <a:ext cx="709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1" name="Line 110"/>
                <p:cNvSpPr>
                  <a:spLocks noChangeShapeType="1"/>
                </p:cNvSpPr>
                <p:nvPr/>
              </p:nvSpPr>
              <p:spPr bwMode="auto">
                <a:xfrm>
                  <a:off x="2742" y="1125"/>
                  <a:ext cx="0" cy="659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grpSp>
              <p:nvGrpSpPr>
                <p:cNvPr id="102" name="Group 111"/>
                <p:cNvGrpSpPr>
                  <a:grpSpLocks/>
                </p:cNvGrpSpPr>
                <p:nvPr/>
              </p:nvGrpSpPr>
              <p:grpSpPr bwMode="auto">
                <a:xfrm>
                  <a:off x="2206" y="1771"/>
                  <a:ext cx="524" cy="440"/>
                  <a:chOff x="4341" y="2639"/>
                  <a:chExt cx="564" cy="440"/>
                </a:xfrm>
              </p:grpSpPr>
              <p:sp>
                <p:nvSpPr>
                  <p:cNvPr id="106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4341" y="2877"/>
                    <a:ext cx="336" cy="0"/>
                  </a:xfrm>
                  <a:prstGeom prst="line">
                    <a:avLst/>
                  </a:prstGeom>
                  <a:noFill/>
                  <a:ln w="444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7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4681" y="2684"/>
                    <a:ext cx="1" cy="385"/>
                  </a:xfrm>
                  <a:prstGeom prst="line">
                    <a:avLst/>
                  </a:prstGeom>
                  <a:noFill/>
                  <a:ln w="444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8" name="Line 11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1" y="2639"/>
                    <a:ext cx="224" cy="163"/>
                  </a:xfrm>
                  <a:prstGeom prst="line">
                    <a:avLst/>
                  </a:prstGeom>
                  <a:noFill/>
                  <a:ln w="412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9" name="Line 115"/>
                  <p:cNvSpPr>
                    <a:spLocks noChangeShapeType="1"/>
                  </p:cNvSpPr>
                  <p:nvPr/>
                </p:nvSpPr>
                <p:spPr bwMode="auto">
                  <a:xfrm>
                    <a:off x="4698" y="2945"/>
                    <a:ext cx="200" cy="134"/>
                  </a:xfrm>
                  <a:prstGeom prst="line">
                    <a:avLst/>
                  </a:prstGeom>
                  <a:noFill/>
                  <a:ln w="44450">
                    <a:solidFill>
                      <a:schemeClr val="tx1"/>
                    </a:solidFill>
                    <a:round/>
                    <a:headEnd/>
                    <a:tailEnd type="triangle" w="sm" len="lg"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103" name="Oval 116"/>
                <p:cNvSpPr>
                  <a:spLocks noChangeArrowheads="1"/>
                </p:cNvSpPr>
                <p:nvPr/>
              </p:nvSpPr>
              <p:spPr bwMode="auto">
                <a:xfrm flipV="1">
                  <a:off x="2667" y="2708"/>
                  <a:ext cx="75" cy="76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4" name="Text Box 117"/>
                <p:cNvSpPr txBox="1">
                  <a:spLocks noChangeArrowheads="1"/>
                </p:cNvSpPr>
                <p:nvPr/>
              </p:nvSpPr>
              <p:spPr bwMode="auto">
                <a:xfrm>
                  <a:off x="2755" y="2263"/>
                  <a:ext cx="44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endParaRPr lang="zh-CN" altLang="zh-CN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5" name="Rectangle 118"/>
                <p:cNvSpPr>
                  <a:spLocks noChangeArrowheads="1"/>
                </p:cNvSpPr>
                <p:nvPr/>
              </p:nvSpPr>
              <p:spPr bwMode="auto">
                <a:xfrm>
                  <a:off x="2416" y="2437"/>
                  <a:ext cx="310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－</a:t>
                  </a:r>
                </a:p>
              </p:txBody>
            </p:sp>
          </p:grpSp>
        </p:grpSp>
        <p:sp>
          <p:nvSpPr>
            <p:cNvPr id="69" name="Line 119"/>
            <p:cNvSpPr>
              <a:spLocks noChangeShapeType="1"/>
            </p:cNvSpPr>
            <p:nvPr/>
          </p:nvSpPr>
          <p:spPr bwMode="auto">
            <a:xfrm>
              <a:off x="2705" y="2739"/>
              <a:ext cx="0" cy="11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Line 120"/>
            <p:cNvSpPr>
              <a:spLocks noChangeShapeType="1"/>
            </p:cNvSpPr>
            <p:nvPr/>
          </p:nvSpPr>
          <p:spPr bwMode="auto">
            <a:xfrm>
              <a:off x="2634" y="2852"/>
              <a:ext cx="145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22" name="Group 18"/>
          <p:cNvGrpSpPr>
            <a:grpSpLocks/>
          </p:cNvGrpSpPr>
          <p:nvPr/>
        </p:nvGrpSpPr>
        <p:grpSpPr bwMode="auto">
          <a:xfrm>
            <a:off x="533400" y="1315358"/>
            <a:ext cx="3284309" cy="2698784"/>
            <a:chOff x="1355" y="1096"/>
            <a:chExt cx="2065" cy="1694"/>
          </a:xfrm>
        </p:grpSpPr>
        <p:grpSp>
          <p:nvGrpSpPr>
            <p:cNvPr id="123" name="Group 19"/>
            <p:cNvGrpSpPr>
              <a:grpSpLocks/>
            </p:cNvGrpSpPr>
            <p:nvPr/>
          </p:nvGrpSpPr>
          <p:grpSpPr bwMode="auto">
            <a:xfrm>
              <a:off x="1703" y="1119"/>
              <a:ext cx="785" cy="1665"/>
              <a:chOff x="1703" y="1119"/>
              <a:chExt cx="785" cy="1665"/>
            </a:xfrm>
          </p:grpSpPr>
          <p:sp>
            <p:nvSpPr>
              <p:cNvPr id="143" name="Line 20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4" name="Line 21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5" name="Line 22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6" name="Line 23"/>
              <p:cNvSpPr>
                <a:spLocks noChangeShapeType="1"/>
              </p:cNvSpPr>
              <p:nvPr/>
            </p:nvSpPr>
            <p:spPr bwMode="auto">
              <a:xfrm>
                <a:off x="2282" y="2029"/>
                <a:ext cx="196" cy="14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7" name="Line 24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8" name="Line 25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24" name="Line 26"/>
            <p:cNvSpPr>
              <a:spLocks noChangeShapeType="1"/>
            </p:cNvSpPr>
            <p:nvPr/>
          </p:nvSpPr>
          <p:spPr bwMode="auto">
            <a:xfrm>
              <a:off x="1703" y="1120"/>
              <a:ext cx="1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5" name="Line 27"/>
            <p:cNvSpPr>
              <a:spLocks noChangeShapeType="1"/>
            </p:cNvSpPr>
            <p:nvPr/>
          </p:nvSpPr>
          <p:spPr bwMode="auto">
            <a:xfrm>
              <a:off x="1703" y="1119"/>
              <a:ext cx="0" cy="84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6" name="Line 28"/>
            <p:cNvSpPr>
              <a:spLocks noChangeShapeType="1"/>
            </p:cNvSpPr>
            <p:nvPr/>
          </p:nvSpPr>
          <p:spPr bwMode="auto">
            <a:xfrm>
              <a:off x="2330" y="2784"/>
              <a:ext cx="274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7" name="Oval 29"/>
            <p:cNvSpPr>
              <a:spLocks noChangeArrowheads="1"/>
            </p:cNvSpPr>
            <p:nvPr/>
          </p:nvSpPr>
          <p:spPr bwMode="auto">
            <a:xfrm>
              <a:off x="3133" y="1096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8" name="Rectangle 30"/>
            <p:cNvSpPr>
              <a:spLocks noChangeArrowheads="1"/>
            </p:cNvSpPr>
            <p:nvPr/>
          </p:nvSpPr>
          <p:spPr bwMode="auto">
            <a:xfrm>
              <a:off x="1651" y="1408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9" name="Rectangle 31"/>
            <p:cNvSpPr>
              <a:spLocks noChangeArrowheads="1"/>
            </p:cNvSpPr>
            <p:nvPr/>
          </p:nvSpPr>
          <p:spPr bwMode="auto">
            <a:xfrm>
              <a:off x="2436" y="1276"/>
              <a:ext cx="103" cy="26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0" name="Line 32"/>
            <p:cNvSpPr>
              <a:spLocks noChangeShapeType="1"/>
            </p:cNvSpPr>
            <p:nvPr/>
          </p:nvSpPr>
          <p:spPr bwMode="auto">
            <a:xfrm>
              <a:off x="2604" y="1296"/>
              <a:ext cx="0" cy="38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1" name="Line 33"/>
            <p:cNvSpPr>
              <a:spLocks noChangeShapeType="1"/>
            </p:cNvSpPr>
            <p:nvPr/>
          </p:nvSpPr>
          <p:spPr bwMode="auto">
            <a:xfrm>
              <a:off x="1814" y="1886"/>
              <a:ext cx="317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2" name="Rectangle 34"/>
            <p:cNvSpPr>
              <a:spLocks noChangeArrowheads="1"/>
            </p:cNvSpPr>
            <p:nvPr/>
          </p:nvSpPr>
          <p:spPr bwMode="auto">
            <a:xfrm>
              <a:off x="1355" y="1358"/>
              <a:ext cx="320" cy="2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33" name="Rectangle 35"/>
            <p:cNvSpPr>
              <a:spLocks noChangeArrowheads="1"/>
            </p:cNvSpPr>
            <p:nvPr/>
          </p:nvSpPr>
          <p:spPr bwMode="auto">
            <a:xfrm>
              <a:off x="2085" y="1244"/>
              <a:ext cx="320" cy="2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34" name="Rectangle 36"/>
            <p:cNvSpPr>
              <a:spLocks noChangeArrowheads="1"/>
            </p:cNvSpPr>
            <p:nvPr/>
          </p:nvSpPr>
          <p:spPr bwMode="auto">
            <a:xfrm>
              <a:off x="2614" y="1276"/>
              <a:ext cx="266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35" name="Rectangle 37"/>
            <p:cNvSpPr>
              <a:spLocks noChangeArrowheads="1"/>
            </p:cNvSpPr>
            <p:nvPr/>
          </p:nvSpPr>
          <p:spPr bwMode="auto">
            <a:xfrm>
              <a:off x="1794" y="1542"/>
              <a:ext cx="266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36" name="Rectangle 38"/>
            <p:cNvSpPr>
              <a:spLocks noChangeArrowheads="1"/>
            </p:cNvSpPr>
            <p:nvPr/>
          </p:nvSpPr>
          <p:spPr bwMode="auto">
            <a:xfrm>
              <a:off x="2437" y="1946"/>
              <a:ext cx="420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137" name="Rectangle 39"/>
            <p:cNvSpPr>
              <a:spLocks noChangeArrowheads="1"/>
            </p:cNvSpPr>
            <p:nvPr/>
          </p:nvSpPr>
          <p:spPr bwMode="auto">
            <a:xfrm>
              <a:off x="1932" y="2096"/>
              <a:ext cx="420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138" name="Rectangle 40"/>
            <p:cNvSpPr>
              <a:spLocks noChangeArrowheads="1"/>
            </p:cNvSpPr>
            <p:nvPr/>
          </p:nvSpPr>
          <p:spPr bwMode="auto">
            <a:xfrm>
              <a:off x="1959" y="1922"/>
              <a:ext cx="232" cy="29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39" name="Rectangle 41"/>
            <p:cNvSpPr>
              <a:spLocks noChangeArrowheads="1"/>
            </p:cNvSpPr>
            <p:nvPr/>
          </p:nvSpPr>
          <p:spPr bwMode="auto">
            <a:xfrm>
              <a:off x="2215" y="2500"/>
              <a:ext cx="310" cy="29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40" name="Rectangle 42"/>
            <p:cNvSpPr>
              <a:spLocks noChangeArrowheads="1"/>
            </p:cNvSpPr>
            <p:nvPr/>
          </p:nvSpPr>
          <p:spPr bwMode="auto">
            <a:xfrm>
              <a:off x="2506" y="2500"/>
              <a:ext cx="265" cy="29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41" name="Rectangle 43"/>
            <p:cNvSpPr>
              <a:spLocks noChangeArrowheads="1"/>
            </p:cNvSpPr>
            <p:nvPr/>
          </p:nvSpPr>
          <p:spPr bwMode="auto">
            <a:xfrm>
              <a:off x="2506" y="1643"/>
              <a:ext cx="232" cy="29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42" name="Rectangle 44"/>
            <p:cNvSpPr>
              <a:spLocks noChangeArrowheads="1"/>
            </p:cNvSpPr>
            <p:nvPr/>
          </p:nvSpPr>
          <p:spPr bwMode="auto">
            <a:xfrm>
              <a:off x="2884" y="1120"/>
              <a:ext cx="536" cy="29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  <p:bldP spid="37" grpId="0" animBg="1"/>
      <p:bldP spid="38" grpId="0" animBg="1"/>
      <p:bldP spid="3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501650" y="192541"/>
            <a:ext cx="24225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静态图解法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138863" y="1294921"/>
            <a:ext cx="2857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CC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-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784975" y="3336925"/>
            <a:ext cx="18909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BQ</a:t>
            </a:r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3740604" y="359230"/>
            <a:ext cx="3629025" cy="554038"/>
            <a:chOff x="2780" y="427"/>
            <a:chExt cx="2286" cy="349"/>
          </a:xfrm>
        </p:grpSpPr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2780" y="427"/>
              <a:ext cx="228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输入回路静态图解：</a:t>
              </a: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2835" y="776"/>
              <a:ext cx="19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6209168" y="1866195"/>
            <a:ext cx="24277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ƒ(</a:t>
            </a:r>
            <a:r>
              <a:rPr lang="en-US" altLang="zh-CN" sz="2800" i="1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lang="en-US" altLang="zh-CN" sz="28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</a:t>
            </a:r>
            <a:endParaRPr lang="zh-CN" altLang="en-US" sz="28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6695169" y="2825070"/>
            <a:ext cx="22093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BEQ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13657" y="3944684"/>
            <a:ext cx="80021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输入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1738313" y="4031770"/>
            <a:ext cx="112462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放大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3060474" y="4018844"/>
            <a:ext cx="80021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输出</a:t>
            </a:r>
          </a:p>
        </p:txBody>
      </p:sp>
      <p:grpSp>
        <p:nvGrpSpPr>
          <p:cNvPr id="14" name="Group 16"/>
          <p:cNvGrpSpPr>
            <a:grpSpLocks/>
          </p:cNvGrpSpPr>
          <p:nvPr/>
        </p:nvGrpSpPr>
        <p:grpSpPr bwMode="auto">
          <a:xfrm>
            <a:off x="3918403" y="1240970"/>
            <a:ext cx="2765426" cy="3282951"/>
            <a:chOff x="188" y="322"/>
            <a:chExt cx="1742" cy="2068"/>
          </a:xfrm>
        </p:grpSpPr>
        <p:sp>
          <p:nvSpPr>
            <p:cNvPr id="15" name="Line 17"/>
            <p:cNvSpPr>
              <a:spLocks noChangeShapeType="1"/>
            </p:cNvSpPr>
            <p:nvPr/>
          </p:nvSpPr>
          <p:spPr bwMode="auto">
            <a:xfrm>
              <a:off x="614" y="569"/>
              <a:ext cx="1225" cy="1519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1502" y="2099"/>
              <a:ext cx="428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grpSp>
          <p:nvGrpSpPr>
            <p:cNvPr id="17" name="Group 19"/>
            <p:cNvGrpSpPr>
              <a:grpSpLocks/>
            </p:cNvGrpSpPr>
            <p:nvPr/>
          </p:nvGrpSpPr>
          <p:grpSpPr bwMode="auto">
            <a:xfrm>
              <a:off x="188" y="322"/>
              <a:ext cx="428" cy="566"/>
              <a:chOff x="3882" y="872"/>
              <a:chExt cx="421" cy="566"/>
            </a:xfrm>
          </p:grpSpPr>
          <p:sp>
            <p:nvSpPr>
              <p:cNvPr id="18" name="Text Box 20"/>
              <p:cNvSpPr txBox="1">
                <a:spLocks noChangeArrowheads="1"/>
              </p:cNvSpPr>
              <p:nvPr/>
            </p:nvSpPr>
            <p:spPr bwMode="auto">
              <a:xfrm>
                <a:off x="3882" y="872"/>
                <a:ext cx="421" cy="29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19" name="Line 21"/>
              <p:cNvSpPr>
                <a:spLocks noChangeShapeType="1"/>
              </p:cNvSpPr>
              <p:nvPr/>
            </p:nvSpPr>
            <p:spPr bwMode="auto">
              <a:xfrm>
                <a:off x="3888" y="1174"/>
                <a:ext cx="37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0" name="Text Box 22"/>
              <p:cNvSpPr txBox="1">
                <a:spLocks noChangeArrowheads="1"/>
              </p:cNvSpPr>
              <p:nvPr/>
            </p:nvSpPr>
            <p:spPr bwMode="auto">
              <a:xfrm>
                <a:off x="3977" y="1060"/>
                <a:ext cx="114" cy="29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zh-CN" altLang="zh-CN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1" name="Text Box 23"/>
              <p:cNvSpPr txBox="1">
                <a:spLocks noChangeArrowheads="1"/>
              </p:cNvSpPr>
              <p:nvPr/>
            </p:nvSpPr>
            <p:spPr bwMode="auto">
              <a:xfrm>
                <a:off x="3903" y="1147"/>
                <a:ext cx="384" cy="29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</p:grpSp>
      </p:grpSp>
      <p:grpSp>
        <p:nvGrpSpPr>
          <p:cNvPr id="22" name="Group 24"/>
          <p:cNvGrpSpPr>
            <a:grpSpLocks/>
          </p:cNvGrpSpPr>
          <p:nvPr/>
        </p:nvGrpSpPr>
        <p:grpSpPr bwMode="auto">
          <a:xfrm>
            <a:off x="5164591" y="2872921"/>
            <a:ext cx="1008062" cy="1690687"/>
            <a:chOff x="5018" y="674"/>
            <a:chExt cx="635" cy="1065"/>
          </a:xfrm>
        </p:grpSpPr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5254" y="674"/>
              <a:ext cx="0" cy="7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>
              <a:off x="5018" y="1448"/>
              <a:ext cx="63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BEQ</a:t>
              </a:r>
            </a:p>
          </p:txBody>
        </p:sp>
      </p:grpSp>
      <p:grpSp>
        <p:nvGrpSpPr>
          <p:cNvPr id="25" name="Group 27"/>
          <p:cNvGrpSpPr>
            <a:grpSpLocks/>
          </p:cNvGrpSpPr>
          <p:nvPr/>
        </p:nvGrpSpPr>
        <p:grpSpPr bwMode="auto">
          <a:xfrm>
            <a:off x="3983491" y="2491921"/>
            <a:ext cx="1533525" cy="461962"/>
            <a:chOff x="3699" y="496"/>
            <a:chExt cx="966" cy="291"/>
          </a:xfrm>
        </p:grpSpPr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3699" y="496"/>
              <a:ext cx="5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BQ</a:t>
              </a:r>
            </a:p>
          </p:txBody>
        </p:sp>
        <p:sp>
          <p:nvSpPr>
            <p:cNvPr id="27" name="Line 29"/>
            <p:cNvSpPr>
              <a:spLocks noChangeShapeType="1"/>
            </p:cNvSpPr>
            <p:nvPr/>
          </p:nvSpPr>
          <p:spPr bwMode="auto">
            <a:xfrm>
              <a:off x="4082" y="689"/>
              <a:ext cx="583" cy="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28" name="Group 30"/>
          <p:cNvGrpSpPr>
            <a:grpSpLocks/>
          </p:cNvGrpSpPr>
          <p:nvPr/>
        </p:nvGrpSpPr>
        <p:grpSpPr bwMode="auto">
          <a:xfrm>
            <a:off x="4413703" y="967921"/>
            <a:ext cx="3010776" cy="3522640"/>
            <a:chOff x="107" y="401"/>
            <a:chExt cx="2000" cy="2201"/>
          </a:xfrm>
        </p:grpSpPr>
        <p:grpSp>
          <p:nvGrpSpPr>
            <p:cNvPr id="29" name="Group 31"/>
            <p:cNvGrpSpPr>
              <a:grpSpLocks/>
            </p:cNvGrpSpPr>
            <p:nvPr/>
          </p:nvGrpSpPr>
          <p:grpSpPr bwMode="auto">
            <a:xfrm>
              <a:off x="312" y="465"/>
              <a:ext cx="1225" cy="1926"/>
              <a:chOff x="2880" y="432"/>
              <a:chExt cx="2928" cy="1630"/>
            </a:xfrm>
          </p:grpSpPr>
          <p:sp>
            <p:nvSpPr>
              <p:cNvPr id="35" name="Text Box 32"/>
              <p:cNvSpPr txBox="1">
                <a:spLocks noChangeArrowheads="1"/>
              </p:cNvSpPr>
              <p:nvPr/>
            </p:nvSpPr>
            <p:spPr bwMode="auto">
              <a:xfrm>
                <a:off x="2880" y="432"/>
                <a:ext cx="717" cy="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8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36" name="Text Box 33"/>
              <p:cNvSpPr txBox="1">
                <a:spLocks noChangeArrowheads="1"/>
              </p:cNvSpPr>
              <p:nvPr/>
            </p:nvSpPr>
            <p:spPr bwMode="auto">
              <a:xfrm>
                <a:off x="5088" y="1785"/>
                <a:ext cx="720" cy="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endParaRPr lang="zh-CN" altLang="zh-CN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30" name="Line 34"/>
            <p:cNvSpPr>
              <a:spLocks noChangeShapeType="1"/>
            </p:cNvSpPr>
            <p:nvPr/>
          </p:nvSpPr>
          <p:spPr bwMode="auto">
            <a:xfrm>
              <a:off x="226" y="2331"/>
              <a:ext cx="16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" name="Line 35"/>
            <p:cNvSpPr>
              <a:spLocks noChangeShapeType="1"/>
            </p:cNvSpPr>
            <p:nvPr/>
          </p:nvSpPr>
          <p:spPr bwMode="auto">
            <a:xfrm flipV="1">
              <a:off x="226" y="602"/>
              <a:ext cx="0" cy="17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2" name="Text Box 36"/>
            <p:cNvSpPr txBox="1">
              <a:spLocks noChangeArrowheads="1"/>
            </p:cNvSpPr>
            <p:nvPr/>
          </p:nvSpPr>
          <p:spPr bwMode="auto">
            <a:xfrm>
              <a:off x="1486" y="690"/>
              <a:ext cx="36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Text Box 37"/>
            <p:cNvSpPr txBox="1">
              <a:spLocks noChangeArrowheads="1"/>
            </p:cNvSpPr>
            <p:nvPr/>
          </p:nvSpPr>
          <p:spPr bwMode="auto">
            <a:xfrm>
              <a:off x="1663" y="2275"/>
              <a:ext cx="444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endPara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Text Box 38"/>
            <p:cNvSpPr txBox="1">
              <a:spLocks noChangeArrowheads="1"/>
            </p:cNvSpPr>
            <p:nvPr/>
          </p:nvSpPr>
          <p:spPr bwMode="auto">
            <a:xfrm>
              <a:off x="107" y="401"/>
              <a:ext cx="123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zh-CN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 flipH="1">
            <a:off x="1381579" y="2258760"/>
            <a:ext cx="3175" cy="1760538"/>
          </a:xfrm>
          <a:prstGeom prst="line">
            <a:avLst/>
          </a:prstGeom>
          <a:noFill/>
          <a:ln w="25400">
            <a:solidFill>
              <a:srgbClr val="00B0F0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8" name="Line 41"/>
          <p:cNvSpPr>
            <a:spLocks noChangeShapeType="1"/>
          </p:cNvSpPr>
          <p:nvPr/>
        </p:nvSpPr>
        <p:spPr bwMode="auto">
          <a:xfrm>
            <a:off x="2961142" y="1126873"/>
            <a:ext cx="0" cy="2890837"/>
          </a:xfrm>
          <a:prstGeom prst="line">
            <a:avLst/>
          </a:prstGeom>
          <a:noFill/>
          <a:ln w="25400">
            <a:solidFill>
              <a:srgbClr val="00B0F0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40" name="Group 70"/>
          <p:cNvGrpSpPr>
            <a:grpSpLocks/>
          </p:cNvGrpSpPr>
          <p:nvPr/>
        </p:nvGrpSpPr>
        <p:grpSpPr bwMode="auto">
          <a:xfrm>
            <a:off x="300492" y="1242760"/>
            <a:ext cx="3711576" cy="2781300"/>
            <a:chOff x="1523" y="1100"/>
            <a:chExt cx="2338" cy="1752"/>
          </a:xfrm>
        </p:grpSpPr>
        <p:grpSp>
          <p:nvGrpSpPr>
            <p:cNvPr id="41" name="Group 71"/>
            <p:cNvGrpSpPr>
              <a:grpSpLocks/>
            </p:cNvGrpSpPr>
            <p:nvPr/>
          </p:nvGrpSpPr>
          <p:grpSpPr bwMode="auto">
            <a:xfrm>
              <a:off x="1523" y="1100"/>
              <a:ext cx="2338" cy="1684"/>
              <a:chOff x="1523" y="1100"/>
              <a:chExt cx="2338" cy="1684"/>
            </a:xfrm>
          </p:grpSpPr>
          <p:sp>
            <p:nvSpPr>
              <p:cNvPr id="71" name="Text Box 72"/>
              <p:cNvSpPr txBox="1">
                <a:spLocks noChangeArrowheads="1"/>
              </p:cNvSpPr>
              <p:nvPr/>
            </p:nvSpPr>
            <p:spPr bwMode="auto">
              <a:xfrm>
                <a:off x="1523" y="2407"/>
                <a:ext cx="428" cy="29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CC</a:t>
                </a:r>
              </a:p>
            </p:txBody>
          </p:sp>
          <p:grpSp>
            <p:nvGrpSpPr>
              <p:cNvPr id="42" name="Group 73"/>
              <p:cNvGrpSpPr>
                <a:grpSpLocks/>
              </p:cNvGrpSpPr>
              <p:nvPr/>
            </p:nvGrpSpPr>
            <p:grpSpPr bwMode="auto">
              <a:xfrm>
                <a:off x="1616" y="1100"/>
                <a:ext cx="2245" cy="1684"/>
                <a:chOff x="1616" y="1100"/>
                <a:chExt cx="2245" cy="1684"/>
              </a:xfrm>
            </p:grpSpPr>
            <p:sp>
              <p:nvSpPr>
                <p:cNvPr id="73" name="Rectangle 74"/>
                <p:cNvSpPr>
                  <a:spLocks noChangeArrowheads="1"/>
                </p:cNvSpPr>
                <p:nvPr/>
              </p:nvSpPr>
              <p:spPr bwMode="auto">
                <a:xfrm>
                  <a:off x="3433" y="2329"/>
                  <a:ext cx="428" cy="2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CC</a:t>
                  </a:r>
                </a:p>
              </p:txBody>
            </p:sp>
            <p:sp>
              <p:nvSpPr>
                <p:cNvPr id="74" name="Rectangle 75"/>
                <p:cNvSpPr>
                  <a:spLocks noChangeArrowheads="1"/>
                </p:cNvSpPr>
                <p:nvPr/>
              </p:nvSpPr>
              <p:spPr bwMode="auto">
                <a:xfrm>
                  <a:off x="2742" y="1906"/>
                  <a:ext cx="421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CE</a:t>
                  </a:r>
                </a:p>
              </p:txBody>
            </p:sp>
            <p:sp>
              <p:nvSpPr>
                <p:cNvPr id="75" name="Rectangle 76"/>
                <p:cNvSpPr>
                  <a:spLocks noChangeArrowheads="1"/>
                </p:cNvSpPr>
                <p:nvPr/>
              </p:nvSpPr>
              <p:spPr bwMode="auto">
                <a:xfrm>
                  <a:off x="2850" y="1286"/>
                  <a:ext cx="267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24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C</a:t>
                  </a:r>
                </a:p>
              </p:txBody>
            </p:sp>
            <p:sp>
              <p:nvSpPr>
                <p:cNvPr id="76" name="Rectangle 77"/>
                <p:cNvSpPr>
                  <a:spLocks noChangeArrowheads="1"/>
                </p:cNvSpPr>
                <p:nvPr/>
              </p:nvSpPr>
              <p:spPr bwMode="auto">
                <a:xfrm>
                  <a:off x="2837" y="1586"/>
                  <a:ext cx="225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+</a:t>
                  </a:r>
                </a:p>
              </p:txBody>
            </p:sp>
            <p:sp>
              <p:nvSpPr>
                <p:cNvPr id="77" name="Rectangle 78"/>
                <p:cNvSpPr>
                  <a:spLocks noChangeArrowheads="1"/>
                </p:cNvSpPr>
                <p:nvPr/>
              </p:nvSpPr>
              <p:spPr bwMode="auto">
                <a:xfrm>
                  <a:off x="2795" y="2252"/>
                  <a:ext cx="310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－</a:t>
                  </a:r>
                </a:p>
              </p:txBody>
            </p:sp>
            <p:grpSp>
              <p:nvGrpSpPr>
                <p:cNvPr id="43" name="Group 79"/>
                <p:cNvGrpSpPr>
                  <a:grpSpLocks/>
                </p:cNvGrpSpPr>
                <p:nvPr/>
              </p:nvGrpSpPr>
              <p:grpSpPr bwMode="auto">
                <a:xfrm>
                  <a:off x="1910" y="1614"/>
                  <a:ext cx="511" cy="346"/>
                  <a:chOff x="343" y="1488"/>
                  <a:chExt cx="511" cy="346"/>
                </a:xfrm>
              </p:grpSpPr>
              <p:sp>
                <p:nvSpPr>
                  <p:cNvPr id="116" name="Text Box 8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3" y="1488"/>
                    <a:ext cx="511" cy="21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zh-CN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7" name="Line 81"/>
                  <p:cNvSpPr>
                    <a:spLocks noChangeShapeType="1"/>
                  </p:cNvSpPr>
                  <p:nvPr/>
                </p:nvSpPr>
                <p:spPr bwMode="auto">
                  <a:xfrm>
                    <a:off x="489" y="1834"/>
                    <a:ext cx="365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C00000"/>
                    </a:solidFill>
                    <a:round/>
                    <a:headEnd/>
                    <a:tailEnd type="triangle" w="med" len="lg"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79" name="Rectangle 82"/>
                <p:cNvSpPr>
                  <a:spLocks noChangeArrowheads="1"/>
                </p:cNvSpPr>
                <p:nvPr/>
              </p:nvSpPr>
              <p:spPr bwMode="auto">
                <a:xfrm>
                  <a:off x="2206" y="1612"/>
                  <a:ext cx="267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B</a:t>
                  </a:r>
                </a:p>
              </p:txBody>
            </p:sp>
            <p:grpSp>
              <p:nvGrpSpPr>
                <p:cNvPr id="44" name="Group 83"/>
                <p:cNvGrpSpPr>
                  <a:grpSpLocks/>
                </p:cNvGrpSpPr>
                <p:nvPr/>
              </p:nvGrpSpPr>
              <p:grpSpPr bwMode="auto">
                <a:xfrm rot="5400000">
                  <a:off x="2746" y="1185"/>
                  <a:ext cx="514" cy="343"/>
                  <a:chOff x="340" y="1489"/>
                  <a:chExt cx="514" cy="343"/>
                </a:xfrm>
              </p:grpSpPr>
              <p:sp>
                <p:nvSpPr>
                  <p:cNvPr id="114" name="Text Box 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0" y="1489"/>
                    <a:ext cx="271" cy="21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10800000" vert="eaVert">
                    <a:spAutoFit/>
                  </a:bodyPr>
                  <a:lstStyle/>
                  <a:p>
                    <a:endParaRPr lang="zh-CN" altLang="zh-CN" sz="2400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5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489" y="1832"/>
                    <a:ext cx="365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C00000"/>
                    </a:solidFill>
                    <a:round/>
                    <a:headEnd/>
                    <a:tailEnd type="triangle" w="med" len="lg"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81" name="Rectangle 86"/>
                <p:cNvSpPr>
                  <a:spLocks noChangeArrowheads="1"/>
                </p:cNvSpPr>
                <p:nvPr/>
              </p:nvSpPr>
              <p:spPr bwMode="auto">
                <a:xfrm>
                  <a:off x="2287" y="2228"/>
                  <a:ext cx="421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24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BE</a:t>
                  </a:r>
                </a:p>
              </p:txBody>
            </p:sp>
            <p:sp>
              <p:nvSpPr>
                <p:cNvPr id="82" name="Rectangle 87"/>
                <p:cNvSpPr>
                  <a:spLocks noChangeArrowheads="1"/>
                </p:cNvSpPr>
                <p:nvPr/>
              </p:nvSpPr>
              <p:spPr bwMode="auto">
                <a:xfrm>
                  <a:off x="2287" y="2007"/>
                  <a:ext cx="225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+</a:t>
                  </a:r>
                </a:p>
              </p:txBody>
            </p:sp>
            <p:sp>
              <p:nvSpPr>
                <p:cNvPr id="83" name="Line 88"/>
                <p:cNvSpPr>
                  <a:spLocks noChangeShapeType="1"/>
                </p:cNvSpPr>
                <p:nvPr/>
              </p:nvSpPr>
              <p:spPr bwMode="auto">
                <a:xfrm>
                  <a:off x="1950" y="2007"/>
                  <a:ext cx="0" cy="44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4" name="Line 89"/>
                <p:cNvSpPr>
                  <a:spLocks noChangeShapeType="1"/>
                </p:cNvSpPr>
                <p:nvPr/>
              </p:nvSpPr>
              <p:spPr bwMode="auto">
                <a:xfrm>
                  <a:off x="1950" y="2448"/>
                  <a:ext cx="0" cy="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grpSp>
              <p:nvGrpSpPr>
                <p:cNvPr id="45" name="Group 90"/>
                <p:cNvGrpSpPr>
                  <a:grpSpLocks/>
                </p:cNvGrpSpPr>
                <p:nvPr/>
              </p:nvGrpSpPr>
              <p:grpSpPr bwMode="auto">
                <a:xfrm>
                  <a:off x="1876" y="2448"/>
                  <a:ext cx="160" cy="43"/>
                  <a:chOff x="3532" y="3763"/>
                  <a:chExt cx="173" cy="43"/>
                </a:xfrm>
              </p:grpSpPr>
              <p:sp>
                <p:nvSpPr>
                  <p:cNvPr id="112" name="Line 91"/>
                  <p:cNvSpPr>
                    <a:spLocks noChangeShapeType="1"/>
                  </p:cNvSpPr>
                  <p:nvPr/>
                </p:nvSpPr>
                <p:spPr bwMode="auto">
                  <a:xfrm>
                    <a:off x="3532" y="3763"/>
                    <a:ext cx="173" cy="0"/>
                  </a:xfrm>
                  <a:prstGeom prst="line">
                    <a:avLst/>
                  </a:prstGeom>
                  <a:noFill/>
                  <a:ln w="349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3" name="Line 92"/>
                  <p:cNvSpPr>
                    <a:spLocks noChangeShapeType="1"/>
                  </p:cNvSpPr>
                  <p:nvPr/>
                </p:nvSpPr>
                <p:spPr bwMode="auto">
                  <a:xfrm>
                    <a:off x="3571" y="3806"/>
                    <a:ext cx="92" cy="0"/>
                  </a:xfrm>
                  <a:prstGeom prst="line">
                    <a:avLst/>
                  </a:prstGeom>
                  <a:noFill/>
                  <a:ln w="349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86" name="Line 93"/>
                <p:cNvSpPr>
                  <a:spLocks noChangeShapeType="1"/>
                </p:cNvSpPr>
                <p:nvPr/>
              </p:nvSpPr>
              <p:spPr bwMode="auto">
                <a:xfrm>
                  <a:off x="1950" y="2484"/>
                  <a:ext cx="0" cy="27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7" name="Line 94"/>
                <p:cNvSpPr>
                  <a:spLocks noChangeShapeType="1"/>
                </p:cNvSpPr>
                <p:nvPr/>
              </p:nvSpPr>
              <p:spPr bwMode="auto">
                <a:xfrm>
                  <a:off x="1950" y="2746"/>
                  <a:ext cx="755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8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1616" y="2038"/>
                  <a:ext cx="320" cy="2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B</a:t>
                  </a:r>
                </a:p>
              </p:txBody>
            </p:sp>
            <p:sp>
              <p:nvSpPr>
                <p:cNvPr id="89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2050" y="1698"/>
                  <a:ext cx="116" cy="213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0" name="Line 97"/>
                <p:cNvSpPr>
                  <a:spLocks noChangeShapeType="1"/>
                </p:cNvSpPr>
                <p:nvPr/>
              </p:nvSpPr>
              <p:spPr bwMode="auto">
                <a:xfrm>
                  <a:off x="3502" y="1125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1" name="Line 98"/>
                <p:cNvSpPr>
                  <a:spLocks noChangeShapeType="1"/>
                </p:cNvSpPr>
                <p:nvPr/>
              </p:nvSpPr>
              <p:spPr bwMode="auto">
                <a:xfrm>
                  <a:off x="3451" y="1120"/>
                  <a:ext cx="0" cy="122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grpSp>
              <p:nvGrpSpPr>
                <p:cNvPr id="46" name="Group 99"/>
                <p:cNvGrpSpPr>
                  <a:grpSpLocks/>
                </p:cNvGrpSpPr>
                <p:nvPr/>
              </p:nvGrpSpPr>
              <p:grpSpPr bwMode="auto">
                <a:xfrm>
                  <a:off x="3368" y="2340"/>
                  <a:ext cx="165" cy="43"/>
                  <a:chOff x="3522" y="4950"/>
                  <a:chExt cx="173" cy="43"/>
                </a:xfrm>
              </p:grpSpPr>
              <p:sp>
                <p:nvSpPr>
                  <p:cNvPr id="110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3522" y="4950"/>
                    <a:ext cx="173" cy="0"/>
                  </a:xfrm>
                  <a:prstGeom prst="line">
                    <a:avLst/>
                  </a:prstGeom>
                  <a:noFill/>
                  <a:ln w="349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1" name="Line 101"/>
                  <p:cNvSpPr>
                    <a:spLocks noChangeShapeType="1"/>
                  </p:cNvSpPr>
                  <p:nvPr/>
                </p:nvSpPr>
                <p:spPr bwMode="auto">
                  <a:xfrm>
                    <a:off x="3556" y="4993"/>
                    <a:ext cx="92" cy="0"/>
                  </a:xfrm>
                  <a:prstGeom prst="line">
                    <a:avLst/>
                  </a:prstGeom>
                  <a:noFill/>
                  <a:ln w="349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93" name="Line 102"/>
                <p:cNvSpPr>
                  <a:spLocks noChangeShapeType="1"/>
                </p:cNvSpPr>
                <p:nvPr/>
              </p:nvSpPr>
              <p:spPr bwMode="auto">
                <a:xfrm>
                  <a:off x="3449" y="2379"/>
                  <a:ext cx="0" cy="378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4" name="Line 103"/>
                <p:cNvSpPr>
                  <a:spLocks noChangeShapeType="1"/>
                </p:cNvSpPr>
                <p:nvPr/>
              </p:nvSpPr>
              <p:spPr bwMode="auto">
                <a:xfrm>
                  <a:off x="2705" y="2754"/>
                  <a:ext cx="746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5" name="Rectangle 104"/>
                <p:cNvSpPr>
                  <a:spLocks noChangeArrowheads="1"/>
                </p:cNvSpPr>
                <p:nvPr/>
              </p:nvSpPr>
              <p:spPr bwMode="auto">
                <a:xfrm>
                  <a:off x="3457" y="1440"/>
                  <a:ext cx="320" cy="2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C</a:t>
                  </a:r>
                </a:p>
              </p:txBody>
            </p:sp>
            <p:sp>
              <p:nvSpPr>
                <p:cNvPr id="96" name="Rectangle 105"/>
                <p:cNvSpPr>
                  <a:spLocks noChangeArrowheads="1"/>
                </p:cNvSpPr>
                <p:nvPr/>
              </p:nvSpPr>
              <p:spPr bwMode="auto">
                <a:xfrm>
                  <a:off x="3396" y="1636"/>
                  <a:ext cx="109" cy="273"/>
                </a:xfrm>
                <a:prstGeom prst="rect">
                  <a:avLst/>
                </a:prstGeom>
                <a:gradFill rotWithShape="1">
                  <a:gsLst>
                    <a:gs pos="0">
                      <a:srgbClr val="746644"/>
                    </a:gs>
                    <a:gs pos="50000">
                      <a:srgbClr val="FADD94"/>
                    </a:gs>
                    <a:gs pos="100000">
                      <a:srgbClr val="746644"/>
                    </a:gs>
                  </a:gsLst>
                  <a:lin ang="0" scaled="1"/>
                </a:gradFill>
                <a:ln w="44450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7" name="Rectangle 106"/>
                <p:cNvSpPr>
                  <a:spLocks noChangeArrowheads="1"/>
                </p:cNvSpPr>
                <p:nvPr/>
              </p:nvSpPr>
              <p:spPr bwMode="auto">
                <a:xfrm>
                  <a:off x="1908" y="2097"/>
                  <a:ext cx="95" cy="273"/>
                </a:xfrm>
                <a:prstGeom prst="rect">
                  <a:avLst/>
                </a:prstGeom>
                <a:gradFill rotWithShape="1">
                  <a:gsLst>
                    <a:gs pos="0">
                      <a:srgbClr val="746644"/>
                    </a:gs>
                    <a:gs pos="50000">
                      <a:srgbClr val="FADD94"/>
                    </a:gs>
                    <a:gs pos="100000">
                      <a:srgbClr val="746644"/>
                    </a:gs>
                  </a:gsLst>
                  <a:lin ang="0" scaled="1"/>
                </a:gradFill>
                <a:ln w="44450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8" name="Line 107"/>
                <p:cNvSpPr>
                  <a:spLocks noChangeShapeType="1"/>
                </p:cNvSpPr>
                <p:nvPr/>
              </p:nvSpPr>
              <p:spPr bwMode="auto">
                <a:xfrm>
                  <a:off x="1950" y="2007"/>
                  <a:ext cx="268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9" name="Line 108"/>
                <p:cNvSpPr>
                  <a:spLocks noChangeShapeType="1"/>
                </p:cNvSpPr>
                <p:nvPr/>
              </p:nvSpPr>
              <p:spPr bwMode="auto">
                <a:xfrm>
                  <a:off x="2716" y="2194"/>
                  <a:ext cx="0" cy="56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0" name="Line 109"/>
                <p:cNvSpPr>
                  <a:spLocks noChangeShapeType="1"/>
                </p:cNvSpPr>
                <p:nvPr/>
              </p:nvSpPr>
              <p:spPr bwMode="auto">
                <a:xfrm>
                  <a:off x="2742" y="1125"/>
                  <a:ext cx="709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1" name="Line 110"/>
                <p:cNvSpPr>
                  <a:spLocks noChangeShapeType="1"/>
                </p:cNvSpPr>
                <p:nvPr/>
              </p:nvSpPr>
              <p:spPr bwMode="auto">
                <a:xfrm>
                  <a:off x="2742" y="1125"/>
                  <a:ext cx="0" cy="659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grpSp>
              <p:nvGrpSpPr>
                <p:cNvPr id="47" name="Group 111"/>
                <p:cNvGrpSpPr>
                  <a:grpSpLocks/>
                </p:cNvGrpSpPr>
                <p:nvPr/>
              </p:nvGrpSpPr>
              <p:grpSpPr bwMode="auto">
                <a:xfrm>
                  <a:off x="2206" y="1771"/>
                  <a:ext cx="524" cy="440"/>
                  <a:chOff x="4341" y="2639"/>
                  <a:chExt cx="564" cy="440"/>
                </a:xfrm>
              </p:grpSpPr>
              <p:sp>
                <p:nvSpPr>
                  <p:cNvPr id="106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4341" y="2877"/>
                    <a:ext cx="336" cy="0"/>
                  </a:xfrm>
                  <a:prstGeom prst="line">
                    <a:avLst/>
                  </a:prstGeom>
                  <a:noFill/>
                  <a:ln w="444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7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4681" y="2684"/>
                    <a:ext cx="1" cy="385"/>
                  </a:xfrm>
                  <a:prstGeom prst="line">
                    <a:avLst/>
                  </a:prstGeom>
                  <a:noFill/>
                  <a:ln w="444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8" name="Line 11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1" y="2639"/>
                    <a:ext cx="224" cy="163"/>
                  </a:xfrm>
                  <a:prstGeom prst="line">
                    <a:avLst/>
                  </a:prstGeom>
                  <a:noFill/>
                  <a:ln w="412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9" name="Line 115"/>
                  <p:cNvSpPr>
                    <a:spLocks noChangeShapeType="1"/>
                  </p:cNvSpPr>
                  <p:nvPr/>
                </p:nvSpPr>
                <p:spPr bwMode="auto">
                  <a:xfrm>
                    <a:off x="4698" y="2945"/>
                    <a:ext cx="200" cy="134"/>
                  </a:xfrm>
                  <a:prstGeom prst="line">
                    <a:avLst/>
                  </a:prstGeom>
                  <a:noFill/>
                  <a:ln w="44450">
                    <a:solidFill>
                      <a:schemeClr val="tx1"/>
                    </a:solidFill>
                    <a:round/>
                    <a:headEnd/>
                    <a:tailEnd type="triangle" w="sm" len="lg"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103" name="Oval 116"/>
                <p:cNvSpPr>
                  <a:spLocks noChangeArrowheads="1"/>
                </p:cNvSpPr>
                <p:nvPr/>
              </p:nvSpPr>
              <p:spPr bwMode="auto">
                <a:xfrm flipV="1">
                  <a:off x="2667" y="2708"/>
                  <a:ext cx="75" cy="76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4" name="Text Box 117"/>
                <p:cNvSpPr txBox="1">
                  <a:spLocks noChangeArrowheads="1"/>
                </p:cNvSpPr>
                <p:nvPr/>
              </p:nvSpPr>
              <p:spPr bwMode="auto">
                <a:xfrm>
                  <a:off x="2755" y="2263"/>
                  <a:ext cx="44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endParaRPr lang="zh-CN" altLang="zh-CN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5" name="Rectangle 118"/>
                <p:cNvSpPr>
                  <a:spLocks noChangeArrowheads="1"/>
                </p:cNvSpPr>
                <p:nvPr/>
              </p:nvSpPr>
              <p:spPr bwMode="auto">
                <a:xfrm>
                  <a:off x="2416" y="2437"/>
                  <a:ext cx="310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－</a:t>
                  </a:r>
                </a:p>
              </p:txBody>
            </p:sp>
          </p:grpSp>
        </p:grpSp>
        <p:sp>
          <p:nvSpPr>
            <p:cNvPr id="69" name="Line 119"/>
            <p:cNvSpPr>
              <a:spLocks noChangeShapeType="1"/>
            </p:cNvSpPr>
            <p:nvPr/>
          </p:nvSpPr>
          <p:spPr bwMode="auto">
            <a:xfrm>
              <a:off x="2705" y="2739"/>
              <a:ext cx="0" cy="11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Line 120"/>
            <p:cNvSpPr>
              <a:spLocks noChangeShapeType="1"/>
            </p:cNvSpPr>
            <p:nvPr/>
          </p:nvSpPr>
          <p:spPr bwMode="auto">
            <a:xfrm>
              <a:off x="2634" y="2852"/>
              <a:ext cx="145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48" name="Group 121"/>
          <p:cNvGrpSpPr>
            <a:grpSpLocks/>
          </p:cNvGrpSpPr>
          <p:nvPr/>
        </p:nvGrpSpPr>
        <p:grpSpPr bwMode="auto">
          <a:xfrm>
            <a:off x="5466216" y="2466521"/>
            <a:ext cx="992187" cy="461962"/>
            <a:chOff x="5203" y="1214"/>
            <a:chExt cx="625" cy="291"/>
          </a:xfrm>
        </p:grpSpPr>
        <p:sp>
          <p:nvSpPr>
            <p:cNvPr id="119" name="Text Box 122"/>
            <p:cNvSpPr txBox="1">
              <a:spLocks noChangeArrowheads="1"/>
            </p:cNvSpPr>
            <p:nvPr/>
          </p:nvSpPr>
          <p:spPr bwMode="auto">
            <a:xfrm>
              <a:off x="5283" y="1214"/>
              <a:ext cx="54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20" name="Oval 123"/>
            <p:cNvSpPr>
              <a:spLocks noChangeArrowheads="1"/>
            </p:cNvSpPr>
            <p:nvPr/>
          </p:nvSpPr>
          <p:spPr bwMode="auto">
            <a:xfrm>
              <a:off x="5203" y="1382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21" name="Text Box 124"/>
          <p:cNvSpPr txBox="1">
            <a:spLocks noChangeArrowheads="1"/>
          </p:cNvSpPr>
          <p:nvPr/>
        </p:nvSpPr>
        <p:spPr bwMode="auto">
          <a:xfrm>
            <a:off x="4258128" y="3842883"/>
            <a:ext cx="338554" cy="461665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22" name="任意多边形 121"/>
          <p:cNvSpPr/>
          <p:nvPr/>
        </p:nvSpPr>
        <p:spPr>
          <a:xfrm>
            <a:off x="4615543" y="1828800"/>
            <a:ext cx="1121228" cy="2198914"/>
          </a:xfrm>
          <a:custGeom>
            <a:avLst/>
            <a:gdLst>
              <a:gd name="connsiteX0" fmla="*/ 0 w 1121228"/>
              <a:gd name="connsiteY0" fmla="*/ 2198914 h 2198914"/>
              <a:gd name="connsiteX1" fmla="*/ 533400 w 1121228"/>
              <a:gd name="connsiteY1" fmla="*/ 1915886 h 2198914"/>
              <a:gd name="connsiteX2" fmla="*/ 827314 w 1121228"/>
              <a:gd name="connsiteY2" fmla="*/ 1338943 h 2198914"/>
              <a:gd name="connsiteX3" fmla="*/ 1121228 w 1121228"/>
              <a:gd name="connsiteY3" fmla="*/ 0 h 2198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228" h="2198914">
                <a:moveTo>
                  <a:pt x="0" y="2198914"/>
                </a:moveTo>
                <a:cubicBezTo>
                  <a:pt x="197757" y="2129064"/>
                  <a:pt x="395514" y="2059215"/>
                  <a:pt x="533400" y="1915886"/>
                </a:cubicBezTo>
                <a:cubicBezTo>
                  <a:pt x="671286" y="1772557"/>
                  <a:pt x="729343" y="1658257"/>
                  <a:pt x="827314" y="1338943"/>
                </a:cubicBezTo>
                <a:cubicBezTo>
                  <a:pt x="925285" y="1019629"/>
                  <a:pt x="1023256" y="509814"/>
                  <a:pt x="1121228" y="0"/>
                </a:cubicBezTo>
              </a:path>
            </a:pathLst>
          </a:cu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8" grpId="0" autoUpdateAnimBg="0"/>
      <p:bldP spid="9" grpId="0" autoUpdateAnimBg="0"/>
      <p:bldP spid="1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1041401" y="4467880"/>
            <a:ext cx="3225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CC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－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</a:p>
        </p:txBody>
      </p:sp>
      <p:sp>
        <p:nvSpPr>
          <p:cNvPr id="16" name="Freeform 3"/>
          <p:cNvSpPr>
            <a:spLocks/>
          </p:cNvSpPr>
          <p:nvPr/>
        </p:nvSpPr>
        <p:spPr bwMode="auto">
          <a:xfrm>
            <a:off x="4591277" y="841602"/>
            <a:ext cx="3525837" cy="2760662"/>
          </a:xfrm>
          <a:custGeom>
            <a:avLst/>
            <a:gdLst>
              <a:gd name="T0" fmla="*/ 0 w 2221"/>
              <a:gd name="T1" fmla="*/ 2147483647 h 1739"/>
              <a:gd name="T2" fmla="*/ 2147483647 w 2221"/>
              <a:gd name="T3" fmla="*/ 2147483647 h 1739"/>
              <a:gd name="T4" fmla="*/ 2147483647 w 2221"/>
              <a:gd name="T5" fmla="*/ 2147483647 h 1739"/>
              <a:gd name="T6" fmla="*/ 0 60000 65536"/>
              <a:gd name="T7" fmla="*/ 0 60000 65536"/>
              <a:gd name="T8" fmla="*/ 0 60000 65536"/>
              <a:gd name="T9" fmla="*/ 0 w 2221"/>
              <a:gd name="T10" fmla="*/ 0 h 1739"/>
              <a:gd name="T11" fmla="*/ 2221 w 2221"/>
              <a:gd name="T12" fmla="*/ 1739 h 173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21" h="1739">
                <a:moveTo>
                  <a:pt x="0" y="1739"/>
                </a:moveTo>
                <a:cubicBezTo>
                  <a:pt x="51" y="1481"/>
                  <a:pt x="35" y="376"/>
                  <a:pt x="305" y="188"/>
                </a:cubicBezTo>
                <a:cubicBezTo>
                  <a:pt x="575" y="0"/>
                  <a:pt x="1822" y="85"/>
                  <a:pt x="2221" y="58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" name="Freeform 4"/>
          <p:cNvSpPr>
            <a:spLocks/>
          </p:cNvSpPr>
          <p:nvPr/>
        </p:nvSpPr>
        <p:spPr bwMode="auto">
          <a:xfrm>
            <a:off x="4743676" y="1640114"/>
            <a:ext cx="3282950" cy="336550"/>
          </a:xfrm>
          <a:custGeom>
            <a:avLst/>
            <a:gdLst>
              <a:gd name="T0" fmla="*/ 0 w 2068"/>
              <a:gd name="T1" fmla="*/ 2147483647 h 212"/>
              <a:gd name="T2" fmla="*/ 2147483647 w 2068"/>
              <a:gd name="T3" fmla="*/ 2147483647 h 212"/>
              <a:gd name="T4" fmla="*/ 2147483647 w 2068"/>
              <a:gd name="T5" fmla="*/ 0 h 212"/>
              <a:gd name="T6" fmla="*/ 0 60000 65536"/>
              <a:gd name="T7" fmla="*/ 0 60000 65536"/>
              <a:gd name="T8" fmla="*/ 0 60000 65536"/>
              <a:gd name="T9" fmla="*/ 0 w 2068"/>
              <a:gd name="T10" fmla="*/ 0 h 212"/>
              <a:gd name="T11" fmla="*/ 2068 w 2068"/>
              <a:gd name="T12" fmla="*/ 212 h 2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8" h="212">
                <a:moveTo>
                  <a:pt x="0" y="212"/>
                </a:moveTo>
                <a:cubicBezTo>
                  <a:pt x="65" y="179"/>
                  <a:pt x="42" y="47"/>
                  <a:pt x="387" y="12"/>
                </a:cubicBezTo>
                <a:cubicBezTo>
                  <a:pt x="733" y="5"/>
                  <a:pt x="1718" y="2"/>
                  <a:pt x="2068" y="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" name="Freeform 5"/>
          <p:cNvSpPr>
            <a:spLocks/>
          </p:cNvSpPr>
          <p:nvPr/>
        </p:nvSpPr>
        <p:spPr bwMode="auto">
          <a:xfrm>
            <a:off x="4670652" y="2302102"/>
            <a:ext cx="3427412" cy="304800"/>
          </a:xfrm>
          <a:custGeom>
            <a:avLst/>
            <a:gdLst>
              <a:gd name="T0" fmla="*/ 0 w 2068"/>
              <a:gd name="T1" fmla="*/ 2147483647 h 212"/>
              <a:gd name="T2" fmla="*/ 2147483647 w 2068"/>
              <a:gd name="T3" fmla="*/ 2147483647 h 212"/>
              <a:gd name="T4" fmla="*/ 2147483647 w 2068"/>
              <a:gd name="T5" fmla="*/ 0 h 212"/>
              <a:gd name="T6" fmla="*/ 0 60000 65536"/>
              <a:gd name="T7" fmla="*/ 0 60000 65536"/>
              <a:gd name="T8" fmla="*/ 0 60000 65536"/>
              <a:gd name="T9" fmla="*/ 0 w 2068"/>
              <a:gd name="T10" fmla="*/ 0 h 212"/>
              <a:gd name="T11" fmla="*/ 2068 w 2068"/>
              <a:gd name="T12" fmla="*/ 212 h 2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8" h="212">
                <a:moveTo>
                  <a:pt x="0" y="212"/>
                </a:moveTo>
                <a:cubicBezTo>
                  <a:pt x="65" y="179"/>
                  <a:pt x="42" y="47"/>
                  <a:pt x="387" y="12"/>
                </a:cubicBezTo>
                <a:cubicBezTo>
                  <a:pt x="733" y="5"/>
                  <a:pt x="1718" y="2"/>
                  <a:pt x="2068" y="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" name="Freeform 6"/>
          <p:cNvSpPr>
            <a:spLocks/>
          </p:cNvSpPr>
          <p:nvPr/>
        </p:nvSpPr>
        <p:spPr bwMode="auto">
          <a:xfrm>
            <a:off x="4608739" y="2997427"/>
            <a:ext cx="3505200" cy="382588"/>
          </a:xfrm>
          <a:custGeom>
            <a:avLst/>
            <a:gdLst>
              <a:gd name="T0" fmla="*/ 0 w 2068"/>
              <a:gd name="T1" fmla="*/ 2147483647 h 212"/>
              <a:gd name="T2" fmla="*/ 2147483647 w 2068"/>
              <a:gd name="T3" fmla="*/ 2147483647 h 212"/>
              <a:gd name="T4" fmla="*/ 2147483647 w 2068"/>
              <a:gd name="T5" fmla="*/ 0 h 212"/>
              <a:gd name="T6" fmla="*/ 0 60000 65536"/>
              <a:gd name="T7" fmla="*/ 0 60000 65536"/>
              <a:gd name="T8" fmla="*/ 0 60000 65536"/>
              <a:gd name="T9" fmla="*/ 0 w 2068"/>
              <a:gd name="T10" fmla="*/ 0 h 212"/>
              <a:gd name="T11" fmla="*/ 2068 w 2068"/>
              <a:gd name="T12" fmla="*/ 212 h 2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8" h="212">
                <a:moveTo>
                  <a:pt x="0" y="212"/>
                </a:moveTo>
                <a:cubicBezTo>
                  <a:pt x="65" y="179"/>
                  <a:pt x="42" y="47"/>
                  <a:pt x="387" y="12"/>
                </a:cubicBezTo>
                <a:cubicBezTo>
                  <a:pt x="733" y="5"/>
                  <a:pt x="1718" y="2"/>
                  <a:pt x="2068" y="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7834539" y="1863952"/>
            <a:ext cx="114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BQ</a:t>
            </a: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4572000" y="909638"/>
            <a:ext cx="3372077" cy="2692626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>
            <a:prstShdw prst="shdw17" dist="17961" dir="2700000">
              <a:srgbClr val="997A3D"/>
            </a:prstShdw>
          </a:effectLst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2" name="Group 9"/>
          <p:cNvGrpSpPr>
            <a:grpSpLocks/>
          </p:cNvGrpSpPr>
          <p:nvPr/>
        </p:nvGrpSpPr>
        <p:grpSpPr bwMode="auto">
          <a:xfrm>
            <a:off x="3970564" y="2049690"/>
            <a:ext cx="3025775" cy="1952625"/>
            <a:chOff x="2366" y="1653"/>
            <a:chExt cx="1906" cy="1230"/>
          </a:xfrm>
        </p:grpSpPr>
        <p:sp>
          <p:nvSpPr>
            <p:cNvPr id="23" name="Text Box 10"/>
            <p:cNvSpPr txBox="1">
              <a:spLocks noChangeArrowheads="1"/>
            </p:cNvSpPr>
            <p:nvPr/>
          </p:nvSpPr>
          <p:spPr bwMode="auto">
            <a:xfrm>
              <a:off x="2366" y="1653"/>
              <a:ext cx="45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CQ</a:t>
              </a:r>
            </a:p>
          </p:txBody>
        </p:sp>
        <p:sp>
          <p:nvSpPr>
            <p:cNvPr id="24" name="Text Box 11"/>
            <p:cNvSpPr txBox="1">
              <a:spLocks noChangeArrowheads="1"/>
            </p:cNvSpPr>
            <p:nvPr/>
          </p:nvSpPr>
          <p:spPr bwMode="auto">
            <a:xfrm>
              <a:off x="3648" y="2592"/>
              <a:ext cx="62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CEQ</a:t>
              </a:r>
            </a:p>
          </p:txBody>
        </p:sp>
      </p:grpSp>
      <p:sp>
        <p:nvSpPr>
          <p:cNvPr id="25" name="Text Box 12"/>
          <p:cNvSpPr txBox="1">
            <a:spLocks noChangeArrowheads="1"/>
          </p:cNvSpPr>
          <p:nvPr/>
        </p:nvSpPr>
        <p:spPr bwMode="auto">
          <a:xfrm>
            <a:off x="6316889" y="1803627"/>
            <a:ext cx="1003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endParaRPr lang="en-US" altLang="zh-CN" sz="2400" b="1" i="1" baseline="-250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6" name="Group 13"/>
          <p:cNvGrpSpPr>
            <a:grpSpLocks/>
          </p:cNvGrpSpPr>
          <p:nvPr/>
        </p:nvGrpSpPr>
        <p:grpSpPr bwMode="auto">
          <a:xfrm>
            <a:off x="4634139" y="506639"/>
            <a:ext cx="4038600" cy="3495675"/>
            <a:chOff x="2784" y="681"/>
            <a:chExt cx="2544" cy="2202"/>
          </a:xfrm>
        </p:grpSpPr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2784" y="681"/>
              <a:ext cx="62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8" name="Text Box 15"/>
            <p:cNvSpPr txBox="1">
              <a:spLocks noChangeArrowheads="1"/>
            </p:cNvSpPr>
            <p:nvPr/>
          </p:nvSpPr>
          <p:spPr bwMode="auto">
            <a:xfrm>
              <a:off x="4704" y="2592"/>
              <a:ext cx="62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</p:grpSp>
      <p:grpSp>
        <p:nvGrpSpPr>
          <p:cNvPr id="29" name="Group 16"/>
          <p:cNvGrpSpPr>
            <a:grpSpLocks/>
          </p:cNvGrpSpPr>
          <p:nvPr/>
        </p:nvGrpSpPr>
        <p:grpSpPr bwMode="auto">
          <a:xfrm>
            <a:off x="4580164" y="2306864"/>
            <a:ext cx="1752600" cy="1295400"/>
            <a:chOff x="2784" y="1824"/>
            <a:chExt cx="1104" cy="816"/>
          </a:xfrm>
        </p:grpSpPr>
        <p:sp>
          <p:nvSpPr>
            <p:cNvPr id="30" name="Line 17"/>
            <p:cNvSpPr>
              <a:spLocks noChangeShapeType="1"/>
            </p:cNvSpPr>
            <p:nvPr/>
          </p:nvSpPr>
          <p:spPr bwMode="auto">
            <a:xfrm>
              <a:off x="2784" y="1824"/>
              <a:ext cx="11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" name="Line 18"/>
            <p:cNvSpPr>
              <a:spLocks noChangeShapeType="1"/>
            </p:cNvSpPr>
            <p:nvPr/>
          </p:nvSpPr>
          <p:spPr bwMode="auto">
            <a:xfrm>
              <a:off x="3888" y="182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32" name="Group 19"/>
          <p:cNvGrpSpPr>
            <a:grpSpLocks/>
          </p:cNvGrpSpPr>
          <p:nvPr/>
        </p:nvGrpSpPr>
        <p:grpSpPr bwMode="auto">
          <a:xfrm>
            <a:off x="3814989" y="620940"/>
            <a:ext cx="1143000" cy="790575"/>
            <a:chOff x="2400" y="1182"/>
            <a:chExt cx="720" cy="498"/>
          </a:xfrm>
        </p:grpSpPr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400" y="1296"/>
              <a:ext cx="6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——</a:t>
              </a:r>
              <a:endPara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34" name="Group 21"/>
            <p:cNvGrpSpPr>
              <a:grpSpLocks/>
            </p:cNvGrpSpPr>
            <p:nvPr/>
          </p:nvGrpSpPr>
          <p:grpSpPr bwMode="auto">
            <a:xfrm>
              <a:off x="2439" y="1182"/>
              <a:ext cx="681" cy="498"/>
              <a:chOff x="2439" y="1182"/>
              <a:chExt cx="681" cy="498"/>
            </a:xfrm>
          </p:grpSpPr>
          <p:sp>
            <p:nvSpPr>
              <p:cNvPr id="35" name="Text Box 22"/>
              <p:cNvSpPr txBox="1">
                <a:spLocks noChangeArrowheads="1"/>
              </p:cNvSpPr>
              <p:nvPr/>
            </p:nvSpPr>
            <p:spPr bwMode="auto">
              <a:xfrm>
                <a:off x="2439" y="1182"/>
                <a:ext cx="4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36" name="Text Box 23"/>
              <p:cNvSpPr txBox="1">
                <a:spLocks noChangeArrowheads="1"/>
              </p:cNvSpPr>
              <p:nvPr/>
            </p:nvSpPr>
            <p:spPr bwMode="auto">
              <a:xfrm>
                <a:off x="2496" y="1392"/>
                <a:ext cx="62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</p:grpSp>
      </p:grpSp>
      <p:grpSp>
        <p:nvGrpSpPr>
          <p:cNvPr id="37" name="Group 24"/>
          <p:cNvGrpSpPr>
            <a:grpSpLocks/>
          </p:cNvGrpSpPr>
          <p:nvPr/>
        </p:nvGrpSpPr>
        <p:grpSpPr bwMode="auto">
          <a:xfrm>
            <a:off x="4259489" y="111352"/>
            <a:ext cx="4687888" cy="3571875"/>
            <a:chOff x="2592" y="441"/>
            <a:chExt cx="2953" cy="2250"/>
          </a:xfrm>
        </p:grpSpPr>
        <p:sp>
          <p:nvSpPr>
            <p:cNvPr id="38" name="Line 25"/>
            <p:cNvSpPr>
              <a:spLocks noChangeShapeType="1"/>
            </p:cNvSpPr>
            <p:nvPr/>
          </p:nvSpPr>
          <p:spPr bwMode="auto">
            <a:xfrm>
              <a:off x="2784" y="2640"/>
              <a:ext cx="26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Line 26"/>
            <p:cNvSpPr>
              <a:spLocks noChangeShapeType="1"/>
            </p:cNvSpPr>
            <p:nvPr/>
          </p:nvSpPr>
          <p:spPr bwMode="auto">
            <a:xfrm flipV="1">
              <a:off x="2784" y="624"/>
              <a:ext cx="0" cy="20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2784" y="441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40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Text Box 28"/>
            <p:cNvSpPr txBox="1">
              <a:spLocks noChangeArrowheads="1"/>
            </p:cNvSpPr>
            <p:nvPr/>
          </p:nvSpPr>
          <p:spPr bwMode="auto">
            <a:xfrm>
              <a:off x="5088" y="2361"/>
              <a:ext cx="4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Text Box 29"/>
            <p:cNvSpPr txBox="1">
              <a:spLocks noChangeArrowheads="1"/>
            </p:cNvSpPr>
            <p:nvPr/>
          </p:nvSpPr>
          <p:spPr bwMode="auto">
            <a:xfrm>
              <a:off x="2592" y="2400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43" name="Oval 30"/>
          <p:cNvSpPr>
            <a:spLocks noChangeArrowheads="1"/>
          </p:cNvSpPr>
          <p:nvPr/>
        </p:nvSpPr>
        <p:spPr bwMode="auto">
          <a:xfrm>
            <a:off x="6248626" y="2216377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44" name="Group 31"/>
          <p:cNvGrpSpPr>
            <a:grpSpLocks/>
          </p:cNvGrpSpPr>
          <p:nvPr/>
        </p:nvGrpSpPr>
        <p:grpSpPr bwMode="auto">
          <a:xfrm>
            <a:off x="751115" y="3772230"/>
            <a:ext cx="3765550" cy="957263"/>
            <a:chOff x="480" y="2942"/>
            <a:chExt cx="2372" cy="603"/>
          </a:xfrm>
        </p:grpSpPr>
        <p:sp>
          <p:nvSpPr>
            <p:cNvPr id="45" name="AutoShape 32"/>
            <p:cNvSpPr>
              <a:spLocks/>
            </p:cNvSpPr>
            <p:nvPr/>
          </p:nvSpPr>
          <p:spPr bwMode="auto">
            <a:xfrm>
              <a:off x="480" y="3048"/>
              <a:ext cx="158" cy="497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46" name="Group 33"/>
            <p:cNvGrpSpPr>
              <a:grpSpLocks/>
            </p:cNvGrpSpPr>
            <p:nvPr/>
          </p:nvGrpSpPr>
          <p:grpSpPr bwMode="auto">
            <a:xfrm>
              <a:off x="672" y="2942"/>
              <a:ext cx="2180" cy="432"/>
              <a:chOff x="288" y="2846"/>
              <a:chExt cx="2175" cy="432"/>
            </a:xfrm>
          </p:grpSpPr>
          <p:sp>
            <p:nvSpPr>
              <p:cNvPr id="47" name="Text Box 34"/>
              <p:cNvSpPr txBox="1">
                <a:spLocks noChangeArrowheads="1"/>
              </p:cNvSpPr>
              <p:nvPr/>
            </p:nvSpPr>
            <p:spPr bwMode="auto">
              <a:xfrm>
                <a:off x="288" y="2880"/>
                <a:ext cx="1824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8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= </a:t>
                </a:r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zh-CN" altLang="en-US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（</a:t>
                </a:r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8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CE</a:t>
                </a:r>
                <a:r>
                  <a:rPr lang="zh-CN" altLang="en-US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）</a:t>
                </a:r>
              </a:p>
            </p:txBody>
          </p:sp>
          <p:sp>
            <p:nvSpPr>
              <p:cNvPr id="48" name="Rectangle 35"/>
              <p:cNvSpPr>
                <a:spLocks noChangeArrowheads="1"/>
              </p:cNvSpPr>
              <p:nvPr/>
            </p:nvSpPr>
            <p:spPr bwMode="auto">
              <a:xfrm>
                <a:off x="1653" y="2958"/>
                <a:ext cx="81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=</a:t>
                </a:r>
                <a:r>
                  <a:rPr lang="zh-CN" altLang="en-US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常量</a:t>
                </a:r>
              </a:p>
            </p:txBody>
          </p:sp>
          <p:sp>
            <p:nvSpPr>
              <p:cNvPr id="49" name="Line 36"/>
              <p:cNvSpPr>
                <a:spLocks noChangeShapeType="1"/>
              </p:cNvSpPr>
              <p:nvPr/>
            </p:nvSpPr>
            <p:spPr bwMode="auto">
              <a:xfrm>
                <a:off x="1584" y="2846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50" name="Group 37"/>
          <p:cNvGrpSpPr>
            <a:grpSpLocks/>
          </p:cNvGrpSpPr>
          <p:nvPr/>
        </p:nvGrpSpPr>
        <p:grpSpPr bwMode="auto">
          <a:xfrm>
            <a:off x="304799" y="206831"/>
            <a:ext cx="3189288" cy="523876"/>
            <a:chOff x="288" y="364"/>
            <a:chExt cx="2009" cy="330"/>
          </a:xfrm>
        </p:grpSpPr>
        <p:sp>
          <p:nvSpPr>
            <p:cNvPr id="51" name="Text Box 38"/>
            <p:cNvSpPr txBox="1">
              <a:spLocks noChangeArrowheads="1"/>
            </p:cNvSpPr>
            <p:nvPr/>
          </p:nvSpPr>
          <p:spPr bwMode="auto">
            <a:xfrm>
              <a:off x="288" y="364"/>
              <a:ext cx="200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输出回路静态图解</a:t>
              </a:r>
            </a:p>
          </p:txBody>
        </p:sp>
        <p:sp>
          <p:nvSpPr>
            <p:cNvPr id="52" name="Line 39"/>
            <p:cNvSpPr>
              <a:spLocks noChangeShapeType="1"/>
            </p:cNvSpPr>
            <p:nvPr/>
          </p:nvSpPr>
          <p:spPr bwMode="auto">
            <a:xfrm flipV="1">
              <a:off x="343" y="671"/>
              <a:ext cx="18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53" name="Group 41"/>
          <p:cNvGrpSpPr>
            <a:grpSpLocks/>
          </p:cNvGrpSpPr>
          <p:nvPr/>
        </p:nvGrpSpPr>
        <p:grpSpPr bwMode="auto">
          <a:xfrm>
            <a:off x="5510213" y="3928834"/>
            <a:ext cx="2084388" cy="1022350"/>
            <a:chOff x="3322" y="3177"/>
            <a:chExt cx="1313" cy="644"/>
          </a:xfrm>
        </p:grpSpPr>
        <p:sp>
          <p:nvSpPr>
            <p:cNvPr id="54" name="Text Box 42"/>
            <p:cNvSpPr txBox="1">
              <a:spLocks noChangeArrowheads="1"/>
            </p:cNvSpPr>
            <p:nvPr/>
          </p:nvSpPr>
          <p:spPr bwMode="auto">
            <a:xfrm>
              <a:off x="3456" y="3491"/>
              <a:ext cx="96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</a:t>
              </a: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CQ</a:t>
              </a:r>
            </a:p>
          </p:txBody>
        </p:sp>
        <p:sp>
          <p:nvSpPr>
            <p:cNvPr id="55" name="Rectangle 43"/>
            <p:cNvSpPr>
              <a:spLocks noChangeArrowheads="1"/>
            </p:cNvSpPr>
            <p:nvPr/>
          </p:nvSpPr>
          <p:spPr bwMode="auto">
            <a:xfrm>
              <a:off x="3456" y="3177"/>
              <a:ext cx="117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</a:t>
              </a: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CEQ</a:t>
              </a:r>
            </a:p>
          </p:txBody>
        </p:sp>
        <p:sp>
          <p:nvSpPr>
            <p:cNvPr id="56" name="AutoShape 44"/>
            <p:cNvSpPr>
              <a:spLocks/>
            </p:cNvSpPr>
            <p:nvPr/>
          </p:nvSpPr>
          <p:spPr bwMode="auto">
            <a:xfrm>
              <a:off x="3322" y="3273"/>
              <a:ext cx="163" cy="523"/>
            </a:xfrm>
            <a:prstGeom prst="leftBrace">
              <a:avLst>
                <a:gd name="adj1" fmla="val 2270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57" name="AutoShape 45"/>
          <p:cNvSpPr>
            <a:spLocks noChangeArrowheads="1"/>
          </p:cNvSpPr>
          <p:nvPr/>
        </p:nvSpPr>
        <p:spPr bwMode="auto">
          <a:xfrm>
            <a:off x="5413602" y="456066"/>
            <a:ext cx="1825398" cy="393019"/>
          </a:xfrm>
          <a:prstGeom prst="wedgeRoundRectCallout">
            <a:avLst>
              <a:gd name="adj1" fmla="val -56029"/>
              <a:gd name="adj2" fmla="val 194100"/>
              <a:gd name="adj3" fmla="val 16667"/>
            </a:avLst>
          </a:prstGeom>
          <a:solidFill>
            <a:srgbClr val="CCECFF"/>
          </a:solidFill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zh-CN" altLang="en-US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直流负载线</a:t>
            </a:r>
          </a:p>
        </p:txBody>
      </p:sp>
      <p:grpSp>
        <p:nvGrpSpPr>
          <p:cNvPr id="106" name="Group 70"/>
          <p:cNvGrpSpPr>
            <a:grpSpLocks/>
          </p:cNvGrpSpPr>
          <p:nvPr/>
        </p:nvGrpSpPr>
        <p:grpSpPr bwMode="auto">
          <a:xfrm>
            <a:off x="344035" y="927074"/>
            <a:ext cx="3711576" cy="2781300"/>
            <a:chOff x="1523" y="1100"/>
            <a:chExt cx="2338" cy="1752"/>
          </a:xfrm>
        </p:grpSpPr>
        <p:grpSp>
          <p:nvGrpSpPr>
            <p:cNvPr id="107" name="Group 71"/>
            <p:cNvGrpSpPr>
              <a:grpSpLocks/>
            </p:cNvGrpSpPr>
            <p:nvPr/>
          </p:nvGrpSpPr>
          <p:grpSpPr bwMode="auto">
            <a:xfrm>
              <a:off x="1523" y="1100"/>
              <a:ext cx="2338" cy="1684"/>
              <a:chOff x="1523" y="1100"/>
              <a:chExt cx="2338" cy="1684"/>
            </a:xfrm>
          </p:grpSpPr>
          <p:sp>
            <p:nvSpPr>
              <p:cNvPr id="110" name="Text Box 72"/>
              <p:cNvSpPr txBox="1">
                <a:spLocks noChangeArrowheads="1"/>
              </p:cNvSpPr>
              <p:nvPr/>
            </p:nvSpPr>
            <p:spPr bwMode="auto">
              <a:xfrm>
                <a:off x="1523" y="2407"/>
                <a:ext cx="428" cy="29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CC</a:t>
                </a:r>
              </a:p>
            </p:txBody>
          </p:sp>
          <p:grpSp>
            <p:nvGrpSpPr>
              <p:cNvPr id="111" name="Group 73"/>
              <p:cNvGrpSpPr>
                <a:grpSpLocks/>
              </p:cNvGrpSpPr>
              <p:nvPr/>
            </p:nvGrpSpPr>
            <p:grpSpPr bwMode="auto">
              <a:xfrm>
                <a:off x="1616" y="1100"/>
                <a:ext cx="2245" cy="1684"/>
                <a:chOff x="1616" y="1100"/>
                <a:chExt cx="2245" cy="1684"/>
              </a:xfrm>
            </p:grpSpPr>
            <p:sp>
              <p:nvSpPr>
                <p:cNvPr id="112" name="Rectangle 74"/>
                <p:cNvSpPr>
                  <a:spLocks noChangeArrowheads="1"/>
                </p:cNvSpPr>
                <p:nvPr/>
              </p:nvSpPr>
              <p:spPr bwMode="auto">
                <a:xfrm>
                  <a:off x="3433" y="2329"/>
                  <a:ext cx="428" cy="2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CC</a:t>
                  </a:r>
                </a:p>
              </p:txBody>
            </p:sp>
            <p:sp>
              <p:nvSpPr>
                <p:cNvPr id="113" name="Rectangle 75"/>
                <p:cNvSpPr>
                  <a:spLocks noChangeArrowheads="1"/>
                </p:cNvSpPr>
                <p:nvPr/>
              </p:nvSpPr>
              <p:spPr bwMode="auto">
                <a:xfrm>
                  <a:off x="2742" y="1906"/>
                  <a:ext cx="421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CE</a:t>
                  </a:r>
                </a:p>
              </p:txBody>
            </p:sp>
            <p:sp>
              <p:nvSpPr>
                <p:cNvPr id="114" name="Rectangle 76"/>
                <p:cNvSpPr>
                  <a:spLocks noChangeArrowheads="1"/>
                </p:cNvSpPr>
                <p:nvPr/>
              </p:nvSpPr>
              <p:spPr bwMode="auto">
                <a:xfrm>
                  <a:off x="2850" y="1286"/>
                  <a:ext cx="267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24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C</a:t>
                  </a:r>
                </a:p>
              </p:txBody>
            </p:sp>
            <p:sp>
              <p:nvSpPr>
                <p:cNvPr id="115" name="Rectangle 77"/>
                <p:cNvSpPr>
                  <a:spLocks noChangeArrowheads="1"/>
                </p:cNvSpPr>
                <p:nvPr/>
              </p:nvSpPr>
              <p:spPr bwMode="auto">
                <a:xfrm>
                  <a:off x="2837" y="1586"/>
                  <a:ext cx="225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+</a:t>
                  </a:r>
                </a:p>
              </p:txBody>
            </p:sp>
            <p:sp>
              <p:nvSpPr>
                <p:cNvPr id="116" name="Rectangle 78"/>
                <p:cNvSpPr>
                  <a:spLocks noChangeArrowheads="1"/>
                </p:cNvSpPr>
                <p:nvPr/>
              </p:nvSpPr>
              <p:spPr bwMode="auto">
                <a:xfrm>
                  <a:off x="2795" y="2252"/>
                  <a:ext cx="310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－</a:t>
                  </a:r>
                </a:p>
              </p:txBody>
            </p:sp>
            <p:grpSp>
              <p:nvGrpSpPr>
                <p:cNvPr id="117" name="Group 79"/>
                <p:cNvGrpSpPr>
                  <a:grpSpLocks/>
                </p:cNvGrpSpPr>
                <p:nvPr/>
              </p:nvGrpSpPr>
              <p:grpSpPr bwMode="auto">
                <a:xfrm>
                  <a:off x="1910" y="1614"/>
                  <a:ext cx="511" cy="346"/>
                  <a:chOff x="343" y="1488"/>
                  <a:chExt cx="511" cy="346"/>
                </a:xfrm>
              </p:grpSpPr>
              <p:sp>
                <p:nvSpPr>
                  <p:cNvPr id="155" name="Text Box 8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3" y="1488"/>
                    <a:ext cx="511" cy="21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zh-CN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6" name="Line 81"/>
                  <p:cNvSpPr>
                    <a:spLocks noChangeShapeType="1"/>
                  </p:cNvSpPr>
                  <p:nvPr/>
                </p:nvSpPr>
                <p:spPr bwMode="auto">
                  <a:xfrm>
                    <a:off x="489" y="1834"/>
                    <a:ext cx="365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C00000"/>
                    </a:solidFill>
                    <a:round/>
                    <a:headEnd/>
                    <a:tailEnd type="triangle" w="med" len="lg"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118" name="Rectangle 82"/>
                <p:cNvSpPr>
                  <a:spLocks noChangeArrowheads="1"/>
                </p:cNvSpPr>
                <p:nvPr/>
              </p:nvSpPr>
              <p:spPr bwMode="auto">
                <a:xfrm>
                  <a:off x="2206" y="1612"/>
                  <a:ext cx="267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B</a:t>
                  </a:r>
                </a:p>
              </p:txBody>
            </p:sp>
            <p:grpSp>
              <p:nvGrpSpPr>
                <p:cNvPr id="119" name="Group 83"/>
                <p:cNvGrpSpPr>
                  <a:grpSpLocks/>
                </p:cNvGrpSpPr>
                <p:nvPr/>
              </p:nvGrpSpPr>
              <p:grpSpPr bwMode="auto">
                <a:xfrm rot="5400000">
                  <a:off x="2746" y="1185"/>
                  <a:ext cx="514" cy="343"/>
                  <a:chOff x="340" y="1489"/>
                  <a:chExt cx="514" cy="343"/>
                </a:xfrm>
              </p:grpSpPr>
              <p:sp>
                <p:nvSpPr>
                  <p:cNvPr id="153" name="Text Box 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0" y="1489"/>
                    <a:ext cx="271" cy="21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10800000" vert="eaVert">
                    <a:spAutoFit/>
                  </a:bodyPr>
                  <a:lstStyle/>
                  <a:p>
                    <a:endParaRPr lang="zh-CN" altLang="zh-CN" sz="2400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4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489" y="1832"/>
                    <a:ext cx="365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C00000"/>
                    </a:solidFill>
                    <a:round/>
                    <a:headEnd/>
                    <a:tailEnd type="triangle" w="med" len="lg"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120" name="Rectangle 86"/>
                <p:cNvSpPr>
                  <a:spLocks noChangeArrowheads="1"/>
                </p:cNvSpPr>
                <p:nvPr/>
              </p:nvSpPr>
              <p:spPr bwMode="auto">
                <a:xfrm>
                  <a:off x="2287" y="2228"/>
                  <a:ext cx="421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24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BE</a:t>
                  </a:r>
                </a:p>
              </p:txBody>
            </p:sp>
            <p:sp>
              <p:nvSpPr>
                <p:cNvPr id="121" name="Rectangle 87"/>
                <p:cNvSpPr>
                  <a:spLocks noChangeArrowheads="1"/>
                </p:cNvSpPr>
                <p:nvPr/>
              </p:nvSpPr>
              <p:spPr bwMode="auto">
                <a:xfrm>
                  <a:off x="2287" y="2007"/>
                  <a:ext cx="225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+</a:t>
                  </a:r>
                </a:p>
              </p:txBody>
            </p:sp>
            <p:sp>
              <p:nvSpPr>
                <p:cNvPr id="122" name="Line 88"/>
                <p:cNvSpPr>
                  <a:spLocks noChangeShapeType="1"/>
                </p:cNvSpPr>
                <p:nvPr/>
              </p:nvSpPr>
              <p:spPr bwMode="auto">
                <a:xfrm>
                  <a:off x="1950" y="2007"/>
                  <a:ext cx="0" cy="44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23" name="Line 89"/>
                <p:cNvSpPr>
                  <a:spLocks noChangeShapeType="1"/>
                </p:cNvSpPr>
                <p:nvPr/>
              </p:nvSpPr>
              <p:spPr bwMode="auto">
                <a:xfrm>
                  <a:off x="1950" y="2448"/>
                  <a:ext cx="0" cy="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grpSp>
              <p:nvGrpSpPr>
                <p:cNvPr id="124" name="Group 90"/>
                <p:cNvGrpSpPr>
                  <a:grpSpLocks/>
                </p:cNvGrpSpPr>
                <p:nvPr/>
              </p:nvGrpSpPr>
              <p:grpSpPr bwMode="auto">
                <a:xfrm>
                  <a:off x="1876" y="2448"/>
                  <a:ext cx="160" cy="43"/>
                  <a:chOff x="3532" y="3763"/>
                  <a:chExt cx="173" cy="43"/>
                </a:xfrm>
              </p:grpSpPr>
              <p:sp>
                <p:nvSpPr>
                  <p:cNvPr id="151" name="Line 91"/>
                  <p:cNvSpPr>
                    <a:spLocks noChangeShapeType="1"/>
                  </p:cNvSpPr>
                  <p:nvPr/>
                </p:nvSpPr>
                <p:spPr bwMode="auto">
                  <a:xfrm>
                    <a:off x="3532" y="3763"/>
                    <a:ext cx="173" cy="0"/>
                  </a:xfrm>
                  <a:prstGeom prst="line">
                    <a:avLst/>
                  </a:prstGeom>
                  <a:noFill/>
                  <a:ln w="349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2" name="Line 92"/>
                  <p:cNvSpPr>
                    <a:spLocks noChangeShapeType="1"/>
                  </p:cNvSpPr>
                  <p:nvPr/>
                </p:nvSpPr>
                <p:spPr bwMode="auto">
                  <a:xfrm>
                    <a:off x="3571" y="3806"/>
                    <a:ext cx="92" cy="0"/>
                  </a:xfrm>
                  <a:prstGeom prst="line">
                    <a:avLst/>
                  </a:prstGeom>
                  <a:noFill/>
                  <a:ln w="349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125" name="Line 93"/>
                <p:cNvSpPr>
                  <a:spLocks noChangeShapeType="1"/>
                </p:cNvSpPr>
                <p:nvPr/>
              </p:nvSpPr>
              <p:spPr bwMode="auto">
                <a:xfrm>
                  <a:off x="1950" y="2484"/>
                  <a:ext cx="0" cy="27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26" name="Line 94"/>
                <p:cNvSpPr>
                  <a:spLocks noChangeShapeType="1"/>
                </p:cNvSpPr>
                <p:nvPr/>
              </p:nvSpPr>
              <p:spPr bwMode="auto">
                <a:xfrm>
                  <a:off x="1950" y="2746"/>
                  <a:ext cx="755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27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1616" y="2038"/>
                  <a:ext cx="320" cy="2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baseline="-25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B</a:t>
                  </a:r>
                </a:p>
              </p:txBody>
            </p:sp>
            <p:sp>
              <p:nvSpPr>
                <p:cNvPr id="128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2050" y="1698"/>
                  <a:ext cx="116" cy="213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29" name="Line 97"/>
                <p:cNvSpPr>
                  <a:spLocks noChangeShapeType="1"/>
                </p:cNvSpPr>
                <p:nvPr/>
              </p:nvSpPr>
              <p:spPr bwMode="auto">
                <a:xfrm>
                  <a:off x="3502" y="1125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0" name="Line 98"/>
                <p:cNvSpPr>
                  <a:spLocks noChangeShapeType="1"/>
                </p:cNvSpPr>
                <p:nvPr/>
              </p:nvSpPr>
              <p:spPr bwMode="auto">
                <a:xfrm>
                  <a:off x="3451" y="1120"/>
                  <a:ext cx="0" cy="122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grpSp>
              <p:nvGrpSpPr>
                <p:cNvPr id="131" name="Group 99"/>
                <p:cNvGrpSpPr>
                  <a:grpSpLocks/>
                </p:cNvGrpSpPr>
                <p:nvPr/>
              </p:nvGrpSpPr>
              <p:grpSpPr bwMode="auto">
                <a:xfrm>
                  <a:off x="3368" y="2340"/>
                  <a:ext cx="165" cy="43"/>
                  <a:chOff x="3522" y="4950"/>
                  <a:chExt cx="173" cy="43"/>
                </a:xfrm>
              </p:grpSpPr>
              <p:sp>
                <p:nvSpPr>
                  <p:cNvPr id="149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3522" y="4950"/>
                    <a:ext cx="173" cy="0"/>
                  </a:xfrm>
                  <a:prstGeom prst="line">
                    <a:avLst/>
                  </a:prstGeom>
                  <a:noFill/>
                  <a:ln w="349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0" name="Line 101"/>
                  <p:cNvSpPr>
                    <a:spLocks noChangeShapeType="1"/>
                  </p:cNvSpPr>
                  <p:nvPr/>
                </p:nvSpPr>
                <p:spPr bwMode="auto">
                  <a:xfrm>
                    <a:off x="3556" y="4993"/>
                    <a:ext cx="92" cy="0"/>
                  </a:xfrm>
                  <a:prstGeom prst="line">
                    <a:avLst/>
                  </a:prstGeom>
                  <a:noFill/>
                  <a:ln w="349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132" name="Line 102"/>
                <p:cNvSpPr>
                  <a:spLocks noChangeShapeType="1"/>
                </p:cNvSpPr>
                <p:nvPr/>
              </p:nvSpPr>
              <p:spPr bwMode="auto">
                <a:xfrm>
                  <a:off x="3449" y="2379"/>
                  <a:ext cx="0" cy="378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3" name="Line 103"/>
                <p:cNvSpPr>
                  <a:spLocks noChangeShapeType="1"/>
                </p:cNvSpPr>
                <p:nvPr/>
              </p:nvSpPr>
              <p:spPr bwMode="auto">
                <a:xfrm>
                  <a:off x="2705" y="2754"/>
                  <a:ext cx="746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4" name="Rectangle 104"/>
                <p:cNvSpPr>
                  <a:spLocks noChangeArrowheads="1"/>
                </p:cNvSpPr>
                <p:nvPr/>
              </p:nvSpPr>
              <p:spPr bwMode="auto">
                <a:xfrm>
                  <a:off x="3457" y="1440"/>
                  <a:ext cx="320" cy="2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C</a:t>
                  </a:r>
                </a:p>
              </p:txBody>
            </p:sp>
            <p:sp>
              <p:nvSpPr>
                <p:cNvPr id="135" name="Rectangle 105"/>
                <p:cNvSpPr>
                  <a:spLocks noChangeArrowheads="1"/>
                </p:cNvSpPr>
                <p:nvPr/>
              </p:nvSpPr>
              <p:spPr bwMode="auto">
                <a:xfrm>
                  <a:off x="3396" y="1636"/>
                  <a:ext cx="109" cy="273"/>
                </a:xfrm>
                <a:prstGeom prst="rect">
                  <a:avLst/>
                </a:prstGeom>
                <a:gradFill rotWithShape="1">
                  <a:gsLst>
                    <a:gs pos="0">
                      <a:srgbClr val="746644"/>
                    </a:gs>
                    <a:gs pos="50000">
                      <a:srgbClr val="FADD94"/>
                    </a:gs>
                    <a:gs pos="100000">
                      <a:srgbClr val="746644"/>
                    </a:gs>
                  </a:gsLst>
                  <a:lin ang="0" scaled="1"/>
                </a:gradFill>
                <a:ln w="44450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6" name="Rectangle 106"/>
                <p:cNvSpPr>
                  <a:spLocks noChangeArrowheads="1"/>
                </p:cNvSpPr>
                <p:nvPr/>
              </p:nvSpPr>
              <p:spPr bwMode="auto">
                <a:xfrm>
                  <a:off x="1908" y="2097"/>
                  <a:ext cx="95" cy="273"/>
                </a:xfrm>
                <a:prstGeom prst="rect">
                  <a:avLst/>
                </a:prstGeom>
                <a:gradFill rotWithShape="1">
                  <a:gsLst>
                    <a:gs pos="0">
                      <a:srgbClr val="746644"/>
                    </a:gs>
                    <a:gs pos="50000">
                      <a:srgbClr val="FADD94"/>
                    </a:gs>
                    <a:gs pos="100000">
                      <a:srgbClr val="746644"/>
                    </a:gs>
                  </a:gsLst>
                  <a:lin ang="0" scaled="1"/>
                </a:gradFill>
                <a:ln w="44450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7" name="Line 107"/>
                <p:cNvSpPr>
                  <a:spLocks noChangeShapeType="1"/>
                </p:cNvSpPr>
                <p:nvPr/>
              </p:nvSpPr>
              <p:spPr bwMode="auto">
                <a:xfrm>
                  <a:off x="1950" y="2007"/>
                  <a:ext cx="268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8" name="Line 108"/>
                <p:cNvSpPr>
                  <a:spLocks noChangeShapeType="1"/>
                </p:cNvSpPr>
                <p:nvPr/>
              </p:nvSpPr>
              <p:spPr bwMode="auto">
                <a:xfrm>
                  <a:off x="2716" y="2194"/>
                  <a:ext cx="0" cy="56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9" name="Line 109"/>
                <p:cNvSpPr>
                  <a:spLocks noChangeShapeType="1"/>
                </p:cNvSpPr>
                <p:nvPr/>
              </p:nvSpPr>
              <p:spPr bwMode="auto">
                <a:xfrm>
                  <a:off x="2742" y="1125"/>
                  <a:ext cx="709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0" name="Line 110"/>
                <p:cNvSpPr>
                  <a:spLocks noChangeShapeType="1"/>
                </p:cNvSpPr>
                <p:nvPr/>
              </p:nvSpPr>
              <p:spPr bwMode="auto">
                <a:xfrm>
                  <a:off x="2742" y="1125"/>
                  <a:ext cx="0" cy="659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grpSp>
              <p:nvGrpSpPr>
                <p:cNvPr id="141" name="Group 111"/>
                <p:cNvGrpSpPr>
                  <a:grpSpLocks/>
                </p:cNvGrpSpPr>
                <p:nvPr/>
              </p:nvGrpSpPr>
              <p:grpSpPr bwMode="auto">
                <a:xfrm>
                  <a:off x="2208" y="1771"/>
                  <a:ext cx="524" cy="440"/>
                  <a:chOff x="4341" y="2639"/>
                  <a:chExt cx="564" cy="440"/>
                </a:xfrm>
              </p:grpSpPr>
              <p:sp>
                <p:nvSpPr>
                  <p:cNvPr id="145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4341" y="2877"/>
                    <a:ext cx="336" cy="0"/>
                  </a:xfrm>
                  <a:prstGeom prst="line">
                    <a:avLst/>
                  </a:prstGeom>
                  <a:noFill/>
                  <a:ln w="444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6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4681" y="2684"/>
                    <a:ext cx="1" cy="385"/>
                  </a:xfrm>
                  <a:prstGeom prst="line">
                    <a:avLst/>
                  </a:prstGeom>
                  <a:noFill/>
                  <a:ln w="444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7" name="Line 11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1" y="2639"/>
                    <a:ext cx="224" cy="163"/>
                  </a:xfrm>
                  <a:prstGeom prst="line">
                    <a:avLst/>
                  </a:prstGeom>
                  <a:noFill/>
                  <a:ln w="412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8" name="Line 115"/>
                  <p:cNvSpPr>
                    <a:spLocks noChangeShapeType="1"/>
                  </p:cNvSpPr>
                  <p:nvPr/>
                </p:nvSpPr>
                <p:spPr bwMode="auto">
                  <a:xfrm>
                    <a:off x="4698" y="2945"/>
                    <a:ext cx="200" cy="134"/>
                  </a:xfrm>
                  <a:prstGeom prst="line">
                    <a:avLst/>
                  </a:prstGeom>
                  <a:noFill/>
                  <a:ln w="44450">
                    <a:solidFill>
                      <a:schemeClr val="tx1"/>
                    </a:solidFill>
                    <a:round/>
                    <a:headEnd/>
                    <a:tailEnd type="triangle" w="sm" len="lg"/>
                  </a:ln>
                </p:spPr>
                <p:txBody>
                  <a:bodyPr/>
                  <a:lstStyle/>
                  <a:p>
                    <a:endPara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142" name="Oval 116"/>
                <p:cNvSpPr>
                  <a:spLocks noChangeArrowheads="1"/>
                </p:cNvSpPr>
                <p:nvPr/>
              </p:nvSpPr>
              <p:spPr bwMode="auto">
                <a:xfrm flipV="1">
                  <a:off x="2667" y="2708"/>
                  <a:ext cx="75" cy="76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3" name="Text Box 117"/>
                <p:cNvSpPr txBox="1">
                  <a:spLocks noChangeArrowheads="1"/>
                </p:cNvSpPr>
                <p:nvPr/>
              </p:nvSpPr>
              <p:spPr bwMode="auto">
                <a:xfrm>
                  <a:off x="2755" y="2263"/>
                  <a:ext cx="44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endParaRPr lang="zh-CN" altLang="zh-CN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4" name="Rectangle 118"/>
                <p:cNvSpPr>
                  <a:spLocks noChangeArrowheads="1"/>
                </p:cNvSpPr>
                <p:nvPr/>
              </p:nvSpPr>
              <p:spPr bwMode="auto">
                <a:xfrm>
                  <a:off x="2416" y="2437"/>
                  <a:ext cx="310" cy="291"/>
                </a:xfrm>
                <a:prstGeom prst="rect">
                  <a:avLst/>
                </a:prstGeom>
                <a:noFill/>
                <a:ln w="57150">
                  <a:noFill/>
                  <a:miter lim="800000"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－</a:t>
                  </a:r>
                </a:p>
              </p:txBody>
            </p:sp>
          </p:grpSp>
        </p:grpSp>
        <p:sp>
          <p:nvSpPr>
            <p:cNvPr id="108" name="Line 119"/>
            <p:cNvSpPr>
              <a:spLocks noChangeShapeType="1"/>
            </p:cNvSpPr>
            <p:nvPr/>
          </p:nvSpPr>
          <p:spPr bwMode="auto">
            <a:xfrm>
              <a:off x="2705" y="2739"/>
              <a:ext cx="0" cy="11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9" name="Line 120"/>
            <p:cNvSpPr>
              <a:spLocks noChangeShapeType="1"/>
            </p:cNvSpPr>
            <p:nvPr/>
          </p:nvSpPr>
          <p:spPr bwMode="auto">
            <a:xfrm>
              <a:off x="2634" y="2852"/>
              <a:ext cx="145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nimBg="1"/>
      <p:bldP spid="17" grpId="0" animBg="1"/>
      <p:bldP spid="18" grpId="0" animBg="1"/>
      <p:bldP spid="19" grpId="0" animBg="1"/>
      <p:bldP spid="20" grpId="0" autoUpdateAnimBg="0"/>
      <p:bldP spid="21" grpId="0" animBg="1"/>
      <p:bldP spid="25" grpId="0" autoUpdateAnimBg="0"/>
      <p:bldP spid="43" grpId="0" animBg="1"/>
      <p:bldP spid="57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4"/>
          <p:cNvGrpSpPr>
            <a:grpSpLocks/>
          </p:cNvGrpSpPr>
          <p:nvPr/>
        </p:nvGrpSpPr>
        <p:grpSpPr bwMode="auto">
          <a:xfrm>
            <a:off x="379413" y="265793"/>
            <a:ext cx="4949825" cy="581025"/>
            <a:chOff x="1199" y="284"/>
            <a:chExt cx="3118" cy="366"/>
          </a:xfrm>
        </p:grpSpPr>
        <p:sp>
          <p:nvSpPr>
            <p:cNvPr id="35" name="Rectangle 35"/>
            <p:cNvSpPr>
              <a:spLocks noChangeArrowheads="1"/>
            </p:cNvSpPr>
            <p:nvPr/>
          </p:nvSpPr>
          <p:spPr bwMode="auto">
            <a:xfrm>
              <a:off x="1199" y="284"/>
              <a:ext cx="305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输入、输出回路静态图解分析</a:t>
              </a:r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>
              <a:off x="1256" y="650"/>
              <a:ext cx="30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37" name="Group 37"/>
          <p:cNvGrpSpPr>
            <a:grpSpLocks/>
          </p:cNvGrpSpPr>
          <p:nvPr/>
        </p:nvGrpSpPr>
        <p:grpSpPr bwMode="auto">
          <a:xfrm>
            <a:off x="1176792" y="4084640"/>
            <a:ext cx="2786062" cy="965200"/>
            <a:chOff x="851" y="3151"/>
            <a:chExt cx="1755" cy="608"/>
          </a:xfrm>
        </p:grpSpPr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947" y="3151"/>
              <a:ext cx="163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</a:t>
              </a: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BEQ</a:t>
              </a:r>
            </a:p>
          </p:txBody>
        </p:sp>
        <p:sp>
          <p:nvSpPr>
            <p:cNvPr id="39" name="Text Box 39"/>
            <p:cNvSpPr txBox="1">
              <a:spLocks noChangeArrowheads="1"/>
            </p:cNvSpPr>
            <p:nvPr/>
          </p:nvSpPr>
          <p:spPr bwMode="auto">
            <a:xfrm>
              <a:off x="974" y="3468"/>
              <a:ext cx="163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</a:t>
              </a: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BQ</a:t>
              </a:r>
            </a:p>
          </p:txBody>
        </p:sp>
        <p:sp>
          <p:nvSpPr>
            <p:cNvPr id="40" name="AutoShape 40"/>
            <p:cNvSpPr>
              <a:spLocks/>
            </p:cNvSpPr>
            <p:nvPr/>
          </p:nvSpPr>
          <p:spPr bwMode="auto">
            <a:xfrm>
              <a:off x="851" y="3242"/>
              <a:ext cx="109" cy="435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41" name="Group 41"/>
          <p:cNvGrpSpPr>
            <a:grpSpLocks/>
          </p:cNvGrpSpPr>
          <p:nvPr/>
        </p:nvGrpSpPr>
        <p:grpSpPr bwMode="auto">
          <a:xfrm>
            <a:off x="5199743" y="4106860"/>
            <a:ext cx="1771650" cy="965200"/>
            <a:chOff x="3238" y="3190"/>
            <a:chExt cx="1116" cy="608"/>
          </a:xfrm>
        </p:grpSpPr>
        <p:sp>
          <p:nvSpPr>
            <p:cNvPr id="42" name="Rectangle 42"/>
            <p:cNvSpPr>
              <a:spLocks noChangeArrowheads="1"/>
            </p:cNvSpPr>
            <p:nvPr/>
          </p:nvSpPr>
          <p:spPr bwMode="auto">
            <a:xfrm>
              <a:off x="3328" y="3190"/>
              <a:ext cx="102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</a:t>
              </a: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CEQ</a:t>
              </a:r>
            </a:p>
          </p:txBody>
        </p:sp>
        <p:sp>
          <p:nvSpPr>
            <p:cNvPr id="43" name="Rectangle 43"/>
            <p:cNvSpPr>
              <a:spLocks noChangeArrowheads="1"/>
            </p:cNvSpPr>
            <p:nvPr/>
          </p:nvSpPr>
          <p:spPr bwMode="auto">
            <a:xfrm>
              <a:off x="3380" y="3507"/>
              <a:ext cx="71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</a:t>
              </a: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CQ</a:t>
              </a:r>
            </a:p>
          </p:txBody>
        </p:sp>
        <p:sp>
          <p:nvSpPr>
            <p:cNvPr id="44" name="AutoShape 44"/>
            <p:cNvSpPr>
              <a:spLocks/>
            </p:cNvSpPr>
            <p:nvPr/>
          </p:nvSpPr>
          <p:spPr bwMode="auto">
            <a:xfrm>
              <a:off x="3238" y="3253"/>
              <a:ext cx="98" cy="477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3657320" y="942068"/>
            <a:ext cx="4038608" cy="2969753"/>
            <a:chOff x="3615419" y="942068"/>
            <a:chExt cx="5360988" cy="3592511"/>
          </a:xfrm>
        </p:grpSpPr>
        <p:sp>
          <p:nvSpPr>
            <p:cNvPr id="103" name="Freeform 3"/>
            <p:cNvSpPr>
              <a:spLocks/>
            </p:cNvSpPr>
            <p:nvPr/>
          </p:nvSpPr>
          <p:spPr bwMode="auto">
            <a:xfrm>
              <a:off x="4417106" y="1277031"/>
              <a:ext cx="3525837" cy="2760662"/>
            </a:xfrm>
            <a:custGeom>
              <a:avLst/>
              <a:gdLst>
                <a:gd name="T0" fmla="*/ 0 w 2221"/>
                <a:gd name="T1" fmla="*/ 2147483647 h 1739"/>
                <a:gd name="T2" fmla="*/ 2147483647 w 2221"/>
                <a:gd name="T3" fmla="*/ 2147483647 h 1739"/>
                <a:gd name="T4" fmla="*/ 2147483647 w 2221"/>
                <a:gd name="T5" fmla="*/ 2147483647 h 1739"/>
                <a:gd name="T6" fmla="*/ 0 60000 65536"/>
                <a:gd name="T7" fmla="*/ 0 60000 65536"/>
                <a:gd name="T8" fmla="*/ 0 60000 65536"/>
                <a:gd name="T9" fmla="*/ 0 w 2221"/>
                <a:gd name="T10" fmla="*/ 0 h 1739"/>
                <a:gd name="T11" fmla="*/ 2221 w 2221"/>
                <a:gd name="T12" fmla="*/ 1739 h 17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21" h="1739">
                  <a:moveTo>
                    <a:pt x="0" y="1739"/>
                  </a:moveTo>
                  <a:cubicBezTo>
                    <a:pt x="51" y="1481"/>
                    <a:pt x="35" y="376"/>
                    <a:pt x="305" y="188"/>
                  </a:cubicBezTo>
                  <a:cubicBezTo>
                    <a:pt x="575" y="0"/>
                    <a:pt x="1822" y="85"/>
                    <a:pt x="2221" y="58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4" name="Freeform 4"/>
            <p:cNvSpPr>
              <a:spLocks/>
            </p:cNvSpPr>
            <p:nvPr/>
          </p:nvSpPr>
          <p:spPr bwMode="auto">
            <a:xfrm>
              <a:off x="4569505" y="2075543"/>
              <a:ext cx="3282950" cy="336550"/>
            </a:xfrm>
            <a:custGeom>
              <a:avLst/>
              <a:gdLst>
                <a:gd name="T0" fmla="*/ 0 w 2068"/>
                <a:gd name="T1" fmla="*/ 2147483647 h 212"/>
                <a:gd name="T2" fmla="*/ 2147483647 w 2068"/>
                <a:gd name="T3" fmla="*/ 2147483647 h 212"/>
                <a:gd name="T4" fmla="*/ 2147483647 w 2068"/>
                <a:gd name="T5" fmla="*/ 0 h 212"/>
                <a:gd name="T6" fmla="*/ 0 60000 65536"/>
                <a:gd name="T7" fmla="*/ 0 60000 65536"/>
                <a:gd name="T8" fmla="*/ 0 60000 65536"/>
                <a:gd name="T9" fmla="*/ 0 w 2068"/>
                <a:gd name="T10" fmla="*/ 0 h 212"/>
                <a:gd name="T11" fmla="*/ 2068 w 2068"/>
                <a:gd name="T12" fmla="*/ 212 h 2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8" h="212">
                  <a:moveTo>
                    <a:pt x="0" y="212"/>
                  </a:moveTo>
                  <a:cubicBezTo>
                    <a:pt x="65" y="179"/>
                    <a:pt x="42" y="47"/>
                    <a:pt x="387" y="12"/>
                  </a:cubicBezTo>
                  <a:cubicBezTo>
                    <a:pt x="733" y="5"/>
                    <a:pt x="1718" y="2"/>
                    <a:pt x="2068" y="0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5" name="Freeform 5"/>
            <p:cNvSpPr>
              <a:spLocks/>
            </p:cNvSpPr>
            <p:nvPr/>
          </p:nvSpPr>
          <p:spPr bwMode="auto">
            <a:xfrm>
              <a:off x="4496481" y="2737531"/>
              <a:ext cx="3427412" cy="304800"/>
            </a:xfrm>
            <a:custGeom>
              <a:avLst/>
              <a:gdLst>
                <a:gd name="T0" fmla="*/ 0 w 2068"/>
                <a:gd name="T1" fmla="*/ 2147483647 h 212"/>
                <a:gd name="T2" fmla="*/ 2147483647 w 2068"/>
                <a:gd name="T3" fmla="*/ 2147483647 h 212"/>
                <a:gd name="T4" fmla="*/ 2147483647 w 2068"/>
                <a:gd name="T5" fmla="*/ 0 h 212"/>
                <a:gd name="T6" fmla="*/ 0 60000 65536"/>
                <a:gd name="T7" fmla="*/ 0 60000 65536"/>
                <a:gd name="T8" fmla="*/ 0 60000 65536"/>
                <a:gd name="T9" fmla="*/ 0 w 2068"/>
                <a:gd name="T10" fmla="*/ 0 h 212"/>
                <a:gd name="T11" fmla="*/ 2068 w 2068"/>
                <a:gd name="T12" fmla="*/ 212 h 2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8" h="212">
                  <a:moveTo>
                    <a:pt x="0" y="212"/>
                  </a:moveTo>
                  <a:cubicBezTo>
                    <a:pt x="65" y="179"/>
                    <a:pt x="42" y="47"/>
                    <a:pt x="387" y="12"/>
                  </a:cubicBezTo>
                  <a:cubicBezTo>
                    <a:pt x="733" y="5"/>
                    <a:pt x="1718" y="2"/>
                    <a:pt x="2068" y="0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Freeform 6"/>
            <p:cNvSpPr>
              <a:spLocks/>
            </p:cNvSpPr>
            <p:nvPr/>
          </p:nvSpPr>
          <p:spPr bwMode="auto">
            <a:xfrm>
              <a:off x="4434568" y="3432856"/>
              <a:ext cx="3505200" cy="382588"/>
            </a:xfrm>
            <a:custGeom>
              <a:avLst/>
              <a:gdLst>
                <a:gd name="T0" fmla="*/ 0 w 2068"/>
                <a:gd name="T1" fmla="*/ 2147483647 h 212"/>
                <a:gd name="T2" fmla="*/ 2147483647 w 2068"/>
                <a:gd name="T3" fmla="*/ 2147483647 h 212"/>
                <a:gd name="T4" fmla="*/ 2147483647 w 2068"/>
                <a:gd name="T5" fmla="*/ 0 h 212"/>
                <a:gd name="T6" fmla="*/ 0 60000 65536"/>
                <a:gd name="T7" fmla="*/ 0 60000 65536"/>
                <a:gd name="T8" fmla="*/ 0 60000 65536"/>
                <a:gd name="T9" fmla="*/ 0 w 2068"/>
                <a:gd name="T10" fmla="*/ 0 h 212"/>
                <a:gd name="T11" fmla="*/ 2068 w 2068"/>
                <a:gd name="T12" fmla="*/ 212 h 2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8" h="212">
                  <a:moveTo>
                    <a:pt x="0" y="212"/>
                  </a:moveTo>
                  <a:cubicBezTo>
                    <a:pt x="65" y="179"/>
                    <a:pt x="42" y="47"/>
                    <a:pt x="387" y="12"/>
                  </a:cubicBezTo>
                  <a:cubicBezTo>
                    <a:pt x="733" y="5"/>
                    <a:pt x="1718" y="2"/>
                    <a:pt x="2068" y="0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7" name="Text Box 7"/>
            <p:cNvSpPr txBox="1">
              <a:spLocks noChangeArrowheads="1"/>
            </p:cNvSpPr>
            <p:nvPr/>
          </p:nvSpPr>
          <p:spPr bwMode="auto">
            <a:xfrm>
              <a:off x="7213859" y="2207202"/>
              <a:ext cx="1690659" cy="5584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BQ</a:t>
              </a:r>
            </a:p>
          </p:txBody>
        </p:sp>
        <p:sp>
          <p:nvSpPr>
            <p:cNvPr id="108" name="Line 8"/>
            <p:cNvSpPr>
              <a:spLocks noChangeShapeType="1"/>
            </p:cNvSpPr>
            <p:nvPr/>
          </p:nvSpPr>
          <p:spPr bwMode="auto">
            <a:xfrm>
              <a:off x="4397829" y="1345067"/>
              <a:ext cx="3372077" cy="269262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>
              <a:prstShdw prst="shdw17" dist="17961" dir="2700000">
                <a:srgbClr val="997A3D"/>
              </a:prstShdw>
            </a:effectLst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09" name="Group 9"/>
            <p:cNvGrpSpPr>
              <a:grpSpLocks/>
            </p:cNvGrpSpPr>
            <p:nvPr/>
          </p:nvGrpSpPr>
          <p:grpSpPr bwMode="auto">
            <a:xfrm>
              <a:off x="3615419" y="2451780"/>
              <a:ext cx="3425826" cy="2082799"/>
              <a:chOff x="2252" y="1632"/>
              <a:chExt cx="2158" cy="1312"/>
            </a:xfrm>
          </p:grpSpPr>
          <p:sp>
            <p:nvSpPr>
              <p:cNvPr id="110" name="Text Box 10"/>
              <p:cNvSpPr txBox="1">
                <a:spLocks noChangeArrowheads="1"/>
              </p:cNvSpPr>
              <p:nvPr/>
            </p:nvSpPr>
            <p:spPr bwMode="auto">
              <a:xfrm>
                <a:off x="2252" y="1632"/>
                <a:ext cx="555" cy="3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CQ</a:t>
                </a:r>
              </a:p>
            </p:txBody>
          </p:sp>
          <p:sp>
            <p:nvSpPr>
              <p:cNvPr id="111" name="Text Box 11"/>
              <p:cNvSpPr txBox="1">
                <a:spLocks noChangeArrowheads="1"/>
              </p:cNvSpPr>
              <p:nvPr/>
            </p:nvSpPr>
            <p:spPr bwMode="auto">
              <a:xfrm>
                <a:off x="3648" y="2592"/>
                <a:ext cx="762" cy="3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CEQ</a:t>
                </a:r>
              </a:p>
            </p:txBody>
          </p:sp>
        </p:grpSp>
        <p:sp>
          <p:nvSpPr>
            <p:cNvPr id="112" name="Text Box 12"/>
            <p:cNvSpPr txBox="1">
              <a:spLocks noChangeArrowheads="1"/>
            </p:cNvSpPr>
            <p:nvPr/>
          </p:nvSpPr>
          <p:spPr bwMode="auto">
            <a:xfrm>
              <a:off x="6104786" y="2187205"/>
              <a:ext cx="634027" cy="5584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13" name="Group 13"/>
            <p:cNvGrpSpPr>
              <a:grpSpLocks/>
            </p:cNvGrpSpPr>
            <p:nvPr/>
          </p:nvGrpSpPr>
          <p:grpSpPr bwMode="auto">
            <a:xfrm>
              <a:off x="4459968" y="942068"/>
              <a:ext cx="4038600" cy="3495675"/>
              <a:chOff x="2784" y="681"/>
              <a:chExt cx="2544" cy="2202"/>
            </a:xfrm>
          </p:grpSpPr>
          <p:sp>
            <p:nvSpPr>
              <p:cNvPr id="114" name="Text Box 14"/>
              <p:cNvSpPr txBox="1">
                <a:spLocks noChangeArrowheads="1"/>
              </p:cNvSpPr>
              <p:nvPr/>
            </p:nvSpPr>
            <p:spPr bwMode="auto">
              <a:xfrm>
                <a:off x="2784" y="681"/>
                <a:ext cx="62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endParaRPr lang="zh-CN" altLang="zh-CN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5" name="Text Box 15"/>
              <p:cNvSpPr txBox="1">
                <a:spLocks noChangeArrowheads="1"/>
              </p:cNvSpPr>
              <p:nvPr/>
            </p:nvSpPr>
            <p:spPr bwMode="auto">
              <a:xfrm>
                <a:off x="4704" y="2592"/>
                <a:ext cx="62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CC</a:t>
                </a:r>
              </a:p>
            </p:txBody>
          </p:sp>
        </p:grpSp>
        <p:grpSp>
          <p:nvGrpSpPr>
            <p:cNvPr id="116" name="Group 16"/>
            <p:cNvGrpSpPr>
              <a:grpSpLocks/>
            </p:cNvGrpSpPr>
            <p:nvPr/>
          </p:nvGrpSpPr>
          <p:grpSpPr bwMode="auto">
            <a:xfrm>
              <a:off x="4405993" y="2742293"/>
              <a:ext cx="1752600" cy="1295400"/>
              <a:chOff x="2784" y="1824"/>
              <a:chExt cx="1104" cy="816"/>
            </a:xfrm>
          </p:grpSpPr>
          <p:sp>
            <p:nvSpPr>
              <p:cNvPr id="117" name="Line 17"/>
              <p:cNvSpPr>
                <a:spLocks noChangeShapeType="1"/>
              </p:cNvSpPr>
              <p:nvPr/>
            </p:nvSpPr>
            <p:spPr bwMode="auto">
              <a:xfrm>
                <a:off x="2784" y="1824"/>
                <a:ext cx="11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8" name="Line 18"/>
              <p:cNvSpPr>
                <a:spLocks noChangeShapeType="1"/>
              </p:cNvSpPr>
              <p:nvPr/>
            </p:nvSpPr>
            <p:spPr bwMode="auto">
              <a:xfrm>
                <a:off x="3888" y="1824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19" name="Group 24"/>
            <p:cNvGrpSpPr>
              <a:grpSpLocks/>
            </p:cNvGrpSpPr>
            <p:nvPr/>
          </p:nvGrpSpPr>
          <p:grpSpPr bwMode="auto">
            <a:xfrm>
              <a:off x="3702731" y="950006"/>
              <a:ext cx="5273676" cy="3168650"/>
              <a:chOff x="2351" y="695"/>
              <a:chExt cx="3322" cy="1996"/>
            </a:xfrm>
          </p:grpSpPr>
          <p:sp>
            <p:nvSpPr>
              <p:cNvPr id="120" name="Line 25"/>
              <p:cNvSpPr>
                <a:spLocks noChangeShapeType="1"/>
              </p:cNvSpPr>
              <p:nvPr/>
            </p:nvSpPr>
            <p:spPr bwMode="auto">
              <a:xfrm>
                <a:off x="2784" y="2640"/>
                <a:ext cx="2688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1" name="Line 26"/>
              <p:cNvSpPr>
                <a:spLocks noChangeShapeType="1"/>
              </p:cNvSpPr>
              <p:nvPr/>
            </p:nvSpPr>
            <p:spPr bwMode="auto">
              <a:xfrm flipV="1">
                <a:off x="2784" y="762"/>
                <a:ext cx="0" cy="187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2" name="Text Box 27"/>
              <p:cNvSpPr txBox="1">
                <a:spLocks noChangeArrowheads="1"/>
              </p:cNvSpPr>
              <p:nvPr/>
            </p:nvSpPr>
            <p:spPr bwMode="auto">
              <a:xfrm>
                <a:off x="2351" y="695"/>
                <a:ext cx="481" cy="3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3" name="Text Box 28"/>
              <p:cNvSpPr txBox="1">
                <a:spLocks noChangeArrowheads="1"/>
              </p:cNvSpPr>
              <p:nvPr/>
            </p:nvSpPr>
            <p:spPr bwMode="auto">
              <a:xfrm>
                <a:off x="5106" y="2311"/>
                <a:ext cx="567" cy="3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CE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4" name="Text Box 29"/>
              <p:cNvSpPr txBox="1">
                <a:spLocks noChangeArrowheads="1"/>
              </p:cNvSpPr>
              <p:nvPr/>
            </p:nvSpPr>
            <p:spPr bwMode="auto">
              <a:xfrm>
                <a:off x="2592" y="2400"/>
                <a:ext cx="33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125" name="Oval 30"/>
            <p:cNvSpPr>
              <a:spLocks noChangeArrowheads="1"/>
            </p:cNvSpPr>
            <p:nvPr/>
          </p:nvSpPr>
          <p:spPr bwMode="auto">
            <a:xfrm>
              <a:off x="6072981" y="2663863"/>
              <a:ext cx="167257" cy="1524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442227" y="957035"/>
            <a:ext cx="3401055" cy="3021615"/>
            <a:chOff x="437016" y="957035"/>
            <a:chExt cx="3776744" cy="3628271"/>
          </a:xfrm>
        </p:grpSpPr>
        <p:sp>
          <p:nvSpPr>
            <p:cNvPr id="154" name="任意多边形 153"/>
            <p:cNvSpPr/>
            <p:nvPr/>
          </p:nvSpPr>
          <p:spPr>
            <a:xfrm>
              <a:off x="1186543" y="1817914"/>
              <a:ext cx="1121228" cy="2198914"/>
            </a:xfrm>
            <a:custGeom>
              <a:avLst/>
              <a:gdLst>
                <a:gd name="connsiteX0" fmla="*/ 0 w 1121228"/>
                <a:gd name="connsiteY0" fmla="*/ 2198914 h 2198914"/>
                <a:gd name="connsiteX1" fmla="*/ 533400 w 1121228"/>
                <a:gd name="connsiteY1" fmla="*/ 1915886 h 2198914"/>
                <a:gd name="connsiteX2" fmla="*/ 827314 w 1121228"/>
                <a:gd name="connsiteY2" fmla="*/ 1338943 h 2198914"/>
                <a:gd name="connsiteX3" fmla="*/ 1121228 w 1121228"/>
                <a:gd name="connsiteY3" fmla="*/ 0 h 219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1228" h="2198914">
                  <a:moveTo>
                    <a:pt x="0" y="2198914"/>
                  </a:moveTo>
                  <a:cubicBezTo>
                    <a:pt x="197757" y="2129064"/>
                    <a:pt x="395514" y="2059215"/>
                    <a:pt x="533400" y="1915886"/>
                  </a:cubicBezTo>
                  <a:cubicBezTo>
                    <a:pt x="671286" y="1772557"/>
                    <a:pt x="729343" y="1658257"/>
                    <a:pt x="827314" y="1338943"/>
                  </a:cubicBezTo>
                  <a:cubicBezTo>
                    <a:pt x="925285" y="1019629"/>
                    <a:pt x="1023256" y="509814"/>
                    <a:pt x="1121228" y="0"/>
                  </a:cubicBezTo>
                </a:path>
              </a:pathLst>
            </a:custGeom>
            <a:ln w="444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7" name="Group 16"/>
            <p:cNvGrpSpPr>
              <a:grpSpLocks/>
            </p:cNvGrpSpPr>
            <p:nvPr/>
          </p:nvGrpSpPr>
          <p:grpSpPr bwMode="auto">
            <a:xfrm>
              <a:off x="437016" y="1190397"/>
              <a:ext cx="2817814" cy="3322639"/>
              <a:chOff x="155" y="297"/>
              <a:chExt cx="1775" cy="2093"/>
            </a:xfrm>
          </p:grpSpPr>
          <p:sp>
            <p:nvSpPr>
              <p:cNvPr id="128" name="Line 17"/>
              <p:cNvSpPr>
                <a:spLocks noChangeShapeType="1"/>
              </p:cNvSpPr>
              <p:nvPr/>
            </p:nvSpPr>
            <p:spPr bwMode="auto">
              <a:xfrm>
                <a:off x="618" y="585"/>
                <a:ext cx="1196" cy="1511"/>
              </a:xfrm>
              <a:prstGeom prst="line">
                <a:avLst/>
              </a:prstGeom>
              <a:noFill/>
              <a:ln w="254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9" name="Text Box 18"/>
              <p:cNvSpPr txBox="1">
                <a:spLocks noChangeArrowheads="1"/>
              </p:cNvSpPr>
              <p:nvPr/>
            </p:nvSpPr>
            <p:spPr bwMode="auto">
              <a:xfrm>
                <a:off x="1502" y="2099"/>
                <a:ext cx="428" cy="29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CC</a:t>
                </a:r>
              </a:p>
            </p:txBody>
          </p:sp>
          <p:grpSp>
            <p:nvGrpSpPr>
              <p:cNvPr id="130" name="Group 19"/>
              <p:cNvGrpSpPr>
                <a:grpSpLocks/>
              </p:cNvGrpSpPr>
              <p:nvPr/>
            </p:nvGrpSpPr>
            <p:grpSpPr bwMode="auto">
              <a:xfrm>
                <a:off x="155" y="297"/>
                <a:ext cx="442" cy="591"/>
                <a:chOff x="3852" y="847"/>
                <a:chExt cx="435" cy="591"/>
              </a:xfrm>
            </p:grpSpPr>
            <p:sp>
              <p:nvSpPr>
                <p:cNvPr id="131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3852" y="847"/>
                  <a:ext cx="421" cy="2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CC</a:t>
                  </a:r>
                </a:p>
              </p:txBody>
            </p:sp>
            <p:sp>
              <p:nvSpPr>
                <p:cNvPr id="132" name="Line 21"/>
                <p:cNvSpPr>
                  <a:spLocks noChangeShapeType="1"/>
                </p:cNvSpPr>
                <p:nvPr/>
              </p:nvSpPr>
              <p:spPr bwMode="auto">
                <a:xfrm>
                  <a:off x="3888" y="1174"/>
                  <a:ext cx="37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3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3977" y="1060"/>
                  <a:ext cx="114" cy="2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zh-CN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4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3903" y="1147"/>
                  <a:ext cx="384" cy="2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B</a:t>
                  </a:r>
                </a:p>
              </p:txBody>
            </p:sp>
          </p:grpSp>
        </p:grpSp>
        <p:grpSp>
          <p:nvGrpSpPr>
            <p:cNvPr id="135" name="Group 24"/>
            <p:cNvGrpSpPr>
              <a:grpSpLocks/>
            </p:cNvGrpSpPr>
            <p:nvPr/>
          </p:nvGrpSpPr>
          <p:grpSpPr bwMode="auto">
            <a:xfrm>
              <a:off x="1735591" y="2862035"/>
              <a:ext cx="1008062" cy="1690687"/>
              <a:chOff x="5018" y="674"/>
              <a:chExt cx="635" cy="1065"/>
            </a:xfrm>
          </p:grpSpPr>
          <p:sp>
            <p:nvSpPr>
              <p:cNvPr id="136" name="Line 25"/>
              <p:cNvSpPr>
                <a:spLocks noChangeShapeType="1"/>
              </p:cNvSpPr>
              <p:nvPr/>
            </p:nvSpPr>
            <p:spPr bwMode="auto">
              <a:xfrm>
                <a:off x="5254" y="674"/>
                <a:ext cx="0" cy="7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37" name="Text Box 26"/>
              <p:cNvSpPr txBox="1">
                <a:spLocks noChangeArrowheads="1"/>
              </p:cNvSpPr>
              <p:nvPr/>
            </p:nvSpPr>
            <p:spPr bwMode="auto">
              <a:xfrm>
                <a:off x="5018" y="1448"/>
                <a:ext cx="63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BEQ</a:t>
                </a:r>
              </a:p>
            </p:txBody>
          </p:sp>
        </p:grpSp>
        <p:grpSp>
          <p:nvGrpSpPr>
            <p:cNvPr id="138" name="Group 27"/>
            <p:cNvGrpSpPr>
              <a:grpSpLocks/>
            </p:cNvGrpSpPr>
            <p:nvPr/>
          </p:nvGrpSpPr>
          <p:grpSpPr bwMode="auto">
            <a:xfrm>
              <a:off x="535441" y="2433410"/>
              <a:ext cx="1533525" cy="461962"/>
              <a:chOff x="3699" y="496"/>
              <a:chExt cx="966" cy="291"/>
            </a:xfrm>
          </p:grpSpPr>
          <p:sp>
            <p:nvSpPr>
              <p:cNvPr id="139" name="Text Box 28"/>
              <p:cNvSpPr txBox="1">
                <a:spLocks noChangeArrowheads="1"/>
              </p:cNvSpPr>
              <p:nvPr/>
            </p:nvSpPr>
            <p:spPr bwMode="auto">
              <a:xfrm>
                <a:off x="3699" y="496"/>
                <a:ext cx="51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BQ</a:t>
                </a:r>
              </a:p>
            </p:txBody>
          </p:sp>
          <p:sp>
            <p:nvSpPr>
              <p:cNvPr id="140" name="Line 29"/>
              <p:cNvSpPr>
                <a:spLocks noChangeShapeType="1"/>
              </p:cNvSpPr>
              <p:nvPr/>
            </p:nvSpPr>
            <p:spPr bwMode="auto">
              <a:xfrm>
                <a:off x="4082" y="689"/>
                <a:ext cx="583" cy="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41" name="Group 30"/>
            <p:cNvGrpSpPr>
              <a:grpSpLocks/>
            </p:cNvGrpSpPr>
            <p:nvPr/>
          </p:nvGrpSpPr>
          <p:grpSpPr bwMode="auto">
            <a:xfrm>
              <a:off x="984703" y="957035"/>
              <a:ext cx="3229057" cy="3628271"/>
              <a:chOff x="107" y="401"/>
              <a:chExt cx="2145" cy="2267"/>
            </a:xfrm>
          </p:grpSpPr>
          <p:grpSp>
            <p:nvGrpSpPr>
              <p:cNvPr id="142" name="Group 31"/>
              <p:cNvGrpSpPr>
                <a:grpSpLocks/>
              </p:cNvGrpSpPr>
              <p:nvPr/>
            </p:nvGrpSpPr>
            <p:grpSpPr bwMode="auto">
              <a:xfrm>
                <a:off x="312" y="465"/>
                <a:ext cx="1225" cy="1924"/>
                <a:chOff x="2880" y="432"/>
                <a:chExt cx="2928" cy="1630"/>
              </a:xfrm>
            </p:grpSpPr>
            <p:sp>
              <p:nvSpPr>
                <p:cNvPr id="148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2880" y="432"/>
                  <a:ext cx="932" cy="3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  <a:r>
                    <a:rPr lang="en-US" altLang="zh-CN" sz="2800" b="1" baseline="-25000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B</a:t>
                  </a:r>
                  <a:endParaRPr lang="en-US" altLang="zh-CN" sz="28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9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5088" y="1785"/>
                  <a:ext cx="720" cy="2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endParaRPr lang="zh-CN" altLang="zh-CN" sz="28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43" name="Line 34"/>
              <p:cNvSpPr>
                <a:spLocks noChangeShapeType="1"/>
              </p:cNvSpPr>
              <p:nvPr/>
            </p:nvSpPr>
            <p:spPr bwMode="auto">
              <a:xfrm>
                <a:off x="226" y="2331"/>
                <a:ext cx="16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/>
              <a:p>
                <a:endParaRPr lang="zh-CN" altLang="en-US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4" name="Line 35"/>
              <p:cNvSpPr>
                <a:spLocks noChangeShapeType="1"/>
              </p:cNvSpPr>
              <p:nvPr/>
            </p:nvSpPr>
            <p:spPr bwMode="auto">
              <a:xfrm flipV="1">
                <a:off x="226" y="602"/>
                <a:ext cx="0" cy="175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/>
              <a:p>
                <a:endParaRPr lang="zh-CN" altLang="en-US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5" name="Text Box 36"/>
              <p:cNvSpPr txBox="1">
                <a:spLocks noChangeArrowheads="1"/>
              </p:cNvSpPr>
              <p:nvPr/>
            </p:nvSpPr>
            <p:spPr bwMode="auto">
              <a:xfrm>
                <a:off x="1486" y="690"/>
                <a:ext cx="361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endParaRPr lang="zh-CN" altLang="zh-CN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6" name="Text Box 37"/>
              <p:cNvSpPr txBox="1">
                <a:spLocks noChangeArrowheads="1"/>
              </p:cNvSpPr>
              <p:nvPr/>
            </p:nvSpPr>
            <p:spPr bwMode="auto">
              <a:xfrm>
                <a:off x="1663" y="2275"/>
                <a:ext cx="589" cy="39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8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BE</a:t>
                </a:r>
                <a:endPara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7" name="Text Box 38"/>
              <p:cNvSpPr txBox="1">
                <a:spLocks noChangeArrowheads="1"/>
              </p:cNvSpPr>
              <p:nvPr/>
            </p:nvSpPr>
            <p:spPr bwMode="auto">
              <a:xfrm>
                <a:off x="107" y="401"/>
                <a:ext cx="123" cy="3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zh-CN" altLang="zh-CN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50" name="Group 121"/>
            <p:cNvGrpSpPr>
              <a:grpSpLocks/>
            </p:cNvGrpSpPr>
            <p:nvPr/>
          </p:nvGrpSpPr>
          <p:grpSpPr bwMode="auto">
            <a:xfrm>
              <a:off x="2037216" y="2455635"/>
              <a:ext cx="992187" cy="461962"/>
              <a:chOff x="5203" y="1214"/>
              <a:chExt cx="625" cy="291"/>
            </a:xfrm>
          </p:grpSpPr>
          <p:sp>
            <p:nvSpPr>
              <p:cNvPr id="151" name="Text Box 122"/>
              <p:cNvSpPr txBox="1">
                <a:spLocks noChangeArrowheads="1"/>
              </p:cNvSpPr>
              <p:nvPr/>
            </p:nvSpPr>
            <p:spPr bwMode="auto">
              <a:xfrm>
                <a:off x="5283" y="1214"/>
                <a:ext cx="54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52" name="Oval 123"/>
              <p:cNvSpPr>
                <a:spLocks noChangeArrowheads="1"/>
              </p:cNvSpPr>
              <p:nvPr/>
            </p:nvSpPr>
            <p:spPr bwMode="auto">
              <a:xfrm>
                <a:off x="5203" y="1384"/>
                <a:ext cx="88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53" name="Text Box 124"/>
            <p:cNvSpPr txBox="1">
              <a:spLocks noChangeArrowheads="1"/>
            </p:cNvSpPr>
            <p:nvPr/>
          </p:nvSpPr>
          <p:spPr bwMode="auto">
            <a:xfrm>
              <a:off x="829128" y="3831997"/>
              <a:ext cx="338554" cy="461665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825983" y="668791"/>
            <a:ext cx="3320143" cy="3944939"/>
            <a:chOff x="297" y="835"/>
            <a:chExt cx="1562" cy="2485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97" y="835"/>
              <a:ext cx="1562" cy="2485"/>
              <a:chOff x="255" y="720"/>
              <a:chExt cx="1562" cy="2625"/>
            </a:xfrm>
          </p:grpSpPr>
          <p:sp>
            <p:nvSpPr>
              <p:cNvPr id="8" name="AutoShape 4"/>
              <p:cNvSpPr>
                <a:spLocks noChangeArrowheads="1"/>
              </p:cNvSpPr>
              <p:nvPr/>
            </p:nvSpPr>
            <p:spPr bwMode="auto">
              <a:xfrm rot="16192423" flipH="1">
                <a:off x="-277" y="1252"/>
                <a:ext cx="2625" cy="1562"/>
              </a:xfrm>
              <a:prstGeom prst="horizontalScroll">
                <a:avLst>
                  <a:gd name="adj" fmla="val 12500"/>
                </a:avLst>
              </a:prstGeom>
              <a:gradFill rotWithShape="0">
                <a:gsLst>
                  <a:gs pos="0">
                    <a:srgbClr val="0000CC"/>
                  </a:gs>
                  <a:gs pos="50000">
                    <a:srgbClr val="0099FF"/>
                  </a:gs>
                  <a:gs pos="100000">
                    <a:srgbClr val="0000CC"/>
                  </a:gs>
                </a:gsLst>
                <a:lin ang="2700000" scaled="1"/>
              </a:gradFill>
              <a:ln w="19050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470" y="1018"/>
                <a:ext cx="1093" cy="20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</a:t>
                </a:r>
                <a:r>
                  <a:rPr lang="zh-CN" altLang="en-US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当放大器有输入信号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（</a:t>
                </a:r>
                <a:r>
                  <a:rPr lang="en-US" altLang="zh-CN" sz="2800" b="1" i="1" dirty="0" err="1">
                    <a:solidFill>
                      <a:srgbClr val="C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800" b="1" baseline="-25000" dirty="0" err="1">
                    <a:solidFill>
                      <a:srgbClr val="C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800" b="1" baseline="-25000" dirty="0">
                    <a:solidFill>
                      <a:srgbClr val="C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800" b="1" dirty="0" smtClean="0">
                    <a:solidFill>
                      <a:srgbClr val="C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≠ 0</a:t>
                </a:r>
                <a:r>
                  <a:rPr lang="en-US" altLang="zh-CN" sz="2800" b="1" dirty="0">
                    <a:solidFill>
                      <a:srgbClr val="C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)</a:t>
                </a:r>
                <a:r>
                  <a:rPr lang="zh-CN" altLang="en-US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时，电路中各处的电压电流都处于变动工作状态，</a:t>
                </a:r>
                <a:r>
                  <a:rPr lang="zh-CN" altLang="en-US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简称动态</a:t>
                </a:r>
                <a:r>
                  <a:rPr lang="zh-CN" altLang="en-US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。</a:t>
                </a:r>
              </a:p>
            </p:txBody>
          </p:sp>
        </p:grpSp>
        <p:sp>
          <p:nvSpPr>
            <p:cNvPr id="4" name="Line 7"/>
            <p:cNvSpPr>
              <a:spLocks noChangeShapeType="1"/>
            </p:cNvSpPr>
            <p:nvPr/>
          </p:nvSpPr>
          <p:spPr bwMode="auto">
            <a:xfrm>
              <a:off x="1203" y="1684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461963" y="257175"/>
            <a:ext cx="27305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）动态分析</a:t>
            </a:r>
            <a:r>
              <a:rPr lang="zh-CN" altLang="en-US" sz="3200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endParaRPr lang="zh-CN" altLang="en-US" sz="3200" dirty="0">
              <a:solidFill>
                <a:srgbClr val="00B05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81" name="组合 180"/>
          <p:cNvGrpSpPr/>
          <p:nvPr/>
        </p:nvGrpSpPr>
        <p:grpSpPr>
          <a:xfrm>
            <a:off x="1171309" y="864280"/>
            <a:ext cx="4724364" cy="2643187"/>
            <a:chOff x="1171309" y="864280"/>
            <a:chExt cx="4724364" cy="2643187"/>
          </a:xfrm>
        </p:grpSpPr>
        <p:grpSp>
          <p:nvGrpSpPr>
            <p:cNvPr id="124" name="Group 19"/>
            <p:cNvGrpSpPr>
              <a:grpSpLocks/>
            </p:cNvGrpSpPr>
            <p:nvPr/>
          </p:nvGrpSpPr>
          <p:grpSpPr bwMode="auto">
            <a:xfrm>
              <a:off x="1171309" y="864280"/>
              <a:ext cx="4724364" cy="2643187"/>
              <a:chOff x="990" y="932"/>
              <a:chExt cx="2687" cy="1964"/>
            </a:xfrm>
          </p:grpSpPr>
          <p:grpSp>
            <p:nvGrpSpPr>
              <p:cNvPr id="125" name="Group 20"/>
              <p:cNvGrpSpPr>
                <a:grpSpLocks/>
              </p:cNvGrpSpPr>
              <p:nvPr/>
            </p:nvGrpSpPr>
            <p:grpSpPr bwMode="auto">
              <a:xfrm>
                <a:off x="1703" y="1119"/>
                <a:ext cx="785" cy="1665"/>
                <a:chOff x="1703" y="1119"/>
                <a:chExt cx="785" cy="1665"/>
              </a:xfrm>
            </p:grpSpPr>
            <p:sp>
              <p:nvSpPr>
                <p:cNvPr id="168" name="Line 21"/>
                <p:cNvSpPr>
                  <a:spLocks noChangeShapeType="1"/>
                </p:cNvSpPr>
                <p:nvPr/>
              </p:nvSpPr>
              <p:spPr bwMode="auto">
                <a:xfrm>
                  <a:off x="1703" y="1961"/>
                  <a:ext cx="559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9" name="Line 22"/>
                <p:cNvSpPr>
                  <a:spLocks noChangeShapeType="1"/>
                </p:cNvSpPr>
                <p:nvPr/>
              </p:nvSpPr>
              <p:spPr bwMode="auto">
                <a:xfrm>
                  <a:off x="2264" y="1768"/>
                  <a:ext cx="0" cy="385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0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264" y="1723"/>
                  <a:ext cx="224" cy="163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1" name="Line 24"/>
                <p:cNvSpPr>
                  <a:spLocks noChangeShapeType="1"/>
                </p:cNvSpPr>
                <p:nvPr/>
              </p:nvSpPr>
              <p:spPr bwMode="auto">
                <a:xfrm>
                  <a:off x="2282" y="2029"/>
                  <a:ext cx="194" cy="147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2" name="Line 25"/>
                <p:cNvSpPr>
                  <a:spLocks noChangeShapeType="1"/>
                </p:cNvSpPr>
                <p:nvPr/>
              </p:nvSpPr>
              <p:spPr bwMode="auto">
                <a:xfrm>
                  <a:off x="2486" y="1119"/>
                  <a:ext cx="0" cy="603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3" name="Line 26"/>
                <p:cNvSpPr>
                  <a:spLocks noChangeShapeType="1"/>
                </p:cNvSpPr>
                <p:nvPr/>
              </p:nvSpPr>
              <p:spPr bwMode="auto">
                <a:xfrm>
                  <a:off x="2476" y="2153"/>
                  <a:ext cx="0" cy="63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26" name="Line 27"/>
              <p:cNvSpPr>
                <a:spLocks noChangeShapeType="1"/>
              </p:cNvSpPr>
              <p:nvPr/>
            </p:nvSpPr>
            <p:spPr bwMode="auto">
              <a:xfrm>
                <a:off x="1703" y="1120"/>
                <a:ext cx="14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7" name="Line 28"/>
              <p:cNvSpPr>
                <a:spLocks noChangeShapeType="1"/>
              </p:cNvSpPr>
              <p:nvPr/>
            </p:nvSpPr>
            <p:spPr bwMode="auto">
              <a:xfrm>
                <a:off x="1703" y="1119"/>
                <a:ext cx="0" cy="842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8" name="Oval 29"/>
              <p:cNvSpPr>
                <a:spLocks noChangeArrowheads="1"/>
              </p:cNvSpPr>
              <p:nvPr/>
            </p:nvSpPr>
            <p:spPr bwMode="auto">
              <a:xfrm>
                <a:off x="3133" y="109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9" name="Rectangle 30"/>
              <p:cNvSpPr>
                <a:spLocks noChangeArrowheads="1"/>
              </p:cNvSpPr>
              <p:nvPr/>
            </p:nvSpPr>
            <p:spPr bwMode="auto">
              <a:xfrm>
                <a:off x="1651" y="1408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0" name="Rectangle 31"/>
              <p:cNvSpPr>
                <a:spLocks noChangeArrowheads="1"/>
              </p:cNvSpPr>
              <p:nvPr/>
            </p:nvSpPr>
            <p:spPr bwMode="auto">
              <a:xfrm>
                <a:off x="2436" y="1276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1" name="Rectangle 32"/>
              <p:cNvSpPr>
                <a:spLocks noChangeArrowheads="1"/>
              </p:cNvSpPr>
              <p:nvPr/>
            </p:nvSpPr>
            <p:spPr bwMode="auto">
              <a:xfrm>
                <a:off x="1318" y="1196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32" name="Rectangle 33"/>
              <p:cNvSpPr>
                <a:spLocks noChangeArrowheads="1"/>
              </p:cNvSpPr>
              <p:nvPr/>
            </p:nvSpPr>
            <p:spPr bwMode="auto">
              <a:xfrm>
                <a:off x="2148" y="1217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133" name="Rectangle 34"/>
              <p:cNvSpPr>
                <a:spLocks noChangeArrowheads="1"/>
              </p:cNvSpPr>
              <p:nvPr/>
            </p:nvSpPr>
            <p:spPr bwMode="auto">
              <a:xfrm>
                <a:off x="2459" y="1946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CE</a:t>
                </a:r>
              </a:p>
            </p:txBody>
          </p:sp>
          <p:sp>
            <p:nvSpPr>
              <p:cNvPr id="134" name="Rectangle 35"/>
              <p:cNvSpPr>
                <a:spLocks noChangeArrowheads="1"/>
              </p:cNvSpPr>
              <p:nvPr/>
            </p:nvSpPr>
            <p:spPr bwMode="auto">
              <a:xfrm>
                <a:off x="2021" y="2209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BE</a:t>
                </a:r>
              </a:p>
            </p:txBody>
          </p:sp>
          <p:sp>
            <p:nvSpPr>
              <p:cNvPr id="135" name="Rectangle 36"/>
              <p:cNvSpPr>
                <a:spLocks noChangeArrowheads="1"/>
              </p:cNvSpPr>
              <p:nvPr/>
            </p:nvSpPr>
            <p:spPr bwMode="auto">
              <a:xfrm>
                <a:off x="1980" y="1968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36" name="Rectangle 37"/>
              <p:cNvSpPr>
                <a:spLocks noChangeArrowheads="1"/>
              </p:cNvSpPr>
              <p:nvPr/>
            </p:nvSpPr>
            <p:spPr bwMode="auto">
              <a:xfrm>
                <a:off x="2253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7" name="Rectangle 38"/>
              <p:cNvSpPr>
                <a:spLocks noChangeArrowheads="1"/>
              </p:cNvSpPr>
              <p:nvPr/>
            </p:nvSpPr>
            <p:spPr bwMode="auto">
              <a:xfrm>
                <a:off x="2532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8" name="Rectangle 39"/>
              <p:cNvSpPr>
                <a:spLocks noChangeArrowheads="1"/>
              </p:cNvSpPr>
              <p:nvPr/>
            </p:nvSpPr>
            <p:spPr bwMode="auto">
              <a:xfrm>
                <a:off x="2528" y="1722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39" name="Rectangle 40"/>
              <p:cNvSpPr>
                <a:spLocks noChangeArrowheads="1"/>
              </p:cNvSpPr>
              <p:nvPr/>
            </p:nvSpPr>
            <p:spPr bwMode="auto">
              <a:xfrm>
                <a:off x="3192" y="932"/>
                <a:ext cx="485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140" name="Line 41"/>
              <p:cNvSpPr>
                <a:spLocks noChangeShapeType="1"/>
              </p:cNvSpPr>
              <p:nvPr/>
            </p:nvSpPr>
            <p:spPr bwMode="auto">
              <a:xfrm>
                <a:off x="1115" y="2731"/>
                <a:ext cx="20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41" name="Group 42"/>
              <p:cNvGrpSpPr>
                <a:grpSpLocks/>
              </p:cNvGrpSpPr>
              <p:nvPr/>
            </p:nvGrpSpPr>
            <p:grpSpPr bwMode="auto">
              <a:xfrm>
                <a:off x="1355" y="1848"/>
                <a:ext cx="112" cy="224"/>
                <a:chOff x="5056" y="3342"/>
                <a:chExt cx="112" cy="224"/>
              </a:xfrm>
            </p:grpSpPr>
            <p:sp>
              <p:nvSpPr>
                <p:cNvPr id="166" name="Line 43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7" name="Line 44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42" name="Line 45"/>
              <p:cNvSpPr>
                <a:spLocks noChangeShapeType="1"/>
              </p:cNvSpPr>
              <p:nvPr/>
            </p:nvSpPr>
            <p:spPr bwMode="auto">
              <a:xfrm>
                <a:off x="1467" y="1961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3" name="Line 46"/>
              <p:cNvSpPr>
                <a:spLocks noChangeShapeType="1"/>
              </p:cNvSpPr>
              <p:nvPr/>
            </p:nvSpPr>
            <p:spPr bwMode="auto">
              <a:xfrm>
                <a:off x="1115" y="196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4" name="Line 47"/>
              <p:cNvSpPr>
                <a:spLocks noChangeShapeType="1"/>
              </p:cNvSpPr>
              <p:nvPr/>
            </p:nvSpPr>
            <p:spPr bwMode="auto">
              <a:xfrm>
                <a:off x="2476" y="1685"/>
                <a:ext cx="25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45" name="Group 48"/>
              <p:cNvGrpSpPr>
                <a:grpSpLocks/>
              </p:cNvGrpSpPr>
              <p:nvPr/>
            </p:nvGrpSpPr>
            <p:grpSpPr bwMode="auto">
              <a:xfrm>
                <a:off x="2723" y="1580"/>
                <a:ext cx="112" cy="224"/>
                <a:chOff x="5056" y="3342"/>
                <a:chExt cx="112" cy="224"/>
              </a:xfrm>
            </p:grpSpPr>
            <p:sp>
              <p:nvSpPr>
                <p:cNvPr id="164" name="Line 49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5" name="Line 50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46" name="Line 51"/>
              <p:cNvSpPr>
                <a:spLocks noChangeShapeType="1"/>
              </p:cNvSpPr>
              <p:nvPr/>
            </p:nvSpPr>
            <p:spPr bwMode="auto">
              <a:xfrm>
                <a:off x="2835" y="1676"/>
                <a:ext cx="2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9" name="Oval 54"/>
              <p:cNvSpPr>
                <a:spLocks noChangeArrowheads="1"/>
              </p:cNvSpPr>
              <p:nvPr/>
            </p:nvSpPr>
            <p:spPr bwMode="auto">
              <a:xfrm>
                <a:off x="1091" y="2707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0" name="Oval 55"/>
              <p:cNvSpPr>
                <a:spLocks noChangeArrowheads="1"/>
              </p:cNvSpPr>
              <p:nvPr/>
            </p:nvSpPr>
            <p:spPr bwMode="auto">
              <a:xfrm>
                <a:off x="1067" y="194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1" name="Oval 56"/>
              <p:cNvSpPr>
                <a:spLocks noChangeArrowheads="1"/>
              </p:cNvSpPr>
              <p:nvPr/>
            </p:nvSpPr>
            <p:spPr bwMode="auto">
              <a:xfrm>
                <a:off x="2452" y="2707"/>
                <a:ext cx="48" cy="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2" name="Line 57"/>
              <p:cNvSpPr>
                <a:spLocks noChangeShapeType="1"/>
              </p:cNvSpPr>
              <p:nvPr/>
            </p:nvSpPr>
            <p:spPr bwMode="auto">
              <a:xfrm>
                <a:off x="2476" y="2731"/>
                <a:ext cx="0" cy="1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3" name="Line 58"/>
              <p:cNvSpPr>
                <a:spLocks noChangeShapeType="1"/>
              </p:cNvSpPr>
              <p:nvPr/>
            </p:nvSpPr>
            <p:spPr bwMode="auto">
              <a:xfrm>
                <a:off x="2403" y="2896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4" name="Rectangle 59"/>
              <p:cNvSpPr>
                <a:spLocks noChangeArrowheads="1"/>
              </p:cNvSpPr>
              <p:nvPr/>
            </p:nvSpPr>
            <p:spPr bwMode="auto">
              <a:xfrm>
                <a:off x="1454" y="1676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55" name="Rectangle 60"/>
              <p:cNvSpPr>
                <a:spLocks noChangeArrowheads="1"/>
              </p:cNvSpPr>
              <p:nvPr/>
            </p:nvSpPr>
            <p:spPr bwMode="auto">
              <a:xfrm>
                <a:off x="2552" y="1413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56" name="Text Box 61"/>
              <p:cNvSpPr txBox="1">
                <a:spLocks noChangeArrowheads="1"/>
              </p:cNvSpPr>
              <p:nvPr/>
            </p:nvSpPr>
            <p:spPr bwMode="auto">
              <a:xfrm>
                <a:off x="1178" y="153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57" name="Text Box 62"/>
              <p:cNvSpPr txBox="1">
                <a:spLocks noChangeArrowheads="1"/>
              </p:cNvSpPr>
              <p:nvPr/>
            </p:nvSpPr>
            <p:spPr bwMode="auto">
              <a:xfrm>
                <a:off x="2658" y="127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58" name="Rectangle 63"/>
              <p:cNvSpPr>
                <a:spLocks noChangeArrowheads="1"/>
              </p:cNvSpPr>
              <p:nvPr/>
            </p:nvSpPr>
            <p:spPr bwMode="auto">
              <a:xfrm>
                <a:off x="1021" y="1959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59" name="Rectangle 64"/>
              <p:cNvSpPr>
                <a:spLocks noChangeArrowheads="1"/>
              </p:cNvSpPr>
              <p:nvPr/>
            </p:nvSpPr>
            <p:spPr bwMode="auto">
              <a:xfrm>
                <a:off x="1024" y="2418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0" name="Rectangle 65"/>
              <p:cNvSpPr>
                <a:spLocks noChangeArrowheads="1"/>
              </p:cNvSpPr>
              <p:nvPr/>
            </p:nvSpPr>
            <p:spPr bwMode="auto">
              <a:xfrm>
                <a:off x="990" y="2184"/>
                <a:ext cx="225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1" name="Rectangle 66"/>
              <p:cNvSpPr>
                <a:spLocks noChangeArrowheads="1"/>
              </p:cNvSpPr>
              <p:nvPr/>
            </p:nvSpPr>
            <p:spPr bwMode="auto">
              <a:xfrm>
                <a:off x="3180" y="1718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62" name="Rectangle 67"/>
              <p:cNvSpPr>
                <a:spLocks noChangeArrowheads="1"/>
              </p:cNvSpPr>
              <p:nvPr/>
            </p:nvSpPr>
            <p:spPr bwMode="auto">
              <a:xfrm>
                <a:off x="3217" y="2246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3" name="Rectangle 68"/>
              <p:cNvSpPr>
                <a:spLocks noChangeArrowheads="1"/>
              </p:cNvSpPr>
              <p:nvPr/>
            </p:nvSpPr>
            <p:spPr bwMode="auto">
              <a:xfrm>
                <a:off x="3177" y="2014"/>
                <a:ext cx="251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174" name="Line 69"/>
            <p:cNvSpPr>
              <a:spLocks noChangeShapeType="1"/>
            </p:cNvSpPr>
            <p:nvPr/>
          </p:nvSpPr>
          <p:spPr bwMode="auto">
            <a:xfrm>
              <a:off x="4934719" y="1871890"/>
              <a:ext cx="0" cy="140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5" name="Rectangle 70"/>
            <p:cNvSpPr>
              <a:spLocks noChangeArrowheads="1"/>
            </p:cNvSpPr>
            <p:nvPr/>
          </p:nvSpPr>
          <p:spPr bwMode="auto">
            <a:xfrm>
              <a:off x="4843060" y="2349727"/>
              <a:ext cx="190754" cy="39052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6" name="Rectangle 71"/>
            <p:cNvSpPr>
              <a:spLocks noChangeArrowheads="1"/>
            </p:cNvSpPr>
            <p:nvPr/>
          </p:nvSpPr>
          <p:spPr bwMode="auto">
            <a:xfrm>
              <a:off x="4446248" y="2525940"/>
              <a:ext cx="486030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77" name="Rectangle 72"/>
            <p:cNvSpPr>
              <a:spLocks noChangeArrowheads="1"/>
            </p:cNvSpPr>
            <p:nvPr/>
          </p:nvSpPr>
          <p:spPr bwMode="auto">
            <a:xfrm>
              <a:off x="2707104" y="1660752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78" name="Line 73"/>
            <p:cNvSpPr>
              <a:spLocks noChangeShapeType="1"/>
            </p:cNvSpPr>
            <p:nvPr/>
          </p:nvSpPr>
          <p:spPr bwMode="auto">
            <a:xfrm>
              <a:off x="2697151" y="2155144"/>
              <a:ext cx="530794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9" name="Rectangle 74"/>
            <p:cNvSpPr>
              <a:spLocks noChangeArrowheads="1"/>
            </p:cNvSpPr>
            <p:nvPr/>
          </p:nvSpPr>
          <p:spPr bwMode="auto">
            <a:xfrm>
              <a:off x="3962763" y="1055915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80" name="Line 75"/>
            <p:cNvSpPr>
              <a:spLocks noChangeShapeType="1"/>
            </p:cNvSpPr>
            <p:nvPr/>
          </p:nvSpPr>
          <p:spPr bwMode="auto">
            <a:xfrm>
              <a:off x="3994279" y="1163865"/>
              <a:ext cx="0" cy="41116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28852" y="3580493"/>
            <a:ext cx="829060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800" b="1" u="sng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u="sng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动态分析任务</a:t>
            </a: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：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在静态值确定后，当接入变化的输入信号时，分析电路中各种变化量的变动情况和相互关系。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461963" y="257175"/>
            <a:ext cx="27305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）动态分析</a:t>
            </a:r>
            <a:r>
              <a:rPr lang="zh-CN" altLang="en-US" sz="3200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endParaRPr lang="zh-CN" altLang="en-US" sz="3200" dirty="0">
              <a:solidFill>
                <a:srgbClr val="00B05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1171309" y="864280"/>
            <a:ext cx="4724364" cy="2643187"/>
            <a:chOff x="1171309" y="864280"/>
            <a:chExt cx="4724364" cy="2643187"/>
          </a:xfrm>
        </p:grpSpPr>
        <p:grpSp>
          <p:nvGrpSpPr>
            <p:cNvPr id="175" name="Group 19"/>
            <p:cNvGrpSpPr>
              <a:grpSpLocks/>
            </p:cNvGrpSpPr>
            <p:nvPr/>
          </p:nvGrpSpPr>
          <p:grpSpPr bwMode="auto">
            <a:xfrm>
              <a:off x="1171312" y="864280"/>
              <a:ext cx="4724367" cy="2643187"/>
              <a:chOff x="990" y="932"/>
              <a:chExt cx="2687" cy="1964"/>
            </a:xfrm>
          </p:grpSpPr>
          <p:grpSp>
            <p:nvGrpSpPr>
              <p:cNvPr id="183" name="Group 20"/>
              <p:cNvGrpSpPr>
                <a:grpSpLocks/>
              </p:cNvGrpSpPr>
              <p:nvPr/>
            </p:nvGrpSpPr>
            <p:grpSpPr bwMode="auto">
              <a:xfrm>
                <a:off x="1703" y="1119"/>
                <a:ext cx="785" cy="1665"/>
                <a:chOff x="1703" y="1119"/>
                <a:chExt cx="785" cy="1665"/>
              </a:xfrm>
            </p:grpSpPr>
            <p:sp>
              <p:nvSpPr>
                <p:cNvPr id="224" name="Line 21"/>
                <p:cNvSpPr>
                  <a:spLocks noChangeShapeType="1"/>
                </p:cNvSpPr>
                <p:nvPr/>
              </p:nvSpPr>
              <p:spPr bwMode="auto">
                <a:xfrm>
                  <a:off x="1703" y="1961"/>
                  <a:ext cx="559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5" name="Line 22"/>
                <p:cNvSpPr>
                  <a:spLocks noChangeShapeType="1"/>
                </p:cNvSpPr>
                <p:nvPr/>
              </p:nvSpPr>
              <p:spPr bwMode="auto">
                <a:xfrm>
                  <a:off x="2264" y="1768"/>
                  <a:ext cx="0" cy="385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6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264" y="1723"/>
                  <a:ext cx="224" cy="163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7" name="Line 24"/>
                <p:cNvSpPr>
                  <a:spLocks noChangeShapeType="1"/>
                </p:cNvSpPr>
                <p:nvPr/>
              </p:nvSpPr>
              <p:spPr bwMode="auto">
                <a:xfrm>
                  <a:off x="2282" y="2029"/>
                  <a:ext cx="194" cy="147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8" name="Line 25"/>
                <p:cNvSpPr>
                  <a:spLocks noChangeShapeType="1"/>
                </p:cNvSpPr>
                <p:nvPr/>
              </p:nvSpPr>
              <p:spPr bwMode="auto">
                <a:xfrm>
                  <a:off x="2486" y="1119"/>
                  <a:ext cx="0" cy="603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9" name="Line 26"/>
                <p:cNvSpPr>
                  <a:spLocks noChangeShapeType="1"/>
                </p:cNvSpPr>
                <p:nvPr/>
              </p:nvSpPr>
              <p:spPr bwMode="auto">
                <a:xfrm>
                  <a:off x="2476" y="2153"/>
                  <a:ext cx="0" cy="63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84" name="Line 27"/>
              <p:cNvSpPr>
                <a:spLocks noChangeShapeType="1"/>
              </p:cNvSpPr>
              <p:nvPr/>
            </p:nvSpPr>
            <p:spPr bwMode="auto">
              <a:xfrm>
                <a:off x="1703" y="1120"/>
                <a:ext cx="14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5" name="Line 28"/>
              <p:cNvSpPr>
                <a:spLocks noChangeShapeType="1"/>
              </p:cNvSpPr>
              <p:nvPr/>
            </p:nvSpPr>
            <p:spPr bwMode="auto">
              <a:xfrm>
                <a:off x="1703" y="1119"/>
                <a:ext cx="0" cy="842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6" name="Oval 29"/>
              <p:cNvSpPr>
                <a:spLocks noChangeArrowheads="1"/>
              </p:cNvSpPr>
              <p:nvPr/>
            </p:nvSpPr>
            <p:spPr bwMode="auto">
              <a:xfrm>
                <a:off x="3133" y="109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7" name="Rectangle 30"/>
              <p:cNvSpPr>
                <a:spLocks noChangeArrowheads="1"/>
              </p:cNvSpPr>
              <p:nvPr/>
            </p:nvSpPr>
            <p:spPr bwMode="auto">
              <a:xfrm>
                <a:off x="1651" y="1408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8" name="Rectangle 31"/>
              <p:cNvSpPr>
                <a:spLocks noChangeArrowheads="1"/>
              </p:cNvSpPr>
              <p:nvPr/>
            </p:nvSpPr>
            <p:spPr bwMode="auto">
              <a:xfrm>
                <a:off x="2436" y="1276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9" name="Rectangle 32"/>
              <p:cNvSpPr>
                <a:spLocks noChangeArrowheads="1"/>
              </p:cNvSpPr>
              <p:nvPr/>
            </p:nvSpPr>
            <p:spPr bwMode="auto">
              <a:xfrm>
                <a:off x="1318" y="1196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90" name="Rectangle 33"/>
              <p:cNvSpPr>
                <a:spLocks noChangeArrowheads="1"/>
              </p:cNvSpPr>
              <p:nvPr/>
            </p:nvSpPr>
            <p:spPr bwMode="auto">
              <a:xfrm>
                <a:off x="2148" y="1217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191" name="Rectangle 34"/>
              <p:cNvSpPr>
                <a:spLocks noChangeArrowheads="1"/>
              </p:cNvSpPr>
              <p:nvPr/>
            </p:nvSpPr>
            <p:spPr bwMode="auto">
              <a:xfrm>
                <a:off x="2459" y="1946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CE</a:t>
                </a:r>
              </a:p>
            </p:txBody>
          </p:sp>
          <p:sp>
            <p:nvSpPr>
              <p:cNvPr id="192" name="Rectangle 35"/>
              <p:cNvSpPr>
                <a:spLocks noChangeArrowheads="1"/>
              </p:cNvSpPr>
              <p:nvPr/>
            </p:nvSpPr>
            <p:spPr bwMode="auto">
              <a:xfrm>
                <a:off x="2021" y="2209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BE</a:t>
                </a:r>
              </a:p>
            </p:txBody>
          </p:sp>
          <p:sp>
            <p:nvSpPr>
              <p:cNvPr id="193" name="Rectangle 36"/>
              <p:cNvSpPr>
                <a:spLocks noChangeArrowheads="1"/>
              </p:cNvSpPr>
              <p:nvPr/>
            </p:nvSpPr>
            <p:spPr bwMode="auto">
              <a:xfrm>
                <a:off x="1980" y="1968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94" name="Rectangle 37"/>
              <p:cNvSpPr>
                <a:spLocks noChangeArrowheads="1"/>
              </p:cNvSpPr>
              <p:nvPr/>
            </p:nvSpPr>
            <p:spPr bwMode="auto">
              <a:xfrm>
                <a:off x="2253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5" name="Rectangle 38"/>
              <p:cNvSpPr>
                <a:spLocks noChangeArrowheads="1"/>
              </p:cNvSpPr>
              <p:nvPr/>
            </p:nvSpPr>
            <p:spPr bwMode="auto">
              <a:xfrm>
                <a:off x="2532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6" name="Rectangle 39"/>
              <p:cNvSpPr>
                <a:spLocks noChangeArrowheads="1"/>
              </p:cNvSpPr>
              <p:nvPr/>
            </p:nvSpPr>
            <p:spPr bwMode="auto">
              <a:xfrm>
                <a:off x="2528" y="1722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97" name="Rectangle 40"/>
              <p:cNvSpPr>
                <a:spLocks noChangeArrowheads="1"/>
              </p:cNvSpPr>
              <p:nvPr/>
            </p:nvSpPr>
            <p:spPr bwMode="auto">
              <a:xfrm>
                <a:off x="3192" y="932"/>
                <a:ext cx="485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198" name="Line 41"/>
              <p:cNvSpPr>
                <a:spLocks noChangeShapeType="1"/>
              </p:cNvSpPr>
              <p:nvPr/>
            </p:nvSpPr>
            <p:spPr bwMode="auto">
              <a:xfrm>
                <a:off x="1115" y="2731"/>
                <a:ext cx="20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99" name="Group 42"/>
              <p:cNvGrpSpPr>
                <a:grpSpLocks/>
              </p:cNvGrpSpPr>
              <p:nvPr/>
            </p:nvGrpSpPr>
            <p:grpSpPr bwMode="auto">
              <a:xfrm>
                <a:off x="1355" y="1848"/>
                <a:ext cx="112" cy="224"/>
                <a:chOff x="5056" y="3342"/>
                <a:chExt cx="112" cy="224"/>
              </a:xfrm>
            </p:grpSpPr>
            <p:sp>
              <p:nvSpPr>
                <p:cNvPr id="222" name="Line 43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3" name="Line 44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00" name="Line 45"/>
              <p:cNvSpPr>
                <a:spLocks noChangeShapeType="1"/>
              </p:cNvSpPr>
              <p:nvPr/>
            </p:nvSpPr>
            <p:spPr bwMode="auto">
              <a:xfrm>
                <a:off x="1467" y="1961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1" name="Line 46"/>
              <p:cNvSpPr>
                <a:spLocks noChangeShapeType="1"/>
              </p:cNvSpPr>
              <p:nvPr/>
            </p:nvSpPr>
            <p:spPr bwMode="auto">
              <a:xfrm>
                <a:off x="1115" y="196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2" name="Line 47"/>
              <p:cNvSpPr>
                <a:spLocks noChangeShapeType="1"/>
              </p:cNvSpPr>
              <p:nvPr/>
            </p:nvSpPr>
            <p:spPr bwMode="auto">
              <a:xfrm>
                <a:off x="2476" y="1685"/>
                <a:ext cx="25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203" name="Group 48"/>
              <p:cNvGrpSpPr>
                <a:grpSpLocks/>
              </p:cNvGrpSpPr>
              <p:nvPr/>
            </p:nvGrpSpPr>
            <p:grpSpPr bwMode="auto">
              <a:xfrm>
                <a:off x="2723" y="1580"/>
                <a:ext cx="112" cy="224"/>
                <a:chOff x="5056" y="3342"/>
                <a:chExt cx="112" cy="224"/>
              </a:xfrm>
            </p:grpSpPr>
            <p:sp>
              <p:nvSpPr>
                <p:cNvPr id="220" name="Line 49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1" name="Line 50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04" name="Line 51"/>
              <p:cNvSpPr>
                <a:spLocks noChangeShapeType="1"/>
              </p:cNvSpPr>
              <p:nvPr/>
            </p:nvSpPr>
            <p:spPr bwMode="auto">
              <a:xfrm>
                <a:off x="2835" y="1676"/>
                <a:ext cx="2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5" name="Oval 54"/>
              <p:cNvSpPr>
                <a:spLocks noChangeArrowheads="1"/>
              </p:cNvSpPr>
              <p:nvPr/>
            </p:nvSpPr>
            <p:spPr bwMode="auto">
              <a:xfrm>
                <a:off x="1091" y="2707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6" name="Oval 55"/>
              <p:cNvSpPr>
                <a:spLocks noChangeArrowheads="1"/>
              </p:cNvSpPr>
              <p:nvPr/>
            </p:nvSpPr>
            <p:spPr bwMode="auto">
              <a:xfrm>
                <a:off x="1067" y="194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7" name="Oval 56"/>
              <p:cNvSpPr>
                <a:spLocks noChangeArrowheads="1"/>
              </p:cNvSpPr>
              <p:nvPr/>
            </p:nvSpPr>
            <p:spPr bwMode="auto">
              <a:xfrm>
                <a:off x="2452" y="2707"/>
                <a:ext cx="48" cy="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8" name="Line 57"/>
              <p:cNvSpPr>
                <a:spLocks noChangeShapeType="1"/>
              </p:cNvSpPr>
              <p:nvPr/>
            </p:nvSpPr>
            <p:spPr bwMode="auto">
              <a:xfrm>
                <a:off x="2476" y="2731"/>
                <a:ext cx="0" cy="1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9" name="Line 58"/>
              <p:cNvSpPr>
                <a:spLocks noChangeShapeType="1"/>
              </p:cNvSpPr>
              <p:nvPr/>
            </p:nvSpPr>
            <p:spPr bwMode="auto">
              <a:xfrm>
                <a:off x="2403" y="2896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0" name="Rectangle 59"/>
              <p:cNvSpPr>
                <a:spLocks noChangeArrowheads="1"/>
              </p:cNvSpPr>
              <p:nvPr/>
            </p:nvSpPr>
            <p:spPr bwMode="auto">
              <a:xfrm>
                <a:off x="1454" y="1676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211" name="Rectangle 60"/>
              <p:cNvSpPr>
                <a:spLocks noChangeArrowheads="1"/>
              </p:cNvSpPr>
              <p:nvPr/>
            </p:nvSpPr>
            <p:spPr bwMode="auto">
              <a:xfrm>
                <a:off x="2552" y="1413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212" name="Text Box 61"/>
              <p:cNvSpPr txBox="1">
                <a:spLocks noChangeArrowheads="1"/>
              </p:cNvSpPr>
              <p:nvPr/>
            </p:nvSpPr>
            <p:spPr bwMode="auto">
              <a:xfrm>
                <a:off x="1178" y="153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213" name="Text Box 62"/>
              <p:cNvSpPr txBox="1">
                <a:spLocks noChangeArrowheads="1"/>
              </p:cNvSpPr>
              <p:nvPr/>
            </p:nvSpPr>
            <p:spPr bwMode="auto">
              <a:xfrm>
                <a:off x="2658" y="127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214" name="Rectangle 63"/>
              <p:cNvSpPr>
                <a:spLocks noChangeArrowheads="1"/>
              </p:cNvSpPr>
              <p:nvPr/>
            </p:nvSpPr>
            <p:spPr bwMode="auto">
              <a:xfrm>
                <a:off x="1021" y="1959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215" name="Rectangle 64"/>
              <p:cNvSpPr>
                <a:spLocks noChangeArrowheads="1"/>
              </p:cNvSpPr>
              <p:nvPr/>
            </p:nvSpPr>
            <p:spPr bwMode="auto">
              <a:xfrm>
                <a:off x="1024" y="2418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6" name="Rectangle 65"/>
              <p:cNvSpPr>
                <a:spLocks noChangeArrowheads="1"/>
              </p:cNvSpPr>
              <p:nvPr/>
            </p:nvSpPr>
            <p:spPr bwMode="auto">
              <a:xfrm>
                <a:off x="990" y="2184"/>
                <a:ext cx="225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7" name="Rectangle 66"/>
              <p:cNvSpPr>
                <a:spLocks noChangeArrowheads="1"/>
              </p:cNvSpPr>
              <p:nvPr/>
            </p:nvSpPr>
            <p:spPr bwMode="auto">
              <a:xfrm>
                <a:off x="3180" y="1718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218" name="Rectangle 67"/>
              <p:cNvSpPr>
                <a:spLocks noChangeArrowheads="1"/>
              </p:cNvSpPr>
              <p:nvPr/>
            </p:nvSpPr>
            <p:spPr bwMode="auto">
              <a:xfrm>
                <a:off x="3217" y="2246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9" name="Rectangle 68"/>
              <p:cNvSpPr>
                <a:spLocks noChangeArrowheads="1"/>
              </p:cNvSpPr>
              <p:nvPr/>
            </p:nvSpPr>
            <p:spPr bwMode="auto">
              <a:xfrm>
                <a:off x="3177" y="2014"/>
                <a:ext cx="251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4934719" y="1871890"/>
              <a:ext cx="0" cy="140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7" name="Rectangle 70"/>
            <p:cNvSpPr>
              <a:spLocks noChangeArrowheads="1"/>
            </p:cNvSpPr>
            <p:nvPr/>
          </p:nvSpPr>
          <p:spPr bwMode="auto">
            <a:xfrm>
              <a:off x="4843060" y="2349727"/>
              <a:ext cx="190754" cy="39052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4446248" y="2525940"/>
              <a:ext cx="486030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2707104" y="1660752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80" name="Line 73"/>
            <p:cNvSpPr>
              <a:spLocks noChangeShapeType="1"/>
            </p:cNvSpPr>
            <p:nvPr/>
          </p:nvSpPr>
          <p:spPr bwMode="auto">
            <a:xfrm>
              <a:off x="2697151" y="2155144"/>
              <a:ext cx="530794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3962763" y="1055915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82" name="Line 75"/>
            <p:cNvSpPr>
              <a:spLocks noChangeShapeType="1"/>
            </p:cNvSpPr>
            <p:nvPr/>
          </p:nvSpPr>
          <p:spPr bwMode="auto">
            <a:xfrm>
              <a:off x="3994279" y="1163865"/>
              <a:ext cx="0" cy="41116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167007" y="3570742"/>
            <a:ext cx="6299835" cy="1108075"/>
            <a:chOff x="1823" y="3205"/>
            <a:chExt cx="3625" cy="698"/>
          </a:xfrm>
        </p:grpSpPr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1823" y="3205"/>
              <a:ext cx="1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zh-CN" altLang="zh-CN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1882" y="3397"/>
              <a:ext cx="156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u="sng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动态分析方法：</a:t>
              </a:r>
            </a:p>
          </p:txBody>
        </p:sp>
        <p:sp>
          <p:nvSpPr>
            <p:cNvPr id="15" name="AutoShape 15"/>
            <p:cNvSpPr>
              <a:spLocks/>
            </p:cNvSpPr>
            <p:nvPr/>
          </p:nvSpPr>
          <p:spPr bwMode="auto">
            <a:xfrm>
              <a:off x="3509" y="3277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605" y="3205"/>
              <a:ext cx="1843" cy="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图解法</a:t>
              </a:r>
              <a:endPara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l">
                <a:spcBef>
                  <a:spcPts val="1200"/>
                </a:spcBef>
              </a:pPr>
              <a:r>
                <a:rPr lang="zh-CN" altLang="en-US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微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变等效电路分析</a:t>
              </a:r>
            </a:p>
          </p:txBody>
        </p:sp>
      </p:grp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461963" y="257175"/>
            <a:ext cx="27305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）动态分析</a:t>
            </a:r>
            <a:r>
              <a:rPr lang="zh-CN" altLang="en-US" sz="3200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endParaRPr lang="zh-CN" altLang="en-US" sz="3200" dirty="0">
              <a:solidFill>
                <a:srgbClr val="00B05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1171309" y="864280"/>
            <a:ext cx="4724364" cy="2643187"/>
            <a:chOff x="1171309" y="864280"/>
            <a:chExt cx="4724364" cy="2643187"/>
          </a:xfrm>
        </p:grpSpPr>
        <p:grpSp>
          <p:nvGrpSpPr>
            <p:cNvPr id="163" name="Group 19"/>
            <p:cNvGrpSpPr>
              <a:grpSpLocks/>
            </p:cNvGrpSpPr>
            <p:nvPr/>
          </p:nvGrpSpPr>
          <p:grpSpPr bwMode="auto">
            <a:xfrm>
              <a:off x="1171312" y="864280"/>
              <a:ext cx="4724367" cy="2643187"/>
              <a:chOff x="990" y="932"/>
              <a:chExt cx="2687" cy="1964"/>
            </a:xfrm>
          </p:grpSpPr>
          <p:grpSp>
            <p:nvGrpSpPr>
              <p:cNvPr id="171" name="Group 20"/>
              <p:cNvGrpSpPr>
                <a:grpSpLocks/>
              </p:cNvGrpSpPr>
              <p:nvPr/>
            </p:nvGrpSpPr>
            <p:grpSpPr bwMode="auto">
              <a:xfrm>
                <a:off x="1703" y="1119"/>
                <a:ext cx="785" cy="1665"/>
                <a:chOff x="1703" y="1119"/>
                <a:chExt cx="785" cy="1665"/>
              </a:xfrm>
            </p:grpSpPr>
            <p:sp>
              <p:nvSpPr>
                <p:cNvPr id="212" name="Line 21"/>
                <p:cNvSpPr>
                  <a:spLocks noChangeShapeType="1"/>
                </p:cNvSpPr>
                <p:nvPr/>
              </p:nvSpPr>
              <p:spPr bwMode="auto">
                <a:xfrm>
                  <a:off x="1703" y="1961"/>
                  <a:ext cx="559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3" name="Line 22"/>
                <p:cNvSpPr>
                  <a:spLocks noChangeShapeType="1"/>
                </p:cNvSpPr>
                <p:nvPr/>
              </p:nvSpPr>
              <p:spPr bwMode="auto">
                <a:xfrm>
                  <a:off x="2264" y="1768"/>
                  <a:ext cx="0" cy="385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4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264" y="1723"/>
                  <a:ext cx="224" cy="163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5" name="Line 24"/>
                <p:cNvSpPr>
                  <a:spLocks noChangeShapeType="1"/>
                </p:cNvSpPr>
                <p:nvPr/>
              </p:nvSpPr>
              <p:spPr bwMode="auto">
                <a:xfrm>
                  <a:off x="2282" y="2029"/>
                  <a:ext cx="194" cy="147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6" name="Line 25"/>
                <p:cNvSpPr>
                  <a:spLocks noChangeShapeType="1"/>
                </p:cNvSpPr>
                <p:nvPr/>
              </p:nvSpPr>
              <p:spPr bwMode="auto">
                <a:xfrm>
                  <a:off x="2486" y="1119"/>
                  <a:ext cx="0" cy="603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7" name="Line 26"/>
                <p:cNvSpPr>
                  <a:spLocks noChangeShapeType="1"/>
                </p:cNvSpPr>
                <p:nvPr/>
              </p:nvSpPr>
              <p:spPr bwMode="auto">
                <a:xfrm>
                  <a:off x="2476" y="2153"/>
                  <a:ext cx="0" cy="63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72" name="Line 27"/>
              <p:cNvSpPr>
                <a:spLocks noChangeShapeType="1"/>
              </p:cNvSpPr>
              <p:nvPr/>
            </p:nvSpPr>
            <p:spPr bwMode="auto">
              <a:xfrm>
                <a:off x="1703" y="1120"/>
                <a:ext cx="14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3" name="Line 28"/>
              <p:cNvSpPr>
                <a:spLocks noChangeShapeType="1"/>
              </p:cNvSpPr>
              <p:nvPr/>
            </p:nvSpPr>
            <p:spPr bwMode="auto">
              <a:xfrm>
                <a:off x="1703" y="1119"/>
                <a:ext cx="0" cy="842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4" name="Oval 29"/>
              <p:cNvSpPr>
                <a:spLocks noChangeArrowheads="1"/>
              </p:cNvSpPr>
              <p:nvPr/>
            </p:nvSpPr>
            <p:spPr bwMode="auto">
              <a:xfrm>
                <a:off x="3133" y="109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5" name="Rectangle 30"/>
              <p:cNvSpPr>
                <a:spLocks noChangeArrowheads="1"/>
              </p:cNvSpPr>
              <p:nvPr/>
            </p:nvSpPr>
            <p:spPr bwMode="auto">
              <a:xfrm>
                <a:off x="1651" y="1408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6" name="Rectangle 31"/>
              <p:cNvSpPr>
                <a:spLocks noChangeArrowheads="1"/>
              </p:cNvSpPr>
              <p:nvPr/>
            </p:nvSpPr>
            <p:spPr bwMode="auto">
              <a:xfrm>
                <a:off x="2436" y="1276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7" name="Rectangle 32"/>
              <p:cNvSpPr>
                <a:spLocks noChangeArrowheads="1"/>
              </p:cNvSpPr>
              <p:nvPr/>
            </p:nvSpPr>
            <p:spPr bwMode="auto">
              <a:xfrm>
                <a:off x="1318" y="1196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78" name="Rectangle 33"/>
              <p:cNvSpPr>
                <a:spLocks noChangeArrowheads="1"/>
              </p:cNvSpPr>
              <p:nvPr/>
            </p:nvSpPr>
            <p:spPr bwMode="auto">
              <a:xfrm>
                <a:off x="2148" y="1217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179" name="Rectangle 34"/>
              <p:cNvSpPr>
                <a:spLocks noChangeArrowheads="1"/>
              </p:cNvSpPr>
              <p:nvPr/>
            </p:nvSpPr>
            <p:spPr bwMode="auto">
              <a:xfrm>
                <a:off x="2459" y="1946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CE</a:t>
                </a:r>
              </a:p>
            </p:txBody>
          </p:sp>
          <p:sp>
            <p:nvSpPr>
              <p:cNvPr id="180" name="Rectangle 35"/>
              <p:cNvSpPr>
                <a:spLocks noChangeArrowheads="1"/>
              </p:cNvSpPr>
              <p:nvPr/>
            </p:nvSpPr>
            <p:spPr bwMode="auto">
              <a:xfrm>
                <a:off x="2021" y="2209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BE</a:t>
                </a:r>
              </a:p>
            </p:txBody>
          </p:sp>
          <p:sp>
            <p:nvSpPr>
              <p:cNvPr id="181" name="Rectangle 36"/>
              <p:cNvSpPr>
                <a:spLocks noChangeArrowheads="1"/>
              </p:cNvSpPr>
              <p:nvPr/>
            </p:nvSpPr>
            <p:spPr bwMode="auto">
              <a:xfrm>
                <a:off x="1980" y="1968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82" name="Rectangle 37"/>
              <p:cNvSpPr>
                <a:spLocks noChangeArrowheads="1"/>
              </p:cNvSpPr>
              <p:nvPr/>
            </p:nvSpPr>
            <p:spPr bwMode="auto">
              <a:xfrm>
                <a:off x="2253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3" name="Rectangle 38"/>
              <p:cNvSpPr>
                <a:spLocks noChangeArrowheads="1"/>
              </p:cNvSpPr>
              <p:nvPr/>
            </p:nvSpPr>
            <p:spPr bwMode="auto">
              <a:xfrm>
                <a:off x="2532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4" name="Rectangle 39"/>
              <p:cNvSpPr>
                <a:spLocks noChangeArrowheads="1"/>
              </p:cNvSpPr>
              <p:nvPr/>
            </p:nvSpPr>
            <p:spPr bwMode="auto">
              <a:xfrm>
                <a:off x="2528" y="1722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85" name="Rectangle 40"/>
              <p:cNvSpPr>
                <a:spLocks noChangeArrowheads="1"/>
              </p:cNvSpPr>
              <p:nvPr/>
            </p:nvSpPr>
            <p:spPr bwMode="auto">
              <a:xfrm>
                <a:off x="3192" y="932"/>
                <a:ext cx="485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186" name="Line 41"/>
              <p:cNvSpPr>
                <a:spLocks noChangeShapeType="1"/>
              </p:cNvSpPr>
              <p:nvPr/>
            </p:nvSpPr>
            <p:spPr bwMode="auto">
              <a:xfrm>
                <a:off x="1115" y="2731"/>
                <a:ext cx="20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87" name="Group 42"/>
              <p:cNvGrpSpPr>
                <a:grpSpLocks/>
              </p:cNvGrpSpPr>
              <p:nvPr/>
            </p:nvGrpSpPr>
            <p:grpSpPr bwMode="auto">
              <a:xfrm>
                <a:off x="1355" y="1848"/>
                <a:ext cx="112" cy="224"/>
                <a:chOff x="5056" y="3342"/>
                <a:chExt cx="112" cy="224"/>
              </a:xfrm>
            </p:grpSpPr>
            <p:sp>
              <p:nvSpPr>
                <p:cNvPr id="210" name="Line 43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1" name="Line 44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88" name="Line 45"/>
              <p:cNvSpPr>
                <a:spLocks noChangeShapeType="1"/>
              </p:cNvSpPr>
              <p:nvPr/>
            </p:nvSpPr>
            <p:spPr bwMode="auto">
              <a:xfrm>
                <a:off x="1467" y="1961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9" name="Line 46"/>
              <p:cNvSpPr>
                <a:spLocks noChangeShapeType="1"/>
              </p:cNvSpPr>
              <p:nvPr/>
            </p:nvSpPr>
            <p:spPr bwMode="auto">
              <a:xfrm>
                <a:off x="1115" y="196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0" name="Line 47"/>
              <p:cNvSpPr>
                <a:spLocks noChangeShapeType="1"/>
              </p:cNvSpPr>
              <p:nvPr/>
            </p:nvSpPr>
            <p:spPr bwMode="auto">
              <a:xfrm>
                <a:off x="2476" y="1685"/>
                <a:ext cx="25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91" name="Group 48"/>
              <p:cNvGrpSpPr>
                <a:grpSpLocks/>
              </p:cNvGrpSpPr>
              <p:nvPr/>
            </p:nvGrpSpPr>
            <p:grpSpPr bwMode="auto">
              <a:xfrm>
                <a:off x="2723" y="1580"/>
                <a:ext cx="112" cy="224"/>
                <a:chOff x="5056" y="3342"/>
                <a:chExt cx="112" cy="224"/>
              </a:xfrm>
            </p:grpSpPr>
            <p:sp>
              <p:nvSpPr>
                <p:cNvPr id="208" name="Line 49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9" name="Line 50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92" name="Line 51"/>
              <p:cNvSpPr>
                <a:spLocks noChangeShapeType="1"/>
              </p:cNvSpPr>
              <p:nvPr/>
            </p:nvSpPr>
            <p:spPr bwMode="auto">
              <a:xfrm>
                <a:off x="2835" y="1676"/>
                <a:ext cx="2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3" name="Oval 54"/>
              <p:cNvSpPr>
                <a:spLocks noChangeArrowheads="1"/>
              </p:cNvSpPr>
              <p:nvPr/>
            </p:nvSpPr>
            <p:spPr bwMode="auto">
              <a:xfrm>
                <a:off x="1091" y="2707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4" name="Oval 55"/>
              <p:cNvSpPr>
                <a:spLocks noChangeArrowheads="1"/>
              </p:cNvSpPr>
              <p:nvPr/>
            </p:nvSpPr>
            <p:spPr bwMode="auto">
              <a:xfrm>
                <a:off x="1067" y="194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5" name="Oval 56"/>
              <p:cNvSpPr>
                <a:spLocks noChangeArrowheads="1"/>
              </p:cNvSpPr>
              <p:nvPr/>
            </p:nvSpPr>
            <p:spPr bwMode="auto">
              <a:xfrm>
                <a:off x="2452" y="2707"/>
                <a:ext cx="48" cy="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6" name="Line 57"/>
              <p:cNvSpPr>
                <a:spLocks noChangeShapeType="1"/>
              </p:cNvSpPr>
              <p:nvPr/>
            </p:nvSpPr>
            <p:spPr bwMode="auto">
              <a:xfrm>
                <a:off x="2476" y="2731"/>
                <a:ext cx="0" cy="1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7" name="Line 58"/>
              <p:cNvSpPr>
                <a:spLocks noChangeShapeType="1"/>
              </p:cNvSpPr>
              <p:nvPr/>
            </p:nvSpPr>
            <p:spPr bwMode="auto">
              <a:xfrm>
                <a:off x="2403" y="2896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8" name="Rectangle 59"/>
              <p:cNvSpPr>
                <a:spLocks noChangeArrowheads="1"/>
              </p:cNvSpPr>
              <p:nvPr/>
            </p:nvSpPr>
            <p:spPr bwMode="auto">
              <a:xfrm>
                <a:off x="1454" y="1676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99" name="Rectangle 60"/>
              <p:cNvSpPr>
                <a:spLocks noChangeArrowheads="1"/>
              </p:cNvSpPr>
              <p:nvPr/>
            </p:nvSpPr>
            <p:spPr bwMode="auto">
              <a:xfrm>
                <a:off x="2552" y="1413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200" name="Text Box 61"/>
              <p:cNvSpPr txBox="1">
                <a:spLocks noChangeArrowheads="1"/>
              </p:cNvSpPr>
              <p:nvPr/>
            </p:nvSpPr>
            <p:spPr bwMode="auto">
              <a:xfrm>
                <a:off x="1178" y="153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201" name="Text Box 62"/>
              <p:cNvSpPr txBox="1">
                <a:spLocks noChangeArrowheads="1"/>
              </p:cNvSpPr>
              <p:nvPr/>
            </p:nvSpPr>
            <p:spPr bwMode="auto">
              <a:xfrm>
                <a:off x="2658" y="127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202" name="Rectangle 63"/>
              <p:cNvSpPr>
                <a:spLocks noChangeArrowheads="1"/>
              </p:cNvSpPr>
              <p:nvPr/>
            </p:nvSpPr>
            <p:spPr bwMode="auto">
              <a:xfrm>
                <a:off x="1021" y="1959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203" name="Rectangle 64"/>
              <p:cNvSpPr>
                <a:spLocks noChangeArrowheads="1"/>
              </p:cNvSpPr>
              <p:nvPr/>
            </p:nvSpPr>
            <p:spPr bwMode="auto">
              <a:xfrm>
                <a:off x="1024" y="2418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4" name="Rectangle 65"/>
              <p:cNvSpPr>
                <a:spLocks noChangeArrowheads="1"/>
              </p:cNvSpPr>
              <p:nvPr/>
            </p:nvSpPr>
            <p:spPr bwMode="auto">
              <a:xfrm>
                <a:off x="990" y="2184"/>
                <a:ext cx="225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5" name="Rectangle 66"/>
              <p:cNvSpPr>
                <a:spLocks noChangeArrowheads="1"/>
              </p:cNvSpPr>
              <p:nvPr/>
            </p:nvSpPr>
            <p:spPr bwMode="auto">
              <a:xfrm>
                <a:off x="3180" y="1718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206" name="Rectangle 67"/>
              <p:cNvSpPr>
                <a:spLocks noChangeArrowheads="1"/>
              </p:cNvSpPr>
              <p:nvPr/>
            </p:nvSpPr>
            <p:spPr bwMode="auto">
              <a:xfrm>
                <a:off x="3217" y="2246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7" name="Rectangle 68"/>
              <p:cNvSpPr>
                <a:spLocks noChangeArrowheads="1"/>
              </p:cNvSpPr>
              <p:nvPr/>
            </p:nvSpPr>
            <p:spPr bwMode="auto">
              <a:xfrm>
                <a:off x="3177" y="2014"/>
                <a:ext cx="251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164" name="Line 69"/>
            <p:cNvSpPr>
              <a:spLocks noChangeShapeType="1"/>
            </p:cNvSpPr>
            <p:nvPr/>
          </p:nvSpPr>
          <p:spPr bwMode="auto">
            <a:xfrm>
              <a:off x="4934719" y="1871890"/>
              <a:ext cx="0" cy="140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5" name="Rectangle 70"/>
            <p:cNvSpPr>
              <a:spLocks noChangeArrowheads="1"/>
            </p:cNvSpPr>
            <p:nvPr/>
          </p:nvSpPr>
          <p:spPr bwMode="auto">
            <a:xfrm>
              <a:off x="4843060" y="2349727"/>
              <a:ext cx="190754" cy="39052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6" name="Rectangle 71"/>
            <p:cNvSpPr>
              <a:spLocks noChangeArrowheads="1"/>
            </p:cNvSpPr>
            <p:nvPr/>
          </p:nvSpPr>
          <p:spPr bwMode="auto">
            <a:xfrm>
              <a:off x="4446248" y="2525940"/>
              <a:ext cx="486030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67" name="Rectangle 72"/>
            <p:cNvSpPr>
              <a:spLocks noChangeArrowheads="1"/>
            </p:cNvSpPr>
            <p:nvPr/>
          </p:nvSpPr>
          <p:spPr bwMode="auto">
            <a:xfrm>
              <a:off x="2707104" y="1660752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68" name="Line 73"/>
            <p:cNvSpPr>
              <a:spLocks noChangeShapeType="1"/>
            </p:cNvSpPr>
            <p:nvPr/>
          </p:nvSpPr>
          <p:spPr bwMode="auto">
            <a:xfrm>
              <a:off x="2697151" y="2155144"/>
              <a:ext cx="530794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9" name="Rectangle 74"/>
            <p:cNvSpPr>
              <a:spLocks noChangeArrowheads="1"/>
            </p:cNvSpPr>
            <p:nvPr/>
          </p:nvSpPr>
          <p:spPr bwMode="auto">
            <a:xfrm>
              <a:off x="3962763" y="1055915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70" name="Line 75"/>
            <p:cNvSpPr>
              <a:spLocks noChangeShapeType="1"/>
            </p:cNvSpPr>
            <p:nvPr/>
          </p:nvSpPr>
          <p:spPr bwMode="auto">
            <a:xfrm>
              <a:off x="3994279" y="1163865"/>
              <a:ext cx="0" cy="41116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567214" y="3569380"/>
            <a:ext cx="47164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lang="en-US" altLang="zh-CN" sz="1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直流分量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597377" y="4088492"/>
            <a:ext cx="52959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32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32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32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1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交流分量</a:t>
            </a:r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1341891" y="210684"/>
            <a:ext cx="3276600" cy="701675"/>
            <a:chOff x="1000" y="340"/>
            <a:chExt cx="2064" cy="442"/>
          </a:xfrm>
        </p:grpSpPr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1000" y="340"/>
              <a:ext cx="206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各种符号关系：</a:t>
              </a: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1844" y="340"/>
              <a:ext cx="116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zh-CN" altLang="zh-CN" sz="40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1157" y="705"/>
              <a:ext cx="1451" cy="0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522514" y="3351666"/>
            <a:ext cx="19700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符号含义：</a:t>
            </a:r>
          </a:p>
        </p:txBody>
      </p:sp>
      <p:grpSp>
        <p:nvGrpSpPr>
          <p:cNvPr id="123" name="组合 122"/>
          <p:cNvGrpSpPr/>
          <p:nvPr/>
        </p:nvGrpSpPr>
        <p:grpSpPr>
          <a:xfrm>
            <a:off x="4094732" y="464733"/>
            <a:ext cx="4724367" cy="2643187"/>
            <a:chOff x="1171312" y="864280"/>
            <a:chExt cx="4724367" cy="2643187"/>
          </a:xfrm>
        </p:grpSpPr>
        <p:grpSp>
          <p:nvGrpSpPr>
            <p:cNvPr id="124" name="Group 19"/>
            <p:cNvGrpSpPr>
              <a:grpSpLocks/>
            </p:cNvGrpSpPr>
            <p:nvPr/>
          </p:nvGrpSpPr>
          <p:grpSpPr bwMode="auto">
            <a:xfrm>
              <a:off x="1171312" y="864280"/>
              <a:ext cx="4724367" cy="2643187"/>
              <a:chOff x="990" y="932"/>
              <a:chExt cx="2687" cy="1964"/>
            </a:xfrm>
          </p:grpSpPr>
          <p:grpSp>
            <p:nvGrpSpPr>
              <p:cNvPr id="132" name="Group 20"/>
              <p:cNvGrpSpPr>
                <a:grpSpLocks/>
              </p:cNvGrpSpPr>
              <p:nvPr/>
            </p:nvGrpSpPr>
            <p:grpSpPr bwMode="auto">
              <a:xfrm>
                <a:off x="1703" y="1119"/>
                <a:ext cx="785" cy="1665"/>
                <a:chOff x="1703" y="1119"/>
                <a:chExt cx="785" cy="1665"/>
              </a:xfrm>
            </p:grpSpPr>
            <p:sp>
              <p:nvSpPr>
                <p:cNvPr id="173" name="Line 21"/>
                <p:cNvSpPr>
                  <a:spLocks noChangeShapeType="1"/>
                </p:cNvSpPr>
                <p:nvPr/>
              </p:nvSpPr>
              <p:spPr bwMode="auto">
                <a:xfrm>
                  <a:off x="1703" y="1961"/>
                  <a:ext cx="559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4" name="Line 22"/>
                <p:cNvSpPr>
                  <a:spLocks noChangeShapeType="1"/>
                </p:cNvSpPr>
                <p:nvPr/>
              </p:nvSpPr>
              <p:spPr bwMode="auto">
                <a:xfrm>
                  <a:off x="2264" y="1768"/>
                  <a:ext cx="0" cy="385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5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264" y="1723"/>
                  <a:ext cx="224" cy="163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6" name="Line 24"/>
                <p:cNvSpPr>
                  <a:spLocks noChangeShapeType="1"/>
                </p:cNvSpPr>
                <p:nvPr/>
              </p:nvSpPr>
              <p:spPr bwMode="auto">
                <a:xfrm>
                  <a:off x="2282" y="2029"/>
                  <a:ext cx="194" cy="147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7" name="Line 25"/>
                <p:cNvSpPr>
                  <a:spLocks noChangeShapeType="1"/>
                </p:cNvSpPr>
                <p:nvPr/>
              </p:nvSpPr>
              <p:spPr bwMode="auto">
                <a:xfrm>
                  <a:off x="2486" y="1119"/>
                  <a:ext cx="0" cy="603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8" name="Line 26"/>
                <p:cNvSpPr>
                  <a:spLocks noChangeShapeType="1"/>
                </p:cNvSpPr>
                <p:nvPr/>
              </p:nvSpPr>
              <p:spPr bwMode="auto">
                <a:xfrm>
                  <a:off x="2476" y="2153"/>
                  <a:ext cx="0" cy="63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33" name="Line 27"/>
              <p:cNvSpPr>
                <a:spLocks noChangeShapeType="1"/>
              </p:cNvSpPr>
              <p:nvPr/>
            </p:nvSpPr>
            <p:spPr bwMode="auto">
              <a:xfrm>
                <a:off x="1703" y="1120"/>
                <a:ext cx="14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4" name="Line 28"/>
              <p:cNvSpPr>
                <a:spLocks noChangeShapeType="1"/>
              </p:cNvSpPr>
              <p:nvPr/>
            </p:nvSpPr>
            <p:spPr bwMode="auto">
              <a:xfrm>
                <a:off x="1703" y="1119"/>
                <a:ext cx="0" cy="842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5" name="Oval 29"/>
              <p:cNvSpPr>
                <a:spLocks noChangeArrowheads="1"/>
              </p:cNvSpPr>
              <p:nvPr/>
            </p:nvSpPr>
            <p:spPr bwMode="auto">
              <a:xfrm>
                <a:off x="3133" y="109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6" name="Rectangle 30"/>
              <p:cNvSpPr>
                <a:spLocks noChangeArrowheads="1"/>
              </p:cNvSpPr>
              <p:nvPr/>
            </p:nvSpPr>
            <p:spPr bwMode="auto">
              <a:xfrm>
                <a:off x="1651" y="1408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7" name="Rectangle 31"/>
              <p:cNvSpPr>
                <a:spLocks noChangeArrowheads="1"/>
              </p:cNvSpPr>
              <p:nvPr/>
            </p:nvSpPr>
            <p:spPr bwMode="auto">
              <a:xfrm>
                <a:off x="2436" y="1276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8" name="Rectangle 32"/>
              <p:cNvSpPr>
                <a:spLocks noChangeArrowheads="1"/>
              </p:cNvSpPr>
              <p:nvPr/>
            </p:nvSpPr>
            <p:spPr bwMode="auto">
              <a:xfrm>
                <a:off x="1318" y="1196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39" name="Rectangle 33"/>
              <p:cNvSpPr>
                <a:spLocks noChangeArrowheads="1"/>
              </p:cNvSpPr>
              <p:nvPr/>
            </p:nvSpPr>
            <p:spPr bwMode="auto">
              <a:xfrm>
                <a:off x="2148" y="1217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140" name="Rectangle 34"/>
              <p:cNvSpPr>
                <a:spLocks noChangeArrowheads="1"/>
              </p:cNvSpPr>
              <p:nvPr/>
            </p:nvSpPr>
            <p:spPr bwMode="auto">
              <a:xfrm>
                <a:off x="2459" y="1946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CE</a:t>
                </a:r>
              </a:p>
            </p:txBody>
          </p:sp>
          <p:sp>
            <p:nvSpPr>
              <p:cNvPr id="141" name="Rectangle 35"/>
              <p:cNvSpPr>
                <a:spLocks noChangeArrowheads="1"/>
              </p:cNvSpPr>
              <p:nvPr/>
            </p:nvSpPr>
            <p:spPr bwMode="auto">
              <a:xfrm>
                <a:off x="2021" y="2209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BE</a:t>
                </a:r>
              </a:p>
            </p:txBody>
          </p:sp>
          <p:sp>
            <p:nvSpPr>
              <p:cNvPr id="142" name="Rectangle 36"/>
              <p:cNvSpPr>
                <a:spLocks noChangeArrowheads="1"/>
              </p:cNvSpPr>
              <p:nvPr/>
            </p:nvSpPr>
            <p:spPr bwMode="auto">
              <a:xfrm>
                <a:off x="1980" y="1968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43" name="Rectangle 37"/>
              <p:cNvSpPr>
                <a:spLocks noChangeArrowheads="1"/>
              </p:cNvSpPr>
              <p:nvPr/>
            </p:nvSpPr>
            <p:spPr bwMode="auto">
              <a:xfrm>
                <a:off x="2253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4" name="Rectangle 38"/>
              <p:cNvSpPr>
                <a:spLocks noChangeArrowheads="1"/>
              </p:cNvSpPr>
              <p:nvPr/>
            </p:nvSpPr>
            <p:spPr bwMode="auto">
              <a:xfrm>
                <a:off x="2532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5" name="Rectangle 39"/>
              <p:cNvSpPr>
                <a:spLocks noChangeArrowheads="1"/>
              </p:cNvSpPr>
              <p:nvPr/>
            </p:nvSpPr>
            <p:spPr bwMode="auto">
              <a:xfrm>
                <a:off x="2528" y="1722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46" name="Rectangle 40"/>
              <p:cNvSpPr>
                <a:spLocks noChangeArrowheads="1"/>
              </p:cNvSpPr>
              <p:nvPr/>
            </p:nvSpPr>
            <p:spPr bwMode="auto">
              <a:xfrm>
                <a:off x="3192" y="932"/>
                <a:ext cx="485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147" name="Line 41"/>
              <p:cNvSpPr>
                <a:spLocks noChangeShapeType="1"/>
              </p:cNvSpPr>
              <p:nvPr/>
            </p:nvSpPr>
            <p:spPr bwMode="auto">
              <a:xfrm>
                <a:off x="1115" y="2731"/>
                <a:ext cx="20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48" name="Group 42"/>
              <p:cNvGrpSpPr>
                <a:grpSpLocks/>
              </p:cNvGrpSpPr>
              <p:nvPr/>
            </p:nvGrpSpPr>
            <p:grpSpPr bwMode="auto">
              <a:xfrm>
                <a:off x="1355" y="1848"/>
                <a:ext cx="112" cy="224"/>
                <a:chOff x="5056" y="3342"/>
                <a:chExt cx="112" cy="224"/>
              </a:xfrm>
            </p:grpSpPr>
            <p:sp>
              <p:nvSpPr>
                <p:cNvPr id="171" name="Line 43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2" name="Line 44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49" name="Line 45"/>
              <p:cNvSpPr>
                <a:spLocks noChangeShapeType="1"/>
              </p:cNvSpPr>
              <p:nvPr/>
            </p:nvSpPr>
            <p:spPr bwMode="auto">
              <a:xfrm>
                <a:off x="1467" y="1961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0" name="Line 46"/>
              <p:cNvSpPr>
                <a:spLocks noChangeShapeType="1"/>
              </p:cNvSpPr>
              <p:nvPr/>
            </p:nvSpPr>
            <p:spPr bwMode="auto">
              <a:xfrm>
                <a:off x="1115" y="196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1" name="Line 47"/>
              <p:cNvSpPr>
                <a:spLocks noChangeShapeType="1"/>
              </p:cNvSpPr>
              <p:nvPr/>
            </p:nvSpPr>
            <p:spPr bwMode="auto">
              <a:xfrm>
                <a:off x="2476" y="1685"/>
                <a:ext cx="25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52" name="Group 48"/>
              <p:cNvGrpSpPr>
                <a:grpSpLocks/>
              </p:cNvGrpSpPr>
              <p:nvPr/>
            </p:nvGrpSpPr>
            <p:grpSpPr bwMode="auto">
              <a:xfrm>
                <a:off x="2723" y="1580"/>
                <a:ext cx="112" cy="224"/>
                <a:chOff x="5056" y="3342"/>
                <a:chExt cx="112" cy="224"/>
              </a:xfrm>
            </p:grpSpPr>
            <p:sp>
              <p:nvSpPr>
                <p:cNvPr id="169" name="Line 49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0" name="Line 50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53" name="Line 51"/>
              <p:cNvSpPr>
                <a:spLocks noChangeShapeType="1"/>
              </p:cNvSpPr>
              <p:nvPr/>
            </p:nvSpPr>
            <p:spPr bwMode="auto">
              <a:xfrm>
                <a:off x="2835" y="1676"/>
                <a:ext cx="2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4" name="Oval 54"/>
              <p:cNvSpPr>
                <a:spLocks noChangeArrowheads="1"/>
              </p:cNvSpPr>
              <p:nvPr/>
            </p:nvSpPr>
            <p:spPr bwMode="auto">
              <a:xfrm>
                <a:off x="1091" y="2707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5" name="Oval 55"/>
              <p:cNvSpPr>
                <a:spLocks noChangeArrowheads="1"/>
              </p:cNvSpPr>
              <p:nvPr/>
            </p:nvSpPr>
            <p:spPr bwMode="auto">
              <a:xfrm>
                <a:off x="1067" y="194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6" name="Oval 56"/>
              <p:cNvSpPr>
                <a:spLocks noChangeArrowheads="1"/>
              </p:cNvSpPr>
              <p:nvPr/>
            </p:nvSpPr>
            <p:spPr bwMode="auto">
              <a:xfrm>
                <a:off x="2452" y="2707"/>
                <a:ext cx="48" cy="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7" name="Line 57"/>
              <p:cNvSpPr>
                <a:spLocks noChangeShapeType="1"/>
              </p:cNvSpPr>
              <p:nvPr/>
            </p:nvSpPr>
            <p:spPr bwMode="auto">
              <a:xfrm>
                <a:off x="2476" y="2731"/>
                <a:ext cx="0" cy="1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8" name="Line 58"/>
              <p:cNvSpPr>
                <a:spLocks noChangeShapeType="1"/>
              </p:cNvSpPr>
              <p:nvPr/>
            </p:nvSpPr>
            <p:spPr bwMode="auto">
              <a:xfrm>
                <a:off x="2403" y="2896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9" name="Rectangle 59"/>
              <p:cNvSpPr>
                <a:spLocks noChangeArrowheads="1"/>
              </p:cNvSpPr>
              <p:nvPr/>
            </p:nvSpPr>
            <p:spPr bwMode="auto">
              <a:xfrm>
                <a:off x="1454" y="1676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60" name="Rectangle 60"/>
              <p:cNvSpPr>
                <a:spLocks noChangeArrowheads="1"/>
              </p:cNvSpPr>
              <p:nvPr/>
            </p:nvSpPr>
            <p:spPr bwMode="auto">
              <a:xfrm>
                <a:off x="2552" y="1413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61" name="Text Box 61"/>
              <p:cNvSpPr txBox="1">
                <a:spLocks noChangeArrowheads="1"/>
              </p:cNvSpPr>
              <p:nvPr/>
            </p:nvSpPr>
            <p:spPr bwMode="auto">
              <a:xfrm>
                <a:off x="1178" y="153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62" name="Text Box 62"/>
              <p:cNvSpPr txBox="1">
                <a:spLocks noChangeArrowheads="1"/>
              </p:cNvSpPr>
              <p:nvPr/>
            </p:nvSpPr>
            <p:spPr bwMode="auto">
              <a:xfrm>
                <a:off x="2658" y="127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63" name="Rectangle 63"/>
              <p:cNvSpPr>
                <a:spLocks noChangeArrowheads="1"/>
              </p:cNvSpPr>
              <p:nvPr/>
            </p:nvSpPr>
            <p:spPr bwMode="auto">
              <a:xfrm>
                <a:off x="1021" y="1959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64" name="Rectangle 64"/>
              <p:cNvSpPr>
                <a:spLocks noChangeArrowheads="1"/>
              </p:cNvSpPr>
              <p:nvPr/>
            </p:nvSpPr>
            <p:spPr bwMode="auto">
              <a:xfrm>
                <a:off x="1024" y="2418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5" name="Rectangle 65"/>
              <p:cNvSpPr>
                <a:spLocks noChangeArrowheads="1"/>
              </p:cNvSpPr>
              <p:nvPr/>
            </p:nvSpPr>
            <p:spPr bwMode="auto">
              <a:xfrm>
                <a:off x="990" y="2184"/>
                <a:ext cx="225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6" name="Rectangle 66"/>
              <p:cNvSpPr>
                <a:spLocks noChangeArrowheads="1"/>
              </p:cNvSpPr>
              <p:nvPr/>
            </p:nvSpPr>
            <p:spPr bwMode="auto">
              <a:xfrm>
                <a:off x="3180" y="1718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67" name="Rectangle 67"/>
              <p:cNvSpPr>
                <a:spLocks noChangeArrowheads="1"/>
              </p:cNvSpPr>
              <p:nvPr/>
            </p:nvSpPr>
            <p:spPr bwMode="auto">
              <a:xfrm>
                <a:off x="3217" y="2246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8" name="Rectangle 68"/>
              <p:cNvSpPr>
                <a:spLocks noChangeArrowheads="1"/>
              </p:cNvSpPr>
              <p:nvPr/>
            </p:nvSpPr>
            <p:spPr bwMode="auto">
              <a:xfrm>
                <a:off x="3177" y="2014"/>
                <a:ext cx="251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125" name="Line 69"/>
            <p:cNvSpPr>
              <a:spLocks noChangeShapeType="1"/>
            </p:cNvSpPr>
            <p:nvPr/>
          </p:nvSpPr>
          <p:spPr bwMode="auto">
            <a:xfrm>
              <a:off x="4934719" y="1871890"/>
              <a:ext cx="0" cy="140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6" name="Rectangle 70"/>
            <p:cNvSpPr>
              <a:spLocks noChangeArrowheads="1"/>
            </p:cNvSpPr>
            <p:nvPr/>
          </p:nvSpPr>
          <p:spPr bwMode="auto">
            <a:xfrm>
              <a:off x="4843060" y="2349727"/>
              <a:ext cx="190754" cy="39052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7" name="Rectangle 71"/>
            <p:cNvSpPr>
              <a:spLocks noChangeArrowheads="1"/>
            </p:cNvSpPr>
            <p:nvPr/>
          </p:nvSpPr>
          <p:spPr bwMode="auto">
            <a:xfrm>
              <a:off x="4446248" y="2525940"/>
              <a:ext cx="486030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28" name="Rectangle 72"/>
            <p:cNvSpPr>
              <a:spLocks noChangeArrowheads="1"/>
            </p:cNvSpPr>
            <p:nvPr/>
          </p:nvSpPr>
          <p:spPr bwMode="auto">
            <a:xfrm>
              <a:off x="2707104" y="1660752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29" name="Line 73"/>
            <p:cNvSpPr>
              <a:spLocks noChangeShapeType="1"/>
            </p:cNvSpPr>
            <p:nvPr/>
          </p:nvSpPr>
          <p:spPr bwMode="auto">
            <a:xfrm>
              <a:off x="2697151" y="2155144"/>
              <a:ext cx="530794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0" name="Rectangle 74"/>
            <p:cNvSpPr>
              <a:spLocks noChangeArrowheads="1"/>
            </p:cNvSpPr>
            <p:nvPr/>
          </p:nvSpPr>
          <p:spPr bwMode="auto">
            <a:xfrm>
              <a:off x="3962763" y="1055915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31" name="Line 75"/>
            <p:cNvSpPr>
              <a:spLocks noChangeShapeType="1"/>
            </p:cNvSpPr>
            <p:nvPr/>
          </p:nvSpPr>
          <p:spPr bwMode="auto">
            <a:xfrm>
              <a:off x="3994279" y="1163865"/>
              <a:ext cx="0" cy="41116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99" name="组合 198"/>
          <p:cNvGrpSpPr/>
          <p:nvPr/>
        </p:nvGrpSpPr>
        <p:grpSpPr>
          <a:xfrm>
            <a:off x="776111" y="961696"/>
            <a:ext cx="2781300" cy="2121132"/>
            <a:chOff x="3316514" y="1189893"/>
            <a:chExt cx="2781300" cy="2121132"/>
          </a:xfrm>
        </p:grpSpPr>
        <p:cxnSp>
          <p:nvCxnSpPr>
            <p:cNvPr id="180" name="直接箭头连接符 179"/>
            <p:cNvCxnSpPr/>
            <p:nvPr/>
          </p:nvCxnSpPr>
          <p:spPr>
            <a:xfrm>
              <a:off x="3872089" y="3127022"/>
              <a:ext cx="212231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箭头连接符 180"/>
            <p:cNvCxnSpPr/>
            <p:nvPr/>
          </p:nvCxnSpPr>
          <p:spPr>
            <a:xfrm rot="5400000" flipH="1" flipV="1">
              <a:off x="3008489" y="2274711"/>
              <a:ext cx="17272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 Box 10"/>
            <p:cNvSpPr txBox="1">
              <a:spLocks noChangeArrowheads="1"/>
            </p:cNvSpPr>
            <p:nvPr/>
          </p:nvSpPr>
          <p:spPr bwMode="auto">
            <a:xfrm>
              <a:off x="5653314" y="2702604"/>
              <a:ext cx="4445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sp>
          <p:nvSpPr>
            <p:cNvPr id="184" name="Text Box 10"/>
            <p:cNvSpPr txBox="1">
              <a:spLocks noChangeArrowheads="1"/>
            </p:cNvSpPr>
            <p:nvPr/>
          </p:nvSpPr>
          <p:spPr bwMode="auto">
            <a:xfrm>
              <a:off x="3564870" y="2849360"/>
              <a:ext cx="4445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endPara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5" name="Text Box 10"/>
            <p:cNvSpPr txBox="1">
              <a:spLocks noChangeArrowheads="1"/>
            </p:cNvSpPr>
            <p:nvPr/>
          </p:nvSpPr>
          <p:spPr bwMode="auto">
            <a:xfrm>
              <a:off x="3903536" y="1189893"/>
              <a:ext cx="54428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i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6" name="Text Box 10"/>
            <p:cNvSpPr txBox="1">
              <a:spLocks noChangeArrowheads="1"/>
            </p:cNvSpPr>
            <p:nvPr/>
          </p:nvSpPr>
          <p:spPr bwMode="auto">
            <a:xfrm>
              <a:off x="3316514" y="2025271"/>
              <a:ext cx="54428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7" name="Text Box 10"/>
            <p:cNvSpPr txBox="1">
              <a:spLocks noChangeArrowheads="1"/>
            </p:cNvSpPr>
            <p:nvPr/>
          </p:nvSpPr>
          <p:spPr bwMode="auto">
            <a:xfrm>
              <a:off x="5156603" y="1562427"/>
              <a:ext cx="54428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i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bm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8" name="Text Box 10"/>
            <p:cNvSpPr txBox="1">
              <a:spLocks noChangeArrowheads="1"/>
            </p:cNvSpPr>
            <p:nvPr/>
          </p:nvSpPr>
          <p:spPr bwMode="auto">
            <a:xfrm>
              <a:off x="4321225" y="1743050"/>
              <a:ext cx="54428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i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92" name="组合 191"/>
            <p:cNvGrpSpPr/>
            <p:nvPr/>
          </p:nvGrpSpPr>
          <p:grpSpPr>
            <a:xfrm>
              <a:off x="3883378" y="2054577"/>
              <a:ext cx="1851378" cy="688622"/>
              <a:chOff x="3951111" y="2212622"/>
              <a:chExt cx="1851378" cy="688622"/>
            </a:xfrm>
          </p:grpSpPr>
          <p:sp>
            <p:nvSpPr>
              <p:cNvPr id="189" name="任意多边形 188"/>
              <p:cNvSpPr/>
              <p:nvPr/>
            </p:nvSpPr>
            <p:spPr>
              <a:xfrm>
                <a:off x="3951111" y="2212622"/>
                <a:ext cx="620889" cy="338667"/>
              </a:xfrm>
              <a:custGeom>
                <a:avLst/>
                <a:gdLst>
                  <a:gd name="connsiteX0" fmla="*/ 0 w 620889"/>
                  <a:gd name="connsiteY0" fmla="*/ 338667 h 338667"/>
                  <a:gd name="connsiteX1" fmla="*/ 316089 w 620889"/>
                  <a:gd name="connsiteY1" fmla="*/ 0 h 338667"/>
                  <a:gd name="connsiteX2" fmla="*/ 620889 w 620889"/>
                  <a:gd name="connsiteY2" fmla="*/ 338667 h 338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0889" h="338667">
                    <a:moveTo>
                      <a:pt x="0" y="338667"/>
                    </a:moveTo>
                    <a:cubicBezTo>
                      <a:pt x="106304" y="169333"/>
                      <a:pt x="212608" y="0"/>
                      <a:pt x="316089" y="0"/>
                    </a:cubicBezTo>
                    <a:cubicBezTo>
                      <a:pt x="419570" y="0"/>
                      <a:pt x="520229" y="169333"/>
                      <a:pt x="620889" y="338667"/>
                    </a:cubicBezTo>
                  </a:path>
                </a:pathLst>
              </a:cu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任意多边形 189"/>
              <p:cNvSpPr/>
              <p:nvPr/>
            </p:nvSpPr>
            <p:spPr>
              <a:xfrm rot="10998149">
                <a:off x="4560710" y="2562577"/>
                <a:ext cx="620889" cy="338667"/>
              </a:xfrm>
              <a:custGeom>
                <a:avLst/>
                <a:gdLst>
                  <a:gd name="connsiteX0" fmla="*/ 0 w 620889"/>
                  <a:gd name="connsiteY0" fmla="*/ 338667 h 338667"/>
                  <a:gd name="connsiteX1" fmla="*/ 316089 w 620889"/>
                  <a:gd name="connsiteY1" fmla="*/ 0 h 338667"/>
                  <a:gd name="connsiteX2" fmla="*/ 620889 w 620889"/>
                  <a:gd name="connsiteY2" fmla="*/ 338667 h 338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0889" h="338667">
                    <a:moveTo>
                      <a:pt x="0" y="338667"/>
                    </a:moveTo>
                    <a:cubicBezTo>
                      <a:pt x="106304" y="169333"/>
                      <a:pt x="212608" y="0"/>
                      <a:pt x="316089" y="0"/>
                    </a:cubicBezTo>
                    <a:cubicBezTo>
                      <a:pt x="419570" y="0"/>
                      <a:pt x="520229" y="169333"/>
                      <a:pt x="620889" y="338667"/>
                    </a:cubicBezTo>
                  </a:path>
                </a:pathLst>
              </a:cu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任意多边形 190"/>
              <p:cNvSpPr/>
              <p:nvPr/>
            </p:nvSpPr>
            <p:spPr>
              <a:xfrm>
                <a:off x="5181600" y="2246488"/>
                <a:ext cx="620889" cy="338667"/>
              </a:xfrm>
              <a:custGeom>
                <a:avLst/>
                <a:gdLst>
                  <a:gd name="connsiteX0" fmla="*/ 0 w 620889"/>
                  <a:gd name="connsiteY0" fmla="*/ 338667 h 338667"/>
                  <a:gd name="connsiteX1" fmla="*/ 316089 w 620889"/>
                  <a:gd name="connsiteY1" fmla="*/ 0 h 338667"/>
                  <a:gd name="connsiteX2" fmla="*/ 620889 w 620889"/>
                  <a:gd name="connsiteY2" fmla="*/ 338667 h 338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0889" h="338667">
                    <a:moveTo>
                      <a:pt x="0" y="338667"/>
                    </a:moveTo>
                    <a:cubicBezTo>
                      <a:pt x="106304" y="169333"/>
                      <a:pt x="212608" y="0"/>
                      <a:pt x="316089" y="0"/>
                    </a:cubicBezTo>
                    <a:cubicBezTo>
                      <a:pt x="419570" y="0"/>
                      <a:pt x="520229" y="169333"/>
                      <a:pt x="620889" y="338667"/>
                    </a:cubicBezTo>
                  </a:path>
                </a:pathLst>
              </a:cu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94" name="直接连接符 193"/>
            <p:cNvCxnSpPr/>
            <p:nvPr/>
          </p:nvCxnSpPr>
          <p:spPr>
            <a:xfrm>
              <a:off x="3883378" y="2404533"/>
              <a:ext cx="1980000" cy="1588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>
              <a:stCxn id="191" idx="1"/>
            </p:cNvCxnSpPr>
            <p:nvPr/>
          </p:nvCxnSpPr>
          <p:spPr>
            <a:xfrm flipH="1">
              <a:off x="5418667" y="2088443"/>
              <a:ext cx="0" cy="327379"/>
            </a:xfrm>
            <a:prstGeom prst="line">
              <a:avLst/>
            </a:prstGeom>
            <a:ln w="19050">
              <a:solidFill>
                <a:schemeClr val="tx1"/>
              </a:solidFill>
              <a:headEnd type="stealth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 rot="5400000">
              <a:off x="4239860" y="2280885"/>
              <a:ext cx="24835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stealth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586492" y="4114574"/>
            <a:ext cx="50069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32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 </a:t>
            </a:r>
            <a:r>
              <a:rPr lang="en-US" altLang="zh-CN" sz="1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总   量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556329" y="3568474"/>
            <a:ext cx="5867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1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交流分量有效值</a:t>
            </a:r>
          </a:p>
        </p:txBody>
      </p: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1341891" y="210684"/>
            <a:ext cx="3276600" cy="701675"/>
            <a:chOff x="1000" y="340"/>
            <a:chExt cx="2064" cy="442"/>
          </a:xfrm>
        </p:grpSpPr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1000" y="340"/>
              <a:ext cx="206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各种符号关系：</a:t>
              </a: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1844" y="340"/>
              <a:ext cx="116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zh-CN" altLang="zh-CN" sz="40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1157" y="705"/>
              <a:ext cx="1451" cy="0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522514" y="3351666"/>
            <a:ext cx="19700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符号含义：</a:t>
            </a:r>
          </a:p>
        </p:txBody>
      </p:sp>
      <p:grpSp>
        <p:nvGrpSpPr>
          <p:cNvPr id="7" name="组合 122"/>
          <p:cNvGrpSpPr/>
          <p:nvPr/>
        </p:nvGrpSpPr>
        <p:grpSpPr>
          <a:xfrm>
            <a:off x="4094732" y="464733"/>
            <a:ext cx="4724367" cy="2643187"/>
            <a:chOff x="1171312" y="864280"/>
            <a:chExt cx="4724367" cy="2643187"/>
          </a:xfrm>
        </p:grpSpPr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1171312" y="864280"/>
              <a:ext cx="4724367" cy="2643187"/>
              <a:chOff x="990" y="932"/>
              <a:chExt cx="2687" cy="1964"/>
            </a:xfrm>
          </p:grpSpPr>
          <p:grpSp>
            <p:nvGrpSpPr>
              <p:cNvPr id="9" name="Group 20"/>
              <p:cNvGrpSpPr>
                <a:grpSpLocks/>
              </p:cNvGrpSpPr>
              <p:nvPr/>
            </p:nvGrpSpPr>
            <p:grpSpPr bwMode="auto">
              <a:xfrm>
                <a:off x="1703" y="1119"/>
                <a:ext cx="785" cy="1665"/>
                <a:chOff x="1703" y="1119"/>
                <a:chExt cx="785" cy="1665"/>
              </a:xfrm>
            </p:grpSpPr>
            <p:sp>
              <p:nvSpPr>
                <p:cNvPr id="173" name="Line 21"/>
                <p:cNvSpPr>
                  <a:spLocks noChangeShapeType="1"/>
                </p:cNvSpPr>
                <p:nvPr/>
              </p:nvSpPr>
              <p:spPr bwMode="auto">
                <a:xfrm>
                  <a:off x="1703" y="1961"/>
                  <a:ext cx="559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4" name="Line 22"/>
                <p:cNvSpPr>
                  <a:spLocks noChangeShapeType="1"/>
                </p:cNvSpPr>
                <p:nvPr/>
              </p:nvSpPr>
              <p:spPr bwMode="auto">
                <a:xfrm>
                  <a:off x="2264" y="1768"/>
                  <a:ext cx="0" cy="385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5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264" y="1723"/>
                  <a:ext cx="224" cy="163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6" name="Line 24"/>
                <p:cNvSpPr>
                  <a:spLocks noChangeShapeType="1"/>
                </p:cNvSpPr>
                <p:nvPr/>
              </p:nvSpPr>
              <p:spPr bwMode="auto">
                <a:xfrm>
                  <a:off x="2282" y="2029"/>
                  <a:ext cx="194" cy="147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7" name="Line 25"/>
                <p:cNvSpPr>
                  <a:spLocks noChangeShapeType="1"/>
                </p:cNvSpPr>
                <p:nvPr/>
              </p:nvSpPr>
              <p:spPr bwMode="auto">
                <a:xfrm>
                  <a:off x="2486" y="1119"/>
                  <a:ext cx="0" cy="603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8" name="Line 26"/>
                <p:cNvSpPr>
                  <a:spLocks noChangeShapeType="1"/>
                </p:cNvSpPr>
                <p:nvPr/>
              </p:nvSpPr>
              <p:spPr bwMode="auto">
                <a:xfrm>
                  <a:off x="2476" y="2153"/>
                  <a:ext cx="0" cy="63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33" name="Line 27"/>
              <p:cNvSpPr>
                <a:spLocks noChangeShapeType="1"/>
              </p:cNvSpPr>
              <p:nvPr/>
            </p:nvSpPr>
            <p:spPr bwMode="auto">
              <a:xfrm>
                <a:off x="1703" y="1120"/>
                <a:ext cx="14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4" name="Line 28"/>
              <p:cNvSpPr>
                <a:spLocks noChangeShapeType="1"/>
              </p:cNvSpPr>
              <p:nvPr/>
            </p:nvSpPr>
            <p:spPr bwMode="auto">
              <a:xfrm>
                <a:off x="1703" y="1119"/>
                <a:ext cx="0" cy="842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5" name="Oval 29"/>
              <p:cNvSpPr>
                <a:spLocks noChangeArrowheads="1"/>
              </p:cNvSpPr>
              <p:nvPr/>
            </p:nvSpPr>
            <p:spPr bwMode="auto">
              <a:xfrm>
                <a:off x="3133" y="109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6" name="Rectangle 30"/>
              <p:cNvSpPr>
                <a:spLocks noChangeArrowheads="1"/>
              </p:cNvSpPr>
              <p:nvPr/>
            </p:nvSpPr>
            <p:spPr bwMode="auto">
              <a:xfrm>
                <a:off x="1651" y="1408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7" name="Rectangle 31"/>
              <p:cNvSpPr>
                <a:spLocks noChangeArrowheads="1"/>
              </p:cNvSpPr>
              <p:nvPr/>
            </p:nvSpPr>
            <p:spPr bwMode="auto">
              <a:xfrm>
                <a:off x="2436" y="1276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8" name="Rectangle 32"/>
              <p:cNvSpPr>
                <a:spLocks noChangeArrowheads="1"/>
              </p:cNvSpPr>
              <p:nvPr/>
            </p:nvSpPr>
            <p:spPr bwMode="auto">
              <a:xfrm>
                <a:off x="1318" y="1196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39" name="Rectangle 33"/>
              <p:cNvSpPr>
                <a:spLocks noChangeArrowheads="1"/>
              </p:cNvSpPr>
              <p:nvPr/>
            </p:nvSpPr>
            <p:spPr bwMode="auto">
              <a:xfrm>
                <a:off x="2148" y="1217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140" name="Rectangle 34"/>
              <p:cNvSpPr>
                <a:spLocks noChangeArrowheads="1"/>
              </p:cNvSpPr>
              <p:nvPr/>
            </p:nvSpPr>
            <p:spPr bwMode="auto">
              <a:xfrm>
                <a:off x="2459" y="1946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CE</a:t>
                </a:r>
              </a:p>
            </p:txBody>
          </p:sp>
          <p:sp>
            <p:nvSpPr>
              <p:cNvPr id="141" name="Rectangle 35"/>
              <p:cNvSpPr>
                <a:spLocks noChangeArrowheads="1"/>
              </p:cNvSpPr>
              <p:nvPr/>
            </p:nvSpPr>
            <p:spPr bwMode="auto">
              <a:xfrm>
                <a:off x="2021" y="2209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BE</a:t>
                </a:r>
              </a:p>
            </p:txBody>
          </p:sp>
          <p:sp>
            <p:nvSpPr>
              <p:cNvPr id="142" name="Rectangle 36"/>
              <p:cNvSpPr>
                <a:spLocks noChangeArrowheads="1"/>
              </p:cNvSpPr>
              <p:nvPr/>
            </p:nvSpPr>
            <p:spPr bwMode="auto">
              <a:xfrm>
                <a:off x="1980" y="1968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43" name="Rectangle 37"/>
              <p:cNvSpPr>
                <a:spLocks noChangeArrowheads="1"/>
              </p:cNvSpPr>
              <p:nvPr/>
            </p:nvSpPr>
            <p:spPr bwMode="auto">
              <a:xfrm>
                <a:off x="2253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4" name="Rectangle 38"/>
              <p:cNvSpPr>
                <a:spLocks noChangeArrowheads="1"/>
              </p:cNvSpPr>
              <p:nvPr/>
            </p:nvSpPr>
            <p:spPr bwMode="auto">
              <a:xfrm>
                <a:off x="2532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5" name="Rectangle 39"/>
              <p:cNvSpPr>
                <a:spLocks noChangeArrowheads="1"/>
              </p:cNvSpPr>
              <p:nvPr/>
            </p:nvSpPr>
            <p:spPr bwMode="auto">
              <a:xfrm>
                <a:off x="2528" y="1722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46" name="Rectangle 40"/>
              <p:cNvSpPr>
                <a:spLocks noChangeArrowheads="1"/>
              </p:cNvSpPr>
              <p:nvPr/>
            </p:nvSpPr>
            <p:spPr bwMode="auto">
              <a:xfrm>
                <a:off x="3192" y="932"/>
                <a:ext cx="485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147" name="Line 41"/>
              <p:cNvSpPr>
                <a:spLocks noChangeShapeType="1"/>
              </p:cNvSpPr>
              <p:nvPr/>
            </p:nvSpPr>
            <p:spPr bwMode="auto">
              <a:xfrm>
                <a:off x="1115" y="2731"/>
                <a:ext cx="20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0" name="Group 42"/>
              <p:cNvGrpSpPr>
                <a:grpSpLocks/>
              </p:cNvGrpSpPr>
              <p:nvPr/>
            </p:nvGrpSpPr>
            <p:grpSpPr bwMode="auto">
              <a:xfrm>
                <a:off x="1355" y="1848"/>
                <a:ext cx="112" cy="224"/>
                <a:chOff x="5056" y="3342"/>
                <a:chExt cx="112" cy="224"/>
              </a:xfrm>
            </p:grpSpPr>
            <p:sp>
              <p:nvSpPr>
                <p:cNvPr id="171" name="Line 43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2" name="Line 44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49" name="Line 45"/>
              <p:cNvSpPr>
                <a:spLocks noChangeShapeType="1"/>
              </p:cNvSpPr>
              <p:nvPr/>
            </p:nvSpPr>
            <p:spPr bwMode="auto">
              <a:xfrm>
                <a:off x="1467" y="1961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0" name="Line 46"/>
              <p:cNvSpPr>
                <a:spLocks noChangeShapeType="1"/>
              </p:cNvSpPr>
              <p:nvPr/>
            </p:nvSpPr>
            <p:spPr bwMode="auto">
              <a:xfrm>
                <a:off x="1115" y="196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1" name="Line 47"/>
              <p:cNvSpPr>
                <a:spLocks noChangeShapeType="1"/>
              </p:cNvSpPr>
              <p:nvPr/>
            </p:nvSpPr>
            <p:spPr bwMode="auto">
              <a:xfrm>
                <a:off x="2476" y="1685"/>
                <a:ext cx="25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1" name="Group 48"/>
              <p:cNvGrpSpPr>
                <a:grpSpLocks/>
              </p:cNvGrpSpPr>
              <p:nvPr/>
            </p:nvGrpSpPr>
            <p:grpSpPr bwMode="auto">
              <a:xfrm>
                <a:off x="2723" y="1580"/>
                <a:ext cx="112" cy="224"/>
                <a:chOff x="5056" y="3342"/>
                <a:chExt cx="112" cy="224"/>
              </a:xfrm>
            </p:grpSpPr>
            <p:sp>
              <p:nvSpPr>
                <p:cNvPr id="169" name="Line 49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0" name="Line 50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53" name="Line 51"/>
              <p:cNvSpPr>
                <a:spLocks noChangeShapeType="1"/>
              </p:cNvSpPr>
              <p:nvPr/>
            </p:nvSpPr>
            <p:spPr bwMode="auto">
              <a:xfrm>
                <a:off x="2835" y="1676"/>
                <a:ext cx="2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4" name="Oval 54"/>
              <p:cNvSpPr>
                <a:spLocks noChangeArrowheads="1"/>
              </p:cNvSpPr>
              <p:nvPr/>
            </p:nvSpPr>
            <p:spPr bwMode="auto">
              <a:xfrm>
                <a:off x="1091" y="2707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5" name="Oval 55"/>
              <p:cNvSpPr>
                <a:spLocks noChangeArrowheads="1"/>
              </p:cNvSpPr>
              <p:nvPr/>
            </p:nvSpPr>
            <p:spPr bwMode="auto">
              <a:xfrm>
                <a:off x="1067" y="194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6" name="Oval 56"/>
              <p:cNvSpPr>
                <a:spLocks noChangeArrowheads="1"/>
              </p:cNvSpPr>
              <p:nvPr/>
            </p:nvSpPr>
            <p:spPr bwMode="auto">
              <a:xfrm>
                <a:off x="2452" y="2707"/>
                <a:ext cx="48" cy="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7" name="Line 57"/>
              <p:cNvSpPr>
                <a:spLocks noChangeShapeType="1"/>
              </p:cNvSpPr>
              <p:nvPr/>
            </p:nvSpPr>
            <p:spPr bwMode="auto">
              <a:xfrm>
                <a:off x="2476" y="2731"/>
                <a:ext cx="0" cy="1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8" name="Line 58"/>
              <p:cNvSpPr>
                <a:spLocks noChangeShapeType="1"/>
              </p:cNvSpPr>
              <p:nvPr/>
            </p:nvSpPr>
            <p:spPr bwMode="auto">
              <a:xfrm>
                <a:off x="2403" y="2896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9" name="Rectangle 59"/>
              <p:cNvSpPr>
                <a:spLocks noChangeArrowheads="1"/>
              </p:cNvSpPr>
              <p:nvPr/>
            </p:nvSpPr>
            <p:spPr bwMode="auto">
              <a:xfrm>
                <a:off x="1454" y="1676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60" name="Rectangle 60"/>
              <p:cNvSpPr>
                <a:spLocks noChangeArrowheads="1"/>
              </p:cNvSpPr>
              <p:nvPr/>
            </p:nvSpPr>
            <p:spPr bwMode="auto">
              <a:xfrm>
                <a:off x="2552" y="1413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61" name="Text Box 61"/>
              <p:cNvSpPr txBox="1">
                <a:spLocks noChangeArrowheads="1"/>
              </p:cNvSpPr>
              <p:nvPr/>
            </p:nvSpPr>
            <p:spPr bwMode="auto">
              <a:xfrm>
                <a:off x="1178" y="153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62" name="Text Box 62"/>
              <p:cNvSpPr txBox="1">
                <a:spLocks noChangeArrowheads="1"/>
              </p:cNvSpPr>
              <p:nvPr/>
            </p:nvSpPr>
            <p:spPr bwMode="auto">
              <a:xfrm>
                <a:off x="2658" y="127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63" name="Rectangle 63"/>
              <p:cNvSpPr>
                <a:spLocks noChangeArrowheads="1"/>
              </p:cNvSpPr>
              <p:nvPr/>
            </p:nvSpPr>
            <p:spPr bwMode="auto">
              <a:xfrm>
                <a:off x="1021" y="1959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64" name="Rectangle 64"/>
              <p:cNvSpPr>
                <a:spLocks noChangeArrowheads="1"/>
              </p:cNvSpPr>
              <p:nvPr/>
            </p:nvSpPr>
            <p:spPr bwMode="auto">
              <a:xfrm>
                <a:off x="1024" y="2418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5" name="Rectangle 65"/>
              <p:cNvSpPr>
                <a:spLocks noChangeArrowheads="1"/>
              </p:cNvSpPr>
              <p:nvPr/>
            </p:nvSpPr>
            <p:spPr bwMode="auto">
              <a:xfrm>
                <a:off x="990" y="2184"/>
                <a:ext cx="225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6" name="Rectangle 66"/>
              <p:cNvSpPr>
                <a:spLocks noChangeArrowheads="1"/>
              </p:cNvSpPr>
              <p:nvPr/>
            </p:nvSpPr>
            <p:spPr bwMode="auto">
              <a:xfrm>
                <a:off x="3180" y="1718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67" name="Rectangle 67"/>
              <p:cNvSpPr>
                <a:spLocks noChangeArrowheads="1"/>
              </p:cNvSpPr>
              <p:nvPr/>
            </p:nvSpPr>
            <p:spPr bwMode="auto">
              <a:xfrm>
                <a:off x="3217" y="2246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8" name="Rectangle 68"/>
              <p:cNvSpPr>
                <a:spLocks noChangeArrowheads="1"/>
              </p:cNvSpPr>
              <p:nvPr/>
            </p:nvSpPr>
            <p:spPr bwMode="auto">
              <a:xfrm>
                <a:off x="3177" y="2014"/>
                <a:ext cx="251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125" name="Line 69"/>
            <p:cNvSpPr>
              <a:spLocks noChangeShapeType="1"/>
            </p:cNvSpPr>
            <p:nvPr/>
          </p:nvSpPr>
          <p:spPr bwMode="auto">
            <a:xfrm>
              <a:off x="4934719" y="1871890"/>
              <a:ext cx="0" cy="140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6" name="Rectangle 70"/>
            <p:cNvSpPr>
              <a:spLocks noChangeArrowheads="1"/>
            </p:cNvSpPr>
            <p:nvPr/>
          </p:nvSpPr>
          <p:spPr bwMode="auto">
            <a:xfrm>
              <a:off x="4843060" y="2349727"/>
              <a:ext cx="190754" cy="39052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7" name="Rectangle 71"/>
            <p:cNvSpPr>
              <a:spLocks noChangeArrowheads="1"/>
            </p:cNvSpPr>
            <p:nvPr/>
          </p:nvSpPr>
          <p:spPr bwMode="auto">
            <a:xfrm>
              <a:off x="4446248" y="2525940"/>
              <a:ext cx="486030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28" name="Rectangle 72"/>
            <p:cNvSpPr>
              <a:spLocks noChangeArrowheads="1"/>
            </p:cNvSpPr>
            <p:nvPr/>
          </p:nvSpPr>
          <p:spPr bwMode="auto">
            <a:xfrm>
              <a:off x="2707104" y="1660752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29" name="Line 73"/>
            <p:cNvSpPr>
              <a:spLocks noChangeShapeType="1"/>
            </p:cNvSpPr>
            <p:nvPr/>
          </p:nvSpPr>
          <p:spPr bwMode="auto">
            <a:xfrm>
              <a:off x="2697151" y="2155144"/>
              <a:ext cx="530794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0" name="Rectangle 74"/>
            <p:cNvSpPr>
              <a:spLocks noChangeArrowheads="1"/>
            </p:cNvSpPr>
            <p:nvPr/>
          </p:nvSpPr>
          <p:spPr bwMode="auto">
            <a:xfrm>
              <a:off x="3962763" y="1055915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31" name="Line 75"/>
            <p:cNvSpPr>
              <a:spLocks noChangeShapeType="1"/>
            </p:cNvSpPr>
            <p:nvPr/>
          </p:nvSpPr>
          <p:spPr bwMode="auto">
            <a:xfrm>
              <a:off x="3994279" y="1163865"/>
              <a:ext cx="0" cy="41116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2" name="组合 198"/>
          <p:cNvGrpSpPr/>
          <p:nvPr/>
        </p:nvGrpSpPr>
        <p:grpSpPr>
          <a:xfrm>
            <a:off x="776111" y="961696"/>
            <a:ext cx="2781300" cy="2121132"/>
            <a:chOff x="3316514" y="1189893"/>
            <a:chExt cx="2781300" cy="2121132"/>
          </a:xfrm>
        </p:grpSpPr>
        <p:cxnSp>
          <p:nvCxnSpPr>
            <p:cNvPr id="180" name="直接箭头连接符 179"/>
            <p:cNvCxnSpPr/>
            <p:nvPr/>
          </p:nvCxnSpPr>
          <p:spPr>
            <a:xfrm>
              <a:off x="3872089" y="3127022"/>
              <a:ext cx="212231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箭头连接符 180"/>
            <p:cNvCxnSpPr/>
            <p:nvPr/>
          </p:nvCxnSpPr>
          <p:spPr>
            <a:xfrm rot="5400000" flipH="1" flipV="1">
              <a:off x="3008489" y="2274711"/>
              <a:ext cx="17272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 Box 10"/>
            <p:cNvSpPr txBox="1">
              <a:spLocks noChangeArrowheads="1"/>
            </p:cNvSpPr>
            <p:nvPr/>
          </p:nvSpPr>
          <p:spPr bwMode="auto">
            <a:xfrm>
              <a:off x="5653314" y="2702604"/>
              <a:ext cx="4445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sp>
          <p:nvSpPr>
            <p:cNvPr id="184" name="Text Box 10"/>
            <p:cNvSpPr txBox="1">
              <a:spLocks noChangeArrowheads="1"/>
            </p:cNvSpPr>
            <p:nvPr/>
          </p:nvSpPr>
          <p:spPr bwMode="auto">
            <a:xfrm>
              <a:off x="3564870" y="2849360"/>
              <a:ext cx="4445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endPara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5" name="Text Box 10"/>
            <p:cNvSpPr txBox="1">
              <a:spLocks noChangeArrowheads="1"/>
            </p:cNvSpPr>
            <p:nvPr/>
          </p:nvSpPr>
          <p:spPr bwMode="auto">
            <a:xfrm>
              <a:off x="3903536" y="1189893"/>
              <a:ext cx="54428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i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6" name="Text Box 10"/>
            <p:cNvSpPr txBox="1">
              <a:spLocks noChangeArrowheads="1"/>
            </p:cNvSpPr>
            <p:nvPr/>
          </p:nvSpPr>
          <p:spPr bwMode="auto">
            <a:xfrm>
              <a:off x="3316514" y="2025271"/>
              <a:ext cx="54428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7" name="Text Box 10"/>
            <p:cNvSpPr txBox="1">
              <a:spLocks noChangeArrowheads="1"/>
            </p:cNvSpPr>
            <p:nvPr/>
          </p:nvSpPr>
          <p:spPr bwMode="auto">
            <a:xfrm>
              <a:off x="5156603" y="1562427"/>
              <a:ext cx="54428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i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bm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8" name="Text Box 10"/>
            <p:cNvSpPr txBox="1">
              <a:spLocks noChangeArrowheads="1"/>
            </p:cNvSpPr>
            <p:nvPr/>
          </p:nvSpPr>
          <p:spPr bwMode="auto">
            <a:xfrm>
              <a:off x="4321225" y="1743050"/>
              <a:ext cx="54428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i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3" name="组合 191"/>
            <p:cNvGrpSpPr/>
            <p:nvPr/>
          </p:nvGrpSpPr>
          <p:grpSpPr>
            <a:xfrm>
              <a:off x="3883378" y="2054577"/>
              <a:ext cx="1851378" cy="688622"/>
              <a:chOff x="3951111" y="2212622"/>
              <a:chExt cx="1851378" cy="688622"/>
            </a:xfrm>
          </p:grpSpPr>
          <p:sp>
            <p:nvSpPr>
              <p:cNvPr id="189" name="任意多边形 188"/>
              <p:cNvSpPr/>
              <p:nvPr/>
            </p:nvSpPr>
            <p:spPr>
              <a:xfrm>
                <a:off x="3951111" y="2212622"/>
                <a:ext cx="620889" cy="338667"/>
              </a:xfrm>
              <a:custGeom>
                <a:avLst/>
                <a:gdLst>
                  <a:gd name="connsiteX0" fmla="*/ 0 w 620889"/>
                  <a:gd name="connsiteY0" fmla="*/ 338667 h 338667"/>
                  <a:gd name="connsiteX1" fmla="*/ 316089 w 620889"/>
                  <a:gd name="connsiteY1" fmla="*/ 0 h 338667"/>
                  <a:gd name="connsiteX2" fmla="*/ 620889 w 620889"/>
                  <a:gd name="connsiteY2" fmla="*/ 338667 h 338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0889" h="338667">
                    <a:moveTo>
                      <a:pt x="0" y="338667"/>
                    </a:moveTo>
                    <a:cubicBezTo>
                      <a:pt x="106304" y="169333"/>
                      <a:pt x="212608" y="0"/>
                      <a:pt x="316089" y="0"/>
                    </a:cubicBezTo>
                    <a:cubicBezTo>
                      <a:pt x="419570" y="0"/>
                      <a:pt x="520229" y="169333"/>
                      <a:pt x="620889" y="338667"/>
                    </a:cubicBezTo>
                  </a:path>
                </a:pathLst>
              </a:cu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任意多边形 189"/>
              <p:cNvSpPr/>
              <p:nvPr/>
            </p:nvSpPr>
            <p:spPr>
              <a:xfrm rot="10998149">
                <a:off x="4560710" y="2562577"/>
                <a:ext cx="620889" cy="338667"/>
              </a:xfrm>
              <a:custGeom>
                <a:avLst/>
                <a:gdLst>
                  <a:gd name="connsiteX0" fmla="*/ 0 w 620889"/>
                  <a:gd name="connsiteY0" fmla="*/ 338667 h 338667"/>
                  <a:gd name="connsiteX1" fmla="*/ 316089 w 620889"/>
                  <a:gd name="connsiteY1" fmla="*/ 0 h 338667"/>
                  <a:gd name="connsiteX2" fmla="*/ 620889 w 620889"/>
                  <a:gd name="connsiteY2" fmla="*/ 338667 h 338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0889" h="338667">
                    <a:moveTo>
                      <a:pt x="0" y="338667"/>
                    </a:moveTo>
                    <a:cubicBezTo>
                      <a:pt x="106304" y="169333"/>
                      <a:pt x="212608" y="0"/>
                      <a:pt x="316089" y="0"/>
                    </a:cubicBezTo>
                    <a:cubicBezTo>
                      <a:pt x="419570" y="0"/>
                      <a:pt x="520229" y="169333"/>
                      <a:pt x="620889" y="338667"/>
                    </a:cubicBezTo>
                  </a:path>
                </a:pathLst>
              </a:cu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任意多边形 190"/>
              <p:cNvSpPr/>
              <p:nvPr/>
            </p:nvSpPr>
            <p:spPr>
              <a:xfrm>
                <a:off x="5181600" y="2246488"/>
                <a:ext cx="620889" cy="338667"/>
              </a:xfrm>
              <a:custGeom>
                <a:avLst/>
                <a:gdLst>
                  <a:gd name="connsiteX0" fmla="*/ 0 w 620889"/>
                  <a:gd name="connsiteY0" fmla="*/ 338667 h 338667"/>
                  <a:gd name="connsiteX1" fmla="*/ 316089 w 620889"/>
                  <a:gd name="connsiteY1" fmla="*/ 0 h 338667"/>
                  <a:gd name="connsiteX2" fmla="*/ 620889 w 620889"/>
                  <a:gd name="connsiteY2" fmla="*/ 338667 h 338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0889" h="338667">
                    <a:moveTo>
                      <a:pt x="0" y="338667"/>
                    </a:moveTo>
                    <a:cubicBezTo>
                      <a:pt x="106304" y="169333"/>
                      <a:pt x="212608" y="0"/>
                      <a:pt x="316089" y="0"/>
                    </a:cubicBezTo>
                    <a:cubicBezTo>
                      <a:pt x="419570" y="0"/>
                      <a:pt x="520229" y="169333"/>
                      <a:pt x="620889" y="338667"/>
                    </a:cubicBezTo>
                  </a:path>
                </a:pathLst>
              </a:cu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94" name="直接连接符 193"/>
            <p:cNvCxnSpPr/>
            <p:nvPr/>
          </p:nvCxnSpPr>
          <p:spPr>
            <a:xfrm>
              <a:off x="3883378" y="2404533"/>
              <a:ext cx="1980000" cy="1588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>
              <a:stCxn id="191" idx="1"/>
            </p:cNvCxnSpPr>
            <p:nvPr/>
          </p:nvCxnSpPr>
          <p:spPr>
            <a:xfrm flipH="1">
              <a:off x="5418667" y="2088443"/>
              <a:ext cx="0" cy="327379"/>
            </a:xfrm>
            <a:prstGeom prst="line">
              <a:avLst/>
            </a:prstGeom>
            <a:ln w="19050">
              <a:solidFill>
                <a:schemeClr val="tx1"/>
              </a:solidFill>
              <a:headEnd type="stealth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 rot="5400000">
              <a:off x="4239860" y="2280885"/>
              <a:ext cx="24835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stealth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 53"/>
          <p:cNvSpPr txBox="1">
            <a:spLocks noChangeArrowheads="1"/>
          </p:cNvSpPr>
          <p:nvPr/>
        </p:nvSpPr>
        <p:spPr bwMode="auto">
          <a:xfrm>
            <a:off x="1491344" y="4035199"/>
            <a:ext cx="17634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华文中宋" pitchFamily="2" charset="-122"/>
                <a:ea typeface="华文中宋" pitchFamily="2" charset="-122"/>
              </a:rPr>
              <a:t>交流通路</a:t>
            </a:r>
          </a:p>
        </p:txBody>
      </p:sp>
      <p:sp>
        <p:nvSpPr>
          <p:cNvPr id="55" name="Line 55"/>
          <p:cNvSpPr>
            <a:spLocks noChangeShapeType="1"/>
          </p:cNvSpPr>
          <p:nvPr/>
        </p:nvSpPr>
        <p:spPr bwMode="auto">
          <a:xfrm>
            <a:off x="4985657" y="1861457"/>
            <a:ext cx="892629" cy="478972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Box 56"/>
          <p:cNvSpPr txBox="1">
            <a:spLocks noChangeArrowheads="1"/>
          </p:cNvSpPr>
          <p:nvPr/>
        </p:nvSpPr>
        <p:spPr bwMode="auto">
          <a:xfrm>
            <a:off x="6008915" y="665617"/>
            <a:ext cx="2677885" cy="98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华文中宋" pitchFamily="2" charset="-122"/>
                <a:ea typeface="华文中宋" pitchFamily="2" charset="-122"/>
              </a:rPr>
              <a:t>电容短路   </a:t>
            </a:r>
          </a:p>
          <a:p>
            <a:pPr algn="l"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latin typeface="华文中宋" pitchFamily="2" charset="-122"/>
                <a:ea typeface="华文中宋" pitchFamily="2" charset="-122"/>
              </a:rPr>
              <a:t>直流电源短路</a:t>
            </a:r>
          </a:p>
        </p:txBody>
      </p:sp>
      <p:sp>
        <p:nvSpPr>
          <p:cNvPr id="57" name="Line 59"/>
          <p:cNvSpPr>
            <a:spLocks noChangeShapeType="1"/>
          </p:cNvSpPr>
          <p:nvPr/>
        </p:nvSpPr>
        <p:spPr bwMode="auto">
          <a:xfrm>
            <a:off x="1750560" y="615497"/>
            <a:ext cx="8382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Line 60"/>
          <p:cNvSpPr>
            <a:spLocks noChangeShapeType="1"/>
          </p:cNvSpPr>
          <p:nvPr/>
        </p:nvSpPr>
        <p:spPr bwMode="auto">
          <a:xfrm>
            <a:off x="3037115" y="634546"/>
            <a:ext cx="10668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Line 61"/>
          <p:cNvSpPr>
            <a:spLocks noChangeShapeType="1"/>
          </p:cNvSpPr>
          <p:nvPr/>
        </p:nvSpPr>
        <p:spPr bwMode="auto">
          <a:xfrm>
            <a:off x="3075215" y="830264"/>
            <a:ext cx="0" cy="46672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Line 62"/>
          <p:cNvSpPr>
            <a:spLocks noChangeShapeType="1"/>
          </p:cNvSpPr>
          <p:nvPr/>
        </p:nvSpPr>
        <p:spPr bwMode="auto">
          <a:xfrm>
            <a:off x="3208565" y="1232354"/>
            <a:ext cx="6858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Line 63"/>
          <p:cNvSpPr>
            <a:spLocks noChangeShapeType="1"/>
          </p:cNvSpPr>
          <p:nvPr/>
        </p:nvSpPr>
        <p:spPr bwMode="auto">
          <a:xfrm>
            <a:off x="4376965" y="976767"/>
            <a:ext cx="0" cy="1744662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>
            <a:off x="3905478" y="1537154"/>
            <a:ext cx="0" cy="8382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 flipH="1">
            <a:off x="3264128" y="2762704"/>
            <a:ext cx="5334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Line 66"/>
          <p:cNvSpPr>
            <a:spLocks noChangeShapeType="1"/>
          </p:cNvSpPr>
          <p:nvPr/>
        </p:nvSpPr>
        <p:spPr bwMode="auto">
          <a:xfrm>
            <a:off x="3046640" y="1604736"/>
            <a:ext cx="0" cy="8382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Line 67"/>
          <p:cNvSpPr>
            <a:spLocks noChangeShapeType="1"/>
          </p:cNvSpPr>
          <p:nvPr/>
        </p:nvSpPr>
        <p:spPr bwMode="auto">
          <a:xfrm>
            <a:off x="1651228" y="1991179"/>
            <a:ext cx="579437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Line 68"/>
          <p:cNvSpPr>
            <a:spLocks noChangeShapeType="1"/>
          </p:cNvSpPr>
          <p:nvPr/>
        </p:nvSpPr>
        <p:spPr bwMode="auto">
          <a:xfrm>
            <a:off x="2387828" y="2075317"/>
            <a:ext cx="407987" cy="319087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Line 69"/>
          <p:cNvSpPr>
            <a:spLocks noChangeShapeType="1"/>
          </p:cNvSpPr>
          <p:nvPr/>
        </p:nvSpPr>
        <p:spPr bwMode="auto">
          <a:xfrm>
            <a:off x="582840" y="1978479"/>
            <a:ext cx="9271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Line 70"/>
          <p:cNvSpPr>
            <a:spLocks noChangeShapeType="1"/>
          </p:cNvSpPr>
          <p:nvPr/>
        </p:nvSpPr>
        <p:spPr bwMode="auto">
          <a:xfrm flipV="1">
            <a:off x="1724253" y="886279"/>
            <a:ext cx="0" cy="852488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9" name="Group 71"/>
          <p:cNvGrpSpPr>
            <a:grpSpLocks/>
          </p:cNvGrpSpPr>
          <p:nvPr/>
        </p:nvGrpSpPr>
        <p:grpSpPr bwMode="auto">
          <a:xfrm>
            <a:off x="3535590" y="2369231"/>
            <a:ext cx="5232400" cy="2600326"/>
            <a:chOff x="434" y="564"/>
            <a:chExt cx="3296" cy="1638"/>
          </a:xfrm>
        </p:grpSpPr>
        <p:sp>
          <p:nvSpPr>
            <p:cNvPr id="70" name="Line 72"/>
            <p:cNvSpPr>
              <a:spLocks noChangeShapeType="1"/>
            </p:cNvSpPr>
            <p:nvPr/>
          </p:nvSpPr>
          <p:spPr bwMode="auto">
            <a:xfrm>
              <a:off x="1204" y="1342"/>
              <a:ext cx="622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Line 73"/>
            <p:cNvSpPr>
              <a:spLocks noChangeShapeType="1"/>
            </p:cNvSpPr>
            <p:nvPr/>
          </p:nvSpPr>
          <p:spPr bwMode="auto">
            <a:xfrm>
              <a:off x="1829" y="1164"/>
              <a:ext cx="0" cy="354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Line 74"/>
            <p:cNvSpPr>
              <a:spLocks noChangeShapeType="1"/>
            </p:cNvSpPr>
            <p:nvPr/>
          </p:nvSpPr>
          <p:spPr bwMode="auto">
            <a:xfrm flipV="1">
              <a:off x="1829" y="1123"/>
              <a:ext cx="249" cy="15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Line 75"/>
            <p:cNvSpPr>
              <a:spLocks noChangeShapeType="1"/>
            </p:cNvSpPr>
            <p:nvPr/>
          </p:nvSpPr>
          <p:spPr bwMode="auto">
            <a:xfrm>
              <a:off x="1834" y="1392"/>
              <a:ext cx="249" cy="147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Line 76"/>
            <p:cNvSpPr>
              <a:spLocks noChangeShapeType="1"/>
            </p:cNvSpPr>
            <p:nvPr/>
          </p:nvSpPr>
          <p:spPr bwMode="auto">
            <a:xfrm>
              <a:off x="2076" y="567"/>
              <a:ext cx="0" cy="555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Line 77"/>
            <p:cNvSpPr>
              <a:spLocks noChangeShapeType="1"/>
            </p:cNvSpPr>
            <p:nvPr/>
          </p:nvSpPr>
          <p:spPr bwMode="auto">
            <a:xfrm>
              <a:off x="2065" y="1518"/>
              <a:ext cx="0" cy="581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Line 78"/>
            <p:cNvSpPr>
              <a:spLocks noChangeShapeType="1"/>
            </p:cNvSpPr>
            <p:nvPr/>
          </p:nvSpPr>
          <p:spPr bwMode="auto">
            <a:xfrm>
              <a:off x="2065" y="581"/>
              <a:ext cx="13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77" name="Group 79"/>
            <p:cNvGrpSpPr>
              <a:grpSpLocks/>
            </p:cNvGrpSpPr>
            <p:nvPr/>
          </p:nvGrpSpPr>
          <p:grpSpPr bwMode="auto">
            <a:xfrm>
              <a:off x="1147" y="1340"/>
              <a:ext cx="115" cy="720"/>
              <a:chOff x="1147" y="567"/>
              <a:chExt cx="115" cy="774"/>
            </a:xfrm>
          </p:grpSpPr>
          <p:sp>
            <p:nvSpPr>
              <p:cNvPr id="112" name="Line 80"/>
              <p:cNvSpPr>
                <a:spLocks noChangeShapeType="1"/>
              </p:cNvSpPr>
              <p:nvPr/>
            </p:nvSpPr>
            <p:spPr bwMode="auto">
              <a:xfrm>
                <a:off x="1204" y="567"/>
                <a:ext cx="0" cy="774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Rectangle 81"/>
              <p:cNvSpPr>
                <a:spLocks noChangeArrowheads="1"/>
              </p:cNvSpPr>
              <p:nvPr/>
            </p:nvSpPr>
            <p:spPr bwMode="auto">
              <a:xfrm>
                <a:off x="1147" y="833"/>
                <a:ext cx="115" cy="24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9" name="Rectangle 83"/>
            <p:cNvSpPr>
              <a:spLocks noChangeArrowheads="1"/>
            </p:cNvSpPr>
            <p:nvPr/>
          </p:nvSpPr>
          <p:spPr bwMode="auto">
            <a:xfrm>
              <a:off x="854" y="1527"/>
              <a:ext cx="320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80" name="Rectangle 84"/>
            <p:cNvSpPr>
              <a:spLocks noChangeArrowheads="1"/>
            </p:cNvSpPr>
            <p:nvPr/>
          </p:nvSpPr>
          <p:spPr bwMode="auto">
            <a:xfrm>
              <a:off x="1509" y="1332"/>
              <a:ext cx="201" cy="23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81" name="Rectangle 85"/>
            <p:cNvSpPr>
              <a:spLocks noChangeArrowheads="1"/>
            </p:cNvSpPr>
            <p:nvPr/>
          </p:nvSpPr>
          <p:spPr bwMode="auto">
            <a:xfrm>
              <a:off x="1797" y="1853"/>
              <a:ext cx="245" cy="21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82" name="Rectangle 86"/>
            <p:cNvSpPr>
              <a:spLocks noChangeArrowheads="1"/>
            </p:cNvSpPr>
            <p:nvPr/>
          </p:nvSpPr>
          <p:spPr bwMode="auto">
            <a:xfrm>
              <a:off x="2083" y="1510"/>
              <a:ext cx="228" cy="19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83" name="Rectangle 87"/>
            <p:cNvSpPr>
              <a:spLocks noChangeArrowheads="1"/>
            </p:cNvSpPr>
            <p:nvPr/>
          </p:nvSpPr>
          <p:spPr bwMode="auto">
            <a:xfrm>
              <a:off x="2094" y="930"/>
              <a:ext cx="201" cy="23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84" name="Line 88"/>
            <p:cNvSpPr>
              <a:spLocks noChangeShapeType="1"/>
            </p:cNvSpPr>
            <p:nvPr/>
          </p:nvSpPr>
          <p:spPr bwMode="auto">
            <a:xfrm>
              <a:off x="550" y="2050"/>
              <a:ext cx="22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Line 89"/>
            <p:cNvSpPr>
              <a:spLocks noChangeShapeType="1"/>
            </p:cNvSpPr>
            <p:nvPr/>
          </p:nvSpPr>
          <p:spPr bwMode="auto">
            <a:xfrm>
              <a:off x="535" y="1343"/>
              <a:ext cx="6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Oval 91"/>
            <p:cNvSpPr>
              <a:spLocks noChangeArrowheads="1"/>
            </p:cNvSpPr>
            <p:nvPr/>
          </p:nvSpPr>
          <p:spPr bwMode="auto">
            <a:xfrm>
              <a:off x="524" y="2028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Oval 92"/>
            <p:cNvSpPr>
              <a:spLocks noChangeArrowheads="1"/>
            </p:cNvSpPr>
            <p:nvPr/>
          </p:nvSpPr>
          <p:spPr bwMode="auto">
            <a:xfrm>
              <a:off x="497" y="1328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Oval 93"/>
            <p:cNvSpPr>
              <a:spLocks noChangeArrowheads="1"/>
            </p:cNvSpPr>
            <p:nvPr/>
          </p:nvSpPr>
          <p:spPr bwMode="auto">
            <a:xfrm>
              <a:off x="2038" y="2028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Line 94"/>
            <p:cNvSpPr>
              <a:spLocks noChangeShapeType="1"/>
            </p:cNvSpPr>
            <p:nvPr/>
          </p:nvSpPr>
          <p:spPr bwMode="auto">
            <a:xfrm>
              <a:off x="2065" y="2050"/>
              <a:ext cx="0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Line 95"/>
            <p:cNvSpPr>
              <a:spLocks noChangeShapeType="1"/>
            </p:cNvSpPr>
            <p:nvPr/>
          </p:nvSpPr>
          <p:spPr bwMode="auto">
            <a:xfrm>
              <a:off x="1983" y="2202"/>
              <a:ext cx="1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Rectangle 96"/>
            <p:cNvSpPr>
              <a:spLocks noChangeArrowheads="1"/>
            </p:cNvSpPr>
            <p:nvPr/>
          </p:nvSpPr>
          <p:spPr bwMode="auto">
            <a:xfrm>
              <a:off x="445" y="1340"/>
              <a:ext cx="201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3" name="Rectangle 97"/>
            <p:cNvSpPr>
              <a:spLocks noChangeArrowheads="1"/>
            </p:cNvSpPr>
            <p:nvPr/>
          </p:nvSpPr>
          <p:spPr bwMode="auto">
            <a:xfrm>
              <a:off x="434" y="1890"/>
              <a:ext cx="229" cy="194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94" name="Rectangle 98"/>
            <p:cNvSpPr>
              <a:spLocks noChangeArrowheads="1"/>
            </p:cNvSpPr>
            <p:nvPr/>
          </p:nvSpPr>
          <p:spPr bwMode="auto">
            <a:xfrm>
              <a:off x="439" y="1573"/>
              <a:ext cx="25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endParaRPr lang="en-US" altLang="zh-CN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Rectangle 99"/>
            <p:cNvSpPr>
              <a:spLocks noChangeArrowheads="1"/>
            </p:cNvSpPr>
            <p:nvPr/>
          </p:nvSpPr>
          <p:spPr bwMode="auto">
            <a:xfrm>
              <a:off x="3415" y="680"/>
              <a:ext cx="201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6" name="Rectangle 100"/>
            <p:cNvSpPr>
              <a:spLocks noChangeArrowheads="1"/>
            </p:cNvSpPr>
            <p:nvPr/>
          </p:nvSpPr>
          <p:spPr bwMode="auto">
            <a:xfrm>
              <a:off x="3423" y="1605"/>
              <a:ext cx="228" cy="19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97" name="Rectangle 101"/>
            <p:cNvSpPr>
              <a:spLocks noChangeArrowheads="1"/>
            </p:cNvSpPr>
            <p:nvPr/>
          </p:nvSpPr>
          <p:spPr bwMode="auto">
            <a:xfrm>
              <a:off x="3452" y="1059"/>
              <a:ext cx="278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98" name="Line 102"/>
            <p:cNvSpPr>
              <a:spLocks noChangeShapeType="1"/>
            </p:cNvSpPr>
            <p:nvPr/>
          </p:nvSpPr>
          <p:spPr bwMode="auto">
            <a:xfrm>
              <a:off x="2796" y="581"/>
              <a:ext cx="0" cy="14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Rectangle 103"/>
            <p:cNvSpPr>
              <a:spLocks noChangeArrowheads="1"/>
            </p:cNvSpPr>
            <p:nvPr/>
          </p:nvSpPr>
          <p:spPr bwMode="auto">
            <a:xfrm>
              <a:off x="2739" y="1176"/>
              <a:ext cx="115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Rectangle 104"/>
            <p:cNvSpPr>
              <a:spLocks noChangeArrowheads="1"/>
            </p:cNvSpPr>
            <p:nvPr/>
          </p:nvSpPr>
          <p:spPr bwMode="auto">
            <a:xfrm>
              <a:off x="3076" y="874"/>
              <a:ext cx="306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01" name="Line 105"/>
            <p:cNvSpPr>
              <a:spLocks noChangeShapeType="1"/>
            </p:cNvSpPr>
            <p:nvPr/>
          </p:nvSpPr>
          <p:spPr bwMode="auto">
            <a:xfrm>
              <a:off x="2796" y="2050"/>
              <a:ext cx="6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" name="Line 106"/>
            <p:cNvSpPr>
              <a:spLocks noChangeShapeType="1"/>
            </p:cNvSpPr>
            <p:nvPr/>
          </p:nvSpPr>
          <p:spPr bwMode="auto">
            <a:xfrm>
              <a:off x="3417" y="581"/>
              <a:ext cx="0" cy="14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Rectangle 107"/>
            <p:cNvSpPr>
              <a:spLocks noChangeArrowheads="1"/>
            </p:cNvSpPr>
            <p:nvPr/>
          </p:nvSpPr>
          <p:spPr bwMode="auto">
            <a:xfrm>
              <a:off x="2395" y="888"/>
              <a:ext cx="32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04" name="Rectangle 108"/>
            <p:cNvSpPr>
              <a:spLocks noChangeArrowheads="1"/>
            </p:cNvSpPr>
            <p:nvPr/>
          </p:nvSpPr>
          <p:spPr bwMode="auto">
            <a:xfrm>
              <a:off x="1519" y="1510"/>
              <a:ext cx="372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be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Rectangle 109"/>
            <p:cNvSpPr>
              <a:spLocks noChangeArrowheads="1"/>
            </p:cNvSpPr>
            <p:nvPr/>
          </p:nvSpPr>
          <p:spPr bwMode="auto">
            <a:xfrm>
              <a:off x="2098" y="1164"/>
              <a:ext cx="363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>
                  <a:latin typeface="Times New Roman" pitchFamily="18" charset="0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106" name="Line 110"/>
            <p:cNvSpPr>
              <a:spLocks noChangeShapeType="1"/>
            </p:cNvSpPr>
            <p:nvPr/>
          </p:nvSpPr>
          <p:spPr bwMode="auto">
            <a:xfrm>
              <a:off x="2161" y="680"/>
              <a:ext cx="0" cy="25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Rectangle 111"/>
            <p:cNvSpPr>
              <a:spLocks noChangeArrowheads="1"/>
            </p:cNvSpPr>
            <p:nvPr/>
          </p:nvSpPr>
          <p:spPr bwMode="auto">
            <a:xfrm>
              <a:off x="2191" y="603"/>
              <a:ext cx="246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c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Line 112"/>
            <p:cNvSpPr>
              <a:spLocks noChangeShapeType="1"/>
            </p:cNvSpPr>
            <p:nvPr/>
          </p:nvSpPr>
          <p:spPr bwMode="auto">
            <a:xfrm>
              <a:off x="1262" y="1273"/>
              <a:ext cx="25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Line 113"/>
            <p:cNvSpPr>
              <a:spLocks noChangeShapeType="1"/>
            </p:cNvSpPr>
            <p:nvPr/>
          </p:nvSpPr>
          <p:spPr bwMode="auto">
            <a:xfrm>
              <a:off x="713" y="1273"/>
              <a:ext cx="27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0" name="Rectangle 114"/>
            <p:cNvSpPr>
              <a:spLocks noChangeArrowheads="1"/>
            </p:cNvSpPr>
            <p:nvPr/>
          </p:nvSpPr>
          <p:spPr bwMode="auto">
            <a:xfrm>
              <a:off x="1262" y="888"/>
              <a:ext cx="255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1" name="Rectangle 115"/>
            <p:cNvSpPr>
              <a:spLocks noChangeArrowheads="1"/>
            </p:cNvSpPr>
            <p:nvPr/>
          </p:nvSpPr>
          <p:spPr bwMode="auto">
            <a:xfrm>
              <a:off x="713" y="895"/>
              <a:ext cx="220" cy="32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CN" sz="2800" b="1" baseline="-25000">
                  <a:latin typeface="Times New Roman" pitchFamily="18" charset="0"/>
                  <a:cs typeface="Times New Roman" pitchFamily="18" charset="0"/>
                </a:rPr>
                <a:t>i</a:t>
              </a:r>
            </a:p>
          </p:txBody>
        </p:sp>
        <p:sp>
          <p:nvSpPr>
            <p:cNvPr id="78" name="Rectangle 82"/>
            <p:cNvSpPr>
              <a:spLocks noChangeArrowheads="1"/>
            </p:cNvSpPr>
            <p:nvPr/>
          </p:nvSpPr>
          <p:spPr bwMode="auto">
            <a:xfrm>
              <a:off x="3362" y="1176"/>
              <a:ext cx="114" cy="247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1" name="Oval 93"/>
            <p:cNvSpPr>
              <a:spLocks noChangeArrowheads="1"/>
            </p:cNvSpPr>
            <p:nvPr/>
          </p:nvSpPr>
          <p:spPr bwMode="auto">
            <a:xfrm>
              <a:off x="1180" y="1323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2" name="Oval 93"/>
            <p:cNvSpPr>
              <a:spLocks noChangeArrowheads="1"/>
            </p:cNvSpPr>
            <p:nvPr/>
          </p:nvSpPr>
          <p:spPr bwMode="auto">
            <a:xfrm>
              <a:off x="2773" y="564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3" name="Oval 93"/>
            <p:cNvSpPr>
              <a:spLocks noChangeArrowheads="1"/>
            </p:cNvSpPr>
            <p:nvPr/>
          </p:nvSpPr>
          <p:spPr bwMode="auto">
            <a:xfrm>
              <a:off x="1183" y="2025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Oval 93"/>
            <p:cNvSpPr>
              <a:spLocks noChangeArrowheads="1"/>
            </p:cNvSpPr>
            <p:nvPr/>
          </p:nvSpPr>
          <p:spPr bwMode="auto">
            <a:xfrm>
              <a:off x="2773" y="2022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293920" y="494166"/>
            <a:ext cx="4724367" cy="2643187"/>
            <a:chOff x="1171314" y="864280"/>
            <a:chExt cx="4724367" cy="2643187"/>
          </a:xfrm>
        </p:grpSpPr>
        <p:grpSp>
          <p:nvGrpSpPr>
            <p:cNvPr id="115" name="Group 19"/>
            <p:cNvGrpSpPr>
              <a:grpSpLocks/>
            </p:cNvGrpSpPr>
            <p:nvPr/>
          </p:nvGrpSpPr>
          <p:grpSpPr bwMode="auto">
            <a:xfrm>
              <a:off x="1171314" y="864280"/>
              <a:ext cx="4724367" cy="2643187"/>
              <a:chOff x="990" y="932"/>
              <a:chExt cx="2687" cy="1964"/>
            </a:xfrm>
          </p:grpSpPr>
          <p:grpSp>
            <p:nvGrpSpPr>
              <p:cNvPr id="123" name="Group 20"/>
              <p:cNvGrpSpPr>
                <a:grpSpLocks/>
              </p:cNvGrpSpPr>
              <p:nvPr/>
            </p:nvGrpSpPr>
            <p:grpSpPr bwMode="auto">
              <a:xfrm>
                <a:off x="1703" y="1119"/>
                <a:ext cx="785" cy="1665"/>
                <a:chOff x="1703" y="1119"/>
                <a:chExt cx="785" cy="1665"/>
              </a:xfrm>
            </p:grpSpPr>
            <p:sp>
              <p:nvSpPr>
                <p:cNvPr id="164" name="Line 21"/>
                <p:cNvSpPr>
                  <a:spLocks noChangeShapeType="1"/>
                </p:cNvSpPr>
                <p:nvPr/>
              </p:nvSpPr>
              <p:spPr bwMode="auto">
                <a:xfrm>
                  <a:off x="1703" y="1961"/>
                  <a:ext cx="559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5" name="Line 22"/>
                <p:cNvSpPr>
                  <a:spLocks noChangeShapeType="1"/>
                </p:cNvSpPr>
                <p:nvPr/>
              </p:nvSpPr>
              <p:spPr bwMode="auto">
                <a:xfrm>
                  <a:off x="2264" y="1768"/>
                  <a:ext cx="0" cy="385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6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264" y="1723"/>
                  <a:ext cx="224" cy="163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7" name="Line 24"/>
                <p:cNvSpPr>
                  <a:spLocks noChangeShapeType="1"/>
                </p:cNvSpPr>
                <p:nvPr/>
              </p:nvSpPr>
              <p:spPr bwMode="auto">
                <a:xfrm>
                  <a:off x="2282" y="2029"/>
                  <a:ext cx="194" cy="147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8" name="Line 25"/>
                <p:cNvSpPr>
                  <a:spLocks noChangeShapeType="1"/>
                </p:cNvSpPr>
                <p:nvPr/>
              </p:nvSpPr>
              <p:spPr bwMode="auto">
                <a:xfrm>
                  <a:off x="2486" y="1119"/>
                  <a:ext cx="0" cy="603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9" name="Line 26"/>
                <p:cNvSpPr>
                  <a:spLocks noChangeShapeType="1"/>
                </p:cNvSpPr>
                <p:nvPr/>
              </p:nvSpPr>
              <p:spPr bwMode="auto">
                <a:xfrm>
                  <a:off x="2476" y="2153"/>
                  <a:ext cx="0" cy="63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24" name="Line 27"/>
              <p:cNvSpPr>
                <a:spLocks noChangeShapeType="1"/>
              </p:cNvSpPr>
              <p:nvPr/>
            </p:nvSpPr>
            <p:spPr bwMode="auto">
              <a:xfrm>
                <a:off x="1703" y="1120"/>
                <a:ext cx="14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5" name="Line 28"/>
              <p:cNvSpPr>
                <a:spLocks noChangeShapeType="1"/>
              </p:cNvSpPr>
              <p:nvPr/>
            </p:nvSpPr>
            <p:spPr bwMode="auto">
              <a:xfrm>
                <a:off x="1703" y="1119"/>
                <a:ext cx="0" cy="842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6" name="Oval 29"/>
              <p:cNvSpPr>
                <a:spLocks noChangeArrowheads="1"/>
              </p:cNvSpPr>
              <p:nvPr/>
            </p:nvSpPr>
            <p:spPr bwMode="auto">
              <a:xfrm>
                <a:off x="3133" y="109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7" name="Rectangle 30"/>
              <p:cNvSpPr>
                <a:spLocks noChangeArrowheads="1"/>
              </p:cNvSpPr>
              <p:nvPr/>
            </p:nvSpPr>
            <p:spPr bwMode="auto">
              <a:xfrm>
                <a:off x="1651" y="1408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8" name="Rectangle 31"/>
              <p:cNvSpPr>
                <a:spLocks noChangeArrowheads="1"/>
              </p:cNvSpPr>
              <p:nvPr/>
            </p:nvSpPr>
            <p:spPr bwMode="auto">
              <a:xfrm>
                <a:off x="2436" y="1276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9" name="Rectangle 32"/>
              <p:cNvSpPr>
                <a:spLocks noChangeArrowheads="1"/>
              </p:cNvSpPr>
              <p:nvPr/>
            </p:nvSpPr>
            <p:spPr bwMode="auto">
              <a:xfrm>
                <a:off x="1318" y="1196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30" name="Rectangle 33"/>
              <p:cNvSpPr>
                <a:spLocks noChangeArrowheads="1"/>
              </p:cNvSpPr>
              <p:nvPr/>
            </p:nvSpPr>
            <p:spPr bwMode="auto">
              <a:xfrm>
                <a:off x="2179" y="1257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131" name="Rectangle 34"/>
              <p:cNvSpPr>
                <a:spLocks noChangeArrowheads="1"/>
              </p:cNvSpPr>
              <p:nvPr/>
            </p:nvSpPr>
            <p:spPr bwMode="auto">
              <a:xfrm>
                <a:off x="2459" y="1946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CE</a:t>
                </a:r>
              </a:p>
            </p:txBody>
          </p:sp>
          <p:sp>
            <p:nvSpPr>
              <p:cNvPr id="132" name="Rectangle 35"/>
              <p:cNvSpPr>
                <a:spLocks noChangeArrowheads="1"/>
              </p:cNvSpPr>
              <p:nvPr/>
            </p:nvSpPr>
            <p:spPr bwMode="auto">
              <a:xfrm>
                <a:off x="2021" y="2209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BE</a:t>
                </a:r>
              </a:p>
            </p:txBody>
          </p:sp>
          <p:sp>
            <p:nvSpPr>
              <p:cNvPr id="133" name="Rectangle 36"/>
              <p:cNvSpPr>
                <a:spLocks noChangeArrowheads="1"/>
              </p:cNvSpPr>
              <p:nvPr/>
            </p:nvSpPr>
            <p:spPr bwMode="auto">
              <a:xfrm>
                <a:off x="1980" y="1968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34" name="Rectangle 37"/>
              <p:cNvSpPr>
                <a:spLocks noChangeArrowheads="1"/>
              </p:cNvSpPr>
              <p:nvPr/>
            </p:nvSpPr>
            <p:spPr bwMode="auto">
              <a:xfrm>
                <a:off x="2253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5" name="Rectangle 38"/>
              <p:cNvSpPr>
                <a:spLocks noChangeArrowheads="1"/>
              </p:cNvSpPr>
              <p:nvPr/>
            </p:nvSpPr>
            <p:spPr bwMode="auto">
              <a:xfrm>
                <a:off x="2532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6" name="Rectangle 39"/>
              <p:cNvSpPr>
                <a:spLocks noChangeArrowheads="1"/>
              </p:cNvSpPr>
              <p:nvPr/>
            </p:nvSpPr>
            <p:spPr bwMode="auto">
              <a:xfrm>
                <a:off x="2528" y="1722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37" name="Rectangle 40"/>
              <p:cNvSpPr>
                <a:spLocks noChangeArrowheads="1"/>
              </p:cNvSpPr>
              <p:nvPr/>
            </p:nvSpPr>
            <p:spPr bwMode="auto">
              <a:xfrm>
                <a:off x="3192" y="932"/>
                <a:ext cx="485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138" name="Line 41"/>
              <p:cNvSpPr>
                <a:spLocks noChangeShapeType="1"/>
              </p:cNvSpPr>
              <p:nvPr/>
            </p:nvSpPr>
            <p:spPr bwMode="auto">
              <a:xfrm>
                <a:off x="1115" y="2731"/>
                <a:ext cx="20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39" name="Group 42"/>
              <p:cNvGrpSpPr>
                <a:grpSpLocks/>
              </p:cNvGrpSpPr>
              <p:nvPr/>
            </p:nvGrpSpPr>
            <p:grpSpPr bwMode="auto">
              <a:xfrm>
                <a:off x="1355" y="1848"/>
                <a:ext cx="112" cy="224"/>
                <a:chOff x="5056" y="3342"/>
                <a:chExt cx="112" cy="224"/>
              </a:xfrm>
            </p:grpSpPr>
            <p:sp>
              <p:nvSpPr>
                <p:cNvPr id="162" name="Line 43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3" name="Line 44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40" name="Line 45"/>
              <p:cNvSpPr>
                <a:spLocks noChangeShapeType="1"/>
              </p:cNvSpPr>
              <p:nvPr/>
            </p:nvSpPr>
            <p:spPr bwMode="auto">
              <a:xfrm>
                <a:off x="1467" y="1961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1" name="Line 46"/>
              <p:cNvSpPr>
                <a:spLocks noChangeShapeType="1"/>
              </p:cNvSpPr>
              <p:nvPr/>
            </p:nvSpPr>
            <p:spPr bwMode="auto">
              <a:xfrm>
                <a:off x="1115" y="196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2" name="Line 47"/>
              <p:cNvSpPr>
                <a:spLocks noChangeShapeType="1"/>
              </p:cNvSpPr>
              <p:nvPr/>
            </p:nvSpPr>
            <p:spPr bwMode="auto">
              <a:xfrm>
                <a:off x="2476" y="1685"/>
                <a:ext cx="25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43" name="Group 48"/>
              <p:cNvGrpSpPr>
                <a:grpSpLocks/>
              </p:cNvGrpSpPr>
              <p:nvPr/>
            </p:nvGrpSpPr>
            <p:grpSpPr bwMode="auto">
              <a:xfrm>
                <a:off x="2723" y="1580"/>
                <a:ext cx="112" cy="224"/>
                <a:chOff x="5056" y="3342"/>
                <a:chExt cx="112" cy="224"/>
              </a:xfrm>
            </p:grpSpPr>
            <p:sp>
              <p:nvSpPr>
                <p:cNvPr id="160" name="Line 49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1" name="Line 50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44" name="Line 51"/>
              <p:cNvSpPr>
                <a:spLocks noChangeShapeType="1"/>
              </p:cNvSpPr>
              <p:nvPr/>
            </p:nvSpPr>
            <p:spPr bwMode="auto">
              <a:xfrm>
                <a:off x="2835" y="1676"/>
                <a:ext cx="2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5" name="Oval 54"/>
              <p:cNvSpPr>
                <a:spLocks noChangeArrowheads="1"/>
              </p:cNvSpPr>
              <p:nvPr/>
            </p:nvSpPr>
            <p:spPr bwMode="auto">
              <a:xfrm>
                <a:off x="1091" y="2707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6" name="Oval 55"/>
              <p:cNvSpPr>
                <a:spLocks noChangeArrowheads="1"/>
              </p:cNvSpPr>
              <p:nvPr/>
            </p:nvSpPr>
            <p:spPr bwMode="auto">
              <a:xfrm>
                <a:off x="1067" y="194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7" name="Oval 56"/>
              <p:cNvSpPr>
                <a:spLocks noChangeArrowheads="1"/>
              </p:cNvSpPr>
              <p:nvPr/>
            </p:nvSpPr>
            <p:spPr bwMode="auto">
              <a:xfrm>
                <a:off x="2452" y="2707"/>
                <a:ext cx="48" cy="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8" name="Line 57"/>
              <p:cNvSpPr>
                <a:spLocks noChangeShapeType="1"/>
              </p:cNvSpPr>
              <p:nvPr/>
            </p:nvSpPr>
            <p:spPr bwMode="auto">
              <a:xfrm>
                <a:off x="2476" y="2731"/>
                <a:ext cx="0" cy="1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9" name="Line 58"/>
              <p:cNvSpPr>
                <a:spLocks noChangeShapeType="1"/>
              </p:cNvSpPr>
              <p:nvPr/>
            </p:nvSpPr>
            <p:spPr bwMode="auto">
              <a:xfrm>
                <a:off x="2403" y="2896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0" name="Rectangle 59"/>
              <p:cNvSpPr>
                <a:spLocks noChangeArrowheads="1"/>
              </p:cNvSpPr>
              <p:nvPr/>
            </p:nvSpPr>
            <p:spPr bwMode="auto">
              <a:xfrm>
                <a:off x="1454" y="1676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51" name="Rectangle 60"/>
              <p:cNvSpPr>
                <a:spLocks noChangeArrowheads="1"/>
              </p:cNvSpPr>
              <p:nvPr/>
            </p:nvSpPr>
            <p:spPr bwMode="auto">
              <a:xfrm>
                <a:off x="2552" y="1413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52" name="Text Box 61"/>
              <p:cNvSpPr txBox="1">
                <a:spLocks noChangeArrowheads="1"/>
              </p:cNvSpPr>
              <p:nvPr/>
            </p:nvSpPr>
            <p:spPr bwMode="auto">
              <a:xfrm>
                <a:off x="1178" y="153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53" name="Text Box 62"/>
              <p:cNvSpPr txBox="1">
                <a:spLocks noChangeArrowheads="1"/>
              </p:cNvSpPr>
              <p:nvPr/>
            </p:nvSpPr>
            <p:spPr bwMode="auto">
              <a:xfrm>
                <a:off x="2658" y="127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54" name="Rectangle 63"/>
              <p:cNvSpPr>
                <a:spLocks noChangeArrowheads="1"/>
              </p:cNvSpPr>
              <p:nvPr/>
            </p:nvSpPr>
            <p:spPr bwMode="auto">
              <a:xfrm>
                <a:off x="1021" y="1959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55" name="Rectangle 64"/>
              <p:cNvSpPr>
                <a:spLocks noChangeArrowheads="1"/>
              </p:cNvSpPr>
              <p:nvPr/>
            </p:nvSpPr>
            <p:spPr bwMode="auto">
              <a:xfrm>
                <a:off x="1024" y="2418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6" name="Rectangle 65"/>
              <p:cNvSpPr>
                <a:spLocks noChangeArrowheads="1"/>
              </p:cNvSpPr>
              <p:nvPr/>
            </p:nvSpPr>
            <p:spPr bwMode="auto">
              <a:xfrm>
                <a:off x="990" y="2184"/>
                <a:ext cx="225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7" name="Rectangle 66"/>
              <p:cNvSpPr>
                <a:spLocks noChangeArrowheads="1"/>
              </p:cNvSpPr>
              <p:nvPr/>
            </p:nvSpPr>
            <p:spPr bwMode="auto">
              <a:xfrm>
                <a:off x="3180" y="1718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58" name="Rectangle 67"/>
              <p:cNvSpPr>
                <a:spLocks noChangeArrowheads="1"/>
              </p:cNvSpPr>
              <p:nvPr/>
            </p:nvSpPr>
            <p:spPr bwMode="auto">
              <a:xfrm>
                <a:off x="3217" y="2246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9" name="Rectangle 68"/>
              <p:cNvSpPr>
                <a:spLocks noChangeArrowheads="1"/>
              </p:cNvSpPr>
              <p:nvPr/>
            </p:nvSpPr>
            <p:spPr bwMode="auto">
              <a:xfrm>
                <a:off x="3177" y="2014"/>
                <a:ext cx="251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116" name="Line 69"/>
            <p:cNvSpPr>
              <a:spLocks noChangeShapeType="1"/>
            </p:cNvSpPr>
            <p:nvPr/>
          </p:nvSpPr>
          <p:spPr bwMode="auto">
            <a:xfrm>
              <a:off x="4934719" y="1871890"/>
              <a:ext cx="0" cy="140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7" name="Rectangle 70"/>
            <p:cNvSpPr>
              <a:spLocks noChangeArrowheads="1"/>
            </p:cNvSpPr>
            <p:nvPr/>
          </p:nvSpPr>
          <p:spPr bwMode="auto">
            <a:xfrm>
              <a:off x="4843060" y="2349727"/>
              <a:ext cx="190754" cy="39052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8" name="Rectangle 71"/>
            <p:cNvSpPr>
              <a:spLocks noChangeArrowheads="1"/>
            </p:cNvSpPr>
            <p:nvPr/>
          </p:nvSpPr>
          <p:spPr bwMode="auto">
            <a:xfrm>
              <a:off x="4446248" y="2525940"/>
              <a:ext cx="486030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utoUpdateAnimBg="0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81455" y="3687082"/>
            <a:ext cx="4016374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32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lang="en-US" altLang="zh-CN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32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lang="en-US" altLang="zh-CN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+ </a:t>
            </a:r>
            <a:r>
              <a:rPr lang="en-US" altLang="zh-CN" sz="32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32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im</a:t>
            </a:r>
            <a:r>
              <a:rPr lang="en-US" altLang="zh-CN" sz="3200" b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sin</a:t>
            </a:r>
            <a:r>
              <a:rPr lang="en-US" altLang="zh-CN" sz="32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ωt</a:t>
            </a:r>
            <a:endParaRPr lang="en-US" altLang="zh-CN" sz="3200" b="1" i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2789012" y="279628"/>
            <a:ext cx="38560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输入电路的动态图解</a:t>
            </a:r>
          </a:p>
        </p:txBody>
      </p:sp>
      <p:grpSp>
        <p:nvGrpSpPr>
          <p:cNvPr id="16" name="Group 17"/>
          <p:cNvGrpSpPr>
            <a:grpSpLocks/>
          </p:cNvGrpSpPr>
          <p:nvPr/>
        </p:nvGrpSpPr>
        <p:grpSpPr bwMode="auto">
          <a:xfrm>
            <a:off x="5029428" y="3300411"/>
            <a:ext cx="3786187" cy="1685925"/>
            <a:chOff x="3031" y="2826"/>
            <a:chExt cx="2385" cy="1062"/>
          </a:xfrm>
        </p:grpSpPr>
        <p:sp>
          <p:nvSpPr>
            <p:cNvPr id="17" name="AutoShape 18"/>
            <p:cNvSpPr>
              <a:spLocks noChangeArrowheads="1"/>
            </p:cNvSpPr>
            <p:nvPr/>
          </p:nvSpPr>
          <p:spPr bwMode="auto">
            <a:xfrm>
              <a:off x="3031" y="2826"/>
              <a:ext cx="2385" cy="1062"/>
            </a:xfrm>
            <a:prstGeom prst="cloudCallout">
              <a:avLst>
                <a:gd name="adj1" fmla="val -35660"/>
                <a:gd name="adj2" fmla="val -92462"/>
              </a:avLst>
            </a:prstGeom>
            <a:solidFill>
              <a:srgbClr val="CCECFF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 sz="32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>
              <a:off x="3268" y="2936"/>
              <a:ext cx="1854" cy="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在输入特性曲线</a:t>
              </a:r>
            </a:p>
            <a:p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上</a:t>
              </a:r>
              <a:r>
                <a:rPr lang="en-US" altLang="zh-CN" sz="36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和</a:t>
              </a:r>
              <a:r>
                <a:rPr lang="en-US" altLang="zh-CN" sz="36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是如何变化呢？</a:t>
              </a: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489858" y="927427"/>
            <a:ext cx="2905478" cy="2121132"/>
            <a:chOff x="-1361924" y="199696"/>
            <a:chExt cx="2905478" cy="2121132"/>
          </a:xfrm>
        </p:grpSpPr>
        <p:cxnSp>
          <p:nvCxnSpPr>
            <p:cNvPr id="75" name="直接箭头连接符 74"/>
            <p:cNvCxnSpPr/>
            <p:nvPr/>
          </p:nvCxnSpPr>
          <p:spPr>
            <a:xfrm>
              <a:off x="-682171" y="2136825"/>
              <a:ext cx="212231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/>
            <p:nvPr/>
          </p:nvCxnSpPr>
          <p:spPr>
            <a:xfrm rot="5400000" flipH="1" flipV="1">
              <a:off x="-1545771" y="1284514"/>
              <a:ext cx="17272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 Box 10"/>
            <p:cNvSpPr txBox="1">
              <a:spLocks noChangeArrowheads="1"/>
            </p:cNvSpPr>
            <p:nvPr/>
          </p:nvSpPr>
          <p:spPr bwMode="auto">
            <a:xfrm>
              <a:off x="1099054" y="1712407"/>
              <a:ext cx="4445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sp>
          <p:nvSpPr>
            <p:cNvPr id="78" name="Text Box 10"/>
            <p:cNvSpPr txBox="1">
              <a:spLocks noChangeArrowheads="1"/>
            </p:cNvSpPr>
            <p:nvPr/>
          </p:nvSpPr>
          <p:spPr bwMode="auto">
            <a:xfrm>
              <a:off x="-989390" y="1859163"/>
              <a:ext cx="4445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endPara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Text Box 10"/>
            <p:cNvSpPr txBox="1">
              <a:spLocks noChangeArrowheads="1"/>
            </p:cNvSpPr>
            <p:nvPr/>
          </p:nvSpPr>
          <p:spPr bwMode="auto">
            <a:xfrm>
              <a:off x="-650724" y="199696"/>
              <a:ext cx="62774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i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0" name="Text Box 10"/>
            <p:cNvSpPr txBox="1">
              <a:spLocks noChangeArrowheads="1"/>
            </p:cNvSpPr>
            <p:nvPr/>
          </p:nvSpPr>
          <p:spPr bwMode="auto">
            <a:xfrm>
              <a:off x="-1361924" y="1035074"/>
              <a:ext cx="66846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84" name="直接连接符 83"/>
            <p:cNvCxnSpPr/>
            <p:nvPr/>
          </p:nvCxnSpPr>
          <p:spPr>
            <a:xfrm>
              <a:off x="-670882" y="1414336"/>
              <a:ext cx="1980000" cy="1588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组合 89"/>
          <p:cNvGrpSpPr/>
          <p:nvPr/>
        </p:nvGrpSpPr>
        <p:grpSpPr>
          <a:xfrm>
            <a:off x="1180900" y="1299961"/>
            <a:ext cx="1965071" cy="1180772"/>
            <a:chOff x="-670882" y="572230"/>
            <a:chExt cx="1965071" cy="1180772"/>
          </a:xfrm>
        </p:grpSpPr>
        <p:sp>
          <p:nvSpPr>
            <p:cNvPr id="81" name="Text Box 10"/>
            <p:cNvSpPr txBox="1">
              <a:spLocks noChangeArrowheads="1"/>
            </p:cNvSpPr>
            <p:nvPr/>
          </p:nvSpPr>
          <p:spPr bwMode="auto">
            <a:xfrm>
              <a:off x="602343" y="572230"/>
              <a:ext cx="69184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im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83" name="组合 191"/>
            <p:cNvGrpSpPr/>
            <p:nvPr/>
          </p:nvGrpSpPr>
          <p:grpSpPr>
            <a:xfrm>
              <a:off x="-670882" y="1064380"/>
              <a:ext cx="1851378" cy="688622"/>
              <a:chOff x="3951111" y="2212622"/>
              <a:chExt cx="1851378" cy="688622"/>
            </a:xfrm>
          </p:grpSpPr>
          <p:sp>
            <p:nvSpPr>
              <p:cNvPr id="87" name="任意多边形 86"/>
              <p:cNvSpPr/>
              <p:nvPr/>
            </p:nvSpPr>
            <p:spPr>
              <a:xfrm>
                <a:off x="3951111" y="2212622"/>
                <a:ext cx="620889" cy="338667"/>
              </a:xfrm>
              <a:custGeom>
                <a:avLst/>
                <a:gdLst>
                  <a:gd name="connsiteX0" fmla="*/ 0 w 620889"/>
                  <a:gd name="connsiteY0" fmla="*/ 338667 h 338667"/>
                  <a:gd name="connsiteX1" fmla="*/ 316089 w 620889"/>
                  <a:gd name="connsiteY1" fmla="*/ 0 h 338667"/>
                  <a:gd name="connsiteX2" fmla="*/ 620889 w 620889"/>
                  <a:gd name="connsiteY2" fmla="*/ 338667 h 338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0889" h="338667">
                    <a:moveTo>
                      <a:pt x="0" y="338667"/>
                    </a:moveTo>
                    <a:cubicBezTo>
                      <a:pt x="106304" y="169333"/>
                      <a:pt x="212608" y="0"/>
                      <a:pt x="316089" y="0"/>
                    </a:cubicBezTo>
                    <a:cubicBezTo>
                      <a:pt x="419570" y="0"/>
                      <a:pt x="520229" y="169333"/>
                      <a:pt x="620889" y="338667"/>
                    </a:cubicBezTo>
                  </a:path>
                </a:pathLst>
              </a:cu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任意多边形 87"/>
              <p:cNvSpPr/>
              <p:nvPr/>
            </p:nvSpPr>
            <p:spPr>
              <a:xfrm rot="10998149">
                <a:off x="4560710" y="2562577"/>
                <a:ext cx="620889" cy="338667"/>
              </a:xfrm>
              <a:custGeom>
                <a:avLst/>
                <a:gdLst>
                  <a:gd name="connsiteX0" fmla="*/ 0 w 620889"/>
                  <a:gd name="connsiteY0" fmla="*/ 338667 h 338667"/>
                  <a:gd name="connsiteX1" fmla="*/ 316089 w 620889"/>
                  <a:gd name="connsiteY1" fmla="*/ 0 h 338667"/>
                  <a:gd name="connsiteX2" fmla="*/ 620889 w 620889"/>
                  <a:gd name="connsiteY2" fmla="*/ 338667 h 338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0889" h="338667">
                    <a:moveTo>
                      <a:pt x="0" y="338667"/>
                    </a:moveTo>
                    <a:cubicBezTo>
                      <a:pt x="106304" y="169333"/>
                      <a:pt x="212608" y="0"/>
                      <a:pt x="316089" y="0"/>
                    </a:cubicBezTo>
                    <a:cubicBezTo>
                      <a:pt x="419570" y="0"/>
                      <a:pt x="520229" y="169333"/>
                      <a:pt x="620889" y="338667"/>
                    </a:cubicBezTo>
                  </a:path>
                </a:pathLst>
              </a:cu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>
                <a:off x="5181600" y="2246488"/>
                <a:ext cx="620889" cy="338667"/>
              </a:xfrm>
              <a:custGeom>
                <a:avLst/>
                <a:gdLst>
                  <a:gd name="connsiteX0" fmla="*/ 0 w 620889"/>
                  <a:gd name="connsiteY0" fmla="*/ 338667 h 338667"/>
                  <a:gd name="connsiteX1" fmla="*/ 316089 w 620889"/>
                  <a:gd name="connsiteY1" fmla="*/ 0 h 338667"/>
                  <a:gd name="connsiteX2" fmla="*/ 620889 w 620889"/>
                  <a:gd name="connsiteY2" fmla="*/ 338667 h 338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0889" h="338667">
                    <a:moveTo>
                      <a:pt x="0" y="338667"/>
                    </a:moveTo>
                    <a:cubicBezTo>
                      <a:pt x="106304" y="169333"/>
                      <a:pt x="212608" y="0"/>
                      <a:pt x="316089" y="0"/>
                    </a:cubicBezTo>
                    <a:cubicBezTo>
                      <a:pt x="419570" y="0"/>
                      <a:pt x="520229" y="169333"/>
                      <a:pt x="620889" y="338667"/>
                    </a:cubicBezTo>
                  </a:path>
                </a:pathLst>
              </a:cu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85" name="直接连接符 84"/>
            <p:cNvCxnSpPr>
              <a:stCxn id="89" idx="1"/>
            </p:cNvCxnSpPr>
            <p:nvPr/>
          </p:nvCxnSpPr>
          <p:spPr>
            <a:xfrm flipH="1">
              <a:off x="864407" y="1098246"/>
              <a:ext cx="0" cy="327379"/>
            </a:xfrm>
            <a:prstGeom prst="line">
              <a:avLst/>
            </a:prstGeom>
            <a:ln w="19050">
              <a:solidFill>
                <a:schemeClr val="tx1"/>
              </a:solidFill>
              <a:headEnd type="stealth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组合 122"/>
          <p:cNvGrpSpPr/>
          <p:nvPr/>
        </p:nvGrpSpPr>
        <p:grpSpPr>
          <a:xfrm>
            <a:off x="3898790" y="791305"/>
            <a:ext cx="4724367" cy="2643187"/>
            <a:chOff x="1171312" y="864280"/>
            <a:chExt cx="4724367" cy="2643187"/>
          </a:xfrm>
        </p:grpSpPr>
        <p:grpSp>
          <p:nvGrpSpPr>
            <p:cNvPr id="93" name="Group 19"/>
            <p:cNvGrpSpPr>
              <a:grpSpLocks/>
            </p:cNvGrpSpPr>
            <p:nvPr/>
          </p:nvGrpSpPr>
          <p:grpSpPr bwMode="auto">
            <a:xfrm>
              <a:off x="1171314" y="864280"/>
              <a:ext cx="4724367" cy="2643187"/>
              <a:chOff x="990" y="932"/>
              <a:chExt cx="2687" cy="1964"/>
            </a:xfrm>
          </p:grpSpPr>
          <p:grpSp>
            <p:nvGrpSpPr>
              <p:cNvPr id="101" name="Group 20"/>
              <p:cNvGrpSpPr>
                <a:grpSpLocks/>
              </p:cNvGrpSpPr>
              <p:nvPr/>
            </p:nvGrpSpPr>
            <p:grpSpPr bwMode="auto">
              <a:xfrm>
                <a:off x="1703" y="1119"/>
                <a:ext cx="785" cy="1665"/>
                <a:chOff x="1703" y="1119"/>
                <a:chExt cx="785" cy="1665"/>
              </a:xfrm>
            </p:grpSpPr>
            <p:sp>
              <p:nvSpPr>
                <p:cNvPr id="142" name="Line 21"/>
                <p:cNvSpPr>
                  <a:spLocks noChangeShapeType="1"/>
                </p:cNvSpPr>
                <p:nvPr/>
              </p:nvSpPr>
              <p:spPr bwMode="auto">
                <a:xfrm>
                  <a:off x="1703" y="1961"/>
                  <a:ext cx="559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3" name="Line 22"/>
                <p:cNvSpPr>
                  <a:spLocks noChangeShapeType="1"/>
                </p:cNvSpPr>
                <p:nvPr/>
              </p:nvSpPr>
              <p:spPr bwMode="auto">
                <a:xfrm>
                  <a:off x="2264" y="1768"/>
                  <a:ext cx="0" cy="385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4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264" y="1723"/>
                  <a:ext cx="224" cy="163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5" name="Line 24"/>
                <p:cNvSpPr>
                  <a:spLocks noChangeShapeType="1"/>
                </p:cNvSpPr>
                <p:nvPr/>
              </p:nvSpPr>
              <p:spPr bwMode="auto">
                <a:xfrm>
                  <a:off x="2282" y="2029"/>
                  <a:ext cx="194" cy="147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6" name="Line 25"/>
                <p:cNvSpPr>
                  <a:spLocks noChangeShapeType="1"/>
                </p:cNvSpPr>
                <p:nvPr/>
              </p:nvSpPr>
              <p:spPr bwMode="auto">
                <a:xfrm>
                  <a:off x="2486" y="1119"/>
                  <a:ext cx="0" cy="603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7" name="Line 26"/>
                <p:cNvSpPr>
                  <a:spLocks noChangeShapeType="1"/>
                </p:cNvSpPr>
                <p:nvPr/>
              </p:nvSpPr>
              <p:spPr bwMode="auto">
                <a:xfrm>
                  <a:off x="2476" y="2153"/>
                  <a:ext cx="0" cy="63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02" name="Line 27"/>
              <p:cNvSpPr>
                <a:spLocks noChangeShapeType="1"/>
              </p:cNvSpPr>
              <p:nvPr/>
            </p:nvSpPr>
            <p:spPr bwMode="auto">
              <a:xfrm>
                <a:off x="1703" y="1120"/>
                <a:ext cx="14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Line 28"/>
              <p:cNvSpPr>
                <a:spLocks noChangeShapeType="1"/>
              </p:cNvSpPr>
              <p:nvPr/>
            </p:nvSpPr>
            <p:spPr bwMode="auto">
              <a:xfrm>
                <a:off x="1703" y="1119"/>
                <a:ext cx="0" cy="842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Oval 29"/>
              <p:cNvSpPr>
                <a:spLocks noChangeArrowheads="1"/>
              </p:cNvSpPr>
              <p:nvPr/>
            </p:nvSpPr>
            <p:spPr bwMode="auto">
              <a:xfrm>
                <a:off x="3133" y="109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Rectangle 30"/>
              <p:cNvSpPr>
                <a:spLocks noChangeArrowheads="1"/>
              </p:cNvSpPr>
              <p:nvPr/>
            </p:nvSpPr>
            <p:spPr bwMode="auto">
              <a:xfrm>
                <a:off x="1651" y="1408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Rectangle 31"/>
              <p:cNvSpPr>
                <a:spLocks noChangeArrowheads="1"/>
              </p:cNvSpPr>
              <p:nvPr/>
            </p:nvSpPr>
            <p:spPr bwMode="auto">
              <a:xfrm>
                <a:off x="2436" y="1276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Rectangle 32"/>
              <p:cNvSpPr>
                <a:spLocks noChangeArrowheads="1"/>
              </p:cNvSpPr>
              <p:nvPr/>
            </p:nvSpPr>
            <p:spPr bwMode="auto">
              <a:xfrm>
                <a:off x="1318" y="1196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08" name="Rectangle 33"/>
              <p:cNvSpPr>
                <a:spLocks noChangeArrowheads="1"/>
              </p:cNvSpPr>
              <p:nvPr/>
            </p:nvSpPr>
            <p:spPr bwMode="auto">
              <a:xfrm>
                <a:off x="2148" y="1217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109" name="Rectangle 34"/>
              <p:cNvSpPr>
                <a:spLocks noChangeArrowheads="1"/>
              </p:cNvSpPr>
              <p:nvPr/>
            </p:nvSpPr>
            <p:spPr bwMode="auto">
              <a:xfrm>
                <a:off x="2459" y="1946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CE</a:t>
                </a:r>
              </a:p>
            </p:txBody>
          </p:sp>
          <p:sp>
            <p:nvSpPr>
              <p:cNvPr id="110" name="Rectangle 35"/>
              <p:cNvSpPr>
                <a:spLocks noChangeArrowheads="1"/>
              </p:cNvSpPr>
              <p:nvPr/>
            </p:nvSpPr>
            <p:spPr bwMode="auto">
              <a:xfrm>
                <a:off x="2021" y="2209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BE</a:t>
                </a:r>
              </a:p>
            </p:txBody>
          </p:sp>
          <p:sp>
            <p:nvSpPr>
              <p:cNvPr id="111" name="Rectangle 36"/>
              <p:cNvSpPr>
                <a:spLocks noChangeArrowheads="1"/>
              </p:cNvSpPr>
              <p:nvPr/>
            </p:nvSpPr>
            <p:spPr bwMode="auto">
              <a:xfrm>
                <a:off x="1980" y="1968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12" name="Rectangle 37"/>
              <p:cNvSpPr>
                <a:spLocks noChangeArrowheads="1"/>
              </p:cNvSpPr>
              <p:nvPr/>
            </p:nvSpPr>
            <p:spPr bwMode="auto">
              <a:xfrm>
                <a:off x="2253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Rectangle 38"/>
              <p:cNvSpPr>
                <a:spLocks noChangeArrowheads="1"/>
              </p:cNvSpPr>
              <p:nvPr/>
            </p:nvSpPr>
            <p:spPr bwMode="auto">
              <a:xfrm>
                <a:off x="2532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Rectangle 39"/>
              <p:cNvSpPr>
                <a:spLocks noChangeArrowheads="1"/>
              </p:cNvSpPr>
              <p:nvPr/>
            </p:nvSpPr>
            <p:spPr bwMode="auto">
              <a:xfrm>
                <a:off x="2528" y="1722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15" name="Rectangle 40"/>
              <p:cNvSpPr>
                <a:spLocks noChangeArrowheads="1"/>
              </p:cNvSpPr>
              <p:nvPr/>
            </p:nvSpPr>
            <p:spPr bwMode="auto">
              <a:xfrm>
                <a:off x="3192" y="932"/>
                <a:ext cx="485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116" name="Line 41"/>
              <p:cNvSpPr>
                <a:spLocks noChangeShapeType="1"/>
              </p:cNvSpPr>
              <p:nvPr/>
            </p:nvSpPr>
            <p:spPr bwMode="auto">
              <a:xfrm>
                <a:off x="1115" y="2731"/>
                <a:ext cx="20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17" name="Group 42"/>
              <p:cNvGrpSpPr>
                <a:grpSpLocks/>
              </p:cNvGrpSpPr>
              <p:nvPr/>
            </p:nvGrpSpPr>
            <p:grpSpPr bwMode="auto">
              <a:xfrm>
                <a:off x="1355" y="1848"/>
                <a:ext cx="112" cy="224"/>
                <a:chOff x="5056" y="3342"/>
                <a:chExt cx="112" cy="224"/>
              </a:xfrm>
            </p:grpSpPr>
            <p:sp>
              <p:nvSpPr>
                <p:cNvPr id="140" name="Line 43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1" name="Line 44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18" name="Line 45"/>
              <p:cNvSpPr>
                <a:spLocks noChangeShapeType="1"/>
              </p:cNvSpPr>
              <p:nvPr/>
            </p:nvSpPr>
            <p:spPr bwMode="auto">
              <a:xfrm>
                <a:off x="1467" y="1961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Line 46"/>
              <p:cNvSpPr>
                <a:spLocks noChangeShapeType="1"/>
              </p:cNvSpPr>
              <p:nvPr/>
            </p:nvSpPr>
            <p:spPr bwMode="auto">
              <a:xfrm>
                <a:off x="1115" y="196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Line 47"/>
              <p:cNvSpPr>
                <a:spLocks noChangeShapeType="1"/>
              </p:cNvSpPr>
              <p:nvPr/>
            </p:nvSpPr>
            <p:spPr bwMode="auto">
              <a:xfrm>
                <a:off x="2476" y="1685"/>
                <a:ext cx="25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21" name="Group 48"/>
              <p:cNvGrpSpPr>
                <a:grpSpLocks/>
              </p:cNvGrpSpPr>
              <p:nvPr/>
            </p:nvGrpSpPr>
            <p:grpSpPr bwMode="auto">
              <a:xfrm>
                <a:off x="2723" y="1580"/>
                <a:ext cx="112" cy="224"/>
                <a:chOff x="5056" y="3342"/>
                <a:chExt cx="112" cy="224"/>
              </a:xfrm>
            </p:grpSpPr>
            <p:sp>
              <p:nvSpPr>
                <p:cNvPr id="138" name="Line 49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9" name="Line 50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22" name="Line 51"/>
              <p:cNvSpPr>
                <a:spLocks noChangeShapeType="1"/>
              </p:cNvSpPr>
              <p:nvPr/>
            </p:nvSpPr>
            <p:spPr bwMode="auto">
              <a:xfrm>
                <a:off x="2835" y="1676"/>
                <a:ext cx="2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Oval 54"/>
              <p:cNvSpPr>
                <a:spLocks noChangeArrowheads="1"/>
              </p:cNvSpPr>
              <p:nvPr/>
            </p:nvSpPr>
            <p:spPr bwMode="auto">
              <a:xfrm>
                <a:off x="1091" y="2707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4" name="Oval 55"/>
              <p:cNvSpPr>
                <a:spLocks noChangeArrowheads="1"/>
              </p:cNvSpPr>
              <p:nvPr/>
            </p:nvSpPr>
            <p:spPr bwMode="auto">
              <a:xfrm>
                <a:off x="1067" y="194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5" name="Oval 56"/>
              <p:cNvSpPr>
                <a:spLocks noChangeArrowheads="1"/>
              </p:cNvSpPr>
              <p:nvPr/>
            </p:nvSpPr>
            <p:spPr bwMode="auto">
              <a:xfrm>
                <a:off x="2452" y="2707"/>
                <a:ext cx="48" cy="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6" name="Line 57"/>
              <p:cNvSpPr>
                <a:spLocks noChangeShapeType="1"/>
              </p:cNvSpPr>
              <p:nvPr/>
            </p:nvSpPr>
            <p:spPr bwMode="auto">
              <a:xfrm>
                <a:off x="2476" y="2731"/>
                <a:ext cx="0" cy="1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7" name="Line 58"/>
              <p:cNvSpPr>
                <a:spLocks noChangeShapeType="1"/>
              </p:cNvSpPr>
              <p:nvPr/>
            </p:nvSpPr>
            <p:spPr bwMode="auto">
              <a:xfrm>
                <a:off x="2403" y="2896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8" name="Rectangle 59"/>
              <p:cNvSpPr>
                <a:spLocks noChangeArrowheads="1"/>
              </p:cNvSpPr>
              <p:nvPr/>
            </p:nvSpPr>
            <p:spPr bwMode="auto">
              <a:xfrm>
                <a:off x="1454" y="1676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29" name="Rectangle 60"/>
              <p:cNvSpPr>
                <a:spLocks noChangeArrowheads="1"/>
              </p:cNvSpPr>
              <p:nvPr/>
            </p:nvSpPr>
            <p:spPr bwMode="auto">
              <a:xfrm>
                <a:off x="2552" y="1413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30" name="Text Box 61"/>
              <p:cNvSpPr txBox="1">
                <a:spLocks noChangeArrowheads="1"/>
              </p:cNvSpPr>
              <p:nvPr/>
            </p:nvSpPr>
            <p:spPr bwMode="auto">
              <a:xfrm>
                <a:off x="1178" y="153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31" name="Text Box 62"/>
              <p:cNvSpPr txBox="1">
                <a:spLocks noChangeArrowheads="1"/>
              </p:cNvSpPr>
              <p:nvPr/>
            </p:nvSpPr>
            <p:spPr bwMode="auto">
              <a:xfrm>
                <a:off x="2658" y="127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32" name="Rectangle 63"/>
              <p:cNvSpPr>
                <a:spLocks noChangeArrowheads="1"/>
              </p:cNvSpPr>
              <p:nvPr/>
            </p:nvSpPr>
            <p:spPr bwMode="auto">
              <a:xfrm>
                <a:off x="1021" y="1959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33" name="Rectangle 64"/>
              <p:cNvSpPr>
                <a:spLocks noChangeArrowheads="1"/>
              </p:cNvSpPr>
              <p:nvPr/>
            </p:nvSpPr>
            <p:spPr bwMode="auto">
              <a:xfrm>
                <a:off x="1024" y="2418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4" name="Rectangle 65"/>
              <p:cNvSpPr>
                <a:spLocks noChangeArrowheads="1"/>
              </p:cNvSpPr>
              <p:nvPr/>
            </p:nvSpPr>
            <p:spPr bwMode="auto">
              <a:xfrm>
                <a:off x="990" y="2184"/>
                <a:ext cx="225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5" name="Rectangle 66"/>
              <p:cNvSpPr>
                <a:spLocks noChangeArrowheads="1"/>
              </p:cNvSpPr>
              <p:nvPr/>
            </p:nvSpPr>
            <p:spPr bwMode="auto">
              <a:xfrm>
                <a:off x="3180" y="1718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36" name="Rectangle 67"/>
              <p:cNvSpPr>
                <a:spLocks noChangeArrowheads="1"/>
              </p:cNvSpPr>
              <p:nvPr/>
            </p:nvSpPr>
            <p:spPr bwMode="auto">
              <a:xfrm>
                <a:off x="3217" y="2246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7" name="Rectangle 68"/>
              <p:cNvSpPr>
                <a:spLocks noChangeArrowheads="1"/>
              </p:cNvSpPr>
              <p:nvPr/>
            </p:nvSpPr>
            <p:spPr bwMode="auto">
              <a:xfrm>
                <a:off x="3177" y="2014"/>
                <a:ext cx="251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94" name="Line 69"/>
            <p:cNvSpPr>
              <a:spLocks noChangeShapeType="1"/>
            </p:cNvSpPr>
            <p:nvPr/>
          </p:nvSpPr>
          <p:spPr bwMode="auto">
            <a:xfrm>
              <a:off x="4934719" y="1871890"/>
              <a:ext cx="0" cy="140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5" name="Rectangle 70"/>
            <p:cNvSpPr>
              <a:spLocks noChangeArrowheads="1"/>
            </p:cNvSpPr>
            <p:nvPr/>
          </p:nvSpPr>
          <p:spPr bwMode="auto">
            <a:xfrm>
              <a:off x="4843060" y="2349727"/>
              <a:ext cx="190754" cy="39052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Rectangle 71"/>
            <p:cNvSpPr>
              <a:spLocks noChangeArrowheads="1"/>
            </p:cNvSpPr>
            <p:nvPr/>
          </p:nvSpPr>
          <p:spPr bwMode="auto">
            <a:xfrm>
              <a:off x="4446248" y="2525940"/>
              <a:ext cx="486030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97" name="Rectangle 72"/>
            <p:cNvSpPr>
              <a:spLocks noChangeArrowheads="1"/>
            </p:cNvSpPr>
            <p:nvPr/>
          </p:nvSpPr>
          <p:spPr bwMode="auto">
            <a:xfrm>
              <a:off x="2707104" y="1660752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98" name="Line 73"/>
            <p:cNvSpPr>
              <a:spLocks noChangeShapeType="1"/>
            </p:cNvSpPr>
            <p:nvPr/>
          </p:nvSpPr>
          <p:spPr bwMode="auto">
            <a:xfrm>
              <a:off x="2697151" y="2155144"/>
              <a:ext cx="530794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9" name="Rectangle 74"/>
            <p:cNvSpPr>
              <a:spLocks noChangeArrowheads="1"/>
            </p:cNvSpPr>
            <p:nvPr/>
          </p:nvSpPr>
          <p:spPr bwMode="auto">
            <a:xfrm>
              <a:off x="3962763" y="1055915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00" name="Line 75"/>
            <p:cNvSpPr>
              <a:spLocks noChangeShapeType="1"/>
            </p:cNvSpPr>
            <p:nvPr/>
          </p:nvSpPr>
          <p:spPr bwMode="auto">
            <a:xfrm>
              <a:off x="3994279" y="1163865"/>
              <a:ext cx="0" cy="41116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362201" y="195943"/>
            <a:ext cx="400594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输出回路的动态图解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719592" y="3672568"/>
            <a:ext cx="3352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4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lang="en-US" altLang="zh-CN" sz="4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= </a:t>
            </a:r>
            <a:r>
              <a:rPr lang="en-US" altLang="zh-CN" sz="36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C2 </a:t>
            </a:r>
            <a:r>
              <a:rPr lang="en-US" altLang="zh-CN" sz="4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+ </a:t>
            </a:r>
            <a:r>
              <a:rPr lang="en-US" altLang="zh-CN" sz="4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95792" y="4282168"/>
            <a:ext cx="3352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40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= </a:t>
            </a:r>
            <a:r>
              <a:rPr lang="en-US" altLang="zh-CN" sz="36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CEQ</a:t>
            </a:r>
            <a:r>
              <a:rPr lang="en-US" altLang="zh-CN" sz="40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+ </a:t>
            </a:r>
            <a:r>
              <a:rPr lang="en-US" altLang="zh-CN" sz="40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975453" y="4020911"/>
            <a:ext cx="3124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4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</a:t>
            </a:r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－（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//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L</a:t>
            </a:r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40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</a:p>
        </p:txBody>
      </p:sp>
      <p:grpSp>
        <p:nvGrpSpPr>
          <p:cNvPr id="107" name="Group 71"/>
          <p:cNvGrpSpPr>
            <a:grpSpLocks/>
          </p:cNvGrpSpPr>
          <p:nvPr/>
        </p:nvGrpSpPr>
        <p:grpSpPr bwMode="auto">
          <a:xfrm>
            <a:off x="4398041" y="1106488"/>
            <a:ext cx="4588498" cy="2600326"/>
            <a:chOff x="376" y="564"/>
            <a:chExt cx="3439" cy="1638"/>
          </a:xfrm>
        </p:grpSpPr>
        <p:sp>
          <p:nvSpPr>
            <p:cNvPr id="108" name="Line 72"/>
            <p:cNvSpPr>
              <a:spLocks noChangeShapeType="1"/>
            </p:cNvSpPr>
            <p:nvPr/>
          </p:nvSpPr>
          <p:spPr bwMode="auto">
            <a:xfrm>
              <a:off x="1204" y="1342"/>
              <a:ext cx="622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Line 73"/>
            <p:cNvSpPr>
              <a:spLocks noChangeShapeType="1"/>
            </p:cNvSpPr>
            <p:nvPr/>
          </p:nvSpPr>
          <p:spPr bwMode="auto">
            <a:xfrm>
              <a:off x="1829" y="1164"/>
              <a:ext cx="0" cy="354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0" name="Line 74"/>
            <p:cNvSpPr>
              <a:spLocks noChangeShapeType="1"/>
            </p:cNvSpPr>
            <p:nvPr/>
          </p:nvSpPr>
          <p:spPr bwMode="auto">
            <a:xfrm flipV="1">
              <a:off x="1829" y="1123"/>
              <a:ext cx="249" cy="15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1" name="Line 75"/>
            <p:cNvSpPr>
              <a:spLocks noChangeShapeType="1"/>
            </p:cNvSpPr>
            <p:nvPr/>
          </p:nvSpPr>
          <p:spPr bwMode="auto">
            <a:xfrm>
              <a:off x="1834" y="1392"/>
              <a:ext cx="249" cy="147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" name="Line 76"/>
            <p:cNvSpPr>
              <a:spLocks noChangeShapeType="1"/>
            </p:cNvSpPr>
            <p:nvPr/>
          </p:nvSpPr>
          <p:spPr bwMode="auto">
            <a:xfrm>
              <a:off x="2076" y="567"/>
              <a:ext cx="0" cy="555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" name="Line 77"/>
            <p:cNvSpPr>
              <a:spLocks noChangeShapeType="1"/>
            </p:cNvSpPr>
            <p:nvPr/>
          </p:nvSpPr>
          <p:spPr bwMode="auto">
            <a:xfrm>
              <a:off x="2065" y="1518"/>
              <a:ext cx="0" cy="581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4" name="Line 78"/>
            <p:cNvSpPr>
              <a:spLocks noChangeShapeType="1"/>
            </p:cNvSpPr>
            <p:nvPr/>
          </p:nvSpPr>
          <p:spPr bwMode="auto">
            <a:xfrm>
              <a:off x="2065" y="581"/>
              <a:ext cx="13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15" name="Group 79"/>
            <p:cNvGrpSpPr>
              <a:grpSpLocks/>
            </p:cNvGrpSpPr>
            <p:nvPr/>
          </p:nvGrpSpPr>
          <p:grpSpPr bwMode="auto">
            <a:xfrm>
              <a:off x="1147" y="1340"/>
              <a:ext cx="115" cy="720"/>
              <a:chOff x="1147" y="567"/>
              <a:chExt cx="115" cy="774"/>
            </a:xfrm>
          </p:grpSpPr>
          <p:sp>
            <p:nvSpPr>
              <p:cNvPr id="153" name="Line 80"/>
              <p:cNvSpPr>
                <a:spLocks noChangeShapeType="1"/>
              </p:cNvSpPr>
              <p:nvPr/>
            </p:nvSpPr>
            <p:spPr bwMode="auto">
              <a:xfrm>
                <a:off x="1204" y="567"/>
                <a:ext cx="0" cy="774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4" name="Rectangle 81"/>
              <p:cNvSpPr>
                <a:spLocks noChangeArrowheads="1"/>
              </p:cNvSpPr>
              <p:nvPr/>
            </p:nvSpPr>
            <p:spPr bwMode="auto">
              <a:xfrm>
                <a:off x="1147" y="833"/>
                <a:ext cx="115" cy="24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16" name="Rectangle 83"/>
            <p:cNvSpPr>
              <a:spLocks noChangeArrowheads="1"/>
            </p:cNvSpPr>
            <p:nvPr/>
          </p:nvSpPr>
          <p:spPr bwMode="auto">
            <a:xfrm>
              <a:off x="797" y="1527"/>
              <a:ext cx="381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17" name="Rectangle 84"/>
            <p:cNvSpPr>
              <a:spLocks noChangeArrowheads="1"/>
            </p:cNvSpPr>
            <p:nvPr/>
          </p:nvSpPr>
          <p:spPr bwMode="auto">
            <a:xfrm>
              <a:off x="1509" y="1332"/>
              <a:ext cx="201" cy="23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18" name="Rectangle 85"/>
            <p:cNvSpPr>
              <a:spLocks noChangeArrowheads="1"/>
            </p:cNvSpPr>
            <p:nvPr/>
          </p:nvSpPr>
          <p:spPr bwMode="auto">
            <a:xfrm>
              <a:off x="1797" y="1853"/>
              <a:ext cx="245" cy="21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19" name="Rectangle 86"/>
            <p:cNvSpPr>
              <a:spLocks noChangeArrowheads="1"/>
            </p:cNvSpPr>
            <p:nvPr/>
          </p:nvSpPr>
          <p:spPr bwMode="auto">
            <a:xfrm>
              <a:off x="2083" y="1510"/>
              <a:ext cx="228" cy="19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20" name="Rectangle 87"/>
            <p:cNvSpPr>
              <a:spLocks noChangeArrowheads="1"/>
            </p:cNvSpPr>
            <p:nvPr/>
          </p:nvSpPr>
          <p:spPr bwMode="auto">
            <a:xfrm>
              <a:off x="2094" y="930"/>
              <a:ext cx="201" cy="23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21" name="Line 88"/>
            <p:cNvSpPr>
              <a:spLocks noChangeShapeType="1"/>
            </p:cNvSpPr>
            <p:nvPr/>
          </p:nvSpPr>
          <p:spPr bwMode="auto">
            <a:xfrm>
              <a:off x="550" y="2050"/>
              <a:ext cx="22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2" name="Line 89"/>
            <p:cNvSpPr>
              <a:spLocks noChangeShapeType="1"/>
            </p:cNvSpPr>
            <p:nvPr/>
          </p:nvSpPr>
          <p:spPr bwMode="auto">
            <a:xfrm>
              <a:off x="535" y="1343"/>
              <a:ext cx="6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" name="Oval 91"/>
            <p:cNvSpPr>
              <a:spLocks noChangeArrowheads="1"/>
            </p:cNvSpPr>
            <p:nvPr/>
          </p:nvSpPr>
          <p:spPr bwMode="auto">
            <a:xfrm>
              <a:off x="524" y="2028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4" name="Oval 92"/>
            <p:cNvSpPr>
              <a:spLocks noChangeArrowheads="1"/>
            </p:cNvSpPr>
            <p:nvPr/>
          </p:nvSpPr>
          <p:spPr bwMode="auto">
            <a:xfrm>
              <a:off x="497" y="1328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5" name="Oval 93"/>
            <p:cNvSpPr>
              <a:spLocks noChangeArrowheads="1"/>
            </p:cNvSpPr>
            <p:nvPr/>
          </p:nvSpPr>
          <p:spPr bwMode="auto">
            <a:xfrm>
              <a:off x="2038" y="2028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Line 94"/>
            <p:cNvSpPr>
              <a:spLocks noChangeShapeType="1"/>
            </p:cNvSpPr>
            <p:nvPr/>
          </p:nvSpPr>
          <p:spPr bwMode="auto">
            <a:xfrm>
              <a:off x="2065" y="2050"/>
              <a:ext cx="0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Line 95"/>
            <p:cNvSpPr>
              <a:spLocks noChangeShapeType="1"/>
            </p:cNvSpPr>
            <p:nvPr/>
          </p:nvSpPr>
          <p:spPr bwMode="auto">
            <a:xfrm>
              <a:off x="1983" y="2202"/>
              <a:ext cx="1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Rectangle 96"/>
            <p:cNvSpPr>
              <a:spLocks noChangeArrowheads="1"/>
            </p:cNvSpPr>
            <p:nvPr/>
          </p:nvSpPr>
          <p:spPr bwMode="auto">
            <a:xfrm>
              <a:off x="445" y="1340"/>
              <a:ext cx="201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29" name="Rectangle 97"/>
            <p:cNvSpPr>
              <a:spLocks noChangeArrowheads="1"/>
            </p:cNvSpPr>
            <p:nvPr/>
          </p:nvSpPr>
          <p:spPr bwMode="auto">
            <a:xfrm>
              <a:off x="434" y="1890"/>
              <a:ext cx="229" cy="194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30" name="Rectangle 98"/>
            <p:cNvSpPr>
              <a:spLocks noChangeArrowheads="1"/>
            </p:cNvSpPr>
            <p:nvPr/>
          </p:nvSpPr>
          <p:spPr bwMode="auto">
            <a:xfrm>
              <a:off x="376" y="1525"/>
              <a:ext cx="323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Rectangle 99"/>
            <p:cNvSpPr>
              <a:spLocks noChangeArrowheads="1"/>
            </p:cNvSpPr>
            <p:nvPr/>
          </p:nvSpPr>
          <p:spPr bwMode="auto">
            <a:xfrm>
              <a:off x="3415" y="680"/>
              <a:ext cx="201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32" name="Rectangle 100"/>
            <p:cNvSpPr>
              <a:spLocks noChangeArrowheads="1"/>
            </p:cNvSpPr>
            <p:nvPr/>
          </p:nvSpPr>
          <p:spPr bwMode="auto">
            <a:xfrm>
              <a:off x="3423" y="1605"/>
              <a:ext cx="228" cy="19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33" name="Rectangle 101"/>
            <p:cNvSpPr>
              <a:spLocks noChangeArrowheads="1"/>
            </p:cNvSpPr>
            <p:nvPr/>
          </p:nvSpPr>
          <p:spPr bwMode="auto">
            <a:xfrm>
              <a:off x="3452" y="1059"/>
              <a:ext cx="363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34" name="Line 102"/>
            <p:cNvSpPr>
              <a:spLocks noChangeShapeType="1"/>
            </p:cNvSpPr>
            <p:nvPr/>
          </p:nvSpPr>
          <p:spPr bwMode="auto">
            <a:xfrm>
              <a:off x="2796" y="581"/>
              <a:ext cx="0" cy="14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Rectangle 103"/>
            <p:cNvSpPr>
              <a:spLocks noChangeArrowheads="1"/>
            </p:cNvSpPr>
            <p:nvPr/>
          </p:nvSpPr>
          <p:spPr bwMode="auto">
            <a:xfrm>
              <a:off x="2739" y="1176"/>
              <a:ext cx="115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Rectangle 104"/>
            <p:cNvSpPr>
              <a:spLocks noChangeArrowheads="1"/>
            </p:cNvSpPr>
            <p:nvPr/>
          </p:nvSpPr>
          <p:spPr bwMode="auto">
            <a:xfrm>
              <a:off x="3076" y="874"/>
              <a:ext cx="364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37" name="Line 105"/>
            <p:cNvSpPr>
              <a:spLocks noChangeShapeType="1"/>
            </p:cNvSpPr>
            <p:nvPr/>
          </p:nvSpPr>
          <p:spPr bwMode="auto">
            <a:xfrm>
              <a:off x="2796" y="2050"/>
              <a:ext cx="6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Line 106"/>
            <p:cNvSpPr>
              <a:spLocks noChangeShapeType="1"/>
            </p:cNvSpPr>
            <p:nvPr/>
          </p:nvSpPr>
          <p:spPr bwMode="auto">
            <a:xfrm>
              <a:off x="3417" y="581"/>
              <a:ext cx="0" cy="14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Rectangle 107"/>
            <p:cNvSpPr>
              <a:spLocks noChangeArrowheads="1"/>
            </p:cNvSpPr>
            <p:nvPr/>
          </p:nvSpPr>
          <p:spPr bwMode="auto">
            <a:xfrm>
              <a:off x="2395" y="888"/>
              <a:ext cx="381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40" name="Rectangle 108"/>
            <p:cNvSpPr>
              <a:spLocks noChangeArrowheads="1"/>
            </p:cNvSpPr>
            <p:nvPr/>
          </p:nvSpPr>
          <p:spPr bwMode="auto">
            <a:xfrm>
              <a:off x="1519" y="1510"/>
              <a:ext cx="372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be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Rectangle 109"/>
            <p:cNvSpPr>
              <a:spLocks noChangeArrowheads="1"/>
            </p:cNvSpPr>
            <p:nvPr/>
          </p:nvSpPr>
          <p:spPr bwMode="auto">
            <a:xfrm>
              <a:off x="2098" y="1164"/>
              <a:ext cx="363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>
                  <a:latin typeface="Times New Roman" pitchFamily="18" charset="0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142" name="Line 110"/>
            <p:cNvSpPr>
              <a:spLocks noChangeShapeType="1"/>
            </p:cNvSpPr>
            <p:nvPr/>
          </p:nvSpPr>
          <p:spPr bwMode="auto">
            <a:xfrm>
              <a:off x="2161" y="680"/>
              <a:ext cx="0" cy="25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Rectangle 111"/>
            <p:cNvSpPr>
              <a:spLocks noChangeArrowheads="1"/>
            </p:cNvSpPr>
            <p:nvPr/>
          </p:nvSpPr>
          <p:spPr bwMode="auto">
            <a:xfrm>
              <a:off x="2191" y="603"/>
              <a:ext cx="246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c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Line 112"/>
            <p:cNvSpPr>
              <a:spLocks noChangeShapeType="1"/>
            </p:cNvSpPr>
            <p:nvPr/>
          </p:nvSpPr>
          <p:spPr bwMode="auto">
            <a:xfrm>
              <a:off x="1262" y="1273"/>
              <a:ext cx="25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Line 113"/>
            <p:cNvSpPr>
              <a:spLocks noChangeShapeType="1"/>
            </p:cNvSpPr>
            <p:nvPr/>
          </p:nvSpPr>
          <p:spPr bwMode="auto">
            <a:xfrm>
              <a:off x="713" y="1273"/>
              <a:ext cx="27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Rectangle 114"/>
            <p:cNvSpPr>
              <a:spLocks noChangeArrowheads="1"/>
            </p:cNvSpPr>
            <p:nvPr/>
          </p:nvSpPr>
          <p:spPr bwMode="auto">
            <a:xfrm>
              <a:off x="1262" y="888"/>
              <a:ext cx="255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Rectangle 115"/>
            <p:cNvSpPr>
              <a:spLocks noChangeArrowheads="1"/>
            </p:cNvSpPr>
            <p:nvPr/>
          </p:nvSpPr>
          <p:spPr bwMode="auto">
            <a:xfrm>
              <a:off x="713" y="895"/>
              <a:ext cx="220" cy="32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CN" sz="2800" b="1" baseline="-25000">
                  <a:latin typeface="Times New Roman" pitchFamily="18" charset="0"/>
                  <a:cs typeface="Times New Roman" pitchFamily="18" charset="0"/>
                </a:rPr>
                <a:t>i</a:t>
              </a:r>
            </a:p>
          </p:txBody>
        </p:sp>
        <p:sp>
          <p:nvSpPr>
            <p:cNvPr id="148" name="Rectangle 82"/>
            <p:cNvSpPr>
              <a:spLocks noChangeArrowheads="1"/>
            </p:cNvSpPr>
            <p:nvPr/>
          </p:nvSpPr>
          <p:spPr bwMode="auto">
            <a:xfrm>
              <a:off x="3362" y="1176"/>
              <a:ext cx="114" cy="247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Oval 93"/>
            <p:cNvSpPr>
              <a:spLocks noChangeArrowheads="1"/>
            </p:cNvSpPr>
            <p:nvPr/>
          </p:nvSpPr>
          <p:spPr bwMode="auto">
            <a:xfrm>
              <a:off x="1180" y="1323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Oval 93"/>
            <p:cNvSpPr>
              <a:spLocks noChangeArrowheads="1"/>
            </p:cNvSpPr>
            <p:nvPr/>
          </p:nvSpPr>
          <p:spPr bwMode="auto">
            <a:xfrm>
              <a:off x="2773" y="564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Oval 93"/>
            <p:cNvSpPr>
              <a:spLocks noChangeArrowheads="1"/>
            </p:cNvSpPr>
            <p:nvPr/>
          </p:nvSpPr>
          <p:spPr bwMode="auto">
            <a:xfrm>
              <a:off x="1183" y="2025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Oval 93"/>
            <p:cNvSpPr>
              <a:spLocks noChangeArrowheads="1"/>
            </p:cNvSpPr>
            <p:nvPr/>
          </p:nvSpPr>
          <p:spPr bwMode="auto">
            <a:xfrm>
              <a:off x="2773" y="2022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55" name="组合 122"/>
          <p:cNvGrpSpPr/>
          <p:nvPr/>
        </p:nvGrpSpPr>
        <p:grpSpPr>
          <a:xfrm>
            <a:off x="152401" y="900163"/>
            <a:ext cx="4399499" cy="2643187"/>
            <a:chOff x="1171312" y="864280"/>
            <a:chExt cx="4724367" cy="2643187"/>
          </a:xfrm>
        </p:grpSpPr>
        <p:grpSp>
          <p:nvGrpSpPr>
            <p:cNvPr id="156" name="Group 19"/>
            <p:cNvGrpSpPr>
              <a:grpSpLocks/>
            </p:cNvGrpSpPr>
            <p:nvPr/>
          </p:nvGrpSpPr>
          <p:grpSpPr bwMode="auto">
            <a:xfrm>
              <a:off x="1171316" y="864280"/>
              <a:ext cx="4724367" cy="2643187"/>
              <a:chOff x="990" y="932"/>
              <a:chExt cx="2687" cy="1964"/>
            </a:xfrm>
          </p:grpSpPr>
          <p:grpSp>
            <p:nvGrpSpPr>
              <p:cNvPr id="164" name="Group 20"/>
              <p:cNvGrpSpPr>
                <a:grpSpLocks/>
              </p:cNvGrpSpPr>
              <p:nvPr/>
            </p:nvGrpSpPr>
            <p:grpSpPr bwMode="auto">
              <a:xfrm>
                <a:off x="1703" y="1119"/>
                <a:ext cx="785" cy="1665"/>
                <a:chOff x="1703" y="1119"/>
                <a:chExt cx="785" cy="1665"/>
              </a:xfrm>
            </p:grpSpPr>
            <p:sp>
              <p:nvSpPr>
                <p:cNvPr id="205" name="Line 21"/>
                <p:cNvSpPr>
                  <a:spLocks noChangeShapeType="1"/>
                </p:cNvSpPr>
                <p:nvPr/>
              </p:nvSpPr>
              <p:spPr bwMode="auto">
                <a:xfrm>
                  <a:off x="1703" y="1961"/>
                  <a:ext cx="559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6" name="Line 22"/>
                <p:cNvSpPr>
                  <a:spLocks noChangeShapeType="1"/>
                </p:cNvSpPr>
                <p:nvPr/>
              </p:nvSpPr>
              <p:spPr bwMode="auto">
                <a:xfrm>
                  <a:off x="2264" y="1768"/>
                  <a:ext cx="0" cy="385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7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264" y="1723"/>
                  <a:ext cx="224" cy="163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8" name="Line 24"/>
                <p:cNvSpPr>
                  <a:spLocks noChangeShapeType="1"/>
                </p:cNvSpPr>
                <p:nvPr/>
              </p:nvSpPr>
              <p:spPr bwMode="auto">
                <a:xfrm>
                  <a:off x="2282" y="2029"/>
                  <a:ext cx="194" cy="147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9" name="Line 25"/>
                <p:cNvSpPr>
                  <a:spLocks noChangeShapeType="1"/>
                </p:cNvSpPr>
                <p:nvPr/>
              </p:nvSpPr>
              <p:spPr bwMode="auto">
                <a:xfrm>
                  <a:off x="2486" y="1119"/>
                  <a:ext cx="0" cy="603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0" name="Line 26"/>
                <p:cNvSpPr>
                  <a:spLocks noChangeShapeType="1"/>
                </p:cNvSpPr>
                <p:nvPr/>
              </p:nvSpPr>
              <p:spPr bwMode="auto">
                <a:xfrm>
                  <a:off x="2476" y="2153"/>
                  <a:ext cx="0" cy="63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65" name="Line 27"/>
              <p:cNvSpPr>
                <a:spLocks noChangeShapeType="1"/>
              </p:cNvSpPr>
              <p:nvPr/>
            </p:nvSpPr>
            <p:spPr bwMode="auto">
              <a:xfrm>
                <a:off x="1703" y="1120"/>
                <a:ext cx="14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6" name="Line 28"/>
              <p:cNvSpPr>
                <a:spLocks noChangeShapeType="1"/>
              </p:cNvSpPr>
              <p:nvPr/>
            </p:nvSpPr>
            <p:spPr bwMode="auto">
              <a:xfrm>
                <a:off x="1703" y="1119"/>
                <a:ext cx="0" cy="842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7" name="Oval 29"/>
              <p:cNvSpPr>
                <a:spLocks noChangeArrowheads="1"/>
              </p:cNvSpPr>
              <p:nvPr/>
            </p:nvSpPr>
            <p:spPr bwMode="auto">
              <a:xfrm>
                <a:off x="3133" y="109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8" name="Rectangle 30"/>
              <p:cNvSpPr>
                <a:spLocks noChangeArrowheads="1"/>
              </p:cNvSpPr>
              <p:nvPr/>
            </p:nvSpPr>
            <p:spPr bwMode="auto">
              <a:xfrm>
                <a:off x="1651" y="1408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9" name="Rectangle 31"/>
              <p:cNvSpPr>
                <a:spLocks noChangeArrowheads="1"/>
              </p:cNvSpPr>
              <p:nvPr/>
            </p:nvSpPr>
            <p:spPr bwMode="auto">
              <a:xfrm>
                <a:off x="2436" y="1276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0" name="Rectangle 32"/>
              <p:cNvSpPr>
                <a:spLocks noChangeArrowheads="1"/>
              </p:cNvSpPr>
              <p:nvPr/>
            </p:nvSpPr>
            <p:spPr bwMode="auto">
              <a:xfrm>
                <a:off x="1318" y="1196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71" name="Rectangle 33"/>
              <p:cNvSpPr>
                <a:spLocks noChangeArrowheads="1"/>
              </p:cNvSpPr>
              <p:nvPr/>
            </p:nvSpPr>
            <p:spPr bwMode="auto">
              <a:xfrm>
                <a:off x="2148" y="1217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172" name="Rectangle 34"/>
              <p:cNvSpPr>
                <a:spLocks noChangeArrowheads="1"/>
              </p:cNvSpPr>
              <p:nvPr/>
            </p:nvSpPr>
            <p:spPr bwMode="auto">
              <a:xfrm>
                <a:off x="2459" y="1946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CE</a:t>
                </a:r>
              </a:p>
            </p:txBody>
          </p:sp>
          <p:sp>
            <p:nvSpPr>
              <p:cNvPr id="173" name="Rectangle 35"/>
              <p:cNvSpPr>
                <a:spLocks noChangeArrowheads="1"/>
              </p:cNvSpPr>
              <p:nvPr/>
            </p:nvSpPr>
            <p:spPr bwMode="auto">
              <a:xfrm>
                <a:off x="2021" y="2209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BE</a:t>
                </a:r>
              </a:p>
            </p:txBody>
          </p:sp>
          <p:sp>
            <p:nvSpPr>
              <p:cNvPr id="174" name="Rectangle 36"/>
              <p:cNvSpPr>
                <a:spLocks noChangeArrowheads="1"/>
              </p:cNvSpPr>
              <p:nvPr/>
            </p:nvSpPr>
            <p:spPr bwMode="auto">
              <a:xfrm>
                <a:off x="1980" y="1968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75" name="Rectangle 37"/>
              <p:cNvSpPr>
                <a:spLocks noChangeArrowheads="1"/>
              </p:cNvSpPr>
              <p:nvPr/>
            </p:nvSpPr>
            <p:spPr bwMode="auto">
              <a:xfrm>
                <a:off x="2253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6" name="Rectangle 38"/>
              <p:cNvSpPr>
                <a:spLocks noChangeArrowheads="1"/>
              </p:cNvSpPr>
              <p:nvPr/>
            </p:nvSpPr>
            <p:spPr bwMode="auto">
              <a:xfrm>
                <a:off x="2532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7" name="Rectangle 39"/>
              <p:cNvSpPr>
                <a:spLocks noChangeArrowheads="1"/>
              </p:cNvSpPr>
              <p:nvPr/>
            </p:nvSpPr>
            <p:spPr bwMode="auto">
              <a:xfrm>
                <a:off x="2528" y="1722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78" name="Rectangle 40"/>
              <p:cNvSpPr>
                <a:spLocks noChangeArrowheads="1"/>
              </p:cNvSpPr>
              <p:nvPr/>
            </p:nvSpPr>
            <p:spPr bwMode="auto">
              <a:xfrm>
                <a:off x="3192" y="932"/>
                <a:ext cx="485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179" name="Line 41"/>
              <p:cNvSpPr>
                <a:spLocks noChangeShapeType="1"/>
              </p:cNvSpPr>
              <p:nvPr/>
            </p:nvSpPr>
            <p:spPr bwMode="auto">
              <a:xfrm>
                <a:off x="1115" y="2731"/>
                <a:ext cx="20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80" name="Group 42"/>
              <p:cNvGrpSpPr>
                <a:grpSpLocks/>
              </p:cNvGrpSpPr>
              <p:nvPr/>
            </p:nvGrpSpPr>
            <p:grpSpPr bwMode="auto">
              <a:xfrm>
                <a:off x="1355" y="1848"/>
                <a:ext cx="112" cy="224"/>
                <a:chOff x="5056" y="3342"/>
                <a:chExt cx="112" cy="224"/>
              </a:xfrm>
            </p:grpSpPr>
            <p:sp>
              <p:nvSpPr>
                <p:cNvPr id="203" name="Line 43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4" name="Line 44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81" name="Line 45"/>
              <p:cNvSpPr>
                <a:spLocks noChangeShapeType="1"/>
              </p:cNvSpPr>
              <p:nvPr/>
            </p:nvSpPr>
            <p:spPr bwMode="auto">
              <a:xfrm>
                <a:off x="1467" y="1961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2" name="Line 46"/>
              <p:cNvSpPr>
                <a:spLocks noChangeShapeType="1"/>
              </p:cNvSpPr>
              <p:nvPr/>
            </p:nvSpPr>
            <p:spPr bwMode="auto">
              <a:xfrm>
                <a:off x="1115" y="196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3" name="Line 47"/>
              <p:cNvSpPr>
                <a:spLocks noChangeShapeType="1"/>
              </p:cNvSpPr>
              <p:nvPr/>
            </p:nvSpPr>
            <p:spPr bwMode="auto">
              <a:xfrm>
                <a:off x="2476" y="1685"/>
                <a:ext cx="25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84" name="Group 48"/>
              <p:cNvGrpSpPr>
                <a:grpSpLocks/>
              </p:cNvGrpSpPr>
              <p:nvPr/>
            </p:nvGrpSpPr>
            <p:grpSpPr bwMode="auto">
              <a:xfrm>
                <a:off x="2723" y="1580"/>
                <a:ext cx="112" cy="224"/>
                <a:chOff x="5056" y="3342"/>
                <a:chExt cx="112" cy="224"/>
              </a:xfrm>
            </p:grpSpPr>
            <p:sp>
              <p:nvSpPr>
                <p:cNvPr id="201" name="Line 49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2" name="Line 50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85" name="Line 51"/>
              <p:cNvSpPr>
                <a:spLocks noChangeShapeType="1"/>
              </p:cNvSpPr>
              <p:nvPr/>
            </p:nvSpPr>
            <p:spPr bwMode="auto">
              <a:xfrm>
                <a:off x="2835" y="1676"/>
                <a:ext cx="2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6" name="Oval 54"/>
              <p:cNvSpPr>
                <a:spLocks noChangeArrowheads="1"/>
              </p:cNvSpPr>
              <p:nvPr/>
            </p:nvSpPr>
            <p:spPr bwMode="auto">
              <a:xfrm>
                <a:off x="1091" y="2707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7" name="Oval 55"/>
              <p:cNvSpPr>
                <a:spLocks noChangeArrowheads="1"/>
              </p:cNvSpPr>
              <p:nvPr/>
            </p:nvSpPr>
            <p:spPr bwMode="auto">
              <a:xfrm>
                <a:off x="1067" y="194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8" name="Oval 56"/>
              <p:cNvSpPr>
                <a:spLocks noChangeArrowheads="1"/>
              </p:cNvSpPr>
              <p:nvPr/>
            </p:nvSpPr>
            <p:spPr bwMode="auto">
              <a:xfrm>
                <a:off x="2452" y="2707"/>
                <a:ext cx="48" cy="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9" name="Line 57"/>
              <p:cNvSpPr>
                <a:spLocks noChangeShapeType="1"/>
              </p:cNvSpPr>
              <p:nvPr/>
            </p:nvSpPr>
            <p:spPr bwMode="auto">
              <a:xfrm>
                <a:off x="2476" y="2731"/>
                <a:ext cx="0" cy="1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0" name="Line 58"/>
              <p:cNvSpPr>
                <a:spLocks noChangeShapeType="1"/>
              </p:cNvSpPr>
              <p:nvPr/>
            </p:nvSpPr>
            <p:spPr bwMode="auto">
              <a:xfrm>
                <a:off x="2403" y="2896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1" name="Rectangle 59"/>
              <p:cNvSpPr>
                <a:spLocks noChangeArrowheads="1"/>
              </p:cNvSpPr>
              <p:nvPr/>
            </p:nvSpPr>
            <p:spPr bwMode="auto">
              <a:xfrm>
                <a:off x="1454" y="1676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92" name="Rectangle 60"/>
              <p:cNvSpPr>
                <a:spLocks noChangeArrowheads="1"/>
              </p:cNvSpPr>
              <p:nvPr/>
            </p:nvSpPr>
            <p:spPr bwMode="auto">
              <a:xfrm>
                <a:off x="2552" y="1413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93" name="Text Box 61"/>
              <p:cNvSpPr txBox="1">
                <a:spLocks noChangeArrowheads="1"/>
              </p:cNvSpPr>
              <p:nvPr/>
            </p:nvSpPr>
            <p:spPr bwMode="auto">
              <a:xfrm>
                <a:off x="1178" y="153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94" name="Text Box 62"/>
              <p:cNvSpPr txBox="1">
                <a:spLocks noChangeArrowheads="1"/>
              </p:cNvSpPr>
              <p:nvPr/>
            </p:nvSpPr>
            <p:spPr bwMode="auto">
              <a:xfrm>
                <a:off x="2658" y="127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95" name="Rectangle 63"/>
              <p:cNvSpPr>
                <a:spLocks noChangeArrowheads="1"/>
              </p:cNvSpPr>
              <p:nvPr/>
            </p:nvSpPr>
            <p:spPr bwMode="auto">
              <a:xfrm>
                <a:off x="1021" y="1959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96" name="Rectangle 64"/>
              <p:cNvSpPr>
                <a:spLocks noChangeArrowheads="1"/>
              </p:cNvSpPr>
              <p:nvPr/>
            </p:nvSpPr>
            <p:spPr bwMode="auto">
              <a:xfrm>
                <a:off x="1024" y="2418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7" name="Rectangle 65"/>
              <p:cNvSpPr>
                <a:spLocks noChangeArrowheads="1"/>
              </p:cNvSpPr>
              <p:nvPr/>
            </p:nvSpPr>
            <p:spPr bwMode="auto">
              <a:xfrm>
                <a:off x="990" y="2184"/>
                <a:ext cx="225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8" name="Rectangle 66"/>
              <p:cNvSpPr>
                <a:spLocks noChangeArrowheads="1"/>
              </p:cNvSpPr>
              <p:nvPr/>
            </p:nvSpPr>
            <p:spPr bwMode="auto">
              <a:xfrm>
                <a:off x="3180" y="1718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99" name="Rectangle 67"/>
              <p:cNvSpPr>
                <a:spLocks noChangeArrowheads="1"/>
              </p:cNvSpPr>
              <p:nvPr/>
            </p:nvSpPr>
            <p:spPr bwMode="auto">
              <a:xfrm>
                <a:off x="3217" y="2246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0" name="Rectangle 68"/>
              <p:cNvSpPr>
                <a:spLocks noChangeArrowheads="1"/>
              </p:cNvSpPr>
              <p:nvPr/>
            </p:nvSpPr>
            <p:spPr bwMode="auto">
              <a:xfrm>
                <a:off x="3177" y="2014"/>
                <a:ext cx="251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157" name="Line 69"/>
            <p:cNvSpPr>
              <a:spLocks noChangeShapeType="1"/>
            </p:cNvSpPr>
            <p:nvPr/>
          </p:nvSpPr>
          <p:spPr bwMode="auto">
            <a:xfrm>
              <a:off x="4934719" y="1871890"/>
              <a:ext cx="0" cy="140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8" name="Rectangle 70"/>
            <p:cNvSpPr>
              <a:spLocks noChangeArrowheads="1"/>
            </p:cNvSpPr>
            <p:nvPr/>
          </p:nvSpPr>
          <p:spPr bwMode="auto">
            <a:xfrm>
              <a:off x="4843060" y="2349727"/>
              <a:ext cx="190754" cy="39052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9" name="Rectangle 71"/>
            <p:cNvSpPr>
              <a:spLocks noChangeArrowheads="1"/>
            </p:cNvSpPr>
            <p:nvPr/>
          </p:nvSpPr>
          <p:spPr bwMode="auto">
            <a:xfrm>
              <a:off x="4446248" y="2525940"/>
              <a:ext cx="486030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60" name="Rectangle 72"/>
            <p:cNvSpPr>
              <a:spLocks noChangeArrowheads="1"/>
            </p:cNvSpPr>
            <p:nvPr/>
          </p:nvSpPr>
          <p:spPr bwMode="auto">
            <a:xfrm>
              <a:off x="2707104" y="1660752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61" name="Line 73"/>
            <p:cNvSpPr>
              <a:spLocks noChangeShapeType="1"/>
            </p:cNvSpPr>
            <p:nvPr/>
          </p:nvSpPr>
          <p:spPr bwMode="auto">
            <a:xfrm>
              <a:off x="2697151" y="2155144"/>
              <a:ext cx="530794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2" name="Rectangle 74"/>
            <p:cNvSpPr>
              <a:spLocks noChangeArrowheads="1"/>
            </p:cNvSpPr>
            <p:nvPr/>
          </p:nvSpPr>
          <p:spPr bwMode="auto">
            <a:xfrm>
              <a:off x="3962763" y="1055915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63" name="Line 75"/>
            <p:cNvSpPr>
              <a:spLocks noChangeShapeType="1"/>
            </p:cNvSpPr>
            <p:nvPr/>
          </p:nvSpPr>
          <p:spPr bwMode="auto">
            <a:xfrm>
              <a:off x="3994279" y="1163865"/>
              <a:ext cx="0" cy="41116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23850" y="312738"/>
            <a:ext cx="8385175" cy="4437063"/>
            <a:chOff x="204" y="178"/>
            <a:chExt cx="5282" cy="2795"/>
          </a:xfrm>
        </p:grpSpPr>
        <p:sp>
          <p:nvSpPr>
            <p:cNvPr id="3" name="Text Box 5"/>
            <p:cNvSpPr txBox="1">
              <a:spLocks noChangeArrowheads="1"/>
            </p:cNvSpPr>
            <p:nvPr/>
          </p:nvSpPr>
          <p:spPr bwMode="auto">
            <a:xfrm>
              <a:off x="3923" y="572"/>
              <a:ext cx="347" cy="25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60</a:t>
              </a:r>
              <a:endPara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" name="Text Box 6"/>
            <p:cNvSpPr txBox="1">
              <a:spLocks noChangeArrowheads="1"/>
            </p:cNvSpPr>
            <p:nvPr/>
          </p:nvSpPr>
          <p:spPr bwMode="auto">
            <a:xfrm>
              <a:off x="3923" y="935"/>
              <a:ext cx="336" cy="25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40</a:t>
              </a:r>
              <a:endParaRPr kumimoji="0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" name="Text Box 7"/>
            <p:cNvSpPr txBox="1">
              <a:spLocks noChangeArrowheads="1"/>
            </p:cNvSpPr>
            <p:nvPr/>
          </p:nvSpPr>
          <p:spPr bwMode="auto">
            <a:xfrm>
              <a:off x="3923" y="1298"/>
              <a:ext cx="458" cy="29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20</a:t>
              </a:r>
              <a:endParaRPr kumimoji="0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1655" y="255"/>
              <a:ext cx="704" cy="20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zh-CN" altLang="en-US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负载线</a:t>
              </a:r>
              <a:endParaRPr kumimoji="0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4760" y="2014"/>
              <a:ext cx="657" cy="32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kumimoji="0"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(V)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1101" y="178"/>
              <a:ext cx="565" cy="21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kumimoji="0" lang="en-US" altLang="zh-CN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</a:t>
              </a:r>
              <a:r>
                <a:rPr kumimoji="0" lang="en-US" altLang="zh-CN" b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mA</a:t>
              </a:r>
              <a:r>
                <a:rPr kumimoji="0" lang="en-US" altLang="zh-CN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)</a:t>
              </a:r>
              <a:endPara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3297" y="274"/>
              <a:ext cx="717" cy="25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kumimoji="0"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(µA)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2699" y="2296"/>
              <a:ext cx="661" cy="22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(V)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606" y="1015"/>
              <a:ext cx="596" cy="23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 </a:t>
              </a: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kumimoji="0"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)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204" y="1162"/>
              <a:ext cx="253" cy="21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l">
                <a:defRPr/>
              </a:pPr>
              <a:endParaRPr kumimoji="0" lang="zh-CN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1109" y="2705"/>
              <a:ext cx="375" cy="25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ωt</a:t>
              </a:r>
              <a:endParaRPr kumimoji="0" lang="en-US" altLang="zh-CN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2226" y="2647"/>
              <a:ext cx="469" cy="24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</a:t>
              </a: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。</a:t>
              </a:r>
              <a:r>
                <a:rPr kumimoji="0"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)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1610" y="1979"/>
              <a:ext cx="368" cy="3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1066" y="2209"/>
              <a:ext cx="312" cy="26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0</a:t>
              </a:r>
              <a:endPara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" name="Text Box 19"/>
            <p:cNvSpPr txBox="1">
              <a:spLocks noChangeArrowheads="1"/>
            </p:cNvSpPr>
            <p:nvPr/>
          </p:nvSpPr>
          <p:spPr bwMode="auto">
            <a:xfrm>
              <a:off x="2354" y="403"/>
              <a:ext cx="252" cy="18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80</a:t>
              </a:r>
              <a:endPara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" name="Text Box 20"/>
            <p:cNvSpPr txBox="1">
              <a:spLocks noChangeArrowheads="1"/>
            </p:cNvSpPr>
            <p:nvPr/>
          </p:nvSpPr>
          <p:spPr bwMode="auto">
            <a:xfrm>
              <a:off x="2327" y="622"/>
              <a:ext cx="132" cy="16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l">
                <a:defRPr/>
              </a:pPr>
              <a:endParaRPr kumimoji="0" lang="zh-CN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" name="Text Box 21"/>
            <p:cNvSpPr txBox="1">
              <a:spLocks noChangeArrowheads="1"/>
            </p:cNvSpPr>
            <p:nvPr/>
          </p:nvSpPr>
          <p:spPr bwMode="auto">
            <a:xfrm>
              <a:off x="2373" y="999"/>
              <a:ext cx="280" cy="21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l">
                <a:defRPr/>
              </a:pPr>
              <a:endParaRPr kumimoji="0" lang="zh-CN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" name="Text Box 22"/>
            <p:cNvSpPr txBox="1">
              <a:spLocks noChangeArrowheads="1"/>
            </p:cNvSpPr>
            <p:nvPr/>
          </p:nvSpPr>
          <p:spPr bwMode="auto">
            <a:xfrm>
              <a:off x="2519" y="1430"/>
              <a:ext cx="108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kumimoji="0"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=20 µA</a:t>
              </a:r>
              <a:endParaRPr kumimoji="0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2517" y="1933"/>
              <a:ext cx="579" cy="26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(V)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1271" y="1946"/>
              <a:ext cx="90" cy="1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   </a:t>
              </a:r>
              <a:endPara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2201" y="1298"/>
              <a:ext cx="316" cy="3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kumimoji="0"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>
              <a:off x="1990" y="1048"/>
              <a:ext cx="155" cy="2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endPara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>
              <a:off x="1817" y="663"/>
              <a:ext cx="292" cy="27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kumimoji="0"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kumimoji="0" lang="en-US" altLang="zh-CN" sz="20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817" y="1930"/>
              <a:ext cx="322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ωt</a:t>
              </a:r>
              <a:endParaRPr kumimoji="0" lang="en-US" altLang="zh-CN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8" name="Text Box 30"/>
            <p:cNvSpPr txBox="1">
              <a:spLocks noChangeArrowheads="1"/>
            </p:cNvSpPr>
            <p:nvPr/>
          </p:nvSpPr>
          <p:spPr bwMode="auto">
            <a:xfrm>
              <a:off x="263" y="1919"/>
              <a:ext cx="94" cy="15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9" name="Line 31"/>
            <p:cNvSpPr>
              <a:spLocks noChangeShapeType="1"/>
            </p:cNvSpPr>
            <p:nvPr/>
          </p:nvSpPr>
          <p:spPr bwMode="auto">
            <a:xfrm>
              <a:off x="351" y="1932"/>
              <a:ext cx="6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0" name="Line 32"/>
            <p:cNvSpPr>
              <a:spLocks noChangeShapeType="1"/>
            </p:cNvSpPr>
            <p:nvPr/>
          </p:nvSpPr>
          <p:spPr bwMode="auto">
            <a:xfrm flipV="1">
              <a:off x="351" y="459"/>
              <a:ext cx="0" cy="14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355" y="1304"/>
              <a:ext cx="166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2" name="Freeform 34"/>
            <p:cNvSpPr>
              <a:spLocks/>
            </p:cNvSpPr>
            <p:nvPr/>
          </p:nvSpPr>
          <p:spPr bwMode="auto">
            <a:xfrm>
              <a:off x="351" y="881"/>
              <a:ext cx="459" cy="824"/>
            </a:xfrm>
            <a:custGeom>
              <a:avLst/>
              <a:gdLst>
                <a:gd name="T0" fmla="*/ 0 w 1095"/>
                <a:gd name="T1" fmla="*/ 62 h 1560"/>
                <a:gd name="T2" fmla="*/ 11 w 1095"/>
                <a:gd name="T3" fmla="*/ 8 h 1560"/>
                <a:gd name="T4" fmla="*/ 24 w 1095"/>
                <a:gd name="T5" fmla="*/ 112 h 1560"/>
                <a:gd name="T6" fmla="*/ 34 w 1095"/>
                <a:gd name="T7" fmla="*/ 63 h 15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5"/>
                <a:gd name="T13" fmla="*/ 0 h 1560"/>
                <a:gd name="T14" fmla="*/ 1095 w 1095"/>
                <a:gd name="T15" fmla="*/ 1560 h 15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5" h="1560">
                  <a:moveTo>
                    <a:pt x="0" y="798"/>
                  </a:moveTo>
                  <a:cubicBezTo>
                    <a:pt x="107" y="399"/>
                    <a:pt x="215" y="0"/>
                    <a:pt x="345" y="108"/>
                  </a:cubicBezTo>
                  <a:cubicBezTo>
                    <a:pt x="475" y="216"/>
                    <a:pt x="655" y="1326"/>
                    <a:pt x="780" y="1443"/>
                  </a:cubicBezTo>
                  <a:cubicBezTo>
                    <a:pt x="905" y="1560"/>
                    <a:pt x="1042" y="918"/>
                    <a:pt x="1095" y="813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431" y="572"/>
              <a:ext cx="515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kumimoji="0" lang="en-US" altLang="zh-CN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</a:t>
              </a:r>
              <a:r>
                <a:rPr kumimoji="0" lang="en-US" altLang="zh-CN" b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mA</a:t>
              </a:r>
              <a:r>
                <a:rPr kumimoji="0" lang="en-US" altLang="zh-CN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)</a:t>
              </a:r>
              <a:endPara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>
              <a:off x="1388" y="1935"/>
              <a:ext cx="12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 flipV="1">
              <a:off x="1383" y="385"/>
              <a:ext cx="0" cy="15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Freeform 38"/>
            <p:cNvSpPr>
              <a:spLocks/>
            </p:cNvSpPr>
            <p:nvPr/>
          </p:nvSpPr>
          <p:spPr bwMode="auto">
            <a:xfrm>
              <a:off x="1460" y="836"/>
              <a:ext cx="925" cy="292"/>
            </a:xfrm>
            <a:custGeom>
              <a:avLst/>
              <a:gdLst>
                <a:gd name="T0" fmla="*/ 0 w 2025"/>
                <a:gd name="T1" fmla="*/ 43 h 555"/>
                <a:gd name="T2" fmla="*/ 15 w 2025"/>
                <a:gd name="T3" fmla="*/ 23 h 555"/>
                <a:gd name="T4" fmla="*/ 65 w 2025"/>
                <a:gd name="T5" fmla="*/ 6 h 555"/>
                <a:gd name="T6" fmla="*/ 88 w 2025"/>
                <a:gd name="T7" fmla="*/ 0 h 5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25"/>
                <a:gd name="T13" fmla="*/ 0 h 555"/>
                <a:gd name="T14" fmla="*/ 2025 w 2025"/>
                <a:gd name="T15" fmla="*/ 555 h 5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25" h="555">
                  <a:moveTo>
                    <a:pt x="0" y="555"/>
                  </a:moveTo>
                  <a:cubicBezTo>
                    <a:pt x="47" y="467"/>
                    <a:pt x="95" y="380"/>
                    <a:pt x="345" y="300"/>
                  </a:cubicBezTo>
                  <a:cubicBezTo>
                    <a:pt x="595" y="220"/>
                    <a:pt x="1220" y="125"/>
                    <a:pt x="1500" y="75"/>
                  </a:cubicBezTo>
                  <a:cubicBezTo>
                    <a:pt x="1780" y="25"/>
                    <a:pt x="1902" y="12"/>
                    <a:pt x="2025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Freeform 39"/>
            <p:cNvSpPr>
              <a:spLocks/>
            </p:cNvSpPr>
            <p:nvPr/>
          </p:nvSpPr>
          <p:spPr bwMode="auto">
            <a:xfrm>
              <a:off x="1428" y="1239"/>
              <a:ext cx="1100" cy="252"/>
            </a:xfrm>
            <a:custGeom>
              <a:avLst/>
              <a:gdLst>
                <a:gd name="T0" fmla="*/ 0 w 2190"/>
                <a:gd name="T1" fmla="*/ 24 h 555"/>
                <a:gd name="T2" fmla="*/ 22 w 2190"/>
                <a:gd name="T3" fmla="*/ 13 h 555"/>
                <a:gd name="T4" fmla="*/ 90 w 2190"/>
                <a:gd name="T5" fmla="*/ 5 h 555"/>
                <a:gd name="T6" fmla="*/ 140 w 2190"/>
                <a:gd name="T7" fmla="*/ 0 h 5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90"/>
                <a:gd name="T13" fmla="*/ 0 h 555"/>
                <a:gd name="T14" fmla="*/ 2190 w 2190"/>
                <a:gd name="T15" fmla="*/ 555 h 5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90" h="555">
                  <a:moveTo>
                    <a:pt x="0" y="555"/>
                  </a:moveTo>
                  <a:cubicBezTo>
                    <a:pt x="55" y="465"/>
                    <a:pt x="110" y="375"/>
                    <a:pt x="345" y="300"/>
                  </a:cubicBezTo>
                  <a:cubicBezTo>
                    <a:pt x="580" y="225"/>
                    <a:pt x="1103" y="155"/>
                    <a:pt x="1410" y="105"/>
                  </a:cubicBezTo>
                  <a:cubicBezTo>
                    <a:pt x="1717" y="55"/>
                    <a:pt x="1953" y="27"/>
                    <a:pt x="219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Freeform 40"/>
            <p:cNvSpPr>
              <a:spLocks/>
            </p:cNvSpPr>
            <p:nvPr/>
          </p:nvSpPr>
          <p:spPr bwMode="auto">
            <a:xfrm>
              <a:off x="1382" y="1619"/>
              <a:ext cx="1208" cy="316"/>
            </a:xfrm>
            <a:custGeom>
              <a:avLst/>
              <a:gdLst>
                <a:gd name="T0" fmla="*/ 0 w 2430"/>
                <a:gd name="T1" fmla="*/ 15 h 870"/>
                <a:gd name="T2" fmla="*/ 18 w 2430"/>
                <a:gd name="T3" fmla="*/ 5 h 870"/>
                <a:gd name="T4" fmla="*/ 72 w 2430"/>
                <a:gd name="T5" fmla="*/ 2 h 870"/>
                <a:gd name="T6" fmla="*/ 149 w 2430"/>
                <a:gd name="T7" fmla="*/ 0 h 8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30"/>
                <a:gd name="T13" fmla="*/ 0 h 870"/>
                <a:gd name="T14" fmla="*/ 2430 w 2430"/>
                <a:gd name="T15" fmla="*/ 870 h 8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30" h="870">
                  <a:moveTo>
                    <a:pt x="0" y="870"/>
                  </a:moveTo>
                  <a:cubicBezTo>
                    <a:pt x="52" y="640"/>
                    <a:pt x="105" y="410"/>
                    <a:pt x="300" y="285"/>
                  </a:cubicBezTo>
                  <a:cubicBezTo>
                    <a:pt x="495" y="160"/>
                    <a:pt x="815" y="167"/>
                    <a:pt x="1170" y="120"/>
                  </a:cubicBezTo>
                  <a:cubicBezTo>
                    <a:pt x="1525" y="73"/>
                    <a:pt x="1977" y="36"/>
                    <a:pt x="243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Line 41"/>
            <p:cNvSpPr>
              <a:spLocks noChangeShapeType="1"/>
            </p:cNvSpPr>
            <p:nvPr/>
          </p:nvSpPr>
          <p:spPr bwMode="auto">
            <a:xfrm>
              <a:off x="1558" y="430"/>
              <a:ext cx="806" cy="1504"/>
            </a:xfrm>
            <a:prstGeom prst="lin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Freeform 42"/>
            <p:cNvSpPr>
              <a:spLocks/>
            </p:cNvSpPr>
            <p:nvPr/>
          </p:nvSpPr>
          <p:spPr bwMode="auto">
            <a:xfrm>
              <a:off x="1389" y="509"/>
              <a:ext cx="894" cy="1409"/>
            </a:xfrm>
            <a:custGeom>
              <a:avLst/>
              <a:gdLst>
                <a:gd name="T0" fmla="*/ 0 w 2070"/>
                <a:gd name="T1" fmla="*/ 158 h 2925"/>
                <a:gd name="T2" fmla="*/ 9 w 2070"/>
                <a:gd name="T3" fmla="*/ 39 h 2925"/>
                <a:gd name="T4" fmla="*/ 19 w 2070"/>
                <a:gd name="T5" fmla="*/ 16 h 2925"/>
                <a:gd name="T6" fmla="*/ 36 w 2070"/>
                <a:gd name="T7" fmla="*/ 8 h 2925"/>
                <a:gd name="T8" fmla="*/ 72 w 2070"/>
                <a:gd name="T9" fmla="*/ 0 h 29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70"/>
                <a:gd name="T16" fmla="*/ 0 h 2925"/>
                <a:gd name="T17" fmla="*/ 2070 w 2070"/>
                <a:gd name="T18" fmla="*/ 2925 h 29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70" h="2925">
                  <a:moveTo>
                    <a:pt x="0" y="2925"/>
                  </a:moveTo>
                  <a:cubicBezTo>
                    <a:pt x="82" y="2041"/>
                    <a:pt x="165" y="1157"/>
                    <a:pt x="255" y="720"/>
                  </a:cubicBezTo>
                  <a:cubicBezTo>
                    <a:pt x="345" y="283"/>
                    <a:pt x="410" y="395"/>
                    <a:pt x="540" y="300"/>
                  </a:cubicBezTo>
                  <a:cubicBezTo>
                    <a:pt x="670" y="205"/>
                    <a:pt x="780" y="200"/>
                    <a:pt x="1035" y="150"/>
                  </a:cubicBezTo>
                  <a:cubicBezTo>
                    <a:pt x="1290" y="100"/>
                    <a:pt x="1680" y="50"/>
                    <a:pt x="207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Line 43"/>
            <p:cNvSpPr>
              <a:spLocks noChangeShapeType="1"/>
            </p:cNvSpPr>
            <p:nvPr/>
          </p:nvSpPr>
          <p:spPr bwMode="auto">
            <a:xfrm flipV="1">
              <a:off x="684" y="1643"/>
              <a:ext cx="1536" cy="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Line 44"/>
            <p:cNvSpPr>
              <a:spLocks noChangeShapeType="1"/>
            </p:cNvSpPr>
            <p:nvPr/>
          </p:nvSpPr>
          <p:spPr bwMode="auto">
            <a:xfrm>
              <a:off x="477" y="930"/>
              <a:ext cx="13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3" name="Line 45"/>
            <p:cNvSpPr>
              <a:spLocks noChangeShapeType="1"/>
            </p:cNvSpPr>
            <p:nvPr/>
          </p:nvSpPr>
          <p:spPr bwMode="auto">
            <a:xfrm>
              <a:off x="1389" y="2331"/>
              <a:ext cx="12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Line 46"/>
            <p:cNvSpPr>
              <a:spLocks noChangeShapeType="1"/>
            </p:cNvSpPr>
            <p:nvPr/>
          </p:nvSpPr>
          <p:spPr bwMode="auto">
            <a:xfrm>
              <a:off x="1391" y="2338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Freeform 47"/>
            <p:cNvSpPr>
              <a:spLocks/>
            </p:cNvSpPr>
            <p:nvPr/>
          </p:nvSpPr>
          <p:spPr bwMode="auto">
            <a:xfrm rot="16215434" flipH="1">
              <a:off x="1799" y="2348"/>
              <a:ext cx="447" cy="421"/>
            </a:xfrm>
            <a:custGeom>
              <a:avLst/>
              <a:gdLst>
                <a:gd name="T0" fmla="*/ 0 w 1095"/>
                <a:gd name="T1" fmla="*/ 4 h 1560"/>
                <a:gd name="T2" fmla="*/ 10 w 1095"/>
                <a:gd name="T3" fmla="*/ 1 h 1560"/>
                <a:gd name="T4" fmla="*/ 22 w 1095"/>
                <a:gd name="T5" fmla="*/ 8 h 1560"/>
                <a:gd name="T6" fmla="*/ 30 w 1095"/>
                <a:gd name="T7" fmla="*/ 4 h 15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5"/>
                <a:gd name="T13" fmla="*/ 0 h 1560"/>
                <a:gd name="T14" fmla="*/ 1095 w 1095"/>
                <a:gd name="T15" fmla="*/ 1560 h 15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5" h="1560">
                  <a:moveTo>
                    <a:pt x="0" y="798"/>
                  </a:moveTo>
                  <a:cubicBezTo>
                    <a:pt x="107" y="399"/>
                    <a:pt x="215" y="0"/>
                    <a:pt x="345" y="108"/>
                  </a:cubicBezTo>
                  <a:cubicBezTo>
                    <a:pt x="475" y="216"/>
                    <a:pt x="655" y="1326"/>
                    <a:pt x="780" y="1443"/>
                  </a:cubicBezTo>
                  <a:cubicBezTo>
                    <a:pt x="905" y="1560"/>
                    <a:pt x="1042" y="918"/>
                    <a:pt x="1095" y="813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Line 48"/>
            <p:cNvSpPr>
              <a:spLocks noChangeShapeType="1"/>
            </p:cNvSpPr>
            <p:nvPr/>
          </p:nvSpPr>
          <p:spPr bwMode="auto">
            <a:xfrm>
              <a:off x="1829" y="939"/>
              <a:ext cx="0" cy="15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" name="Line 49"/>
            <p:cNvSpPr>
              <a:spLocks noChangeShapeType="1"/>
            </p:cNvSpPr>
            <p:nvPr/>
          </p:nvSpPr>
          <p:spPr bwMode="auto">
            <a:xfrm>
              <a:off x="2032" y="1302"/>
              <a:ext cx="0" cy="14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2207" y="1643"/>
              <a:ext cx="0" cy="10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9" name="Text Box 51"/>
            <p:cNvSpPr txBox="1">
              <a:spLocks noChangeArrowheads="1"/>
            </p:cNvSpPr>
            <p:nvPr/>
          </p:nvSpPr>
          <p:spPr bwMode="auto">
            <a:xfrm>
              <a:off x="4045" y="2207"/>
              <a:ext cx="104" cy="17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endPara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0" name="Text Box 52"/>
            <p:cNvSpPr txBox="1">
              <a:spLocks noChangeArrowheads="1"/>
            </p:cNvSpPr>
            <p:nvPr/>
          </p:nvSpPr>
          <p:spPr bwMode="auto">
            <a:xfrm>
              <a:off x="4838" y="1608"/>
              <a:ext cx="648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kumimoji="0"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(V)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1" name="Text Box 53"/>
            <p:cNvSpPr txBox="1">
              <a:spLocks noChangeArrowheads="1"/>
            </p:cNvSpPr>
            <p:nvPr/>
          </p:nvSpPr>
          <p:spPr bwMode="auto">
            <a:xfrm>
              <a:off x="4359" y="1373"/>
              <a:ext cx="242" cy="25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kumimoji="0" lang="en-US" altLang="zh-CN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2" name="Text Box 54"/>
            <p:cNvSpPr txBox="1">
              <a:spLocks noChangeArrowheads="1"/>
            </p:cNvSpPr>
            <p:nvPr/>
          </p:nvSpPr>
          <p:spPr bwMode="auto">
            <a:xfrm>
              <a:off x="4422" y="1029"/>
              <a:ext cx="160" cy="25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endPara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3" name="Text Box 55"/>
            <p:cNvSpPr txBox="1">
              <a:spLocks noChangeArrowheads="1"/>
            </p:cNvSpPr>
            <p:nvPr/>
          </p:nvSpPr>
          <p:spPr bwMode="auto">
            <a:xfrm>
              <a:off x="4466" y="634"/>
              <a:ext cx="253" cy="26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kumimoji="0" lang="en-US" altLang="zh-CN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kumimoji="0"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4" name="Text Box 56"/>
            <p:cNvSpPr txBox="1">
              <a:spLocks noChangeArrowheads="1"/>
            </p:cNvSpPr>
            <p:nvPr/>
          </p:nvSpPr>
          <p:spPr bwMode="auto">
            <a:xfrm>
              <a:off x="3463" y="919"/>
              <a:ext cx="162" cy="25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5" name="Text Box 57"/>
            <p:cNvSpPr txBox="1">
              <a:spLocks noChangeArrowheads="1"/>
            </p:cNvSpPr>
            <p:nvPr/>
          </p:nvSpPr>
          <p:spPr bwMode="auto">
            <a:xfrm>
              <a:off x="3848" y="1878"/>
              <a:ext cx="34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ωt</a:t>
              </a:r>
              <a:endParaRPr kumimoji="0" lang="en-US" altLang="zh-CN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6" name="Text Box 58"/>
            <p:cNvSpPr txBox="1">
              <a:spLocks noChangeArrowheads="1"/>
            </p:cNvSpPr>
            <p:nvPr/>
          </p:nvSpPr>
          <p:spPr bwMode="auto">
            <a:xfrm>
              <a:off x="3243" y="1888"/>
              <a:ext cx="97" cy="16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endPara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7" name="Line 59"/>
            <p:cNvSpPr>
              <a:spLocks noChangeShapeType="1"/>
            </p:cNvSpPr>
            <p:nvPr/>
          </p:nvSpPr>
          <p:spPr bwMode="auto">
            <a:xfrm>
              <a:off x="3240" y="1888"/>
              <a:ext cx="7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8" name="Line 60"/>
            <p:cNvSpPr>
              <a:spLocks noChangeShapeType="1"/>
            </p:cNvSpPr>
            <p:nvPr/>
          </p:nvSpPr>
          <p:spPr bwMode="auto">
            <a:xfrm flipV="1">
              <a:off x="3240" y="387"/>
              <a:ext cx="0" cy="14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9" name="Freeform 61"/>
            <p:cNvSpPr>
              <a:spLocks/>
            </p:cNvSpPr>
            <p:nvPr/>
          </p:nvSpPr>
          <p:spPr bwMode="auto">
            <a:xfrm>
              <a:off x="3240" y="813"/>
              <a:ext cx="477" cy="836"/>
            </a:xfrm>
            <a:custGeom>
              <a:avLst/>
              <a:gdLst>
                <a:gd name="T0" fmla="*/ 0 w 1095"/>
                <a:gd name="T1" fmla="*/ 66 h 1560"/>
                <a:gd name="T2" fmla="*/ 12 w 1095"/>
                <a:gd name="T3" fmla="*/ 9 h 1560"/>
                <a:gd name="T4" fmla="*/ 28 w 1095"/>
                <a:gd name="T5" fmla="*/ 119 h 1560"/>
                <a:gd name="T6" fmla="*/ 40 w 1095"/>
                <a:gd name="T7" fmla="*/ 67 h 15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5"/>
                <a:gd name="T13" fmla="*/ 0 h 1560"/>
                <a:gd name="T14" fmla="*/ 1095 w 1095"/>
                <a:gd name="T15" fmla="*/ 1560 h 15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5" h="1560">
                  <a:moveTo>
                    <a:pt x="0" y="798"/>
                  </a:moveTo>
                  <a:cubicBezTo>
                    <a:pt x="107" y="399"/>
                    <a:pt x="215" y="0"/>
                    <a:pt x="345" y="108"/>
                  </a:cubicBezTo>
                  <a:cubicBezTo>
                    <a:pt x="475" y="216"/>
                    <a:pt x="655" y="1326"/>
                    <a:pt x="780" y="1443"/>
                  </a:cubicBezTo>
                  <a:cubicBezTo>
                    <a:pt x="905" y="1560"/>
                    <a:pt x="1042" y="918"/>
                    <a:pt x="1095" y="813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0" name="Line 62"/>
            <p:cNvSpPr>
              <a:spLocks noChangeShapeType="1"/>
            </p:cNvSpPr>
            <p:nvPr/>
          </p:nvSpPr>
          <p:spPr bwMode="auto">
            <a:xfrm>
              <a:off x="3260" y="1602"/>
              <a:ext cx="19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1" name="Line 63"/>
            <p:cNvSpPr>
              <a:spLocks noChangeShapeType="1"/>
            </p:cNvSpPr>
            <p:nvPr/>
          </p:nvSpPr>
          <p:spPr bwMode="auto">
            <a:xfrm>
              <a:off x="3240" y="1239"/>
              <a:ext cx="26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2" name="Line 64"/>
            <p:cNvSpPr>
              <a:spLocks noChangeShapeType="1"/>
            </p:cNvSpPr>
            <p:nvPr/>
          </p:nvSpPr>
          <p:spPr bwMode="auto">
            <a:xfrm>
              <a:off x="3240" y="854"/>
              <a:ext cx="33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3" name="Line 65"/>
            <p:cNvSpPr>
              <a:spLocks noChangeShapeType="1"/>
            </p:cNvSpPr>
            <p:nvPr/>
          </p:nvSpPr>
          <p:spPr bwMode="auto">
            <a:xfrm>
              <a:off x="4175" y="1907"/>
              <a:ext cx="8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4" name="Line 66"/>
            <p:cNvSpPr>
              <a:spLocks noChangeShapeType="1"/>
            </p:cNvSpPr>
            <p:nvPr/>
          </p:nvSpPr>
          <p:spPr bwMode="auto">
            <a:xfrm flipV="1">
              <a:off x="4168" y="357"/>
              <a:ext cx="0" cy="15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5" name="Freeform 67"/>
            <p:cNvSpPr>
              <a:spLocks/>
            </p:cNvSpPr>
            <p:nvPr/>
          </p:nvSpPr>
          <p:spPr bwMode="auto">
            <a:xfrm>
              <a:off x="4168" y="597"/>
              <a:ext cx="509" cy="1310"/>
            </a:xfrm>
            <a:custGeom>
              <a:avLst/>
              <a:gdLst>
                <a:gd name="T0" fmla="*/ 0 w 1170"/>
                <a:gd name="T1" fmla="*/ 201 h 2445"/>
                <a:gd name="T2" fmla="*/ 23 w 1170"/>
                <a:gd name="T3" fmla="*/ 185 h 2445"/>
                <a:gd name="T4" fmla="*/ 34 w 1170"/>
                <a:gd name="T5" fmla="*/ 111 h 2445"/>
                <a:gd name="T6" fmla="*/ 42 w 1170"/>
                <a:gd name="T7" fmla="*/ 0 h 24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70"/>
                <a:gd name="T13" fmla="*/ 0 h 2445"/>
                <a:gd name="T14" fmla="*/ 1170 w 1170"/>
                <a:gd name="T15" fmla="*/ 2445 h 24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70" h="2445">
                  <a:moveTo>
                    <a:pt x="0" y="2445"/>
                  </a:moveTo>
                  <a:cubicBezTo>
                    <a:pt x="244" y="2439"/>
                    <a:pt x="488" y="2433"/>
                    <a:pt x="645" y="2250"/>
                  </a:cubicBezTo>
                  <a:cubicBezTo>
                    <a:pt x="802" y="2067"/>
                    <a:pt x="858" y="1725"/>
                    <a:pt x="945" y="1350"/>
                  </a:cubicBezTo>
                  <a:cubicBezTo>
                    <a:pt x="1032" y="975"/>
                    <a:pt x="1133" y="225"/>
                    <a:pt x="117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6" name="Line 68"/>
            <p:cNvSpPr>
              <a:spLocks noChangeShapeType="1"/>
            </p:cNvSpPr>
            <p:nvPr/>
          </p:nvSpPr>
          <p:spPr bwMode="auto">
            <a:xfrm>
              <a:off x="3253" y="1602"/>
              <a:ext cx="12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7" name="Line 69"/>
            <p:cNvSpPr>
              <a:spLocks noChangeShapeType="1"/>
            </p:cNvSpPr>
            <p:nvPr/>
          </p:nvSpPr>
          <p:spPr bwMode="auto">
            <a:xfrm>
              <a:off x="3240" y="1242"/>
              <a:ext cx="13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Line 70"/>
            <p:cNvSpPr>
              <a:spLocks noChangeShapeType="1"/>
            </p:cNvSpPr>
            <p:nvPr/>
          </p:nvSpPr>
          <p:spPr bwMode="auto">
            <a:xfrm>
              <a:off x="3260" y="854"/>
              <a:ext cx="13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9" name="Line 71"/>
            <p:cNvSpPr>
              <a:spLocks noChangeShapeType="1"/>
            </p:cNvSpPr>
            <p:nvPr/>
          </p:nvSpPr>
          <p:spPr bwMode="auto">
            <a:xfrm>
              <a:off x="4520" y="1600"/>
              <a:ext cx="0" cy="9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Line 72"/>
            <p:cNvSpPr>
              <a:spLocks noChangeShapeType="1"/>
            </p:cNvSpPr>
            <p:nvPr/>
          </p:nvSpPr>
          <p:spPr bwMode="auto">
            <a:xfrm>
              <a:off x="4651" y="865"/>
              <a:ext cx="0" cy="15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Line 73"/>
            <p:cNvSpPr>
              <a:spLocks noChangeShapeType="1"/>
            </p:cNvSpPr>
            <p:nvPr/>
          </p:nvSpPr>
          <p:spPr bwMode="auto">
            <a:xfrm>
              <a:off x="4592" y="1253"/>
              <a:ext cx="0" cy="15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2" name="Text Box 74"/>
            <p:cNvSpPr txBox="1">
              <a:spLocks noChangeArrowheads="1"/>
            </p:cNvSpPr>
            <p:nvPr/>
          </p:nvSpPr>
          <p:spPr bwMode="auto">
            <a:xfrm>
              <a:off x="4657" y="2554"/>
              <a:ext cx="582" cy="4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</a:t>
              </a: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)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Text Box 75"/>
            <p:cNvSpPr txBox="1">
              <a:spLocks noChangeArrowheads="1"/>
            </p:cNvSpPr>
            <p:nvPr/>
          </p:nvSpPr>
          <p:spPr bwMode="auto">
            <a:xfrm>
              <a:off x="3876" y="2616"/>
              <a:ext cx="394" cy="29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ωt</a:t>
              </a:r>
              <a:endParaRPr kumimoji="0" lang="en-US" altLang="zh-CN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4" name="Text Box 76"/>
            <p:cNvSpPr txBox="1">
              <a:spLocks noChangeArrowheads="1"/>
            </p:cNvSpPr>
            <p:nvPr/>
          </p:nvSpPr>
          <p:spPr bwMode="auto">
            <a:xfrm>
              <a:off x="4241" y="1933"/>
              <a:ext cx="389" cy="46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5" name="Line 77"/>
            <p:cNvSpPr>
              <a:spLocks noChangeShapeType="1"/>
            </p:cNvSpPr>
            <p:nvPr/>
          </p:nvSpPr>
          <p:spPr bwMode="auto">
            <a:xfrm>
              <a:off x="4168" y="2312"/>
              <a:ext cx="8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Line 78"/>
            <p:cNvSpPr>
              <a:spLocks noChangeShapeType="1"/>
            </p:cNvSpPr>
            <p:nvPr/>
          </p:nvSpPr>
          <p:spPr bwMode="auto">
            <a:xfrm flipH="1">
              <a:off x="4168" y="2312"/>
              <a:ext cx="0" cy="6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Freeform 79"/>
            <p:cNvSpPr>
              <a:spLocks/>
            </p:cNvSpPr>
            <p:nvPr/>
          </p:nvSpPr>
          <p:spPr bwMode="auto">
            <a:xfrm rot="-5400000">
              <a:off x="4377" y="2463"/>
              <a:ext cx="417" cy="137"/>
            </a:xfrm>
            <a:custGeom>
              <a:avLst/>
              <a:gdLst>
                <a:gd name="T0" fmla="*/ 0 w 1095"/>
                <a:gd name="T1" fmla="*/ 0 h 1560"/>
                <a:gd name="T2" fmla="*/ 7 w 1095"/>
                <a:gd name="T3" fmla="*/ 0 h 1560"/>
                <a:gd name="T4" fmla="*/ 16 w 1095"/>
                <a:gd name="T5" fmla="*/ 0 h 1560"/>
                <a:gd name="T6" fmla="*/ 23 w 1095"/>
                <a:gd name="T7" fmla="*/ 0 h 15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5"/>
                <a:gd name="T13" fmla="*/ 0 h 1560"/>
                <a:gd name="T14" fmla="*/ 1095 w 1095"/>
                <a:gd name="T15" fmla="*/ 1560 h 15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5" h="1560">
                  <a:moveTo>
                    <a:pt x="0" y="798"/>
                  </a:moveTo>
                  <a:cubicBezTo>
                    <a:pt x="107" y="399"/>
                    <a:pt x="215" y="0"/>
                    <a:pt x="345" y="108"/>
                  </a:cubicBezTo>
                  <a:cubicBezTo>
                    <a:pt x="475" y="216"/>
                    <a:pt x="655" y="1326"/>
                    <a:pt x="780" y="1443"/>
                  </a:cubicBezTo>
                  <a:cubicBezTo>
                    <a:pt x="905" y="1560"/>
                    <a:pt x="1042" y="918"/>
                    <a:pt x="1095" y="813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none" w="sm" len="med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8" name="Text Box 80"/>
            <p:cNvSpPr txBox="1">
              <a:spLocks noChangeArrowheads="1"/>
            </p:cNvSpPr>
            <p:nvPr/>
          </p:nvSpPr>
          <p:spPr bwMode="auto">
            <a:xfrm>
              <a:off x="3760" y="1226"/>
              <a:ext cx="215" cy="18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Text Box 81"/>
            <p:cNvSpPr txBox="1">
              <a:spLocks noChangeArrowheads="1"/>
            </p:cNvSpPr>
            <p:nvPr/>
          </p:nvSpPr>
          <p:spPr bwMode="auto">
            <a:xfrm>
              <a:off x="4253" y="323"/>
              <a:ext cx="714" cy="26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kumimoji="0"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(µA)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ChangeArrowheads="1"/>
          </p:cNvSpPr>
          <p:nvPr/>
        </p:nvSpPr>
        <p:spPr bwMode="auto">
          <a:xfrm>
            <a:off x="2754313" y="457200"/>
            <a:ext cx="2857500" cy="773113"/>
          </a:xfrm>
          <a:prstGeom prst="ribbon">
            <a:avLst>
              <a:gd name="adj1" fmla="val 125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zh-CN" altLang="en-US" sz="32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小结</a:t>
            </a: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575128" y="1393599"/>
            <a:ext cx="7751763" cy="1598613"/>
            <a:chOff x="503" y="775"/>
            <a:chExt cx="4883" cy="1007"/>
          </a:xfrm>
        </p:grpSpPr>
        <p:sp>
          <p:nvSpPr>
            <p:cNvPr id="4" name="AutoShape 4"/>
            <p:cNvSpPr>
              <a:spLocks noChangeArrowheads="1"/>
            </p:cNvSpPr>
            <p:nvPr/>
          </p:nvSpPr>
          <p:spPr bwMode="auto">
            <a:xfrm>
              <a:off x="503" y="837"/>
              <a:ext cx="268" cy="155"/>
            </a:xfrm>
            <a:prstGeom prst="flowChartExtra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771" y="775"/>
              <a:ext cx="4615" cy="10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当输入交流信号时，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、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、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都含有交、直流两个分量，分别由输入信号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和直流</a:t>
              </a:r>
              <a:r>
                <a:rPr lang="zh-CN" altLang="en-US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电源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引起。</a:t>
              </a:r>
            </a:p>
          </p:txBody>
        </p:sp>
      </p:grp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575129" y="3114678"/>
            <a:ext cx="8035471" cy="1598614"/>
            <a:chOff x="503" y="1626"/>
            <a:chExt cx="5199" cy="1007"/>
          </a:xfrm>
        </p:grpSpPr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503" y="1626"/>
              <a:ext cx="268" cy="155"/>
            </a:xfrm>
            <a:prstGeom prst="flowChartExtra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771" y="1626"/>
              <a:ext cx="4931" cy="10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从波形图可以看出动态分量是在静态基础上叠加上去</a:t>
              </a:r>
              <a:r>
                <a:rPr lang="zh-CN" altLang="en-US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的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，</a:t>
              </a:r>
              <a:r>
                <a:rPr lang="zh-CN" altLang="en-US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所以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各个量的瞬时值大小在变化，但极性不变。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ChangeArrowheads="1"/>
          </p:cNvSpPr>
          <p:nvPr/>
        </p:nvSpPr>
        <p:spPr bwMode="auto">
          <a:xfrm>
            <a:off x="2754313" y="457200"/>
            <a:ext cx="2857500" cy="773113"/>
          </a:xfrm>
          <a:prstGeom prst="ribbon">
            <a:avLst>
              <a:gd name="adj1" fmla="val 125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zh-CN" altLang="en-US" sz="32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小结</a:t>
            </a:r>
          </a:p>
        </p:txBody>
      </p:sp>
      <p:grpSp>
        <p:nvGrpSpPr>
          <p:cNvPr id="9" name="Group 9"/>
          <p:cNvGrpSpPr>
            <a:grpSpLocks/>
          </p:cNvGrpSpPr>
          <p:nvPr/>
        </p:nvGrpSpPr>
        <p:grpSpPr bwMode="auto">
          <a:xfrm>
            <a:off x="564242" y="1545319"/>
            <a:ext cx="8099527" cy="2678113"/>
            <a:chOff x="503" y="2290"/>
            <a:chExt cx="4874" cy="1687"/>
          </a:xfrm>
        </p:grpSpPr>
        <p:sp>
          <p:nvSpPr>
            <p:cNvPr id="10" name="AutoShape 10"/>
            <p:cNvSpPr>
              <a:spLocks noChangeArrowheads="1"/>
            </p:cNvSpPr>
            <p:nvPr/>
          </p:nvSpPr>
          <p:spPr bwMode="auto">
            <a:xfrm>
              <a:off x="503" y="2354"/>
              <a:ext cx="268" cy="155"/>
            </a:xfrm>
            <a:prstGeom prst="flowChartExtra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751" y="2290"/>
              <a:ext cx="4626" cy="1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仅分析动态信号：</a:t>
              </a:r>
              <a:r>
                <a:rPr lang="zh-CN" altLang="en-US" sz="2800" b="1" u="sng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从相位上看，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、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zh-CN" altLang="en-US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、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同相 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, 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与 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反相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, 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且输出电压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的幅度比输入电压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大得多。</a:t>
              </a:r>
              <a:r>
                <a:rPr lang="zh-CN" altLang="en-US" sz="2800" b="1" u="sng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从瞬时极性看，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如设晶体管的发射极电位为零，则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与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电位一正一负或一高一低，两者总是相反。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ChangeArrowheads="1"/>
          </p:cNvSpPr>
          <p:nvPr/>
        </p:nvSpPr>
        <p:spPr bwMode="auto">
          <a:xfrm>
            <a:off x="2754313" y="457200"/>
            <a:ext cx="2857500" cy="773113"/>
          </a:xfrm>
          <a:prstGeom prst="ribbon">
            <a:avLst>
              <a:gd name="adj1" fmla="val 125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zh-CN" altLang="en-US" sz="32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小结</a:t>
            </a:r>
          </a:p>
        </p:txBody>
      </p:sp>
      <p:grpSp>
        <p:nvGrpSpPr>
          <p:cNvPr id="12" name="Group 12"/>
          <p:cNvGrpSpPr>
            <a:grpSpLocks/>
          </p:cNvGrpSpPr>
          <p:nvPr/>
        </p:nvGrpSpPr>
        <p:grpSpPr bwMode="auto">
          <a:xfrm>
            <a:off x="573314" y="1530129"/>
            <a:ext cx="7798784" cy="1127126"/>
            <a:chOff x="543" y="3549"/>
            <a:chExt cx="5292" cy="710"/>
          </a:xfrm>
        </p:grpSpPr>
        <p:sp>
          <p:nvSpPr>
            <p:cNvPr id="13" name="AutoShape 13"/>
            <p:cNvSpPr>
              <a:spLocks noChangeArrowheads="1"/>
            </p:cNvSpPr>
            <p:nvPr/>
          </p:nvSpPr>
          <p:spPr bwMode="auto">
            <a:xfrm>
              <a:off x="543" y="3618"/>
              <a:ext cx="280" cy="155"/>
            </a:xfrm>
            <a:prstGeom prst="flowChartExtra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20000"/>
                </a:lnSpc>
              </a:pPr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823" y="3549"/>
              <a:ext cx="5012" cy="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必须选择合适的静态工作点，否则放大器将不能正常工作。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53"/>
          <p:cNvSpPr txBox="1">
            <a:spLocks noChangeArrowheads="1"/>
          </p:cNvSpPr>
          <p:nvPr/>
        </p:nvSpPr>
        <p:spPr bwMode="auto">
          <a:xfrm>
            <a:off x="317274" y="158296"/>
            <a:ext cx="4613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b="1" dirty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静态工作点的设置</a:t>
            </a:r>
          </a:p>
        </p:txBody>
      </p:sp>
      <p:sp>
        <p:nvSpPr>
          <p:cNvPr id="27" name="Rectangle 58"/>
          <p:cNvSpPr>
            <a:spLocks noChangeArrowheads="1"/>
          </p:cNvSpPr>
          <p:nvPr/>
        </p:nvSpPr>
        <p:spPr bwMode="auto">
          <a:xfrm>
            <a:off x="2485345" y="4355193"/>
            <a:ext cx="4070345" cy="523220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点过低引起的截止失真</a:t>
            </a:r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7013484" y="3058115"/>
            <a:ext cx="834390" cy="4178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kumimoji="0" lang="en-US" altLang="zh-CN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(V)</a:t>
            </a:r>
            <a:endParaRPr kumimoji="0"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4" name="Text Box 10"/>
          <p:cNvSpPr txBox="1">
            <a:spLocks noChangeArrowheads="1"/>
          </p:cNvSpPr>
          <p:nvPr/>
        </p:nvSpPr>
        <p:spPr bwMode="auto">
          <a:xfrm>
            <a:off x="2366554" y="726395"/>
            <a:ext cx="717550" cy="27178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kumimoji="0" lang="en-US" altLang="zh-CN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</a:t>
            </a:r>
            <a:r>
              <a:rPr kumimoji="0" lang="en-US" altLang="zh-CN" b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mA</a:t>
            </a:r>
            <a:r>
              <a:rPr kumimoji="0" lang="en-US" altLang="zh-CN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</a:t>
            </a:r>
            <a:endParaRPr kumimoji="0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5155474" y="848315"/>
            <a:ext cx="910590" cy="3213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kumimoji="0"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(µA)</a:t>
            </a:r>
            <a:endParaRPr kumimoji="0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6" name="Text Box 12"/>
          <p:cNvSpPr txBox="1">
            <a:spLocks noChangeArrowheads="1"/>
          </p:cNvSpPr>
          <p:nvPr/>
        </p:nvSpPr>
        <p:spPr bwMode="auto">
          <a:xfrm>
            <a:off x="4015014" y="3405369"/>
            <a:ext cx="839470" cy="2908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kumimoji="0"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en-US" altLang="zh-CN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(V)</a:t>
            </a:r>
            <a:endParaRPr kumimoji="0"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8" name="Text Box 14"/>
          <p:cNvSpPr txBox="1">
            <a:spLocks noChangeArrowheads="1"/>
          </p:cNvSpPr>
          <p:nvPr/>
        </p:nvSpPr>
        <p:spPr bwMode="auto">
          <a:xfrm>
            <a:off x="1227364" y="1976075"/>
            <a:ext cx="321310" cy="2667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l">
              <a:defRPr/>
            </a:pPr>
            <a:endParaRPr kumimoji="0" lang="zh-CN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9" name="Text Box 15"/>
          <p:cNvSpPr txBox="1">
            <a:spLocks noChangeArrowheads="1"/>
          </p:cNvSpPr>
          <p:nvPr/>
        </p:nvSpPr>
        <p:spPr bwMode="auto">
          <a:xfrm>
            <a:off x="2376714" y="3935685"/>
            <a:ext cx="476250" cy="3289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ωt</a:t>
            </a:r>
            <a:endParaRPr kumimoji="0" lang="en-US" altLang="zh-CN" sz="24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2485389" y="3338422"/>
            <a:ext cx="366667" cy="3416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endParaRPr kumimoji="0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4" name="Text Box 20"/>
          <p:cNvSpPr txBox="1">
            <a:spLocks noChangeArrowheads="1"/>
          </p:cNvSpPr>
          <p:nvPr/>
        </p:nvSpPr>
        <p:spPr bwMode="auto">
          <a:xfrm>
            <a:off x="3923574" y="1290275"/>
            <a:ext cx="167640" cy="21209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l">
              <a:defRPr/>
            </a:pPr>
            <a:endParaRPr kumimoji="0" lang="zh-CN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5" name="Text Box 21"/>
          <p:cNvSpPr txBox="1">
            <a:spLocks noChangeArrowheads="1"/>
          </p:cNvSpPr>
          <p:nvPr/>
        </p:nvSpPr>
        <p:spPr bwMode="auto">
          <a:xfrm>
            <a:off x="3981994" y="1769065"/>
            <a:ext cx="355600" cy="27178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l">
              <a:defRPr/>
            </a:pPr>
            <a:endParaRPr kumimoji="0" lang="zh-CN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7" name="Text Box 23"/>
          <p:cNvSpPr txBox="1">
            <a:spLocks noChangeArrowheads="1"/>
          </p:cNvSpPr>
          <p:nvPr/>
        </p:nvSpPr>
        <p:spPr bwMode="auto">
          <a:xfrm>
            <a:off x="4034246" y="2911702"/>
            <a:ext cx="735330" cy="330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kumimoji="0"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en-US" altLang="zh-CN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(V)</a:t>
            </a:r>
            <a:endParaRPr kumimoji="0"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8" name="Text Box 24"/>
          <p:cNvSpPr txBox="1">
            <a:spLocks noChangeArrowheads="1"/>
          </p:cNvSpPr>
          <p:nvPr/>
        </p:nvSpPr>
        <p:spPr bwMode="auto">
          <a:xfrm>
            <a:off x="2582454" y="2971755"/>
            <a:ext cx="114300" cy="24638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   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0" name="Text Box 26"/>
          <p:cNvSpPr txBox="1">
            <a:spLocks noChangeArrowheads="1"/>
          </p:cNvSpPr>
          <p:nvPr/>
        </p:nvSpPr>
        <p:spPr bwMode="auto">
          <a:xfrm>
            <a:off x="3405776" y="2191884"/>
            <a:ext cx="196850" cy="37084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endParaRPr kumimoji="0"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2" name="Text Box 29"/>
          <p:cNvSpPr txBox="1">
            <a:spLocks noChangeArrowheads="1"/>
          </p:cNvSpPr>
          <p:nvPr/>
        </p:nvSpPr>
        <p:spPr bwMode="auto">
          <a:xfrm>
            <a:off x="2005874" y="2951435"/>
            <a:ext cx="408940" cy="32004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ωt</a:t>
            </a:r>
            <a:endParaRPr kumimoji="0" lang="en-US" altLang="zh-CN" sz="24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3" name="Text Box 30"/>
          <p:cNvSpPr txBox="1">
            <a:spLocks noChangeArrowheads="1"/>
          </p:cNvSpPr>
          <p:nvPr/>
        </p:nvSpPr>
        <p:spPr bwMode="auto">
          <a:xfrm>
            <a:off x="1302294" y="2937465"/>
            <a:ext cx="119380" cy="2019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endParaRPr kumimoji="0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4" name="Line 31"/>
          <p:cNvSpPr>
            <a:spLocks noChangeShapeType="1"/>
          </p:cNvSpPr>
          <p:nvPr/>
        </p:nvSpPr>
        <p:spPr bwMode="auto">
          <a:xfrm>
            <a:off x="1414054" y="2953975"/>
            <a:ext cx="86233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5" name="Line 32"/>
          <p:cNvSpPr>
            <a:spLocks noChangeShapeType="1"/>
          </p:cNvSpPr>
          <p:nvPr/>
        </p:nvSpPr>
        <p:spPr bwMode="auto">
          <a:xfrm flipV="1">
            <a:off x="1414054" y="1083265"/>
            <a:ext cx="0" cy="18694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6" name="Line 33"/>
          <p:cNvSpPr>
            <a:spLocks noChangeShapeType="1"/>
          </p:cNvSpPr>
          <p:nvPr/>
        </p:nvSpPr>
        <p:spPr bwMode="auto">
          <a:xfrm>
            <a:off x="1409609" y="2794590"/>
            <a:ext cx="367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8" name="Text Box 35"/>
          <p:cNvSpPr txBox="1">
            <a:spLocks noChangeArrowheads="1"/>
          </p:cNvSpPr>
          <p:nvPr/>
        </p:nvSpPr>
        <p:spPr bwMode="auto">
          <a:xfrm>
            <a:off x="1515654" y="1226775"/>
            <a:ext cx="654050" cy="24384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kumimoji="0" lang="en-US" altLang="zh-CN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</a:t>
            </a:r>
            <a:r>
              <a:rPr kumimoji="0" lang="en-US" altLang="zh-CN" b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mA</a:t>
            </a:r>
            <a:r>
              <a:rPr kumimoji="0" lang="en-US" altLang="zh-CN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</a:t>
            </a:r>
            <a:endParaRPr kumimoji="0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9" name="Line 36"/>
          <p:cNvSpPr>
            <a:spLocks noChangeShapeType="1"/>
          </p:cNvSpPr>
          <p:nvPr/>
        </p:nvSpPr>
        <p:spPr bwMode="auto">
          <a:xfrm>
            <a:off x="2731044" y="2957785"/>
            <a:ext cx="155067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0" name="Line 37"/>
          <p:cNvSpPr>
            <a:spLocks noChangeShapeType="1"/>
          </p:cNvSpPr>
          <p:nvPr/>
        </p:nvSpPr>
        <p:spPr bwMode="auto">
          <a:xfrm flipV="1">
            <a:off x="2724694" y="989285"/>
            <a:ext cx="0" cy="1968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1" name="Freeform 38"/>
          <p:cNvSpPr>
            <a:spLocks/>
          </p:cNvSpPr>
          <p:nvPr/>
        </p:nvSpPr>
        <p:spPr bwMode="auto">
          <a:xfrm>
            <a:off x="2822484" y="1562055"/>
            <a:ext cx="1174750" cy="370840"/>
          </a:xfrm>
          <a:custGeom>
            <a:avLst/>
            <a:gdLst>
              <a:gd name="T0" fmla="*/ 0 w 2025"/>
              <a:gd name="T1" fmla="*/ 43 h 555"/>
              <a:gd name="T2" fmla="*/ 15 w 2025"/>
              <a:gd name="T3" fmla="*/ 23 h 555"/>
              <a:gd name="T4" fmla="*/ 65 w 2025"/>
              <a:gd name="T5" fmla="*/ 6 h 555"/>
              <a:gd name="T6" fmla="*/ 88 w 2025"/>
              <a:gd name="T7" fmla="*/ 0 h 555"/>
              <a:gd name="T8" fmla="*/ 0 60000 65536"/>
              <a:gd name="T9" fmla="*/ 0 60000 65536"/>
              <a:gd name="T10" fmla="*/ 0 60000 65536"/>
              <a:gd name="T11" fmla="*/ 0 60000 65536"/>
              <a:gd name="T12" fmla="*/ 0 w 2025"/>
              <a:gd name="T13" fmla="*/ 0 h 555"/>
              <a:gd name="T14" fmla="*/ 2025 w 2025"/>
              <a:gd name="T15" fmla="*/ 555 h 5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25" h="555">
                <a:moveTo>
                  <a:pt x="0" y="555"/>
                </a:moveTo>
                <a:cubicBezTo>
                  <a:pt x="47" y="467"/>
                  <a:pt x="95" y="380"/>
                  <a:pt x="345" y="300"/>
                </a:cubicBezTo>
                <a:cubicBezTo>
                  <a:pt x="595" y="220"/>
                  <a:pt x="1220" y="125"/>
                  <a:pt x="1500" y="75"/>
                </a:cubicBezTo>
                <a:cubicBezTo>
                  <a:pt x="1780" y="25"/>
                  <a:pt x="1902" y="12"/>
                  <a:pt x="2025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2" name="Freeform 39"/>
          <p:cNvSpPr>
            <a:spLocks/>
          </p:cNvSpPr>
          <p:nvPr/>
        </p:nvSpPr>
        <p:spPr bwMode="auto">
          <a:xfrm>
            <a:off x="2781844" y="2073865"/>
            <a:ext cx="1397000" cy="320040"/>
          </a:xfrm>
          <a:custGeom>
            <a:avLst/>
            <a:gdLst>
              <a:gd name="T0" fmla="*/ 0 w 2190"/>
              <a:gd name="T1" fmla="*/ 24 h 555"/>
              <a:gd name="T2" fmla="*/ 22 w 2190"/>
              <a:gd name="T3" fmla="*/ 13 h 555"/>
              <a:gd name="T4" fmla="*/ 90 w 2190"/>
              <a:gd name="T5" fmla="*/ 5 h 555"/>
              <a:gd name="T6" fmla="*/ 140 w 2190"/>
              <a:gd name="T7" fmla="*/ 0 h 555"/>
              <a:gd name="T8" fmla="*/ 0 60000 65536"/>
              <a:gd name="T9" fmla="*/ 0 60000 65536"/>
              <a:gd name="T10" fmla="*/ 0 60000 65536"/>
              <a:gd name="T11" fmla="*/ 0 60000 65536"/>
              <a:gd name="T12" fmla="*/ 0 w 2190"/>
              <a:gd name="T13" fmla="*/ 0 h 555"/>
              <a:gd name="T14" fmla="*/ 2190 w 2190"/>
              <a:gd name="T15" fmla="*/ 555 h 5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90" h="555">
                <a:moveTo>
                  <a:pt x="0" y="555"/>
                </a:moveTo>
                <a:cubicBezTo>
                  <a:pt x="55" y="465"/>
                  <a:pt x="110" y="375"/>
                  <a:pt x="345" y="300"/>
                </a:cubicBezTo>
                <a:cubicBezTo>
                  <a:pt x="580" y="225"/>
                  <a:pt x="1103" y="155"/>
                  <a:pt x="1410" y="105"/>
                </a:cubicBezTo>
                <a:cubicBezTo>
                  <a:pt x="1717" y="55"/>
                  <a:pt x="1953" y="27"/>
                  <a:pt x="219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3" name="Freeform 40"/>
          <p:cNvSpPr>
            <a:spLocks/>
          </p:cNvSpPr>
          <p:nvPr/>
        </p:nvSpPr>
        <p:spPr bwMode="auto">
          <a:xfrm>
            <a:off x="2723424" y="2496911"/>
            <a:ext cx="1534160" cy="460874"/>
          </a:xfrm>
          <a:custGeom>
            <a:avLst/>
            <a:gdLst>
              <a:gd name="T0" fmla="*/ 0 w 2430"/>
              <a:gd name="T1" fmla="*/ 15 h 870"/>
              <a:gd name="T2" fmla="*/ 18 w 2430"/>
              <a:gd name="T3" fmla="*/ 5 h 870"/>
              <a:gd name="T4" fmla="*/ 72 w 2430"/>
              <a:gd name="T5" fmla="*/ 2 h 870"/>
              <a:gd name="T6" fmla="*/ 149 w 2430"/>
              <a:gd name="T7" fmla="*/ 0 h 870"/>
              <a:gd name="T8" fmla="*/ 0 60000 65536"/>
              <a:gd name="T9" fmla="*/ 0 60000 65536"/>
              <a:gd name="T10" fmla="*/ 0 60000 65536"/>
              <a:gd name="T11" fmla="*/ 0 60000 65536"/>
              <a:gd name="T12" fmla="*/ 0 w 2430"/>
              <a:gd name="T13" fmla="*/ 0 h 870"/>
              <a:gd name="T14" fmla="*/ 2430 w 2430"/>
              <a:gd name="T15" fmla="*/ 870 h 87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30" h="870">
                <a:moveTo>
                  <a:pt x="0" y="870"/>
                </a:moveTo>
                <a:cubicBezTo>
                  <a:pt x="52" y="640"/>
                  <a:pt x="105" y="410"/>
                  <a:pt x="300" y="285"/>
                </a:cubicBezTo>
                <a:cubicBezTo>
                  <a:pt x="495" y="160"/>
                  <a:pt x="815" y="167"/>
                  <a:pt x="1170" y="120"/>
                </a:cubicBezTo>
                <a:cubicBezTo>
                  <a:pt x="1525" y="73"/>
                  <a:pt x="1977" y="36"/>
                  <a:pt x="243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4" name="Line 41"/>
          <p:cNvSpPr>
            <a:spLocks noChangeShapeType="1"/>
          </p:cNvSpPr>
          <p:nvPr/>
        </p:nvSpPr>
        <p:spPr bwMode="auto">
          <a:xfrm>
            <a:off x="2732314" y="1240971"/>
            <a:ext cx="900792" cy="1704657"/>
          </a:xfrm>
          <a:prstGeom prst="line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5" name="Freeform 42"/>
          <p:cNvSpPr>
            <a:spLocks/>
          </p:cNvSpPr>
          <p:nvPr/>
        </p:nvSpPr>
        <p:spPr bwMode="auto">
          <a:xfrm>
            <a:off x="2732314" y="1146765"/>
            <a:ext cx="1135380" cy="1789430"/>
          </a:xfrm>
          <a:custGeom>
            <a:avLst/>
            <a:gdLst>
              <a:gd name="T0" fmla="*/ 0 w 2070"/>
              <a:gd name="T1" fmla="*/ 158 h 2925"/>
              <a:gd name="T2" fmla="*/ 9 w 2070"/>
              <a:gd name="T3" fmla="*/ 39 h 2925"/>
              <a:gd name="T4" fmla="*/ 19 w 2070"/>
              <a:gd name="T5" fmla="*/ 16 h 2925"/>
              <a:gd name="T6" fmla="*/ 36 w 2070"/>
              <a:gd name="T7" fmla="*/ 8 h 2925"/>
              <a:gd name="T8" fmla="*/ 72 w 2070"/>
              <a:gd name="T9" fmla="*/ 0 h 29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70"/>
              <a:gd name="T16" fmla="*/ 0 h 2925"/>
              <a:gd name="T17" fmla="*/ 2070 w 2070"/>
              <a:gd name="T18" fmla="*/ 2925 h 29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70" h="2925">
                <a:moveTo>
                  <a:pt x="0" y="2925"/>
                </a:moveTo>
                <a:cubicBezTo>
                  <a:pt x="82" y="2041"/>
                  <a:pt x="165" y="1157"/>
                  <a:pt x="255" y="720"/>
                </a:cubicBezTo>
                <a:cubicBezTo>
                  <a:pt x="345" y="283"/>
                  <a:pt x="410" y="395"/>
                  <a:pt x="540" y="300"/>
                </a:cubicBezTo>
                <a:cubicBezTo>
                  <a:pt x="670" y="205"/>
                  <a:pt x="780" y="200"/>
                  <a:pt x="1035" y="150"/>
                </a:cubicBezTo>
                <a:cubicBezTo>
                  <a:pt x="1290" y="100"/>
                  <a:pt x="1680" y="50"/>
                  <a:pt x="207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V="1">
            <a:off x="1432151" y="2563133"/>
            <a:ext cx="3636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7" name="Line 44"/>
          <p:cNvSpPr>
            <a:spLocks noChangeShapeType="1"/>
          </p:cNvSpPr>
          <p:nvPr/>
        </p:nvSpPr>
        <p:spPr bwMode="auto">
          <a:xfrm>
            <a:off x="1583599" y="2210072"/>
            <a:ext cx="349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8" name="Line 45"/>
          <p:cNvSpPr>
            <a:spLocks noChangeShapeType="1"/>
          </p:cNvSpPr>
          <p:nvPr/>
        </p:nvSpPr>
        <p:spPr bwMode="auto">
          <a:xfrm>
            <a:off x="2732314" y="3460705"/>
            <a:ext cx="158242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9" name="Line 46"/>
          <p:cNvSpPr>
            <a:spLocks noChangeShapeType="1"/>
          </p:cNvSpPr>
          <p:nvPr/>
        </p:nvSpPr>
        <p:spPr bwMode="auto">
          <a:xfrm>
            <a:off x="2734854" y="3469595"/>
            <a:ext cx="0" cy="8064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1" name="Line 48"/>
          <p:cNvSpPr>
            <a:spLocks noChangeShapeType="1"/>
          </p:cNvSpPr>
          <p:nvPr/>
        </p:nvSpPr>
        <p:spPr bwMode="auto">
          <a:xfrm>
            <a:off x="3234643" y="2215379"/>
            <a:ext cx="0" cy="144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2" name="Line 49"/>
          <p:cNvSpPr>
            <a:spLocks noChangeShapeType="1"/>
          </p:cNvSpPr>
          <p:nvPr/>
        </p:nvSpPr>
        <p:spPr bwMode="auto">
          <a:xfrm>
            <a:off x="3411491" y="2528751"/>
            <a:ext cx="0" cy="158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3" name="Line 50"/>
          <p:cNvSpPr>
            <a:spLocks noChangeShapeType="1"/>
          </p:cNvSpPr>
          <p:nvPr/>
        </p:nvSpPr>
        <p:spPr bwMode="auto">
          <a:xfrm>
            <a:off x="3543253" y="2790371"/>
            <a:ext cx="0" cy="1188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4" name="Text Box 51"/>
          <p:cNvSpPr txBox="1">
            <a:spLocks noChangeArrowheads="1"/>
          </p:cNvSpPr>
          <p:nvPr/>
        </p:nvSpPr>
        <p:spPr bwMode="auto">
          <a:xfrm>
            <a:off x="6105434" y="3303225"/>
            <a:ext cx="132080" cy="22479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5" name="Text Box 52"/>
          <p:cNvSpPr txBox="1">
            <a:spLocks noChangeArrowheads="1"/>
          </p:cNvSpPr>
          <p:nvPr/>
        </p:nvSpPr>
        <p:spPr bwMode="auto">
          <a:xfrm>
            <a:off x="7112544" y="2466295"/>
            <a:ext cx="822960" cy="3111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kumimoji="0" lang="en-US" altLang="zh-CN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(V)</a:t>
            </a:r>
            <a:endParaRPr kumimoji="0"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7" name="Text Box 54"/>
          <p:cNvSpPr txBox="1">
            <a:spLocks noChangeArrowheads="1"/>
          </p:cNvSpPr>
          <p:nvPr/>
        </p:nvSpPr>
        <p:spPr bwMode="auto">
          <a:xfrm>
            <a:off x="6484211" y="2250078"/>
            <a:ext cx="203200" cy="3251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endParaRPr kumimoji="0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9" name="Text Box 56"/>
          <p:cNvSpPr txBox="1">
            <a:spLocks noChangeArrowheads="1"/>
          </p:cNvSpPr>
          <p:nvPr/>
        </p:nvSpPr>
        <p:spPr bwMode="auto">
          <a:xfrm>
            <a:off x="5409157" y="2143715"/>
            <a:ext cx="205740" cy="3251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endParaRPr kumimoji="0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0" name="Text Box 57"/>
          <p:cNvSpPr txBox="1">
            <a:spLocks noChangeArrowheads="1"/>
          </p:cNvSpPr>
          <p:nvPr/>
        </p:nvSpPr>
        <p:spPr bwMode="auto">
          <a:xfrm>
            <a:off x="5855244" y="2885395"/>
            <a:ext cx="433070" cy="3175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ωt</a:t>
            </a:r>
            <a:endParaRPr kumimoji="0" lang="en-US" altLang="zh-CN" sz="24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1" name="Text Box 58"/>
          <p:cNvSpPr txBox="1">
            <a:spLocks noChangeArrowheads="1"/>
          </p:cNvSpPr>
          <p:nvPr/>
        </p:nvSpPr>
        <p:spPr bwMode="auto">
          <a:xfrm>
            <a:off x="5086894" y="2898095"/>
            <a:ext cx="123190" cy="20447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2" name="Line 59"/>
          <p:cNvSpPr>
            <a:spLocks noChangeShapeType="1"/>
          </p:cNvSpPr>
          <p:nvPr/>
        </p:nvSpPr>
        <p:spPr bwMode="auto">
          <a:xfrm>
            <a:off x="5083084" y="2898095"/>
            <a:ext cx="895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3" name="Line 60"/>
          <p:cNvSpPr>
            <a:spLocks noChangeShapeType="1"/>
          </p:cNvSpPr>
          <p:nvPr/>
        </p:nvSpPr>
        <p:spPr bwMode="auto">
          <a:xfrm flipV="1">
            <a:off x="5083084" y="991825"/>
            <a:ext cx="0" cy="189738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5" name="Line 62"/>
          <p:cNvSpPr>
            <a:spLocks noChangeShapeType="1"/>
          </p:cNvSpPr>
          <p:nvPr/>
        </p:nvSpPr>
        <p:spPr bwMode="auto">
          <a:xfrm>
            <a:off x="5108484" y="2534875"/>
            <a:ext cx="24130" cy="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6" name="Line 63"/>
          <p:cNvSpPr>
            <a:spLocks noChangeShapeType="1"/>
          </p:cNvSpPr>
          <p:nvPr/>
        </p:nvSpPr>
        <p:spPr bwMode="auto">
          <a:xfrm>
            <a:off x="5083084" y="2073865"/>
            <a:ext cx="33020" cy="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7" name="Line 64"/>
          <p:cNvSpPr>
            <a:spLocks noChangeShapeType="1"/>
          </p:cNvSpPr>
          <p:nvPr/>
        </p:nvSpPr>
        <p:spPr bwMode="auto">
          <a:xfrm>
            <a:off x="5083084" y="1584915"/>
            <a:ext cx="41910" cy="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8" name="Line 65"/>
          <p:cNvSpPr>
            <a:spLocks noChangeShapeType="1"/>
          </p:cNvSpPr>
          <p:nvPr/>
        </p:nvSpPr>
        <p:spPr bwMode="auto">
          <a:xfrm>
            <a:off x="6270534" y="2922225"/>
            <a:ext cx="112014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9" name="Line 66"/>
          <p:cNvSpPr>
            <a:spLocks noChangeShapeType="1"/>
          </p:cNvSpPr>
          <p:nvPr/>
        </p:nvSpPr>
        <p:spPr bwMode="auto">
          <a:xfrm flipV="1">
            <a:off x="6261644" y="953725"/>
            <a:ext cx="0" cy="19710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0" name="Freeform 67"/>
          <p:cNvSpPr>
            <a:spLocks/>
          </p:cNvSpPr>
          <p:nvPr/>
        </p:nvSpPr>
        <p:spPr bwMode="auto">
          <a:xfrm>
            <a:off x="6261644" y="1258525"/>
            <a:ext cx="646430" cy="1663700"/>
          </a:xfrm>
          <a:custGeom>
            <a:avLst/>
            <a:gdLst>
              <a:gd name="T0" fmla="*/ 0 w 1170"/>
              <a:gd name="T1" fmla="*/ 201 h 2445"/>
              <a:gd name="T2" fmla="*/ 23 w 1170"/>
              <a:gd name="T3" fmla="*/ 185 h 2445"/>
              <a:gd name="T4" fmla="*/ 34 w 1170"/>
              <a:gd name="T5" fmla="*/ 111 h 2445"/>
              <a:gd name="T6" fmla="*/ 42 w 1170"/>
              <a:gd name="T7" fmla="*/ 0 h 2445"/>
              <a:gd name="T8" fmla="*/ 0 60000 65536"/>
              <a:gd name="T9" fmla="*/ 0 60000 65536"/>
              <a:gd name="T10" fmla="*/ 0 60000 65536"/>
              <a:gd name="T11" fmla="*/ 0 60000 65536"/>
              <a:gd name="T12" fmla="*/ 0 w 1170"/>
              <a:gd name="T13" fmla="*/ 0 h 2445"/>
              <a:gd name="T14" fmla="*/ 1170 w 1170"/>
              <a:gd name="T15" fmla="*/ 2445 h 244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0" h="2445">
                <a:moveTo>
                  <a:pt x="0" y="2445"/>
                </a:moveTo>
                <a:cubicBezTo>
                  <a:pt x="244" y="2439"/>
                  <a:pt x="488" y="2433"/>
                  <a:pt x="645" y="2250"/>
                </a:cubicBezTo>
                <a:cubicBezTo>
                  <a:pt x="802" y="2067"/>
                  <a:pt x="858" y="1725"/>
                  <a:pt x="945" y="1350"/>
                </a:cubicBezTo>
                <a:cubicBezTo>
                  <a:pt x="1032" y="975"/>
                  <a:pt x="1133" y="225"/>
                  <a:pt x="117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1" name="Line 68"/>
          <p:cNvSpPr>
            <a:spLocks noChangeShapeType="1"/>
          </p:cNvSpPr>
          <p:nvPr/>
        </p:nvSpPr>
        <p:spPr bwMode="auto">
          <a:xfrm>
            <a:off x="5085307" y="2796812"/>
            <a:ext cx="151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2" name="Line 69"/>
          <p:cNvSpPr>
            <a:spLocks noChangeShapeType="1"/>
          </p:cNvSpPr>
          <p:nvPr/>
        </p:nvSpPr>
        <p:spPr bwMode="auto">
          <a:xfrm>
            <a:off x="5073559" y="2558687"/>
            <a:ext cx="162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3" name="Line 70"/>
          <p:cNvSpPr>
            <a:spLocks noChangeShapeType="1"/>
          </p:cNvSpPr>
          <p:nvPr/>
        </p:nvSpPr>
        <p:spPr bwMode="auto">
          <a:xfrm>
            <a:off x="5070384" y="2208803"/>
            <a:ext cx="169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4" name="Line 71"/>
          <p:cNvSpPr>
            <a:spLocks noChangeShapeType="1"/>
          </p:cNvSpPr>
          <p:nvPr/>
        </p:nvSpPr>
        <p:spPr bwMode="auto">
          <a:xfrm flipH="1">
            <a:off x="6618195" y="2801711"/>
            <a:ext cx="0" cy="995544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5" name="Line 72"/>
          <p:cNvSpPr>
            <a:spLocks noChangeShapeType="1"/>
          </p:cNvSpPr>
          <p:nvPr/>
        </p:nvSpPr>
        <p:spPr bwMode="auto">
          <a:xfrm>
            <a:off x="6791234" y="2249261"/>
            <a:ext cx="0" cy="132923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6" name="Line 73"/>
          <p:cNvSpPr>
            <a:spLocks noChangeShapeType="1"/>
          </p:cNvSpPr>
          <p:nvPr/>
        </p:nvSpPr>
        <p:spPr bwMode="auto">
          <a:xfrm>
            <a:off x="6702017" y="2563586"/>
            <a:ext cx="0" cy="1443854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7" name="Text Box 74"/>
          <p:cNvSpPr txBox="1">
            <a:spLocks noChangeArrowheads="1"/>
          </p:cNvSpPr>
          <p:nvPr/>
        </p:nvSpPr>
        <p:spPr bwMode="auto">
          <a:xfrm>
            <a:off x="6882674" y="3743915"/>
            <a:ext cx="739140" cy="5321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</a:t>
            </a: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</a:t>
            </a:r>
            <a:endParaRPr kumimoji="0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8" name="Text Box 75"/>
          <p:cNvSpPr txBox="1">
            <a:spLocks noChangeArrowheads="1"/>
          </p:cNvSpPr>
          <p:nvPr/>
        </p:nvSpPr>
        <p:spPr bwMode="auto">
          <a:xfrm>
            <a:off x="5890804" y="3822655"/>
            <a:ext cx="500380" cy="3683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ωt</a:t>
            </a:r>
            <a:endParaRPr kumimoji="0" lang="en-US" altLang="zh-CN" sz="24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0" name="Line 77"/>
          <p:cNvSpPr>
            <a:spLocks noChangeShapeType="1"/>
          </p:cNvSpPr>
          <p:nvPr/>
        </p:nvSpPr>
        <p:spPr bwMode="auto">
          <a:xfrm>
            <a:off x="6261644" y="3436575"/>
            <a:ext cx="111887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1" name="Line 78"/>
          <p:cNvSpPr>
            <a:spLocks noChangeShapeType="1"/>
          </p:cNvSpPr>
          <p:nvPr/>
        </p:nvSpPr>
        <p:spPr bwMode="auto">
          <a:xfrm flipH="1">
            <a:off x="6261644" y="3436575"/>
            <a:ext cx="0" cy="7772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2" name="Freeform 79"/>
          <p:cNvSpPr>
            <a:spLocks/>
          </p:cNvSpPr>
          <p:nvPr/>
        </p:nvSpPr>
        <p:spPr bwMode="auto">
          <a:xfrm rot="16200000">
            <a:off x="6436586" y="3628345"/>
            <a:ext cx="529590" cy="173990"/>
          </a:xfrm>
          <a:custGeom>
            <a:avLst/>
            <a:gdLst>
              <a:gd name="T0" fmla="*/ 0 w 1095"/>
              <a:gd name="T1" fmla="*/ 0 h 1560"/>
              <a:gd name="T2" fmla="*/ 7 w 1095"/>
              <a:gd name="T3" fmla="*/ 0 h 1560"/>
              <a:gd name="T4" fmla="*/ 16 w 1095"/>
              <a:gd name="T5" fmla="*/ 0 h 1560"/>
              <a:gd name="T6" fmla="*/ 23 w 1095"/>
              <a:gd name="T7" fmla="*/ 0 h 1560"/>
              <a:gd name="T8" fmla="*/ 0 60000 65536"/>
              <a:gd name="T9" fmla="*/ 0 60000 65536"/>
              <a:gd name="T10" fmla="*/ 0 60000 65536"/>
              <a:gd name="T11" fmla="*/ 0 60000 65536"/>
              <a:gd name="T12" fmla="*/ 0 w 1095"/>
              <a:gd name="T13" fmla="*/ 0 h 1560"/>
              <a:gd name="T14" fmla="*/ 1095 w 1095"/>
              <a:gd name="T15" fmla="*/ 1560 h 1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95" h="1560">
                <a:moveTo>
                  <a:pt x="0" y="798"/>
                </a:moveTo>
                <a:cubicBezTo>
                  <a:pt x="107" y="399"/>
                  <a:pt x="215" y="0"/>
                  <a:pt x="345" y="108"/>
                </a:cubicBezTo>
                <a:cubicBezTo>
                  <a:pt x="475" y="216"/>
                  <a:pt x="655" y="1326"/>
                  <a:pt x="780" y="1443"/>
                </a:cubicBezTo>
                <a:cubicBezTo>
                  <a:pt x="905" y="1560"/>
                  <a:pt x="1042" y="918"/>
                  <a:pt x="1095" y="813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3" name="Text Box 80"/>
          <p:cNvSpPr txBox="1">
            <a:spLocks noChangeArrowheads="1"/>
          </p:cNvSpPr>
          <p:nvPr/>
        </p:nvSpPr>
        <p:spPr bwMode="auto">
          <a:xfrm>
            <a:off x="5805396" y="2271668"/>
            <a:ext cx="273050" cy="2400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endParaRPr kumimoji="0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4" name="Text Box 81"/>
          <p:cNvSpPr txBox="1">
            <a:spLocks noChangeArrowheads="1"/>
          </p:cNvSpPr>
          <p:nvPr/>
        </p:nvSpPr>
        <p:spPr bwMode="auto">
          <a:xfrm>
            <a:off x="6369594" y="910545"/>
            <a:ext cx="906780" cy="33147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kumimoji="0" lang="en-US" altLang="zh-CN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(µA)</a:t>
            </a:r>
            <a:endParaRPr kumimoji="0"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5098596" y="2215130"/>
            <a:ext cx="619125" cy="591344"/>
            <a:chOff x="4619625" y="2204244"/>
            <a:chExt cx="619125" cy="591344"/>
          </a:xfrm>
        </p:grpSpPr>
        <p:sp>
          <p:nvSpPr>
            <p:cNvPr id="105" name="任意多边形 104"/>
            <p:cNvSpPr/>
            <p:nvPr/>
          </p:nvSpPr>
          <p:spPr>
            <a:xfrm>
              <a:off x="4619625" y="2204244"/>
              <a:ext cx="323850" cy="343694"/>
            </a:xfrm>
            <a:custGeom>
              <a:avLst/>
              <a:gdLst>
                <a:gd name="connsiteX0" fmla="*/ 0 w 323850"/>
                <a:gd name="connsiteY0" fmla="*/ 338931 h 343694"/>
                <a:gd name="connsiteX1" fmla="*/ 166688 w 323850"/>
                <a:gd name="connsiteY1" fmla="*/ 794 h 343694"/>
                <a:gd name="connsiteX2" fmla="*/ 323850 w 323850"/>
                <a:gd name="connsiteY2" fmla="*/ 343694 h 34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3850" h="343694">
                  <a:moveTo>
                    <a:pt x="0" y="338931"/>
                  </a:moveTo>
                  <a:cubicBezTo>
                    <a:pt x="56356" y="169465"/>
                    <a:pt x="112713" y="0"/>
                    <a:pt x="166688" y="794"/>
                  </a:cubicBezTo>
                  <a:cubicBezTo>
                    <a:pt x="220663" y="1588"/>
                    <a:pt x="272256" y="172641"/>
                    <a:pt x="323850" y="343694"/>
                  </a:cubicBezTo>
                </a:path>
              </a:pathLst>
            </a:cu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任意多边形 106"/>
            <p:cNvSpPr/>
            <p:nvPr/>
          </p:nvSpPr>
          <p:spPr>
            <a:xfrm>
              <a:off x="4938712" y="2543175"/>
              <a:ext cx="300038" cy="252413"/>
            </a:xfrm>
            <a:custGeom>
              <a:avLst/>
              <a:gdLst>
                <a:gd name="connsiteX0" fmla="*/ 0 w 300038"/>
                <a:gd name="connsiteY0" fmla="*/ 0 h 263525"/>
                <a:gd name="connsiteX1" fmla="*/ 76200 w 300038"/>
                <a:gd name="connsiteY1" fmla="*/ 214313 h 263525"/>
                <a:gd name="connsiteX2" fmla="*/ 214313 w 300038"/>
                <a:gd name="connsiteY2" fmla="*/ 228600 h 263525"/>
                <a:gd name="connsiteX3" fmla="*/ 300038 w 300038"/>
                <a:gd name="connsiteY3" fmla="*/ 4763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263525">
                  <a:moveTo>
                    <a:pt x="0" y="0"/>
                  </a:moveTo>
                  <a:cubicBezTo>
                    <a:pt x="20240" y="88106"/>
                    <a:pt x="40481" y="176213"/>
                    <a:pt x="76200" y="214313"/>
                  </a:cubicBezTo>
                  <a:cubicBezTo>
                    <a:pt x="111919" y="252413"/>
                    <a:pt x="177007" y="263525"/>
                    <a:pt x="214313" y="228600"/>
                  </a:cubicBezTo>
                  <a:cubicBezTo>
                    <a:pt x="251619" y="193675"/>
                    <a:pt x="275828" y="99219"/>
                    <a:pt x="300038" y="4763"/>
                  </a:cubicBezTo>
                </a:path>
              </a:pathLst>
            </a:cu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8" name="Freeform 40"/>
          <p:cNvSpPr>
            <a:spLocks/>
          </p:cNvSpPr>
          <p:nvPr/>
        </p:nvSpPr>
        <p:spPr bwMode="auto">
          <a:xfrm>
            <a:off x="2728187" y="2894104"/>
            <a:ext cx="1534160" cy="45719"/>
          </a:xfrm>
          <a:custGeom>
            <a:avLst/>
            <a:gdLst>
              <a:gd name="T0" fmla="*/ 0 w 2430"/>
              <a:gd name="T1" fmla="*/ 15 h 870"/>
              <a:gd name="T2" fmla="*/ 18 w 2430"/>
              <a:gd name="T3" fmla="*/ 5 h 870"/>
              <a:gd name="T4" fmla="*/ 72 w 2430"/>
              <a:gd name="T5" fmla="*/ 2 h 870"/>
              <a:gd name="T6" fmla="*/ 149 w 2430"/>
              <a:gd name="T7" fmla="*/ 0 h 870"/>
              <a:gd name="T8" fmla="*/ 0 60000 65536"/>
              <a:gd name="T9" fmla="*/ 0 60000 65536"/>
              <a:gd name="T10" fmla="*/ 0 60000 65536"/>
              <a:gd name="T11" fmla="*/ 0 60000 65536"/>
              <a:gd name="T12" fmla="*/ 0 w 2430"/>
              <a:gd name="T13" fmla="*/ 0 h 870"/>
              <a:gd name="T14" fmla="*/ 2430 w 2430"/>
              <a:gd name="T15" fmla="*/ 870 h 87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30" h="870">
                <a:moveTo>
                  <a:pt x="0" y="870"/>
                </a:moveTo>
                <a:cubicBezTo>
                  <a:pt x="52" y="640"/>
                  <a:pt x="105" y="410"/>
                  <a:pt x="300" y="285"/>
                </a:cubicBezTo>
                <a:cubicBezTo>
                  <a:pt x="495" y="160"/>
                  <a:pt x="815" y="167"/>
                  <a:pt x="1170" y="120"/>
                </a:cubicBezTo>
                <a:cubicBezTo>
                  <a:pt x="1525" y="73"/>
                  <a:pt x="1977" y="36"/>
                  <a:pt x="243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3227613" y="3461942"/>
            <a:ext cx="319486" cy="623889"/>
            <a:chOff x="4357291" y="3695304"/>
            <a:chExt cx="577058" cy="623889"/>
          </a:xfrm>
        </p:grpSpPr>
        <p:sp>
          <p:nvSpPr>
            <p:cNvPr id="111" name="任意多边形 110"/>
            <p:cNvSpPr/>
            <p:nvPr/>
          </p:nvSpPr>
          <p:spPr>
            <a:xfrm rot="16200000">
              <a:off x="4367213" y="3685382"/>
              <a:ext cx="323850" cy="343694"/>
            </a:xfrm>
            <a:custGeom>
              <a:avLst/>
              <a:gdLst>
                <a:gd name="connsiteX0" fmla="*/ 0 w 323850"/>
                <a:gd name="connsiteY0" fmla="*/ 338931 h 343694"/>
                <a:gd name="connsiteX1" fmla="*/ 166688 w 323850"/>
                <a:gd name="connsiteY1" fmla="*/ 794 h 343694"/>
                <a:gd name="connsiteX2" fmla="*/ 323850 w 323850"/>
                <a:gd name="connsiteY2" fmla="*/ 343694 h 34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3850" h="343694">
                  <a:moveTo>
                    <a:pt x="0" y="338931"/>
                  </a:moveTo>
                  <a:cubicBezTo>
                    <a:pt x="56356" y="169465"/>
                    <a:pt x="112713" y="0"/>
                    <a:pt x="166688" y="794"/>
                  </a:cubicBezTo>
                  <a:cubicBezTo>
                    <a:pt x="220663" y="1588"/>
                    <a:pt x="272256" y="172641"/>
                    <a:pt x="323850" y="343694"/>
                  </a:cubicBezTo>
                </a:path>
              </a:pathLst>
            </a:cu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任意多边形 111"/>
            <p:cNvSpPr/>
            <p:nvPr/>
          </p:nvSpPr>
          <p:spPr>
            <a:xfrm rot="16200000">
              <a:off x="4658124" y="4042967"/>
              <a:ext cx="300038" cy="252413"/>
            </a:xfrm>
            <a:custGeom>
              <a:avLst/>
              <a:gdLst>
                <a:gd name="connsiteX0" fmla="*/ 0 w 300038"/>
                <a:gd name="connsiteY0" fmla="*/ 0 h 263525"/>
                <a:gd name="connsiteX1" fmla="*/ 76200 w 300038"/>
                <a:gd name="connsiteY1" fmla="*/ 214313 h 263525"/>
                <a:gd name="connsiteX2" fmla="*/ 214313 w 300038"/>
                <a:gd name="connsiteY2" fmla="*/ 228600 h 263525"/>
                <a:gd name="connsiteX3" fmla="*/ 300038 w 300038"/>
                <a:gd name="connsiteY3" fmla="*/ 4763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263525">
                  <a:moveTo>
                    <a:pt x="0" y="0"/>
                  </a:moveTo>
                  <a:cubicBezTo>
                    <a:pt x="20240" y="88106"/>
                    <a:pt x="40481" y="176213"/>
                    <a:pt x="76200" y="214313"/>
                  </a:cubicBezTo>
                  <a:cubicBezTo>
                    <a:pt x="111919" y="252413"/>
                    <a:pt x="177007" y="263525"/>
                    <a:pt x="214313" y="228600"/>
                  </a:cubicBezTo>
                  <a:cubicBezTo>
                    <a:pt x="251619" y="193675"/>
                    <a:pt x="275828" y="99219"/>
                    <a:pt x="300038" y="4763"/>
                  </a:cubicBezTo>
                </a:path>
              </a:pathLst>
            </a:cu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1431471" y="2219892"/>
            <a:ext cx="619125" cy="591344"/>
            <a:chOff x="4619625" y="2204244"/>
            <a:chExt cx="619125" cy="591344"/>
          </a:xfrm>
        </p:grpSpPr>
        <p:sp>
          <p:nvSpPr>
            <p:cNvPr id="195" name="任意多边形 194"/>
            <p:cNvSpPr/>
            <p:nvPr/>
          </p:nvSpPr>
          <p:spPr>
            <a:xfrm>
              <a:off x="4619625" y="2204244"/>
              <a:ext cx="323850" cy="343694"/>
            </a:xfrm>
            <a:custGeom>
              <a:avLst/>
              <a:gdLst>
                <a:gd name="connsiteX0" fmla="*/ 0 w 323850"/>
                <a:gd name="connsiteY0" fmla="*/ 338931 h 343694"/>
                <a:gd name="connsiteX1" fmla="*/ 166688 w 323850"/>
                <a:gd name="connsiteY1" fmla="*/ 794 h 343694"/>
                <a:gd name="connsiteX2" fmla="*/ 323850 w 323850"/>
                <a:gd name="connsiteY2" fmla="*/ 343694 h 34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3850" h="343694">
                  <a:moveTo>
                    <a:pt x="0" y="338931"/>
                  </a:moveTo>
                  <a:cubicBezTo>
                    <a:pt x="56356" y="169465"/>
                    <a:pt x="112713" y="0"/>
                    <a:pt x="166688" y="794"/>
                  </a:cubicBezTo>
                  <a:cubicBezTo>
                    <a:pt x="220663" y="1588"/>
                    <a:pt x="272256" y="172641"/>
                    <a:pt x="323850" y="343694"/>
                  </a:cubicBezTo>
                </a:path>
              </a:pathLst>
            </a:cu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任意多边形 195"/>
            <p:cNvSpPr/>
            <p:nvPr/>
          </p:nvSpPr>
          <p:spPr>
            <a:xfrm>
              <a:off x="4938712" y="2543175"/>
              <a:ext cx="300038" cy="252413"/>
            </a:xfrm>
            <a:custGeom>
              <a:avLst/>
              <a:gdLst>
                <a:gd name="connsiteX0" fmla="*/ 0 w 300038"/>
                <a:gd name="connsiteY0" fmla="*/ 0 h 263525"/>
                <a:gd name="connsiteX1" fmla="*/ 76200 w 300038"/>
                <a:gd name="connsiteY1" fmla="*/ 214313 h 263525"/>
                <a:gd name="connsiteX2" fmla="*/ 214313 w 300038"/>
                <a:gd name="connsiteY2" fmla="*/ 228600 h 263525"/>
                <a:gd name="connsiteX3" fmla="*/ 300038 w 300038"/>
                <a:gd name="connsiteY3" fmla="*/ 4763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263525">
                  <a:moveTo>
                    <a:pt x="0" y="0"/>
                  </a:moveTo>
                  <a:cubicBezTo>
                    <a:pt x="20240" y="88106"/>
                    <a:pt x="40481" y="176213"/>
                    <a:pt x="76200" y="214313"/>
                  </a:cubicBezTo>
                  <a:cubicBezTo>
                    <a:pt x="111919" y="252413"/>
                    <a:pt x="177007" y="263525"/>
                    <a:pt x="214313" y="228600"/>
                  </a:cubicBezTo>
                  <a:cubicBezTo>
                    <a:pt x="251619" y="193675"/>
                    <a:pt x="275828" y="99219"/>
                    <a:pt x="300038" y="4763"/>
                  </a:cubicBezTo>
                </a:path>
              </a:pathLst>
            </a:cu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Box 51"/>
          <p:cNvSpPr txBox="1">
            <a:spLocks noChangeArrowheads="1"/>
          </p:cNvSpPr>
          <p:nvPr/>
        </p:nvSpPr>
        <p:spPr bwMode="auto">
          <a:xfrm>
            <a:off x="2405742" y="4339318"/>
            <a:ext cx="4038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点过高引起的饱和失真</a:t>
            </a:r>
          </a:p>
        </p:txBody>
      </p:sp>
      <p:sp>
        <p:nvSpPr>
          <p:cNvPr id="141" name="Text Box 9"/>
          <p:cNvSpPr txBox="1">
            <a:spLocks noChangeArrowheads="1"/>
          </p:cNvSpPr>
          <p:nvPr/>
        </p:nvSpPr>
        <p:spPr bwMode="auto">
          <a:xfrm>
            <a:off x="7013484" y="3058115"/>
            <a:ext cx="834390" cy="4178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kumimoji="0" lang="en-US" altLang="zh-CN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(V)</a:t>
            </a:r>
            <a:endParaRPr kumimoji="0"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42" name="Text Box 10"/>
          <p:cNvSpPr txBox="1">
            <a:spLocks noChangeArrowheads="1"/>
          </p:cNvSpPr>
          <p:nvPr/>
        </p:nvSpPr>
        <p:spPr bwMode="auto">
          <a:xfrm>
            <a:off x="2366554" y="726395"/>
            <a:ext cx="717550" cy="27178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kumimoji="0" lang="en-US" altLang="zh-CN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</a:t>
            </a:r>
            <a:r>
              <a:rPr kumimoji="0" lang="en-US" altLang="zh-CN" b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mA</a:t>
            </a:r>
            <a:r>
              <a:rPr kumimoji="0" lang="en-US" altLang="zh-CN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</a:t>
            </a:r>
            <a:endParaRPr kumimoji="0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43" name="Text Box 11"/>
          <p:cNvSpPr txBox="1">
            <a:spLocks noChangeArrowheads="1"/>
          </p:cNvSpPr>
          <p:nvPr/>
        </p:nvSpPr>
        <p:spPr bwMode="auto">
          <a:xfrm>
            <a:off x="4970417" y="619715"/>
            <a:ext cx="910590" cy="3213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kumimoji="0"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(µA)</a:t>
            </a:r>
            <a:endParaRPr kumimoji="0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44" name="Text Box 12"/>
          <p:cNvSpPr txBox="1">
            <a:spLocks noChangeArrowheads="1"/>
          </p:cNvSpPr>
          <p:nvPr/>
        </p:nvSpPr>
        <p:spPr bwMode="auto">
          <a:xfrm>
            <a:off x="4015014" y="3405369"/>
            <a:ext cx="839470" cy="2908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kumimoji="0"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en-US" altLang="zh-CN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(V)</a:t>
            </a:r>
            <a:endParaRPr kumimoji="0"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45" name="Text Box 14"/>
          <p:cNvSpPr txBox="1">
            <a:spLocks noChangeArrowheads="1"/>
          </p:cNvSpPr>
          <p:nvPr/>
        </p:nvSpPr>
        <p:spPr bwMode="auto">
          <a:xfrm>
            <a:off x="1227364" y="1976075"/>
            <a:ext cx="321310" cy="2667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l">
              <a:defRPr/>
            </a:pPr>
            <a:endParaRPr kumimoji="0" lang="zh-CN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46" name="Text Box 15"/>
          <p:cNvSpPr txBox="1">
            <a:spLocks noChangeArrowheads="1"/>
          </p:cNvSpPr>
          <p:nvPr/>
        </p:nvSpPr>
        <p:spPr bwMode="auto">
          <a:xfrm>
            <a:off x="2376714" y="3935685"/>
            <a:ext cx="476250" cy="3289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ωt</a:t>
            </a:r>
            <a:endParaRPr kumimoji="0" lang="en-US" altLang="zh-CN" sz="24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47" name="Text Box 18"/>
          <p:cNvSpPr txBox="1">
            <a:spLocks noChangeArrowheads="1"/>
          </p:cNvSpPr>
          <p:nvPr/>
        </p:nvSpPr>
        <p:spPr bwMode="auto">
          <a:xfrm>
            <a:off x="2485389" y="3338422"/>
            <a:ext cx="366667" cy="3416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endParaRPr kumimoji="0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0" name="Text Box 23"/>
          <p:cNvSpPr txBox="1">
            <a:spLocks noChangeArrowheads="1"/>
          </p:cNvSpPr>
          <p:nvPr/>
        </p:nvSpPr>
        <p:spPr bwMode="auto">
          <a:xfrm>
            <a:off x="4034246" y="2911702"/>
            <a:ext cx="735330" cy="330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kumimoji="0"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en-US" altLang="zh-CN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(V)</a:t>
            </a:r>
            <a:endParaRPr kumimoji="0"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1" name="Text Box 24"/>
          <p:cNvSpPr txBox="1">
            <a:spLocks noChangeArrowheads="1"/>
          </p:cNvSpPr>
          <p:nvPr/>
        </p:nvSpPr>
        <p:spPr bwMode="auto">
          <a:xfrm>
            <a:off x="2582454" y="2971755"/>
            <a:ext cx="114300" cy="24638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   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2" name="Text Box 26"/>
          <p:cNvSpPr txBox="1">
            <a:spLocks noChangeArrowheads="1"/>
          </p:cNvSpPr>
          <p:nvPr/>
        </p:nvSpPr>
        <p:spPr bwMode="auto">
          <a:xfrm>
            <a:off x="3215276" y="1768022"/>
            <a:ext cx="196850" cy="37084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endParaRPr kumimoji="0"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3" name="Text Box 29"/>
          <p:cNvSpPr txBox="1">
            <a:spLocks noChangeArrowheads="1"/>
          </p:cNvSpPr>
          <p:nvPr/>
        </p:nvSpPr>
        <p:spPr bwMode="auto">
          <a:xfrm>
            <a:off x="2005874" y="2951435"/>
            <a:ext cx="408940" cy="32004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ωt</a:t>
            </a:r>
            <a:endParaRPr kumimoji="0" lang="en-US" altLang="zh-CN" sz="24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4" name="Text Box 30"/>
          <p:cNvSpPr txBox="1">
            <a:spLocks noChangeArrowheads="1"/>
          </p:cNvSpPr>
          <p:nvPr/>
        </p:nvSpPr>
        <p:spPr bwMode="auto">
          <a:xfrm>
            <a:off x="1302294" y="2937465"/>
            <a:ext cx="119380" cy="2019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endParaRPr kumimoji="0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5" name="Line 31"/>
          <p:cNvSpPr>
            <a:spLocks noChangeShapeType="1"/>
          </p:cNvSpPr>
          <p:nvPr/>
        </p:nvSpPr>
        <p:spPr bwMode="auto">
          <a:xfrm>
            <a:off x="1414054" y="2953975"/>
            <a:ext cx="86233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6" name="Line 32"/>
          <p:cNvSpPr>
            <a:spLocks noChangeShapeType="1"/>
          </p:cNvSpPr>
          <p:nvPr/>
        </p:nvSpPr>
        <p:spPr bwMode="auto">
          <a:xfrm flipV="1">
            <a:off x="1414054" y="1083265"/>
            <a:ext cx="0" cy="18694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7" name="Line 33"/>
          <p:cNvSpPr>
            <a:spLocks noChangeShapeType="1"/>
          </p:cNvSpPr>
          <p:nvPr/>
        </p:nvSpPr>
        <p:spPr bwMode="auto">
          <a:xfrm>
            <a:off x="1419135" y="2227852"/>
            <a:ext cx="1836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8" name="Text Box 35"/>
          <p:cNvSpPr txBox="1">
            <a:spLocks noChangeArrowheads="1"/>
          </p:cNvSpPr>
          <p:nvPr/>
        </p:nvSpPr>
        <p:spPr bwMode="auto">
          <a:xfrm>
            <a:off x="1515654" y="1226775"/>
            <a:ext cx="654050" cy="24384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kumimoji="0" lang="en-US" altLang="zh-CN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</a:t>
            </a:r>
            <a:r>
              <a:rPr kumimoji="0" lang="en-US" altLang="zh-CN" b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mA</a:t>
            </a:r>
            <a:r>
              <a:rPr kumimoji="0" lang="en-US" altLang="zh-CN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</a:t>
            </a:r>
            <a:endParaRPr kumimoji="0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9" name="Line 36"/>
          <p:cNvSpPr>
            <a:spLocks noChangeShapeType="1"/>
          </p:cNvSpPr>
          <p:nvPr/>
        </p:nvSpPr>
        <p:spPr bwMode="auto">
          <a:xfrm>
            <a:off x="2731044" y="2957785"/>
            <a:ext cx="155067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0" name="Line 37"/>
          <p:cNvSpPr>
            <a:spLocks noChangeShapeType="1"/>
          </p:cNvSpPr>
          <p:nvPr/>
        </p:nvSpPr>
        <p:spPr bwMode="auto">
          <a:xfrm flipV="1">
            <a:off x="2724694" y="989285"/>
            <a:ext cx="0" cy="1968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1" name="Freeform 38"/>
          <p:cNvSpPr>
            <a:spLocks/>
          </p:cNvSpPr>
          <p:nvPr/>
        </p:nvSpPr>
        <p:spPr bwMode="auto">
          <a:xfrm>
            <a:off x="2822484" y="1628775"/>
            <a:ext cx="1174750" cy="304120"/>
          </a:xfrm>
          <a:custGeom>
            <a:avLst/>
            <a:gdLst>
              <a:gd name="T0" fmla="*/ 0 w 2025"/>
              <a:gd name="T1" fmla="*/ 43 h 555"/>
              <a:gd name="T2" fmla="*/ 15 w 2025"/>
              <a:gd name="T3" fmla="*/ 23 h 555"/>
              <a:gd name="T4" fmla="*/ 65 w 2025"/>
              <a:gd name="T5" fmla="*/ 6 h 555"/>
              <a:gd name="T6" fmla="*/ 88 w 2025"/>
              <a:gd name="T7" fmla="*/ 0 h 555"/>
              <a:gd name="T8" fmla="*/ 0 60000 65536"/>
              <a:gd name="T9" fmla="*/ 0 60000 65536"/>
              <a:gd name="T10" fmla="*/ 0 60000 65536"/>
              <a:gd name="T11" fmla="*/ 0 60000 65536"/>
              <a:gd name="T12" fmla="*/ 0 w 2025"/>
              <a:gd name="T13" fmla="*/ 0 h 555"/>
              <a:gd name="T14" fmla="*/ 2025 w 2025"/>
              <a:gd name="T15" fmla="*/ 555 h 5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25" h="555">
                <a:moveTo>
                  <a:pt x="0" y="555"/>
                </a:moveTo>
                <a:cubicBezTo>
                  <a:pt x="47" y="467"/>
                  <a:pt x="95" y="380"/>
                  <a:pt x="345" y="300"/>
                </a:cubicBezTo>
                <a:cubicBezTo>
                  <a:pt x="595" y="220"/>
                  <a:pt x="1220" y="125"/>
                  <a:pt x="1500" y="75"/>
                </a:cubicBezTo>
                <a:cubicBezTo>
                  <a:pt x="1780" y="25"/>
                  <a:pt x="1902" y="12"/>
                  <a:pt x="2025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2" name="Freeform 39"/>
          <p:cNvSpPr>
            <a:spLocks/>
          </p:cNvSpPr>
          <p:nvPr/>
        </p:nvSpPr>
        <p:spPr bwMode="auto">
          <a:xfrm>
            <a:off x="2781844" y="2133599"/>
            <a:ext cx="1397000" cy="260305"/>
          </a:xfrm>
          <a:custGeom>
            <a:avLst/>
            <a:gdLst>
              <a:gd name="T0" fmla="*/ 0 w 2190"/>
              <a:gd name="T1" fmla="*/ 24 h 555"/>
              <a:gd name="T2" fmla="*/ 22 w 2190"/>
              <a:gd name="T3" fmla="*/ 13 h 555"/>
              <a:gd name="T4" fmla="*/ 90 w 2190"/>
              <a:gd name="T5" fmla="*/ 5 h 555"/>
              <a:gd name="T6" fmla="*/ 140 w 2190"/>
              <a:gd name="T7" fmla="*/ 0 h 555"/>
              <a:gd name="T8" fmla="*/ 0 60000 65536"/>
              <a:gd name="T9" fmla="*/ 0 60000 65536"/>
              <a:gd name="T10" fmla="*/ 0 60000 65536"/>
              <a:gd name="T11" fmla="*/ 0 60000 65536"/>
              <a:gd name="T12" fmla="*/ 0 w 2190"/>
              <a:gd name="T13" fmla="*/ 0 h 555"/>
              <a:gd name="T14" fmla="*/ 2190 w 2190"/>
              <a:gd name="T15" fmla="*/ 555 h 5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90" h="555">
                <a:moveTo>
                  <a:pt x="0" y="555"/>
                </a:moveTo>
                <a:cubicBezTo>
                  <a:pt x="55" y="465"/>
                  <a:pt x="110" y="375"/>
                  <a:pt x="345" y="300"/>
                </a:cubicBezTo>
                <a:cubicBezTo>
                  <a:pt x="580" y="225"/>
                  <a:pt x="1103" y="155"/>
                  <a:pt x="1410" y="105"/>
                </a:cubicBezTo>
                <a:cubicBezTo>
                  <a:pt x="1717" y="55"/>
                  <a:pt x="1953" y="27"/>
                  <a:pt x="219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3" name="Freeform 40"/>
          <p:cNvSpPr>
            <a:spLocks/>
          </p:cNvSpPr>
          <p:nvPr/>
        </p:nvSpPr>
        <p:spPr bwMode="auto">
          <a:xfrm>
            <a:off x="2723424" y="2609849"/>
            <a:ext cx="1534160" cy="347935"/>
          </a:xfrm>
          <a:custGeom>
            <a:avLst/>
            <a:gdLst>
              <a:gd name="T0" fmla="*/ 0 w 2430"/>
              <a:gd name="T1" fmla="*/ 15 h 870"/>
              <a:gd name="T2" fmla="*/ 18 w 2430"/>
              <a:gd name="T3" fmla="*/ 5 h 870"/>
              <a:gd name="T4" fmla="*/ 72 w 2430"/>
              <a:gd name="T5" fmla="*/ 2 h 870"/>
              <a:gd name="T6" fmla="*/ 149 w 2430"/>
              <a:gd name="T7" fmla="*/ 0 h 870"/>
              <a:gd name="T8" fmla="*/ 0 60000 65536"/>
              <a:gd name="T9" fmla="*/ 0 60000 65536"/>
              <a:gd name="T10" fmla="*/ 0 60000 65536"/>
              <a:gd name="T11" fmla="*/ 0 60000 65536"/>
              <a:gd name="T12" fmla="*/ 0 w 2430"/>
              <a:gd name="T13" fmla="*/ 0 h 870"/>
              <a:gd name="T14" fmla="*/ 2430 w 2430"/>
              <a:gd name="T15" fmla="*/ 870 h 87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30" h="870">
                <a:moveTo>
                  <a:pt x="0" y="870"/>
                </a:moveTo>
                <a:cubicBezTo>
                  <a:pt x="52" y="640"/>
                  <a:pt x="105" y="410"/>
                  <a:pt x="300" y="285"/>
                </a:cubicBezTo>
                <a:cubicBezTo>
                  <a:pt x="495" y="160"/>
                  <a:pt x="815" y="167"/>
                  <a:pt x="1170" y="120"/>
                </a:cubicBezTo>
                <a:cubicBezTo>
                  <a:pt x="1525" y="73"/>
                  <a:pt x="1977" y="36"/>
                  <a:pt x="243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4" name="Line 41"/>
          <p:cNvSpPr>
            <a:spLocks noChangeShapeType="1"/>
          </p:cNvSpPr>
          <p:nvPr/>
        </p:nvSpPr>
        <p:spPr bwMode="auto">
          <a:xfrm>
            <a:off x="2732314" y="1240971"/>
            <a:ext cx="900792" cy="1704657"/>
          </a:xfrm>
          <a:prstGeom prst="line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5" name="Freeform 42"/>
          <p:cNvSpPr>
            <a:spLocks/>
          </p:cNvSpPr>
          <p:nvPr/>
        </p:nvSpPr>
        <p:spPr bwMode="auto">
          <a:xfrm>
            <a:off x="2732314" y="1081088"/>
            <a:ext cx="1135380" cy="1855107"/>
          </a:xfrm>
          <a:custGeom>
            <a:avLst/>
            <a:gdLst>
              <a:gd name="T0" fmla="*/ 0 w 2070"/>
              <a:gd name="T1" fmla="*/ 158 h 2925"/>
              <a:gd name="T2" fmla="*/ 9 w 2070"/>
              <a:gd name="T3" fmla="*/ 39 h 2925"/>
              <a:gd name="T4" fmla="*/ 19 w 2070"/>
              <a:gd name="T5" fmla="*/ 16 h 2925"/>
              <a:gd name="T6" fmla="*/ 36 w 2070"/>
              <a:gd name="T7" fmla="*/ 8 h 2925"/>
              <a:gd name="T8" fmla="*/ 72 w 2070"/>
              <a:gd name="T9" fmla="*/ 0 h 29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70"/>
              <a:gd name="T16" fmla="*/ 0 h 2925"/>
              <a:gd name="T17" fmla="*/ 2070 w 2070"/>
              <a:gd name="T18" fmla="*/ 2925 h 29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70" h="2925">
                <a:moveTo>
                  <a:pt x="0" y="2925"/>
                </a:moveTo>
                <a:cubicBezTo>
                  <a:pt x="82" y="2041"/>
                  <a:pt x="165" y="1157"/>
                  <a:pt x="255" y="720"/>
                </a:cubicBezTo>
                <a:cubicBezTo>
                  <a:pt x="345" y="283"/>
                  <a:pt x="410" y="395"/>
                  <a:pt x="540" y="300"/>
                </a:cubicBezTo>
                <a:cubicBezTo>
                  <a:pt x="670" y="205"/>
                  <a:pt x="780" y="200"/>
                  <a:pt x="1035" y="150"/>
                </a:cubicBezTo>
                <a:cubicBezTo>
                  <a:pt x="1290" y="100"/>
                  <a:pt x="1680" y="50"/>
                  <a:pt x="207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6" name="Line 43"/>
          <p:cNvSpPr>
            <a:spLocks noChangeShapeType="1"/>
          </p:cNvSpPr>
          <p:nvPr/>
        </p:nvSpPr>
        <p:spPr bwMode="auto">
          <a:xfrm flipV="1">
            <a:off x="1427388" y="1791608"/>
            <a:ext cx="1584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7" name="Line 44"/>
          <p:cNvSpPr>
            <a:spLocks noChangeShapeType="1"/>
          </p:cNvSpPr>
          <p:nvPr/>
        </p:nvSpPr>
        <p:spPr bwMode="auto">
          <a:xfrm>
            <a:off x="1416913" y="1519510"/>
            <a:ext cx="144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8" name="Line 45"/>
          <p:cNvSpPr>
            <a:spLocks noChangeShapeType="1"/>
          </p:cNvSpPr>
          <p:nvPr/>
        </p:nvSpPr>
        <p:spPr bwMode="auto">
          <a:xfrm>
            <a:off x="2732314" y="3460705"/>
            <a:ext cx="158242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9" name="Line 46"/>
          <p:cNvSpPr>
            <a:spLocks noChangeShapeType="1"/>
          </p:cNvSpPr>
          <p:nvPr/>
        </p:nvSpPr>
        <p:spPr bwMode="auto">
          <a:xfrm>
            <a:off x="2734854" y="3469595"/>
            <a:ext cx="0" cy="8064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0" name="Line 48"/>
          <p:cNvSpPr>
            <a:spLocks noChangeShapeType="1"/>
          </p:cNvSpPr>
          <p:nvPr/>
        </p:nvSpPr>
        <p:spPr bwMode="auto">
          <a:xfrm>
            <a:off x="2886980" y="1539104"/>
            <a:ext cx="0" cy="212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1" name="Line 49"/>
          <p:cNvSpPr>
            <a:spLocks noChangeShapeType="1"/>
          </p:cNvSpPr>
          <p:nvPr/>
        </p:nvSpPr>
        <p:spPr bwMode="auto">
          <a:xfrm>
            <a:off x="3030492" y="1800089"/>
            <a:ext cx="0" cy="230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2" name="Line 50"/>
          <p:cNvSpPr>
            <a:spLocks noChangeShapeType="1"/>
          </p:cNvSpPr>
          <p:nvPr/>
        </p:nvSpPr>
        <p:spPr bwMode="auto">
          <a:xfrm>
            <a:off x="3252741" y="2256972"/>
            <a:ext cx="0" cy="1692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3" name="Text Box 51"/>
          <p:cNvSpPr txBox="1">
            <a:spLocks noChangeArrowheads="1"/>
          </p:cNvSpPr>
          <p:nvPr/>
        </p:nvSpPr>
        <p:spPr bwMode="auto">
          <a:xfrm>
            <a:off x="6105434" y="3303225"/>
            <a:ext cx="132080" cy="22479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4" name="Text Box 52"/>
          <p:cNvSpPr txBox="1">
            <a:spLocks noChangeArrowheads="1"/>
          </p:cNvSpPr>
          <p:nvPr/>
        </p:nvSpPr>
        <p:spPr bwMode="auto">
          <a:xfrm>
            <a:off x="7112544" y="2466295"/>
            <a:ext cx="822960" cy="3111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kumimoji="0" lang="en-US" altLang="zh-CN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(V)</a:t>
            </a:r>
            <a:endParaRPr kumimoji="0"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5" name="Text Box 54"/>
          <p:cNvSpPr txBox="1">
            <a:spLocks noChangeArrowheads="1"/>
          </p:cNvSpPr>
          <p:nvPr/>
        </p:nvSpPr>
        <p:spPr bwMode="auto">
          <a:xfrm>
            <a:off x="6588986" y="2254841"/>
            <a:ext cx="203200" cy="3251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endParaRPr kumimoji="0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6" name="Text Box 56"/>
          <p:cNvSpPr txBox="1">
            <a:spLocks noChangeArrowheads="1"/>
          </p:cNvSpPr>
          <p:nvPr/>
        </p:nvSpPr>
        <p:spPr bwMode="auto">
          <a:xfrm>
            <a:off x="5394869" y="1115015"/>
            <a:ext cx="205740" cy="3251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endParaRPr kumimoji="0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7" name="Text Box 57"/>
          <p:cNvSpPr txBox="1">
            <a:spLocks noChangeArrowheads="1"/>
          </p:cNvSpPr>
          <p:nvPr/>
        </p:nvSpPr>
        <p:spPr bwMode="auto">
          <a:xfrm>
            <a:off x="5855244" y="2885395"/>
            <a:ext cx="433070" cy="3175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ωt</a:t>
            </a:r>
            <a:endParaRPr kumimoji="0" lang="en-US" altLang="zh-CN" sz="24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8" name="Text Box 58"/>
          <p:cNvSpPr txBox="1">
            <a:spLocks noChangeArrowheads="1"/>
          </p:cNvSpPr>
          <p:nvPr/>
        </p:nvSpPr>
        <p:spPr bwMode="auto">
          <a:xfrm>
            <a:off x="5086894" y="2898095"/>
            <a:ext cx="123190" cy="20447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9" name="Line 59"/>
          <p:cNvSpPr>
            <a:spLocks noChangeShapeType="1"/>
          </p:cNvSpPr>
          <p:nvPr/>
        </p:nvSpPr>
        <p:spPr bwMode="auto">
          <a:xfrm>
            <a:off x="5083084" y="2898095"/>
            <a:ext cx="895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0" name="Line 60"/>
          <p:cNvSpPr>
            <a:spLocks noChangeShapeType="1"/>
          </p:cNvSpPr>
          <p:nvPr/>
        </p:nvSpPr>
        <p:spPr bwMode="auto">
          <a:xfrm flipV="1">
            <a:off x="5083084" y="991825"/>
            <a:ext cx="0" cy="189738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1" name="Line 62"/>
          <p:cNvSpPr>
            <a:spLocks noChangeShapeType="1"/>
          </p:cNvSpPr>
          <p:nvPr/>
        </p:nvSpPr>
        <p:spPr bwMode="auto">
          <a:xfrm>
            <a:off x="5108484" y="2534875"/>
            <a:ext cx="24130" cy="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2" name="Line 63"/>
          <p:cNvSpPr>
            <a:spLocks noChangeShapeType="1"/>
          </p:cNvSpPr>
          <p:nvPr/>
        </p:nvSpPr>
        <p:spPr bwMode="auto">
          <a:xfrm>
            <a:off x="5083084" y="2073865"/>
            <a:ext cx="33020" cy="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3" name="Line 64"/>
          <p:cNvSpPr>
            <a:spLocks noChangeShapeType="1"/>
          </p:cNvSpPr>
          <p:nvPr/>
        </p:nvSpPr>
        <p:spPr bwMode="auto">
          <a:xfrm>
            <a:off x="5083084" y="1584915"/>
            <a:ext cx="41910" cy="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4" name="Line 65"/>
          <p:cNvSpPr>
            <a:spLocks noChangeShapeType="1"/>
          </p:cNvSpPr>
          <p:nvPr/>
        </p:nvSpPr>
        <p:spPr bwMode="auto">
          <a:xfrm>
            <a:off x="6270534" y="2922225"/>
            <a:ext cx="112014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5" name="Line 66"/>
          <p:cNvSpPr>
            <a:spLocks noChangeShapeType="1"/>
          </p:cNvSpPr>
          <p:nvPr/>
        </p:nvSpPr>
        <p:spPr bwMode="auto">
          <a:xfrm flipV="1">
            <a:off x="6261644" y="953725"/>
            <a:ext cx="0" cy="19710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6" name="Freeform 67"/>
          <p:cNvSpPr>
            <a:spLocks/>
          </p:cNvSpPr>
          <p:nvPr/>
        </p:nvSpPr>
        <p:spPr bwMode="auto">
          <a:xfrm>
            <a:off x="6261644" y="990600"/>
            <a:ext cx="661670" cy="1931625"/>
          </a:xfrm>
          <a:custGeom>
            <a:avLst/>
            <a:gdLst>
              <a:gd name="T0" fmla="*/ 0 w 1170"/>
              <a:gd name="T1" fmla="*/ 201 h 2445"/>
              <a:gd name="T2" fmla="*/ 23 w 1170"/>
              <a:gd name="T3" fmla="*/ 185 h 2445"/>
              <a:gd name="T4" fmla="*/ 34 w 1170"/>
              <a:gd name="T5" fmla="*/ 111 h 2445"/>
              <a:gd name="T6" fmla="*/ 42 w 1170"/>
              <a:gd name="T7" fmla="*/ 0 h 2445"/>
              <a:gd name="T8" fmla="*/ 0 60000 65536"/>
              <a:gd name="T9" fmla="*/ 0 60000 65536"/>
              <a:gd name="T10" fmla="*/ 0 60000 65536"/>
              <a:gd name="T11" fmla="*/ 0 60000 65536"/>
              <a:gd name="T12" fmla="*/ 0 w 1170"/>
              <a:gd name="T13" fmla="*/ 0 h 2445"/>
              <a:gd name="T14" fmla="*/ 1170 w 1170"/>
              <a:gd name="T15" fmla="*/ 2445 h 244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0" h="2445">
                <a:moveTo>
                  <a:pt x="0" y="2445"/>
                </a:moveTo>
                <a:cubicBezTo>
                  <a:pt x="244" y="2439"/>
                  <a:pt x="488" y="2433"/>
                  <a:pt x="645" y="2250"/>
                </a:cubicBezTo>
                <a:cubicBezTo>
                  <a:pt x="802" y="2067"/>
                  <a:pt x="858" y="1725"/>
                  <a:pt x="945" y="1350"/>
                </a:cubicBezTo>
                <a:cubicBezTo>
                  <a:pt x="1032" y="975"/>
                  <a:pt x="1133" y="225"/>
                  <a:pt x="117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7" name="Line 68"/>
          <p:cNvSpPr>
            <a:spLocks noChangeShapeType="1"/>
          </p:cNvSpPr>
          <p:nvPr/>
        </p:nvSpPr>
        <p:spPr bwMode="auto">
          <a:xfrm>
            <a:off x="5115243" y="1631359"/>
            <a:ext cx="1764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8" name="Line 69"/>
          <p:cNvSpPr>
            <a:spLocks noChangeShapeType="1"/>
          </p:cNvSpPr>
          <p:nvPr/>
        </p:nvSpPr>
        <p:spPr bwMode="auto">
          <a:xfrm>
            <a:off x="5083083" y="2134824"/>
            <a:ext cx="169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9" name="Line 70"/>
          <p:cNvSpPr>
            <a:spLocks noChangeShapeType="1"/>
          </p:cNvSpPr>
          <p:nvPr/>
        </p:nvSpPr>
        <p:spPr bwMode="auto">
          <a:xfrm>
            <a:off x="5096918" y="1077369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0" name="Line 71"/>
          <p:cNvSpPr>
            <a:spLocks noChangeShapeType="1"/>
          </p:cNvSpPr>
          <p:nvPr/>
        </p:nvSpPr>
        <p:spPr bwMode="auto">
          <a:xfrm flipH="1">
            <a:off x="6789644" y="2138363"/>
            <a:ext cx="0" cy="1728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1" name="Line 72"/>
          <p:cNvSpPr>
            <a:spLocks noChangeShapeType="1"/>
          </p:cNvSpPr>
          <p:nvPr/>
        </p:nvSpPr>
        <p:spPr bwMode="auto">
          <a:xfrm flipH="1">
            <a:off x="6919819" y="1095373"/>
            <a:ext cx="0" cy="248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2" name="Line 73"/>
          <p:cNvSpPr>
            <a:spLocks noChangeShapeType="1"/>
          </p:cNvSpPr>
          <p:nvPr/>
        </p:nvSpPr>
        <p:spPr bwMode="auto">
          <a:xfrm flipH="1">
            <a:off x="6859179" y="1624013"/>
            <a:ext cx="0" cy="234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3" name="Text Box 74"/>
          <p:cNvSpPr txBox="1">
            <a:spLocks noChangeArrowheads="1"/>
          </p:cNvSpPr>
          <p:nvPr/>
        </p:nvSpPr>
        <p:spPr bwMode="auto">
          <a:xfrm>
            <a:off x="6882674" y="3743915"/>
            <a:ext cx="739140" cy="5321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</a:t>
            </a: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</a:t>
            </a:r>
            <a:endParaRPr kumimoji="0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4" name="Text Box 75"/>
          <p:cNvSpPr txBox="1">
            <a:spLocks noChangeArrowheads="1"/>
          </p:cNvSpPr>
          <p:nvPr/>
        </p:nvSpPr>
        <p:spPr bwMode="auto">
          <a:xfrm>
            <a:off x="5890804" y="3822655"/>
            <a:ext cx="500380" cy="3683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ωt</a:t>
            </a:r>
            <a:endParaRPr kumimoji="0" lang="en-US" altLang="zh-CN" sz="24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5" name="Line 77"/>
          <p:cNvSpPr>
            <a:spLocks noChangeShapeType="1"/>
          </p:cNvSpPr>
          <p:nvPr/>
        </p:nvSpPr>
        <p:spPr bwMode="auto">
          <a:xfrm>
            <a:off x="6261644" y="3436575"/>
            <a:ext cx="111887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6" name="Line 78"/>
          <p:cNvSpPr>
            <a:spLocks noChangeShapeType="1"/>
          </p:cNvSpPr>
          <p:nvPr/>
        </p:nvSpPr>
        <p:spPr bwMode="auto">
          <a:xfrm flipH="1">
            <a:off x="6261644" y="3436575"/>
            <a:ext cx="0" cy="7772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7" name="Freeform 79"/>
          <p:cNvSpPr>
            <a:spLocks/>
          </p:cNvSpPr>
          <p:nvPr/>
        </p:nvSpPr>
        <p:spPr bwMode="auto">
          <a:xfrm rot="16200000">
            <a:off x="6585699" y="3645921"/>
            <a:ext cx="529590" cy="129314"/>
          </a:xfrm>
          <a:custGeom>
            <a:avLst/>
            <a:gdLst>
              <a:gd name="T0" fmla="*/ 0 w 1095"/>
              <a:gd name="T1" fmla="*/ 0 h 1560"/>
              <a:gd name="T2" fmla="*/ 7 w 1095"/>
              <a:gd name="T3" fmla="*/ 0 h 1560"/>
              <a:gd name="T4" fmla="*/ 16 w 1095"/>
              <a:gd name="T5" fmla="*/ 0 h 1560"/>
              <a:gd name="T6" fmla="*/ 23 w 1095"/>
              <a:gd name="T7" fmla="*/ 0 h 1560"/>
              <a:gd name="T8" fmla="*/ 0 60000 65536"/>
              <a:gd name="T9" fmla="*/ 0 60000 65536"/>
              <a:gd name="T10" fmla="*/ 0 60000 65536"/>
              <a:gd name="T11" fmla="*/ 0 60000 65536"/>
              <a:gd name="T12" fmla="*/ 0 w 1095"/>
              <a:gd name="T13" fmla="*/ 0 h 1560"/>
              <a:gd name="T14" fmla="*/ 1095 w 1095"/>
              <a:gd name="T15" fmla="*/ 1560 h 1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95" h="1560">
                <a:moveTo>
                  <a:pt x="0" y="798"/>
                </a:moveTo>
                <a:cubicBezTo>
                  <a:pt x="107" y="399"/>
                  <a:pt x="215" y="0"/>
                  <a:pt x="345" y="108"/>
                </a:cubicBezTo>
                <a:cubicBezTo>
                  <a:pt x="475" y="216"/>
                  <a:pt x="655" y="1326"/>
                  <a:pt x="780" y="1443"/>
                </a:cubicBezTo>
                <a:cubicBezTo>
                  <a:pt x="905" y="1560"/>
                  <a:pt x="1042" y="918"/>
                  <a:pt x="1095" y="813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8" name="Text Box 80"/>
          <p:cNvSpPr txBox="1">
            <a:spLocks noChangeArrowheads="1"/>
          </p:cNvSpPr>
          <p:nvPr/>
        </p:nvSpPr>
        <p:spPr bwMode="auto">
          <a:xfrm>
            <a:off x="5876833" y="1357268"/>
            <a:ext cx="273050" cy="2400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endParaRPr kumimoji="0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9" name="Text Box 81"/>
          <p:cNvSpPr txBox="1">
            <a:spLocks noChangeArrowheads="1"/>
          </p:cNvSpPr>
          <p:nvPr/>
        </p:nvSpPr>
        <p:spPr bwMode="auto">
          <a:xfrm>
            <a:off x="6326052" y="605745"/>
            <a:ext cx="906780" cy="33147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kumimoji="0"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kumimoji="0" lang="en-US" altLang="zh-CN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(µA)</a:t>
            </a:r>
            <a:endParaRPr kumimoji="0"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03" name="Freeform 40"/>
          <p:cNvSpPr>
            <a:spLocks/>
          </p:cNvSpPr>
          <p:nvPr/>
        </p:nvSpPr>
        <p:spPr bwMode="auto">
          <a:xfrm>
            <a:off x="2728187" y="2894104"/>
            <a:ext cx="1534160" cy="45719"/>
          </a:xfrm>
          <a:custGeom>
            <a:avLst/>
            <a:gdLst>
              <a:gd name="T0" fmla="*/ 0 w 2430"/>
              <a:gd name="T1" fmla="*/ 15 h 870"/>
              <a:gd name="T2" fmla="*/ 18 w 2430"/>
              <a:gd name="T3" fmla="*/ 5 h 870"/>
              <a:gd name="T4" fmla="*/ 72 w 2430"/>
              <a:gd name="T5" fmla="*/ 2 h 870"/>
              <a:gd name="T6" fmla="*/ 149 w 2430"/>
              <a:gd name="T7" fmla="*/ 0 h 870"/>
              <a:gd name="T8" fmla="*/ 0 60000 65536"/>
              <a:gd name="T9" fmla="*/ 0 60000 65536"/>
              <a:gd name="T10" fmla="*/ 0 60000 65536"/>
              <a:gd name="T11" fmla="*/ 0 60000 65536"/>
              <a:gd name="T12" fmla="*/ 0 w 2430"/>
              <a:gd name="T13" fmla="*/ 0 h 870"/>
              <a:gd name="T14" fmla="*/ 2430 w 2430"/>
              <a:gd name="T15" fmla="*/ 870 h 87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30" h="870">
                <a:moveTo>
                  <a:pt x="0" y="870"/>
                </a:moveTo>
                <a:cubicBezTo>
                  <a:pt x="52" y="640"/>
                  <a:pt x="105" y="410"/>
                  <a:pt x="300" y="285"/>
                </a:cubicBezTo>
                <a:cubicBezTo>
                  <a:pt x="495" y="160"/>
                  <a:pt x="815" y="167"/>
                  <a:pt x="1170" y="120"/>
                </a:cubicBezTo>
                <a:cubicBezTo>
                  <a:pt x="1525" y="73"/>
                  <a:pt x="1977" y="36"/>
                  <a:pt x="243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2888240" y="3471468"/>
            <a:ext cx="355023" cy="605235"/>
            <a:chOff x="3407352" y="3785793"/>
            <a:chExt cx="315345" cy="605235"/>
          </a:xfrm>
        </p:grpSpPr>
        <p:sp>
          <p:nvSpPr>
            <p:cNvPr id="205" name="任意多边形 204"/>
            <p:cNvSpPr/>
            <p:nvPr/>
          </p:nvSpPr>
          <p:spPr>
            <a:xfrm rot="5400000">
              <a:off x="3472575" y="4140906"/>
              <a:ext cx="309959" cy="190285"/>
            </a:xfrm>
            <a:custGeom>
              <a:avLst/>
              <a:gdLst>
                <a:gd name="connsiteX0" fmla="*/ 0 w 323850"/>
                <a:gd name="connsiteY0" fmla="*/ 338931 h 343694"/>
                <a:gd name="connsiteX1" fmla="*/ 166688 w 323850"/>
                <a:gd name="connsiteY1" fmla="*/ 794 h 343694"/>
                <a:gd name="connsiteX2" fmla="*/ 323850 w 323850"/>
                <a:gd name="connsiteY2" fmla="*/ 343694 h 34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3850" h="343694">
                  <a:moveTo>
                    <a:pt x="0" y="338931"/>
                  </a:moveTo>
                  <a:cubicBezTo>
                    <a:pt x="56356" y="169465"/>
                    <a:pt x="112713" y="0"/>
                    <a:pt x="166688" y="794"/>
                  </a:cubicBezTo>
                  <a:cubicBezTo>
                    <a:pt x="220663" y="1588"/>
                    <a:pt x="272256" y="172641"/>
                    <a:pt x="323850" y="343694"/>
                  </a:cubicBezTo>
                </a:path>
              </a:pathLst>
            </a:cu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任意多边形 205"/>
            <p:cNvSpPr/>
            <p:nvPr/>
          </p:nvSpPr>
          <p:spPr>
            <a:xfrm rot="5400000">
              <a:off x="3327207" y="3865938"/>
              <a:ext cx="300038" cy="139748"/>
            </a:xfrm>
            <a:custGeom>
              <a:avLst/>
              <a:gdLst>
                <a:gd name="connsiteX0" fmla="*/ 0 w 300038"/>
                <a:gd name="connsiteY0" fmla="*/ 0 h 263525"/>
                <a:gd name="connsiteX1" fmla="*/ 76200 w 300038"/>
                <a:gd name="connsiteY1" fmla="*/ 214313 h 263525"/>
                <a:gd name="connsiteX2" fmla="*/ 214313 w 300038"/>
                <a:gd name="connsiteY2" fmla="*/ 228600 h 263525"/>
                <a:gd name="connsiteX3" fmla="*/ 300038 w 300038"/>
                <a:gd name="connsiteY3" fmla="*/ 4763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263525">
                  <a:moveTo>
                    <a:pt x="0" y="0"/>
                  </a:moveTo>
                  <a:cubicBezTo>
                    <a:pt x="20240" y="88106"/>
                    <a:pt x="40481" y="176213"/>
                    <a:pt x="76200" y="214313"/>
                  </a:cubicBezTo>
                  <a:cubicBezTo>
                    <a:pt x="111919" y="252413"/>
                    <a:pt x="177007" y="263525"/>
                    <a:pt x="214313" y="228600"/>
                  </a:cubicBezTo>
                  <a:cubicBezTo>
                    <a:pt x="251619" y="193675"/>
                    <a:pt x="275828" y="99219"/>
                    <a:pt x="300038" y="4763"/>
                  </a:cubicBezTo>
                </a:path>
              </a:pathLst>
            </a:cu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7" name="组合 206"/>
          <p:cNvGrpSpPr/>
          <p:nvPr/>
        </p:nvGrpSpPr>
        <p:grpSpPr>
          <a:xfrm rot="10800000">
            <a:off x="1417181" y="1505516"/>
            <a:ext cx="623888" cy="704283"/>
            <a:chOff x="4614862" y="2204244"/>
            <a:chExt cx="623888" cy="591344"/>
          </a:xfrm>
        </p:grpSpPr>
        <p:sp>
          <p:nvSpPr>
            <p:cNvPr id="208" name="任意多边形 207"/>
            <p:cNvSpPr/>
            <p:nvPr/>
          </p:nvSpPr>
          <p:spPr>
            <a:xfrm>
              <a:off x="4614862" y="2204244"/>
              <a:ext cx="323850" cy="343694"/>
            </a:xfrm>
            <a:custGeom>
              <a:avLst/>
              <a:gdLst>
                <a:gd name="connsiteX0" fmla="*/ 0 w 323850"/>
                <a:gd name="connsiteY0" fmla="*/ 338931 h 343694"/>
                <a:gd name="connsiteX1" fmla="*/ 166688 w 323850"/>
                <a:gd name="connsiteY1" fmla="*/ 794 h 343694"/>
                <a:gd name="connsiteX2" fmla="*/ 323850 w 323850"/>
                <a:gd name="connsiteY2" fmla="*/ 343694 h 34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3850" h="343694">
                  <a:moveTo>
                    <a:pt x="0" y="338931"/>
                  </a:moveTo>
                  <a:cubicBezTo>
                    <a:pt x="56356" y="169465"/>
                    <a:pt x="112713" y="0"/>
                    <a:pt x="166688" y="794"/>
                  </a:cubicBezTo>
                  <a:cubicBezTo>
                    <a:pt x="220663" y="1588"/>
                    <a:pt x="272256" y="172641"/>
                    <a:pt x="323850" y="343694"/>
                  </a:cubicBezTo>
                </a:path>
              </a:pathLst>
            </a:cu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任意多边形 208"/>
            <p:cNvSpPr/>
            <p:nvPr/>
          </p:nvSpPr>
          <p:spPr>
            <a:xfrm>
              <a:off x="4938712" y="2543175"/>
              <a:ext cx="300038" cy="252413"/>
            </a:xfrm>
            <a:custGeom>
              <a:avLst/>
              <a:gdLst>
                <a:gd name="connsiteX0" fmla="*/ 0 w 300038"/>
                <a:gd name="connsiteY0" fmla="*/ 0 h 263525"/>
                <a:gd name="connsiteX1" fmla="*/ 76200 w 300038"/>
                <a:gd name="connsiteY1" fmla="*/ 214313 h 263525"/>
                <a:gd name="connsiteX2" fmla="*/ 214313 w 300038"/>
                <a:gd name="connsiteY2" fmla="*/ 228600 h 263525"/>
                <a:gd name="connsiteX3" fmla="*/ 300038 w 300038"/>
                <a:gd name="connsiteY3" fmla="*/ 4763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263525">
                  <a:moveTo>
                    <a:pt x="0" y="0"/>
                  </a:moveTo>
                  <a:cubicBezTo>
                    <a:pt x="20240" y="88106"/>
                    <a:pt x="40481" y="176213"/>
                    <a:pt x="76200" y="214313"/>
                  </a:cubicBezTo>
                  <a:cubicBezTo>
                    <a:pt x="111919" y="252413"/>
                    <a:pt x="177007" y="263525"/>
                    <a:pt x="214313" y="228600"/>
                  </a:cubicBezTo>
                  <a:cubicBezTo>
                    <a:pt x="251619" y="193675"/>
                    <a:pt x="275828" y="99219"/>
                    <a:pt x="300038" y="4763"/>
                  </a:cubicBezTo>
                </a:path>
              </a:pathLst>
            </a:cu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4" name="组合 213"/>
          <p:cNvGrpSpPr/>
          <p:nvPr/>
        </p:nvGrpSpPr>
        <p:grpSpPr>
          <a:xfrm>
            <a:off x="5103358" y="1085850"/>
            <a:ext cx="647701" cy="1057274"/>
            <a:chOff x="7451271" y="1534092"/>
            <a:chExt cx="647701" cy="658653"/>
          </a:xfrm>
        </p:grpSpPr>
        <p:sp>
          <p:nvSpPr>
            <p:cNvPr id="201" name="任意多边形 200"/>
            <p:cNvSpPr/>
            <p:nvPr/>
          </p:nvSpPr>
          <p:spPr>
            <a:xfrm>
              <a:off x="7451271" y="1534092"/>
              <a:ext cx="323850" cy="343694"/>
            </a:xfrm>
            <a:custGeom>
              <a:avLst/>
              <a:gdLst>
                <a:gd name="connsiteX0" fmla="*/ 0 w 323850"/>
                <a:gd name="connsiteY0" fmla="*/ 338931 h 343694"/>
                <a:gd name="connsiteX1" fmla="*/ 166688 w 323850"/>
                <a:gd name="connsiteY1" fmla="*/ 794 h 343694"/>
                <a:gd name="connsiteX2" fmla="*/ 323850 w 323850"/>
                <a:gd name="connsiteY2" fmla="*/ 343694 h 34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3850" h="343694">
                  <a:moveTo>
                    <a:pt x="0" y="338931"/>
                  </a:moveTo>
                  <a:cubicBezTo>
                    <a:pt x="56356" y="169465"/>
                    <a:pt x="112713" y="0"/>
                    <a:pt x="166688" y="794"/>
                  </a:cubicBezTo>
                  <a:cubicBezTo>
                    <a:pt x="220663" y="1588"/>
                    <a:pt x="272256" y="172641"/>
                    <a:pt x="323850" y="343694"/>
                  </a:cubicBezTo>
                </a:path>
              </a:pathLst>
            </a:cu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任意多边形 212"/>
            <p:cNvSpPr/>
            <p:nvPr/>
          </p:nvSpPr>
          <p:spPr>
            <a:xfrm rot="10800000">
              <a:off x="7775122" y="1867466"/>
              <a:ext cx="323850" cy="325279"/>
            </a:xfrm>
            <a:custGeom>
              <a:avLst/>
              <a:gdLst>
                <a:gd name="connsiteX0" fmla="*/ 0 w 323850"/>
                <a:gd name="connsiteY0" fmla="*/ 338931 h 343694"/>
                <a:gd name="connsiteX1" fmla="*/ 166688 w 323850"/>
                <a:gd name="connsiteY1" fmla="*/ 794 h 343694"/>
                <a:gd name="connsiteX2" fmla="*/ 323850 w 323850"/>
                <a:gd name="connsiteY2" fmla="*/ 343694 h 34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3850" h="343694">
                  <a:moveTo>
                    <a:pt x="0" y="338931"/>
                  </a:moveTo>
                  <a:cubicBezTo>
                    <a:pt x="56356" y="169465"/>
                    <a:pt x="112713" y="0"/>
                    <a:pt x="166688" y="794"/>
                  </a:cubicBezTo>
                  <a:cubicBezTo>
                    <a:pt x="220663" y="1588"/>
                    <a:pt x="272256" y="172641"/>
                    <a:pt x="323850" y="343694"/>
                  </a:cubicBezTo>
                </a:path>
              </a:pathLst>
            </a:cu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5" name="Line 43"/>
          <p:cNvSpPr>
            <a:spLocks noChangeShapeType="1"/>
          </p:cNvSpPr>
          <p:nvPr/>
        </p:nvSpPr>
        <p:spPr bwMode="auto">
          <a:xfrm flipV="1">
            <a:off x="3982130" y="1644651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16" name="Line 43"/>
          <p:cNvSpPr>
            <a:spLocks noChangeShapeType="1"/>
          </p:cNvSpPr>
          <p:nvPr/>
        </p:nvSpPr>
        <p:spPr bwMode="auto">
          <a:xfrm flipV="1">
            <a:off x="3864427" y="1090160"/>
            <a:ext cx="115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17" name="Line 43"/>
          <p:cNvSpPr>
            <a:spLocks noChangeShapeType="1"/>
          </p:cNvSpPr>
          <p:nvPr/>
        </p:nvSpPr>
        <p:spPr bwMode="auto">
          <a:xfrm flipV="1">
            <a:off x="4183515" y="2136549"/>
            <a:ext cx="9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 descr="img200706121339341457副本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4163" y="2408238"/>
            <a:ext cx="3095625" cy="222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6469" name="Rectangle 5"/>
          <p:cNvSpPr>
            <a:spLocks noChangeArrowheads="1"/>
          </p:cNvSpPr>
          <p:nvPr/>
        </p:nvSpPr>
        <p:spPr bwMode="auto">
          <a:xfrm>
            <a:off x="2700338" y="1492250"/>
            <a:ext cx="32400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结    束</a:t>
            </a:r>
            <a:r>
              <a:rPr lang="zh-CN" altLang="en-US" sz="3600" dirty="0" smtClean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diamond/>
    <p:sndAc>
      <p:stSnd>
        <p:snd r:embed="rId2" name="结束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chemeClr val="tx1"/>
          </a:solidFill>
          <a:tailEnd type="triangl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2996</TotalTime>
  <Words>1388</Words>
  <Application>Microsoft Office PowerPoint</Application>
  <PresentationFormat>全屏显示(16:9)</PresentationFormat>
  <Paragraphs>709</Paragraphs>
  <Slides>30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1" baseType="lpstr">
      <vt:lpstr>Office 主题</vt:lpstr>
      <vt:lpstr>9.1 基本交流放大电路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 电动机</dc:title>
  <dc:creator>wgz</dc:creator>
  <cp:lastModifiedBy>Administrator</cp:lastModifiedBy>
  <cp:revision>185</cp:revision>
  <dcterms:created xsi:type="dcterms:W3CDTF">2017-07-05T02:13:24Z</dcterms:created>
  <dcterms:modified xsi:type="dcterms:W3CDTF">2017-10-14T23:23:53Z</dcterms:modified>
</cp:coreProperties>
</file>