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heme/themeOverride7.xml" ContentType="application/vnd.openxmlformats-officedocument.themeOverride+xml"/>
  <Override PartName="/ppt/theme/themeOverride12.xml" ContentType="application/vnd.openxmlformats-officedocument.themeOverr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Override5.xml" ContentType="application/vnd.openxmlformats-officedocument.themeOverride+xml"/>
  <Override PartName="/ppt/theme/themeOverride10.xml" ContentType="application/vnd.openxmlformats-officedocument.themeOverr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heme/themeOverride3.xml" ContentType="application/vnd.openxmlformats-officedocument.themeOverr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Default Extension="wav" ContentType="audio/wav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theme/themeOverride15.xml" ContentType="application/vnd.openxmlformats-officedocument.themeOverr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heme/themeOverride9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Override PartName="/ppt/theme/themeOverride8.xml" ContentType="application/vnd.openxmlformats-officedocument.themeOverride+xml"/>
  <Override PartName="/ppt/theme/themeOverride11.xml" ContentType="application/vnd.openxmlformats-officedocument.themeOverr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Override6.xml" ContentType="application/vnd.openxmlformats-officedocument.themeOverr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theme/themeOverride4.xml" ContentType="application/vnd.openxmlformats-officedocument.themeOverride+xml"/>
  <Default Extension="emf" ContentType="image/x-emf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handoutMasterIdLst>
    <p:handoutMasterId r:id="rId22"/>
  </p:handoutMasterIdLst>
  <p:sldIdLst>
    <p:sldId id="390" r:id="rId2"/>
    <p:sldId id="589" r:id="rId3"/>
    <p:sldId id="612" r:id="rId4"/>
    <p:sldId id="594" r:id="rId5"/>
    <p:sldId id="595" r:id="rId6"/>
    <p:sldId id="596" r:id="rId7"/>
    <p:sldId id="597" r:id="rId8"/>
    <p:sldId id="613" r:id="rId9"/>
    <p:sldId id="601" r:id="rId10"/>
    <p:sldId id="602" r:id="rId11"/>
    <p:sldId id="603" r:id="rId12"/>
    <p:sldId id="604" r:id="rId13"/>
    <p:sldId id="605" r:id="rId14"/>
    <p:sldId id="606" r:id="rId15"/>
    <p:sldId id="607" r:id="rId16"/>
    <p:sldId id="610" r:id="rId17"/>
    <p:sldId id="614" r:id="rId18"/>
    <p:sldId id="615" r:id="rId19"/>
    <p:sldId id="611" r:id="rId20"/>
    <p:sldId id="616" r:id="rId21"/>
  </p:sldIdLst>
  <p:sldSz cx="9144000" cy="5143500" type="screen16x9"/>
  <p:notesSz cx="6761163" cy="99425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0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0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0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0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0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0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0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0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0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9999"/>
    </p:penClr>
  </p:showPr>
  <p:clrMru>
    <a:srgbClr val="3333FF"/>
    <a:srgbClr val="FF9933"/>
    <a:srgbClr val="FFFF00"/>
    <a:srgbClr val="FFCC00"/>
    <a:srgbClr val="FFCC66"/>
    <a:srgbClr val="FF6600"/>
    <a:srgbClr val="FF00FF"/>
    <a:srgbClr val="A50021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129" autoAdjust="0"/>
    <p:restoredTop sz="94700" autoAdjust="0"/>
  </p:normalViewPr>
  <p:slideViewPr>
    <p:cSldViewPr snapToGrid="0">
      <p:cViewPr varScale="1">
        <p:scale>
          <a:sx n="52" d="100"/>
          <a:sy n="52" d="100"/>
        </p:scale>
        <p:origin x="-102" y="-64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5810"/>
    </p:cViewPr>
  </p:sorterViewPr>
  <p:gridSpacing cx="46085125" cy="4608512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5" Type="http://schemas.openxmlformats.org/officeDocument/2006/relationships/image" Target="../media/image10.emf"/><Relationship Id="rId4" Type="http://schemas.openxmlformats.org/officeDocument/2006/relationships/image" Target="../media/image14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5.wmf"/><Relationship Id="rId1" Type="http://schemas.openxmlformats.org/officeDocument/2006/relationships/image" Target="../media/image13.wmf"/><Relationship Id="rId5" Type="http://schemas.openxmlformats.org/officeDocument/2006/relationships/image" Target="../media/image10.emf"/><Relationship Id="rId4" Type="http://schemas.openxmlformats.org/officeDocument/2006/relationships/image" Target="../media/image12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6.wmf"/><Relationship Id="rId1" Type="http://schemas.openxmlformats.org/officeDocument/2006/relationships/image" Target="../media/image12.wmf"/><Relationship Id="rId5" Type="http://schemas.openxmlformats.org/officeDocument/2006/relationships/image" Target="../media/image10.emf"/><Relationship Id="rId4" Type="http://schemas.openxmlformats.org/officeDocument/2006/relationships/image" Target="../media/image13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05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29050" y="0"/>
            <a:ext cx="29305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500708-07A6-4A65-B5EE-49EF69885D44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4038"/>
            <a:ext cx="29305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E24DAA8-BFEB-4676-A0BC-34ECB856415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AABFD4-2514-45EC-A8C7-677940A432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76EBBA-8F27-4DA0-BFCF-ACC7714C058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131189-E03D-449E-BF03-73045172F51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D0358E-B46F-41B9-A6EB-5EA008BE909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48C681-0BAD-46BB-BBAC-08E38D9F833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627BA7-9CC2-4063-856B-A24590DFE1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6732CE-4356-45F7-8A15-32DE7337020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2538E3-EF82-462F-9E7C-B336BA5A1A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2372EE-FF70-4226-A3BF-5B0DFE4EDED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7AA30A-0639-4FB7-89A3-612CF561610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0AB618-400E-47CA-BABF-3E3D17A2C1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274638"/>
            <a:ext cx="7886700" cy="99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smtClean="0"/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370013"/>
            <a:ext cx="7886700" cy="3262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 spd="slow">
    <p:random/>
  </p:transition>
  <p:timing>
    <p:tnLst>
      <p:par>
        <p:cTn id="1" dur="indefinite" restart="never" nodeType="tmRoot"/>
      </p:par>
    </p:tnLst>
  </p:timing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3.bin"/><Relationship Id="rId2" Type="http://schemas.openxmlformats.org/officeDocument/2006/relationships/vmlDrawing" Target="../drawings/vmlDrawing1.vml"/><Relationship Id="rId1" Type="http://schemas.openxmlformats.org/officeDocument/2006/relationships/themeOverride" Target="../theme/themeOverride3.xml"/><Relationship Id="rId6" Type="http://schemas.openxmlformats.org/officeDocument/2006/relationships/oleObject" Target="../embeddings/oleObject2.bin"/><Relationship Id="rId5" Type="http://schemas.openxmlformats.org/officeDocument/2006/relationships/oleObject" Target="../embeddings/oleObject1.bin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mlDrawing" Target="../drawings/vmlDrawing2.vml"/><Relationship Id="rId1" Type="http://schemas.openxmlformats.org/officeDocument/2006/relationships/themeOverride" Target="../theme/themeOverride4.xml"/><Relationship Id="rId5" Type="http://schemas.openxmlformats.org/officeDocument/2006/relationships/oleObject" Target="../embeddings/oleObject5.bin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mlDrawing" Target="../drawings/vmlDrawing3.vml"/><Relationship Id="rId1" Type="http://schemas.openxmlformats.org/officeDocument/2006/relationships/themeOverride" Target="../theme/themeOverride7.xml"/><Relationship Id="rId5" Type="http://schemas.openxmlformats.org/officeDocument/2006/relationships/oleObject" Target="../embeddings/oleObject6.bin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mlDrawing" Target="../drawings/vmlDrawing4.vml"/><Relationship Id="rId1" Type="http://schemas.openxmlformats.org/officeDocument/2006/relationships/themeOverride" Target="../theme/themeOverride10.xml"/><Relationship Id="rId6" Type="http://schemas.openxmlformats.org/officeDocument/2006/relationships/oleObject" Target="../embeddings/oleObject8.bin"/><Relationship Id="rId5" Type="http://schemas.openxmlformats.org/officeDocument/2006/relationships/oleObject" Target="../embeddings/oleObject7.bin"/><Relationship Id="rId4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mlDrawing" Target="../drawings/vmlDrawing5.vml"/><Relationship Id="rId1" Type="http://schemas.openxmlformats.org/officeDocument/2006/relationships/themeOverride" Target="../theme/themeOverride13.xml"/><Relationship Id="rId5" Type="http://schemas.openxmlformats.org/officeDocument/2006/relationships/oleObject" Target="../embeddings/oleObject9.bin"/><Relationship Id="rId4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12.bin"/><Relationship Id="rId2" Type="http://schemas.openxmlformats.org/officeDocument/2006/relationships/vmlDrawing" Target="../drawings/vmlDrawing6.vml"/><Relationship Id="rId1" Type="http://schemas.openxmlformats.org/officeDocument/2006/relationships/themeOverride" Target="../theme/themeOverride14.xml"/><Relationship Id="rId6" Type="http://schemas.openxmlformats.org/officeDocument/2006/relationships/oleObject" Target="../embeddings/oleObject11.bin"/><Relationship Id="rId5" Type="http://schemas.openxmlformats.org/officeDocument/2006/relationships/oleObject" Target="../embeddings/oleObject10.bin"/><Relationship Id="rId10" Type="http://schemas.openxmlformats.org/officeDocument/2006/relationships/oleObject" Target="../embeddings/oleObject15.bin"/><Relationship Id="rId4" Type="http://schemas.openxmlformats.org/officeDocument/2006/relationships/image" Target="../media/image1.jpeg"/><Relationship Id="rId9" Type="http://schemas.openxmlformats.org/officeDocument/2006/relationships/oleObject" Target="../embeddings/oleObject14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9.bin"/><Relationship Id="rId5" Type="http://schemas.openxmlformats.org/officeDocument/2006/relationships/oleObject" Target="../embeddings/oleObject18.bin"/><Relationship Id="rId4" Type="http://schemas.openxmlformats.org/officeDocument/2006/relationships/oleObject" Target="../embeddings/oleObject17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5.bin"/><Relationship Id="rId5" Type="http://schemas.openxmlformats.org/officeDocument/2006/relationships/oleObject" Target="../embeddings/oleObject24.bin"/><Relationship Id="rId4" Type="http://schemas.openxmlformats.org/officeDocument/2006/relationships/oleObject" Target="../embeddings/oleObject23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mlDrawing" Target="../drawings/vmlDrawing9.vml"/><Relationship Id="rId1" Type="http://schemas.openxmlformats.org/officeDocument/2006/relationships/themeOverride" Target="../theme/themeOverride15.xml"/><Relationship Id="rId5" Type="http://schemas.openxmlformats.org/officeDocument/2006/relationships/oleObject" Target="../embeddings/oleObject28.bin"/><Relationship Id="rId4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9" name="Rectangle 5"/>
          <p:cNvSpPr>
            <a:spLocks noChangeArrowheads="1"/>
          </p:cNvSpPr>
          <p:nvPr/>
        </p:nvSpPr>
        <p:spPr bwMode="auto">
          <a:xfrm>
            <a:off x="1285852" y="357172"/>
            <a:ext cx="6240483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6000" b="1" i="0" dirty="0">
                <a:ea typeface="汉仪大隶书简" pitchFamily="49" charset="-122"/>
                <a:cs typeface="Times New Roman" pitchFamily="18" charset="0"/>
              </a:rPr>
              <a:t>12.5  </a:t>
            </a:r>
            <a:r>
              <a:rPr lang="zh-CN" altLang="en-US" sz="6000" b="1" i="0" dirty="0" smtClean="0">
                <a:ea typeface="汉仪大隶书简" pitchFamily="49" charset="-122"/>
                <a:cs typeface="Times New Roman" pitchFamily="18" charset="0"/>
              </a:rPr>
              <a:t>编码译码和数字显示</a:t>
            </a:r>
            <a:endParaRPr lang="zh-CN" altLang="en-US" sz="6000" b="1" i="0" dirty="0">
              <a:ea typeface="汉仪大隶书简" pitchFamily="49" charset="-122"/>
              <a:cs typeface="Times New Roman" pitchFamily="18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000364" y="2522429"/>
            <a:ext cx="2695573" cy="540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</a:t>
            </a: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编码器</a:t>
            </a:r>
            <a:endParaRPr lang="zh-CN" altLang="en-US" sz="3600" b="1" i="0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000364" y="3251771"/>
            <a:ext cx="2838449" cy="540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</a:t>
            </a: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译码器</a:t>
            </a:r>
            <a:endParaRPr lang="zh-CN" altLang="en-US" sz="3600" b="1" i="0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981293" y="4031981"/>
            <a:ext cx="3000396" cy="540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3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</a:t>
            </a: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数字显示</a:t>
            </a:r>
            <a:endParaRPr lang="zh-CN" altLang="en-US" sz="3600" b="1" i="0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Box 3"/>
          <p:cNvSpPr txBox="1">
            <a:spLocks noChangeArrowheads="1"/>
          </p:cNvSpPr>
          <p:nvPr/>
        </p:nvSpPr>
        <p:spPr bwMode="auto">
          <a:xfrm>
            <a:off x="6535481" y="3646983"/>
            <a:ext cx="198804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 i="0" dirty="0">
                <a:ea typeface="华文中宋" pitchFamily="2" charset="-122"/>
                <a:cs typeface="Times New Roman" pitchFamily="18" charset="0"/>
              </a:rPr>
              <a:t>二进制代码</a:t>
            </a:r>
          </a:p>
        </p:txBody>
      </p:sp>
      <p:sp>
        <p:nvSpPr>
          <p:cNvPr id="23" name="Text Box 4"/>
          <p:cNvSpPr txBox="1">
            <a:spLocks noChangeArrowheads="1"/>
          </p:cNvSpPr>
          <p:nvPr/>
        </p:nvSpPr>
        <p:spPr bwMode="auto">
          <a:xfrm>
            <a:off x="503387" y="3594301"/>
            <a:ext cx="379142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 i="0" dirty="0">
                <a:ea typeface="华文中宋" pitchFamily="2" charset="-122"/>
                <a:cs typeface="Times New Roman" pitchFamily="18" charset="0"/>
              </a:rPr>
              <a:t>某种控制信息、符号等</a:t>
            </a:r>
          </a:p>
        </p:txBody>
      </p:sp>
      <p:sp>
        <p:nvSpPr>
          <p:cNvPr id="24" name="Line 5"/>
          <p:cNvSpPr>
            <a:spLocks noChangeShapeType="1"/>
          </p:cNvSpPr>
          <p:nvPr/>
        </p:nvSpPr>
        <p:spPr bwMode="auto">
          <a:xfrm>
            <a:off x="4459252" y="3919111"/>
            <a:ext cx="1905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 sz="2800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5" name="Text Box 8"/>
          <p:cNvSpPr txBox="1">
            <a:spLocks noChangeArrowheads="1"/>
          </p:cNvSpPr>
          <p:nvPr/>
        </p:nvSpPr>
        <p:spPr bwMode="auto">
          <a:xfrm>
            <a:off x="4945912" y="3294449"/>
            <a:ext cx="101822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 i="0" dirty="0">
                <a:ea typeface="华文中宋" pitchFamily="2" charset="-122"/>
                <a:cs typeface="Times New Roman" pitchFamily="18" charset="0"/>
              </a:rPr>
              <a:t>编 码</a:t>
            </a: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>
            <a:off x="5552523" y="2182340"/>
            <a:ext cx="0" cy="1044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 sz="2800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4941151" y="1634796"/>
            <a:ext cx="126669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 i="0" dirty="0">
                <a:solidFill>
                  <a:srgbClr val="CC3300"/>
                </a:solidFill>
                <a:ea typeface="华文中宋" pitchFamily="2" charset="-122"/>
                <a:cs typeface="Times New Roman" pitchFamily="18" charset="0"/>
              </a:rPr>
              <a:t>编码器</a:t>
            </a:r>
            <a:endParaRPr lang="zh-CN" altLang="en-US" sz="2800" b="1" i="0" dirty="0"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967564" y="1043988"/>
            <a:ext cx="3740815" cy="2277535"/>
            <a:chOff x="468" y="762"/>
            <a:chExt cx="2268" cy="1725"/>
          </a:xfrm>
        </p:grpSpPr>
        <p:sp>
          <p:nvSpPr>
            <p:cNvPr id="22546" name="AutoShape 14"/>
            <p:cNvSpPr>
              <a:spLocks noChangeArrowheads="1"/>
            </p:cNvSpPr>
            <p:nvPr/>
          </p:nvSpPr>
          <p:spPr bwMode="auto">
            <a:xfrm>
              <a:off x="468" y="762"/>
              <a:ext cx="2268" cy="1698"/>
            </a:xfrm>
            <a:prstGeom prst="wedgeRoundRectCallout">
              <a:avLst>
                <a:gd name="adj1" fmla="val 58448"/>
                <a:gd name="adj2" fmla="val -10052"/>
                <a:gd name="adj3" fmla="val 16667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 altLang="zh-CN" sz="2800" i="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2547" name="Text Box 13"/>
            <p:cNvSpPr txBox="1">
              <a:spLocks noChangeArrowheads="1"/>
            </p:cNvSpPr>
            <p:nvPr/>
          </p:nvSpPr>
          <p:spPr bwMode="auto">
            <a:xfrm>
              <a:off x="531" y="762"/>
              <a:ext cx="2146" cy="1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 eaLnBrk="0" hangingPunct="0">
                <a:lnSpc>
                  <a:spcPct val="130000"/>
                </a:lnSpc>
              </a:pPr>
              <a:r>
                <a:rPr kumimoji="0" lang="zh-CN" altLang="en-US" sz="2800" i="0" dirty="0">
                  <a:ea typeface="华文中宋" pitchFamily="2" charset="-122"/>
                  <a:cs typeface="Times New Roman" pitchFamily="18" charset="0"/>
                </a:rPr>
                <a:t>把每一输入信号转化为对应的编码，这种组合逻辑电路称为编码器。 </a:t>
              </a:r>
            </a:p>
          </p:txBody>
        </p:sp>
      </p:grpSp>
      <p:sp>
        <p:nvSpPr>
          <p:cNvPr id="20" name="Rectangle 3"/>
          <p:cNvSpPr txBox="1">
            <a:spLocks noChangeArrowheads="1"/>
          </p:cNvSpPr>
          <p:nvPr/>
        </p:nvSpPr>
        <p:spPr bwMode="auto">
          <a:xfrm>
            <a:off x="331592" y="257694"/>
            <a:ext cx="2695573" cy="540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</a:t>
            </a: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编码器</a:t>
            </a:r>
            <a:endParaRPr lang="zh-CN" altLang="en-US" sz="3600" b="1" i="0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utoUpdateAnimBg="0"/>
      <p:bldP spid="23" grpId="0" autoUpdateAnimBg="0"/>
      <p:bldP spid="24" grpId="0" animBg="1"/>
      <p:bldP spid="25" grpId="0" autoUpdateAnimBg="0"/>
      <p:bldP spid="26" grpId="0" animBg="1"/>
      <p:bldP spid="27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Box 3"/>
          <p:cNvSpPr txBox="1">
            <a:spLocks noChangeArrowheads="1"/>
          </p:cNvSpPr>
          <p:nvPr/>
        </p:nvSpPr>
        <p:spPr bwMode="auto">
          <a:xfrm>
            <a:off x="1805210" y="1631766"/>
            <a:ext cx="73025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i="0" dirty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</a:rPr>
              <a:t>编码过程</a:t>
            </a:r>
          </a:p>
        </p:txBody>
      </p:sp>
      <p:sp>
        <p:nvSpPr>
          <p:cNvPr id="33" name="Text Box 5"/>
          <p:cNvSpPr txBox="1">
            <a:spLocks noChangeArrowheads="1"/>
          </p:cNvSpPr>
          <p:nvPr/>
        </p:nvSpPr>
        <p:spPr bwMode="auto">
          <a:xfrm>
            <a:off x="2671320" y="1186746"/>
            <a:ext cx="4516289" cy="1040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514350" indent="-514350">
              <a:lnSpc>
                <a:spcPct val="110000"/>
              </a:lnSpc>
              <a:spcBef>
                <a:spcPct val="50000"/>
              </a:spcBef>
              <a:buAutoNum type="arabicParenR"/>
              <a:defRPr/>
            </a:pPr>
            <a:r>
              <a:rPr lang="zh-CN" altLang="en-US" sz="2800" i="0" dirty="0" smtClean="0">
                <a:ea typeface="华文中宋" pitchFamily="2" charset="-122"/>
                <a:cs typeface="Times New Roman" pitchFamily="18" charset="0"/>
              </a:rPr>
              <a:t>确定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二进制代码位数</a:t>
            </a:r>
            <a:r>
              <a:rPr lang="zh-CN" altLang="en-US" sz="2800" i="0" dirty="0" smtClean="0">
                <a:ea typeface="华文中宋" pitchFamily="2" charset="-122"/>
                <a:cs typeface="Times New Roman" pitchFamily="18" charset="0"/>
              </a:rPr>
              <a:t>：</a:t>
            </a:r>
            <a:endParaRPr lang="en-US" altLang="zh-CN" sz="2800" i="0" dirty="0" smtClean="0">
              <a:ea typeface="华文中宋" pitchFamily="2" charset="-122"/>
              <a:cs typeface="Times New Roman" pitchFamily="18" charset="0"/>
            </a:endParaRP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defRPr/>
            </a:pPr>
            <a:r>
              <a:rPr lang="en-US" altLang="zh-CN" sz="2800" b="1" i="0" dirty="0"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800" b="1" i="0" dirty="0" smtClean="0">
                <a:ea typeface="华文中宋" pitchFamily="2" charset="-122"/>
                <a:cs typeface="Times New Roman" pitchFamily="18" charset="0"/>
              </a:rPr>
              <a:t>     </a:t>
            </a:r>
            <a:r>
              <a:rPr lang="en-US" altLang="zh-CN" sz="2800" b="1" dirty="0" smtClean="0">
                <a:ea typeface="华文中宋" pitchFamily="2" charset="-122"/>
                <a:cs typeface="Times New Roman" pitchFamily="18" charset="0"/>
              </a:rPr>
              <a:t>n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位二进制有</a:t>
            </a:r>
            <a:r>
              <a:rPr lang="en-US" altLang="zh-CN" sz="2800" b="1" i="0" dirty="0">
                <a:ea typeface="华文中宋" pitchFamily="2" charset="-122"/>
                <a:cs typeface="Times New Roman" pitchFamily="18" charset="0"/>
              </a:rPr>
              <a:t>2</a:t>
            </a:r>
            <a:r>
              <a:rPr lang="en-US" altLang="zh-CN" sz="2800" b="1" baseline="30000" dirty="0">
                <a:ea typeface="华文中宋" pitchFamily="2" charset="-122"/>
                <a:cs typeface="Times New Roman" pitchFamily="18" charset="0"/>
              </a:rPr>
              <a:t>n</a:t>
            </a:r>
            <a:r>
              <a:rPr lang="en-US" altLang="zh-CN" sz="2800" dirty="0"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个代码</a:t>
            </a:r>
          </a:p>
        </p:txBody>
      </p:sp>
      <p:sp>
        <p:nvSpPr>
          <p:cNvPr id="34" name="Text Box 7"/>
          <p:cNvSpPr txBox="1">
            <a:spLocks noChangeArrowheads="1"/>
          </p:cNvSpPr>
          <p:nvPr/>
        </p:nvSpPr>
        <p:spPr bwMode="auto">
          <a:xfrm>
            <a:off x="2681953" y="2254768"/>
            <a:ext cx="25908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2) 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列编码表</a:t>
            </a:r>
          </a:p>
        </p:txBody>
      </p:sp>
      <p:sp>
        <p:nvSpPr>
          <p:cNvPr id="35" name="Text Box 8"/>
          <p:cNvSpPr txBox="1">
            <a:spLocks noChangeArrowheads="1"/>
          </p:cNvSpPr>
          <p:nvPr/>
        </p:nvSpPr>
        <p:spPr bwMode="auto">
          <a:xfrm>
            <a:off x="2703219" y="2838449"/>
            <a:ext cx="397402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3) 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由编码表写逻辑式</a:t>
            </a:r>
          </a:p>
        </p:txBody>
      </p:sp>
      <p:sp>
        <p:nvSpPr>
          <p:cNvPr id="36" name="Text Box 9"/>
          <p:cNvSpPr txBox="1">
            <a:spLocks noChangeArrowheads="1"/>
          </p:cNvSpPr>
          <p:nvPr/>
        </p:nvSpPr>
        <p:spPr bwMode="auto">
          <a:xfrm>
            <a:off x="2680994" y="3399433"/>
            <a:ext cx="251832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4) 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画逻辑图</a:t>
            </a:r>
          </a:p>
        </p:txBody>
      </p:sp>
      <p:sp>
        <p:nvSpPr>
          <p:cNvPr id="37" name="AutoShape 64"/>
          <p:cNvSpPr>
            <a:spLocks/>
          </p:cNvSpPr>
          <p:nvPr/>
        </p:nvSpPr>
        <p:spPr bwMode="auto">
          <a:xfrm>
            <a:off x="2445487" y="1418339"/>
            <a:ext cx="212651" cy="2260526"/>
          </a:xfrm>
          <a:prstGeom prst="leftBrace">
            <a:avLst>
              <a:gd name="adj1" fmla="val 70995"/>
              <a:gd name="adj2" fmla="val 50000"/>
            </a:avLst>
          </a:prstGeom>
          <a:ln w="31750">
            <a:solidFill>
              <a:schemeClr val="tx1"/>
            </a:solidFill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pPr>
              <a:defRPr/>
            </a:pPr>
            <a:endParaRPr lang="zh-CN" altLang="en-US" sz="2800" b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 bwMode="auto">
          <a:xfrm>
            <a:off x="331592" y="257694"/>
            <a:ext cx="2695573" cy="540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</a:t>
            </a: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编码器</a:t>
            </a:r>
            <a:endParaRPr lang="zh-CN" altLang="en-US" sz="3600" b="1" i="0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  <p:bldP spid="36" grpId="0"/>
      <p:bldP spid="3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6"/>
          <p:cNvSpPr txBox="1">
            <a:spLocks noChangeArrowheads="1"/>
          </p:cNvSpPr>
          <p:nvPr/>
        </p:nvSpPr>
        <p:spPr bwMode="auto">
          <a:xfrm>
            <a:off x="481788" y="465499"/>
            <a:ext cx="357187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 eaLnBrk="0" hangingPunct="0">
              <a:defRPr/>
            </a:pPr>
            <a:r>
              <a:rPr kumimoji="0" lang="zh-CN" altLang="en-US" sz="2800" i="0" dirty="0" smtClean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</a:rPr>
              <a:t>例</a:t>
            </a:r>
            <a:r>
              <a:rPr kumimoji="0" lang="en-US" altLang="zh-CN" sz="2800" i="0" dirty="0" smtClean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</a:rPr>
              <a:t>1</a:t>
            </a:r>
            <a:r>
              <a:rPr kumimoji="0" lang="zh-CN" altLang="en-US" sz="2800" i="0" dirty="0" smtClean="0">
                <a:ea typeface="华文中宋" pitchFamily="2" charset="-122"/>
                <a:cs typeface="Times New Roman" pitchFamily="18" charset="0"/>
              </a:rPr>
              <a:t>：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将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0~9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用相应二进制代码表示，即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8421 BCD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编码器。</a:t>
            </a:r>
            <a:endParaRPr kumimoji="0" lang="zh-CN" altLang="en-US" sz="2800" i="0" dirty="0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0" name="Text Box 9"/>
          <p:cNvSpPr txBox="1">
            <a:spLocks noChangeArrowheads="1"/>
          </p:cNvSpPr>
          <p:nvPr/>
        </p:nvSpPr>
        <p:spPr bwMode="auto">
          <a:xfrm>
            <a:off x="5295014" y="443910"/>
            <a:ext cx="2743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i="0" dirty="0" smtClean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i="0" dirty="0" smtClean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2800" i="0" dirty="0" smtClean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</a:rPr>
              <a:t>）列编码</a:t>
            </a:r>
            <a:r>
              <a:rPr lang="zh-CN" altLang="en-US" sz="2800" i="0" dirty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</a:rPr>
              <a:t>表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4214813" y="928688"/>
            <a:ext cx="4630738" cy="3643312"/>
            <a:chOff x="2688" y="1584"/>
            <a:chExt cx="2917" cy="2295"/>
          </a:xfrm>
        </p:grpSpPr>
        <p:grpSp>
          <p:nvGrpSpPr>
            <p:cNvPr id="1037" name="Group 11"/>
            <p:cNvGrpSpPr>
              <a:grpSpLocks/>
            </p:cNvGrpSpPr>
            <p:nvPr/>
          </p:nvGrpSpPr>
          <p:grpSpPr bwMode="auto">
            <a:xfrm>
              <a:off x="2688" y="1584"/>
              <a:ext cx="2917" cy="2277"/>
              <a:chOff x="347" y="1632"/>
              <a:chExt cx="2917" cy="2229"/>
            </a:xfrm>
          </p:grpSpPr>
          <p:grpSp>
            <p:nvGrpSpPr>
              <p:cNvPr id="1040" name="Group 12"/>
              <p:cNvGrpSpPr>
                <a:grpSpLocks/>
              </p:cNvGrpSpPr>
              <p:nvPr/>
            </p:nvGrpSpPr>
            <p:grpSpPr bwMode="auto">
              <a:xfrm>
                <a:off x="384" y="1680"/>
                <a:ext cx="2880" cy="2181"/>
                <a:chOff x="384" y="1680"/>
                <a:chExt cx="2880" cy="2181"/>
              </a:xfrm>
            </p:grpSpPr>
            <p:sp>
              <p:nvSpPr>
                <p:cNvPr id="1044" name="Rectangle 13"/>
                <p:cNvSpPr>
                  <a:spLocks noChangeArrowheads="1"/>
                </p:cNvSpPr>
                <p:nvPr/>
              </p:nvSpPr>
              <p:spPr bwMode="auto">
                <a:xfrm>
                  <a:off x="384" y="1680"/>
                  <a:ext cx="2880" cy="2160"/>
                </a:xfrm>
                <a:prstGeom prst="rect">
                  <a:avLst/>
                </a:prstGeom>
                <a:noFill/>
                <a:ln w="31750">
                  <a:solidFill>
                    <a:schemeClr val="accent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045" name="Line 14"/>
                <p:cNvSpPr>
                  <a:spLocks noChangeShapeType="1"/>
                </p:cNvSpPr>
                <p:nvPr/>
              </p:nvSpPr>
              <p:spPr bwMode="auto">
                <a:xfrm>
                  <a:off x="384" y="1920"/>
                  <a:ext cx="28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046" name="Line 15"/>
                <p:cNvSpPr>
                  <a:spLocks noChangeShapeType="1"/>
                </p:cNvSpPr>
                <p:nvPr/>
              </p:nvSpPr>
              <p:spPr bwMode="auto">
                <a:xfrm>
                  <a:off x="384" y="2123"/>
                  <a:ext cx="28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047" name="Line 16"/>
                <p:cNvSpPr>
                  <a:spLocks noChangeShapeType="1"/>
                </p:cNvSpPr>
                <p:nvPr/>
              </p:nvSpPr>
              <p:spPr bwMode="auto">
                <a:xfrm>
                  <a:off x="960" y="1680"/>
                  <a:ext cx="0" cy="21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048" name="Line 17"/>
                <p:cNvSpPr>
                  <a:spLocks noChangeShapeType="1"/>
                </p:cNvSpPr>
                <p:nvPr/>
              </p:nvSpPr>
              <p:spPr bwMode="auto">
                <a:xfrm>
                  <a:off x="1536" y="1920"/>
                  <a:ext cx="0" cy="19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049" name="Line 18"/>
                <p:cNvSpPr>
                  <a:spLocks noChangeShapeType="1"/>
                </p:cNvSpPr>
                <p:nvPr/>
              </p:nvSpPr>
              <p:spPr bwMode="auto">
                <a:xfrm>
                  <a:off x="2112" y="1930"/>
                  <a:ext cx="0" cy="19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050" name="Line 19"/>
                <p:cNvSpPr>
                  <a:spLocks noChangeShapeType="1"/>
                </p:cNvSpPr>
                <p:nvPr/>
              </p:nvSpPr>
              <p:spPr bwMode="auto">
                <a:xfrm>
                  <a:off x="2688" y="1941"/>
                  <a:ext cx="0" cy="19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041" name="Text Box 20"/>
              <p:cNvSpPr txBox="1">
                <a:spLocks noChangeArrowheads="1"/>
              </p:cNvSpPr>
              <p:nvPr/>
            </p:nvSpPr>
            <p:spPr bwMode="auto">
              <a:xfrm>
                <a:off x="1776" y="1632"/>
                <a:ext cx="752" cy="3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i="0">
                    <a:ea typeface="华文中宋" pitchFamily="2" charset="-122"/>
                    <a:cs typeface="Times New Roman" pitchFamily="18" charset="0"/>
                  </a:rPr>
                  <a:t>输出</a:t>
                </a:r>
              </a:p>
            </p:txBody>
          </p:sp>
          <p:sp>
            <p:nvSpPr>
              <p:cNvPr id="1042" name="Text Box 21"/>
              <p:cNvSpPr txBox="1">
                <a:spLocks noChangeArrowheads="1"/>
              </p:cNvSpPr>
              <p:nvPr/>
            </p:nvSpPr>
            <p:spPr bwMode="auto">
              <a:xfrm>
                <a:off x="379" y="1643"/>
                <a:ext cx="675" cy="3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i="0" dirty="0">
                    <a:ea typeface="华文中宋" pitchFamily="2" charset="-122"/>
                    <a:cs typeface="Times New Roman" pitchFamily="18" charset="0"/>
                  </a:rPr>
                  <a:t>输入</a:t>
                </a:r>
              </a:p>
            </p:txBody>
          </p:sp>
          <p:sp>
            <p:nvSpPr>
              <p:cNvPr id="1043" name="Text Box 22"/>
              <p:cNvSpPr txBox="1">
                <a:spLocks noChangeArrowheads="1"/>
              </p:cNvSpPr>
              <p:nvPr/>
            </p:nvSpPr>
            <p:spPr bwMode="auto">
              <a:xfrm>
                <a:off x="347" y="1900"/>
                <a:ext cx="727" cy="20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600" i="0" dirty="0">
                    <a:ea typeface="华文中宋" pitchFamily="2" charset="-122"/>
                    <a:cs typeface="Times New Roman" pitchFamily="18" charset="0"/>
                  </a:rPr>
                  <a:t>十进制数</a:t>
                </a:r>
              </a:p>
            </p:txBody>
          </p:sp>
        </p:grpSp>
        <p:sp>
          <p:nvSpPr>
            <p:cNvPr id="1038" name="Text Box 23"/>
            <p:cNvSpPr txBox="1">
              <a:spLocks noChangeArrowheads="1"/>
            </p:cNvSpPr>
            <p:nvPr/>
          </p:nvSpPr>
          <p:spPr bwMode="auto">
            <a:xfrm>
              <a:off x="3504" y="1836"/>
              <a:ext cx="210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ea typeface="华文中宋" pitchFamily="2" charset="-122"/>
                  <a:cs typeface="Times New Roman" pitchFamily="18" charset="0"/>
                </a:rPr>
                <a:t>D</a:t>
              </a:r>
              <a:r>
                <a:rPr lang="en-US" altLang="zh-CN" sz="2400" b="1" i="0" dirty="0">
                  <a:ea typeface="华文中宋" pitchFamily="2" charset="-122"/>
                  <a:cs typeface="Times New Roman" pitchFamily="18" charset="0"/>
                </a:rPr>
                <a:t>         </a:t>
              </a:r>
              <a:r>
                <a:rPr lang="en-US" altLang="zh-CN" sz="2400" b="1" dirty="0">
                  <a:ea typeface="华文中宋" pitchFamily="2" charset="-122"/>
                  <a:cs typeface="Times New Roman" pitchFamily="18" charset="0"/>
                </a:rPr>
                <a:t>C</a:t>
              </a:r>
              <a:r>
                <a:rPr lang="en-US" altLang="zh-CN" sz="2400" b="1" i="0" dirty="0">
                  <a:ea typeface="华文中宋" pitchFamily="2" charset="-122"/>
                  <a:cs typeface="Times New Roman" pitchFamily="18" charset="0"/>
                </a:rPr>
                <a:t>         </a:t>
              </a:r>
              <a:r>
                <a:rPr lang="en-US" altLang="zh-CN" sz="2400" b="1" dirty="0">
                  <a:ea typeface="华文中宋" pitchFamily="2" charset="-122"/>
                  <a:cs typeface="Times New Roman" pitchFamily="18" charset="0"/>
                </a:rPr>
                <a:t>B</a:t>
              </a:r>
              <a:r>
                <a:rPr lang="en-US" altLang="zh-CN" sz="2400" b="1" i="0" dirty="0">
                  <a:ea typeface="华文中宋" pitchFamily="2" charset="-122"/>
                  <a:cs typeface="Times New Roman" pitchFamily="18" charset="0"/>
                </a:rPr>
                <a:t>         </a:t>
              </a:r>
              <a:r>
                <a:rPr lang="en-US" altLang="zh-CN" sz="2400" b="1" dirty="0">
                  <a:ea typeface="华文中宋" pitchFamily="2" charset="-122"/>
                  <a:cs typeface="Times New Roman" pitchFamily="18" charset="0"/>
                </a:rPr>
                <a:t>A</a:t>
              </a:r>
              <a:endParaRPr lang="en-US" altLang="zh-CN" sz="1200" b="1" i="0" dirty="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39" name="Text Box 24"/>
            <p:cNvSpPr txBox="1">
              <a:spLocks noChangeArrowheads="1"/>
            </p:cNvSpPr>
            <p:nvPr/>
          </p:nvSpPr>
          <p:spPr bwMode="auto">
            <a:xfrm>
              <a:off x="2862" y="2076"/>
              <a:ext cx="2737" cy="18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b="1" i="0" dirty="0">
                  <a:ea typeface="华文中宋" pitchFamily="2" charset="-122"/>
                  <a:cs typeface="Times New Roman" pitchFamily="18" charset="0"/>
                </a:rPr>
                <a:t>0      </a:t>
              </a:r>
              <a:r>
                <a:rPr lang="zh-CN" altLang="en-US" b="1" i="0" dirty="0">
                  <a:ea typeface="华文中宋" pitchFamily="2" charset="-122"/>
                  <a:cs typeface="Times New Roman" pitchFamily="18" charset="0"/>
                </a:rPr>
                <a:t>       </a:t>
              </a:r>
              <a:r>
                <a:rPr lang="zh-CN" altLang="en-US" b="1" i="0" dirty="0" smtClean="0"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b="1" i="0" dirty="0" smtClean="0">
                  <a:ea typeface="华文中宋" pitchFamily="2" charset="-122"/>
                  <a:cs typeface="Times New Roman" pitchFamily="18" charset="0"/>
                </a:rPr>
                <a:t>0             0           </a:t>
              </a:r>
              <a:r>
                <a:rPr lang="en-US" altLang="zh-CN" b="1" i="0" dirty="0">
                  <a:ea typeface="华文中宋" pitchFamily="2" charset="-122"/>
                  <a:cs typeface="Times New Roman" pitchFamily="18" charset="0"/>
                </a:rPr>
                <a:t>0             0</a:t>
              </a:r>
            </a:p>
            <a:p>
              <a:pPr>
                <a:lnSpc>
                  <a:spcPct val="90000"/>
                </a:lnSpc>
              </a:pPr>
              <a:r>
                <a:rPr lang="en-US" altLang="zh-CN" b="1" i="0" dirty="0">
                  <a:ea typeface="华文中宋" pitchFamily="2" charset="-122"/>
                  <a:cs typeface="Times New Roman" pitchFamily="18" charset="0"/>
                </a:rPr>
                <a:t>1              0             0           0             1</a:t>
              </a:r>
            </a:p>
            <a:p>
              <a:pPr>
                <a:lnSpc>
                  <a:spcPct val="90000"/>
                </a:lnSpc>
              </a:pPr>
              <a:r>
                <a:rPr lang="en-US" altLang="zh-CN" b="1" i="0" dirty="0">
                  <a:ea typeface="华文中宋" pitchFamily="2" charset="-122"/>
                  <a:cs typeface="Times New Roman" pitchFamily="18" charset="0"/>
                </a:rPr>
                <a:t>2              0             0           1             0</a:t>
              </a:r>
            </a:p>
            <a:p>
              <a:pPr>
                <a:lnSpc>
                  <a:spcPct val="90000"/>
                </a:lnSpc>
              </a:pPr>
              <a:r>
                <a:rPr lang="en-US" altLang="zh-CN" b="1" i="0" dirty="0">
                  <a:ea typeface="华文中宋" pitchFamily="2" charset="-122"/>
                  <a:cs typeface="Times New Roman" pitchFamily="18" charset="0"/>
                </a:rPr>
                <a:t>3              0             0           1             1</a:t>
              </a:r>
            </a:p>
            <a:p>
              <a:pPr>
                <a:lnSpc>
                  <a:spcPct val="90000"/>
                </a:lnSpc>
              </a:pPr>
              <a:r>
                <a:rPr lang="en-US" altLang="zh-CN" b="1" i="0" dirty="0">
                  <a:ea typeface="华文中宋" pitchFamily="2" charset="-122"/>
                  <a:cs typeface="Times New Roman" pitchFamily="18" charset="0"/>
                </a:rPr>
                <a:t>4              0             1           0             0</a:t>
              </a:r>
            </a:p>
            <a:p>
              <a:pPr>
                <a:lnSpc>
                  <a:spcPct val="90000"/>
                </a:lnSpc>
              </a:pPr>
              <a:r>
                <a:rPr lang="en-US" altLang="zh-CN" b="1" i="0" dirty="0">
                  <a:ea typeface="华文中宋" pitchFamily="2" charset="-122"/>
                  <a:cs typeface="Times New Roman" pitchFamily="18" charset="0"/>
                </a:rPr>
                <a:t>5           </a:t>
              </a:r>
              <a:r>
                <a:rPr lang="zh-CN" altLang="en-US" b="1" i="0" dirty="0">
                  <a:ea typeface="华文中宋" pitchFamily="2" charset="-122"/>
                  <a:cs typeface="Times New Roman" pitchFamily="18" charset="0"/>
                </a:rPr>
                <a:t>   </a:t>
              </a:r>
              <a:r>
                <a:rPr lang="en-US" altLang="zh-CN" b="1" i="0" dirty="0">
                  <a:ea typeface="华文中宋" pitchFamily="2" charset="-122"/>
                  <a:cs typeface="Times New Roman" pitchFamily="18" charset="0"/>
                </a:rPr>
                <a:t>0             1           0             1</a:t>
              </a:r>
            </a:p>
            <a:p>
              <a:pPr>
                <a:lnSpc>
                  <a:spcPct val="90000"/>
                </a:lnSpc>
              </a:pPr>
              <a:r>
                <a:rPr lang="en-US" altLang="zh-CN" b="1" i="0" dirty="0">
                  <a:ea typeface="华文中宋" pitchFamily="2" charset="-122"/>
                  <a:cs typeface="Times New Roman" pitchFamily="18" charset="0"/>
                </a:rPr>
                <a:t>6              0             1           1             0</a:t>
              </a:r>
            </a:p>
            <a:p>
              <a:pPr>
                <a:lnSpc>
                  <a:spcPct val="90000"/>
                </a:lnSpc>
              </a:pPr>
              <a:r>
                <a:rPr lang="en-US" altLang="zh-CN" b="1" i="0" dirty="0">
                  <a:ea typeface="华文中宋" pitchFamily="2" charset="-122"/>
                  <a:cs typeface="Times New Roman" pitchFamily="18" charset="0"/>
                </a:rPr>
                <a:t>7              0             1           1             1</a:t>
              </a:r>
            </a:p>
            <a:p>
              <a:pPr>
                <a:lnSpc>
                  <a:spcPct val="90000"/>
                </a:lnSpc>
              </a:pPr>
              <a:r>
                <a:rPr lang="en-US" altLang="zh-CN" b="1" i="0" dirty="0">
                  <a:ea typeface="华文中宋" pitchFamily="2" charset="-122"/>
                  <a:cs typeface="Times New Roman" pitchFamily="18" charset="0"/>
                </a:rPr>
                <a:t>8              1             0           0             0</a:t>
              </a:r>
            </a:p>
            <a:p>
              <a:pPr>
                <a:lnSpc>
                  <a:spcPct val="90000"/>
                </a:lnSpc>
              </a:pPr>
              <a:r>
                <a:rPr lang="en-US" altLang="zh-CN" b="1" i="0" dirty="0">
                  <a:ea typeface="华文中宋" pitchFamily="2" charset="-122"/>
                  <a:cs typeface="Times New Roman" pitchFamily="18" charset="0"/>
                </a:rPr>
                <a:t>9              1             0           0             1</a:t>
              </a:r>
            </a:p>
          </p:txBody>
        </p:sp>
      </p:grpSp>
      <p:graphicFrame>
        <p:nvGraphicFramePr>
          <p:cNvPr id="49" name="Object 3"/>
          <p:cNvGraphicFramePr>
            <a:graphicFrameLocks noChangeAspect="1"/>
          </p:cNvGraphicFramePr>
          <p:nvPr/>
        </p:nvGraphicFramePr>
        <p:xfrm>
          <a:off x="571500" y="2665795"/>
          <a:ext cx="3403600" cy="500062"/>
        </p:xfrm>
        <a:graphic>
          <a:graphicData uri="http://schemas.openxmlformats.org/presentationml/2006/ole">
            <p:oleObj spid="_x0000_s1026" name="Equation" r:id="rId5" imgW="1193760" imgH="190440" progId="Equation.DSMT4">
              <p:embed/>
            </p:oleObj>
          </a:graphicData>
        </a:graphic>
      </p:graphicFrame>
      <p:graphicFrame>
        <p:nvGraphicFramePr>
          <p:cNvPr id="50" name="Object 3"/>
          <p:cNvGraphicFramePr>
            <a:graphicFrameLocks noChangeAspect="1"/>
          </p:cNvGraphicFramePr>
          <p:nvPr/>
        </p:nvGraphicFramePr>
        <p:xfrm>
          <a:off x="571500" y="3165857"/>
          <a:ext cx="2824163" cy="500063"/>
        </p:xfrm>
        <a:graphic>
          <a:graphicData uri="http://schemas.openxmlformats.org/presentationml/2006/ole">
            <p:oleObj spid="_x0000_s1027" name="Equation" r:id="rId6" imgW="990360" imgH="190440" progId="Equation.DSMT4">
              <p:embed/>
            </p:oleObj>
          </a:graphicData>
        </a:graphic>
      </p:graphicFrame>
      <p:graphicFrame>
        <p:nvGraphicFramePr>
          <p:cNvPr id="51" name="Object 3"/>
          <p:cNvGraphicFramePr>
            <a:graphicFrameLocks noChangeAspect="1"/>
          </p:cNvGraphicFramePr>
          <p:nvPr/>
        </p:nvGraphicFramePr>
        <p:xfrm>
          <a:off x="571500" y="3665920"/>
          <a:ext cx="2787650" cy="500062"/>
        </p:xfrm>
        <a:graphic>
          <a:graphicData uri="http://schemas.openxmlformats.org/presentationml/2006/ole">
            <p:oleObj spid="_x0000_s1028" name="Equation" r:id="rId7" imgW="977760" imgH="190440" progId="Equation.DSMT4">
              <p:embed/>
            </p:oleObj>
          </a:graphicData>
        </a:graphic>
      </p:graphicFrame>
      <p:graphicFrame>
        <p:nvGraphicFramePr>
          <p:cNvPr id="52" name="Object 3"/>
          <p:cNvGraphicFramePr>
            <a:graphicFrameLocks noChangeAspect="1"/>
          </p:cNvGraphicFramePr>
          <p:nvPr/>
        </p:nvGraphicFramePr>
        <p:xfrm>
          <a:off x="571500" y="4165982"/>
          <a:ext cx="1592263" cy="500063"/>
        </p:xfrm>
        <a:graphic>
          <a:graphicData uri="http://schemas.openxmlformats.org/presentationml/2006/ole">
            <p:oleObj spid="_x0000_s1029" name="Equation" r:id="rId8" imgW="558720" imgH="190440" progId="Equation.DSMT4">
              <p:embed/>
            </p:oleObj>
          </a:graphicData>
        </a:graphic>
      </p:graphicFrame>
      <p:sp>
        <p:nvSpPr>
          <p:cNvPr id="27" name="Text Box 9"/>
          <p:cNvSpPr txBox="1">
            <a:spLocks noChangeArrowheads="1"/>
          </p:cNvSpPr>
          <p:nvPr/>
        </p:nvSpPr>
        <p:spPr bwMode="auto">
          <a:xfrm>
            <a:off x="404030" y="2081323"/>
            <a:ext cx="322166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i="0" dirty="0" smtClean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i="0" dirty="0" smtClean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</a:rPr>
              <a:t>2</a:t>
            </a:r>
            <a:r>
              <a:rPr lang="zh-CN" altLang="en-US" sz="2800" i="0" dirty="0" smtClean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</a:rPr>
              <a:t>）写逻辑表达式</a:t>
            </a:r>
            <a:endParaRPr lang="zh-CN" altLang="en-US" sz="2800" i="0" dirty="0">
              <a:solidFill>
                <a:srgbClr val="3333FF"/>
              </a:solidFill>
              <a:ea typeface="华文中宋" pitchFamily="2" charset="-122"/>
              <a:cs typeface="Times New Roman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utoUpdateAnimBg="0"/>
      <p:bldP spid="27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116"/>
          <p:cNvGraphicFramePr>
            <a:graphicFrameLocks noChangeAspect="1"/>
          </p:cNvGraphicFramePr>
          <p:nvPr/>
        </p:nvGraphicFramePr>
        <p:xfrm>
          <a:off x="1707927" y="883681"/>
          <a:ext cx="6932613" cy="3894138"/>
        </p:xfrm>
        <a:graphic>
          <a:graphicData uri="http://schemas.openxmlformats.org/presentationml/2006/ole">
            <p:oleObj spid="_x0000_s2050" name="Visio" r:id="rId5" imgW="6073940" imgH="3864099" progId="Visio.Drawing.11">
              <p:embed/>
            </p:oleObj>
          </a:graphicData>
        </a:graphic>
      </p:graphicFrame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435928" y="497072"/>
            <a:ext cx="322166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i="0" dirty="0" smtClean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i="0" dirty="0" smtClean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</a:rPr>
              <a:t>3</a:t>
            </a:r>
            <a:r>
              <a:rPr lang="zh-CN" altLang="en-US" sz="2800" i="0" dirty="0" smtClean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</a:rPr>
              <a:t>）画逻辑电路图</a:t>
            </a:r>
            <a:endParaRPr lang="zh-CN" altLang="en-US" sz="2800" i="0" dirty="0">
              <a:solidFill>
                <a:srgbClr val="3333FF"/>
              </a:solidFill>
              <a:ea typeface="华文中宋" pitchFamily="2" charset="-122"/>
              <a:cs typeface="Times New Roman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Box 3"/>
          <p:cNvSpPr txBox="1">
            <a:spLocks noChangeArrowheads="1"/>
          </p:cNvSpPr>
          <p:nvPr/>
        </p:nvSpPr>
        <p:spPr bwMode="auto">
          <a:xfrm>
            <a:off x="629242" y="3140703"/>
            <a:ext cx="162736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 i="0" dirty="0">
                <a:ea typeface="华文中宋" pitchFamily="2" charset="-122"/>
                <a:cs typeface="Times New Roman" pitchFamily="18" charset="0"/>
              </a:rPr>
              <a:t>某种编码</a:t>
            </a:r>
          </a:p>
        </p:txBody>
      </p:sp>
      <p:sp>
        <p:nvSpPr>
          <p:cNvPr id="19" name="Text Box 4"/>
          <p:cNvSpPr txBox="1">
            <a:spLocks noChangeArrowheads="1"/>
          </p:cNvSpPr>
          <p:nvPr/>
        </p:nvSpPr>
        <p:spPr bwMode="auto">
          <a:xfrm>
            <a:off x="4594225" y="3144838"/>
            <a:ext cx="379142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 i="0">
                <a:ea typeface="华文中宋" pitchFamily="2" charset="-122"/>
                <a:cs typeface="Times New Roman" pitchFamily="18" charset="0"/>
              </a:rPr>
              <a:t>某种控制信息、符号等</a:t>
            </a:r>
          </a:p>
        </p:txBody>
      </p:sp>
      <p:sp>
        <p:nvSpPr>
          <p:cNvPr id="26" name="Line 5"/>
          <p:cNvSpPr>
            <a:spLocks noChangeShapeType="1"/>
          </p:cNvSpPr>
          <p:nvPr/>
        </p:nvSpPr>
        <p:spPr bwMode="auto">
          <a:xfrm>
            <a:off x="2522538" y="3455988"/>
            <a:ext cx="1905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 sz="2800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7" name="Text Box 6"/>
          <p:cNvSpPr txBox="1">
            <a:spLocks noChangeArrowheads="1"/>
          </p:cNvSpPr>
          <p:nvPr/>
        </p:nvSpPr>
        <p:spPr bwMode="auto">
          <a:xfrm>
            <a:off x="2758262" y="2814453"/>
            <a:ext cx="101822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 i="0" dirty="0">
                <a:ea typeface="华文中宋" pitchFamily="2" charset="-122"/>
                <a:cs typeface="Times New Roman" pitchFamily="18" charset="0"/>
              </a:rPr>
              <a:t>译 码</a:t>
            </a:r>
          </a:p>
        </p:txBody>
      </p:sp>
      <p:sp>
        <p:nvSpPr>
          <p:cNvPr id="28" name="Line 7"/>
          <p:cNvSpPr>
            <a:spLocks noChangeShapeType="1"/>
          </p:cNvSpPr>
          <p:nvPr/>
        </p:nvSpPr>
        <p:spPr bwMode="auto">
          <a:xfrm>
            <a:off x="3371850" y="2333182"/>
            <a:ext cx="0" cy="5810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 sz="2800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1" name="Text Box 8"/>
          <p:cNvSpPr txBox="1">
            <a:spLocks noChangeArrowheads="1"/>
          </p:cNvSpPr>
          <p:nvPr/>
        </p:nvSpPr>
        <p:spPr bwMode="auto">
          <a:xfrm>
            <a:off x="2744788" y="1843753"/>
            <a:ext cx="126669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 i="0" dirty="0">
                <a:solidFill>
                  <a:srgbClr val="CC3300"/>
                </a:solidFill>
                <a:ea typeface="华文中宋" pitchFamily="2" charset="-122"/>
                <a:cs typeface="Times New Roman" pitchFamily="18" charset="0"/>
              </a:rPr>
              <a:t>译码器</a:t>
            </a:r>
            <a:endParaRPr lang="zh-CN" altLang="en-US" sz="2800" b="1" i="0" dirty="0"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4286250" y="714375"/>
            <a:ext cx="3600450" cy="1864190"/>
            <a:chOff x="2369" y="732"/>
            <a:chExt cx="2268" cy="1471"/>
          </a:xfrm>
        </p:grpSpPr>
        <p:sp>
          <p:nvSpPr>
            <p:cNvPr id="23565" name="AutoShape 10"/>
            <p:cNvSpPr>
              <a:spLocks noChangeArrowheads="1"/>
            </p:cNvSpPr>
            <p:nvPr/>
          </p:nvSpPr>
          <p:spPr bwMode="auto">
            <a:xfrm>
              <a:off x="2369" y="732"/>
              <a:ext cx="2268" cy="1442"/>
            </a:xfrm>
            <a:prstGeom prst="wedgeRoundRectCallout">
              <a:avLst>
                <a:gd name="adj1" fmla="val -59428"/>
                <a:gd name="adj2" fmla="val 27470"/>
                <a:gd name="adj3" fmla="val 16667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endParaRPr lang="zh-CN" altLang="zh-CN" sz="2800" i="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3566" name="Text Box 11"/>
            <p:cNvSpPr txBox="1">
              <a:spLocks noChangeArrowheads="1"/>
            </p:cNvSpPr>
            <p:nvPr/>
          </p:nvSpPr>
          <p:spPr bwMode="auto">
            <a:xfrm>
              <a:off x="2491" y="770"/>
              <a:ext cx="2099" cy="14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 eaLnBrk="0" hangingPunct="0"/>
              <a:r>
                <a:rPr kumimoji="0" lang="zh-CN" altLang="en-US" sz="2800" i="0">
                  <a:ea typeface="华文中宋" pitchFamily="2" charset="-122"/>
                  <a:cs typeface="Times New Roman" pitchFamily="18" charset="0"/>
                </a:rPr>
                <a:t>把某种编码转化为对应的信息，这种组合逻辑电路称为译码器。 </a:t>
              </a:r>
            </a:p>
          </p:txBody>
        </p:sp>
      </p:grpSp>
      <p:sp>
        <p:nvSpPr>
          <p:cNvPr id="35" name="Text Box 14"/>
          <p:cNvSpPr txBox="1">
            <a:spLocks noChangeArrowheads="1"/>
          </p:cNvSpPr>
          <p:nvPr/>
        </p:nvSpPr>
        <p:spPr bwMode="auto">
          <a:xfrm>
            <a:off x="461963" y="3838575"/>
            <a:ext cx="795178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 i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2800" i="0">
                <a:ea typeface="华文中宋" pitchFamily="2" charset="-122"/>
                <a:cs typeface="Times New Roman" pitchFamily="18" charset="0"/>
              </a:rPr>
              <a:t>译码器常见的有</a:t>
            </a:r>
            <a:r>
              <a:rPr lang="zh-CN" altLang="en-US" sz="2800" i="0">
                <a:solidFill>
                  <a:srgbClr val="FF0000"/>
                </a:solidFill>
                <a:ea typeface="华文中宋" pitchFamily="2" charset="-122"/>
                <a:cs typeface="Times New Roman" pitchFamily="18" charset="0"/>
              </a:rPr>
              <a:t>二进制译码器</a:t>
            </a:r>
            <a:r>
              <a:rPr lang="zh-CN" altLang="en-US" sz="2800" i="0">
                <a:ea typeface="华文中宋" pitchFamily="2" charset="-122"/>
                <a:cs typeface="Times New Roman" pitchFamily="18" charset="0"/>
              </a:rPr>
              <a:t>和</a:t>
            </a:r>
            <a:r>
              <a:rPr lang="zh-CN" altLang="en-US" sz="2800" i="0">
                <a:solidFill>
                  <a:srgbClr val="FF0000"/>
                </a:solidFill>
                <a:ea typeface="华文中宋" pitchFamily="2" charset="-122"/>
                <a:cs typeface="Times New Roman" pitchFamily="18" charset="0"/>
              </a:rPr>
              <a:t>显示译码器</a:t>
            </a:r>
            <a:r>
              <a:rPr lang="zh-CN" altLang="en-US" sz="2800" i="0">
                <a:ea typeface="华文中宋" pitchFamily="2" charset="-122"/>
                <a:cs typeface="Times New Roman" pitchFamily="18" charset="0"/>
              </a:rPr>
              <a:t>两种</a:t>
            </a:r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437917" y="359715"/>
            <a:ext cx="2838449" cy="540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</a:t>
            </a: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译码器</a:t>
            </a:r>
            <a:endParaRPr lang="zh-CN" altLang="en-US" sz="3600" b="1" i="0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utoUpdateAnimBg="0"/>
      <p:bldP spid="19" grpId="0" autoUpdateAnimBg="0"/>
      <p:bldP spid="26" grpId="0" animBg="1"/>
      <p:bldP spid="27" grpId="0" autoUpdateAnimBg="0"/>
      <p:bldP spid="28" grpId="0" animBg="1"/>
      <p:bldP spid="31" grpId="0" autoUpdateAnimBg="0"/>
      <p:bldP spid="35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Text Box 3"/>
          <p:cNvSpPr txBox="1">
            <a:spLocks noChangeArrowheads="1"/>
          </p:cNvSpPr>
          <p:nvPr/>
        </p:nvSpPr>
        <p:spPr bwMode="auto">
          <a:xfrm>
            <a:off x="349986" y="430287"/>
            <a:ext cx="315620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800" b="1" i="0" dirty="0" smtClean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二进制</a:t>
            </a:r>
            <a:r>
              <a:rPr lang="zh-CN" altLang="en-US" sz="2800" b="1" i="0" dirty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译码器</a:t>
            </a:r>
            <a:endParaRPr lang="zh-CN" altLang="en-US" sz="2800" b="1" i="0" dirty="0">
              <a:solidFill>
                <a:srgbClr val="3333FF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1438718" y="1070603"/>
            <a:ext cx="499398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译码输入：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N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位</a:t>
            </a:r>
            <a:r>
              <a:rPr lang="zh-CN" altLang="en-US" sz="2800" i="0" dirty="0">
                <a:solidFill>
                  <a:srgbClr val="FF3300"/>
                </a:solidFill>
                <a:ea typeface="华文中宋" pitchFamily="2" charset="-122"/>
                <a:cs typeface="Times New Roman" pitchFamily="18" charset="0"/>
              </a:rPr>
              <a:t>二进制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代码</a:t>
            </a:r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1440306" y="1583812"/>
            <a:ext cx="578983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译码输出：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M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个输出信号，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M</a:t>
            </a:r>
            <a:r>
              <a:rPr lang="en-US" altLang="zh-CN" sz="2800" i="0" dirty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=2</a:t>
            </a:r>
            <a:r>
              <a:rPr lang="en-US" altLang="zh-CN" sz="2800" i="0" baseline="30000" dirty="0">
                <a:solidFill>
                  <a:srgbClr val="CC0000"/>
                </a:solidFill>
                <a:ea typeface="华文中宋" pitchFamily="2" charset="-122"/>
                <a:cs typeface="Times New Roman" pitchFamily="18" charset="0"/>
              </a:rPr>
              <a:t>N</a:t>
            </a:r>
            <a:endParaRPr lang="en-US" altLang="zh-CN" sz="2800" i="0" baseline="30000" dirty="0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9" name="Rectangle 43"/>
          <p:cNvSpPr>
            <a:spLocks noChangeArrowheads="1"/>
          </p:cNvSpPr>
          <p:nvPr/>
        </p:nvSpPr>
        <p:spPr bwMode="auto">
          <a:xfrm>
            <a:off x="1489518" y="2258584"/>
            <a:ext cx="4222929" cy="52540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>
              <a:defRPr/>
            </a:pPr>
            <a:r>
              <a:rPr lang="en-US" altLang="zh-CN" sz="2800" i="0" dirty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</a:rPr>
              <a:t>N</a:t>
            </a:r>
            <a:r>
              <a:rPr lang="zh-CN" altLang="en-US" sz="2800" i="0" dirty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</a:rPr>
              <a:t>线</a:t>
            </a:r>
            <a:r>
              <a:rPr lang="en-US" altLang="zh-CN" sz="2800" i="0" dirty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</a:rPr>
              <a:t>-2</a:t>
            </a:r>
            <a:r>
              <a:rPr lang="en-US" altLang="zh-CN" sz="2800" i="0" baseline="30000" dirty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</a:rPr>
              <a:t>N</a:t>
            </a:r>
            <a:r>
              <a:rPr lang="zh-CN" altLang="en-US" sz="2800" i="0" dirty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</a:rPr>
              <a:t>线译码器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，例如：</a:t>
            </a:r>
          </a:p>
        </p:txBody>
      </p:sp>
      <p:grpSp>
        <p:nvGrpSpPr>
          <p:cNvPr id="2" name="Group 68"/>
          <p:cNvGrpSpPr>
            <a:grpSpLocks/>
          </p:cNvGrpSpPr>
          <p:nvPr/>
        </p:nvGrpSpPr>
        <p:grpSpPr bwMode="auto">
          <a:xfrm>
            <a:off x="2382062" y="3311032"/>
            <a:ext cx="5103813" cy="543372"/>
            <a:chOff x="1066" y="1752"/>
            <a:chExt cx="3215" cy="456"/>
          </a:xfrm>
        </p:grpSpPr>
        <p:sp>
          <p:nvSpPr>
            <p:cNvPr id="41" name="Text Box 37"/>
            <p:cNvSpPr txBox="1">
              <a:spLocks noChangeArrowheads="1"/>
            </p:cNvSpPr>
            <p:nvPr/>
          </p:nvSpPr>
          <p:spPr bwMode="auto">
            <a:xfrm>
              <a:off x="2653" y="1752"/>
              <a:ext cx="1628" cy="4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2800" i="0" dirty="0" smtClean="0">
                  <a:ea typeface="华文中宋" pitchFamily="2" charset="-122"/>
                  <a:cs typeface="Times New Roman" pitchFamily="18" charset="0"/>
                </a:rPr>
                <a:t>（ </a:t>
              </a:r>
              <a:r>
                <a:rPr lang="en-US" altLang="zh-CN" sz="2800" i="0" dirty="0">
                  <a:ea typeface="华文中宋" pitchFamily="2" charset="-122"/>
                  <a:cs typeface="Times New Roman" pitchFamily="18" charset="0"/>
                </a:rPr>
                <a:t>3/8 </a:t>
              </a:r>
              <a:r>
                <a:rPr lang="zh-CN" altLang="en-US" sz="2800" i="0" dirty="0">
                  <a:ea typeface="华文中宋" pitchFamily="2" charset="-122"/>
                  <a:cs typeface="Times New Roman" pitchFamily="18" charset="0"/>
                </a:rPr>
                <a:t>译码器）</a:t>
              </a:r>
            </a:p>
          </p:txBody>
        </p:sp>
        <p:sp>
          <p:nvSpPr>
            <p:cNvPr id="42" name="Text Box 45"/>
            <p:cNvSpPr txBox="1">
              <a:spLocks noChangeArrowheads="1"/>
            </p:cNvSpPr>
            <p:nvPr/>
          </p:nvSpPr>
          <p:spPr bwMode="auto">
            <a:xfrm>
              <a:off x="1066" y="1767"/>
              <a:ext cx="1698" cy="44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>
                <a:defRPr/>
              </a:pPr>
              <a:r>
                <a:rPr lang="en-US" altLang="zh-CN" sz="2800" i="0" dirty="0">
                  <a:ea typeface="华文中宋" pitchFamily="2" charset="-122"/>
                  <a:cs typeface="Times New Roman" pitchFamily="18" charset="0"/>
                </a:rPr>
                <a:t>3</a:t>
              </a:r>
              <a:r>
                <a:rPr lang="zh-CN" altLang="en-US" sz="2800" i="0" dirty="0">
                  <a:ea typeface="华文中宋" pitchFamily="2" charset="-122"/>
                  <a:cs typeface="Times New Roman" pitchFamily="18" charset="0"/>
                </a:rPr>
                <a:t>线</a:t>
              </a:r>
              <a:r>
                <a:rPr lang="en-US" altLang="zh-CN" sz="2800" i="0" dirty="0" smtClean="0">
                  <a:ea typeface="华文中宋" pitchFamily="2" charset="-122"/>
                  <a:cs typeface="Times New Roman" pitchFamily="18" charset="0"/>
                </a:rPr>
                <a:t>—8</a:t>
              </a:r>
              <a:r>
                <a:rPr lang="zh-CN" altLang="en-US" sz="2800" i="0" dirty="0">
                  <a:ea typeface="华文中宋" pitchFamily="2" charset="-122"/>
                  <a:cs typeface="Times New Roman" pitchFamily="18" charset="0"/>
                </a:rPr>
                <a:t>线译码器</a:t>
              </a:r>
            </a:p>
          </p:txBody>
        </p:sp>
      </p:grpSp>
      <p:grpSp>
        <p:nvGrpSpPr>
          <p:cNvPr id="3" name="Group 69"/>
          <p:cNvGrpSpPr>
            <a:grpSpLocks/>
          </p:cNvGrpSpPr>
          <p:nvPr/>
        </p:nvGrpSpPr>
        <p:grpSpPr bwMode="auto">
          <a:xfrm>
            <a:off x="2382062" y="2826876"/>
            <a:ext cx="5178425" cy="541735"/>
            <a:chOff x="1066" y="1464"/>
            <a:chExt cx="3262" cy="455"/>
          </a:xfrm>
        </p:grpSpPr>
        <p:sp>
          <p:nvSpPr>
            <p:cNvPr id="44" name="Text Box 44"/>
            <p:cNvSpPr txBox="1">
              <a:spLocks noChangeArrowheads="1"/>
            </p:cNvSpPr>
            <p:nvPr/>
          </p:nvSpPr>
          <p:spPr bwMode="auto">
            <a:xfrm>
              <a:off x="1066" y="1464"/>
              <a:ext cx="1698" cy="44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>
                <a:defRPr/>
              </a:pPr>
              <a:r>
                <a:rPr lang="en-US" altLang="zh-CN" sz="2800" i="0" dirty="0">
                  <a:ea typeface="华文中宋" pitchFamily="2" charset="-122"/>
                  <a:cs typeface="Times New Roman" pitchFamily="18" charset="0"/>
                </a:rPr>
                <a:t>2</a:t>
              </a:r>
              <a:r>
                <a:rPr lang="zh-CN" altLang="en-US" sz="2800" i="0" dirty="0">
                  <a:ea typeface="华文中宋" pitchFamily="2" charset="-122"/>
                  <a:cs typeface="Times New Roman" pitchFamily="18" charset="0"/>
                </a:rPr>
                <a:t>线</a:t>
              </a:r>
              <a:r>
                <a:rPr lang="en-US" altLang="zh-CN" sz="2800" i="0" dirty="0" smtClean="0">
                  <a:ea typeface="华文中宋" pitchFamily="2" charset="-122"/>
                  <a:cs typeface="Times New Roman" pitchFamily="18" charset="0"/>
                </a:rPr>
                <a:t>—4</a:t>
              </a:r>
              <a:r>
                <a:rPr lang="zh-CN" altLang="en-US" sz="2800" i="0" dirty="0">
                  <a:ea typeface="华文中宋" pitchFamily="2" charset="-122"/>
                  <a:cs typeface="Times New Roman" pitchFamily="18" charset="0"/>
                </a:rPr>
                <a:t>线译码器</a:t>
              </a:r>
            </a:p>
          </p:txBody>
        </p:sp>
        <p:sp>
          <p:nvSpPr>
            <p:cNvPr id="45" name="Text Box 47"/>
            <p:cNvSpPr txBox="1">
              <a:spLocks noChangeArrowheads="1"/>
            </p:cNvSpPr>
            <p:nvPr/>
          </p:nvSpPr>
          <p:spPr bwMode="auto">
            <a:xfrm>
              <a:off x="2653" y="1480"/>
              <a:ext cx="1675" cy="4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2800" i="0" dirty="0" smtClean="0">
                  <a:ea typeface="华文中宋" pitchFamily="2" charset="-122"/>
                  <a:cs typeface="Times New Roman" pitchFamily="18" charset="0"/>
                </a:rPr>
                <a:t>（ </a:t>
              </a:r>
              <a:r>
                <a:rPr lang="en-US" altLang="zh-CN" sz="2800" i="0" dirty="0">
                  <a:ea typeface="华文中宋" pitchFamily="2" charset="-122"/>
                  <a:cs typeface="Times New Roman" pitchFamily="18" charset="0"/>
                </a:rPr>
                <a:t>2/4 </a:t>
              </a:r>
              <a:r>
                <a:rPr lang="zh-CN" altLang="en-US" sz="2800" i="0" dirty="0">
                  <a:ea typeface="华文中宋" pitchFamily="2" charset="-122"/>
                  <a:cs typeface="Times New Roman" pitchFamily="18" charset="0"/>
                </a:rPr>
                <a:t>译码器）</a:t>
              </a:r>
            </a:p>
          </p:txBody>
        </p:sp>
      </p:grpSp>
      <p:grpSp>
        <p:nvGrpSpPr>
          <p:cNvPr id="4" name="Group 67"/>
          <p:cNvGrpSpPr>
            <a:grpSpLocks/>
          </p:cNvGrpSpPr>
          <p:nvPr/>
        </p:nvGrpSpPr>
        <p:grpSpPr bwMode="auto">
          <a:xfrm>
            <a:off x="2383649" y="3827086"/>
            <a:ext cx="5568950" cy="544411"/>
            <a:chOff x="1066" y="2069"/>
            <a:chExt cx="3508" cy="458"/>
          </a:xfrm>
        </p:grpSpPr>
        <p:sp>
          <p:nvSpPr>
            <p:cNvPr id="47" name="Text Box 46"/>
            <p:cNvSpPr txBox="1">
              <a:spLocks noChangeArrowheads="1"/>
            </p:cNvSpPr>
            <p:nvPr/>
          </p:nvSpPr>
          <p:spPr bwMode="auto">
            <a:xfrm>
              <a:off x="1066" y="2085"/>
              <a:ext cx="2825" cy="44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defRPr/>
              </a:pPr>
              <a:r>
                <a:rPr lang="en-US" altLang="zh-CN" sz="2800" i="0" dirty="0">
                  <a:ea typeface="华文中宋" pitchFamily="2" charset="-122"/>
                  <a:cs typeface="Times New Roman" pitchFamily="18" charset="0"/>
                </a:rPr>
                <a:t>4</a:t>
              </a:r>
              <a:r>
                <a:rPr lang="zh-CN" altLang="en-US" sz="2800" i="0" dirty="0">
                  <a:ea typeface="华文中宋" pitchFamily="2" charset="-122"/>
                  <a:cs typeface="Times New Roman" pitchFamily="18" charset="0"/>
                </a:rPr>
                <a:t>线</a:t>
              </a:r>
              <a:r>
                <a:rPr lang="en-US" altLang="zh-CN" sz="2800" i="0" dirty="0" smtClean="0">
                  <a:ea typeface="华文中宋" pitchFamily="2" charset="-122"/>
                  <a:cs typeface="Times New Roman" pitchFamily="18" charset="0"/>
                </a:rPr>
                <a:t>—16</a:t>
              </a:r>
              <a:r>
                <a:rPr lang="zh-CN" altLang="en-US" sz="2800" i="0" dirty="0">
                  <a:ea typeface="华文中宋" pitchFamily="2" charset="-122"/>
                  <a:cs typeface="Times New Roman" pitchFamily="18" charset="0"/>
                </a:rPr>
                <a:t>线译码器</a:t>
              </a:r>
            </a:p>
          </p:txBody>
        </p:sp>
        <p:sp>
          <p:nvSpPr>
            <p:cNvPr id="48" name="Text Box 48"/>
            <p:cNvSpPr txBox="1">
              <a:spLocks noChangeArrowheads="1"/>
            </p:cNvSpPr>
            <p:nvPr/>
          </p:nvSpPr>
          <p:spPr bwMode="auto">
            <a:xfrm>
              <a:off x="2789" y="2069"/>
              <a:ext cx="1785" cy="4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2800" i="0" dirty="0" smtClean="0">
                  <a:ea typeface="华文中宋" pitchFamily="2" charset="-122"/>
                  <a:cs typeface="Times New Roman" pitchFamily="18" charset="0"/>
                </a:rPr>
                <a:t>（ </a:t>
              </a:r>
              <a:r>
                <a:rPr lang="en-US" altLang="zh-CN" sz="2800" i="0" dirty="0">
                  <a:ea typeface="华文中宋" pitchFamily="2" charset="-122"/>
                  <a:cs typeface="Times New Roman" pitchFamily="18" charset="0"/>
                </a:rPr>
                <a:t>4/16 </a:t>
              </a:r>
              <a:r>
                <a:rPr lang="zh-CN" altLang="en-US" sz="2800" i="0" dirty="0">
                  <a:ea typeface="华文中宋" pitchFamily="2" charset="-122"/>
                  <a:cs typeface="Times New Roman" pitchFamily="18" charset="0"/>
                </a:rPr>
                <a:t>译码器）</a:t>
              </a: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utoUpdateAnimBg="0"/>
      <p:bldP spid="16" grpId="0" autoUpdateAnimBg="0"/>
      <p:bldP spid="3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803313" y="1551061"/>
            <a:ext cx="7638939" cy="1954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译码规则：对应输入的</a:t>
            </a:r>
            <a:r>
              <a:rPr lang="zh-CN" altLang="en-US" sz="2800" i="0" dirty="0">
                <a:solidFill>
                  <a:srgbClr val="FF0000"/>
                </a:solidFill>
                <a:ea typeface="华文中宋" pitchFamily="2" charset="-122"/>
                <a:cs typeface="Times New Roman" pitchFamily="18" charset="0"/>
              </a:rPr>
              <a:t>一组二进制代码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有且仅有一个输出端为有效电平，其余输出端为相反电平。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349986" y="430287"/>
            <a:ext cx="315620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800" b="1" i="0" dirty="0" smtClean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二进制</a:t>
            </a:r>
            <a:r>
              <a:rPr lang="zh-CN" altLang="en-US" sz="2800" b="1" i="0" dirty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译码器</a:t>
            </a:r>
            <a:endParaRPr lang="zh-CN" altLang="en-US" sz="2800" b="1" i="0" dirty="0">
              <a:solidFill>
                <a:srgbClr val="3333FF"/>
              </a:solidFill>
              <a:ea typeface="华文中宋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9"/>
          <p:cNvSpPr>
            <a:spLocks noChangeArrowheads="1"/>
          </p:cNvSpPr>
          <p:nvPr/>
        </p:nvSpPr>
        <p:spPr bwMode="auto">
          <a:xfrm>
            <a:off x="1253646" y="183743"/>
            <a:ext cx="5686425" cy="584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b="1" i="0" dirty="0">
                <a:ea typeface="黑体" pitchFamily="49" charset="-122"/>
                <a:cs typeface="Times New Roman" pitchFamily="18" charset="0"/>
                <a:sym typeface="Symbol" pitchFamily="18" charset="2"/>
              </a:rPr>
              <a:t>二进制译码器</a:t>
            </a:r>
            <a:r>
              <a:rPr lang="en-US" altLang="zh-CN" sz="3200" b="1" i="0" dirty="0">
                <a:ea typeface="黑体" pitchFamily="49" charset="-122"/>
                <a:cs typeface="Times New Roman" pitchFamily="18" charset="0"/>
                <a:sym typeface="Symbol" pitchFamily="18" charset="2"/>
              </a:rPr>
              <a:t>——CT</a:t>
            </a:r>
            <a:r>
              <a:rPr lang="en-US" altLang="zh-CN" sz="3200" b="1" i="0" dirty="0">
                <a:ea typeface="黑体" pitchFamily="49" charset="-122"/>
                <a:cs typeface="Times New Roman" pitchFamily="18" charset="0"/>
              </a:rPr>
              <a:t>74LS139</a:t>
            </a:r>
            <a:endParaRPr lang="zh-CN" altLang="en-US" sz="3200" b="1" i="0" dirty="0">
              <a:ea typeface="黑体" pitchFamily="49" charset="-122"/>
              <a:cs typeface="Times New Roman" pitchFamily="18" charset="0"/>
            </a:endParaRPr>
          </a:p>
        </p:txBody>
      </p:sp>
      <p:graphicFrame>
        <p:nvGraphicFramePr>
          <p:cNvPr id="3074" name="Object 7"/>
          <p:cNvGraphicFramePr>
            <a:graphicFrameLocks noChangeAspect="1"/>
          </p:cNvGraphicFramePr>
          <p:nvPr/>
        </p:nvGraphicFramePr>
        <p:xfrm>
          <a:off x="4264025" y="1379920"/>
          <a:ext cx="4451350" cy="3286125"/>
        </p:xfrm>
        <a:graphic>
          <a:graphicData uri="http://schemas.openxmlformats.org/presentationml/2006/ole">
            <p:oleObj spid="_x0000_s3074" name="Visio" r:id="rId5" imgW="2909356" imgH="2147143" progId="Visio.Drawing.11">
              <p:embed/>
            </p:oleObj>
          </a:graphicData>
        </a:graphic>
      </p:graphicFrame>
      <p:sp>
        <p:nvSpPr>
          <p:cNvPr id="143" name="Text Box 223"/>
          <p:cNvSpPr txBox="1">
            <a:spLocks noChangeArrowheads="1"/>
          </p:cNvSpPr>
          <p:nvPr/>
        </p:nvSpPr>
        <p:spPr bwMode="auto">
          <a:xfrm>
            <a:off x="5643563" y="879857"/>
            <a:ext cx="2376487" cy="525401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0" lang="zh-CN" altLang="en-US" sz="2800" i="0" dirty="0">
                <a:ea typeface="华文中宋" pitchFamily="2" charset="-122"/>
                <a:cs typeface="Times New Roman" pitchFamily="18" charset="0"/>
              </a:rPr>
              <a:t>逻辑图（</a:t>
            </a:r>
            <a:r>
              <a:rPr kumimoji="0" lang="en-US" altLang="zh-CN" sz="2800" i="0" dirty="0">
                <a:ea typeface="华文中宋" pitchFamily="2" charset="-122"/>
                <a:cs typeface="Times New Roman" pitchFamily="18" charset="0"/>
              </a:rPr>
              <a:t>1/2</a:t>
            </a:r>
            <a:r>
              <a:rPr kumimoji="0" lang="zh-CN" altLang="en-US" sz="2800" i="0" dirty="0">
                <a:ea typeface="华文中宋" pitchFamily="2" charset="-122"/>
                <a:cs typeface="Times New Roman" pitchFamily="18" charset="0"/>
              </a:rPr>
              <a:t>）</a:t>
            </a:r>
          </a:p>
        </p:txBody>
      </p:sp>
      <p:sp>
        <p:nvSpPr>
          <p:cNvPr id="144" name="Text Box 202"/>
          <p:cNvSpPr txBox="1">
            <a:spLocks noChangeArrowheads="1"/>
          </p:cNvSpPr>
          <p:nvPr/>
        </p:nvSpPr>
        <p:spPr bwMode="auto">
          <a:xfrm>
            <a:off x="285750" y="846520"/>
            <a:ext cx="66357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0" hangingPunct="0">
              <a:defRPr/>
            </a:pPr>
            <a:r>
              <a:rPr kumimoji="0" lang="en-US" altLang="zh-CN" sz="2800" b="1" i="0" dirty="0">
                <a:solidFill>
                  <a:srgbClr val="0000FF"/>
                </a:solidFill>
                <a:ea typeface="华文中宋" pitchFamily="2" charset="-122"/>
                <a:cs typeface="Times New Roman" pitchFamily="18" charset="0"/>
              </a:rPr>
              <a:t>CT74LS139</a:t>
            </a:r>
            <a:r>
              <a:rPr kumimoji="0" lang="zh-CN" altLang="en-US" sz="2800" i="0" dirty="0">
                <a:solidFill>
                  <a:srgbClr val="0000FF"/>
                </a:solidFill>
                <a:ea typeface="华文中宋" pitchFamily="2" charset="-122"/>
                <a:cs typeface="Times New Roman" pitchFamily="18" charset="0"/>
              </a:rPr>
              <a:t>：</a:t>
            </a:r>
            <a:r>
              <a:rPr kumimoji="0" lang="zh-CN" altLang="en-US" sz="2800" i="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双</a:t>
            </a:r>
            <a:r>
              <a:rPr kumimoji="0" lang="en-US" altLang="zh-CN" sz="2800" i="0" dirty="0">
                <a:solidFill>
                  <a:srgbClr val="0000FF"/>
                </a:solidFill>
                <a:ea typeface="华文中宋" pitchFamily="2" charset="-122"/>
                <a:cs typeface="Times New Roman" pitchFamily="18" charset="0"/>
              </a:rPr>
              <a:t>2</a:t>
            </a:r>
            <a:r>
              <a:rPr kumimoji="0" lang="zh-CN" altLang="en-US" sz="2800" i="0" dirty="0">
                <a:solidFill>
                  <a:srgbClr val="0000FF"/>
                </a:solidFill>
                <a:ea typeface="华文中宋" pitchFamily="2" charset="-122"/>
                <a:cs typeface="Times New Roman" pitchFamily="18" charset="0"/>
              </a:rPr>
              <a:t>线</a:t>
            </a:r>
            <a:r>
              <a:rPr kumimoji="0" lang="en-US" altLang="zh-CN" sz="2800" i="0" dirty="0">
                <a:solidFill>
                  <a:srgbClr val="0000FF"/>
                </a:solidFill>
                <a:ea typeface="华文中宋" pitchFamily="2" charset="-122"/>
                <a:cs typeface="Times New Roman" pitchFamily="18" charset="0"/>
              </a:rPr>
              <a:t>-4</a:t>
            </a:r>
            <a:r>
              <a:rPr kumimoji="0" lang="zh-CN" altLang="en-US" sz="2800" i="0" dirty="0">
                <a:solidFill>
                  <a:srgbClr val="0000FF"/>
                </a:solidFill>
                <a:ea typeface="华文中宋" pitchFamily="2" charset="-122"/>
                <a:cs typeface="Times New Roman" pitchFamily="18" charset="0"/>
              </a:rPr>
              <a:t>线译码器</a:t>
            </a:r>
            <a:r>
              <a:rPr kumimoji="0" lang="zh-CN" altLang="en-US" sz="2800" i="0" dirty="0">
                <a:ea typeface="华文中宋" pitchFamily="2" charset="-122"/>
                <a:cs typeface="Times New Roman" pitchFamily="18" charset="0"/>
              </a:rPr>
              <a:t> </a:t>
            </a:r>
          </a:p>
        </p:txBody>
      </p:sp>
      <p:sp>
        <p:nvSpPr>
          <p:cNvPr id="3080" name="AutoShape 4"/>
          <p:cNvSpPr>
            <a:spLocks noChangeAspect="1" noChangeArrowheads="1" noTextEdit="1"/>
          </p:cNvSpPr>
          <p:nvPr/>
        </p:nvSpPr>
        <p:spPr bwMode="auto">
          <a:xfrm>
            <a:off x="785813" y="1308482"/>
            <a:ext cx="3071812" cy="293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1" name="Rectangle 5"/>
          <p:cNvSpPr>
            <a:spLocks noChangeArrowheads="1"/>
          </p:cNvSpPr>
          <p:nvPr/>
        </p:nvSpPr>
        <p:spPr bwMode="auto">
          <a:xfrm>
            <a:off x="1668463" y="1433895"/>
            <a:ext cx="1273175" cy="27051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2" name="Rectangle 6"/>
          <p:cNvSpPr>
            <a:spLocks noChangeArrowheads="1"/>
          </p:cNvSpPr>
          <p:nvPr/>
        </p:nvSpPr>
        <p:spPr bwMode="auto">
          <a:xfrm>
            <a:off x="1668463" y="1433895"/>
            <a:ext cx="1273175" cy="2705100"/>
          </a:xfrm>
          <a:prstGeom prst="rect">
            <a:avLst/>
          </a:pr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3" name="Line 7"/>
          <p:cNvSpPr>
            <a:spLocks noChangeShapeType="1"/>
          </p:cNvSpPr>
          <p:nvPr/>
        </p:nvSpPr>
        <p:spPr bwMode="auto">
          <a:xfrm flipH="1">
            <a:off x="1312863" y="1735520"/>
            <a:ext cx="355600" cy="1587"/>
          </a:xfrm>
          <a:prstGeom prst="line">
            <a:avLst/>
          </a:pr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4" name="Line 8"/>
          <p:cNvSpPr>
            <a:spLocks noChangeShapeType="1"/>
          </p:cNvSpPr>
          <p:nvPr/>
        </p:nvSpPr>
        <p:spPr bwMode="auto">
          <a:xfrm flipH="1">
            <a:off x="1312863" y="2035557"/>
            <a:ext cx="355600" cy="1588"/>
          </a:xfrm>
          <a:prstGeom prst="line">
            <a:avLst/>
          </a:pr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5" name="Line 9"/>
          <p:cNvSpPr>
            <a:spLocks noChangeShapeType="1"/>
          </p:cNvSpPr>
          <p:nvPr/>
        </p:nvSpPr>
        <p:spPr bwMode="auto">
          <a:xfrm flipH="1">
            <a:off x="1312863" y="2335595"/>
            <a:ext cx="355600" cy="3175"/>
          </a:xfrm>
          <a:prstGeom prst="line">
            <a:avLst/>
          </a:pr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6" name="Line 10"/>
          <p:cNvSpPr>
            <a:spLocks noChangeShapeType="1"/>
          </p:cNvSpPr>
          <p:nvPr/>
        </p:nvSpPr>
        <p:spPr bwMode="auto">
          <a:xfrm flipH="1">
            <a:off x="1312863" y="2635632"/>
            <a:ext cx="355600" cy="3175"/>
          </a:xfrm>
          <a:prstGeom prst="line">
            <a:avLst/>
          </a:pr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7" name="Line 11"/>
          <p:cNvSpPr>
            <a:spLocks noChangeShapeType="1"/>
          </p:cNvSpPr>
          <p:nvPr/>
        </p:nvSpPr>
        <p:spPr bwMode="auto">
          <a:xfrm flipH="1">
            <a:off x="1312863" y="2937257"/>
            <a:ext cx="355600" cy="1588"/>
          </a:xfrm>
          <a:prstGeom prst="line">
            <a:avLst/>
          </a:pr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8" name="Line 12"/>
          <p:cNvSpPr>
            <a:spLocks noChangeShapeType="1"/>
          </p:cNvSpPr>
          <p:nvPr/>
        </p:nvSpPr>
        <p:spPr bwMode="auto">
          <a:xfrm flipH="1">
            <a:off x="1312863" y="3237295"/>
            <a:ext cx="355600" cy="1587"/>
          </a:xfrm>
          <a:prstGeom prst="line">
            <a:avLst/>
          </a:pr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9" name="Line 13"/>
          <p:cNvSpPr>
            <a:spLocks noChangeShapeType="1"/>
          </p:cNvSpPr>
          <p:nvPr/>
        </p:nvSpPr>
        <p:spPr bwMode="auto">
          <a:xfrm flipH="1">
            <a:off x="1312863" y="3523045"/>
            <a:ext cx="355600" cy="1587"/>
          </a:xfrm>
          <a:prstGeom prst="line">
            <a:avLst/>
          </a:pr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90" name="Line 14"/>
          <p:cNvSpPr>
            <a:spLocks noChangeShapeType="1"/>
          </p:cNvSpPr>
          <p:nvPr/>
        </p:nvSpPr>
        <p:spPr bwMode="auto">
          <a:xfrm flipH="1">
            <a:off x="1312863" y="3838957"/>
            <a:ext cx="355600" cy="1588"/>
          </a:xfrm>
          <a:prstGeom prst="line">
            <a:avLst/>
          </a:pr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91" name="Line 15"/>
          <p:cNvSpPr>
            <a:spLocks noChangeShapeType="1"/>
          </p:cNvSpPr>
          <p:nvPr/>
        </p:nvSpPr>
        <p:spPr bwMode="auto">
          <a:xfrm flipH="1">
            <a:off x="2941638" y="1735520"/>
            <a:ext cx="304800" cy="1587"/>
          </a:xfrm>
          <a:prstGeom prst="line">
            <a:avLst/>
          </a:pr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92" name="Line 16"/>
          <p:cNvSpPr>
            <a:spLocks noChangeShapeType="1"/>
          </p:cNvSpPr>
          <p:nvPr/>
        </p:nvSpPr>
        <p:spPr bwMode="auto">
          <a:xfrm flipH="1">
            <a:off x="2941638" y="2035557"/>
            <a:ext cx="304800" cy="1588"/>
          </a:xfrm>
          <a:prstGeom prst="line">
            <a:avLst/>
          </a:pr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93" name="Line 17"/>
          <p:cNvSpPr>
            <a:spLocks noChangeShapeType="1"/>
          </p:cNvSpPr>
          <p:nvPr/>
        </p:nvSpPr>
        <p:spPr bwMode="auto">
          <a:xfrm flipH="1">
            <a:off x="2941638" y="2335595"/>
            <a:ext cx="304800" cy="3175"/>
          </a:xfrm>
          <a:prstGeom prst="line">
            <a:avLst/>
          </a:pr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94" name="Line 18"/>
          <p:cNvSpPr>
            <a:spLocks noChangeShapeType="1"/>
          </p:cNvSpPr>
          <p:nvPr/>
        </p:nvSpPr>
        <p:spPr bwMode="auto">
          <a:xfrm flipH="1">
            <a:off x="2941638" y="2635632"/>
            <a:ext cx="304800" cy="3175"/>
          </a:xfrm>
          <a:prstGeom prst="line">
            <a:avLst/>
          </a:pr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95" name="Line 19"/>
          <p:cNvSpPr>
            <a:spLocks noChangeShapeType="1"/>
          </p:cNvSpPr>
          <p:nvPr/>
        </p:nvSpPr>
        <p:spPr bwMode="auto">
          <a:xfrm flipH="1">
            <a:off x="2941638" y="2937257"/>
            <a:ext cx="304800" cy="1588"/>
          </a:xfrm>
          <a:prstGeom prst="line">
            <a:avLst/>
          </a:pr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96" name="Line 20"/>
          <p:cNvSpPr>
            <a:spLocks noChangeShapeType="1"/>
          </p:cNvSpPr>
          <p:nvPr/>
        </p:nvSpPr>
        <p:spPr bwMode="auto">
          <a:xfrm flipH="1">
            <a:off x="2941638" y="3237295"/>
            <a:ext cx="304800" cy="1587"/>
          </a:xfrm>
          <a:prstGeom prst="line">
            <a:avLst/>
          </a:pr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97" name="Line 21"/>
          <p:cNvSpPr>
            <a:spLocks noChangeShapeType="1"/>
          </p:cNvSpPr>
          <p:nvPr/>
        </p:nvSpPr>
        <p:spPr bwMode="auto">
          <a:xfrm flipH="1">
            <a:off x="2941638" y="3523045"/>
            <a:ext cx="304800" cy="1587"/>
          </a:xfrm>
          <a:prstGeom prst="line">
            <a:avLst/>
          </a:pr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98" name="Line 22"/>
          <p:cNvSpPr>
            <a:spLocks noChangeShapeType="1"/>
          </p:cNvSpPr>
          <p:nvPr/>
        </p:nvSpPr>
        <p:spPr bwMode="auto">
          <a:xfrm flipH="1">
            <a:off x="2941638" y="3838957"/>
            <a:ext cx="304800" cy="1588"/>
          </a:xfrm>
          <a:prstGeom prst="line">
            <a:avLst/>
          </a:pr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99" name="Rectangle 23"/>
          <p:cNvSpPr>
            <a:spLocks noChangeArrowheads="1"/>
          </p:cNvSpPr>
          <p:nvPr/>
        </p:nvSpPr>
        <p:spPr bwMode="auto">
          <a:xfrm>
            <a:off x="1109663" y="1618045"/>
            <a:ext cx="889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 i="0">
                <a:solidFill>
                  <a:srgbClr val="000000"/>
                </a:solidFill>
              </a:rPr>
              <a:t>1</a:t>
            </a:r>
            <a:endParaRPr kumimoji="0" lang="en-US" altLang="zh-CN" sz="2800" b="1" i="0" baseline="-25000"/>
          </a:p>
        </p:txBody>
      </p:sp>
      <p:sp>
        <p:nvSpPr>
          <p:cNvPr id="3100" name="Line 24"/>
          <p:cNvSpPr>
            <a:spLocks noChangeShapeType="1"/>
          </p:cNvSpPr>
          <p:nvPr/>
        </p:nvSpPr>
        <p:spPr bwMode="auto">
          <a:xfrm>
            <a:off x="1169988" y="1625982"/>
            <a:ext cx="106362" cy="3175"/>
          </a:xfrm>
          <a:prstGeom prst="line">
            <a:avLst/>
          </a:pr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01" name="Rectangle 25"/>
          <p:cNvSpPr>
            <a:spLocks noChangeArrowheads="1"/>
          </p:cNvSpPr>
          <p:nvPr/>
        </p:nvSpPr>
        <p:spPr bwMode="auto">
          <a:xfrm>
            <a:off x="1203325" y="1618045"/>
            <a:ext cx="889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>
                <a:solidFill>
                  <a:srgbClr val="000000"/>
                </a:solidFill>
              </a:rPr>
              <a:t>S</a:t>
            </a:r>
            <a:endParaRPr kumimoji="0" lang="en-US" altLang="zh-CN" sz="2800" b="1" i="0" baseline="-25000"/>
          </a:p>
        </p:txBody>
      </p:sp>
      <p:sp>
        <p:nvSpPr>
          <p:cNvPr id="3102" name="Rectangle 26"/>
          <p:cNvSpPr>
            <a:spLocks noChangeArrowheads="1"/>
          </p:cNvSpPr>
          <p:nvPr/>
        </p:nvSpPr>
        <p:spPr bwMode="auto">
          <a:xfrm>
            <a:off x="1068388" y="1921257"/>
            <a:ext cx="889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 i="0">
                <a:solidFill>
                  <a:srgbClr val="000000"/>
                </a:solidFill>
              </a:rPr>
              <a:t>1</a:t>
            </a:r>
            <a:endParaRPr kumimoji="0" lang="en-US" altLang="zh-CN" sz="2800" b="1" i="0" baseline="-25000"/>
          </a:p>
        </p:txBody>
      </p:sp>
      <p:sp>
        <p:nvSpPr>
          <p:cNvPr id="3103" name="Rectangle 27"/>
          <p:cNvSpPr>
            <a:spLocks noChangeArrowheads="1"/>
          </p:cNvSpPr>
          <p:nvPr/>
        </p:nvSpPr>
        <p:spPr bwMode="auto">
          <a:xfrm>
            <a:off x="1147763" y="1921257"/>
            <a:ext cx="1079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>
                <a:solidFill>
                  <a:srgbClr val="000000"/>
                </a:solidFill>
              </a:rPr>
              <a:t>A</a:t>
            </a:r>
            <a:endParaRPr kumimoji="0" lang="en-US" altLang="zh-CN" sz="2800" b="1" i="0" baseline="-25000"/>
          </a:p>
        </p:txBody>
      </p:sp>
      <p:sp>
        <p:nvSpPr>
          <p:cNvPr id="3104" name="Rectangle 28"/>
          <p:cNvSpPr>
            <a:spLocks noChangeArrowheads="1"/>
          </p:cNvSpPr>
          <p:nvPr/>
        </p:nvSpPr>
        <p:spPr bwMode="auto">
          <a:xfrm>
            <a:off x="1260475" y="2002220"/>
            <a:ext cx="58738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900" i="0">
                <a:solidFill>
                  <a:srgbClr val="000000"/>
                </a:solidFill>
              </a:rPr>
              <a:t>0</a:t>
            </a:r>
            <a:endParaRPr kumimoji="0" lang="en-US" altLang="zh-CN" sz="2800" b="1" i="0" baseline="-25000"/>
          </a:p>
        </p:txBody>
      </p:sp>
      <p:sp>
        <p:nvSpPr>
          <p:cNvPr id="3105" name="Rectangle 29"/>
          <p:cNvSpPr>
            <a:spLocks noChangeArrowheads="1"/>
          </p:cNvSpPr>
          <p:nvPr/>
        </p:nvSpPr>
        <p:spPr bwMode="auto">
          <a:xfrm>
            <a:off x="1068388" y="2222882"/>
            <a:ext cx="889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 i="0">
                <a:solidFill>
                  <a:srgbClr val="000000"/>
                </a:solidFill>
              </a:rPr>
              <a:t>1</a:t>
            </a:r>
            <a:endParaRPr kumimoji="0" lang="en-US" altLang="zh-CN" sz="2800" b="1" i="0" baseline="-25000"/>
          </a:p>
        </p:txBody>
      </p:sp>
      <p:sp>
        <p:nvSpPr>
          <p:cNvPr id="3106" name="Rectangle 30"/>
          <p:cNvSpPr>
            <a:spLocks noChangeArrowheads="1"/>
          </p:cNvSpPr>
          <p:nvPr/>
        </p:nvSpPr>
        <p:spPr bwMode="auto">
          <a:xfrm>
            <a:off x="1147763" y="2222882"/>
            <a:ext cx="1079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>
                <a:solidFill>
                  <a:srgbClr val="000000"/>
                </a:solidFill>
              </a:rPr>
              <a:t>A</a:t>
            </a:r>
            <a:endParaRPr kumimoji="0" lang="en-US" altLang="zh-CN" sz="2800" b="1" i="0" baseline="-25000"/>
          </a:p>
        </p:txBody>
      </p:sp>
      <p:sp>
        <p:nvSpPr>
          <p:cNvPr id="3107" name="Rectangle 31"/>
          <p:cNvSpPr>
            <a:spLocks noChangeArrowheads="1"/>
          </p:cNvSpPr>
          <p:nvPr/>
        </p:nvSpPr>
        <p:spPr bwMode="auto">
          <a:xfrm>
            <a:off x="1260475" y="2303845"/>
            <a:ext cx="58738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900" i="0">
                <a:solidFill>
                  <a:srgbClr val="000000"/>
                </a:solidFill>
              </a:rPr>
              <a:t>1</a:t>
            </a:r>
            <a:endParaRPr kumimoji="0" lang="en-US" altLang="zh-CN" sz="2800" b="1" i="0" baseline="-25000"/>
          </a:p>
        </p:txBody>
      </p:sp>
      <p:sp>
        <p:nvSpPr>
          <p:cNvPr id="3108" name="Rectangle 32"/>
          <p:cNvSpPr>
            <a:spLocks noChangeArrowheads="1"/>
          </p:cNvSpPr>
          <p:nvPr/>
        </p:nvSpPr>
        <p:spPr bwMode="auto">
          <a:xfrm>
            <a:off x="1082675" y="2526095"/>
            <a:ext cx="889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 i="0">
                <a:solidFill>
                  <a:srgbClr val="000000"/>
                </a:solidFill>
              </a:rPr>
              <a:t>1</a:t>
            </a:r>
            <a:endParaRPr kumimoji="0" lang="en-US" altLang="zh-CN" sz="2800" b="1" i="0" baseline="-25000"/>
          </a:p>
        </p:txBody>
      </p:sp>
      <p:sp>
        <p:nvSpPr>
          <p:cNvPr id="3109" name="Rectangle 33"/>
          <p:cNvSpPr>
            <a:spLocks noChangeArrowheads="1"/>
          </p:cNvSpPr>
          <p:nvPr/>
        </p:nvSpPr>
        <p:spPr bwMode="auto">
          <a:xfrm>
            <a:off x="1166813" y="2526095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>
                <a:solidFill>
                  <a:srgbClr val="000000"/>
                </a:solidFill>
              </a:rPr>
              <a:t>Y</a:t>
            </a:r>
            <a:endParaRPr kumimoji="0" lang="en-US" altLang="zh-CN" sz="2800" b="1" i="0" baseline="-25000"/>
          </a:p>
        </p:txBody>
      </p:sp>
      <p:sp>
        <p:nvSpPr>
          <p:cNvPr id="3110" name="Rectangle 34"/>
          <p:cNvSpPr>
            <a:spLocks noChangeArrowheads="1"/>
          </p:cNvSpPr>
          <p:nvPr/>
        </p:nvSpPr>
        <p:spPr bwMode="auto">
          <a:xfrm>
            <a:off x="1247775" y="2605470"/>
            <a:ext cx="5715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900" i="0">
                <a:solidFill>
                  <a:srgbClr val="000000"/>
                </a:solidFill>
              </a:rPr>
              <a:t>0</a:t>
            </a:r>
            <a:endParaRPr kumimoji="0" lang="en-US" altLang="zh-CN" sz="2800" b="1" i="0" baseline="-25000"/>
          </a:p>
        </p:txBody>
      </p:sp>
      <p:sp>
        <p:nvSpPr>
          <p:cNvPr id="3111" name="Rectangle 35"/>
          <p:cNvSpPr>
            <a:spLocks noChangeArrowheads="1"/>
          </p:cNvSpPr>
          <p:nvPr/>
        </p:nvSpPr>
        <p:spPr bwMode="auto">
          <a:xfrm>
            <a:off x="1082675" y="2811845"/>
            <a:ext cx="889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 i="0">
                <a:solidFill>
                  <a:srgbClr val="000000"/>
                </a:solidFill>
              </a:rPr>
              <a:t>1</a:t>
            </a:r>
            <a:endParaRPr kumimoji="0" lang="en-US" altLang="zh-CN" sz="2800" b="1" i="0" baseline="-25000"/>
          </a:p>
        </p:txBody>
      </p:sp>
      <p:sp>
        <p:nvSpPr>
          <p:cNvPr id="3112" name="Rectangle 36"/>
          <p:cNvSpPr>
            <a:spLocks noChangeArrowheads="1"/>
          </p:cNvSpPr>
          <p:nvPr/>
        </p:nvSpPr>
        <p:spPr bwMode="auto">
          <a:xfrm>
            <a:off x="1166813" y="2811845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>
                <a:solidFill>
                  <a:srgbClr val="000000"/>
                </a:solidFill>
              </a:rPr>
              <a:t>Y</a:t>
            </a:r>
            <a:endParaRPr kumimoji="0" lang="en-US" altLang="zh-CN" sz="2800" b="1" i="0" baseline="-25000"/>
          </a:p>
        </p:txBody>
      </p:sp>
      <p:sp>
        <p:nvSpPr>
          <p:cNvPr id="3113" name="Rectangle 37"/>
          <p:cNvSpPr>
            <a:spLocks noChangeArrowheads="1"/>
          </p:cNvSpPr>
          <p:nvPr/>
        </p:nvSpPr>
        <p:spPr bwMode="auto">
          <a:xfrm>
            <a:off x="1260475" y="2907095"/>
            <a:ext cx="58738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900" i="0">
                <a:solidFill>
                  <a:srgbClr val="000000"/>
                </a:solidFill>
              </a:rPr>
              <a:t>1</a:t>
            </a:r>
            <a:endParaRPr kumimoji="0" lang="en-US" altLang="zh-CN" sz="2800" b="1" i="0" baseline="-25000"/>
          </a:p>
        </p:txBody>
      </p:sp>
      <p:sp>
        <p:nvSpPr>
          <p:cNvPr id="3114" name="Rectangle 38"/>
          <p:cNvSpPr>
            <a:spLocks noChangeArrowheads="1"/>
          </p:cNvSpPr>
          <p:nvPr/>
        </p:nvSpPr>
        <p:spPr bwMode="auto">
          <a:xfrm>
            <a:off x="1082675" y="3113470"/>
            <a:ext cx="889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 i="0">
                <a:solidFill>
                  <a:srgbClr val="000000"/>
                </a:solidFill>
              </a:rPr>
              <a:t>1</a:t>
            </a:r>
            <a:endParaRPr kumimoji="0" lang="en-US" altLang="zh-CN" sz="2800" b="1" i="0" baseline="-25000"/>
          </a:p>
        </p:txBody>
      </p:sp>
      <p:sp>
        <p:nvSpPr>
          <p:cNvPr id="3115" name="Rectangle 39"/>
          <p:cNvSpPr>
            <a:spLocks noChangeArrowheads="1"/>
          </p:cNvSpPr>
          <p:nvPr/>
        </p:nvSpPr>
        <p:spPr bwMode="auto">
          <a:xfrm>
            <a:off x="1166813" y="311347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>
                <a:solidFill>
                  <a:srgbClr val="000000"/>
                </a:solidFill>
              </a:rPr>
              <a:t>Y</a:t>
            </a:r>
            <a:endParaRPr kumimoji="0" lang="en-US" altLang="zh-CN" sz="2800" b="1" i="0" baseline="-25000"/>
          </a:p>
        </p:txBody>
      </p:sp>
      <p:sp>
        <p:nvSpPr>
          <p:cNvPr id="3116" name="Rectangle 40"/>
          <p:cNvSpPr>
            <a:spLocks noChangeArrowheads="1"/>
          </p:cNvSpPr>
          <p:nvPr/>
        </p:nvSpPr>
        <p:spPr bwMode="auto">
          <a:xfrm>
            <a:off x="1260475" y="3210307"/>
            <a:ext cx="58738" cy="138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900" i="0">
                <a:solidFill>
                  <a:srgbClr val="000000"/>
                </a:solidFill>
              </a:rPr>
              <a:t>2</a:t>
            </a:r>
            <a:endParaRPr kumimoji="0" lang="en-US" altLang="zh-CN" sz="2800" b="1" i="0" baseline="-25000"/>
          </a:p>
        </p:txBody>
      </p:sp>
      <p:sp>
        <p:nvSpPr>
          <p:cNvPr id="3117" name="Rectangle 41"/>
          <p:cNvSpPr>
            <a:spLocks noChangeArrowheads="1"/>
          </p:cNvSpPr>
          <p:nvPr/>
        </p:nvSpPr>
        <p:spPr bwMode="auto">
          <a:xfrm>
            <a:off x="1082675" y="3415095"/>
            <a:ext cx="88900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 i="0">
                <a:solidFill>
                  <a:srgbClr val="000000"/>
                </a:solidFill>
              </a:rPr>
              <a:t>1</a:t>
            </a:r>
            <a:endParaRPr kumimoji="0" lang="en-US" altLang="zh-CN" sz="2800" b="1" i="0" baseline="-25000"/>
          </a:p>
        </p:txBody>
      </p:sp>
      <p:sp>
        <p:nvSpPr>
          <p:cNvPr id="3118" name="Rectangle 42"/>
          <p:cNvSpPr>
            <a:spLocks noChangeArrowheads="1"/>
          </p:cNvSpPr>
          <p:nvPr/>
        </p:nvSpPr>
        <p:spPr bwMode="auto">
          <a:xfrm>
            <a:off x="1166813" y="3415095"/>
            <a:ext cx="98425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>
                <a:solidFill>
                  <a:srgbClr val="000000"/>
                </a:solidFill>
              </a:rPr>
              <a:t>Y</a:t>
            </a:r>
            <a:endParaRPr kumimoji="0" lang="en-US" altLang="zh-CN" sz="2800" b="1" i="0" baseline="-25000"/>
          </a:p>
        </p:txBody>
      </p:sp>
      <p:sp>
        <p:nvSpPr>
          <p:cNvPr id="3119" name="Rectangle 43"/>
          <p:cNvSpPr>
            <a:spLocks noChangeArrowheads="1"/>
          </p:cNvSpPr>
          <p:nvPr/>
        </p:nvSpPr>
        <p:spPr bwMode="auto">
          <a:xfrm>
            <a:off x="1247775" y="3511932"/>
            <a:ext cx="5715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900" i="0">
                <a:solidFill>
                  <a:srgbClr val="000000"/>
                </a:solidFill>
              </a:rPr>
              <a:t>3</a:t>
            </a:r>
            <a:endParaRPr kumimoji="0" lang="en-US" altLang="zh-CN" sz="2800" b="1" i="0" baseline="-25000"/>
          </a:p>
        </p:txBody>
      </p:sp>
      <p:sp>
        <p:nvSpPr>
          <p:cNvPr id="3120" name="Rectangle 44"/>
          <p:cNvSpPr>
            <a:spLocks noChangeArrowheads="1"/>
          </p:cNvSpPr>
          <p:nvPr/>
        </p:nvSpPr>
        <p:spPr bwMode="auto">
          <a:xfrm>
            <a:off x="962025" y="3718307"/>
            <a:ext cx="3873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 i="0">
                <a:solidFill>
                  <a:srgbClr val="000000"/>
                </a:solidFill>
              </a:rPr>
              <a:t>GND</a:t>
            </a:r>
            <a:endParaRPr kumimoji="0" lang="en-US" altLang="zh-CN" sz="2800" b="1" i="0" baseline="-25000"/>
          </a:p>
        </p:txBody>
      </p:sp>
      <p:sp>
        <p:nvSpPr>
          <p:cNvPr id="3121" name="Rectangle 45"/>
          <p:cNvSpPr>
            <a:spLocks noChangeArrowheads="1"/>
          </p:cNvSpPr>
          <p:nvPr/>
        </p:nvSpPr>
        <p:spPr bwMode="auto">
          <a:xfrm>
            <a:off x="3465513" y="1618045"/>
            <a:ext cx="1270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>
                <a:solidFill>
                  <a:srgbClr val="000000"/>
                </a:solidFill>
              </a:rPr>
              <a:t>U</a:t>
            </a:r>
            <a:endParaRPr kumimoji="0" lang="en-US" altLang="zh-CN" sz="2800" b="1" i="0" baseline="-25000"/>
          </a:p>
        </p:txBody>
      </p:sp>
      <p:sp>
        <p:nvSpPr>
          <p:cNvPr id="3122" name="Rectangle 46"/>
          <p:cNvSpPr>
            <a:spLocks noChangeArrowheads="1"/>
          </p:cNvSpPr>
          <p:nvPr/>
        </p:nvSpPr>
        <p:spPr bwMode="auto">
          <a:xfrm>
            <a:off x="3589338" y="1714882"/>
            <a:ext cx="165100" cy="138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900" b="1" i="0">
                <a:solidFill>
                  <a:srgbClr val="000000"/>
                </a:solidFill>
              </a:rPr>
              <a:t>CC</a:t>
            </a:r>
            <a:endParaRPr kumimoji="0" lang="en-US" altLang="zh-CN" sz="2800" b="1" i="0" baseline="-25000"/>
          </a:p>
        </p:txBody>
      </p:sp>
      <p:sp>
        <p:nvSpPr>
          <p:cNvPr id="3123" name="Rectangle 47"/>
          <p:cNvSpPr>
            <a:spLocks noChangeArrowheads="1"/>
          </p:cNvSpPr>
          <p:nvPr/>
        </p:nvSpPr>
        <p:spPr bwMode="auto">
          <a:xfrm>
            <a:off x="3279775" y="1633920"/>
            <a:ext cx="1778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zh-CN" altLang="en-US" sz="1400" b="1" i="0">
                <a:solidFill>
                  <a:srgbClr val="000000"/>
                </a:solidFill>
                <a:latin typeface="宋体" pitchFamily="2" charset="-122"/>
              </a:rPr>
              <a:t>＋</a:t>
            </a:r>
            <a:endParaRPr kumimoji="0" lang="zh-CN" altLang="en-US" sz="2800" b="1" i="0" baseline="-25000"/>
          </a:p>
        </p:txBody>
      </p:sp>
      <p:sp>
        <p:nvSpPr>
          <p:cNvPr id="3124" name="Line 48"/>
          <p:cNvSpPr>
            <a:spLocks noChangeShapeType="1"/>
          </p:cNvSpPr>
          <p:nvPr/>
        </p:nvSpPr>
        <p:spPr bwMode="auto">
          <a:xfrm>
            <a:off x="3446463" y="1927607"/>
            <a:ext cx="104775" cy="1588"/>
          </a:xfrm>
          <a:prstGeom prst="line">
            <a:avLst/>
          </a:pr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25" name="Rectangle 49"/>
          <p:cNvSpPr>
            <a:spLocks noChangeArrowheads="1"/>
          </p:cNvSpPr>
          <p:nvPr/>
        </p:nvSpPr>
        <p:spPr bwMode="auto">
          <a:xfrm>
            <a:off x="3490913" y="1921257"/>
            <a:ext cx="889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>
                <a:solidFill>
                  <a:srgbClr val="000000"/>
                </a:solidFill>
              </a:rPr>
              <a:t>S</a:t>
            </a:r>
            <a:endParaRPr kumimoji="0" lang="en-US" altLang="zh-CN" sz="2800" b="1" i="0" baseline="-25000"/>
          </a:p>
        </p:txBody>
      </p:sp>
      <p:sp>
        <p:nvSpPr>
          <p:cNvPr id="3126" name="Rectangle 50"/>
          <p:cNvSpPr>
            <a:spLocks noChangeArrowheads="1"/>
          </p:cNvSpPr>
          <p:nvPr/>
        </p:nvSpPr>
        <p:spPr bwMode="auto">
          <a:xfrm>
            <a:off x="3397250" y="1921257"/>
            <a:ext cx="889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 i="0">
                <a:solidFill>
                  <a:srgbClr val="000000"/>
                </a:solidFill>
              </a:rPr>
              <a:t>2</a:t>
            </a:r>
            <a:endParaRPr kumimoji="0" lang="en-US" altLang="zh-CN" sz="2800" b="1" i="0" baseline="-25000"/>
          </a:p>
        </p:txBody>
      </p:sp>
      <p:sp>
        <p:nvSpPr>
          <p:cNvPr id="3127" name="Rectangle 51"/>
          <p:cNvSpPr>
            <a:spLocks noChangeArrowheads="1"/>
          </p:cNvSpPr>
          <p:nvPr/>
        </p:nvSpPr>
        <p:spPr bwMode="auto">
          <a:xfrm>
            <a:off x="3343275" y="2222882"/>
            <a:ext cx="889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 i="0">
                <a:solidFill>
                  <a:srgbClr val="000000"/>
                </a:solidFill>
              </a:rPr>
              <a:t>2</a:t>
            </a:r>
            <a:endParaRPr kumimoji="0" lang="en-US" altLang="zh-CN" sz="2800" b="1" i="0" baseline="-25000"/>
          </a:p>
        </p:txBody>
      </p:sp>
      <p:sp>
        <p:nvSpPr>
          <p:cNvPr id="3128" name="Rectangle 52"/>
          <p:cNvSpPr>
            <a:spLocks noChangeArrowheads="1"/>
          </p:cNvSpPr>
          <p:nvPr/>
        </p:nvSpPr>
        <p:spPr bwMode="auto">
          <a:xfrm>
            <a:off x="3421063" y="2222882"/>
            <a:ext cx="1079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>
                <a:solidFill>
                  <a:srgbClr val="000000"/>
                </a:solidFill>
              </a:rPr>
              <a:t>A</a:t>
            </a:r>
            <a:endParaRPr kumimoji="0" lang="en-US" altLang="zh-CN" sz="2800" b="1" i="0" baseline="-25000"/>
          </a:p>
        </p:txBody>
      </p:sp>
      <p:sp>
        <p:nvSpPr>
          <p:cNvPr id="3129" name="Rectangle 53"/>
          <p:cNvSpPr>
            <a:spLocks noChangeArrowheads="1"/>
          </p:cNvSpPr>
          <p:nvPr/>
        </p:nvSpPr>
        <p:spPr bwMode="auto">
          <a:xfrm>
            <a:off x="3535363" y="2303845"/>
            <a:ext cx="5715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900" i="0">
                <a:solidFill>
                  <a:srgbClr val="000000"/>
                </a:solidFill>
              </a:rPr>
              <a:t>0</a:t>
            </a:r>
            <a:endParaRPr kumimoji="0" lang="en-US" altLang="zh-CN" sz="2800" b="1" i="0" baseline="-25000"/>
          </a:p>
        </p:txBody>
      </p:sp>
      <p:sp>
        <p:nvSpPr>
          <p:cNvPr id="3130" name="Rectangle 54"/>
          <p:cNvSpPr>
            <a:spLocks noChangeArrowheads="1"/>
          </p:cNvSpPr>
          <p:nvPr/>
        </p:nvSpPr>
        <p:spPr bwMode="auto">
          <a:xfrm>
            <a:off x="3343275" y="2526095"/>
            <a:ext cx="889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 i="0">
                <a:solidFill>
                  <a:srgbClr val="000000"/>
                </a:solidFill>
              </a:rPr>
              <a:t>2</a:t>
            </a:r>
            <a:endParaRPr kumimoji="0" lang="en-US" altLang="zh-CN" sz="2800" b="1" i="0" baseline="-25000"/>
          </a:p>
        </p:txBody>
      </p:sp>
      <p:sp>
        <p:nvSpPr>
          <p:cNvPr id="3131" name="Rectangle 55"/>
          <p:cNvSpPr>
            <a:spLocks noChangeArrowheads="1"/>
          </p:cNvSpPr>
          <p:nvPr/>
        </p:nvSpPr>
        <p:spPr bwMode="auto">
          <a:xfrm>
            <a:off x="3421063" y="2526095"/>
            <a:ext cx="1079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>
                <a:solidFill>
                  <a:srgbClr val="000000"/>
                </a:solidFill>
              </a:rPr>
              <a:t>A</a:t>
            </a:r>
            <a:endParaRPr kumimoji="0" lang="en-US" altLang="zh-CN" sz="2800" b="1" i="0" baseline="-25000"/>
          </a:p>
        </p:txBody>
      </p:sp>
      <p:sp>
        <p:nvSpPr>
          <p:cNvPr id="3132" name="Rectangle 56"/>
          <p:cNvSpPr>
            <a:spLocks noChangeArrowheads="1"/>
          </p:cNvSpPr>
          <p:nvPr/>
        </p:nvSpPr>
        <p:spPr bwMode="auto">
          <a:xfrm>
            <a:off x="3535363" y="2605470"/>
            <a:ext cx="5715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900" i="0">
                <a:solidFill>
                  <a:srgbClr val="000000"/>
                </a:solidFill>
              </a:rPr>
              <a:t>1</a:t>
            </a:r>
            <a:endParaRPr kumimoji="0" lang="en-US" altLang="zh-CN" sz="2800" b="1" i="0" baseline="-25000"/>
          </a:p>
        </p:txBody>
      </p:sp>
      <p:sp>
        <p:nvSpPr>
          <p:cNvPr id="3133" name="Rectangle 57"/>
          <p:cNvSpPr>
            <a:spLocks noChangeArrowheads="1"/>
          </p:cNvSpPr>
          <p:nvPr/>
        </p:nvSpPr>
        <p:spPr bwMode="auto">
          <a:xfrm>
            <a:off x="3343275" y="2811845"/>
            <a:ext cx="889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 i="0">
                <a:solidFill>
                  <a:srgbClr val="000000"/>
                </a:solidFill>
              </a:rPr>
              <a:t>2</a:t>
            </a:r>
            <a:endParaRPr kumimoji="0" lang="en-US" altLang="zh-CN" sz="2800" b="1" i="0" baseline="-25000"/>
          </a:p>
        </p:txBody>
      </p:sp>
      <p:sp>
        <p:nvSpPr>
          <p:cNvPr id="3134" name="Rectangle 58"/>
          <p:cNvSpPr>
            <a:spLocks noChangeArrowheads="1"/>
          </p:cNvSpPr>
          <p:nvPr/>
        </p:nvSpPr>
        <p:spPr bwMode="auto">
          <a:xfrm>
            <a:off x="3424238" y="2811845"/>
            <a:ext cx="10001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>
                <a:solidFill>
                  <a:srgbClr val="000000"/>
                </a:solidFill>
              </a:rPr>
              <a:t>Y</a:t>
            </a:r>
            <a:endParaRPr kumimoji="0" lang="en-US" altLang="zh-CN" sz="2800" b="1" i="0" baseline="-25000"/>
          </a:p>
        </p:txBody>
      </p:sp>
      <p:sp>
        <p:nvSpPr>
          <p:cNvPr id="3135" name="Rectangle 59"/>
          <p:cNvSpPr>
            <a:spLocks noChangeArrowheads="1"/>
          </p:cNvSpPr>
          <p:nvPr/>
        </p:nvSpPr>
        <p:spPr bwMode="auto">
          <a:xfrm>
            <a:off x="3521075" y="2907095"/>
            <a:ext cx="5715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900" i="0">
                <a:solidFill>
                  <a:srgbClr val="000000"/>
                </a:solidFill>
              </a:rPr>
              <a:t>0</a:t>
            </a:r>
            <a:endParaRPr kumimoji="0" lang="en-US" altLang="zh-CN" sz="2800" b="1" i="0" baseline="-25000"/>
          </a:p>
        </p:txBody>
      </p:sp>
      <p:sp>
        <p:nvSpPr>
          <p:cNvPr id="3136" name="Rectangle 60"/>
          <p:cNvSpPr>
            <a:spLocks noChangeArrowheads="1"/>
          </p:cNvSpPr>
          <p:nvPr/>
        </p:nvSpPr>
        <p:spPr bwMode="auto">
          <a:xfrm>
            <a:off x="3355975" y="3113470"/>
            <a:ext cx="873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 i="0">
                <a:solidFill>
                  <a:srgbClr val="000000"/>
                </a:solidFill>
              </a:rPr>
              <a:t>2</a:t>
            </a:r>
            <a:endParaRPr kumimoji="0" lang="en-US" altLang="zh-CN" sz="2800" b="1" i="0" baseline="-25000"/>
          </a:p>
        </p:txBody>
      </p:sp>
      <p:sp>
        <p:nvSpPr>
          <p:cNvPr id="3137" name="Rectangle 61"/>
          <p:cNvSpPr>
            <a:spLocks noChangeArrowheads="1"/>
          </p:cNvSpPr>
          <p:nvPr/>
        </p:nvSpPr>
        <p:spPr bwMode="auto">
          <a:xfrm>
            <a:off x="3440113" y="3113470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>
                <a:solidFill>
                  <a:srgbClr val="000000"/>
                </a:solidFill>
              </a:rPr>
              <a:t>Y</a:t>
            </a:r>
            <a:endParaRPr kumimoji="0" lang="en-US" altLang="zh-CN" sz="2800" b="1" i="0" baseline="-25000"/>
          </a:p>
        </p:txBody>
      </p:sp>
      <p:sp>
        <p:nvSpPr>
          <p:cNvPr id="3138" name="Rectangle 62"/>
          <p:cNvSpPr>
            <a:spLocks noChangeArrowheads="1"/>
          </p:cNvSpPr>
          <p:nvPr/>
        </p:nvSpPr>
        <p:spPr bwMode="auto">
          <a:xfrm>
            <a:off x="3521075" y="3210307"/>
            <a:ext cx="57150" cy="138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900" i="0">
                <a:solidFill>
                  <a:srgbClr val="000000"/>
                </a:solidFill>
              </a:rPr>
              <a:t>1</a:t>
            </a:r>
            <a:endParaRPr kumimoji="0" lang="en-US" altLang="zh-CN" sz="2800" b="1" i="0" baseline="-25000"/>
          </a:p>
        </p:txBody>
      </p:sp>
      <p:sp>
        <p:nvSpPr>
          <p:cNvPr id="3139" name="Rectangle 63"/>
          <p:cNvSpPr>
            <a:spLocks noChangeArrowheads="1"/>
          </p:cNvSpPr>
          <p:nvPr/>
        </p:nvSpPr>
        <p:spPr bwMode="auto">
          <a:xfrm>
            <a:off x="3343275" y="3415095"/>
            <a:ext cx="88900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 i="0">
                <a:solidFill>
                  <a:srgbClr val="000000"/>
                </a:solidFill>
              </a:rPr>
              <a:t>2</a:t>
            </a:r>
            <a:endParaRPr kumimoji="0" lang="en-US" altLang="zh-CN" sz="2800" b="1" i="0" baseline="-25000"/>
          </a:p>
        </p:txBody>
      </p:sp>
      <p:sp>
        <p:nvSpPr>
          <p:cNvPr id="3140" name="Rectangle 64"/>
          <p:cNvSpPr>
            <a:spLocks noChangeArrowheads="1"/>
          </p:cNvSpPr>
          <p:nvPr/>
        </p:nvSpPr>
        <p:spPr bwMode="auto">
          <a:xfrm>
            <a:off x="3424238" y="3415095"/>
            <a:ext cx="100012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>
                <a:solidFill>
                  <a:srgbClr val="000000"/>
                </a:solidFill>
              </a:rPr>
              <a:t>Y</a:t>
            </a:r>
            <a:endParaRPr kumimoji="0" lang="en-US" altLang="zh-CN" sz="2800" b="1" i="0" baseline="-25000"/>
          </a:p>
        </p:txBody>
      </p:sp>
      <p:sp>
        <p:nvSpPr>
          <p:cNvPr id="3141" name="Rectangle 65"/>
          <p:cNvSpPr>
            <a:spLocks noChangeArrowheads="1"/>
          </p:cNvSpPr>
          <p:nvPr/>
        </p:nvSpPr>
        <p:spPr bwMode="auto">
          <a:xfrm>
            <a:off x="3521075" y="3511932"/>
            <a:ext cx="5715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900" i="0">
                <a:solidFill>
                  <a:srgbClr val="000000"/>
                </a:solidFill>
              </a:rPr>
              <a:t>2</a:t>
            </a:r>
            <a:endParaRPr kumimoji="0" lang="en-US" altLang="zh-CN" sz="2800" b="1" i="0" baseline="-25000"/>
          </a:p>
        </p:txBody>
      </p:sp>
      <p:sp>
        <p:nvSpPr>
          <p:cNvPr id="3142" name="Rectangle 66"/>
          <p:cNvSpPr>
            <a:spLocks noChangeArrowheads="1"/>
          </p:cNvSpPr>
          <p:nvPr/>
        </p:nvSpPr>
        <p:spPr bwMode="auto">
          <a:xfrm>
            <a:off x="3355975" y="3718307"/>
            <a:ext cx="873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 i="0">
                <a:solidFill>
                  <a:srgbClr val="000000"/>
                </a:solidFill>
              </a:rPr>
              <a:t>2</a:t>
            </a:r>
            <a:endParaRPr kumimoji="0" lang="en-US" altLang="zh-CN" sz="2800" b="1" i="0" baseline="-25000"/>
          </a:p>
        </p:txBody>
      </p:sp>
      <p:sp>
        <p:nvSpPr>
          <p:cNvPr id="3143" name="Rectangle 67"/>
          <p:cNvSpPr>
            <a:spLocks noChangeArrowheads="1"/>
          </p:cNvSpPr>
          <p:nvPr/>
        </p:nvSpPr>
        <p:spPr bwMode="auto">
          <a:xfrm>
            <a:off x="3440113" y="3718307"/>
            <a:ext cx="984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>
                <a:solidFill>
                  <a:srgbClr val="000000"/>
                </a:solidFill>
              </a:rPr>
              <a:t>Y</a:t>
            </a:r>
            <a:endParaRPr kumimoji="0" lang="en-US" altLang="zh-CN" sz="2800" b="1" i="0" baseline="-25000"/>
          </a:p>
        </p:txBody>
      </p:sp>
      <p:sp>
        <p:nvSpPr>
          <p:cNvPr id="3144" name="Rectangle 68"/>
          <p:cNvSpPr>
            <a:spLocks noChangeArrowheads="1"/>
          </p:cNvSpPr>
          <p:nvPr/>
        </p:nvSpPr>
        <p:spPr bwMode="auto">
          <a:xfrm>
            <a:off x="3521075" y="3813557"/>
            <a:ext cx="5715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900" i="0">
                <a:solidFill>
                  <a:srgbClr val="000000"/>
                </a:solidFill>
              </a:rPr>
              <a:t>3</a:t>
            </a:r>
            <a:endParaRPr kumimoji="0" lang="en-US" altLang="zh-CN" sz="2800" b="1" i="0" baseline="-25000"/>
          </a:p>
        </p:txBody>
      </p:sp>
      <p:sp>
        <p:nvSpPr>
          <p:cNvPr id="3145" name="Freeform 69"/>
          <p:cNvSpPr>
            <a:spLocks/>
          </p:cNvSpPr>
          <p:nvPr/>
        </p:nvSpPr>
        <p:spPr bwMode="auto">
          <a:xfrm>
            <a:off x="2147888" y="1433895"/>
            <a:ext cx="152400" cy="180975"/>
          </a:xfrm>
          <a:custGeom>
            <a:avLst/>
            <a:gdLst>
              <a:gd name="T0" fmla="*/ 0 w 88"/>
              <a:gd name="T1" fmla="*/ 0 h 104"/>
              <a:gd name="T2" fmla="*/ 2147483647 w 88"/>
              <a:gd name="T3" fmla="*/ 2147483647 h 104"/>
              <a:gd name="T4" fmla="*/ 2147483647 w 88"/>
              <a:gd name="T5" fmla="*/ 2147483647 h 104"/>
              <a:gd name="T6" fmla="*/ 0 60000 65536"/>
              <a:gd name="T7" fmla="*/ 0 60000 65536"/>
              <a:gd name="T8" fmla="*/ 0 60000 65536"/>
              <a:gd name="T9" fmla="*/ 0 w 88"/>
              <a:gd name="T10" fmla="*/ 0 h 104"/>
              <a:gd name="T11" fmla="*/ 88 w 88"/>
              <a:gd name="T12" fmla="*/ 104 h 1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8" h="104">
                <a:moveTo>
                  <a:pt x="0" y="0"/>
                </a:moveTo>
                <a:cubicBezTo>
                  <a:pt x="0" y="57"/>
                  <a:pt x="39" y="104"/>
                  <a:pt x="88" y="104"/>
                </a:cubicBezTo>
                <a:cubicBezTo>
                  <a:pt x="88" y="104"/>
                  <a:pt x="88" y="104"/>
                  <a:pt x="88" y="104"/>
                </a:cubicBezTo>
              </a:path>
            </a:pathLst>
          </a:cu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46" name="Freeform 70"/>
          <p:cNvSpPr>
            <a:spLocks/>
          </p:cNvSpPr>
          <p:nvPr/>
        </p:nvSpPr>
        <p:spPr bwMode="auto">
          <a:xfrm>
            <a:off x="2300288" y="1433895"/>
            <a:ext cx="206375" cy="182562"/>
          </a:xfrm>
          <a:custGeom>
            <a:avLst/>
            <a:gdLst>
              <a:gd name="T0" fmla="*/ 2147483647 w 119"/>
              <a:gd name="T1" fmla="*/ 0 h 105"/>
              <a:gd name="T2" fmla="*/ 2147483647 w 119"/>
              <a:gd name="T3" fmla="*/ 2147483647 h 105"/>
              <a:gd name="T4" fmla="*/ 0 w 119"/>
              <a:gd name="T5" fmla="*/ 2147483647 h 105"/>
              <a:gd name="T6" fmla="*/ 0 60000 65536"/>
              <a:gd name="T7" fmla="*/ 0 60000 65536"/>
              <a:gd name="T8" fmla="*/ 0 60000 65536"/>
              <a:gd name="T9" fmla="*/ 0 w 119"/>
              <a:gd name="T10" fmla="*/ 0 h 105"/>
              <a:gd name="T11" fmla="*/ 119 w 119"/>
              <a:gd name="T12" fmla="*/ 105 h 1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9" h="105">
                <a:moveTo>
                  <a:pt x="117" y="0"/>
                </a:moveTo>
                <a:cubicBezTo>
                  <a:pt x="119" y="56"/>
                  <a:pt x="75" y="103"/>
                  <a:pt x="20" y="105"/>
                </a:cubicBezTo>
                <a:cubicBezTo>
                  <a:pt x="13" y="105"/>
                  <a:pt x="6" y="105"/>
                  <a:pt x="0" y="104"/>
                </a:cubicBezTo>
              </a:path>
            </a:pathLst>
          </a:cu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47" name="Rectangle 71"/>
          <p:cNvSpPr>
            <a:spLocks noChangeArrowheads="1"/>
          </p:cNvSpPr>
          <p:nvPr/>
        </p:nvSpPr>
        <p:spPr bwMode="auto">
          <a:xfrm>
            <a:off x="1755775" y="1618045"/>
            <a:ext cx="889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 i="0">
                <a:solidFill>
                  <a:srgbClr val="000000"/>
                </a:solidFill>
              </a:rPr>
              <a:t>1</a:t>
            </a:r>
            <a:endParaRPr kumimoji="0" lang="en-US" altLang="zh-CN" sz="2800" b="1" i="0" baseline="-25000"/>
          </a:p>
        </p:txBody>
      </p:sp>
      <p:sp>
        <p:nvSpPr>
          <p:cNvPr id="3148" name="Rectangle 72"/>
          <p:cNvSpPr>
            <a:spLocks noChangeArrowheads="1"/>
          </p:cNvSpPr>
          <p:nvPr/>
        </p:nvSpPr>
        <p:spPr bwMode="auto">
          <a:xfrm>
            <a:off x="1768475" y="1921257"/>
            <a:ext cx="889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 i="0">
                <a:solidFill>
                  <a:srgbClr val="000000"/>
                </a:solidFill>
              </a:rPr>
              <a:t>2</a:t>
            </a:r>
            <a:endParaRPr kumimoji="0" lang="en-US" altLang="zh-CN" sz="2800" b="1" i="0" baseline="-25000"/>
          </a:p>
        </p:txBody>
      </p:sp>
      <p:sp>
        <p:nvSpPr>
          <p:cNvPr id="3149" name="Rectangle 73"/>
          <p:cNvSpPr>
            <a:spLocks noChangeArrowheads="1"/>
          </p:cNvSpPr>
          <p:nvPr/>
        </p:nvSpPr>
        <p:spPr bwMode="auto">
          <a:xfrm>
            <a:off x="1755775" y="2222882"/>
            <a:ext cx="889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 i="0">
                <a:solidFill>
                  <a:srgbClr val="000000"/>
                </a:solidFill>
              </a:rPr>
              <a:t>3</a:t>
            </a:r>
            <a:endParaRPr kumimoji="0" lang="en-US" altLang="zh-CN" sz="2800" b="1" i="0" baseline="-25000"/>
          </a:p>
        </p:txBody>
      </p:sp>
      <p:sp>
        <p:nvSpPr>
          <p:cNvPr id="3150" name="Rectangle 74"/>
          <p:cNvSpPr>
            <a:spLocks noChangeArrowheads="1"/>
          </p:cNvSpPr>
          <p:nvPr/>
        </p:nvSpPr>
        <p:spPr bwMode="auto">
          <a:xfrm>
            <a:off x="1755775" y="2526095"/>
            <a:ext cx="889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 i="0">
                <a:solidFill>
                  <a:srgbClr val="000000"/>
                </a:solidFill>
              </a:rPr>
              <a:t>4</a:t>
            </a:r>
            <a:endParaRPr kumimoji="0" lang="en-US" altLang="zh-CN" sz="2800" b="1" i="0" baseline="-25000"/>
          </a:p>
        </p:txBody>
      </p:sp>
      <p:sp>
        <p:nvSpPr>
          <p:cNvPr id="3151" name="Rectangle 75"/>
          <p:cNvSpPr>
            <a:spLocks noChangeArrowheads="1"/>
          </p:cNvSpPr>
          <p:nvPr/>
        </p:nvSpPr>
        <p:spPr bwMode="auto">
          <a:xfrm>
            <a:off x="1755775" y="2811845"/>
            <a:ext cx="889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 i="0">
                <a:solidFill>
                  <a:srgbClr val="000000"/>
                </a:solidFill>
              </a:rPr>
              <a:t>5</a:t>
            </a:r>
            <a:endParaRPr kumimoji="0" lang="en-US" altLang="zh-CN" sz="2800" b="1" i="0" baseline="-25000"/>
          </a:p>
        </p:txBody>
      </p:sp>
      <p:sp>
        <p:nvSpPr>
          <p:cNvPr id="3152" name="Rectangle 76"/>
          <p:cNvSpPr>
            <a:spLocks noChangeArrowheads="1"/>
          </p:cNvSpPr>
          <p:nvPr/>
        </p:nvSpPr>
        <p:spPr bwMode="auto">
          <a:xfrm>
            <a:off x="1755775" y="3113470"/>
            <a:ext cx="889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 i="0">
                <a:solidFill>
                  <a:srgbClr val="000000"/>
                </a:solidFill>
              </a:rPr>
              <a:t>6</a:t>
            </a:r>
            <a:endParaRPr kumimoji="0" lang="en-US" altLang="zh-CN" sz="2800" b="1" i="0" baseline="-25000"/>
          </a:p>
        </p:txBody>
      </p:sp>
      <p:sp>
        <p:nvSpPr>
          <p:cNvPr id="3153" name="Rectangle 77"/>
          <p:cNvSpPr>
            <a:spLocks noChangeArrowheads="1"/>
          </p:cNvSpPr>
          <p:nvPr/>
        </p:nvSpPr>
        <p:spPr bwMode="auto">
          <a:xfrm>
            <a:off x="1755775" y="3415095"/>
            <a:ext cx="88900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 i="0">
                <a:solidFill>
                  <a:srgbClr val="000000"/>
                </a:solidFill>
              </a:rPr>
              <a:t>7</a:t>
            </a:r>
            <a:endParaRPr kumimoji="0" lang="en-US" altLang="zh-CN" sz="2800" b="1" i="0" baseline="-25000"/>
          </a:p>
        </p:txBody>
      </p:sp>
      <p:sp>
        <p:nvSpPr>
          <p:cNvPr id="3154" name="Rectangle 78"/>
          <p:cNvSpPr>
            <a:spLocks noChangeArrowheads="1"/>
          </p:cNvSpPr>
          <p:nvPr/>
        </p:nvSpPr>
        <p:spPr bwMode="auto">
          <a:xfrm>
            <a:off x="1755775" y="3718307"/>
            <a:ext cx="889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 i="0">
                <a:solidFill>
                  <a:srgbClr val="000000"/>
                </a:solidFill>
              </a:rPr>
              <a:t>8</a:t>
            </a:r>
            <a:endParaRPr kumimoji="0" lang="en-US" altLang="zh-CN" sz="2800" b="1" i="0" baseline="-25000"/>
          </a:p>
        </p:txBody>
      </p:sp>
      <p:sp>
        <p:nvSpPr>
          <p:cNvPr id="3155" name="Rectangle 79"/>
          <p:cNvSpPr>
            <a:spLocks noChangeArrowheads="1"/>
          </p:cNvSpPr>
          <p:nvPr/>
        </p:nvSpPr>
        <p:spPr bwMode="auto">
          <a:xfrm>
            <a:off x="2730500" y="1618045"/>
            <a:ext cx="1778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 i="0">
                <a:solidFill>
                  <a:srgbClr val="000000"/>
                </a:solidFill>
              </a:rPr>
              <a:t>16</a:t>
            </a:r>
            <a:endParaRPr kumimoji="0" lang="en-US" altLang="zh-CN" sz="2800" b="1" i="0" baseline="-25000"/>
          </a:p>
        </p:txBody>
      </p:sp>
      <p:sp>
        <p:nvSpPr>
          <p:cNvPr id="3156" name="Rectangle 80"/>
          <p:cNvSpPr>
            <a:spLocks noChangeArrowheads="1"/>
          </p:cNvSpPr>
          <p:nvPr/>
        </p:nvSpPr>
        <p:spPr bwMode="auto">
          <a:xfrm>
            <a:off x="2730500" y="1921257"/>
            <a:ext cx="1778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 i="0">
                <a:solidFill>
                  <a:srgbClr val="000000"/>
                </a:solidFill>
              </a:rPr>
              <a:t>15</a:t>
            </a:r>
            <a:endParaRPr kumimoji="0" lang="en-US" altLang="zh-CN" sz="2800" b="1" i="0" baseline="-25000"/>
          </a:p>
        </p:txBody>
      </p:sp>
      <p:sp>
        <p:nvSpPr>
          <p:cNvPr id="3157" name="Rectangle 81"/>
          <p:cNvSpPr>
            <a:spLocks noChangeArrowheads="1"/>
          </p:cNvSpPr>
          <p:nvPr/>
        </p:nvSpPr>
        <p:spPr bwMode="auto">
          <a:xfrm>
            <a:off x="2730500" y="2222882"/>
            <a:ext cx="1778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 i="0">
                <a:solidFill>
                  <a:srgbClr val="000000"/>
                </a:solidFill>
              </a:rPr>
              <a:t>14</a:t>
            </a:r>
            <a:endParaRPr kumimoji="0" lang="en-US" altLang="zh-CN" sz="2800" b="1" i="0" baseline="-25000"/>
          </a:p>
        </p:txBody>
      </p:sp>
      <p:sp>
        <p:nvSpPr>
          <p:cNvPr id="3158" name="Rectangle 82"/>
          <p:cNvSpPr>
            <a:spLocks noChangeArrowheads="1"/>
          </p:cNvSpPr>
          <p:nvPr/>
        </p:nvSpPr>
        <p:spPr bwMode="auto">
          <a:xfrm>
            <a:off x="2730500" y="2526095"/>
            <a:ext cx="1778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 i="0">
                <a:solidFill>
                  <a:srgbClr val="000000"/>
                </a:solidFill>
              </a:rPr>
              <a:t>13</a:t>
            </a:r>
            <a:endParaRPr kumimoji="0" lang="en-US" altLang="zh-CN" sz="2800" b="1" i="0" baseline="-25000"/>
          </a:p>
        </p:txBody>
      </p:sp>
      <p:sp>
        <p:nvSpPr>
          <p:cNvPr id="3159" name="Rectangle 83"/>
          <p:cNvSpPr>
            <a:spLocks noChangeArrowheads="1"/>
          </p:cNvSpPr>
          <p:nvPr/>
        </p:nvSpPr>
        <p:spPr bwMode="auto">
          <a:xfrm>
            <a:off x="2730500" y="2811845"/>
            <a:ext cx="1778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 i="0">
                <a:solidFill>
                  <a:srgbClr val="000000"/>
                </a:solidFill>
              </a:rPr>
              <a:t>12</a:t>
            </a:r>
            <a:endParaRPr kumimoji="0" lang="en-US" altLang="zh-CN" sz="2800" b="1" i="0" baseline="-25000"/>
          </a:p>
        </p:txBody>
      </p:sp>
      <p:sp>
        <p:nvSpPr>
          <p:cNvPr id="3160" name="Rectangle 84"/>
          <p:cNvSpPr>
            <a:spLocks noChangeArrowheads="1"/>
          </p:cNvSpPr>
          <p:nvPr/>
        </p:nvSpPr>
        <p:spPr bwMode="auto">
          <a:xfrm>
            <a:off x="2730500" y="3113470"/>
            <a:ext cx="1778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 i="0">
                <a:solidFill>
                  <a:srgbClr val="000000"/>
                </a:solidFill>
              </a:rPr>
              <a:t>11</a:t>
            </a:r>
            <a:endParaRPr kumimoji="0" lang="en-US" altLang="zh-CN" sz="2800" b="1" i="0" baseline="-25000"/>
          </a:p>
        </p:txBody>
      </p:sp>
      <p:sp>
        <p:nvSpPr>
          <p:cNvPr id="3161" name="Rectangle 85"/>
          <p:cNvSpPr>
            <a:spLocks noChangeArrowheads="1"/>
          </p:cNvSpPr>
          <p:nvPr/>
        </p:nvSpPr>
        <p:spPr bwMode="auto">
          <a:xfrm>
            <a:off x="2730500" y="3415095"/>
            <a:ext cx="177800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 i="0">
                <a:solidFill>
                  <a:srgbClr val="000000"/>
                </a:solidFill>
              </a:rPr>
              <a:t>10</a:t>
            </a:r>
            <a:endParaRPr kumimoji="0" lang="en-US" altLang="zh-CN" sz="2800" b="1" i="0" baseline="-25000"/>
          </a:p>
        </p:txBody>
      </p:sp>
      <p:sp>
        <p:nvSpPr>
          <p:cNvPr id="3162" name="Rectangle 86"/>
          <p:cNvSpPr>
            <a:spLocks noChangeArrowheads="1"/>
          </p:cNvSpPr>
          <p:nvPr/>
        </p:nvSpPr>
        <p:spPr bwMode="auto">
          <a:xfrm>
            <a:off x="2801938" y="3718307"/>
            <a:ext cx="889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 i="0">
                <a:solidFill>
                  <a:srgbClr val="000000"/>
                </a:solidFill>
              </a:rPr>
              <a:t>9</a:t>
            </a:r>
            <a:endParaRPr kumimoji="0" lang="en-US" altLang="zh-CN" sz="2800" b="1" i="0" baseline="-25000"/>
          </a:p>
        </p:txBody>
      </p:sp>
      <p:sp>
        <p:nvSpPr>
          <p:cNvPr id="3163" name="Rectangle 87"/>
          <p:cNvSpPr>
            <a:spLocks noChangeArrowheads="1"/>
          </p:cNvSpPr>
          <p:nvPr/>
        </p:nvSpPr>
        <p:spPr bwMode="auto">
          <a:xfrm rot="5400000">
            <a:off x="2246313" y="2346707"/>
            <a:ext cx="1206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 i="0">
                <a:solidFill>
                  <a:srgbClr val="000000"/>
                </a:solidFill>
              </a:rPr>
              <a:t>C</a:t>
            </a:r>
            <a:endParaRPr kumimoji="0" lang="en-US" altLang="zh-CN" sz="2800" b="1" i="0" baseline="-25000"/>
          </a:p>
        </p:txBody>
      </p:sp>
      <p:sp>
        <p:nvSpPr>
          <p:cNvPr id="3164" name="Rectangle 88"/>
          <p:cNvSpPr>
            <a:spLocks noChangeArrowheads="1"/>
          </p:cNvSpPr>
          <p:nvPr/>
        </p:nvSpPr>
        <p:spPr bwMode="auto">
          <a:xfrm rot="5400000">
            <a:off x="2252663" y="2484819"/>
            <a:ext cx="1079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 i="0">
                <a:solidFill>
                  <a:srgbClr val="000000"/>
                </a:solidFill>
              </a:rPr>
              <a:t>T</a:t>
            </a:r>
            <a:endParaRPr kumimoji="0" lang="en-US" altLang="zh-CN" sz="2800" b="1" i="0" baseline="-25000"/>
          </a:p>
        </p:txBody>
      </p:sp>
      <p:sp>
        <p:nvSpPr>
          <p:cNvPr id="3165" name="Rectangle 89"/>
          <p:cNvSpPr>
            <a:spLocks noChangeArrowheads="1"/>
          </p:cNvSpPr>
          <p:nvPr/>
        </p:nvSpPr>
        <p:spPr bwMode="auto">
          <a:xfrm rot="5400000">
            <a:off x="2262188" y="2589594"/>
            <a:ext cx="889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 i="0">
                <a:solidFill>
                  <a:srgbClr val="000000"/>
                </a:solidFill>
              </a:rPr>
              <a:t>7</a:t>
            </a:r>
            <a:endParaRPr kumimoji="0" lang="en-US" altLang="zh-CN" sz="2800" b="1" i="0" baseline="-25000"/>
          </a:p>
        </p:txBody>
      </p:sp>
      <p:sp>
        <p:nvSpPr>
          <p:cNvPr id="3166" name="Rectangle 90"/>
          <p:cNvSpPr>
            <a:spLocks noChangeArrowheads="1"/>
          </p:cNvSpPr>
          <p:nvPr/>
        </p:nvSpPr>
        <p:spPr bwMode="auto">
          <a:xfrm rot="5400000">
            <a:off x="2262188" y="2684844"/>
            <a:ext cx="889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 i="0">
                <a:solidFill>
                  <a:srgbClr val="000000"/>
                </a:solidFill>
              </a:rPr>
              <a:t>4</a:t>
            </a:r>
            <a:endParaRPr kumimoji="0" lang="en-US" altLang="zh-CN" sz="2800" b="1" i="0" baseline="-25000"/>
          </a:p>
        </p:txBody>
      </p:sp>
      <p:sp>
        <p:nvSpPr>
          <p:cNvPr id="3167" name="Rectangle 91"/>
          <p:cNvSpPr>
            <a:spLocks noChangeArrowheads="1"/>
          </p:cNvSpPr>
          <p:nvPr/>
        </p:nvSpPr>
        <p:spPr bwMode="auto">
          <a:xfrm rot="5400000">
            <a:off x="2252663" y="2786444"/>
            <a:ext cx="1079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 i="0">
                <a:solidFill>
                  <a:srgbClr val="000000"/>
                </a:solidFill>
              </a:rPr>
              <a:t>L</a:t>
            </a:r>
            <a:endParaRPr kumimoji="0" lang="en-US" altLang="zh-CN" sz="2800" b="1" i="0" baseline="-25000"/>
          </a:p>
        </p:txBody>
      </p:sp>
      <p:sp>
        <p:nvSpPr>
          <p:cNvPr id="3168" name="Rectangle 92"/>
          <p:cNvSpPr>
            <a:spLocks noChangeArrowheads="1"/>
          </p:cNvSpPr>
          <p:nvPr/>
        </p:nvSpPr>
        <p:spPr bwMode="auto">
          <a:xfrm rot="5400000">
            <a:off x="2256632" y="2898363"/>
            <a:ext cx="968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 i="0">
                <a:solidFill>
                  <a:srgbClr val="000000"/>
                </a:solidFill>
              </a:rPr>
              <a:t>S</a:t>
            </a:r>
            <a:endParaRPr kumimoji="0" lang="en-US" altLang="zh-CN" sz="2800" b="1" i="0" baseline="-25000"/>
          </a:p>
        </p:txBody>
      </p:sp>
      <p:sp>
        <p:nvSpPr>
          <p:cNvPr id="3169" name="Rectangle 93"/>
          <p:cNvSpPr>
            <a:spLocks noChangeArrowheads="1"/>
          </p:cNvSpPr>
          <p:nvPr/>
        </p:nvSpPr>
        <p:spPr bwMode="auto">
          <a:xfrm rot="5400000">
            <a:off x="2262188" y="3003932"/>
            <a:ext cx="889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 i="0">
                <a:solidFill>
                  <a:srgbClr val="000000"/>
                </a:solidFill>
              </a:rPr>
              <a:t>1</a:t>
            </a:r>
            <a:endParaRPr kumimoji="0" lang="en-US" altLang="zh-CN" sz="2800" b="1" i="0" baseline="-25000"/>
          </a:p>
        </p:txBody>
      </p:sp>
      <p:sp>
        <p:nvSpPr>
          <p:cNvPr id="3170" name="Rectangle 94"/>
          <p:cNvSpPr>
            <a:spLocks noChangeArrowheads="1"/>
          </p:cNvSpPr>
          <p:nvPr/>
        </p:nvSpPr>
        <p:spPr bwMode="auto">
          <a:xfrm rot="5400000">
            <a:off x="2262188" y="3099182"/>
            <a:ext cx="889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 i="0">
                <a:solidFill>
                  <a:srgbClr val="000000"/>
                </a:solidFill>
              </a:rPr>
              <a:t>3</a:t>
            </a:r>
            <a:endParaRPr kumimoji="0" lang="en-US" altLang="zh-CN" sz="2800" b="1" i="0" baseline="-25000"/>
          </a:p>
        </p:txBody>
      </p:sp>
      <p:sp>
        <p:nvSpPr>
          <p:cNvPr id="3171" name="Rectangle 95"/>
          <p:cNvSpPr>
            <a:spLocks noChangeArrowheads="1"/>
          </p:cNvSpPr>
          <p:nvPr/>
        </p:nvSpPr>
        <p:spPr bwMode="auto">
          <a:xfrm rot="5400000">
            <a:off x="2262188" y="3192844"/>
            <a:ext cx="889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0" lang="en-US" altLang="zh-CN" sz="1400" i="0"/>
              <a:t>9</a:t>
            </a:r>
          </a:p>
        </p:txBody>
      </p:sp>
      <p:sp>
        <p:nvSpPr>
          <p:cNvPr id="3172" name="Line 239"/>
          <p:cNvSpPr>
            <a:spLocks noChangeShapeType="1"/>
          </p:cNvSpPr>
          <p:nvPr/>
        </p:nvSpPr>
        <p:spPr bwMode="auto">
          <a:xfrm>
            <a:off x="1146175" y="2535620"/>
            <a:ext cx="179388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3173" name="Line 240"/>
          <p:cNvSpPr>
            <a:spLocks noChangeShapeType="1"/>
          </p:cNvSpPr>
          <p:nvPr/>
        </p:nvSpPr>
        <p:spPr bwMode="auto">
          <a:xfrm>
            <a:off x="3411538" y="3724657"/>
            <a:ext cx="2159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3174" name="Line 241"/>
          <p:cNvSpPr>
            <a:spLocks noChangeShapeType="1"/>
          </p:cNvSpPr>
          <p:nvPr/>
        </p:nvSpPr>
        <p:spPr bwMode="auto">
          <a:xfrm>
            <a:off x="3378200" y="3399220"/>
            <a:ext cx="2159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3175" name="Line 242"/>
          <p:cNvSpPr>
            <a:spLocks noChangeShapeType="1"/>
          </p:cNvSpPr>
          <p:nvPr/>
        </p:nvSpPr>
        <p:spPr bwMode="auto">
          <a:xfrm>
            <a:off x="3411538" y="3107120"/>
            <a:ext cx="2159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3176" name="Line 243"/>
          <p:cNvSpPr>
            <a:spLocks noChangeShapeType="1"/>
          </p:cNvSpPr>
          <p:nvPr/>
        </p:nvSpPr>
        <p:spPr bwMode="auto">
          <a:xfrm>
            <a:off x="3403600" y="2822957"/>
            <a:ext cx="179388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3177" name="Line 244"/>
          <p:cNvSpPr>
            <a:spLocks noChangeShapeType="1"/>
          </p:cNvSpPr>
          <p:nvPr/>
        </p:nvSpPr>
        <p:spPr bwMode="auto">
          <a:xfrm>
            <a:off x="1154113" y="3411920"/>
            <a:ext cx="179387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3178" name="Line 245"/>
          <p:cNvSpPr>
            <a:spLocks noChangeShapeType="1"/>
          </p:cNvSpPr>
          <p:nvPr/>
        </p:nvSpPr>
        <p:spPr bwMode="auto">
          <a:xfrm>
            <a:off x="1154113" y="3110295"/>
            <a:ext cx="179387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3179" name="Line 246"/>
          <p:cNvSpPr>
            <a:spLocks noChangeShapeType="1"/>
          </p:cNvSpPr>
          <p:nvPr/>
        </p:nvSpPr>
        <p:spPr bwMode="auto">
          <a:xfrm>
            <a:off x="1171575" y="2822957"/>
            <a:ext cx="179388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247" name="Text Box 222"/>
          <p:cNvSpPr txBox="1">
            <a:spLocks noChangeArrowheads="1"/>
          </p:cNvSpPr>
          <p:nvPr/>
        </p:nvSpPr>
        <p:spPr bwMode="auto">
          <a:xfrm>
            <a:off x="1559110" y="4316499"/>
            <a:ext cx="1588127" cy="525401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0" lang="zh-CN" altLang="en-US" sz="2800" i="0" dirty="0">
                <a:ea typeface="华文中宋" pitchFamily="2" charset="-122"/>
                <a:cs typeface="Times New Roman" pitchFamily="18" charset="0"/>
              </a:rPr>
              <a:t>引脚图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" name="Rectangle 9"/>
          <p:cNvSpPr>
            <a:spLocks noChangeArrowheads="1"/>
          </p:cNvSpPr>
          <p:nvPr/>
        </p:nvSpPr>
        <p:spPr bwMode="auto">
          <a:xfrm>
            <a:off x="1930400" y="1568450"/>
            <a:ext cx="1933575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07" name="Rectangle 10"/>
          <p:cNvSpPr>
            <a:spLocks noChangeArrowheads="1"/>
          </p:cNvSpPr>
          <p:nvPr/>
        </p:nvSpPr>
        <p:spPr bwMode="auto">
          <a:xfrm>
            <a:off x="1930400" y="1568450"/>
            <a:ext cx="1933575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0" lang="en-US" altLang="zh-CN" sz="900" b="1" i="0">
                <a:latin typeface="Arial" charset="0"/>
              </a:rPr>
              <a:t>  </a:t>
            </a:r>
            <a:endParaRPr kumimoji="0" lang="en-US" altLang="zh-CN" sz="1800" i="0">
              <a:latin typeface="Arial" charset="0"/>
            </a:endParaRPr>
          </a:p>
        </p:txBody>
      </p:sp>
      <p:sp>
        <p:nvSpPr>
          <p:cNvPr id="4108" name="Rectangle 11"/>
          <p:cNvSpPr>
            <a:spLocks noChangeArrowheads="1"/>
          </p:cNvSpPr>
          <p:nvPr/>
        </p:nvSpPr>
        <p:spPr bwMode="auto">
          <a:xfrm>
            <a:off x="1930400" y="1568450"/>
            <a:ext cx="1933575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0" lang="en-US" altLang="zh-CN" sz="900" b="1" i="0">
                <a:latin typeface="Arial" charset="0"/>
              </a:rPr>
              <a:t>  </a:t>
            </a:r>
            <a:endParaRPr kumimoji="0" lang="en-US" altLang="zh-CN" sz="1800" i="0">
              <a:latin typeface="Arial" charset="0"/>
            </a:endParaRPr>
          </a:p>
        </p:txBody>
      </p:sp>
      <p:sp>
        <p:nvSpPr>
          <p:cNvPr id="4109" name="Rectangle 12"/>
          <p:cNvSpPr>
            <a:spLocks noChangeArrowheads="1"/>
          </p:cNvSpPr>
          <p:nvPr/>
        </p:nvSpPr>
        <p:spPr bwMode="auto">
          <a:xfrm>
            <a:off x="1930400" y="1568450"/>
            <a:ext cx="1933575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0" lang="en-US" altLang="zh-CN" sz="900" b="1" i="0">
                <a:latin typeface="Arial" charset="0"/>
              </a:rPr>
              <a:t>  </a:t>
            </a:r>
            <a:endParaRPr kumimoji="0" lang="en-US" altLang="zh-CN" sz="1800" i="0">
              <a:latin typeface="Arial" charset="0"/>
            </a:endParaRPr>
          </a:p>
        </p:txBody>
      </p:sp>
      <p:graphicFrame>
        <p:nvGraphicFramePr>
          <p:cNvPr id="36" name="Group 51"/>
          <p:cNvGraphicFramePr>
            <a:graphicFrameLocks noGrp="1"/>
          </p:cNvGraphicFramePr>
          <p:nvPr/>
        </p:nvGraphicFramePr>
        <p:xfrm>
          <a:off x="785813" y="1076325"/>
          <a:ext cx="7740650" cy="3317337"/>
        </p:xfrm>
        <a:graphic>
          <a:graphicData uri="http://schemas.openxmlformats.org/drawingml/2006/table">
            <a:tbl>
              <a:tblPr/>
              <a:tblGrid>
                <a:gridCol w="720725"/>
                <a:gridCol w="1860550"/>
                <a:gridCol w="2470186"/>
                <a:gridCol w="2689189"/>
              </a:tblGrid>
              <a:tr h="42056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输    入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输     出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功能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570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 选择输入</a:t>
                      </a:r>
                    </a:p>
                    <a:p>
                      <a:pPr marL="0" marR="0" lvl="0" indent="2667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en-US" altLang="zh-CN" sz="24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1     </a:t>
                      </a:r>
                      <a:r>
                        <a:rPr kumimoji="1" lang="en-US" altLang="zh-CN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en-US" altLang="zh-CN" sz="24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Y</a:t>
                      </a:r>
                      <a:r>
                        <a:rPr kumimoji="1" lang="en-US" altLang="zh-CN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0    </a:t>
                      </a: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Y</a:t>
                      </a:r>
                      <a:r>
                        <a:rPr kumimoji="1" lang="en-US" altLang="zh-CN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1     </a:t>
                      </a: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Y</a:t>
                      </a:r>
                      <a:r>
                        <a:rPr kumimoji="1" lang="en-US" altLang="zh-CN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2      </a:t>
                      </a: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Y</a:t>
                      </a:r>
                      <a:r>
                        <a:rPr kumimoji="1" lang="en-US" altLang="zh-CN" sz="2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205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  ×   ×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 1     1      1      1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禁止译码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0565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   0     0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 0     1      1      1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进行译码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输出低电平有效</a:t>
                      </a: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）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056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   0     1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 1     0      1      1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2056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   1     0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 1     1      0      1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2056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   1     1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 1     1      1      0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146" name="Rectangle 49"/>
          <p:cNvSpPr>
            <a:spLocks noChangeArrowheads="1"/>
          </p:cNvSpPr>
          <p:nvPr/>
        </p:nvSpPr>
        <p:spPr bwMode="auto">
          <a:xfrm>
            <a:off x="2608299" y="454542"/>
            <a:ext cx="4116833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zh-CN" sz="2800" b="1" i="0" dirty="0"/>
              <a:t>CT74LS139</a:t>
            </a:r>
            <a:r>
              <a:rPr kumimoji="0" lang="zh-CN" altLang="en-US" sz="2800" i="0" dirty="0">
                <a:latin typeface="华文中宋" pitchFamily="2" charset="-122"/>
                <a:ea typeface="华文中宋" pitchFamily="2" charset="-122"/>
              </a:rPr>
              <a:t>的逻辑状态表</a:t>
            </a:r>
          </a:p>
        </p:txBody>
      </p:sp>
      <p:sp>
        <p:nvSpPr>
          <p:cNvPr id="4147" name="Line 52"/>
          <p:cNvSpPr>
            <a:spLocks noChangeShapeType="1"/>
          </p:cNvSpPr>
          <p:nvPr/>
        </p:nvSpPr>
        <p:spPr bwMode="auto">
          <a:xfrm>
            <a:off x="3522663" y="1649413"/>
            <a:ext cx="2159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4148" name="Line 53"/>
          <p:cNvSpPr>
            <a:spLocks noChangeShapeType="1"/>
          </p:cNvSpPr>
          <p:nvPr/>
        </p:nvSpPr>
        <p:spPr bwMode="auto">
          <a:xfrm>
            <a:off x="4025900" y="1649413"/>
            <a:ext cx="2159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4149" name="Line 54"/>
          <p:cNvSpPr>
            <a:spLocks noChangeShapeType="1"/>
          </p:cNvSpPr>
          <p:nvPr/>
        </p:nvSpPr>
        <p:spPr bwMode="auto">
          <a:xfrm>
            <a:off x="4602163" y="1649413"/>
            <a:ext cx="2159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4150" name="Line 55"/>
          <p:cNvSpPr>
            <a:spLocks noChangeShapeType="1"/>
          </p:cNvSpPr>
          <p:nvPr/>
        </p:nvSpPr>
        <p:spPr bwMode="auto">
          <a:xfrm>
            <a:off x="5251450" y="1649413"/>
            <a:ext cx="2159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4151" name="Line 56"/>
          <p:cNvSpPr>
            <a:spLocks noChangeShapeType="1"/>
          </p:cNvSpPr>
          <p:nvPr/>
        </p:nvSpPr>
        <p:spPr bwMode="auto">
          <a:xfrm>
            <a:off x="1069975" y="1720850"/>
            <a:ext cx="2159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none" w="med" len="lg"/>
          </a:ln>
        </p:spPr>
        <p:txBody>
          <a:bodyPr lIns="90000" tIns="46800" rIns="90000" bIns="46800"/>
          <a:lstStyle/>
          <a:p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Box 4"/>
          <p:cNvSpPr txBox="1">
            <a:spLocks noChangeArrowheads="1"/>
          </p:cNvSpPr>
          <p:nvPr/>
        </p:nvSpPr>
        <p:spPr bwMode="auto">
          <a:xfrm>
            <a:off x="285750" y="968557"/>
            <a:ext cx="8643938" cy="115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2800" i="0" dirty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</a:rPr>
              <a:t>显示原理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：</a:t>
            </a:r>
            <a:r>
              <a:rPr kumimoji="0" lang="zh-CN" altLang="en-US" sz="2800" i="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七段</a:t>
            </a:r>
            <a:r>
              <a:rPr kumimoji="0" lang="en-US" altLang="zh-CN" sz="2800" i="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LED</a:t>
            </a:r>
            <a:r>
              <a:rPr kumimoji="0" lang="zh-CN" altLang="en-US" sz="2800" i="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数码管</a:t>
            </a:r>
            <a:r>
              <a:rPr kumimoji="0" lang="zh-CN" altLang="en-US" sz="2800" i="0" dirty="0">
                <a:ea typeface="华文中宋" pitchFamily="2" charset="-122"/>
                <a:cs typeface="Times New Roman" pitchFamily="18" charset="0"/>
              </a:rPr>
              <a:t>中的</a:t>
            </a:r>
            <a:r>
              <a:rPr kumimoji="0" lang="en-US" altLang="zh-CN" sz="2800" b="1" i="0" dirty="0">
                <a:ea typeface="华文中宋" pitchFamily="2" charset="-122"/>
                <a:cs typeface="Times New Roman" pitchFamily="18" charset="0"/>
              </a:rPr>
              <a:t>a</a:t>
            </a:r>
            <a:r>
              <a:rPr kumimoji="0" lang="zh-CN" altLang="en-US" sz="2800" b="1" i="0" dirty="0">
                <a:ea typeface="华文中宋" pitchFamily="2" charset="-122"/>
                <a:cs typeface="Times New Roman" pitchFamily="18" charset="0"/>
              </a:rPr>
              <a:t>～</a:t>
            </a:r>
            <a:r>
              <a:rPr kumimoji="0" lang="en-US" altLang="zh-CN" sz="2800" b="1" i="0" dirty="0">
                <a:ea typeface="华文中宋" pitchFamily="2" charset="-122"/>
                <a:cs typeface="Times New Roman" pitchFamily="18" charset="0"/>
              </a:rPr>
              <a:t>g</a:t>
            </a:r>
            <a:r>
              <a:rPr kumimoji="0" lang="zh-CN" altLang="en-US" sz="2800" i="0" dirty="0">
                <a:ea typeface="华文中宋" pitchFamily="2" charset="-122"/>
                <a:cs typeface="Times New Roman" pitchFamily="18" charset="0"/>
              </a:rPr>
              <a:t>实际上为发光二极管，利用点亮其中某几段来构成</a:t>
            </a:r>
            <a:r>
              <a:rPr kumimoji="0" lang="en-US" altLang="zh-CN" sz="2800" b="1" i="0" dirty="0">
                <a:ea typeface="华文中宋" pitchFamily="2" charset="-122"/>
                <a:cs typeface="Times New Roman" pitchFamily="18" charset="0"/>
              </a:rPr>
              <a:t>0</a:t>
            </a:r>
            <a:r>
              <a:rPr kumimoji="0" lang="zh-CN" altLang="en-US" sz="2800" b="1" i="0" dirty="0">
                <a:ea typeface="华文中宋" pitchFamily="2" charset="-122"/>
                <a:cs typeface="Times New Roman" pitchFamily="18" charset="0"/>
              </a:rPr>
              <a:t>～</a:t>
            </a:r>
            <a:r>
              <a:rPr kumimoji="0" lang="en-US" altLang="zh-CN" sz="2800" b="1" i="0" dirty="0">
                <a:ea typeface="华文中宋" pitchFamily="2" charset="-122"/>
                <a:cs typeface="Times New Roman" pitchFamily="18" charset="0"/>
              </a:rPr>
              <a:t>9</a:t>
            </a:r>
            <a:r>
              <a:rPr kumimoji="0" lang="zh-CN" altLang="en-US" sz="2800" i="0" dirty="0">
                <a:ea typeface="华文中宋" pitchFamily="2" charset="-122"/>
                <a:cs typeface="Times New Roman" pitchFamily="18" charset="0"/>
              </a:rPr>
              <a:t>字形。如： </a:t>
            </a:r>
            <a:endParaRPr lang="zh-CN" altLang="en-US" sz="2800" i="0" dirty="0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8" name="Text Box 1031"/>
          <p:cNvSpPr txBox="1">
            <a:spLocks noChangeArrowheads="1"/>
          </p:cNvSpPr>
          <p:nvPr/>
        </p:nvSpPr>
        <p:spPr bwMode="auto">
          <a:xfrm>
            <a:off x="834811" y="3866936"/>
            <a:ext cx="542777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 eaLnBrk="0" hangingPunct="0">
              <a:defRPr/>
            </a:pPr>
            <a:r>
              <a:rPr kumimoji="0" lang="zh-CN" altLang="en-US" sz="2800" i="0" dirty="0">
                <a:ea typeface="华文中宋" pitchFamily="2" charset="-122"/>
                <a:cs typeface="Times New Roman" pitchFamily="18" charset="0"/>
              </a:rPr>
              <a:t>当</a:t>
            </a:r>
            <a:r>
              <a:rPr kumimoji="0" lang="en-US" altLang="zh-CN" sz="2800" b="1" dirty="0">
                <a:ea typeface="华文中宋" pitchFamily="2" charset="-122"/>
                <a:cs typeface="Times New Roman" pitchFamily="18" charset="0"/>
              </a:rPr>
              <a:t>a</a:t>
            </a:r>
            <a:r>
              <a:rPr kumimoji="0" lang="zh-CN" altLang="en-US" sz="2800" b="1" i="0" dirty="0">
                <a:ea typeface="华文中宋" pitchFamily="2" charset="-122"/>
                <a:cs typeface="Times New Roman" pitchFamily="18" charset="0"/>
              </a:rPr>
              <a:t>～</a:t>
            </a:r>
            <a:r>
              <a:rPr kumimoji="0" lang="en-US" altLang="zh-CN" sz="2800" b="1" dirty="0">
                <a:ea typeface="华文中宋" pitchFamily="2" charset="-122"/>
                <a:cs typeface="Times New Roman" pitchFamily="18" charset="0"/>
              </a:rPr>
              <a:t>f</a:t>
            </a:r>
            <a:r>
              <a:rPr kumimoji="0" lang="en-US" altLang="zh-CN" sz="2800" b="1" i="0" dirty="0">
                <a:ea typeface="华文中宋" pitchFamily="2" charset="-122"/>
                <a:cs typeface="Times New Roman" pitchFamily="18" charset="0"/>
              </a:rPr>
              <a:t>=1 </a:t>
            </a:r>
            <a:r>
              <a:rPr kumimoji="0" lang="zh-CN" altLang="en-US" sz="2800" b="1" i="0" dirty="0">
                <a:ea typeface="华文中宋" pitchFamily="2" charset="-122"/>
                <a:cs typeface="Times New Roman" pitchFamily="18" charset="0"/>
              </a:rPr>
              <a:t>，</a:t>
            </a:r>
            <a:r>
              <a:rPr kumimoji="0" lang="en-US" altLang="zh-CN" sz="2800" b="1" dirty="0">
                <a:ea typeface="华文中宋" pitchFamily="2" charset="-122"/>
                <a:cs typeface="Times New Roman" pitchFamily="18" charset="0"/>
              </a:rPr>
              <a:t>g</a:t>
            </a:r>
            <a:r>
              <a:rPr kumimoji="0" lang="en-US" altLang="zh-CN" sz="2800" b="1" i="0" dirty="0">
                <a:ea typeface="华文中宋" pitchFamily="2" charset="-122"/>
                <a:cs typeface="Times New Roman" pitchFamily="18" charset="0"/>
              </a:rPr>
              <a:t>=0</a:t>
            </a:r>
            <a:r>
              <a:rPr kumimoji="0" lang="zh-CN" altLang="en-US" sz="2800" i="0" dirty="0">
                <a:ea typeface="华文中宋" pitchFamily="2" charset="-122"/>
                <a:cs typeface="Times New Roman" pitchFamily="18" charset="0"/>
              </a:rPr>
              <a:t>时，显示字形</a:t>
            </a:r>
            <a:r>
              <a:rPr kumimoji="0" lang="en-US" altLang="zh-CN" sz="2800" b="1" i="0" dirty="0">
                <a:ea typeface="华文中宋" pitchFamily="2" charset="-122"/>
                <a:cs typeface="Times New Roman" pitchFamily="18" charset="0"/>
              </a:rPr>
              <a:t>0</a:t>
            </a:r>
            <a:r>
              <a:rPr kumimoji="0" lang="zh-CN" altLang="en-US" sz="2800" i="0" dirty="0">
                <a:ea typeface="华文中宋" pitchFamily="2" charset="-122"/>
                <a:cs typeface="Times New Roman" pitchFamily="18" charset="0"/>
              </a:rPr>
              <a:t>；</a:t>
            </a:r>
            <a:endParaRPr kumimoji="0" lang="en-US" altLang="zh-CN" sz="2800" i="0" dirty="0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9" name="Text Box 1032"/>
          <p:cNvSpPr txBox="1">
            <a:spLocks noChangeArrowheads="1"/>
          </p:cNvSpPr>
          <p:nvPr/>
        </p:nvSpPr>
        <p:spPr bwMode="auto">
          <a:xfrm>
            <a:off x="807824" y="4343964"/>
            <a:ext cx="716660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 eaLnBrk="0" hangingPunct="0">
              <a:defRPr/>
            </a:pPr>
            <a:r>
              <a:rPr kumimoji="0" lang="zh-CN" altLang="en-US" sz="2800" i="0" dirty="0">
                <a:ea typeface="华文中宋" pitchFamily="2" charset="-122"/>
                <a:cs typeface="Times New Roman" pitchFamily="18" charset="0"/>
              </a:rPr>
              <a:t>当</a:t>
            </a:r>
            <a:r>
              <a:rPr kumimoji="0" lang="en-US" altLang="zh-CN" sz="2800" b="1" dirty="0">
                <a:ea typeface="华文中宋" pitchFamily="2" charset="-122"/>
                <a:cs typeface="Times New Roman" pitchFamily="18" charset="0"/>
              </a:rPr>
              <a:t>b</a:t>
            </a:r>
            <a:r>
              <a:rPr kumimoji="0" lang="en-US" altLang="zh-CN" sz="2800" b="1" i="0" dirty="0">
                <a:ea typeface="华文中宋" pitchFamily="2" charset="-122"/>
                <a:cs typeface="Times New Roman" pitchFamily="18" charset="0"/>
              </a:rPr>
              <a:t>=</a:t>
            </a:r>
            <a:r>
              <a:rPr kumimoji="0" lang="en-US" altLang="zh-CN" sz="2800" b="1" dirty="0">
                <a:ea typeface="华文中宋" pitchFamily="2" charset="-122"/>
                <a:cs typeface="Times New Roman" pitchFamily="18" charset="0"/>
              </a:rPr>
              <a:t>c</a:t>
            </a:r>
            <a:r>
              <a:rPr kumimoji="0" lang="en-US" altLang="zh-CN" sz="2800" b="1" i="0" dirty="0">
                <a:ea typeface="华文中宋" pitchFamily="2" charset="-122"/>
                <a:cs typeface="Times New Roman" pitchFamily="18" charset="0"/>
              </a:rPr>
              <a:t>=1</a:t>
            </a:r>
            <a:r>
              <a:rPr kumimoji="0" lang="zh-CN" altLang="en-US" sz="2800" b="1" i="0" dirty="0">
                <a:ea typeface="华文中宋" pitchFamily="2" charset="-122"/>
                <a:cs typeface="Times New Roman" pitchFamily="18" charset="0"/>
              </a:rPr>
              <a:t>，</a:t>
            </a:r>
            <a:r>
              <a:rPr kumimoji="0" lang="en-US" altLang="zh-CN" sz="2800" b="1" dirty="0">
                <a:ea typeface="华文中宋" pitchFamily="2" charset="-122"/>
                <a:cs typeface="Times New Roman" pitchFamily="18" charset="0"/>
              </a:rPr>
              <a:t>a</a:t>
            </a:r>
            <a:r>
              <a:rPr kumimoji="0" lang="en-US" altLang="zh-CN" sz="2800" b="1" i="0" dirty="0">
                <a:ea typeface="华文中宋" pitchFamily="2" charset="-122"/>
                <a:cs typeface="Times New Roman" pitchFamily="18" charset="0"/>
              </a:rPr>
              <a:t>=</a:t>
            </a:r>
            <a:r>
              <a:rPr kumimoji="0" lang="en-US" altLang="zh-CN" sz="2800" b="1" dirty="0">
                <a:ea typeface="华文中宋" pitchFamily="2" charset="-122"/>
                <a:cs typeface="Times New Roman" pitchFamily="18" charset="0"/>
              </a:rPr>
              <a:t>d</a:t>
            </a:r>
            <a:r>
              <a:rPr kumimoji="0" lang="en-US" altLang="zh-CN" sz="2800" b="1" i="0" dirty="0">
                <a:ea typeface="华文中宋" pitchFamily="2" charset="-122"/>
                <a:cs typeface="Times New Roman" pitchFamily="18" charset="0"/>
              </a:rPr>
              <a:t>=</a:t>
            </a:r>
            <a:r>
              <a:rPr kumimoji="0" lang="en-US" altLang="zh-CN" sz="2800" b="1" dirty="0">
                <a:ea typeface="华文中宋" pitchFamily="2" charset="-122"/>
                <a:cs typeface="Times New Roman" pitchFamily="18" charset="0"/>
              </a:rPr>
              <a:t>e</a:t>
            </a:r>
            <a:r>
              <a:rPr kumimoji="0" lang="en-US" altLang="zh-CN" sz="2800" b="1" i="0" dirty="0">
                <a:ea typeface="华文中宋" pitchFamily="2" charset="-122"/>
                <a:cs typeface="Times New Roman" pitchFamily="18" charset="0"/>
              </a:rPr>
              <a:t>=</a:t>
            </a:r>
            <a:r>
              <a:rPr kumimoji="0" lang="en-US" altLang="zh-CN" sz="2800" b="1" dirty="0">
                <a:ea typeface="华文中宋" pitchFamily="2" charset="-122"/>
                <a:cs typeface="Times New Roman" pitchFamily="18" charset="0"/>
              </a:rPr>
              <a:t>f</a:t>
            </a:r>
            <a:r>
              <a:rPr kumimoji="0" lang="en-US" altLang="zh-CN" sz="2800" b="1" i="0" dirty="0">
                <a:ea typeface="华文中宋" pitchFamily="2" charset="-122"/>
                <a:cs typeface="Times New Roman" pitchFamily="18" charset="0"/>
              </a:rPr>
              <a:t>=</a:t>
            </a:r>
            <a:r>
              <a:rPr kumimoji="0" lang="en-US" altLang="zh-CN" sz="2800" b="1" dirty="0">
                <a:ea typeface="华文中宋" pitchFamily="2" charset="-122"/>
                <a:cs typeface="Times New Roman" pitchFamily="18" charset="0"/>
              </a:rPr>
              <a:t>g</a:t>
            </a:r>
            <a:r>
              <a:rPr kumimoji="0" lang="en-US" altLang="zh-CN" sz="2800" b="1" i="0" dirty="0">
                <a:ea typeface="华文中宋" pitchFamily="2" charset="-122"/>
                <a:cs typeface="Times New Roman" pitchFamily="18" charset="0"/>
              </a:rPr>
              <a:t>=0</a:t>
            </a:r>
            <a:r>
              <a:rPr kumimoji="0" lang="zh-CN" altLang="en-US" sz="2800" i="0" dirty="0">
                <a:ea typeface="华文中宋" pitchFamily="2" charset="-122"/>
                <a:cs typeface="Times New Roman" pitchFamily="18" charset="0"/>
              </a:rPr>
              <a:t>时，显示字形</a:t>
            </a:r>
            <a:r>
              <a:rPr kumimoji="0" lang="en-US" altLang="zh-CN" sz="2800" b="1" i="0" dirty="0">
                <a:ea typeface="华文中宋" pitchFamily="2" charset="-122"/>
                <a:cs typeface="Times New Roman" pitchFamily="18" charset="0"/>
              </a:rPr>
              <a:t>1</a:t>
            </a:r>
            <a:r>
              <a:rPr kumimoji="0" lang="en-US" altLang="zh-CN" sz="2800" i="0" dirty="0">
                <a:ea typeface="华文中宋" pitchFamily="2" charset="-122"/>
                <a:cs typeface="Times New Roman" pitchFamily="18" charset="0"/>
              </a:rPr>
              <a:t>……</a:t>
            </a:r>
          </a:p>
        </p:txBody>
      </p:sp>
      <p:sp>
        <p:nvSpPr>
          <p:cNvPr id="64" name="Text Box 1052"/>
          <p:cNvSpPr txBox="1">
            <a:spLocks noChangeArrowheads="1"/>
          </p:cNvSpPr>
          <p:nvPr/>
        </p:nvSpPr>
        <p:spPr bwMode="auto">
          <a:xfrm>
            <a:off x="6832386" y="2701711"/>
            <a:ext cx="885825" cy="503238"/>
          </a:xfrm>
          <a:prstGeom prst="rect">
            <a:avLst/>
          </a:prstGeom>
          <a:noFill/>
          <a:ln w="31750">
            <a:noFill/>
            <a:miter lim="800000"/>
            <a:headEnd/>
            <a:tailEnd/>
          </a:ln>
        </p:spPr>
        <p:txBody>
          <a:bodyPr/>
          <a:lstStyle/>
          <a:p>
            <a:pPr algn="just" eaLnBrk="0" hangingPunct="0">
              <a:defRPr/>
            </a:pPr>
            <a:r>
              <a:rPr kumimoji="0" lang="en-US" altLang="zh-CN" sz="2800" b="1" i="0" dirty="0">
                <a:ea typeface="华文中宋" pitchFamily="2" charset="-122"/>
                <a:cs typeface="Times New Roman" pitchFamily="18" charset="0"/>
              </a:rPr>
              <a:t>……</a:t>
            </a:r>
          </a:p>
        </p:txBody>
      </p:sp>
      <p:grpSp>
        <p:nvGrpSpPr>
          <p:cNvPr id="2" name="Group 1072"/>
          <p:cNvGrpSpPr>
            <a:grpSpLocks/>
          </p:cNvGrpSpPr>
          <p:nvPr/>
        </p:nvGrpSpPr>
        <p:grpSpPr bwMode="auto">
          <a:xfrm>
            <a:off x="999911" y="1871449"/>
            <a:ext cx="1879600" cy="2143125"/>
            <a:chOff x="516" y="1416"/>
            <a:chExt cx="1184" cy="1350"/>
          </a:xfrm>
        </p:grpSpPr>
        <p:sp>
          <p:nvSpPr>
            <p:cNvPr id="66" name="Text Box 1049"/>
            <p:cNvSpPr txBox="1">
              <a:spLocks noChangeArrowheads="1"/>
            </p:cNvSpPr>
            <p:nvPr/>
          </p:nvSpPr>
          <p:spPr bwMode="auto">
            <a:xfrm>
              <a:off x="1388" y="2206"/>
              <a:ext cx="312" cy="335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>
                <a:defRPr/>
              </a:pPr>
              <a:r>
                <a:rPr kumimoji="0" lang="en-US" altLang="zh-CN" sz="2800" b="1" i="0" dirty="0"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67" name="Text Box 1056"/>
            <p:cNvSpPr txBox="1">
              <a:spLocks noChangeArrowheads="1"/>
            </p:cNvSpPr>
            <p:nvPr/>
          </p:nvSpPr>
          <p:spPr bwMode="auto">
            <a:xfrm>
              <a:off x="816" y="1416"/>
              <a:ext cx="25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2800" b="1" dirty="0">
                  <a:solidFill>
                    <a:srgbClr val="0000FF"/>
                  </a:solidFill>
                  <a:ea typeface="华文中宋" pitchFamily="2" charset="-122"/>
                  <a:cs typeface="Times New Roman" pitchFamily="18" charset="0"/>
                </a:rPr>
                <a:t>a</a:t>
              </a:r>
            </a:p>
          </p:txBody>
        </p:sp>
        <p:sp>
          <p:nvSpPr>
            <p:cNvPr id="68" name="Line 1036"/>
            <p:cNvSpPr>
              <a:spLocks noChangeShapeType="1"/>
            </p:cNvSpPr>
            <p:nvPr/>
          </p:nvSpPr>
          <p:spPr bwMode="auto">
            <a:xfrm>
              <a:off x="789" y="1698"/>
              <a:ext cx="340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280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9" name="Line 1037"/>
            <p:cNvSpPr>
              <a:spLocks noChangeShapeType="1"/>
            </p:cNvSpPr>
            <p:nvPr/>
          </p:nvSpPr>
          <p:spPr bwMode="auto">
            <a:xfrm>
              <a:off x="792" y="2467"/>
              <a:ext cx="316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280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0" name="Line 1041"/>
            <p:cNvSpPr>
              <a:spLocks noChangeShapeType="1"/>
            </p:cNvSpPr>
            <p:nvPr/>
          </p:nvSpPr>
          <p:spPr bwMode="auto">
            <a:xfrm>
              <a:off x="778" y="1746"/>
              <a:ext cx="0" cy="302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280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1" name="Line 1042"/>
            <p:cNvSpPr>
              <a:spLocks noChangeShapeType="1"/>
            </p:cNvSpPr>
            <p:nvPr/>
          </p:nvSpPr>
          <p:spPr bwMode="auto">
            <a:xfrm>
              <a:off x="778" y="2113"/>
              <a:ext cx="0" cy="338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280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2" name="Line 1043"/>
            <p:cNvSpPr>
              <a:spLocks noChangeShapeType="1"/>
            </p:cNvSpPr>
            <p:nvPr/>
          </p:nvSpPr>
          <p:spPr bwMode="auto">
            <a:xfrm>
              <a:off x="1153" y="2113"/>
              <a:ext cx="0" cy="338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280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3" name="Line 1044"/>
            <p:cNvSpPr>
              <a:spLocks noChangeShapeType="1"/>
            </p:cNvSpPr>
            <p:nvPr/>
          </p:nvSpPr>
          <p:spPr bwMode="auto">
            <a:xfrm>
              <a:off x="1153" y="1734"/>
              <a:ext cx="0" cy="314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280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4" name="Text Box 1055"/>
            <p:cNvSpPr txBox="1">
              <a:spLocks noChangeArrowheads="1"/>
            </p:cNvSpPr>
            <p:nvPr/>
          </p:nvSpPr>
          <p:spPr bwMode="auto">
            <a:xfrm>
              <a:off x="1152" y="1728"/>
              <a:ext cx="25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2800" b="1">
                  <a:solidFill>
                    <a:srgbClr val="0000FF"/>
                  </a:solidFill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75" name="Text Box 1057"/>
            <p:cNvSpPr txBox="1">
              <a:spLocks noChangeArrowheads="1"/>
            </p:cNvSpPr>
            <p:nvPr/>
          </p:nvSpPr>
          <p:spPr bwMode="auto">
            <a:xfrm>
              <a:off x="828" y="2436"/>
              <a:ext cx="25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2800" b="1">
                  <a:solidFill>
                    <a:srgbClr val="0000FF"/>
                  </a:solidFill>
                  <a:ea typeface="华文中宋" pitchFamily="2" charset="-122"/>
                  <a:cs typeface="Times New Roman" pitchFamily="18" charset="0"/>
                </a:rPr>
                <a:t>d</a:t>
              </a:r>
            </a:p>
          </p:txBody>
        </p:sp>
        <p:sp>
          <p:nvSpPr>
            <p:cNvPr id="76" name="Text Box 1058"/>
            <p:cNvSpPr txBox="1">
              <a:spLocks noChangeArrowheads="1"/>
            </p:cNvSpPr>
            <p:nvPr/>
          </p:nvSpPr>
          <p:spPr bwMode="auto">
            <a:xfrm>
              <a:off x="1152" y="2124"/>
              <a:ext cx="25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2800" b="1">
                  <a:solidFill>
                    <a:srgbClr val="0000FF"/>
                  </a:solidFill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77" name="Text Box 1059"/>
            <p:cNvSpPr txBox="1">
              <a:spLocks noChangeArrowheads="1"/>
            </p:cNvSpPr>
            <p:nvPr/>
          </p:nvSpPr>
          <p:spPr bwMode="auto">
            <a:xfrm>
              <a:off x="540" y="2112"/>
              <a:ext cx="25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2800" b="1">
                  <a:solidFill>
                    <a:srgbClr val="0000FF"/>
                  </a:solidFill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78" name="Text Box 1060"/>
            <p:cNvSpPr txBox="1">
              <a:spLocks noChangeArrowheads="1"/>
            </p:cNvSpPr>
            <p:nvPr/>
          </p:nvSpPr>
          <p:spPr bwMode="auto">
            <a:xfrm>
              <a:off x="516" y="1764"/>
              <a:ext cx="25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2800" b="1">
                  <a:solidFill>
                    <a:srgbClr val="0000FF"/>
                  </a:solidFill>
                  <a:ea typeface="华文中宋" pitchFamily="2" charset="-122"/>
                  <a:cs typeface="Times New Roman" pitchFamily="18" charset="0"/>
                </a:rPr>
                <a:t>f</a:t>
              </a:r>
            </a:p>
          </p:txBody>
        </p:sp>
      </p:grpSp>
      <p:grpSp>
        <p:nvGrpSpPr>
          <p:cNvPr id="3" name="Group 1064"/>
          <p:cNvGrpSpPr>
            <a:grpSpLocks/>
          </p:cNvGrpSpPr>
          <p:nvPr/>
        </p:nvGrpSpPr>
        <p:grpSpPr bwMode="auto">
          <a:xfrm>
            <a:off x="3585949" y="2312774"/>
            <a:ext cx="885825" cy="1274762"/>
            <a:chOff x="2145" y="1694"/>
            <a:chExt cx="558" cy="803"/>
          </a:xfrm>
        </p:grpSpPr>
        <p:sp>
          <p:nvSpPr>
            <p:cNvPr id="80" name="Line 1045"/>
            <p:cNvSpPr>
              <a:spLocks noChangeShapeType="1"/>
            </p:cNvSpPr>
            <p:nvPr/>
          </p:nvSpPr>
          <p:spPr bwMode="auto">
            <a:xfrm>
              <a:off x="2145" y="1694"/>
              <a:ext cx="0" cy="338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280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1" name="Line 1048"/>
            <p:cNvSpPr>
              <a:spLocks noChangeShapeType="1"/>
            </p:cNvSpPr>
            <p:nvPr/>
          </p:nvSpPr>
          <p:spPr bwMode="auto">
            <a:xfrm>
              <a:off x="2145" y="2097"/>
              <a:ext cx="0" cy="338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280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2" name="Text Box 1051"/>
            <p:cNvSpPr txBox="1">
              <a:spLocks noChangeArrowheads="1"/>
            </p:cNvSpPr>
            <p:nvPr/>
          </p:nvSpPr>
          <p:spPr bwMode="auto">
            <a:xfrm>
              <a:off x="2426" y="2174"/>
              <a:ext cx="277" cy="323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>
                <a:defRPr/>
              </a:pPr>
              <a:r>
                <a:rPr kumimoji="0" lang="en-US" altLang="zh-CN" sz="2800" b="1" i="0" dirty="0"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83" name="Text Box 1061"/>
            <p:cNvSpPr txBox="1">
              <a:spLocks noChangeArrowheads="1"/>
            </p:cNvSpPr>
            <p:nvPr/>
          </p:nvSpPr>
          <p:spPr bwMode="auto">
            <a:xfrm>
              <a:off x="2160" y="2136"/>
              <a:ext cx="25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2800" b="1">
                  <a:solidFill>
                    <a:srgbClr val="0000FF"/>
                  </a:solidFill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84" name="Text Box 1062"/>
            <p:cNvSpPr txBox="1">
              <a:spLocks noChangeArrowheads="1"/>
            </p:cNvSpPr>
            <p:nvPr/>
          </p:nvSpPr>
          <p:spPr bwMode="auto">
            <a:xfrm>
              <a:off x="2160" y="1716"/>
              <a:ext cx="25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2800" b="1">
                  <a:solidFill>
                    <a:srgbClr val="0000FF"/>
                  </a:solidFill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</p:grpSp>
      <p:grpSp>
        <p:nvGrpSpPr>
          <p:cNvPr id="4" name="Group 1070"/>
          <p:cNvGrpSpPr>
            <a:grpSpLocks/>
          </p:cNvGrpSpPr>
          <p:nvPr/>
        </p:nvGrpSpPr>
        <p:grpSpPr bwMode="auto">
          <a:xfrm>
            <a:off x="4943261" y="1833349"/>
            <a:ext cx="1684338" cy="2085975"/>
            <a:chOff x="3000" y="1392"/>
            <a:chExt cx="1061" cy="1314"/>
          </a:xfrm>
        </p:grpSpPr>
        <p:sp>
          <p:nvSpPr>
            <p:cNvPr id="86" name="Line 1038"/>
            <p:cNvSpPr>
              <a:spLocks noChangeShapeType="1"/>
            </p:cNvSpPr>
            <p:nvPr/>
          </p:nvSpPr>
          <p:spPr bwMode="auto">
            <a:xfrm>
              <a:off x="3264" y="2431"/>
              <a:ext cx="305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280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7" name="Line 1039"/>
            <p:cNvSpPr>
              <a:spLocks noChangeShapeType="1"/>
            </p:cNvSpPr>
            <p:nvPr/>
          </p:nvSpPr>
          <p:spPr bwMode="auto">
            <a:xfrm>
              <a:off x="3252" y="1686"/>
              <a:ext cx="305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280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8" name="Line 1040"/>
            <p:cNvSpPr>
              <a:spLocks noChangeShapeType="1"/>
            </p:cNvSpPr>
            <p:nvPr/>
          </p:nvSpPr>
          <p:spPr bwMode="auto">
            <a:xfrm>
              <a:off x="3252" y="2048"/>
              <a:ext cx="305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280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9" name="Line 1046"/>
            <p:cNvSpPr>
              <a:spLocks noChangeShapeType="1"/>
            </p:cNvSpPr>
            <p:nvPr/>
          </p:nvSpPr>
          <p:spPr bwMode="auto">
            <a:xfrm>
              <a:off x="3242" y="2085"/>
              <a:ext cx="0" cy="338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280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0" name="Line 1047"/>
            <p:cNvSpPr>
              <a:spLocks noChangeShapeType="1"/>
            </p:cNvSpPr>
            <p:nvPr/>
          </p:nvSpPr>
          <p:spPr bwMode="auto">
            <a:xfrm>
              <a:off x="3594" y="1694"/>
              <a:ext cx="0" cy="338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280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1" name="Text Box 1050"/>
            <p:cNvSpPr txBox="1">
              <a:spLocks noChangeArrowheads="1"/>
            </p:cNvSpPr>
            <p:nvPr/>
          </p:nvSpPr>
          <p:spPr bwMode="auto">
            <a:xfrm>
              <a:off x="3761" y="2170"/>
              <a:ext cx="300" cy="291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>
                <a:defRPr/>
              </a:pPr>
              <a:r>
                <a:rPr kumimoji="0" lang="en-US" altLang="zh-CN" sz="2800" b="1" i="0" dirty="0">
                  <a:ea typeface="华文中宋" pitchFamily="2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92" name="Text Box 1065"/>
            <p:cNvSpPr txBox="1">
              <a:spLocks noChangeArrowheads="1"/>
            </p:cNvSpPr>
            <p:nvPr/>
          </p:nvSpPr>
          <p:spPr bwMode="auto">
            <a:xfrm>
              <a:off x="3576" y="1704"/>
              <a:ext cx="25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2800" b="1">
                  <a:solidFill>
                    <a:srgbClr val="0000FF"/>
                  </a:solidFill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93" name="Text Box 1066"/>
            <p:cNvSpPr txBox="1">
              <a:spLocks noChangeArrowheads="1"/>
            </p:cNvSpPr>
            <p:nvPr/>
          </p:nvSpPr>
          <p:spPr bwMode="auto">
            <a:xfrm>
              <a:off x="3252" y="1392"/>
              <a:ext cx="25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2800" b="1">
                  <a:solidFill>
                    <a:srgbClr val="0000FF"/>
                  </a:solidFill>
                  <a:ea typeface="华文中宋" pitchFamily="2" charset="-122"/>
                  <a:cs typeface="Times New Roman" pitchFamily="18" charset="0"/>
                </a:rPr>
                <a:t>a</a:t>
              </a:r>
            </a:p>
          </p:txBody>
        </p:sp>
        <p:sp>
          <p:nvSpPr>
            <p:cNvPr id="94" name="Text Box 1067"/>
            <p:cNvSpPr txBox="1">
              <a:spLocks noChangeArrowheads="1"/>
            </p:cNvSpPr>
            <p:nvPr/>
          </p:nvSpPr>
          <p:spPr bwMode="auto">
            <a:xfrm>
              <a:off x="3264" y="1740"/>
              <a:ext cx="25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2800" b="1">
                  <a:solidFill>
                    <a:srgbClr val="0000FF"/>
                  </a:solidFill>
                  <a:ea typeface="华文中宋" pitchFamily="2" charset="-122"/>
                  <a:cs typeface="Times New Roman" pitchFamily="18" charset="0"/>
                </a:rPr>
                <a:t>g</a:t>
              </a:r>
            </a:p>
          </p:txBody>
        </p:sp>
        <p:sp>
          <p:nvSpPr>
            <p:cNvPr id="95" name="Text Box 1068"/>
            <p:cNvSpPr txBox="1">
              <a:spLocks noChangeArrowheads="1"/>
            </p:cNvSpPr>
            <p:nvPr/>
          </p:nvSpPr>
          <p:spPr bwMode="auto">
            <a:xfrm>
              <a:off x="3000" y="2088"/>
              <a:ext cx="25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2800" b="1">
                  <a:solidFill>
                    <a:srgbClr val="0000FF"/>
                  </a:solidFill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96" name="Text Box 1069"/>
            <p:cNvSpPr txBox="1">
              <a:spLocks noChangeArrowheads="1"/>
            </p:cNvSpPr>
            <p:nvPr/>
          </p:nvSpPr>
          <p:spPr bwMode="auto">
            <a:xfrm>
              <a:off x="3288" y="2376"/>
              <a:ext cx="25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2800" b="1">
                  <a:solidFill>
                    <a:srgbClr val="0000FF"/>
                  </a:solidFill>
                  <a:ea typeface="华文中宋" pitchFamily="2" charset="-122"/>
                  <a:cs typeface="Times New Roman" pitchFamily="18" charset="0"/>
                </a:rPr>
                <a:t>d</a:t>
              </a:r>
            </a:p>
          </p:txBody>
        </p:sp>
      </p:grpSp>
      <p:sp>
        <p:nvSpPr>
          <p:cNvPr id="42" name="Rectangle 3"/>
          <p:cNvSpPr txBox="1">
            <a:spLocks noChangeArrowheads="1"/>
          </p:cNvSpPr>
          <p:nvPr/>
        </p:nvSpPr>
        <p:spPr bwMode="auto">
          <a:xfrm>
            <a:off x="233917" y="299953"/>
            <a:ext cx="5528929" cy="540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3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</a:t>
            </a: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数字显示（显示译码）</a:t>
            </a:r>
            <a:endParaRPr lang="zh-CN" altLang="en-US" sz="3600" b="1" i="0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utoUpdateAnimBg="0"/>
      <p:bldP spid="48" grpId="0" autoUpdateAnimBg="0"/>
      <p:bldP spid="49" grpId="0" autoUpdateAnimBg="0"/>
      <p:bldP spid="64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 4"/>
          <p:cNvSpPr txBox="1">
            <a:spLocks noChangeArrowheads="1"/>
          </p:cNvSpPr>
          <p:nvPr/>
        </p:nvSpPr>
        <p:spPr bwMode="auto">
          <a:xfrm>
            <a:off x="348217" y="287744"/>
            <a:ext cx="3362546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kumimoji="0" lang="en-US" altLang="zh-CN" sz="2800" b="1" i="0" dirty="0">
                <a:ea typeface="华文中宋" pitchFamily="2" charset="-122"/>
                <a:cs typeface="Times New Roman" pitchFamily="18" charset="0"/>
              </a:rPr>
              <a:t>LED</a:t>
            </a:r>
            <a:r>
              <a:rPr kumimoji="0" lang="zh-CN" altLang="en-US" sz="2800" b="1" i="0" dirty="0">
                <a:ea typeface="华文中宋" pitchFamily="2" charset="-122"/>
                <a:cs typeface="Times New Roman" pitchFamily="18" charset="0"/>
              </a:rPr>
              <a:t>数码</a:t>
            </a:r>
            <a:r>
              <a:rPr kumimoji="0" lang="zh-CN" altLang="en-US" sz="2800" b="1" i="0" dirty="0" smtClean="0">
                <a:ea typeface="华文中宋" pitchFamily="2" charset="-122"/>
                <a:cs typeface="Times New Roman" pitchFamily="18" charset="0"/>
              </a:rPr>
              <a:t>管类型</a:t>
            </a:r>
            <a:endParaRPr lang="zh-CN" altLang="en-US" sz="2800" b="1" i="0" dirty="0">
              <a:ea typeface="华文中宋" pitchFamily="2" charset="-122"/>
              <a:cs typeface="Times New Roman" pitchFamily="18" charset="0"/>
            </a:endParaRPr>
          </a:p>
        </p:txBody>
      </p:sp>
      <p:graphicFrame>
        <p:nvGraphicFramePr>
          <p:cNvPr id="21" name="Object 16"/>
          <p:cNvGraphicFramePr>
            <a:graphicFrameLocks noChangeAspect="1"/>
          </p:cNvGraphicFramePr>
          <p:nvPr/>
        </p:nvGraphicFramePr>
        <p:xfrm>
          <a:off x="5091998" y="1266678"/>
          <a:ext cx="3286125" cy="2487613"/>
        </p:xfrm>
        <a:graphic>
          <a:graphicData uri="http://schemas.openxmlformats.org/presentationml/2006/ole">
            <p:oleObj spid="_x0000_s5122" name="Visio" r:id="rId5" imgW="2368808" imgH="1793744" progId="Visio.Drawing.11">
              <p:embed/>
            </p:oleObj>
          </a:graphicData>
        </a:graphic>
      </p:graphicFrame>
      <p:sp>
        <p:nvSpPr>
          <p:cNvPr id="22" name="Text Box 1031"/>
          <p:cNvSpPr txBox="1">
            <a:spLocks noChangeArrowheads="1"/>
          </p:cNvSpPr>
          <p:nvPr/>
        </p:nvSpPr>
        <p:spPr bwMode="auto">
          <a:xfrm>
            <a:off x="4806248" y="3539978"/>
            <a:ext cx="2857500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>
              <a:lnSpc>
                <a:spcPct val="125000"/>
              </a:lnSpc>
              <a:defRPr/>
            </a:pPr>
            <a:r>
              <a:rPr kumimoji="0" lang="en-US" altLang="zh-CN" sz="2800" i="0" dirty="0">
                <a:ea typeface="华文中宋" pitchFamily="2" charset="-122"/>
                <a:cs typeface="Times New Roman" pitchFamily="18" charset="0"/>
              </a:rPr>
              <a:t>(</a:t>
            </a:r>
            <a:r>
              <a:rPr kumimoji="0" lang="en-US" altLang="zh-CN" sz="2800" dirty="0">
                <a:ea typeface="华文中宋" pitchFamily="2" charset="-122"/>
                <a:cs typeface="Times New Roman" pitchFamily="18" charset="0"/>
              </a:rPr>
              <a:t>b</a:t>
            </a:r>
            <a:r>
              <a:rPr kumimoji="0" lang="en-US" altLang="zh-CN" sz="2800" i="0" dirty="0">
                <a:ea typeface="华文中宋" pitchFamily="2" charset="-122"/>
                <a:cs typeface="Times New Roman" pitchFamily="18" charset="0"/>
              </a:rPr>
              <a:t>)</a:t>
            </a:r>
            <a:r>
              <a:rPr kumimoji="0" lang="zh-CN" altLang="en-US" sz="2800" i="0" dirty="0">
                <a:ea typeface="华文中宋" pitchFamily="2" charset="-122"/>
                <a:cs typeface="Times New Roman" pitchFamily="18" charset="0"/>
              </a:rPr>
              <a:t>共阴极接法</a:t>
            </a:r>
            <a:endParaRPr kumimoji="0" lang="en-US" altLang="zh-CN" sz="2800" i="0" dirty="0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3" name="Text Box 1031"/>
          <p:cNvSpPr txBox="1">
            <a:spLocks noChangeArrowheads="1"/>
          </p:cNvSpPr>
          <p:nvPr/>
        </p:nvSpPr>
        <p:spPr bwMode="auto">
          <a:xfrm>
            <a:off x="4806248" y="4040041"/>
            <a:ext cx="2857500" cy="58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>
              <a:lnSpc>
                <a:spcPct val="125000"/>
              </a:lnSpc>
              <a:defRPr/>
            </a:pPr>
            <a:r>
              <a:rPr kumimoji="0" lang="zh-CN" altLang="en-US" sz="2800" i="0" dirty="0">
                <a:ea typeface="华文中宋" pitchFamily="2" charset="-122"/>
                <a:cs typeface="Times New Roman" pitchFamily="18" charset="0"/>
              </a:rPr>
              <a:t>（高电平有效）</a:t>
            </a:r>
            <a:endParaRPr kumimoji="0" lang="en-US" altLang="zh-CN" sz="2800" i="0" dirty="0">
              <a:ea typeface="华文中宋" pitchFamily="2" charset="-122"/>
              <a:cs typeface="Times New Roman" pitchFamily="18" charset="0"/>
            </a:endParaRPr>
          </a:p>
        </p:txBody>
      </p:sp>
      <p:graphicFrame>
        <p:nvGraphicFramePr>
          <p:cNvPr id="25" name="Object 7"/>
          <p:cNvGraphicFramePr>
            <a:graphicFrameLocks noChangeAspect="1"/>
          </p:cNvGraphicFramePr>
          <p:nvPr/>
        </p:nvGraphicFramePr>
        <p:xfrm>
          <a:off x="913071" y="1219643"/>
          <a:ext cx="3214688" cy="2447925"/>
        </p:xfrm>
        <a:graphic>
          <a:graphicData uri="http://schemas.openxmlformats.org/presentationml/2006/ole">
            <p:oleObj spid="_x0000_s5123" name="Visio" r:id="rId6" imgW="2376091" imgH="1810495" progId="Visio.Drawing.11">
              <p:embed/>
            </p:oleObj>
          </a:graphicData>
        </a:graphic>
      </p:graphicFrame>
      <p:sp>
        <p:nvSpPr>
          <p:cNvPr id="26" name="Text Box 1031"/>
          <p:cNvSpPr txBox="1">
            <a:spLocks noChangeArrowheads="1"/>
          </p:cNvSpPr>
          <p:nvPr/>
        </p:nvSpPr>
        <p:spPr bwMode="auto">
          <a:xfrm>
            <a:off x="913071" y="3667568"/>
            <a:ext cx="2857500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>
              <a:lnSpc>
                <a:spcPct val="125000"/>
              </a:lnSpc>
              <a:defRPr/>
            </a:pPr>
            <a:r>
              <a:rPr kumimoji="0" lang="en-US" altLang="zh-CN" sz="2800" i="0" dirty="0">
                <a:ea typeface="华文中宋" pitchFamily="2" charset="-122"/>
                <a:cs typeface="Times New Roman" pitchFamily="18" charset="0"/>
              </a:rPr>
              <a:t>(</a:t>
            </a:r>
            <a:r>
              <a:rPr kumimoji="0" lang="en-US" altLang="zh-CN" sz="2800" dirty="0">
                <a:ea typeface="华文中宋" pitchFamily="2" charset="-122"/>
                <a:cs typeface="Times New Roman" pitchFamily="18" charset="0"/>
              </a:rPr>
              <a:t>a</a:t>
            </a:r>
            <a:r>
              <a:rPr kumimoji="0" lang="en-US" altLang="zh-CN" sz="2800" i="0" dirty="0">
                <a:ea typeface="华文中宋" pitchFamily="2" charset="-122"/>
                <a:cs typeface="Times New Roman" pitchFamily="18" charset="0"/>
              </a:rPr>
              <a:t>)</a:t>
            </a:r>
            <a:r>
              <a:rPr kumimoji="0" lang="zh-CN" altLang="en-US" sz="2800" i="0" dirty="0">
                <a:ea typeface="华文中宋" pitchFamily="2" charset="-122"/>
                <a:cs typeface="Times New Roman" pitchFamily="18" charset="0"/>
              </a:rPr>
              <a:t>共阳极接法</a:t>
            </a:r>
            <a:endParaRPr kumimoji="0" lang="en-US" altLang="zh-CN" sz="2800" i="0" dirty="0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7" name="Text Box 1031"/>
          <p:cNvSpPr txBox="1">
            <a:spLocks noChangeArrowheads="1"/>
          </p:cNvSpPr>
          <p:nvPr/>
        </p:nvSpPr>
        <p:spPr bwMode="auto">
          <a:xfrm>
            <a:off x="913071" y="4167631"/>
            <a:ext cx="2857500" cy="5890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>
              <a:lnSpc>
                <a:spcPct val="125000"/>
              </a:lnSpc>
              <a:defRPr/>
            </a:pPr>
            <a:r>
              <a:rPr kumimoji="0" lang="zh-CN" altLang="en-US" sz="2800" i="0" dirty="0">
                <a:ea typeface="华文中宋" pitchFamily="2" charset="-122"/>
                <a:cs typeface="Times New Roman" pitchFamily="18" charset="0"/>
              </a:rPr>
              <a:t>（低电平有效）</a:t>
            </a:r>
            <a:endParaRPr kumimoji="0" lang="en-US" altLang="zh-CN" sz="2800" i="0" dirty="0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2485361" y="957595"/>
            <a:ext cx="4638453" cy="58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kumimoji="0" lang="zh-CN" altLang="en-US" sz="2800" i="0" dirty="0" smtClean="0">
                <a:ea typeface="华文中宋" pitchFamily="2" charset="-122"/>
                <a:cs typeface="Times New Roman" pitchFamily="18" charset="0"/>
              </a:rPr>
              <a:t>共</a:t>
            </a:r>
            <a:r>
              <a:rPr kumimoji="0" lang="zh-CN" altLang="en-US" sz="2800" i="0" dirty="0">
                <a:ea typeface="华文中宋" pitchFamily="2" charset="-122"/>
                <a:cs typeface="Times New Roman" pitchFamily="18" charset="0"/>
              </a:rPr>
              <a:t>阳极接法和共阴极接法。</a:t>
            </a:r>
            <a:endParaRPr lang="zh-CN" altLang="en-US" sz="2800" i="0" dirty="0">
              <a:ea typeface="华文中宋" pitchFamily="2" charset="-122"/>
              <a:cs typeface="Times New Roman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utoUpdateAnimBg="0"/>
      <p:bldP spid="23" grpId="0" autoUpdateAnimBg="0"/>
      <p:bldP spid="26" grpId="0" autoUpdateAnimBg="0"/>
      <p:bldP spid="27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Text Box 4"/>
          <p:cNvSpPr txBox="1">
            <a:spLocks noChangeArrowheads="1"/>
          </p:cNvSpPr>
          <p:nvPr/>
        </p:nvSpPr>
        <p:spPr bwMode="auto">
          <a:xfrm>
            <a:off x="494083" y="316651"/>
            <a:ext cx="2238485" cy="58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</a:pPr>
            <a:r>
              <a:rPr kumimoji="0" lang="zh-CN" altLang="en-US" sz="2800" i="0" dirty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</a:rPr>
              <a:t>逻辑</a:t>
            </a:r>
            <a:r>
              <a:rPr kumimoji="0" lang="zh-CN" altLang="en-US" sz="2800" i="0" dirty="0" smtClean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</a:rPr>
              <a:t>功能</a:t>
            </a:r>
            <a:endParaRPr lang="zh-CN" altLang="en-US" sz="2800" i="0" dirty="0">
              <a:solidFill>
                <a:srgbClr val="3333FF"/>
              </a:solidFill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2" name="Group 60"/>
          <p:cNvGrpSpPr>
            <a:grpSpLocks/>
          </p:cNvGrpSpPr>
          <p:nvPr/>
        </p:nvGrpSpPr>
        <p:grpSpPr bwMode="auto">
          <a:xfrm>
            <a:off x="2827338" y="2122488"/>
            <a:ext cx="4105275" cy="2219325"/>
            <a:chOff x="1644" y="1754"/>
            <a:chExt cx="2586" cy="1398"/>
          </a:xfrm>
        </p:grpSpPr>
        <p:sp>
          <p:nvSpPr>
            <p:cNvPr id="58" name="Rectangle 27"/>
            <p:cNvSpPr>
              <a:spLocks noChangeArrowheads="1"/>
            </p:cNvSpPr>
            <p:nvPr/>
          </p:nvSpPr>
          <p:spPr bwMode="auto">
            <a:xfrm>
              <a:off x="2339" y="1846"/>
              <a:ext cx="644" cy="1306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2400" b="1" i="0">
                <a:latin typeface="+mn-lt"/>
              </a:endParaRPr>
            </a:p>
          </p:txBody>
        </p:sp>
        <p:sp>
          <p:nvSpPr>
            <p:cNvPr id="26636" name="Text Box 28"/>
            <p:cNvSpPr txBox="1">
              <a:spLocks noChangeArrowheads="1"/>
            </p:cNvSpPr>
            <p:nvPr/>
          </p:nvSpPr>
          <p:spPr bwMode="auto">
            <a:xfrm>
              <a:off x="2476" y="1900"/>
              <a:ext cx="376" cy="11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zh-CN" altLang="en-US" sz="2400" i="0">
                  <a:latin typeface="华文中宋" pitchFamily="2" charset="-122"/>
                  <a:ea typeface="华文中宋" pitchFamily="2" charset="-122"/>
                </a:rPr>
                <a:t>显示译码器</a:t>
              </a:r>
            </a:p>
          </p:txBody>
        </p:sp>
        <p:sp>
          <p:nvSpPr>
            <p:cNvPr id="60" name="Line 29"/>
            <p:cNvSpPr>
              <a:spLocks noChangeShapeType="1"/>
            </p:cNvSpPr>
            <p:nvPr/>
          </p:nvSpPr>
          <p:spPr bwMode="auto">
            <a:xfrm>
              <a:off x="1985" y="2179"/>
              <a:ext cx="35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2400" b="1" i="0">
                <a:latin typeface="+mn-lt"/>
              </a:endParaRPr>
            </a:p>
          </p:txBody>
        </p:sp>
        <p:sp>
          <p:nvSpPr>
            <p:cNvPr id="61" name="Line 30"/>
            <p:cNvSpPr>
              <a:spLocks noChangeShapeType="1"/>
            </p:cNvSpPr>
            <p:nvPr/>
          </p:nvSpPr>
          <p:spPr bwMode="auto">
            <a:xfrm>
              <a:off x="1985" y="2388"/>
              <a:ext cx="35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2400" b="1" i="0">
                <a:latin typeface="+mn-lt"/>
              </a:endParaRPr>
            </a:p>
          </p:txBody>
        </p:sp>
        <p:sp>
          <p:nvSpPr>
            <p:cNvPr id="62" name="Line 31"/>
            <p:cNvSpPr>
              <a:spLocks noChangeShapeType="1"/>
            </p:cNvSpPr>
            <p:nvPr/>
          </p:nvSpPr>
          <p:spPr bwMode="auto">
            <a:xfrm>
              <a:off x="1974" y="2817"/>
              <a:ext cx="35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2400" b="1" i="0">
                <a:latin typeface="+mn-lt"/>
              </a:endParaRPr>
            </a:p>
          </p:txBody>
        </p:sp>
        <p:sp>
          <p:nvSpPr>
            <p:cNvPr id="63" name="Line 32"/>
            <p:cNvSpPr>
              <a:spLocks noChangeShapeType="1"/>
            </p:cNvSpPr>
            <p:nvPr/>
          </p:nvSpPr>
          <p:spPr bwMode="auto">
            <a:xfrm>
              <a:off x="1974" y="2598"/>
              <a:ext cx="35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2400" b="1" i="0">
                <a:latin typeface="+mn-lt"/>
              </a:endParaRPr>
            </a:p>
          </p:txBody>
        </p:sp>
        <p:sp>
          <p:nvSpPr>
            <p:cNvPr id="64" name="Line 33"/>
            <p:cNvSpPr>
              <a:spLocks noChangeShapeType="1"/>
            </p:cNvSpPr>
            <p:nvPr/>
          </p:nvSpPr>
          <p:spPr bwMode="auto">
            <a:xfrm>
              <a:off x="2977" y="2000"/>
              <a:ext cx="44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2400" b="1" i="0">
                <a:latin typeface="+mn-lt"/>
              </a:endParaRPr>
            </a:p>
          </p:txBody>
        </p:sp>
        <p:sp>
          <p:nvSpPr>
            <p:cNvPr id="65" name="Line 34"/>
            <p:cNvSpPr>
              <a:spLocks noChangeShapeType="1"/>
            </p:cNvSpPr>
            <p:nvPr/>
          </p:nvSpPr>
          <p:spPr bwMode="auto">
            <a:xfrm>
              <a:off x="2995" y="2160"/>
              <a:ext cx="42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2400" b="1" i="0">
                <a:latin typeface="+mn-lt"/>
              </a:endParaRPr>
            </a:p>
          </p:txBody>
        </p:sp>
        <p:sp>
          <p:nvSpPr>
            <p:cNvPr id="66" name="Line 35"/>
            <p:cNvSpPr>
              <a:spLocks noChangeShapeType="1"/>
            </p:cNvSpPr>
            <p:nvPr/>
          </p:nvSpPr>
          <p:spPr bwMode="auto">
            <a:xfrm>
              <a:off x="2993" y="2330"/>
              <a:ext cx="41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2400" b="1" i="0">
                <a:latin typeface="+mn-lt"/>
              </a:endParaRPr>
            </a:p>
          </p:txBody>
        </p:sp>
        <p:sp>
          <p:nvSpPr>
            <p:cNvPr id="67" name="Line 36"/>
            <p:cNvSpPr>
              <a:spLocks noChangeShapeType="1"/>
            </p:cNvSpPr>
            <p:nvPr/>
          </p:nvSpPr>
          <p:spPr bwMode="auto">
            <a:xfrm>
              <a:off x="2993" y="2496"/>
              <a:ext cx="41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2400" b="1" i="0">
                <a:latin typeface="+mn-lt"/>
              </a:endParaRPr>
            </a:p>
          </p:txBody>
        </p:sp>
        <p:sp>
          <p:nvSpPr>
            <p:cNvPr id="68" name="Line 37"/>
            <p:cNvSpPr>
              <a:spLocks noChangeShapeType="1"/>
            </p:cNvSpPr>
            <p:nvPr/>
          </p:nvSpPr>
          <p:spPr bwMode="auto">
            <a:xfrm>
              <a:off x="2993" y="2672"/>
              <a:ext cx="41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2400" b="1" i="0">
                <a:latin typeface="+mn-lt"/>
              </a:endParaRPr>
            </a:p>
          </p:txBody>
        </p:sp>
        <p:sp>
          <p:nvSpPr>
            <p:cNvPr id="69" name="Line 38"/>
            <p:cNvSpPr>
              <a:spLocks noChangeShapeType="1"/>
            </p:cNvSpPr>
            <p:nvPr/>
          </p:nvSpPr>
          <p:spPr bwMode="auto">
            <a:xfrm>
              <a:off x="2994" y="2844"/>
              <a:ext cx="42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2400" b="1" i="0">
                <a:latin typeface="+mn-lt"/>
              </a:endParaRPr>
            </a:p>
          </p:txBody>
        </p:sp>
        <p:sp>
          <p:nvSpPr>
            <p:cNvPr id="70" name="Line 39"/>
            <p:cNvSpPr>
              <a:spLocks noChangeShapeType="1"/>
            </p:cNvSpPr>
            <p:nvPr/>
          </p:nvSpPr>
          <p:spPr bwMode="auto">
            <a:xfrm>
              <a:off x="3004" y="3014"/>
              <a:ext cx="4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2400" b="1" i="0">
                <a:latin typeface="+mn-lt"/>
              </a:endParaRPr>
            </a:p>
          </p:txBody>
        </p:sp>
        <p:sp>
          <p:nvSpPr>
            <p:cNvPr id="71" name="Rectangle 41"/>
            <p:cNvSpPr>
              <a:spLocks noChangeArrowheads="1"/>
            </p:cNvSpPr>
            <p:nvPr/>
          </p:nvSpPr>
          <p:spPr bwMode="auto">
            <a:xfrm>
              <a:off x="3423" y="1890"/>
              <a:ext cx="807" cy="1196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2400" b="1" i="0">
                <a:latin typeface="+mn-lt"/>
              </a:endParaRPr>
            </a:p>
          </p:txBody>
        </p:sp>
        <p:grpSp>
          <p:nvGrpSpPr>
            <p:cNvPr id="26649" name="Group 43"/>
            <p:cNvGrpSpPr>
              <a:grpSpLocks/>
            </p:cNvGrpSpPr>
            <p:nvPr/>
          </p:nvGrpSpPr>
          <p:grpSpPr bwMode="auto">
            <a:xfrm>
              <a:off x="3654" y="2143"/>
              <a:ext cx="356" cy="630"/>
              <a:chOff x="3294" y="1987"/>
              <a:chExt cx="356" cy="630"/>
            </a:xfrm>
          </p:grpSpPr>
          <p:sp>
            <p:nvSpPr>
              <p:cNvPr id="84" name="Line 21"/>
              <p:cNvSpPr>
                <a:spLocks noChangeShapeType="1"/>
              </p:cNvSpPr>
              <p:nvPr/>
            </p:nvSpPr>
            <p:spPr bwMode="auto">
              <a:xfrm>
                <a:off x="3352" y="1987"/>
                <a:ext cx="262" cy="0"/>
              </a:xfrm>
              <a:prstGeom prst="line">
                <a:avLst/>
              </a:prstGeom>
              <a:noFill/>
              <a:ln w="635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1" i="0">
                  <a:latin typeface="+mn-lt"/>
                </a:endParaRPr>
              </a:p>
            </p:txBody>
          </p:sp>
          <p:sp>
            <p:nvSpPr>
              <p:cNvPr id="85" name="Line 22"/>
              <p:cNvSpPr>
                <a:spLocks noChangeShapeType="1"/>
              </p:cNvSpPr>
              <p:nvPr/>
            </p:nvSpPr>
            <p:spPr bwMode="auto">
              <a:xfrm>
                <a:off x="3319" y="2617"/>
                <a:ext cx="298" cy="0"/>
              </a:xfrm>
              <a:prstGeom prst="line">
                <a:avLst/>
              </a:prstGeom>
              <a:noFill/>
              <a:ln w="635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1" i="0">
                  <a:latin typeface="+mn-lt"/>
                </a:endParaRPr>
              </a:p>
            </p:txBody>
          </p:sp>
          <p:sp>
            <p:nvSpPr>
              <p:cNvPr id="86" name="Line 23"/>
              <p:cNvSpPr>
                <a:spLocks noChangeShapeType="1"/>
              </p:cNvSpPr>
              <p:nvPr/>
            </p:nvSpPr>
            <p:spPr bwMode="auto">
              <a:xfrm>
                <a:off x="3294" y="2053"/>
                <a:ext cx="0" cy="209"/>
              </a:xfrm>
              <a:prstGeom prst="line">
                <a:avLst/>
              </a:prstGeom>
              <a:noFill/>
              <a:ln w="635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1" i="0">
                  <a:latin typeface="+mn-lt"/>
                </a:endParaRPr>
              </a:p>
            </p:txBody>
          </p:sp>
          <p:sp>
            <p:nvSpPr>
              <p:cNvPr id="87" name="Line 24"/>
              <p:cNvSpPr>
                <a:spLocks noChangeShapeType="1"/>
              </p:cNvSpPr>
              <p:nvPr/>
            </p:nvSpPr>
            <p:spPr bwMode="auto">
              <a:xfrm>
                <a:off x="3294" y="2362"/>
                <a:ext cx="0" cy="209"/>
              </a:xfrm>
              <a:prstGeom prst="line">
                <a:avLst/>
              </a:prstGeom>
              <a:noFill/>
              <a:ln w="635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1" i="0">
                  <a:latin typeface="+mn-lt"/>
                </a:endParaRPr>
              </a:p>
            </p:txBody>
          </p:sp>
          <p:sp>
            <p:nvSpPr>
              <p:cNvPr id="88" name="Line 25"/>
              <p:cNvSpPr>
                <a:spLocks noChangeShapeType="1"/>
              </p:cNvSpPr>
              <p:nvPr/>
            </p:nvSpPr>
            <p:spPr bwMode="auto">
              <a:xfrm>
                <a:off x="3650" y="2362"/>
                <a:ext cx="0" cy="209"/>
              </a:xfrm>
              <a:prstGeom prst="line">
                <a:avLst/>
              </a:prstGeom>
              <a:noFill/>
              <a:ln w="635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1" i="0">
                  <a:latin typeface="+mn-lt"/>
                </a:endParaRPr>
              </a:p>
            </p:txBody>
          </p:sp>
          <p:sp>
            <p:nvSpPr>
              <p:cNvPr id="89" name="Line 26"/>
              <p:cNvSpPr>
                <a:spLocks noChangeShapeType="1"/>
              </p:cNvSpPr>
              <p:nvPr/>
            </p:nvSpPr>
            <p:spPr bwMode="auto">
              <a:xfrm>
                <a:off x="3650" y="2041"/>
                <a:ext cx="0" cy="209"/>
              </a:xfrm>
              <a:prstGeom prst="line">
                <a:avLst/>
              </a:prstGeom>
              <a:noFill/>
              <a:ln w="635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1" i="0">
                  <a:latin typeface="+mn-lt"/>
                </a:endParaRPr>
              </a:p>
            </p:txBody>
          </p:sp>
          <p:sp>
            <p:nvSpPr>
              <p:cNvPr id="90" name="Line 42"/>
              <p:cNvSpPr>
                <a:spLocks noChangeShapeType="1"/>
              </p:cNvSpPr>
              <p:nvPr/>
            </p:nvSpPr>
            <p:spPr bwMode="auto">
              <a:xfrm>
                <a:off x="3337" y="2320"/>
                <a:ext cx="267" cy="0"/>
              </a:xfrm>
              <a:prstGeom prst="line">
                <a:avLst/>
              </a:prstGeom>
              <a:noFill/>
              <a:ln w="635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1" i="0">
                  <a:latin typeface="+mn-lt"/>
                </a:endParaRPr>
              </a:p>
            </p:txBody>
          </p:sp>
        </p:grpSp>
        <p:sp>
          <p:nvSpPr>
            <p:cNvPr id="73" name="Text Box 44"/>
            <p:cNvSpPr txBox="1">
              <a:spLocks noChangeArrowheads="1"/>
            </p:cNvSpPr>
            <p:nvPr/>
          </p:nvSpPr>
          <p:spPr bwMode="auto">
            <a:xfrm>
              <a:off x="3047" y="1754"/>
              <a:ext cx="3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2400" b="1" dirty="0">
                  <a:cs typeface="Times New Roman" pitchFamily="18" charset="0"/>
                </a:rPr>
                <a:t>a</a:t>
              </a:r>
            </a:p>
          </p:txBody>
        </p:sp>
        <p:sp>
          <p:nvSpPr>
            <p:cNvPr id="74" name="Text Box 45"/>
            <p:cNvSpPr txBox="1">
              <a:spLocks noChangeArrowheads="1"/>
            </p:cNvSpPr>
            <p:nvPr/>
          </p:nvSpPr>
          <p:spPr bwMode="auto">
            <a:xfrm>
              <a:off x="3064" y="1934"/>
              <a:ext cx="3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2400" b="1">
                  <a:cs typeface="Times New Roman" pitchFamily="18" charset="0"/>
                </a:rPr>
                <a:t>b</a:t>
              </a:r>
            </a:p>
          </p:txBody>
        </p:sp>
        <p:sp>
          <p:nvSpPr>
            <p:cNvPr id="75" name="Text Box 46"/>
            <p:cNvSpPr txBox="1">
              <a:spLocks noChangeArrowheads="1"/>
            </p:cNvSpPr>
            <p:nvPr/>
          </p:nvSpPr>
          <p:spPr bwMode="auto">
            <a:xfrm>
              <a:off x="3063" y="2085"/>
              <a:ext cx="3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2400" b="1" dirty="0">
                  <a:cs typeface="Times New Roman" pitchFamily="18" charset="0"/>
                </a:rPr>
                <a:t>c</a:t>
              </a:r>
            </a:p>
          </p:txBody>
        </p:sp>
        <p:sp>
          <p:nvSpPr>
            <p:cNvPr id="76" name="Text Box 47"/>
            <p:cNvSpPr txBox="1">
              <a:spLocks noChangeArrowheads="1"/>
            </p:cNvSpPr>
            <p:nvPr/>
          </p:nvSpPr>
          <p:spPr bwMode="auto">
            <a:xfrm>
              <a:off x="3038" y="2259"/>
              <a:ext cx="3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2400" b="1" dirty="0">
                  <a:cs typeface="Times New Roman" pitchFamily="18" charset="0"/>
                </a:rPr>
                <a:t>d</a:t>
              </a:r>
            </a:p>
          </p:txBody>
        </p:sp>
        <p:sp>
          <p:nvSpPr>
            <p:cNvPr id="77" name="Text Box 48"/>
            <p:cNvSpPr txBox="1">
              <a:spLocks noChangeArrowheads="1"/>
            </p:cNvSpPr>
            <p:nvPr/>
          </p:nvSpPr>
          <p:spPr bwMode="auto">
            <a:xfrm>
              <a:off x="3056" y="2601"/>
              <a:ext cx="3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2400" b="1" dirty="0">
                  <a:cs typeface="Times New Roman" pitchFamily="18" charset="0"/>
                </a:rPr>
                <a:t>f</a:t>
              </a:r>
            </a:p>
          </p:txBody>
        </p:sp>
        <p:sp>
          <p:nvSpPr>
            <p:cNvPr id="78" name="Text Box 49"/>
            <p:cNvSpPr txBox="1">
              <a:spLocks noChangeArrowheads="1"/>
            </p:cNvSpPr>
            <p:nvPr/>
          </p:nvSpPr>
          <p:spPr bwMode="auto">
            <a:xfrm>
              <a:off x="3047" y="2427"/>
              <a:ext cx="3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2400" b="1">
                  <a:cs typeface="Times New Roman" pitchFamily="18" charset="0"/>
                </a:rPr>
                <a:t>e</a:t>
              </a:r>
            </a:p>
          </p:txBody>
        </p:sp>
        <p:sp>
          <p:nvSpPr>
            <p:cNvPr id="79" name="Text Box 50"/>
            <p:cNvSpPr txBox="1">
              <a:spLocks noChangeArrowheads="1"/>
            </p:cNvSpPr>
            <p:nvPr/>
          </p:nvSpPr>
          <p:spPr bwMode="auto">
            <a:xfrm>
              <a:off x="3066" y="2748"/>
              <a:ext cx="3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2400" b="1" dirty="0">
                  <a:cs typeface="Times New Roman" pitchFamily="18" charset="0"/>
                </a:rPr>
                <a:t>g</a:t>
              </a:r>
            </a:p>
          </p:txBody>
        </p:sp>
        <p:sp>
          <p:nvSpPr>
            <p:cNvPr id="80" name="Text Box 51"/>
            <p:cNvSpPr txBox="1">
              <a:spLocks noChangeArrowheads="1"/>
            </p:cNvSpPr>
            <p:nvPr/>
          </p:nvSpPr>
          <p:spPr bwMode="auto">
            <a:xfrm>
              <a:off x="1644" y="2040"/>
              <a:ext cx="34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2400" b="1" dirty="0">
                  <a:cs typeface="Times New Roman" pitchFamily="18" charset="0"/>
                </a:rPr>
                <a:t>A</a:t>
              </a:r>
            </a:p>
          </p:txBody>
        </p:sp>
        <p:sp>
          <p:nvSpPr>
            <p:cNvPr id="81" name="Text Box 52"/>
            <p:cNvSpPr txBox="1">
              <a:spLocks noChangeArrowheads="1"/>
            </p:cNvSpPr>
            <p:nvPr/>
          </p:nvSpPr>
          <p:spPr bwMode="auto">
            <a:xfrm>
              <a:off x="1656" y="2460"/>
              <a:ext cx="34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2400" b="1">
                  <a:cs typeface="Times New Roman" pitchFamily="18" charset="0"/>
                </a:rPr>
                <a:t>C</a:t>
              </a:r>
            </a:p>
          </p:txBody>
        </p:sp>
        <p:sp>
          <p:nvSpPr>
            <p:cNvPr id="82" name="Text Box 53"/>
            <p:cNvSpPr txBox="1">
              <a:spLocks noChangeArrowheads="1"/>
            </p:cNvSpPr>
            <p:nvPr/>
          </p:nvSpPr>
          <p:spPr bwMode="auto">
            <a:xfrm>
              <a:off x="1656" y="2244"/>
              <a:ext cx="34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2400" b="1" dirty="0">
                  <a:cs typeface="Times New Roman" pitchFamily="18" charset="0"/>
                </a:rPr>
                <a:t>B</a:t>
              </a:r>
            </a:p>
          </p:txBody>
        </p:sp>
        <p:sp>
          <p:nvSpPr>
            <p:cNvPr id="83" name="Text Box 54"/>
            <p:cNvSpPr txBox="1">
              <a:spLocks noChangeArrowheads="1"/>
            </p:cNvSpPr>
            <p:nvPr/>
          </p:nvSpPr>
          <p:spPr bwMode="auto">
            <a:xfrm>
              <a:off x="1662" y="2676"/>
              <a:ext cx="34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2400" b="1">
                  <a:cs typeface="Times New Roman" pitchFamily="18" charset="0"/>
                </a:rPr>
                <a:t>D</a:t>
              </a:r>
            </a:p>
          </p:txBody>
        </p:sp>
      </p:grpSp>
      <p:sp>
        <p:nvSpPr>
          <p:cNvPr id="91" name="AutoShape 56"/>
          <p:cNvSpPr>
            <a:spLocks noChangeArrowheads="1"/>
          </p:cNvSpPr>
          <p:nvPr/>
        </p:nvSpPr>
        <p:spPr bwMode="auto">
          <a:xfrm>
            <a:off x="985838" y="1627188"/>
            <a:ext cx="2140134" cy="571500"/>
          </a:xfrm>
          <a:prstGeom prst="wedgeRoundRectCallout">
            <a:avLst>
              <a:gd name="adj1" fmla="val 49352"/>
              <a:gd name="adj2" fmla="val 100000"/>
              <a:gd name="adj3" fmla="val 16667"/>
            </a:avLst>
          </a:prstGeom>
          <a:solidFill>
            <a:srgbClr val="FFC000"/>
          </a:solidFill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r>
              <a:rPr lang="en-US" altLang="zh-CN" sz="2800" b="1" i="0" dirty="0">
                <a:ea typeface="华文中宋" pitchFamily="2" charset="-122"/>
                <a:cs typeface="Times New Roman" pitchFamily="18" charset="0"/>
              </a:rPr>
              <a:t>8421BCD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码</a:t>
            </a:r>
          </a:p>
        </p:txBody>
      </p:sp>
      <p:sp>
        <p:nvSpPr>
          <p:cNvPr id="92" name="Rectangle 57"/>
          <p:cNvSpPr>
            <a:spLocks noChangeArrowheads="1"/>
          </p:cNvSpPr>
          <p:nvPr/>
        </p:nvSpPr>
        <p:spPr bwMode="auto">
          <a:xfrm>
            <a:off x="2657475" y="2482850"/>
            <a:ext cx="838200" cy="17145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2400" b="1" i="0">
              <a:latin typeface="+mn-lt"/>
            </a:endParaRPr>
          </a:p>
        </p:txBody>
      </p:sp>
      <p:sp>
        <p:nvSpPr>
          <p:cNvPr id="93" name="Rectangle 58"/>
          <p:cNvSpPr>
            <a:spLocks noChangeArrowheads="1"/>
          </p:cNvSpPr>
          <p:nvPr/>
        </p:nvSpPr>
        <p:spPr bwMode="auto">
          <a:xfrm>
            <a:off x="5081588" y="2146300"/>
            <a:ext cx="449262" cy="211455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2400" b="1" i="0">
              <a:latin typeface="+mn-lt"/>
            </a:endParaRPr>
          </a:p>
        </p:txBody>
      </p:sp>
      <p:sp>
        <p:nvSpPr>
          <p:cNvPr id="94" name="AutoShape 59"/>
          <p:cNvSpPr>
            <a:spLocks noChangeArrowheads="1"/>
          </p:cNvSpPr>
          <p:nvPr/>
        </p:nvSpPr>
        <p:spPr bwMode="auto">
          <a:xfrm>
            <a:off x="5257800" y="1071563"/>
            <a:ext cx="2089298" cy="571500"/>
          </a:xfrm>
          <a:prstGeom prst="wedgeRoundRectCallout">
            <a:avLst>
              <a:gd name="adj1" fmla="val -39898"/>
              <a:gd name="adj2" fmla="val 129722"/>
              <a:gd name="adj3" fmla="val 16667"/>
            </a:avLst>
          </a:prstGeom>
          <a:solidFill>
            <a:srgbClr val="FFC000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七段显示码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 autoUpdateAnimBg="0"/>
      <p:bldP spid="92" grpId="0" animBg="1"/>
      <p:bldP spid="93" grpId="0" animBg="1"/>
      <p:bldP spid="94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483450" y="530927"/>
            <a:ext cx="2185322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kumimoji="0" lang="zh-CN" altLang="en-US" sz="2800" i="0" dirty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</a:rPr>
              <a:t>逻辑状态</a:t>
            </a:r>
            <a:r>
              <a:rPr kumimoji="0" lang="zh-CN" altLang="en-US" sz="2800" i="0" dirty="0" smtClean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</a:rPr>
              <a:t>表</a:t>
            </a:r>
            <a:endParaRPr lang="zh-CN" altLang="en-US" sz="2800" i="0" dirty="0">
              <a:solidFill>
                <a:srgbClr val="3333FF"/>
              </a:solidFill>
              <a:ea typeface="华文中宋" pitchFamily="2" charset="-122"/>
              <a:cs typeface="Times New Roman" pitchFamily="18" charset="0"/>
            </a:endParaRPr>
          </a:p>
        </p:txBody>
      </p:sp>
      <p:graphicFrame>
        <p:nvGraphicFramePr>
          <p:cNvPr id="53" name="Group 36"/>
          <p:cNvGraphicFramePr>
            <a:graphicFrameLocks noGrp="1"/>
          </p:cNvGraphicFramePr>
          <p:nvPr/>
        </p:nvGraphicFramePr>
        <p:xfrm>
          <a:off x="4071938" y="714375"/>
          <a:ext cx="4786346" cy="3840480"/>
        </p:xfrm>
        <a:graphic>
          <a:graphicData uri="http://schemas.openxmlformats.org/drawingml/2006/table">
            <a:tbl>
              <a:tblPr/>
              <a:tblGrid>
                <a:gridCol w="1512888"/>
                <a:gridCol w="2416202"/>
                <a:gridCol w="857256"/>
              </a:tblGrid>
              <a:tr h="2976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 D</a:t>
                      </a:r>
                      <a:r>
                        <a:rPr kumimoji="1" lang="en-US" altLang="zh-CN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 C  B  A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zh-CN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   b   c   d    e    f    g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字型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0   0   0   0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0   0   0   1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0   0   1   0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0   0   1   1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0   1   0   0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0   1   0   1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0   1   1   0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0   1   1   1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1   0   0   0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1   0   0   1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0   1   0~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1   1   1   1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1   1   1   1   1   1   0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0   1   1   0   0   0   0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1   1   0   1   1   0   1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1   1   1   1   0   0   1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0   1   1   0   0   1   1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1   0   1   1   0   1   1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0   0   1   1   1   1   1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1   1   1   0   0   0   0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1   1   1   1   1   1   1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1   1   1   0   0   1   1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0   0   0   0   0   0   0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消 隐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4" name="Rectangle 26"/>
          <p:cNvSpPr>
            <a:spLocks noChangeArrowheads="1"/>
          </p:cNvSpPr>
          <p:nvPr/>
        </p:nvSpPr>
        <p:spPr bwMode="auto">
          <a:xfrm>
            <a:off x="4143375" y="3900157"/>
            <a:ext cx="4643438" cy="571500"/>
          </a:xfrm>
          <a:prstGeom prst="rect">
            <a:avLst/>
          </a:prstGeom>
          <a:noFill/>
          <a:ln w="3175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55" name="Text Box 20"/>
          <p:cNvSpPr txBox="1">
            <a:spLocks noChangeArrowheads="1"/>
          </p:cNvSpPr>
          <p:nvPr/>
        </p:nvSpPr>
        <p:spPr bwMode="auto">
          <a:xfrm>
            <a:off x="449890" y="1313158"/>
            <a:ext cx="3357563" cy="2641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0" hangingPunct="0">
              <a:lnSpc>
                <a:spcPct val="120000"/>
              </a:lnSpc>
              <a:defRPr/>
            </a:pPr>
            <a:r>
              <a:rPr kumimoji="0" lang="zh-CN" altLang="en-US" sz="2800" i="0" dirty="0">
                <a:ea typeface="华文中宋" pitchFamily="2" charset="-122"/>
                <a:cs typeface="Times New Roman" pitchFamily="18" charset="0"/>
              </a:rPr>
              <a:t>根据逻辑状态表，可推导出</a:t>
            </a:r>
            <a:r>
              <a:rPr kumimoji="0" lang="en-US" altLang="zh-CN" sz="2800" b="1" dirty="0">
                <a:ea typeface="华文中宋" pitchFamily="2" charset="-122"/>
                <a:cs typeface="Times New Roman" pitchFamily="18" charset="0"/>
              </a:rPr>
              <a:t>a</a:t>
            </a:r>
            <a:r>
              <a:rPr kumimoji="0" lang="zh-CN" altLang="en-US" sz="2800" b="1" i="0" dirty="0">
                <a:ea typeface="华文中宋" pitchFamily="2" charset="-122"/>
                <a:cs typeface="Times New Roman" pitchFamily="18" charset="0"/>
              </a:rPr>
              <a:t>、</a:t>
            </a:r>
            <a:r>
              <a:rPr kumimoji="0" lang="en-US" altLang="zh-CN" sz="2800" b="1" dirty="0">
                <a:ea typeface="华文中宋" pitchFamily="2" charset="-122"/>
                <a:cs typeface="Times New Roman" pitchFamily="18" charset="0"/>
              </a:rPr>
              <a:t>b</a:t>
            </a:r>
            <a:r>
              <a:rPr kumimoji="0" lang="zh-CN" altLang="en-US" sz="2800" b="1" i="0" dirty="0">
                <a:ea typeface="华文中宋" pitchFamily="2" charset="-122"/>
                <a:cs typeface="Times New Roman" pitchFamily="18" charset="0"/>
              </a:rPr>
              <a:t>、</a:t>
            </a:r>
            <a:r>
              <a:rPr kumimoji="0" lang="en-US" altLang="zh-CN" sz="2800" b="1" dirty="0">
                <a:ea typeface="华文中宋" pitchFamily="2" charset="-122"/>
                <a:cs typeface="Times New Roman" pitchFamily="18" charset="0"/>
              </a:rPr>
              <a:t>c</a:t>
            </a:r>
            <a:r>
              <a:rPr kumimoji="0" lang="zh-CN" altLang="en-US" sz="2800" b="1" i="0" dirty="0">
                <a:ea typeface="华文中宋" pitchFamily="2" charset="-122"/>
                <a:cs typeface="Times New Roman" pitchFamily="18" charset="0"/>
              </a:rPr>
              <a:t>、</a:t>
            </a:r>
            <a:r>
              <a:rPr kumimoji="0" lang="en-US" altLang="zh-CN" sz="2800" b="1" dirty="0">
                <a:ea typeface="华文中宋" pitchFamily="2" charset="-122"/>
                <a:cs typeface="Times New Roman" pitchFamily="18" charset="0"/>
              </a:rPr>
              <a:t>d</a:t>
            </a:r>
            <a:r>
              <a:rPr kumimoji="0" lang="zh-CN" altLang="en-US" sz="2800" b="1" i="0" dirty="0">
                <a:ea typeface="华文中宋" pitchFamily="2" charset="-122"/>
                <a:cs typeface="Times New Roman" pitchFamily="18" charset="0"/>
              </a:rPr>
              <a:t>、</a:t>
            </a:r>
            <a:r>
              <a:rPr kumimoji="0" lang="en-US" altLang="zh-CN" sz="2800" b="1" dirty="0">
                <a:ea typeface="华文中宋" pitchFamily="2" charset="-122"/>
                <a:cs typeface="Times New Roman" pitchFamily="18" charset="0"/>
              </a:rPr>
              <a:t>e</a:t>
            </a:r>
            <a:r>
              <a:rPr kumimoji="0" lang="zh-CN" altLang="en-US" sz="2800" b="1" i="0" dirty="0">
                <a:ea typeface="华文中宋" pitchFamily="2" charset="-122"/>
                <a:cs typeface="Times New Roman" pitchFamily="18" charset="0"/>
              </a:rPr>
              <a:t>、</a:t>
            </a:r>
            <a:r>
              <a:rPr kumimoji="0" lang="en-US" altLang="zh-CN" sz="2800" b="1" dirty="0">
                <a:ea typeface="华文中宋" pitchFamily="2" charset="-122"/>
                <a:cs typeface="Times New Roman" pitchFamily="18" charset="0"/>
              </a:rPr>
              <a:t>f</a:t>
            </a:r>
            <a:r>
              <a:rPr kumimoji="0" lang="zh-CN" altLang="en-US" sz="2800" b="1" i="0" dirty="0">
                <a:ea typeface="华文中宋" pitchFamily="2" charset="-122"/>
                <a:cs typeface="Times New Roman" pitchFamily="18" charset="0"/>
              </a:rPr>
              <a:t>、</a:t>
            </a:r>
            <a:r>
              <a:rPr kumimoji="0" lang="en-US" altLang="zh-CN" sz="2800" b="1" dirty="0">
                <a:ea typeface="华文中宋" pitchFamily="2" charset="-122"/>
                <a:cs typeface="Times New Roman" pitchFamily="18" charset="0"/>
              </a:rPr>
              <a:t>g</a:t>
            </a:r>
            <a:r>
              <a:rPr kumimoji="0" lang="zh-CN" altLang="en-US" sz="2800" i="0" dirty="0">
                <a:ea typeface="华文中宋" pitchFamily="2" charset="-122"/>
                <a:cs typeface="Times New Roman" pitchFamily="18" charset="0"/>
              </a:rPr>
              <a:t>的逻辑表达式，由同学课后自行推导。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5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879859" y="937803"/>
            <a:ext cx="906426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kumimoji="0" lang="zh-CN" altLang="en-US" sz="2800" i="0" dirty="0" smtClean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</a:rPr>
              <a:t>例</a:t>
            </a:r>
            <a:r>
              <a:rPr kumimoji="0" lang="en-US" altLang="zh-CN" sz="2800" i="0" dirty="0" smtClean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</a:rPr>
              <a:t>2</a:t>
            </a:r>
            <a:endParaRPr lang="zh-CN" altLang="en-US" sz="2800" i="0" dirty="0">
              <a:solidFill>
                <a:srgbClr val="3333FF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7" name="Text Box 20"/>
          <p:cNvSpPr txBox="1">
            <a:spLocks noChangeArrowheads="1"/>
          </p:cNvSpPr>
          <p:nvPr/>
        </p:nvSpPr>
        <p:spPr bwMode="auto">
          <a:xfrm>
            <a:off x="686811" y="1639888"/>
            <a:ext cx="3571875" cy="1606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0" hangingPunct="0">
              <a:lnSpc>
                <a:spcPct val="120000"/>
              </a:lnSpc>
              <a:defRPr/>
            </a:pPr>
            <a:r>
              <a:rPr kumimoji="0" lang="en-US" altLang="zh-CN" sz="2800" b="1" i="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CT74LS248</a:t>
            </a:r>
            <a:r>
              <a:rPr kumimoji="0" lang="en-US" altLang="zh-CN" sz="2800" i="0" dirty="0" smtClean="0">
                <a:ea typeface="华文中宋" pitchFamily="2" charset="-122"/>
                <a:cs typeface="Times New Roman" pitchFamily="18" charset="0"/>
              </a:rPr>
              <a:t>—</a:t>
            </a:r>
            <a:r>
              <a:rPr kumimoji="0" lang="zh-CN" altLang="en-US" sz="2800" i="0" dirty="0" smtClean="0">
                <a:ea typeface="华文中宋" pitchFamily="2" charset="-122"/>
                <a:cs typeface="Times New Roman" pitchFamily="18" charset="0"/>
              </a:rPr>
              <a:t>七段</a:t>
            </a:r>
            <a:r>
              <a:rPr kumimoji="0" lang="zh-CN" altLang="en-US" sz="2800" i="0" dirty="0">
                <a:ea typeface="华文中宋" pitchFamily="2" charset="-122"/>
                <a:cs typeface="Times New Roman" pitchFamily="18" charset="0"/>
              </a:rPr>
              <a:t>译码器，属于</a:t>
            </a:r>
            <a:r>
              <a:rPr kumimoji="0" lang="en-US" altLang="zh-CN" sz="2800" i="0" dirty="0">
                <a:ea typeface="华文中宋" pitchFamily="2" charset="-122"/>
                <a:cs typeface="Times New Roman" pitchFamily="18" charset="0"/>
              </a:rPr>
              <a:t>TTL</a:t>
            </a:r>
            <a:r>
              <a:rPr kumimoji="0" lang="zh-CN" altLang="en-US" sz="2800" i="0" dirty="0">
                <a:ea typeface="华文中宋" pitchFamily="2" charset="-122"/>
                <a:cs typeface="Times New Roman" pitchFamily="18" charset="0"/>
              </a:rPr>
              <a:t>集成电路</a:t>
            </a:r>
          </a:p>
        </p:txBody>
      </p:sp>
      <p:graphicFrame>
        <p:nvGraphicFramePr>
          <p:cNvPr id="18" name="Object 4"/>
          <p:cNvGraphicFramePr>
            <a:graphicFrameLocks noChangeAspect="1"/>
          </p:cNvGraphicFramePr>
          <p:nvPr/>
        </p:nvGraphicFramePr>
        <p:xfrm>
          <a:off x="5267778" y="804088"/>
          <a:ext cx="3221038" cy="3432175"/>
        </p:xfrm>
        <a:graphic>
          <a:graphicData uri="http://schemas.openxmlformats.org/presentationml/2006/ole">
            <p:oleObj spid="_x0000_s6146" name="Visio" r:id="rId5" imgW="2099613" imgH="2239005" progId="Visio.Drawing.11">
              <p:embed/>
            </p:oleObj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95"/>
          <p:cNvGrpSpPr>
            <a:grpSpLocks/>
          </p:cNvGrpSpPr>
          <p:nvPr/>
        </p:nvGrpSpPr>
        <p:grpSpPr bwMode="auto">
          <a:xfrm>
            <a:off x="370814" y="398509"/>
            <a:ext cx="4429125" cy="2633413"/>
            <a:chOff x="428596" y="1643020"/>
            <a:chExt cx="4429156" cy="2632765"/>
          </a:xfrm>
        </p:grpSpPr>
        <p:sp>
          <p:nvSpPr>
            <p:cNvPr id="30" name="Text Box 20"/>
            <p:cNvSpPr txBox="1">
              <a:spLocks noChangeArrowheads="1"/>
            </p:cNvSpPr>
            <p:nvPr/>
          </p:nvSpPr>
          <p:spPr bwMode="auto">
            <a:xfrm>
              <a:off x="428596" y="1643020"/>
              <a:ext cx="4429156" cy="26327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 eaLnBrk="0" hangingPunct="0">
                <a:lnSpc>
                  <a:spcPct val="120000"/>
                </a:lnSpc>
                <a:defRPr/>
              </a:pPr>
              <a:r>
                <a:rPr kumimoji="0" lang="zh-CN" altLang="en-US" sz="2800" i="0" dirty="0">
                  <a:ea typeface="华文中宋" pitchFamily="2" charset="-122"/>
                  <a:cs typeface="Times New Roman" pitchFamily="18" charset="0"/>
                </a:rPr>
                <a:t>试灯输入端       ：低电平有效。当           时，数码管七段全亮，与输入的译码信号无关。用于测试数码管的</a:t>
              </a:r>
              <a:r>
                <a:rPr kumimoji="0" lang="zh-CN" altLang="en-US" sz="2800" i="0" dirty="0" smtClean="0">
                  <a:ea typeface="华文中宋" pitchFamily="2" charset="-122"/>
                  <a:cs typeface="Times New Roman" pitchFamily="18" charset="0"/>
                </a:rPr>
                <a:t>好坏</a:t>
              </a:r>
              <a:r>
                <a:rPr kumimoji="0" lang="zh-CN" altLang="en-US" sz="2800" i="0" dirty="0">
                  <a:ea typeface="华文中宋" pitchFamily="2" charset="-122"/>
                  <a:cs typeface="Times New Roman" pitchFamily="18" charset="0"/>
                </a:rPr>
                <a:t>。</a:t>
              </a:r>
              <a:r>
                <a:rPr kumimoji="0" lang="zh-CN" altLang="en-US" sz="2800" i="0" dirty="0" smtClean="0">
                  <a:ea typeface="华文中宋" pitchFamily="2" charset="-122"/>
                  <a:cs typeface="Times New Roman" pitchFamily="18" charset="0"/>
                </a:rPr>
                <a:t> </a:t>
              </a:r>
              <a:endParaRPr kumimoji="0" lang="zh-CN" altLang="en-US" sz="2800" i="0" dirty="0">
                <a:ea typeface="华文中宋" pitchFamily="2" charset="-122"/>
                <a:cs typeface="Times New Roman" pitchFamily="18" charset="0"/>
              </a:endParaRPr>
            </a:p>
          </p:txBody>
        </p:sp>
        <p:graphicFrame>
          <p:nvGraphicFramePr>
            <p:cNvPr id="7177" name="Object 3"/>
            <p:cNvGraphicFramePr>
              <a:graphicFrameLocks noChangeAspect="1"/>
            </p:cNvGraphicFramePr>
            <p:nvPr/>
          </p:nvGraphicFramePr>
          <p:xfrm>
            <a:off x="2433190" y="1728060"/>
            <a:ext cx="500065" cy="406303"/>
          </p:xfrm>
          <a:graphic>
            <a:graphicData uri="http://schemas.openxmlformats.org/presentationml/2006/ole">
              <p:oleObj spid="_x0000_s7177" name="Equation" r:id="rId5" imgW="203040" imgH="164880" progId="Equation.DSMT4">
                <p:embed/>
              </p:oleObj>
            </a:graphicData>
          </a:graphic>
        </p:graphicFrame>
        <p:graphicFrame>
          <p:nvGraphicFramePr>
            <p:cNvPr id="7178" name="Object 4"/>
            <p:cNvGraphicFramePr>
              <a:graphicFrameLocks noChangeAspect="1"/>
            </p:cNvGraphicFramePr>
            <p:nvPr/>
          </p:nvGraphicFramePr>
          <p:xfrm>
            <a:off x="1590654" y="2241496"/>
            <a:ext cx="917581" cy="425345"/>
          </p:xfrm>
          <a:graphic>
            <a:graphicData uri="http://schemas.openxmlformats.org/presentationml/2006/ole">
              <p:oleObj spid="_x0000_s7178" name="Equation" r:id="rId6" imgW="380880" imgH="177480" progId="Equation.DSMT4">
                <p:embed/>
              </p:oleObj>
            </a:graphicData>
          </a:graphic>
        </p:graphicFrame>
      </p:grpSp>
      <p:graphicFrame>
        <p:nvGraphicFramePr>
          <p:cNvPr id="41" name="表格 40"/>
          <p:cNvGraphicFramePr>
            <a:graphicFrameLocks noGrp="1"/>
          </p:cNvGraphicFramePr>
          <p:nvPr/>
        </p:nvGraphicFramePr>
        <p:xfrm>
          <a:off x="545583" y="3028950"/>
          <a:ext cx="378621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  <a:gridCol w="714380"/>
                <a:gridCol w="683606"/>
                <a:gridCol w="851120"/>
                <a:gridCol w="822724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作用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显示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X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X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0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灭灯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全灭</a:t>
                      </a:r>
                      <a:endParaRPr lang="en-US" altLang="zh-CN" sz="24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0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X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1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试灯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8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1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0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1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灭</a:t>
                      </a:r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0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灭</a:t>
                      </a:r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0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170" name="Object 3"/>
          <p:cNvGraphicFramePr>
            <a:graphicFrameLocks noChangeAspect="1"/>
          </p:cNvGraphicFramePr>
          <p:nvPr/>
        </p:nvGraphicFramePr>
        <p:xfrm>
          <a:off x="617021" y="3060700"/>
          <a:ext cx="500062" cy="406400"/>
        </p:xfrm>
        <a:graphic>
          <a:graphicData uri="http://schemas.openxmlformats.org/presentationml/2006/ole">
            <p:oleObj spid="_x0000_s7170" name="Equation" r:id="rId7" imgW="203040" imgH="164880" progId="Equation.DSMT4">
              <p:embed/>
            </p:oleObj>
          </a:graphicData>
        </a:graphic>
      </p:graphicFrame>
      <p:graphicFrame>
        <p:nvGraphicFramePr>
          <p:cNvPr id="7171" name="Object 3"/>
          <p:cNvGraphicFramePr>
            <a:graphicFrameLocks noChangeAspect="1"/>
          </p:cNvGraphicFramePr>
          <p:nvPr/>
        </p:nvGraphicFramePr>
        <p:xfrm>
          <a:off x="1259958" y="3060700"/>
          <a:ext cx="695325" cy="428625"/>
        </p:xfrm>
        <a:graphic>
          <a:graphicData uri="http://schemas.openxmlformats.org/presentationml/2006/ole">
            <p:oleObj spid="_x0000_s7171" name="Equation" r:id="rId8" imgW="266400" imgH="164880" progId="Equation.DSMT4">
              <p:embed/>
            </p:oleObj>
          </a:graphicData>
        </a:graphic>
      </p:graphicFrame>
      <p:graphicFrame>
        <p:nvGraphicFramePr>
          <p:cNvPr id="7172" name="Object 3"/>
          <p:cNvGraphicFramePr>
            <a:graphicFrameLocks noChangeAspect="1"/>
          </p:cNvGraphicFramePr>
          <p:nvPr/>
        </p:nvGraphicFramePr>
        <p:xfrm>
          <a:off x="2045771" y="3055938"/>
          <a:ext cx="500062" cy="433387"/>
        </p:xfrm>
        <a:graphic>
          <a:graphicData uri="http://schemas.openxmlformats.org/presentationml/2006/ole">
            <p:oleObj spid="_x0000_s7172" name="Equation" r:id="rId9" imgW="190440" imgH="164880" progId="Equation.DSMT4">
              <p:embed/>
            </p:oleObj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5267325" y="804863"/>
          <a:ext cx="3221038" cy="3432175"/>
        </p:xfrm>
        <a:graphic>
          <a:graphicData uri="http://schemas.openxmlformats.org/presentationml/2006/ole">
            <p:oleObj spid="_x0000_s7223" name="Visio" r:id="rId10" imgW="2099613" imgH="2239005" progId="Visio.Drawing.11">
              <p:embed/>
            </p:oleObj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96"/>
          <p:cNvGrpSpPr>
            <a:grpSpLocks/>
          </p:cNvGrpSpPr>
          <p:nvPr/>
        </p:nvGrpSpPr>
        <p:grpSpPr bwMode="auto">
          <a:xfrm>
            <a:off x="349543" y="662543"/>
            <a:ext cx="5073061" cy="1772793"/>
            <a:chOff x="357156" y="3402750"/>
            <a:chExt cx="5073096" cy="1773833"/>
          </a:xfrm>
        </p:grpSpPr>
        <p:sp>
          <p:nvSpPr>
            <p:cNvPr id="34" name="Text Box 20"/>
            <p:cNvSpPr txBox="1">
              <a:spLocks noChangeArrowheads="1"/>
            </p:cNvSpPr>
            <p:nvPr/>
          </p:nvSpPr>
          <p:spPr bwMode="auto">
            <a:xfrm>
              <a:off x="357156" y="3402750"/>
              <a:ext cx="5073096" cy="17738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130000"/>
                </a:lnSpc>
                <a:defRPr/>
              </a:pPr>
              <a:r>
                <a:rPr kumimoji="0" lang="zh-CN" altLang="en-US" sz="2800" i="0" dirty="0">
                  <a:latin typeface="+mn-lt"/>
                  <a:ea typeface="华文中宋" pitchFamily="2" charset="-122"/>
                </a:rPr>
                <a:t>灭灯控制端    </a:t>
              </a:r>
              <a:r>
                <a:rPr kumimoji="0" lang="zh-CN" altLang="en-US" sz="2800" i="0" dirty="0" smtClean="0">
                  <a:latin typeface="+mn-lt"/>
                  <a:ea typeface="华文中宋" pitchFamily="2" charset="-122"/>
                </a:rPr>
                <a:t>  ：</a:t>
              </a:r>
              <a:r>
                <a:rPr kumimoji="0" lang="zh-CN" altLang="en-US" sz="2800" i="0" dirty="0">
                  <a:latin typeface="+mn-lt"/>
                  <a:ea typeface="华文中宋" pitchFamily="2" charset="-122"/>
                </a:rPr>
                <a:t>低电平有效。当         </a:t>
              </a:r>
              <a:r>
                <a:rPr kumimoji="0" lang="zh-CN" altLang="en-US" sz="2800" i="0" dirty="0" smtClean="0">
                  <a:latin typeface="+mn-lt"/>
                  <a:ea typeface="华文中宋" pitchFamily="2" charset="-122"/>
                </a:rPr>
                <a:t> </a:t>
              </a:r>
              <a:r>
                <a:rPr kumimoji="0" lang="zh-CN" altLang="en-US" sz="2800" i="0" dirty="0">
                  <a:latin typeface="+mn-lt"/>
                  <a:ea typeface="华文中宋" pitchFamily="2" charset="-122"/>
                </a:rPr>
                <a:t>时，数码管七段全灭，与输入的译码信号无关。</a:t>
              </a:r>
            </a:p>
          </p:txBody>
        </p:sp>
        <p:graphicFrame>
          <p:nvGraphicFramePr>
            <p:cNvPr id="7175" name="Object 3"/>
            <p:cNvGraphicFramePr>
              <a:graphicFrameLocks noChangeAspect="1"/>
            </p:cNvGraphicFramePr>
            <p:nvPr/>
          </p:nvGraphicFramePr>
          <p:xfrm>
            <a:off x="2273392" y="3540494"/>
            <a:ext cx="457203" cy="397108"/>
          </p:xfrm>
          <a:graphic>
            <a:graphicData uri="http://schemas.openxmlformats.org/presentationml/2006/ole">
              <p:oleObj spid="_x0000_s40967" name="Equation" r:id="rId3" imgW="190440" imgH="164880" progId="Equation.DSMT4">
                <p:embed/>
              </p:oleObj>
            </a:graphicData>
          </a:graphic>
        </p:graphicFrame>
        <p:graphicFrame>
          <p:nvGraphicFramePr>
            <p:cNvPr id="7176" name="Object 4"/>
            <p:cNvGraphicFramePr>
              <a:graphicFrameLocks noChangeAspect="1"/>
            </p:cNvGraphicFramePr>
            <p:nvPr/>
          </p:nvGraphicFramePr>
          <p:xfrm>
            <a:off x="762892" y="4101730"/>
            <a:ext cx="893734" cy="428628"/>
          </p:xfrm>
          <a:graphic>
            <a:graphicData uri="http://schemas.openxmlformats.org/presentationml/2006/ole">
              <p:oleObj spid="_x0000_s40968" name="Equation" r:id="rId4" imgW="368280" imgH="177480" progId="Equation.DSMT4">
                <p:embed/>
              </p:oleObj>
            </a:graphicData>
          </a:graphic>
        </p:graphicFrame>
      </p:grpSp>
      <p:graphicFrame>
        <p:nvGraphicFramePr>
          <p:cNvPr id="23" name="表格 22"/>
          <p:cNvGraphicFramePr>
            <a:graphicFrameLocks noGrp="1"/>
          </p:cNvGraphicFramePr>
          <p:nvPr/>
        </p:nvGraphicFramePr>
        <p:xfrm>
          <a:off x="545583" y="3028950"/>
          <a:ext cx="378621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  <a:gridCol w="714380"/>
                <a:gridCol w="683606"/>
                <a:gridCol w="851120"/>
                <a:gridCol w="822724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作用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显示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X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X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0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灭灯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全灭</a:t>
                      </a:r>
                      <a:endParaRPr lang="en-US" altLang="zh-CN" sz="24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0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X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1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试灯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8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1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0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1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灭</a:t>
                      </a:r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0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灭</a:t>
                      </a:r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0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4" name="Object 3"/>
          <p:cNvGraphicFramePr>
            <a:graphicFrameLocks noChangeAspect="1"/>
          </p:cNvGraphicFramePr>
          <p:nvPr/>
        </p:nvGraphicFramePr>
        <p:xfrm>
          <a:off x="617021" y="3060700"/>
          <a:ext cx="500062" cy="406400"/>
        </p:xfrm>
        <a:graphic>
          <a:graphicData uri="http://schemas.openxmlformats.org/presentationml/2006/ole">
            <p:oleObj spid="_x0000_s40975" name="Equation" r:id="rId5" imgW="203040" imgH="164880" progId="Equation.DSMT4">
              <p:embed/>
            </p:oleObj>
          </a:graphicData>
        </a:graphic>
      </p:graphicFrame>
      <p:graphicFrame>
        <p:nvGraphicFramePr>
          <p:cNvPr id="25" name="Object 3"/>
          <p:cNvGraphicFramePr>
            <a:graphicFrameLocks noChangeAspect="1"/>
          </p:cNvGraphicFramePr>
          <p:nvPr/>
        </p:nvGraphicFramePr>
        <p:xfrm>
          <a:off x="1259958" y="3060700"/>
          <a:ext cx="695325" cy="428625"/>
        </p:xfrm>
        <a:graphic>
          <a:graphicData uri="http://schemas.openxmlformats.org/presentationml/2006/ole">
            <p:oleObj spid="_x0000_s40976" name="Equation" r:id="rId6" imgW="266400" imgH="164880" progId="Equation.DSMT4">
              <p:embed/>
            </p:oleObj>
          </a:graphicData>
        </a:graphic>
      </p:graphicFrame>
      <p:graphicFrame>
        <p:nvGraphicFramePr>
          <p:cNvPr id="26" name="Object 3"/>
          <p:cNvGraphicFramePr>
            <a:graphicFrameLocks noChangeAspect="1"/>
          </p:cNvGraphicFramePr>
          <p:nvPr/>
        </p:nvGraphicFramePr>
        <p:xfrm>
          <a:off x="2045771" y="3055938"/>
          <a:ext cx="500062" cy="433387"/>
        </p:xfrm>
        <a:graphic>
          <a:graphicData uri="http://schemas.openxmlformats.org/presentationml/2006/ole">
            <p:oleObj spid="_x0000_s40977" name="Equation" r:id="rId7" imgW="190440" imgH="164880" progId="Equation.DSMT4">
              <p:embed/>
            </p:oleObj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5267325" y="804863"/>
          <a:ext cx="3221038" cy="3432175"/>
        </p:xfrm>
        <a:graphic>
          <a:graphicData uri="http://schemas.openxmlformats.org/presentationml/2006/ole">
            <p:oleObj spid="_x0000_s40978" name="Visio" r:id="rId8" imgW="2099613" imgH="2239005" progId="Visio.Drawing.11">
              <p:embed/>
            </p:oleObj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97"/>
          <p:cNvGrpSpPr>
            <a:grpSpLocks/>
          </p:cNvGrpSpPr>
          <p:nvPr/>
        </p:nvGrpSpPr>
        <p:grpSpPr bwMode="auto">
          <a:xfrm>
            <a:off x="282760" y="399364"/>
            <a:ext cx="5033519" cy="2677656"/>
            <a:chOff x="428597" y="4271685"/>
            <a:chExt cx="4133240" cy="2677167"/>
          </a:xfrm>
        </p:grpSpPr>
        <p:sp>
          <p:nvSpPr>
            <p:cNvPr id="38" name="Text Box 20"/>
            <p:cNvSpPr txBox="1">
              <a:spLocks noChangeArrowheads="1"/>
            </p:cNvSpPr>
            <p:nvPr/>
          </p:nvSpPr>
          <p:spPr bwMode="auto">
            <a:xfrm>
              <a:off x="428597" y="4271685"/>
              <a:ext cx="4133240" cy="26771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120000"/>
                </a:lnSpc>
                <a:defRPr/>
              </a:pPr>
              <a:r>
                <a:rPr kumimoji="0" lang="zh-CN" altLang="en-US" sz="2800" i="0" dirty="0">
                  <a:ea typeface="华文中宋" pitchFamily="2" charset="-122"/>
                  <a:cs typeface="Times New Roman" pitchFamily="18" charset="0"/>
                </a:rPr>
                <a:t>动态灭零输入端        ：低电平有效。当           </a:t>
              </a:r>
              <a:r>
                <a:rPr kumimoji="0" lang="zh-CN" altLang="en-US" sz="2800" i="0" dirty="0" smtClean="0">
                  <a:ea typeface="华文中宋" pitchFamily="2" charset="-122"/>
                  <a:cs typeface="Times New Roman" pitchFamily="18" charset="0"/>
                </a:rPr>
                <a:t>  </a:t>
              </a:r>
              <a:r>
                <a:rPr kumimoji="0" lang="zh-CN" altLang="en-US" sz="2800" i="0" dirty="0">
                  <a:ea typeface="华文中宋" pitchFamily="2" charset="-122"/>
                  <a:cs typeface="Times New Roman" pitchFamily="18" charset="0"/>
                </a:rPr>
                <a:t>时，若输入的译码信号为</a:t>
              </a:r>
              <a:r>
                <a:rPr kumimoji="0" lang="en-US" altLang="zh-CN" sz="2800" i="0" dirty="0">
                  <a:ea typeface="华文中宋" pitchFamily="2" charset="-122"/>
                  <a:cs typeface="Times New Roman" pitchFamily="18" charset="0"/>
                </a:rPr>
                <a:t>0</a:t>
              </a:r>
              <a:r>
                <a:rPr kumimoji="0" lang="zh-CN" altLang="en-US" sz="2800" i="0" dirty="0">
                  <a:ea typeface="华文中宋" pitchFamily="2" charset="-122"/>
                  <a:cs typeface="Times New Roman" pitchFamily="18" charset="0"/>
                </a:rPr>
                <a:t>，则不显示，若其他，正常显示。例如：</a:t>
              </a:r>
              <a:r>
                <a:rPr kumimoji="0" lang="en-US" altLang="zh-CN" sz="2800" b="1" i="0" dirty="0">
                  <a:ea typeface="华文中宋" pitchFamily="2" charset="-122"/>
                  <a:cs typeface="Times New Roman" pitchFamily="18" charset="0"/>
                </a:rPr>
                <a:t>0034.50</a:t>
              </a:r>
              <a:r>
                <a:rPr kumimoji="0" lang="zh-CN" altLang="en-US" sz="2800" i="0" dirty="0">
                  <a:ea typeface="华文中宋" pitchFamily="2" charset="-122"/>
                  <a:cs typeface="Times New Roman" pitchFamily="18" charset="0"/>
                </a:rPr>
                <a:t>，可显示为</a:t>
              </a:r>
              <a:r>
                <a:rPr kumimoji="0" lang="en-US" altLang="zh-CN" sz="2800" b="1" i="0" dirty="0">
                  <a:ea typeface="华文中宋" pitchFamily="2" charset="-122"/>
                  <a:cs typeface="Times New Roman" pitchFamily="18" charset="0"/>
                </a:rPr>
                <a:t>34.5</a:t>
              </a:r>
              <a:r>
                <a:rPr kumimoji="0" lang="zh-CN" altLang="en-US" sz="2800" i="0" dirty="0">
                  <a:ea typeface="华文中宋" pitchFamily="2" charset="-122"/>
                  <a:cs typeface="Times New Roman" pitchFamily="18" charset="0"/>
                </a:rPr>
                <a:t>。</a:t>
              </a:r>
            </a:p>
          </p:txBody>
        </p:sp>
        <p:graphicFrame>
          <p:nvGraphicFramePr>
            <p:cNvPr id="7173" name="Object 3"/>
            <p:cNvGraphicFramePr>
              <a:graphicFrameLocks noChangeAspect="1"/>
            </p:cNvGraphicFramePr>
            <p:nvPr/>
          </p:nvGraphicFramePr>
          <p:xfrm>
            <a:off x="2548455" y="4382139"/>
            <a:ext cx="635001" cy="391731"/>
          </p:xfrm>
          <a:graphic>
            <a:graphicData uri="http://schemas.openxmlformats.org/presentationml/2006/ole">
              <p:oleObj spid="_x0000_s41989" name="Equation" r:id="rId3" imgW="266400" imgH="164880" progId="Equation.DSMT4">
                <p:embed/>
              </p:oleObj>
            </a:graphicData>
          </a:graphic>
        </p:graphicFrame>
        <p:graphicFrame>
          <p:nvGraphicFramePr>
            <p:cNvPr id="7174" name="Object 4"/>
            <p:cNvGraphicFramePr>
              <a:graphicFrameLocks noChangeAspect="1"/>
            </p:cNvGraphicFramePr>
            <p:nvPr/>
          </p:nvGraphicFramePr>
          <p:xfrm>
            <a:off x="1614306" y="4895531"/>
            <a:ext cx="1071570" cy="425369"/>
          </p:xfrm>
          <a:graphic>
            <a:graphicData uri="http://schemas.openxmlformats.org/presentationml/2006/ole">
              <p:oleObj spid="_x0000_s41990" name="Equation" r:id="rId4" imgW="444240" imgH="177480" progId="Equation.DSMT4">
                <p:embed/>
              </p:oleObj>
            </a:graphicData>
          </a:graphic>
        </p:graphicFrame>
      </p:grp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545583" y="3028950"/>
          <a:ext cx="378621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  <a:gridCol w="714380"/>
                <a:gridCol w="683606"/>
                <a:gridCol w="851120"/>
                <a:gridCol w="822724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作用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显示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X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X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0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灭灯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全灭</a:t>
                      </a:r>
                      <a:endParaRPr lang="en-US" altLang="zh-CN" sz="2400" b="1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0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X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1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试灯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8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1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0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1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灭</a:t>
                      </a:r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0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灭</a:t>
                      </a:r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0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Object 3"/>
          <p:cNvGraphicFramePr>
            <a:graphicFrameLocks noChangeAspect="1"/>
          </p:cNvGraphicFramePr>
          <p:nvPr/>
        </p:nvGraphicFramePr>
        <p:xfrm>
          <a:off x="617021" y="3060700"/>
          <a:ext cx="500062" cy="406400"/>
        </p:xfrm>
        <a:graphic>
          <a:graphicData uri="http://schemas.openxmlformats.org/presentationml/2006/ole">
            <p:oleObj spid="_x0000_s41995" name="Equation" r:id="rId5" imgW="203040" imgH="164880" progId="Equation.DSMT4">
              <p:embed/>
            </p:oleObj>
          </a:graphicData>
        </a:graphic>
      </p:graphicFrame>
      <p:graphicFrame>
        <p:nvGraphicFramePr>
          <p:cNvPr id="20" name="Object 3"/>
          <p:cNvGraphicFramePr>
            <a:graphicFrameLocks noChangeAspect="1"/>
          </p:cNvGraphicFramePr>
          <p:nvPr/>
        </p:nvGraphicFramePr>
        <p:xfrm>
          <a:off x="1259958" y="3060700"/>
          <a:ext cx="695325" cy="428625"/>
        </p:xfrm>
        <a:graphic>
          <a:graphicData uri="http://schemas.openxmlformats.org/presentationml/2006/ole">
            <p:oleObj spid="_x0000_s41996" name="Equation" r:id="rId6" imgW="266400" imgH="164880" progId="Equation.DSMT4">
              <p:embed/>
            </p:oleObj>
          </a:graphicData>
        </a:graphic>
      </p:graphicFrame>
      <p:graphicFrame>
        <p:nvGraphicFramePr>
          <p:cNvPr id="21" name="Object 3"/>
          <p:cNvGraphicFramePr>
            <a:graphicFrameLocks noChangeAspect="1"/>
          </p:cNvGraphicFramePr>
          <p:nvPr/>
        </p:nvGraphicFramePr>
        <p:xfrm>
          <a:off x="2045771" y="3055938"/>
          <a:ext cx="500062" cy="433387"/>
        </p:xfrm>
        <a:graphic>
          <a:graphicData uri="http://schemas.openxmlformats.org/presentationml/2006/ole">
            <p:oleObj spid="_x0000_s41997" name="Equation" r:id="rId7" imgW="190440" imgH="164880" progId="Equation.DSMT4">
              <p:embed/>
            </p:oleObj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5267325" y="804863"/>
          <a:ext cx="3221038" cy="3432175"/>
        </p:xfrm>
        <a:graphic>
          <a:graphicData uri="http://schemas.openxmlformats.org/presentationml/2006/ole">
            <p:oleObj spid="_x0000_s41999" name="Visio" r:id="rId8" imgW="2099613" imgH="2239005" progId="Visio.Drawing.11">
              <p:embed/>
            </p:oleObj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8" name="Text Box 20"/>
          <p:cNvSpPr txBox="1">
            <a:spLocks noChangeArrowheads="1"/>
          </p:cNvSpPr>
          <p:nvPr/>
        </p:nvSpPr>
        <p:spPr bwMode="auto">
          <a:xfrm>
            <a:off x="560867" y="447232"/>
            <a:ext cx="5999421" cy="609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 eaLnBrk="0" hangingPunct="0">
              <a:lnSpc>
                <a:spcPct val="120000"/>
              </a:lnSpc>
            </a:pPr>
            <a:r>
              <a:rPr kumimoji="0" lang="en-US" altLang="zh-CN" sz="2800" b="1" i="0" dirty="0"/>
              <a:t>CT74LS248</a:t>
            </a:r>
            <a:r>
              <a:rPr lang="zh-CN" altLang="en-US" sz="2800" i="0" dirty="0">
                <a:latin typeface="华文中宋" pitchFamily="2" charset="-122"/>
                <a:ea typeface="华文中宋" pitchFamily="2" charset="-122"/>
              </a:rPr>
              <a:t>与数码管的</a:t>
            </a:r>
            <a:r>
              <a:rPr lang="zh-CN" altLang="en-US" sz="2800" i="0" dirty="0">
                <a:solidFill>
                  <a:srgbClr val="3333FF"/>
                </a:solidFill>
                <a:latin typeface="华文中宋" pitchFamily="2" charset="-122"/>
                <a:ea typeface="华文中宋" pitchFamily="2" charset="-122"/>
              </a:rPr>
              <a:t>连接原理图</a:t>
            </a:r>
            <a:r>
              <a:rPr lang="zh-CN" altLang="en-US" sz="2800" b="1" i="0" dirty="0">
                <a:solidFill>
                  <a:srgbClr val="3333FF"/>
                </a:solidFill>
                <a:latin typeface="宋体" pitchFamily="2" charset="-122"/>
              </a:rPr>
              <a:t>：</a:t>
            </a:r>
            <a:endParaRPr kumimoji="0" lang="zh-CN" altLang="en-US" sz="2800" b="1" i="0" dirty="0">
              <a:solidFill>
                <a:srgbClr val="3333FF"/>
              </a:solidFill>
            </a:endParaRPr>
          </a:p>
        </p:txBody>
      </p:sp>
      <p:graphicFrame>
        <p:nvGraphicFramePr>
          <p:cNvPr id="8194" name="Object 4"/>
          <p:cNvGraphicFramePr>
            <a:graphicFrameLocks noChangeAspect="1"/>
          </p:cNvGraphicFramePr>
          <p:nvPr/>
        </p:nvGraphicFramePr>
        <p:xfrm>
          <a:off x="2357438" y="1357313"/>
          <a:ext cx="5287962" cy="3429000"/>
        </p:xfrm>
        <a:graphic>
          <a:graphicData uri="http://schemas.openxmlformats.org/presentationml/2006/ole">
            <p:oleObj spid="_x0000_s8194" name="Visio" r:id="rId5" imgW="3432567" imgH="2224858" progId="Visio.Drawing.11">
              <p:embed/>
            </p:oleObj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62" name="Picture 4" descr="img200706121339341457副本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164" y="2407444"/>
            <a:ext cx="3095625" cy="2221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6469" name="Rectangle 5"/>
          <p:cNvSpPr>
            <a:spLocks noChangeArrowheads="1"/>
          </p:cNvSpPr>
          <p:nvPr/>
        </p:nvSpPr>
        <p:spPr bwMode="auto">
          <a:xfrm>
            <a:off x="2700339" y="1491854"/>
            <a:ext cx="324008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4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anose="02010600040101010101" pitchFamily="2" charset="-122"/>
                <a:cs typeface="Times New Roman" panose="02020603050405020304" pitchFamily="18" charset="0"/>
              </a:rPr>
              <a:t>结    束</a:t>
            </a:r>
            <a:r>
              <a:rPr lang="zh-CN" altLang="en-US" sz="3600" dirty="0" smtClean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="" xmlns:p14="http://schemas.microsoft.com/office/powerpoint/2010/main" val="1824329971"/>
      </p:ext>
    </p:extLst>
  </p:cSld>
  <p:clrMapOvr>
    <a:masterClrMapping/>
  </p:clrMapOvr>
  <p:transition spd="slow">
    <p:diamond/>
    <p:sndAc>
      <p:stSnd>
        <p:snd r:embed="rId2" name="结束.wav"/>
      </p:stSnd>
    </p:sndAc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电工学模板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15144</TotalTime>
  <Words>959</Words>
  <Application>Microsoft Office PowerPoint</Application>
  <PresentationFormat>全屏显示(16:9)</PresentationFormat>
  <Paragraphs>293</Paragraphs>
  <Slides>20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23" baseType="lpstr">
      <vt:lpstr>电工学模板</vt:lpstr>
      <vt:lpstr>Equation</vt:lpstr>
      <vt:lpstr>Visio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1187</cp:revision>
  <dcterms:modified xsi:type="dcterms:W3CDTF">2017-10-15T06:34:26Z</dcterms:modified>
</cp:coreProperties>
</file>